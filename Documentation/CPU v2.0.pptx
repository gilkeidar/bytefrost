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modernComment_150_A2A58172.xml" ContentType="application/vnd.ms-powerpoint.comments+xml"/>
  <Override PartName="/ppt/comments/modernComment_14E_812B4AD3.xml" ContentType="application/vnd.ms-powerpoint.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1.xml" ContentType="application/vnd.openxmlformats-officedocument.presentationml.tags+xml"/>
  <Override PartName="/ppt/notesSlides/notesSlide30.xml" ContentType="application/vnd.openxmlformats-officedocument.presentationml.notesSlide+xml"/>
  <Override PartName="/ppt/comments/modernComment_102_7DC05F85.xml" ContentType="application/vnd.ms-powerpoint.comments+xml"/>
  <Override PartName="/ppt/notesSlides/notesSlide31.xml" ContentType="application/vnd.openxmlformats-officedocument.presentationml.notesSlide+xml"/>
  <Override PartName="/ppt/comments/modernComment_123_DD226EE1.xml" ContentType="application/vnd.ms-powerpoint.comment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omments/modernComment_132_7EF51595.xml" ContentType="application/vnd.ms-powerpoint.comments+xml"/>
  <Override PartName="/ppt/comments/modernComment_107_E0C67832.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3"/>
  </p:notesMasterIdLst>
  <p:handoutMasterIdLst>
    <p:handoutMasterId r:id="rId144"/>
  </p:handoutMasterIdLst>
  <p:sldIdLst>
    <p:sldId id="308" r:id="rId2"/>
    <p:sldId id="299" r:id="rId3"/>
    <p:sldId id="374" r:id="rId4"/>
    <p:sldId id="320" r:id="rId5"/>
    <p:sldId id="376" r:id="rId6"/>
    <p:sldId id="380" r:id="rId7"/>
    <p:sldId id="425" r:id="rId8"/>
    <p:sldId id="428" r:id="rId9"/>
    <p:sldId id="427" r:id="rId10"/>
    <p:sldId id="426" r:id="rId11"/>
    <p:sldId id="407" r:id="rId12"/>
    <p:sldId id="393" r:id="rId13"/>
    <p:sldId id="408" r:id="rId14"/>
    <p:sldId id="318" r:id="rId15"/>
    <p:sldId id="366" r:id="rId16"/>
    <p:sldId id="323" r:id="rId17"/>
    <p:sldId id="330" r:id="rId18"/>
    <p:sldId id="411" r:id="rId19"/>
    <p:sldId id="424" r:id="rId20"/>
    <p:sldId id="331" r:id="rId21"/>
    <p:sldId id="327" r:id="rId22"/>
    <p:sldId id="422" r:id="rId23"/>
    <p:sldId id="417" r:id="rId24"/>
    <p:sldId id="410" r:id="rId25"/>
    <p:sldId id="409" r:id="rId26"/>
    <p:sldId id="423" r:id="rId27"/>
    <p:sldId id="362" r:id="rId28"/>
    <p:sldId id="324" r:id="rId29"/>
    <p:sldId id="328" r:id="rId30"/>
    <p:sldId id="371" r:id="rId31"/>
    <p:sldId id="373" r:id="rId32"/>
    <p:sldId id="317" r:id="rId33"/>
    <p:sldId id="372" r:id="rId34"/>
    <p:sldId id="416" r:id="rId35"/>
    <p:sldId id="369" r:id="rId36"/>
    <p:sldId id="370" r:id="rId37"/>
    <p:sldId id="415" r:id="rId38"/>
    <p:sldId id="368" r:id="rId39"/>
    <p:sldId id="413" r:id="rId40"/>
    <p:sldId id="414" r:id="rId41"/>
    <p:sldId id="418" r:id="rId42"/>
    <p:sldId id="333" r:id="rId43"/>
    <p:sldId id="336" r:id="rId44"/>
    <p:sldId id="334" r:id="rId45"/>
    <p:sldId id="335" r:id="rId46"/>
    <p:sldId id="337" r:id="rId47"/>
    <p:sldId id="338" r:id="rId48"/>
    <p:sldId id="339" r:id="rId49"/>
    <p:sldId id="340" r:id="rId50"/>
    <p:sldId id="341" r:id="rId51"/>
    <p:sldId id="342" r:id="rId52"/>
    <p:sldId id="343" r:id="rId53"/>
    <p:sldId id="419" r:id="rId54"/>
    <p:sldId id="395" r:id="rId55"/>
    <p:sldId id="396" r:id="rId56"/>
    <p:sldId id="397" r:id="rId57"/>
    <p:sldId id="420" r:id="rId58"/>
    <p:sldId id="353" r:id="rId59"/>
    <p:sldId id="354" r:id="rId60"/>
    <p:sldId id="375" r:id="rId61"/>
    <p:sldId id="399" r:id="rId62"/>
    <p:sldId id="400" r:id="rId63"/>
    <p:sldId id="401" r:id="rId64"/>
    <p:sldId id="402" r:id="rId65"/>
    <p:sldId id="403" r:id="rId66"/>
    <p:sldId id="404" r:id="rId67"/>
    <p:sldId id="405" r:id="rId68"/>
    <p:sldId id="406" r:id="rId69"/>
    <p:sldId id="378" r:id="rId70"/>
    <p:sldId id="389" r:id="rId71"/>
    <p:sldId id="390" r:id="rId72"/>
    <p:sldId id="379" r:id="rId73"/>
    <p:sldId id="382" r:id="rId74"/>
    <p:sldId id="383" r:id="rId75"/>
    <p:sldId id="384" r:id="rId76"/>
    <p:sldId id="385" r:id="rId77"/>
    <p:sldId id="387" r:id="rId78"/>
    <p:sldId id="377" r:id="rId79"/>
    <p:sldId id="392" r:id="rId80"/>
    <p:sldId id="381" r:id="rId81"/>
    <p:sldId id="386" r:id="rId82"/>
    <p:sldId id="391" r:id="rId83"/>
    <p:sldId id="429" r:id="rId84"/>
    <p:sldId id="432" r:id="rId85"/>
    <p:sldId id="430" r:id="rId86"/>
    <p:sldId id="435" r:id="rId87"/>
    <p:sldId id="431" r:id="rId88"/>
    <p:sldId id="433" r:id="rId89"/>
    <p:sldId id="434" r:id="rId90"/>
    <p:sldId id="364" r:id="rId91"/>
    <p:sldId id="357" r:id="rId92"/>
    <p:sldId id="358" r:id="rId93"/>
    <p:sldId id="360" r:id="rId94"/>
    <p:sldId id="359" r:id="rId95"/>
    <p:sldId id="363" r:id="rId96"/>
    <p:sldId id="321" r:id="rId97"/>
    <p:sldId id="315" r:id="rId98"/>
    <p:sldId id="304" r:id="rId99"/>
    <p:sldId id="257" r:id="rId100"/>
    <p:sldId id="258" r:id="rId101"/>
    <p:sldId id="290" r:id="rId102"/>
    <p:sldId id="291" r:id="rId103"/>
    <p:sldId id="292" r:id="rId104"/>
    <p:sldId id="282" r:id="rId105"/>
    <p:sldId id="300" r:id="rId106"/>
    <p:sldId id="274" r:id="rId107"/>
    <p:sldId id="273" r:id="rId108"/>
    <p:sldId id="285" r:id="rId109"/>
    <p:sldId id="305" r:id="rId110"/>
    <p:sldId id="306" r:id="rId111"/>
    <p:sldId id="284" r:id="rId112"/>
    <p:sldId id="276" r:id="rId113"/>
    <p:sldId id="261" r:id="rId114"/>
    <p:sldId id="269" r:id="rId115"/>
    <p:sldId id="263" r:id="rId116"/>
    <p:sldId id="264" r:id="rId117"/>
    <p:sldId id="260" r:id="rId118"/>
    <p:sldId id="265" r:id="rId119"/>
    <p:sldId id="267" r:id="rId120"/>
    <p:sldId id="266" r:id="rId121"/>
    <p:sldId id="271" r:id="rId122"/>
    <p:sldId id="277" r:id="rId123"/>
    <p:sldId id="279" r:id="rId124"/>
    <p:sldId id="268" r:id="rId125"/>
    <p:sldId id="280" r:id="rId126"/>
    <p:sldId id="281" r:id="rId127"/>
    <p:sldId id="287" r:id="rId128"/>
    <p:sldId id="288" r:id="rId129"/>
    <p:sldId id="302" r:id="rId130"/>
    <p:sldId id="309" r:id="rId131"/>
    <p:sldId id="310" r:id="rId132"/>
    <p:sldId id="311" r:id="rId133"/>
    <p:sldId id="312" r:id="rId134"/>
    <p:sldId id="313" r:id="rId135"/>
    <p:sldId id="314" r:id="rId136"/>
    <p:sldId id="275" r:id="rId137"/>
    <p:sldId id="298" r:id="rId138"/>
    <p:sldId id="294" r:id="rId139"/>
    <p:sldId id="295" r:id="rId140"/>
    <p:sldId id="296" r:id="rId141"/>
    <p:sldId id="297" r:id="rId142"/>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B0A14E4C-6B9B-4C89-8711-5BC3C5C1C681}">
          <p14:sldIdLst>
            <p14:sldId id="308"/>
            <p14:sldId id="299"/>
          </p14:sldIdLst>
        </p14:section>
        <p14:section name="ByteFrost V2.0 Addressing Modes" id="{CA779277-4A68-4B76-8646-029679EDDA21}">
          <p14:sldIdLst>
            <p14:sldId id="374"/>
          </p14:sldIdLst>
        </p14:section>
        <p14:section name="ByteFrost V2.0 – 16bit Address" id="{8538EA7A-278B-4B0F-991E-F7891C2FE448}">
          <p14:sldIdLst>
            <p14:sldId id="320"/>
            <p14:sldId id="376"/>
            <p14:sldId id="380"/>
            <p14:sldId id="425"/>
            <p14:sldId id="428"/>
            <p14:sldId id="427"/>
            <p14:sldId id="426"/>
            <p14:sldId id="407"/>
            <p14:sldId id="393"/>
            <p14:sldId id="408"/>
            <p14:sldId id="318"/>
            <p14:sldId id="366"/>
            <p14:sldId id="323"/>
            <p14:sldId id="330"/>
            <p14:sldId id="411"/>
            <p14:sldId id="424"/>
            <p14:sldId id="331"/>
            <p14:sldId id="327"/>
            <p14:sldId id="422"/>
            <p14:sldId id="417"/>
            <p14:sldId id="410"/>
            <p14:sldId id="409"/>
            <p14:sldId id="423"/>
            <p14:sldId id="362"/>
            <p14:sldId id="324"/>
            <p14:sldId id="328"/>
            <p14:sldId id="371"/>
            <p14:sldId id="373"/>
            <p14:sldId id="317"/>
            <p14:sldId id="372"/>
            <p14:sldId id="416"/>
            <p14:sldId id="369"/>
            <p14:sldId id="370"/>
            <p14:sldId id="415"/>
            <p14:sldId id="368"/>
          </p14:sldIdLst>
        </p14:section>
        <p14:section name="Display" id="{BB77DA81-F6EE-4A5A-8D32-FE561A7638F1}">
          <p14:sldIdLst>
            <p14:sldId id="413"/>
            <p14:sldId id="414"/>
            <p14:sldId id="418"/>
          </p14:sldIdLst>
        </p14:section>
        <p14:section name="OpCode V2.0" id="{DD861572-A028-4127-ADBC-F2E158BAA99E}">
          <p14:sldIdLst>
            <p14:sldId id="333"/>
            <p14:sldId id="336"/>
            <p14:sldId id="334"/>
            <p14:sldId id="335"/>
            <p14:sldId id="337"/>
            <p14:sldId id="338"/>
            <p14:sldId id="339"/>
            <p14:sldId id="340"/>
            <p14:sldId id="341"/>
            <p14:sldId id="342"/>
            <p14:sldId id="343"/>
          </p14:sldIdLst>
        </p14:section>
        <p14:section name="New Op Codes" id="{518338ED-4B46-44B5-95E9-E5FBE6DCCEB2}">
          <p14:sldIdLst>
            <p14:sldId id="419"/>
            <p14:sldId id="395"/>
            <p14:sldId id="396"/>
            <p14:sldId id="397"/>
            <p14:sldId id="420"/>
            <p14:sldId id="353"/>
            <p14:sldId id="354"/>
            <p14:sldId id="375"/>
            <p14:sldId id="399"/>
            <p14:sldId id="400"/>
            <p14:sldId id="401"/>
            <p14:sldId id="402"/>
            <p14:sldId id="403"/>
            <p14:sldId id="404"/>
            <p14:sldId id="405"/>
            <p14:sldId id="406"/>
          </p14:sldIdLst>
        </p14:section>
        <p14:section name="New Addressing Mode Instructions" id="{CB405C74-72C2-4E7F-961D-7904DF511673}">
          <p14:sldIdLst>
            <p14:sldId id="378"/>
            <p14:sldId id="389"/>
            <p14:sldId id="390"/>
            <p14:sldId id="379"/>
            <p14:sldId id="382"/>
            <p14:sldId id="383"/>
            <p14:sldId id="384"/>
            <p14:sldId id="385"/>
            <p14:sldId id="387"/>
            <p14:sldId id="377"/>
            <p14:sldId id="392"/>
            <p14:sldId id="381"/>
            <p14:sldId id="386"/>
            <p14:sldId id="391"/>
          </p14:sldIdLst>
        </p14:section>
        <p14:section name="PCB Design" id="{B1414EF3-FB50-4672-8F05-E2895A16351B}">
          <p14:sldIdLst>
            <p14:sldId id="429"/>
            <p14:sldId id="432"/>
            <p14:sldId id="430"/>
            <p14:sldId id="435"/>
            <p14:sldId id="431"/>
            <p14:sldId id="433"/>
            <p14:sldId id="434"/>
          </p14:sldIdLst>
        </p14:section>
        <p14:section name="Chips" id="{58193CE2-D3ED-4F82-BC15-B74E50DE486C}">
          <p14:sldIdLst>
            <p14:sldId id="364"/>
            <p14:sldId id="357"/>
            <p14:sldId id="358"/>
            <p14:sldId id="360"/>
            <p14:sldId id="359"/>
            <p14:sldId id="363"/>
          </p14:sldIdLst>
        </p14:section>
        <p14:section name="Archive" id="{9C600CF0-29F5-4393-8764-F0ED61008F30}">
          <p14:sldIdLst/>
        </p14:section>
        <p14:section name="ByteFrost V1.0" id="{6B090879-C450-48D9-B5C8-DAEEB8970368}">
          <p14:sldIdLst>
            <p14:sldId id="321"/>
            <p14:sldId id="315"/>
            <p14:sldId id="304"/>
            <p14:sldId id="257"/>
            <p14:sldId id="258"/>
            <p14:sldId id="290"/>
            <p14:sldId id="291"/>
            <p14:sldId id="292"/>
            <p14:sldId id="282"/>
            <p14:sldId id="300"/>
            <p14:sldId id="274"/>
            <p14:sldId id="273"/>
            <p14:sldId id="285"/>
            <p14:sldId id="305"/>
            <p14:sldId id="306"/>
          </p14:sldIdLst>
        </p14:section>
        <p14:section name="OpCode V1.0" id="{D40DE40A-800A-4B5E-B041-B41BBB2396FA}">
          <p14:sldIdLst>
            <p14:sldId id="284"/>
            <p14:sldId id="276"/>
            <p14:sldId id="261"/>
            <p14:sldId id="269"/>
            <p14:sldId id="263"/>
            <p14:sldId id="264"/>
            <p14:sldId id="260"/>
            <p14:sldId id="265"/>
            <p14:sldId id="267"/>
            <p14:sldId id="266"/>
            <p14:sldId id="271"/>
            <p14:sldId id="277"/>
            <p14:sldId id="279"/>
            <p14:sldId id="268"/>
            <p14:sldId id="280"/>
            <p14:sldId id="281"/>
            <p14:sldId id="287"/>
            <p14:sldId id="288"/>
            <p14:sldId id="302"/>
            <p14:sldId id="309"/>
            <p14:sldId id="310"/>
            <p14:sldId id="311"/>
            <p14:sldId id="312"/>
            <p14:sldId id="313"/>
            <p14:sldId id="314"/>
            <p14:sldId id="275"/>
          </p14:sldIdLst>
        </p14:section>
        <p14:section name="The Name" id="{88308587-F19F-4F21-B58A-F2E443CA8155}">
          <p14:sldIdLst>
            <p14:sldId id="298"/>
            <p14:sldId id="294"/>
            <p14:sldId id="295"/>
            <p14:sldId id="296"/>
            <p14:sldId id="29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F4C601D-A3FB-E5F9-28C4-8691D725C714}" name="Ron Keidar" initials="RK" userId="bd522e22234dfd79" providerId="Windows Live"/>
  <p188:author id="{C1C229C8-99E3-C200-4106-60997B1255A7}" name="Gil Keidar" initials="GK" userId="39bab330baa1541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F5F4EF"/>
    <a:srgbClr val="FFFFFF"/>
    <a:srgbClr val="9999FF"/>
    <a:srgbClr val="CECECE"/>
    <a:srgbClr val="A9D18E"/>
    <a:srgbClr val="4472C4"/>
    <a:srgbClr val="CC99FF"/>
    <a:srgbClr val="7030A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93929" autoAdjust="0"/>
  </p:normalViewPr>
  <p:slideViewPr>
    <p:cSldViewPr snapToGrid="0">
      <p:cViewPr varScale="1">
        <p:scale>
          <a:sx n="107" d="100"/>
          <a:sy n="107" d="100"/>
        </p:scale>
        <p:origin x="132" y="61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microsoft.com/office/2018/10/relationships/authors" Target="authors.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notesMaster" Target="notesMasters/notesMaster1.xml"/><Relationship Id="rId14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handoutMaster" Target="handoutMasters/handoutMaster1.xml"/><Relationship Id="rId90" Type="http://schemas.openxmlformats.org/officeDocument/2006/relationships/slide" Target="slides/slide89.xml"/></Relationships>
</file>

<file path=ppt/comments/modernComment_14E_812B4AD3.xml><?xml version="1.0" encoding="utf-8"?>
<p188:cmLst xmlns:a="http://schemas.openxmlformats.org/drawingml/2006/main" xmlns:r="http://schemas.openxmlformats.org/officeDocument/2006/relationships" xmlns:p188="http://schemas.microsoft.com/office/powerpoint/2018/8/main">
  <p188:cm id="{DB4D6FF1-63AA-4CEA-B2EB-8E4F74348EEC}" authorId="{6F4C601D-A3FB-E5F9-28C4-8691D725C714}" created="2025-12-30T01:16:58.029">
    <ac:txMkLst xmlns:ac="http://schemas.microsoft.com/office/drawing/2013/main/command">
      <pc:docMk xmlns:pc="http://schemas.microsoft.com/office/powerpoint/2013/main/command"/>
      <pc:sldMk xmlns:pc="http://schemas.microsoft.com/office/powerpoint/2013/main/command" cId="2167098067" sldId="334"/>
      <ac:graphicFrameMk id="5" creationId="{3EB91328-3C75-4219-B849-F6944D75CCBE}"/>
      <ac:tblMk/>
      <ac:tcMk rowId="631651838" colId="1217920130"/>
      <ac:txMk cp="0" len="1">
        <ac:context len="2" hash="1630"/>
      </ac:txMk>
    </ac:txMkLst>
    <p188:pos x="619421" y="881800"/>
    <p188:txBody>
      <a:bodyPr/>
      <a:lstStyle/>
      <a:p>
        <a:r>
          <a:rPr lang="en-US"/>
          <a:t>Gil: There does not appear to be any need for this extra cycle now that the first cycle of microcode doesn’t enter into affect until after the high byte of the instruction is fetched.
Updating NOP (and BRK) to be single-cycle instructions (not including fetch time of course) - in total 3 cycles (2 to fetch, 1 to execute), but if in sequence it’s shorter since the cycle to execute is the same cycle as that of loading the low byte of the next instruction.</a:t>
        </a:r>
      </a:p>
    </p188:txBody>
  </p188:cm>
</p188:cmLst>
</file>

<file path=ppt/comments/modernComment_102_7DC05F85.xml><?xml version="1.0" encoding="utf-8"?>
<p188:cmLst xmlns:a="http://schemas.openxmlformats.org/drawingml/2006/main" xmlns:r="http://schemas.openxmlformats.org/officeDocument/2006/relationships" xmlns:p188="http://schemas.microsoft.com/office/powerpoint/2018/8/main">
  <p188:cm id="{64B5C9CD-4239-4DE6-AF4C-67ABEF2B2555}" authorId="{C1C229C8-99E3-C200-4106-60997B1255A7}" created="2024-03-10T06:57:17.405">
    <pc:sldMkLst xmlns:pc="http://schemas.microsoft.com/office/powerpoint/2013/main/command">
      <pc:docMk/>
      <pc:sldMk cId="2109759365" sldId="258"/>
    </pc:sldMkLst>
    <p188:pos x="1466850" y="3286125"/>
    <p188:txBody>
      <a:bodyPr/>
      <a:lstStyle/>
      <a:p>
        <a:r>
          <a:rPr lang="en-US"/>
          <a:t>Check that bits 6 and 7 of the OpCode (low instruction register) are connected to 2A and 2B</a:t>
        </a:r>
      </a:p>
    </p188:txBody>
  </p188:cm>
</p188:cmLst>
</file>

<file path=ppt/comments/modernComment_107_E0C67832.xml><?xml version="1.0" encoding="utf-8"?>
<p188:cmLst xmlns:a="http://schemas.openxmlformats.org/drawingml/2006/main" xmlns:r="http://schemas.openxmlformats.org/officeDocument/2006/relationships" xmlns:p188="http://schemas.microsoft.com/office/powerpoint/2018/8/main">
  <p188:cm id="{F1E528B4-AF6E-4402-A8DF-C1C9DF0EB73E}" authorId="{C1C229C8-99E3-C200-4106-60997B1255A7}" created="2024-03-10T07:17:46.231">
    <pc:sldMkLst xmlns:pc="http://schemas.microsoft.com/office/powerpoint/2013/main/command">
      <pc:docMk/>
      <pc:sldMk cId="3771103282" sldId="263"/>
    </pc:sldMkLst>
    <p188:pos x="9401175" y="1717675"/>
    <p188:txBody>
      <a:bodyPr/>
      <a:lstStyle/>
      <a:p>
        <a:r>
          <a:rPr lang="en-US"/>
          <a:t>Can this be optimized to reduce one clock cycle? I.e., on cycle 0, have the microinstruction 0x80?</a:t>
        </a:r>
      </a:p>
    </p188:txBody>
  </p188:cm>
</p188:cmLst>
</file>

<file path=ppt/comments/modernComment_123_DD226EE1.xml><?xml version="1.0" encoding="utf-8"?>
<p188:cmLst xmlns:a="http://schemas.openxmlformats.org/drawingml/2006/main" xmlns:r="http://schemas.openxmlformats.org/officeDocument/2006/relationships" xmlns:p188="http://schemas.microsoft.com/office/powerpoint/2018/8/main">
  <p188:cm id="{7BD8BB70-F0EE-46F2-B36A-328484C91FEE}" authorId="{C1C229C8-99E3-C200-4106-60997B1255A7}" created="2024-03-10T06:58:13.803">
    <pc:sldMkLst xmlns:pc="http://schemas.microsoft.com/office/powerpoint/2013/main/command">
      <pc:docMk/>
      <pc:sldMk cId="3710021345" sldId="291"/>
    </pc:sldMkLst>
    <p188:pos x="11014075" y="1104900"/>
    <p188:txBody>
      <a:bodyPr/>
      <a:lstStyle/>
      <a:p>
        <a:r>
          <a:rPr lang="en-US"/>
          <a:t>Verify correct maximum clock frequency using oscilloscope</a:t>
        </a:r>
      </a:p>
    </p188:txBody>
  </p188:cm>
</p188:cmLst>
</file>

<file path=ppt/comments/modernComment_132_7EF51595.xml><?xml version="1.0" encoding="utf-8"?>
<p188:cmLst xmlns:a="http://schemas.openxmlformats.org/drawingml/2006/main" xmlns:r="http://schemas.openxmlformats.org/officeDocument/2006/relationships" xmlns:p188="http://schemas.microsoft.com/office/powerpoint/2018/8/main">
  <p188:cm id="{DAC3F2F5-F03C-405E-9687-55E55D6DA75B}" authorId="{C1C229C8-99E3-C200-4106-60997B1255A7}" created="2024-03-10T07:44:26.876">
    <pc:sldMkLst xmlns:pc="http://schemas.microsoft.com/office/powerpoint/2013/main/command">
      <pc:docMk/>
      <pc:sldMk cId="2129991061" sldId="306"/>
    </pc:sldMkLst>
    <p188:pos x="1895475" y="3702050"/>
    <p188:txBody>
      <a:bodyPr/>
      <a:lstStyle/>
      <a:p>
        <a:r>
          <a:rPr lang="en-US"/>
          <a:t>Check whether the input here is uC3 and not uC4</a:t>
        </a:r>
      </a:p>
    </p188:txBody>
  </p188:cm>
</p188:cmLst>
</file>

<file path=ppt/comments/modernComment_150_A2A58172.xml><?xml version="1.0" encoding="utf-8"?>
<p188:cmLst xmlns:a="http://schemas.openxmlformats.org/drawingml/2006/main" xmlns:r="http://schemas.openxmlformats.org/officeDocument/2006/relationships" xmlns:p188="http://schemas.microsoft.com/office/powerpoint/2018/8/main">
  <p188:cm id="{7DAC849E-854F-4338-859E-8D48CED81D81}" authorId="{6F4C601D-A3FB-E5F9-28C4-8691D725C714}" created="2025-12-25T20:20:52.874">
    <ac:txMkLst xmlns:ac="http://schemas.microsoft.com/office/drawing/2013/main/command">
      <pc:docMk xmlns:pc="http://schemas.microsoft.com/office/powerpoint/2013/main/command"/>
      <pc:sldMk xmlns:pc="http://schemas.microsoft.com/office/powerpoint/2013/main/command" cId="2728755570" sldId="336"/>
      <ac:graphicFrameMk id="4" creationId="{61054D4F-50EB-4216-9E26-903E352CCA4A}"/>
      <ac:tblMk/>
      <ac:tcMk rowId="615310716" colId="947167074"/>
      <ac:txMk cp="0" len="12">
        <ac:context len="13" hash="9094554"/>
      </ac:txMk>
    </ac:txMkLst>
    <p188:pos x="2469535" y="2657567"/>
    <p188:txBody>
      <a:bodyPr/>
      <a:lstStyle/>
      <a:p>
        <a:r>
          <a:rPr lang="en-US"/>
          <a:t>It appears that ROR has the following semantics:
ROR Rd, Rs
1. Rd = {Carry Flag, Rs[7:1]}
2. Carry Flag = Rs[0] (and all other flags are set as well)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39A2975-BF14-FF31-4861-1B937EEF7537}"/>
              </a:ext>
            </a:extLst>
          </p:cNvPr>
          <p:cNvSpPr>
            <a:spLocks noGrp="1"/>
          </p:cNvSpPr>
          <p:nvPr>
            <p:ph type="hdr" sz="quarter"/>
          </p:nvPr>
        </p:nvSpPr>
        <p:spPr>
          <a:xfrm>
            <a:off x="2" y="2"/>
            <a:ext cx="3038475" cy="466725"/>
          </a:xfrm>
          <a:prstGeom prst="rect">
            <a:avLst/>
          </a:prstGeom>
        </p:spPr>
        <p:txBody>
          <a:bodyPr vert="horz" lIns="91413" tIns="45706" rIns="91413" bIns="45706" rtlCol="0"/>
          <a:lstStyle>
            <a:lvl1pPr algn="l">
              <a:defRPr sz="1200"/>
            </a:lvl1pPr>
          </a:lstStyle>
          <a:p>
            <a:endParaRPr lang="en-US"/>
          </a:p>
        </p:txBody>
      </p:sp>
      <p:sp>
        <p:nvSpPr>
          <p:cNvPr id="3" name="Date Placeholder 2">
            <a:extLst>
              <a:ext uri="{FF2B5EF4-FFF2-40B4-BE49-F238E27FC236}">
                <a16:creationId xmlns:a16="http://schemas.microsoft.com/office/drawing/2014/main" id="{23BBC9F7-5C22-286F-905D-7FE99568A483}"/>
              </a:ext>
            </a:extLst>
          </p:cNvPr>
          <p:cNvSpPr>
            <a:spLocks noGrp="1"/>
          </p:cNvSpPr>
          <p:nvPr>
            <p:ph type="dt" sz="quarter" idx="1"/>
          </p:nvPr>
        </p:nvSpPr>
        <p:spPr>
          <a:xfrm>
            <a:off x="3970340" y="2"/>
            <a:ext cx="3038475" cy="466725"/>
          </a:xfrm>
          <a:prstGeom prst="rect">
            <a:avLst/>
          </a:prstGeom>
        </p:spPr>
        <p:txBody>
          <a:bodyPr vert="horz" lIns="91413" tIns="45706" rIns="91413" bIns="45706" rtlCol="0"/>
          <a:lstStyle>
            <a:lvl1pPr algn="r">
              <a:defRPr sz="1200"/>
            </a:lvl1pPr>
          </a:lstStyle>
          <a:p>
            <a:fld id="{9DBE14C3-B025-464C-88EF-CA7F61BF7801}" type="datetime1">
              <a:rPr lang="en-US" smtClean="0"/>
              <a:t>7/19/2026</a:t>
            </a:fld>
            <a:endParaRPr lang="en-US"/>
          </a:p>
        </p:txBody>
      </p:sp>
      <p:sp>
        <p:nvSpPr>
          <p:cNvPr id="4" name="Footer Placeholder 3">
            <a:extLst>
              <a:ext uri="{FF2B5EF4-FFF2-40B4-BE49-F238E27FC236}">
                <a16:creationId xmlns:a16="http://schemas.microsoft.com/office/drawing/2014/main" id="{6AF8A0BF-E69A-1DC9-2EDD-5105EB5A296F}"/>
              </a:ext>
            </a:extLst>
          </p:cNvPr>
          <p:cNvSpPr>
            <a:spLocks noGrp="1"/>
          </p:cNvSpPr>
          <p:nvPr>
            <p:ph type="ftr" sz="quarter" idx="2"/>
          </p:nvPr>
        </p:nvSpPr>
        <p:spPr>
          <a:xfrm>
            <a:off x="2" y="8829677"/>
            <a:ext cx="3038475" cy="466725"/>
          </a:xfrm>
          <a:prstGeom prst="rect">
            <a:avLst/>
          </a:prstGeom>
        </p:spPr>
        <p:txBody>
          <a:bodyPr vert="horz" lIns="91413" tIns="45706" rIns="91413" bIns="45706"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B30A546-3DF9-34D6-1806-B228D764AEE2}"/>
              </a:ext>
            </a:extLst>
          </p:cNvPr>
          <p:cNvSpPr>
            <a:spLocks noGrp="1"/>
          </p:cNvSpPr>
          <p:nvPr>
            <p:ph type="sldNum" sz="quarter" idx="3"/>
          </p:nvPr>
        </p:nvSpPr>
        <p:spPr>
          <a:xfrm>
            <a:off x="3970340" y="8829677"/>
            <a:ext cx="3038475" cy="466725"/>
          </a:xfrm>
          <a:prstGeom prst="rect">
            <a:avLst/>
          </a:prstGeom>
        </p:spPr>
        <p:txBody>
          <a:bodyPr vert="horz" lIns="91413" tIns="45706" rIns="91413" bIns="45706" rtlCol="0" anchor="b"/>
          <a:lstStyle>
            <a:lvl1pPr algn="r">
              <a:defRPr sz="1200"/>
            </a:lvl1pPr>
          </a:lstStyle>
          <a:p>
            <a:fld id="{9B11D2C7-0368-4B35-8D1E-6E879AC8DCC4}" type="slidenum">
              <a:rPr lang="en-US" smtClean="0"/>
              <a:t>‹#›</a:t>
            </a:fld>
            <a:endParaRPr lang="en-US"/>
          </a:p>
        </p:txBody>
      </p:sp>
    </p:spTree>
    <p:extLst>
      <p:ext uri="{BB962C8B-B14F-4D97-AF65-F5344CB8AC3E}">
        <p14:creationId xmlns:p14="http://schemas.microsoft.com/office/powerpoint/2010/main" val="1993572993"/>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2"/>
            <a:ext cx="3038475" cy="466725"/>
          </a:xfrm>
          <a:prstGeom prst="rect">
            <a:avLst/>
          </a:prstGeom>
        </p:spPr>
        <p:txBody>
          <a:bodyPr vert="horz" lIns="91413" tIns="45706" rIns="91413" bIns="45706" rtlCol="0"/>
          <a:lstStyle>
            <a:lvl1pPr algn="l">
              <a:defRPr sz="1200"/>
            </a:lvl1pPr>
          </a:lstStyle>
          <a:p>
            <a:endParaRPr lang="en-US"/>
          </a:p>
        </p:txBody>
      </p:sp>
      <p:sp>
        <p:nvSpPr>
          <p:cNvPr id="3" name="Date Placeholder 2"/>
          <p:cNvSpPr>
            <a:spLocks noGrp="1"/>
          </p:cNvSpPr>
          <p:nvPr>
            <p:ph type="dt" idx="1"/>
          </p:nvPr>
        </p:nvSpPr>
        <p:spPr>
          <a:xfrm>
            <a:off x="3970340" y="2"/>
            <a:ext cx="3038475" cy="466725"/>
          </a:xfrm>
          <a:prstGeom prst="rect">
            <a:avLst/>
          </a:prstGeom>
        </p:spPr>
        <p:txBody>
          <a:bodyPr vert="horz" lIns="91413" tIns="45706" rIns="91413" bIns="45706" rtlCol="0"/>
          <a:lstStyle>
            <a:lvl1pPr algn="r">
              <a:defRPr sz="1200"/>
            </a:lvl1pPr>
          </a:lstStyle>
          <a:p>
            <a:fld id="{1965A319-62D1-4B04-B501-E2D2517BFCD3}" type="datetime1">
              <a:rPr lang="en-US" smtClean="0"/>
              <a:t>7/19/2026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13" tIns="45706" rIns="91413" bIns="45706" rtlCol="0" anchor="ctr"/>
          <a:lstStyle/>
          <a:p>
            <a:endParaRPr lang="en-US"/>
          </a:p>
        </p:txBody>
      </p:sp>
      <p:sp>
        <p:nvSpPr>
          <p:cNvPr id="5" name="Notes Placeholder 4"/>
          <p:cNvSpPr>
            <a:spLocks noGrp="1"/>
          </p:cNvSpPr>
          <p:nvPr>
            <p:ph type="body" sz="quarter" idx="3"/>
          </p:nvPr>
        </p:nvSpPr>
        <p:spPr>
          <a:xfrm>
            <a:off x="701677" y="4473575"/>
            <a:ext cx="5607050" cy="3660775"/>
          </a:xfrm>
          <a:prstGeom prst="rect">
            <a:avLst/>
          </a:prstGeom>
        </p:spPr>
        <p:txBody>
          <a:bodyPr vert="horz" lIns="91413" tIns="45706" rIns="91413" bIns="4570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2" y="8829677"/>
            <a:ext cx="3038475" cy="466725"/>
          </a:xfrm>
          <a:prstGeom prst="rect">
            <a:avLst/>
          </a:prstGeom>
        </p:spPr>
        <p:txBody>
          <a:bodyPr vert="horz" lIns="91413" tIns="45706" rIns="91413" bIns="45706" rtlCol="0" anchor="b"/>
          <a:lstStyle>
            <a:lvl1pPr algn="l">
              <a:defRPr sz="1200"/>
            </a:lvl1pPr>
          </a:lstStyle>
          <a:p>
            <a:endParaRPr lang="en-US"/>
          </a:p>
        </p:txBody>
      </p:sp>
      <p:sp>
        <p:nvSpPr>
          <p:cNvPr id="8" name="Slide Number Placeholder 7">
            <a:extLst>
              <a:ext uri="{FF2B5EF4-FFF2-40B4-BE49-F238E27FC236}">
                <a16:creationId xmlns:a16="http://schemas.microsoft.com/office/drawing/2014/main" id="{525B44F2-094D-D219-16D1-A52A57107D62}"/>
              </a:ext>
            </a:extLst>
          </p:cNvPr>
          <p:cNvSpPr>
            <a:spLocks noGrp="1"/>
          </p:cNvSpPr>
          <p:nvPr>
            <p:ph type="sldNum" sz="quarter" idx="5"/>
          </p:nvPr>
        </p:nvSpPr>
        <p:spPr>
          <a:xfrm>
            <a:off x="3970340" y="8829677"/>
            <a:ext cx="3038475" cy="466725"/>
          </a:xfrm>
          <a:prstGeom prst="rect">
            <a:avLst/>
          </a:prstGeom>
        </p:spPr>
        <p:txBody>
          <a:bodyPr vert="horz" lIns="91413" tIns="45706" rIns="91413" bIns="45706" rtlCol="0" anchor="b"/>
          <a:lstStyle>
            <a:lvl1pPr algn="r">
              <a:defRPr sz="1200"/>
            </a:lvl1pPr>
          </a:lstStyle>
          <a:p>
            <a:fld id="{91715222-4AD9-41F8-B991-E2027C81E89E}" type="slidenum">
              <a:rPr lang="en-US" smtClean="0"/>
              <a:t>‹#›</a:t>
            </a:fld>
            <a:endParaRPr lang="en-US"/>
          </a:p>
        </p:txBody>
      </p:sp>
    </p:spTree>
    <p:extLst>
      <p:ext uri="{BB962C8B-B14F-4D97-AF65-F5344CB8AC3E}">
        <p14:creationId xmlns:p14="http://schemas.microsoft.com/office/powerpoint/2010/main" val="2921691120"/>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6E12DCF1-BD10-498A-B530-954C8A9EBF83}" type="datetime1">
              <a:rPr lang="en-US" smtClean="0"/>
              <a:t>7/19/2026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1715222-4AD9-41F8-B991-E2027C81E89E}" type="slidenum">
              <a:rPr lang="en-US" smtClean="0"/>
              <a:t>1</a:t>
            </a:fld>
            <a:endParaRPr lang="en-US"/>
          </a:p>
        </p:txBody>
      </p:sp>
    </p:spTree>
    <p:extLst>
      <p:ext uri="{BB962C8B-B14F-4D97-AF65-F5344CB8AC3E}">
        <p14:creationId xmlns:p14="http://schemas.microsoft.com/office/powerpoint/2010/main" val="21771039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1965A319-62D1-4B04-B501-E2D2517BFCD3}" type="datetime1">
              <a:rPr lang="en-US" smtClean="0"/>
              <a:t>7/19/2026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1715222-4AD9-41F8-B991-E2027C81E89E}" type="slidenum">
              <a:rPr lang="en-US" smtClean="0"/>
              <a:t>11</a:t>
            </a:fld>
            <a:endParaRPr lang="en-US"/>
          </a:p>
        </p:txBody>
      </p:sp>
    </p:spTree>
    <p:extLst>
      <p:ext uri="{BB962C8B-B14F-4D97-AF65-F5344CB8AC3E}">
        <p14:creationId xmlns:p14="http://schemas.microsoft.com/office/powerpoint/2010/main" val="3888387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3BF69B9D-E841-4624-A539-D744F3C14115}" type="datetime1">
              <a:rPr lang="en-US" smtClean="0"/>
              <a:t>7/19/2026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1715222-4AD9-41F8-B991-E2027C81E89E}" type="slidenum">
              <a:rPr lang="en-US" smtClean="0"/>
              <a:t>16</a:t>
            </a:fld>
            <a:endParaRPr lang="en-US"/>
          </a:p>
        </p:txBody>
      </p:sp>
    </p:spTree>
    <p:extLst>
      <p:ext uri="{BB962C8B-B14F-4D97-AF65-F5344CB8AC3E}">
        <p14:creationId xmlns:p14="http://schemas.microsoft.com/office/powerpoint/2010/main" val="35298668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F151B00F-B710-4EBD-80CB-6B4853F83F1A}" type="datetime1">
              <a:rPr lang="en-US" smtClean="0"/>
              <a:t>7/19/2026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1715222-4AD9-41F8-B991-E2027C81E89E}" type="slidenum">
              <a:rPr lang="en-US" smtClean="0"/>
              <a:t>17</a:t>
            </a:fld>
            <a:endParaRPr lang="en-US"/>
          </a:p>
        </p:txBody>
      </p:sp>
    </p:spTree>
    <p:extLst>
      <p:ext uri="{BB962C8B-B14F-4D97-AF65-F5344CB8AC3E}">
        <p14:creationId xmlns:p14="http://schemas.microsoft.com/office/powerpoint/2010/main" val="40881783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C4C5A02C-041B-447F-89B8-BD1973D9AEE6}" type="datetime1">
              <a:rPr lang="en-US" smtClean="0"/>
              <a:t>7/19/2026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1715222-4AD9-41F8-B991-E2027C81E89E}" type="slidenum">
              <a:rPr lang="en-US" smtClean="0"/>
              <a:t>20</a:t>
            </a:fld>
            <a:endParaRPr lang="en-US"/>
          </a:p>
        </p:txBody>
      </p:sp>
    </p:spTree>
    <p:extLst>
      <p:ext uri="{BB962C8B-B14F-4D97-AF65-F5344CB8AC3E}">
        <p14:creationId xmlns:p14="http://schemas.microsoft.com/office/powerpoint/2010/main" val="2371291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91D0D9A2-04AD-4EEB-9D46-6CE74F4E120F}" type="datetime1">
              <a:rPr lang="en-US" smtClean="0"/>
              <a:t>7/19/2026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1715222-4AD9-41F8-B991-E2027C81E89E}" type="slidenum">
              <a:rPr lang="en-US" smtClean="0"/>
              <a:t>21</a:t>
            </a:fld>
            <a:endParaRPr lang="en-US"/>
          </a:p>
        </p:txBody>
      </p:sp>
    </p:spTree>
    <p:extLst>
      <p:ext uri="{BB962C8B-B14F-4D97-AF65-F5344CB8AC3E}">
        <p14:creationId xmlns:p14="http://schemas.microsoft.com/office/powerpoint/2010/main" val="42664149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F349D-53E7-2BD5-8464-583C05A5F0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67B1E5-9212-98F6-5C52-6C51DA052632}"/>
              </a:ext>
            </a:extLst>
          </p:cNvPr>
          <p:cNvSpPr>
            <a:spLocks noGrp="1" noRot="1" noChangeAspect="1"/>
          </p:cNvSpPr>
          <p:nvPr>
            <p:ph type="sldImg"/>
          </p:nvPr>
        </p:nvSpPr>
        <p:spPr>
          <a:xfrm>
            <a:off x="717550" y="1162050"/>
            <a:ext cx="5575300" cy="3136900"/>
          </a:xfrm>
        </p:spPr>
      </p:sp>
      <p:sp>
        <p:nvSpPr>
          <p:cNvPr id="3" name="Notes Placeholder 2">
            <a:extLst>
              <a:ext uri="{FF2B5EF4-FFF2-40B4-BE49-F238E27FC236}">
                <a16:creationId xmlns:a16="http://schemas.microsoft.com/office/drawing/2014/main" id="{00DDD2CF-6147-1C84-FA2D-4CCB68D5ADCD}"/>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5D68B96A-0D25-6602-7759-5A4DF8B74BEC}"/>
              </a:ext>
            </a:extLst>
          </p:cNvPr>
          <p:cNvSpPr>
            <a:spLocks noGrp="1"/>
          </p:cNvSpPr>
          <p:nvPr>
            <p:ph type="hdr" sz="quarter"/>
          </p:nvPr>
        </p:nvSpPr>
        <p:spPr/>
        <p:txBody>
          <a:bodyPr/>
          <a:lstStyle/>
          <a:p>
            <a:endParaRPr lang="en-US"/>
          </a:p>
        </p:txBody>
      </p:sp>
      <p:sp>
        <p:nvSpPr>
          <p:cNvPr id="5" name="Date Placeholder 4">
            <a:extLst>
              <a:ext uri="{FF2B5EF4-FFF2-40B4-BE49-F238E27FC236}">
                <a16:creationId xmlns:a16="http://schemas.microsoft.com/office/drawing/2014/main" id="{B0C2ED6E-D2C6-FF23-69B4-C40DFFA31C2C}"/>
              </a:ext>
            </a:extLst>
          </p:cNvPr>
          <p:cNvSpPr>
            <a:spLocks noGrp="1"/>
          </p:cNvSpPr>
          <p:nvPr>
            <p:ph type="dt" idx="1"/>
          </p:nvPr>
        </p:nvSpPr>
        <p:spPr/>
        <p:txBody>
          <a:bodyPr/>
          <a:lstStyle/>
          <a:p>
            <a:fld id="{91D0D9A2-04AD-4EEB-9D46-6CE74F4E120F}" type="datetime1">
              <a:rPr lang="en-US" smtClean="0"/>
              <a:t>7/19/2026</a:t>
            </a:fld>
            <a:endParaRPr lang="en-US"/>
          </a:p>
        </p:txBody>
      </p:sp>
      <p:sp>
        <p:nvSpPr>
          <p:cNvPr id="6" name="Footer Placeholder 5">
            <a:extLst>
              <a:ext uri="{FF2B5EF4-FFF2-40B4-BE49-F238E27FC236}">
                <a16:creationId xmlns:a16="http://schemas.microsoft.com/office/drawing/2014/main" id="{93E12447-8C04-AD55-DEF9-EAD579FD3651}"/>
              </a:ext>
            </a:extLst>
          </p:cNvPr>
          <p:cNvSpPr>
            <a:spLocks noGrp="1"/>
          </p:cNvSpPr>
          <p:nvPr>
            <p:ph type="ftr" sz="quarter" idx="4"/>
          </p:nvPr>
        </p:nvSpPr>
        <p:spPr/>
        <p:txBody>
          <a:bodyPr/>
          <a:lstStyle/>
          <a:p>
            <a:endParaRPr lang="en-US"/>
          </a:p>
        </p:txBody>
      </p:sp>
      <p:sp>
        <p:nvSpPr>
          <p:cNvPr id="7" name="Slide Number Placeholder 6">
            <a:extLst>
              <a:ext uri="{FF2B5EF4-FFF2-40B4-BE49-F238E27FC236}">
                <a16:creationId xmlns:a16="http://schemas.microsoft.com/office/drawing/2014/main" id="{64FCCE0E-90A5-D6AB-1149-F9FD7981200F}"/>
              </a:ext>
            </a:extLst>
          </p:cNvPr>
          <p:cNvSpPr>
            <a:spLocks noGrp="1"/>
          </p:cNvSpPr>
          <p:nvPr>
            <p:ph type="sldNum" sz="quarter" idx="5"/>
          </p:nvPr>
        </p:nvSpPr>
        <p:spPr/>
        <p:txBody>
          <a:bodyPr/>
          <a:lstStyle/>
          <a:p>
            <a:fld id="{91715222-4AD9-41F8-B991-E2027C81E89E}" type="slidenum">
              <a:rPr lang="en-US" smtClean="0"/>
              <a:t>22</a:t>
            </a:fld>
            <a:endParaRPr lang="en-US"/>
          </a:p>
        </p:txBody>
      </p:sp>
    </p:spTree>
    <p:extLst>
      <p:ext uri="{BB962C8B-B14F-4D97-AF65-F5344CB8AC3E}">
        <p14:creationId xmlns:p14="http://schemas.microsoft.com/office/powerpoint/2010/main" val="2861971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0C08A-EF6C-1149-C4CE-FBCFFF19FF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26F6F2-0175-584C-E3EB-1D26D0616CC2}"/>
              </a:ext>
            </a:extLst>
          </p:cNvPr>
          <p:cNvSpPr>
            <a:spLocks noGrp="1" noRot="1" noChangeAspect="1"/>
          </p:cNvSpPr>
          <p:nvPr>
            <p:ph type="sldImg"/>
          </p:nvPr>
        </p:nvSpPr>
        <p:spPr>
          <a:xfrm>
            <a:off x="717550" y="1162050"/>
            <a:ext cx="5575300" cy="3136900"/>
          </a:xfrm>
        </p:spPr>
      </p:sp>
      <p:sp>
        <p:nvSpPr>
          <p:cNvPr id="3" name="Notes Placeholder 2">
            <a:extLst>
              <a:ext uri="{FF2B5EF4-FFF2-40B4-BE49-F238E27FC236}">
                <a16:creationId xmlns:a16="http://schemas.microsoft.com/office/drawing/2014/main" id="{13A4F1A7-6B37-0EA7-E428-D7BF67BDBFAB}"/>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BEE95B98-568E-A59C-3002-B79D875D100B}"/>
              </a:ext>
            </a:extLst>
          </p:cNvPr>
          <p:cNvSpPr>
            <a:spLocks noGrp="1"/>
          </p:cNvSpPr>
          <p:nvPr>
            <p:ph type="hdr" sz="quarter"/>
          </p:nvPr>
        </p:nvSpPr>
        <p:spPr/>
        <p:txBody>
          <a:bodyPr/>
          <a:lstStyle/>
          <a:p>
            <a:endParaRPr lang="en-US"/>
          </a:p>
        </p:txBody>
      </p:sp>
      <p:sp>
        <p:nvSpPr>
          <p:cNvPr id="5" name="Date Placeholder 4">
            <a:extLst>
              <a:ext uri="{FF2B5EF4-FFF2-40B4-BE49-F238E27FC236}">
                <a16:creationId xmlns:a16="http://schemas.microsoft.com/office/drawing/2014/main" id="{7E5D0629-378F-7436-0D0C-C1A3816D77AC}"/>
              </a:ext>
            </a:extLst>
          </p:cNvPr>
          <p:cNvSpPr>
            <a:spLocks noGrp="1"/>
          </p:cNvSpPr>
          <p:nvPr>
            <p:ph type="dt" idx="1"/>
          </p:nvPr>
        </p:nvSpPr>
        <p:spPr/>
        <p:txBody>
          <a:bodyPr/>
          <a:lstStyle/>
          <a:p>
            <a:fld id="{8571A9BD-2687-4C0C-9FCC-115168453D21}" type="datetime1">
              <a:rPr lang="en-US" smtClean="0"/>
              <a:t>7/19/2026</a:t>
            </a:fld>
            <a:endParaRPr lang="en-US"/>
          </a:p>
        </p:txBody>
      </p:sp>
      <p:sp>
        <p:nvSpPr>
          <p:cNvPr id="6" name="Footer Placeholder 5">
            <a:extLst>
              <a:ext uri="{FF2B5EF4-FFF2-40B4-BE49-F238E27FC236}">
                <a16:creationId xmlns:a16="http://schemas.microsoft.com/office/drawing/2014/main" id="{B53E2F92-2CAC-699B-1014-099F2086F920}"/>
              </a:ext>
            </a:extLst>
          </p:cNvPr>
          <p:cNvSpPr>
            <a:spLocks noGrp="1"/>
          </p:cNvSpPr>
          <p:nvPr>
            <p:ph type="ftr" sz="quarter" idx="4"/>
          </p:nvPr>
        </p:nvSpPr>
        <p:spPr/>
        <p:txBody>
          <a:bodyPr/>
          <a:lstStyle/>
          <a:p>
            <a:endParaRPr lang="en-US"/>
          </a:p>
        </p:txBody>
      </p:sp>
      <p:sp>
        <p:nvSpPr>
          <p:cNvPr id="7" name="Slide Number Placeholder 6">
            <a:extLst>
              <a:ext uri="{FF2B5EF4-FFF2-40B4-BE49-F238E27FC236}">
                <a16:creationId xmlns:a16="http://schemas.microsoft.com/office/drawing/2014/main" id="{3B7EEB33-9D55-121D-769E-322FAAA1C133}"/>
              </a:ext>
            </a:extLst>
          </p:cNvPr>
          <p:cNvSpPr>
            <a:spLocks noGrp="1"/>
          </p:cNvSpPr>
          <p:nvPr>
            <p:ph type="sldNum" sz="quarter" idx="5"/>
          </p:nvPr>
        </p:nvSpPr>
        <p:spPr/>
        <p:txBody>
          <a:bodyPr/>
          <a:lstStyle/>
          <a:p>
            <a:fld id="{91715222-4AD9-41F8-B991-E2027C81E89E}" type="slidenum">
              <a:rPr lang="en-US" smtClean="0"/>
              <a:t>23</a:t>
            </a:fld>
            <a:endParaRPr lang="en-US"/>
          </a:p>
        </p:txBody>
      </p:sp>
    </p:spTree>
    <p:extLst>
      <p:ext uri="{BB962C8B-B14F-4D97-AF65-F5344CB8AC3E}">
        <p14:creationId xmlns:p14="http://schemas.microsoft.com/office/powerpoint/2010/main" val="15419861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49DF09BD-A259-4061-BC11-B8EC44F478A2}" type="datetime1">
              <a:rPr lang="en-US" smtClean="0"/>
              <a:t>7/19/2026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1715222-4AD9-41F8-B991-E2027C81E89E}" type="slidenum">
              <a:rPr lang="en-US" smtClean="0"/>
              <a:t>29</a:t>
            </a:fld>
            <a:endParaRPr lang="en-US"/>
          </a:p>
        </p:txBody>
      </p:sp>
    </p:spTree>
    <p:extLst>
      <p:ext uri="{BB962C8B-B14F-4D97-AF65-F5344CB8AC3E}">
        <p14:creationId xmlns:p14="http://schemas.microsoft.com/office/powerpoint/2010/main" val="13812838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EC0F915D-C2D4-402B-BD62-0794A2A423B0}" type="datetime1">
              <a:rPr lang="en-US" smtClean="0"/>
              <a:t>7/19/2026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1715222-4AD9-41F8-B991-E2027C81E89E}" type="slidenum">
              <a:rPr lang="en-US" smtClean="0"/>
              <a:t>32</a:t>
            </a:fld>
            <a:endParaRPr lang="en-US"/>
          </a:p>
        </p:txBody>
      </p:sp>
    </p:spTree>
    <p:extLst>
      <p:ext uri="{BB962C8B-B14F-4D97-AF65-F5344CB8AC3E}">
        <p14:creationId xmlns:p14="http://schemas.microsoft.com/office/powerpoint/2010/main" val="24813230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7875" y="1200150"/>
            <a:ext cx="5759450" cy="3240088"/>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AE37B5E8-6F6C-4D8D-BFE8-10E67D35AE52}" type="datetime1">
              <a:rPr lang="en-US" smtClean="0"/>
              <a:t>7/19/2026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1715222-4AD9-41F8-B991-E2027C81E89E}" type="slidenum">
              <a:rPr lang="en-US" smtClean="0"/>
              <a:t>35</a:t>
            </a:fld>
            <a:endParaRPr lang="en-US"/>
          </a:p>
        </p:txBody>
      </p:sp>
    </p:spTree>
    <p:extLst>
      <p:ext uri="{BB962C8B-B14F-4D97-AF65-F5344CB8AC3E}">
        <p14:creationId xmlns:p14="http://schemas.microsoft.com/office/powerpoint/2010/main" val="6023128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24E53209-52F0-4E77-81FC-F04A6F29A190}" type="datetime1">
              <a:rPr lang="en-US" smtClean="0"/>
              <a:t>7/19/2026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1715222-4AD9-41F8-B991-E2027C81E89E}" type="slidenum">
              <a:rPr lang="en-US" smtClean="0"/>
              <a:t>36</a:t>
            </a:fld>
            <a:endParaRPr lang="en-US"/>
          </a:p>
        </p:txBody>
      </p:sp>
    </p:spTree>
    <p:extLst>
      <p:ext uri="{BB962C8B-B14F-4D97-AF65-F5344CB8AC3E}">
        <p14:creationId xmlns:p14="http://schemas.microsoft.com/office/powerpoint/2010/main" val="2585929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1. IDE Setup</a:t>
            </a:r>
          </a:p>
          <a:p>
            <a:r>
              <a:rPr lang="en-US" sz="1200" b="0" kern="1200" dirty="0">
                <a:solidFill>
                  <a:schemeClr val="tx1"/>
                </a:solidFill>
                <a:effectLst/>
                <a:latin typeface="+mn-lt"/>
                <a:ea typeface="+mn-ea"/>
                <a:cs typeface="+mn-cs"/>
              </a:rPr>
              <a:t>      a. Board "Arduino NANO"</a:t>
            </a:r>
          </a:p>
          <a:p>
            <a:r>
              <a:rPr lang="en-US" sz="1200" b="0" kern="1200" dirty="0">
                <a:solidFill>
                  <a:schemeClr val="tx1"/>
                </a:solidFill>
                <a:effectLst/>
                <a:latin typeface="+mn-lt"/>
                <a:ea typeface="+mn-ea"/>
                <a:cs typeface="+mn-cs"/>
              </a:rPr>
              <a:t>      b. CPU "ATmega328p (old bootloader)"</a:t>
            </a:r>
          </a:p>
          <a:p>
            <a:r>
              <a:rPr lang="en-US" sz="1200" b="0" kern="1200" dirty="0">
                <a:solidFill>
                  <a:schemeClr val="tx1"/>
                </a:solidFill>
                <a:effectLst/>
                <a:latin typeface="+mn-lt"/>
                <a:ea typeface="+mn-ea"/>
                <a:cs typeface="+mn-cs"/>
              </a:rPr>
              <a:t>2. To program the Arduino - the RESET control signal (black) need to be disconnected!!.</a:t>
            </a:r>
          </a:p>
          <a:p>
            <a:endParaRPr lang="en-US" dirty="0"/>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1965A319-62D1-4B04-B501-E2D2517BFCD3}" type="datetime1">
              <a:rPr lang="en-US" smtClean="0"/>
              <a:t>7/19/2026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1715222-4AD9-41F8-B991-E2027C81E89E}" type="slidenum">
              <a:rPr lang="en-US" smtClean="0"/>
              <a:t>39</a:t>
            </a:fld>
            <a:endParaRPr lang="en-US"/>
          </a:p>
        </p:txBody>
      </p:sp>
    </p:spTree>
    <p:extLst>
      <p:ext uri="{BB962C8B-B14F-4D97-AF65-F5344CB8AC3E}">
        <p14:creationId xmlns:p14="http://schemas.microsoft.com/office/powerpoint/2010/main" val="29256669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1965A319-62D1-4B04-B501-E2D2517BFCD3}" type="datetime1">
              <a:rPr lang="en-US" smtClean="0"/>
              <a:t>7/19/2026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1715222-4AD9-41F8-B991-E2027C81E89E}" type="slidenum">
              <a:rPr lang="en-US" smtClean="0"/>
              <a:t>41</a:t>
            </a:fld>
            <a:endParaRPr lang="en-US"/>
          </a:p>
        </p:txBody>
      </p:sp>
    </p:spTree>
    <p:extLst>
      <p:ext uri="{BB962C8B-B14F-4D97-AF65-F5344CB8AC3E}">
        <p14:creationId xmlns:p14="http://schemas.microsoft.com/office/powerpoint/2010/main" val="12594488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37406806-5CE7-4B47-843C-D8778D220F91}" type="datetime1">
              <a:rPr lang="en-US" smtClean="0"/>
              <a:t>7/19/2026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1715222-4AD9-41F8-B991-E2027C81E89E}" type="slidenum">
              <a:rPr lang="en-US" smtClean="0"/>
              <a:t>46</a:t>
            </a:fld>
            <a:endParaRPr lang="en-US"/>
          </a:p>
        </p:txBody>
      </p:sp>
    </p:spTree>
    <p:extLst>
      <p:ext uri="{BB962C8B-B14F-4D97-AF65-F5344CB8AC3E}">
        <p14:creationId xmlns:p14="http://schemas.microsoft.com/office/powerpoint/2010/main" val="10080748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530CF-5729-6F6A-CB11-D49B181F4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60440B-CF6E-3CA7-C217-87AC85CD01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50301E-1A43-1D04-A97D-15EC38C9F40F}"/>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F5E15DC5-D399-26B0-4E25-31B78913B25A}"/>
              </a:ext>
            </a:extLst>
          </p:cNvPr>
          <p:cNvSpPr>
            <a:spLocks noGrp="1"/>
          </p:cNvSpPr>
          <p:nvPr>
            <p:ph type="hdr" sz="quarter"/>
          </p:nvPr>
        </p:nvSpPr>
        <p:spPr/>
        <p:txBody>
          <a:bodyPr/>
          <a:lstStyle/>
          <a:p>
            <a:endParaRPr lang="en-US"/>
          </a:p>
        </p:txBody>
      </p:sp>
      <p:sp>
        <p:nvSpPr>
          <p:cNvPr id="5" name="Date Placeholder 4">
            <a:extLst>
              <a:ext uri="{FF2B5EF4-FFF2-40B4-BE49-F238E27FC236}">
                <a16:creationId xmlns:a16="http://schemas.microsoft.com/office/drawing/2014/main" id="{F630B633-A88D-5AE5-9CAE-C83DD43A8741}"/>
              </a:ext>
            </a:extLst>
          </p:cNvPr>
          <p:cNvSpPr>
            <a:spLocks noGrp="1"/>
          </p:cNvSpPr>
          <p:nvPr>
            <p:ph type="dt" idx="1"/>
          </p:nvPr>
        </p:nvSpPr>
        <p:spPr/>
        <p:txBody>
          <a:bodyPr/>
          <a:lstStyle/>
          <a:p>
            <a:fld id="{1965A319-62D1-4B04-B501-E2D2517BFCD3}" type="datetime1">
              <a:rPr lang="en-US" smtClean="0"/>
              <a:t>7/19/2026</a:t>
            </a:fld>
            <a:endParaRPr lang="en-US"/>
          </a:p>
        </p:txBody>
      </p:sp>
      <p:sp>
        <p:nvSpPr>
          <p:cNvPr id="6" name="Footer Placeholder 5">
            <a:extLst>
              <a:ext uri="{FF2B5EF4-FFF2-40B4-BE49-F238E27FC236}">
                <a16:creationId xmlns:a16="http://schemas.microsoft.com/office/drawing/2014/main" id="{D4F46C73-25F9-C9E7-27DB-CF6944D4CB55}"/>
              </a:ext>
            </a:extLst>
          </p:cNvPr>
          <p:cNvSpPr>
            <a:spLocks noGrp="1"/>
          </p:cNvSpPr>
          <p:nvPr>
            <p:ph type="ftr" sz="quarter" idx="4"/>
          </p:nvPr>
        </p:nvSpPr>
        <p:spPr/>
        <p:txBody>
          <a:bodyPr/>
          <a:lstStyle/>
          <a:p>
            <a:endParaRPr lang="en-US"/>
          </a:p>
        </p:txBody>
      </p:sp>
      <p:sp>
        <p:nvSpPr>
          <p:cNvPr id="7" name="Slide Number Placeholder 6">
            <a:extLst>
              <a:ext uri="{FF2B5EF4-FFF2-40B4-BE49-F238E27FC236}">
                <a16:creationId xmlns:a16="http://schemas.microsoft.com/office/drawing/2014/main" id="{8A5F4FE9-298C-F72E-C8D0-16E736161DB5}"/>
              </a:ext>
            </a:extLst>
          </p:cNvPr>
          <p:cNvSpPr>
            <a:spLocks noGrp="1"/>
          </p:cNvSpPr>
          <p:nvPr>
            <p:ph type="sldNum" sz="quarter" idx="5"/>
          </p:nvPr>
        </p:nvSpPr>
        <p:spPr/>
        <p:txBody>
          <a:bodyPr/>
          <a:lstStyle/>
          <a:p>
            <a:fld id="{91715222-4AD9-41F8-B991-E2027C81E89E}" type="slidenum">
              <a:rPr lang="en-US" smtClean="0"/>
              <a:t>54</a:t>
            </a:fld>
            <a:endParaRPr lang="en-US"/>
          </a:p>
        </p:txBody>
      </p:sp>
    </p:spTree>
    <p:extLst>
      <p:ext uri="{BB962C8B-B14F-4D97-AF65-F5344CB8AC3E}">
        <p14:creationId xmlns:p14="http://schemas.microsoft.com/office/powerpoint/2010/main" val="3515635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1C533-BB96-0925-682A-47AE14C935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D4CFB4-5D9D-59AA-18E4-70ACF1396D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24A546-9833-2FF5-D672-BE6B10DD5841}"/>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52C85B1B-F178-063D-008F-B5D06AD68E15}"/>
              </a:ext>
            </a:extLst>
          </p:cNvPr>
          <p:cNvSpPr>
            <a:spLocks noGrp="1"/>
          </p:cNvSpPr>
          <p:nvPr>
            <p:ph type="hdr" sz="quarter"/>
          </p:nvPr>
        </p:nvSpPr>
        <p:spPr/>
        <p:txBody>
          <a:bodyPr/>
          <a:lstStyle/>
          <a:p>
            <a:endParaRPr lang="en-US"/>
          </a:p>
        </p:txBody>
      </p:sp>
      <p:sp>
        <p:nvSpPr>
          <p:cNvPr id="5" name="Date Placeholder 4">
            <a:extLst>
              <a:ext uri="{FF2B5EF4-FFF2-40B4-BE49-F238E27FC236}">
                <a16:creationId xmlns:a16="http://schemas.microsoft.com/office/drawing/2014/main" id="{A5E86C11-2F1F-6C0A-506E-7814AA806194}"/>
              </a:ext>
            </a:extLst>
          </p:cNvPr>
          <p:cNvSpPr>
            <a:spLocks noGrp="1"/>
          </p:cNvSpPr>
          <p:nvPr>
            <p:ph type="dt" idx="1"/>
          </p:nvPr>
        </p:nvSpPr>
        <p:spPr/>
        <p:txBody>
          <a:bodyPr/>
          <a:lstStyle/>
          <a:p>
            <a:fld id="{1965A319-62D1-4B04-B501-E2D2517BFCD3}" type="datetime1">
              <a:rPr lang="en-US" smtClean="0"/>
              <a:t>7/19/2026</a:t>
            </a:fld>
            <a:endParaRPr lang="en-US"/>
          </a:p>
        </p:txBody>
      </p:sp>
      <p:sp>
        <p:nvSpPr>
          <p:cNvPr id="6" name="Footer Placeholder 5">
            <a:extLst>
              <a:ext uri="{FF2B5EF4-FFF2-40B4-BE49-F238E27FC236}">
                <a16:creationId xmlns:a16="http://schemas.microsoft.com/office/drawing/2014/main" id="{3594A889-F126-4401-2298-DD6E89F2717B}"/>
              </a:ext>
            </a:extLst>
          </p:cNvPr>
          <p:cNvSpPr>
            <a:spLocks noGrp="1"/>
          </p:cNvSpPr>
          <p:nvPr>
            <p:ph type="ftr" sz="quarter" idx="4"/>
          </p:nvPr>
        </p:nvSpPr>
        <p:spPr/>
        <p:txBody>
          <a:bodyPr/>
          <a:lstStyle/>
          <a:p>
            <a:endParaRPr lang="en-US"/>
          </a:p>
        </p:txBody>
      </p:sp>
      <p:sp>
        <p:nvSpPr>
          <p:cNvPr id="7" name="Slide Number Placeholder 6">
            <a:extLst>
              <a:ext uri="{FF2B5EF4-FFF2-40B4-BE49-F238E27FC236}">
                <a16:creationId xmlns:a16="http://schemas.microsoft.com/office/drawing/2014/main" id="{87102735-0B67-6AD9-E33A-62CB4D361F0A}"/>
              </a:ext>
            </a:extLst>
          </p:cNvPr>
          <p:cNvSpPr>
            <a:spLocks noGrp="1"/>
          </p:cNvSpPr>
          <p:nvPr>
            <p:ph type="sldNum" sz="quarter" idx="5"/>
          </p:nvPr>
        </p:nvSpPr>
        <p:spPr/>
        <p:txBody>
          <a:bodyPr/>
          <a:lstStyle/>
          <a:p>
            <a:fld id="{91715222-4AD9-41F8-B991-E2027C81E89E}" type="slidenum">
              <a:rPr lang="en-US" smtClean="0"/>
              <a:t>55</a:t>
            </a:fld>
            <a:endParaRPr lang="en-US"/>
          </a:p>
        </p:txBody>
      </p:sp>
    </p:spTree>
    <p:extLst>
      <p:ext uri="{BB962C8B-B14F-4D97-AF65-F5344CB8AC3E}">
        <p14:creationId xmlns:p14="http://schemas.microsoft.com/office/powerpoint/2010/main" val="41174665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2149E-3477-64C3-34A9-41D5D04B60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E03B78-6050-A5AA-B6EF-82E48A66A4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ACF89B-4C26-2E39-0972-8D71A6792EF5}"/>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CD919373-1A24-EEFD-CDFA-9224966327AA}"/>
              </a:ext>
            </a:extLst>
          </p:cNvPr>
          <p:cNvSpPr>
            <a:spLocks noGrp="1"/>
          </p:cNvSpPr>
          <p:nvPr>
            <p:ph type="hdr" sz="quarter"/>
          </p:nvPr>
        </p:nvSpPr>
        <p:spPr/>
        <p:txBody>
          <a:bodyPr/>
          <a:lstStyle/>
          <a:p>
            <a:endParaRPr lang="en-US"/>
          </a:p>
        </p:txBody>
      </p:sp>
      <p:sp>
        <p:nvSpPr>
          <p:cNvPr id="5" name="Date Placeholder 4">
            <a:extLst>
              <a:ext uri="{FF2B5EF4-FFF2-40B4-BE49-F238E27FC236}">
                <a16:creationId xmlns:a16="http://schemas.microsoft.com/office/drawing/2014/main" id="{E865D2BE-4C3E-59D8-419A-29BC8BADC2A9}"/>
              </a:ext>
            </a:extLst>
          </p:cNvPr>
          <p:cNvSpPr>
            <a:spLocks noGrp="1"/>
          </p:cNvSpPr>
          <p:nvPr>
            <p:ph type="dt" idx="1"/>
          </p:nvPr>
        </p:nvSpPr>
        <p:spPr/>
        <p:txBody>
          <a:bodyPr/>
          <a:lstStyle/>
          <a:p>
            <a:fld id="{1965A319-62D1-4B04-B501-E2D2517BFCD3}" type="datetime1">
              <a:rPr lang="en-US" smtClean="0"/>
              <a:t>7/19/2026</a:t>
            </a:fld>
            <a:endParaRPr lang="en-US"/>
          </a:p>
        </p:txBody>
      </p:sp>
      <p:sp>
        <p:nvSpPr>
          <p:cNvPr id="6" name="Footer Placeholder 5">
            <a:extLst>
              <a:ext uri="{FF2B5EF4-FFF2-40B4-BE49-F238E27FC236}">
                <a16:creationId xmlns:a16="http://schemas.microsoft.com/office/drawing/2014/main" id="{374A70E1-5BCF-E244-8D92-FB15B18E01D1}"/>
              </a:ext>
            </a:extLst>
          </p:cNvPr>
          <p:cNvSpPr>
            <a:spLocks noGrp="1"/>
          </p:cNvSpPr>
          <p:nvPr>
            <p:ph type="ftr" sz="quarter" idx="4"/>
          </p:nvPr>
        </p:nvSpPr>
        <p:spPr/>
        <p:txBody>
          <a:bodyPr/>
          <a:lstStyle/>
          <a:p>
            <a:endParaRPr lang="en-US"/>
          </a:p>
        </p:txBody>
      </p:sp>
      <p:sp>
        <p:nvSpPr>
          <p:cNvPr id="7" name="Slide Number Placeholder 6">
            <a:extLst>
              <a:ext uri="{FF2B5EF4-FFF2-40B4-BE49-F238E27FC236}">
                <a16:creationId xmlns:a16="http://schemas.microsoft.com/office/drawing/2014/main" id="{5D1744E7-75AB-C670-05D0-066F7A062CFC}"/>
              </a:ext>
            </a:extLst>
          </p:cNvPr>
          <p:cNvSpPr>
            <a:spLocks noGrp="1"/>
          </p:cNvSpPr>
          <p:nvPr>
            <p:ph type="sldNum" sz="quarter" idx="5"/>
          </p:nvPr>
        </p:nvSpPr>
        <p:spPr/>
        <p:txBody>
          <a:bodyPr/>
          <a:lstStyle/>
          <a:p>
            <a:fld id="{91715222-4AD9-41F8-B991-E2027C81E89E}" type="slidenum">
              <a:rPr lang="en-US" smtClean="0"/>
              <a:t>56</a:t>
            </a:fld>
            <a:endParaRPr lang="en-US"/>
          </a:p>
        </p:txBody>
      </p:sp>
    </p:spTree>
    <p:extLst>
      <p:ext uri="{BB962C8B-B14F-4D97-AF65-F5344CB8AC3E}">
        <p14:creationId xmlns:p14="http://schemas.microsoft.com/office/powerpoint/2010/main" val="21398192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5AA2F-CA29-175E-BC0B-12DAA4A5DB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54589A-807A-084C-1460-D0732C1AB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E3870D-53B0-B899-00B4-5A469666A73F}"/>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F83D0C22-9132-0358-FE79-A18676CCC48C}"/>
              </a:ext>
            </a:extLst>
          </p:cNvPr>
          <p:cNvSpPr>
            <a:spLocks noGrp="1"/>
          </p:cNvSpPr>
          <p:nvPr>
            <p:ph type="hdr" sz="quarter"/>
          </p:nvPr>
        </p:nvSpPr>
        <p:spPr/>
        <p:txBody>
          <a:bodyPr/>
          <a:lstStyle/>
          <a:p>
            <a:endParaRPr lang="en-US"/>
          </a:p>
        </p:txBody>
      </p:sp>
      <p:sp>
        <p:nvSpPr>
          <p:cNvPr id="5" name="Date Placeholder 4">
            <a:extLst>
              <a:ext uri="{FF2B5EF4-FFF2-40B4-BE49-F238E27FC236}">
                <a16:creationId xmlns:a16="http://schemas.microsoft.com/office/drawing/2014/main" id="{91C2B832-798E-21ED-0F9F-990F132EB62D}"/>
              </a:ext>
            </a:extLst>
          </p:cNvPr>
          <p:cNvSpPr>
            <a:spLocks noGrp="1"/>
          </p:cNvSpPr>
          <p:nvPr>
            <p:ph type="dt" idx="1"/>
          </p:nvPr>
        </p:nvSpPr>
        <p:spPr/>
        <p:txBody>
          <a:bodyPr/>
          <a:lstStyle/>
          <a:p>
            <a:fld id="{1965A319-62D1-4B04-B501-E2D2517BFCD3}" type="datetime1">
              <a:rPr lang="en-US" smtClean="0"/>
              <a:t>7/19/2026</a:t>
            </a:fld>
            <a:endParaRPr lang="en-US"/>
          </a:p>
        </p:txBody>
      </p:sp>
      <p:sp>
        <p:nvSpPr>
          <p:cNvPr id="6" name="Footer Placeholder 5">
            <a:extLst>
              <a:ext uri="{FF2B5EF4-FFF2-40B4-BE49-F238E27FC236}">
                <a16:creationId xmlns:a16="http://schemas.microsoft.com/office/drawing/2014/main" id="{5FFA6981-EEE7-C926-98A7-D41F0697A783}"/>
              </a:ext>
            </a:extLst>
          </p:cNvPr>
          <p:cNvSpPr>
            <a:spLocks noGrp="1"/>
          </p:cNvSpPr>
          <p:nvPr>
            <p:ph type="ftr" sz="quarter" idx="4"/>
          </p:nvPr>
        </p:nvSpPr>
        <p:spPr/>
        <p:txBody>
          <a:bodyPr/>
          <a:lstStyle/>
          <a:p>
            <a:endParaRPr lang="en-US"/>
          </a:p>
        </p:txBody>
      </p:sp>
      <p:sp>
        <p:nvSpPr>
          <p:cNvPr id="7" name="Slide Number Placeholder 6">
            <a:extLst>
              <a:ext uri="{FF2B5EF4-FFF2-40B4-BE49-F238E27FC236}">
                <a16:creationId xmlns:a16="http://schemas.microsoft.com/office/drawing/2014/main" id="{B7959A77-E1FF-FDF8-98F8-AACF599A4269}"/>
              </a:ext>
            </a:extLst>
          </p:cNvPr>
          <p:cNvSpPr>
            <a:spLocks noGrp="1"/>
          </p:cNvSpPr>
          <p:nvPr>
            <p:ph type="sldNum" sz="quarter" idx="5"/>
          </p:nvPr>
        </p:nvSpPr>
        <p:spPr/>
        <p:txBody>
          <a:bodyPr/>
          <a:lstStyle/>
          <a:p>
            <a:fld id="{91715222-4AD9-41F8-B991-E2027C81E89E}" type="slidenum">
              <a:rPr lang="en-US" smtClean="0"/>
              <a:t>57</a:t>
            </a:fld>
            <a:endParaRPr lang="en-US"/>
          </a:p>
        </p:txBody>
      </p:sp>
    </p:spTree>
    <p:extLst>
      <p:ext uri="{BB962C8B-B14F-4D97-AF65-F5344CB8AC3E}">
        <p14:creationId xmlns:p14="http://schemas.microsoft.com/office/powerpoint/2010/main" val="36823127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1965A319-62D1-4B04-B501-E2D2517BFCD3}" type="datetime1">
              <a:rPr lang="en-US" smtClean="0"/>
              <a:t>7/19/2026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1715222-4AD9-41F8-B991-E2027C81E89E}" type="slidenum">
              <a:rPr lang="en-US" smtClean="0"/>
              <a:t>60</a:t>
            </a:fld>
            <a:endParaRPr lang="en-US"/>
          </a:p>
        </p:txBody>
      </p:sp>
    </p:spTree>
    <p:extLst>
      <p:ext uri="{BB962C8B-B14F-4D97-AF65-F5344CB8AC3E}">
        <p14:creationId xmlns:p14="http://schemas.microsoft.com/office/powerpoint/2010/main" val="3902802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23052-C5FD-09FD-284E-0CA020F875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2D4844-E173-36D3-1C1F-AC7E004810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55F551-6F6F-0598-F7A6-981CE96EAD4D}"/>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352933BE-C288-D6B0-2ED6-5D428715040C}"/>
              </a:ext>
            </a:extLst>
          </p:cNvPr>
          <p:cNvSpPr>
            <a:spLocks noGrp="1"/>
          </p:cNvSpPr>
          <p:nvPr>
            <p:ph type="hdr" sz="quarter"/>
          </p:nvPr>
        </p:nvSpPr>
        <p:spPr/>
        <p:txBody>
          <a:bodyPr/>
          <a:lstStyle/>
          <a:p>
            <a:endParaRPr lang="en-US"/>
          </a:p>
        </p:txBody>
      </p:sp>
      <p:sp>
        <p:nvSpPr>
          <p:cNvPr id="5" name="Date Placeholder 4">
            <a:extLst>
              <a:ext uri="{FF2B5EF4-FFF2-40B4-BE49-F238E27FC236}">
                <a16:creationId xmlns:a16="http://schemas.microsoft.com/office/drawing/2014/main" id="{E725F4C2-1403-F94B-B572-579075049822}"/>
              </a:ext>
            </a:extLst>
          </p:cNvPr>
          <p:cNvSpPr>
            <a:spLocks noGrp="1"/>
          </p:cNvSpPr>
          <p:nvPr>
            <p:ph type="dt" idx="1"/>
          </p:nvPr>
        </p:nvSpPr>
        <p:spPr/>
        <p:txBody>
          <a:bodyPr/>
          <a:lstStyle/>
          <a:p>
            <a:fld id="{1965A319-62D1-4B04-B501-E2D2517BFCD3}" type="datetime1">
              <a:rPr lang="en-US" smtClean="0"/>
              <a:t>7/19/2026</a:t>
            </a:fld>
            <a:endParaRPr lang="en-US"/>
          </a:p>
        </p:txBody>
      </p:sp>
      <p:sp>
        <p:nvSpPr>
          <p:cNvPr id="6" name="Footer Placeholder 5">
            <a:extLst>
              <a:ext uri="{FF2B5EF4-FFF2-40B4-BE49-F238E27FC236}">
                <a16:creationId xmlns:a16="http://schemas.microsoft.com/office/drawing/2014/main" id="{1B762C9B-0B54-DF11-1DFD-5E200C10DFBD}"/>
              </a:ext>
            </a:extLst>
          </p:cNvPr>
          <p:cNvSpPr>
            <a:spLocks noGrp="1"/>
          </p:cNvSpPr>
          <p:nvPr>
            <p:ph type="ftr" sz="quarter" idx="4"/>
          </p:nvPr>
        </p:nvSpPr>
        <p:spPr/>
        <p:txBody>
          <a:bodyPr/>
          <a:lstStyle/>
          <a:p>
            <a:endParaRPr lang="en-US"/>
          </a:p>
        </p:txBody>
      </p:sp>
      <p:sp>
        <p:nvSpPr>
          <p:cNvPr id="7" name="Slide Number Placeholder 6">
            <a:extLst>
              <a:ext uri="{FF2B5EF4-FFF2-40B4-BE49-F238E27FC236}">
                <a16:creationId xmlns:a16="http://schemas.microsoft.com/office/drawing/2014/main" id="{3C6CFDA0-4935-C985-72EE-DC202FC5E2B8}"/>
              </a:ext>
            </a:extLst>
          </p:cNvPr>
          <p:cNvSpPr>
            <a:spLocks noGrp="1"/>
          </p:cNvSpPr>
          <p:nvPr>
            <p:ph type="sldNum" sz="quarter" idx="5"/>
          </p:nvPr>
        </p:nvSpPr>
        <p:spPr/>
        <p:txBody>
          <a:bodyPr/>
          <a:lstStyle/>
          <a:p>
            <a:fld id="{91715222-4AD9-41F8-B991-E2027C81E89E}" type="slidenum">
              <a:rPr lang="en-US" smtClean="0"/>
              <a:t>61</a:t>
            </a:fld>
            <a:endParaRPr lang="en-US"/>
          </a:p>
        </p:txBody>
      </p:sp>
    </p:spTree>
    <p:extLst>
      <p:ext uri="{BB962C8B-B14F-4D97-AF65-F5344CB8AC3E}">
        <p14:creationId xmlns:p14="http://schemas.microsoft.com/office/powerpoint/2010/main" val="29656983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BFA2B-F0BF-CCEE-9307-7FCE84EC6F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1909A5-76BA-A2A6-0F1A-59A5946D94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9840F1-5626-8DC2-7043-D665A39260D0}"/>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0F4E6E71-D561-1850-B58B-22D83E2E6D98}"/>
              </a:ext>
            </a:extLst>
          </p:cNvPr>
          <p:cNvSpPr>
            <a:spLocks noGrp="1"/>
          </p:cNvSpPr>
          <p:nvPr>
            <p:ph type="hdr" sz="quarter"/>
          </p:nvPr>
        </p:nvSpPr>
        <p:spPr/>
        <p:txBody>
          <a:bodyPr/>
          <a:lstStyle/>
          <a:p>
            <a:endParaRPr lang="en-US"/>
          </a:p>
        </p:txBody>
      </p:sp>
      <p:sp>
        <p:nvSpPr>
          <p:cNvPr id="5" name="Date Placeholder 4">
            <a:extLst>
              <a:ext uri="{FF2B5EF4-FFF2-40B4-BE49-F238E27FC236}">
                <a16:creationId xmlns:a16="http://schemas.microsoft.com/office/drawing/2014/main" id="{0FCB98C6-C04F-B6EF-BFCD-87676C7C4DC6}"/>
              </a:ext>
            </a:extLst>
          </p:cNvPr>
          <p:cNvSpPr>
            <a:spLocks noGrp="1"/>
          </p:cNvSpPr>
          <p:nvPr>
            <p:ph type="dt" idx="1"/>
          </p:nvPr>
        </p:nvSpPr>
        <p:spPr/>
        <p:txBody>
          <a:bodyPr/>
          <a:lstStyle/>
          <a:p>
            <a:fld id="{1965A319-62D1-4B04-B501-E2D2517BFCD3}" type="datetime1">
              <a:rPr lang="en-US" smtClean="0"/>
              <a:t>7/19/2026</a:t>
            </a:fld>
            <a:endParaRPr lang="en-US"/>
          </a:p>
        </p:txBody>
      </p:sp>
      <p:sp>
        <p:nvSpPr>
          <p:cNvPr id="6" name="Footer Placeholder 5">
            <a:extLst>
              <a:ext uri="{FF2B5EF4-FFF2-40B4-BE49-F238E27FC236}">
                <a16:creationId xmlns:a16="http://schemas.microsoft.com/office/drawing/2014/main" id="{39763A91-7D10-6EE4-7E71-1CB4E9CE94CD}"/>
              </a:ext>
            </a:extLst>
          </p:cNvPr>
          <p:cNvSpPr>
            <a:spLocks noGrp="1"/>
          </p:cNvSpPr>
          <p:nvPr>
            <p:ph type="ftr" sz="quarter" idx="4"/>
          </p:nvPr>
        </p:nvSpPr>
        <p:spPr/>
        <p:txBody>
          <a:bodyPr/>
          <a:lstStyle/>
          <a:p>
            <a:endParaRPr lang="en-US"/>
          </a:p>
        </p:txBody>
      </p:sp>
      <p:sp>
        <p:nvSpPr>
          <p:cNvPr id="7" name="Slide Number Placeholder 6">
            <a:extLst>
              <a:ext uri="{FF2B5EF4-FFF2-40B4-BE49-F238E27FC236}">
                <a16:creationId xmlns:a16="http://schemas.microsoft.com/office/drawing/2014/main" id="{39B5E8AE-95D3-352B-6F29-10CC6C8C5DC9}"/>
              </a:ext>
            </a:extLst>
          </p:cNvPr>
          <p:cNvSpPr>
            <a:spLocks noGrp="1"/>
          </p:cNvSpPr>
          <p:nvPr>
            <p:ph type="sldNum" sz="quarter" idx="5"/>
          </p:nvPr>
        </p:nvSpPr>
        <p:spPr/>
        <p:txBody>
          <a:bodyPr/>
          <a:lstStyle/>
          <a:p>
            <a:fld id="{91715222-4AD9-41F8-B991-E2027C81E89E}" type="slidenum">
              <a:rPr lang="en-US" smtClean="0"/>
              <a:t>62</a:t>
            </a:fld>
            <a:endParaRPr lang="en-US"/>
          </a:p>
        </p:txBody>
      </p:sp>
    </p:spTree>
    <p:extLst>
      <p:ext uri="{BB962C8B-B14F-4D97-AF65-F5344CB8AC3E}">
        <p14:creationId xmlns:p14="http://schemas.microsoft.com/office/powerpoint/2010/main" val="20625515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7B34E-4AFC-351C-2363-857F100D4D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212E17-2AD1-5415-52E1-9604BE9621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023721-22C1-C1A6-3112-674AECB5F300}"/>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D778B3B3-47DC-EADB-F484-F0396713E395}"/>
              </a:ext>
            </a:extLst>
          </p:cNvPr>
          <p:cNvSpPr>
            <a:spLocks noGrp="1"/>
          </p:cNvSpPr>
          <p:nvPr>
            <p:ph type="hdr" sz="quarter"/>
          </p:nvPr>
        </p:nvSpPr>
        <p:spPr/>
        <p:txBody>
          <a:bodyPr/>
          <a:lstStyle/>
          <a:p>
            <a:endParaRPr lang="en-US"/>
          </a:p>
        </p:txBody>
      </p:sp>
      <p:sp>
        <p:nvSpPr>
          <p:cNvPr id="5" name="Date Placeholder 4">
            <a:extLst>
              <a:ext uri="{FF2B5EF4-FFF2-40B4-BE49-F238E27FC236}">
                <a16:creationId xmlns:a16="http://schemas.microsoft.com/office/drawing/2014/main" id="{1BB5D0E6-0483-83A3-741F-DB5275AF3AF5}"/>
              </a:ext>
            </a:extLst>
          </p:cNvPr>
          <p:cNvSpPr>
            <a:spLocks noGrp="1"/>
          </p:cNvSpPr>
          <p:nvPr>
            <p:ph type="dt" idx="1"/>
          </p:nvPr>
        </p:nvSpPr>
        <p:spPr/>
        <p:txBody>
          <a:bodyPr/>
          <a:lstStyle/>
          <a:p>
            <a:fld id="{1965A319-62D1-4B04-B501-E2D2517BFCD3}" type="datetime1">
              <a:rPr lang="en-US" smtClean="0"/>
              <a:t>7/19/2026</a:t>
            </a:fld>
            <a:endParaRPr lang="en-US"/>
          </a:p>
        </p:txBody>
      </p:sp>
      <p:sp>
        <p:nvSpPr>
          <p:cNvPr id="6" name="Footer Placeholder 5">
            <a:extLst>
              <a:ext uri="{FF2B5EF4-FFF2-40B4-BE49-F238E27FC236}">
                <a16:creationId xmlns:a16="http://schemas.microsoft.com/office/drawing/2014/main" id="{4CE5DFE3-A2A3-4841-3C3C-D22B16E338F1}"/>
              </a:ext>
            </a:extLst>
          </p:cNvPr>
          <p:cNvSpPr>
            <a:spLocks noGrp="1"/>
          </p:cNvSpPr>
          <p:nvPr>
            <p:ph type="ftr" sz="quarter" idx="4"/>
          </p:nvPr>
        </p:nvSpPr>
        <p:spPr/>
        <p:txBody>
          <a:bodyPr/>
          <a:lstStyle/>
          <a:p>
            <a:endParaRPr lang="en-US"/>
          </a:p>
        </p:txBody>
      </p:sp>
      <p:sp>
        <p:nvSpPr>
          <p:cNvPr id="7" name="Slide Number Placeholder 6">
            <a:extLst>
              <a:ext uri="{FF2B5EF4-FFF2-40B4-BE49-F238E27FC236}">
                <a16:creationId xmlns:a16="http://schemas.microsoft.com/office/drawing/2014/main" id="{5DC89339-B984-0027-95E3-6209F448CD59}"/>
              </a:ext>
            </a:extLst>
          </p:cNvPr>
          <p:cNvSpPr>
            <a:spLocks noGrp="1"/>
          </p:cNvSpPr>
          <p:nvPr>
            <p:ph type="sldNum" sz="quarter" idx="5"/>
          </p:nvPr>
        </p:nvSpPr>
        <p:spPr/>
        <p:txBody>
          <a:bodyPr/>
          <a:lstStyle/>
          <a:p>
            <a:fld id="{91715222-4AD9-41F8-B991-E2027C81E89E}" type="slidenum">
              <a:rPr lang="en-US" smtClean="0"/>
              <a:t>63</a:t>
            </a:fld>
            <a:endParaRPr lang="en-US"/>
          </a:p>
        </p:txBody>
      </p:sp>
    </p:spTree>
    <p:extLst>
      <p:ext uri="{BB962C8B-B14F-4D97-AF65-F5344CB8AC3E}">
        <p14:creationId xmlns:p14="http://schemas.microsoft.com/office/powerpoint/2010/main" val="10082238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04D56-E637-E869-542C-1C3A396190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7F0CCE-4E84-7766-9F51-FAD268DCA5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23BC7B-AEF9-6DE4-019F-2C78CCBA46CD}"/>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0DF37AEA-D6B5-CB1C-C74E-389EDDB644E0}"/>
              </a:ext>
            </a:extLst>
          </p:cNvPr>
          <p:cNvSpPr>
            <a:spLocks noGrp="1"/>
          </p:cNvSpPr>
          <p:nvPr>
            <p:ph type="hdr" sz="quarter"/>
          </p:nvPr>
        </p:nvSpPr>
        <p:spPr/>
        <p:txBody>
          <a:bodyPr/>
          <a:lstStyle/>
          <a:p>
            <a:endParaRPr lang="en-US"/>
          </a:p>
        </p:txBody>
      </p:sp>
      <p:sp>
        <p:nvSpPr>
          <p:cNvPr id="5" name="Date Placeholder 4">
            <a:extLst>
              <a:ext uri="{FF2B5EF4-FFF2-40B4-BE49-F238E27FC236}">
                <a16:creationId xmlns:a16="http://schemas.microsoft.com/office/drawing/2014/main" id="{B6CBFCD1-DB46-E129-577D-400019CEEEA6}"/>
              </a:ext>
            </a:extLst>
          </p:cNvPr>
          <p:cNvSpPr>
            <a:spLocks noGrp="1"/>
          </p:cNvSpPr>
          <p:nvPr>
            <p:ph type="dt" idx="1"/>
          </p:nvPr>
        </p:nvSpPr>
        <p:spPr/>
        <p:txBody>
          <a:bodyPr/>
          <a:lstStyle/>
          <a:p>
            <a:fld id="{1965A319-62D1-4B04-B501-E2D2517BFCD3}" type="datetime1">
              <a:rPr lang="en-US" smtClean="0"/>
              <a:t>7/19/2026</a:t>
            </a:fld>
            <a:endParaRPr lang="en-US"/>
          </a:p>
        </p:txBody>
      </p:sp>
      <p:sp>
        <p:nvSpPr>
          <p:cNvPr id="6" name="Footer Placeholder 5">
            <a:extLst>
              <a:ext uri="{FF2B5EF4-FFF2-40B4-BE49-F238E27FC236}">
                <a16:creationId xmlns:a16="http://schemas.microsoft.com/office/drawing/2014/main" id="{D3403743-1462-03A3-35A6-B908D8829E20}"/>
              </a:ext>
            </a:extLst>
          </p:cNvPr>
          <p:cNvSpPr>
            <a:spLocks noGrp="1"/>
          </p:cNvSpPr>
          <p:nvPr>
            <p:ph type="ftr" sz="quarter" idx="4"/>
          </p:nvPr>
        </p:nvSpPr>
        <p:spPr/>
        <p:txBody>
          <a:bodyPr/>
          <a:lstStyle/>
          <a:p>
            <a:endParaRPr lang="en-US"/>
          </a:p>
        </p:txBody>
      </p:sp>
      <p:sp>
        <p:nvSpPr>
          <p:cNvPr id="7" name="Slide Number Placeholder 6">
            <a:extLst>
              <a:ext uri="{FF2B5EF4-FFF2-40B4-BE49-F238E27FC236}">
                <a16:creationId xmlns:a16="http://schemas.microsoft.com/office/drawing/2014/main" id="{EB2A6539-2D37-9DC6-326F-C9C94D56DBFF}"/>
              </a:ext>
            </a:extLst>
          </p:cNvPr>
          <p:cNvSpPr>
            <a:spLocks noGrp="1"/>
          </p:cNvSpPr>
          <p:nvPr>
            <p:ph type="sldNum" sz="quarter" idx="5"/>
          </p:nvPr>
        </p:nvSpPr>
        <p:spPr/>
        <p:txBody>
          <a:bodyPr/>
          <a:lstStyle/>
          <a:p>
            <a:fld id="{91715222-4AD9-41F8-B991-E2027C81E89E}" type="slidenum">
              <a:rPr lang="en-US" smtClean="0"/>
              <a:t>64</a:t>
            </a:fld>
            <a:endParaRPr lang="en-US"/>
          </a:p>
        </p:txBody>
      </p:sp>
    </p:spTree>
    <p:extLst>
      <p:ext uri="{BB962C8B-B14F-4D97-AF65-F5344CB8AC3E}">
        <p14:creationId xmlns:p14="http://schemas.microsoft.com/office/powerpoint/2010/main" val="23475798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F3C6A-A03B-2CEC-EBB7-09BAE112BA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74A61A-318D-19B4-EE5D-A0DD85751F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D66885-72FF-D50B-F6DD-013B2E6A7658}"/>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975A09BF-2EA1-75AF-F3CE-A6D701A7D35E}"/>
              </a:ext>
            </a:extLst>
          </p:cNvPr>
          <p:cNvSpPr>
            <a:spLocks noGrp="1"/>
          </p:cNvSpPr>
          <p:nvPr>
            <p:ph type="hdr" sz="quarter"/>
          </p:nvPr>
        </p:nvSpPr>
        <p:spPr/>
        <p:txBody>
          <a:bodyPr/>
          <a:lstStyle/>
          <a:p>
            <a:endParaRPr lang="en-US"/>
          </a:p>
        </p:txBody>
      </p:sp>
      <p:sp>
        <p:nvSpPr>
          <p:cNvPr id="5" name="Date Placeholder 4">
            <a:extLst>
              <a:ext uri="{FF2B5EF4-FFF2-40B4-BE49-F238E27FC236}">
                <a16:creationId xmlns:a16="http://schemas.microsoft.com/office/drawing/2014/main" id="{C4215518-7E40-7008-BD9C-8A25597FF36A}"/>
              </a:ext>
            </a:extLst>
          </p:cNvPr>
          <p:cNvSpPr>
            <a:spLocks noGrp="1"/>
          </p:cNvSpPr>
          <p:nvPr>
            <p:ph type="dt" idx="1"/>
          </p:nvPr>
        </p:nvSpPr>
        <p:spPr/>
        <p:txBody>
          <a:bodyPr/>
          <a:lstStyle/>
          <a:p>
            <a:fld id="{1965A319-62D1-4B04-B501-E2D2517BFCD3}" type="datetime1">
              <a:rPr lang="en-US" smtClean="0"/>
              <a:t>7/19/2026</a:t>
            </a:fld>
            <a:endParaRPr lang="en-US"/>
          </a:p>
        </p:txBody>
      </p:sp>
      <p:sp>
        <p:nvSpPr>
          <p:cNvPr id="6" name="Footer Placeholder 5">
            <a:extLst>
              <a:ext uri="{FF2B5EF4-FFF2-40B4-BE49-F238E27FC236}">
                <a16:creationId xmlns:a16="http://schemas.microsoft.com/office/drawing/2014/main" id="{EBBFD92D-261F-4629-7C8D-369EB1748642}"/>
              </a:ext>
            </a:extLst>
          </p:cNvPr>
          <p:cNvSpPr>
            <a:spLocks noGrp="1"/>
          </p:cNvSpPr>
          <p:nvPr>
            <p:ph type="ftr" sz="quarter" idx="4"/>
          </p:nvPr>
        </p:nvSpPr>
        <p:spPr/>
        <p:txBody>
          <a:bodyPr/>
          <a:lstStyle/>
          <a:p>
            <a:endParaRPr lang="en-US"/>
          </a:p>
        </p:txBody>
      </p:sp>
      <p:sp>
        <p:nvSpPr>
          <p:cNvPr id="7" name="Slide Number Placeholder 6">
            <a:extLst>
              <a:ext uri="{FF2B5EF4-FFF2-40B4-BE49-F238E27FC236}">
                <a16:creationId xmlns:a16="http://schemas.microsoft.com/office/drawing/2014/main" id="{60E4B7DF-40A5-04D5-5C1E-34EE7037DFFB}"/>
              </a:ext>
            </a:extLst>
          </p:cNvPr>
          <p:cNvSpPr>
            <a:spLocks noGrp="1"/>
          </p:cNvSpPr>
          <p:nvPr>
            <p:ph type="sldNum" sz="quarter" idx="5"/>
          </p:nvPr>
        </p:nvSpPr>
        <p:spPr/>
        <p:txBody>
          <a:bodyPr/>
          <a:lstStyle/>
          <a:p>
            <a:fld id="{91715222-4AD9-41F8-B991-E2027C81E89E}" type="slidenum">
              <a:rPr lang="en-US" smtClean="0"/>
              <a:t>65</a:t>
            </a:fld>
            <a:endParaRPr lang="en-US"/>
          </a:p>
        </p:txBody>
      </p:sp>
    </p:spTree>
    <p:extLst>
      <p:ext uri="{BB962C8B-B14F-4D97-AF65-F5344CB8AC3E}">
        <p14:creationId xmlns:p14="http://schemas.microsoft.com/office/powerpoint/2010/main" val="20735542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7C135-75CB-E49E-6552-13673265B3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3ED75D-97D1-23BA-CC28-B004622892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69B773-0579-CD0F-6E07-0375F3AB3BC7}"/>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E4D71300-5008-6795-ED26-566D76CC7865}"/>
              </a:ext>
            </a:extLst>
          </p:cNvPr>
          <p:cNvSpPr>
            <a:spLocks noGrp="1"/>
          </p:cNvSpPr>
          <p:nvPr>
            <p:ph type="hdr" sz="quarter"/>
          </p:nvPr>
        </p:nvSpPr>
        <p:spPr/>
        <p:txBody>
          <a:bodyPr/>
          <a:lstStyle/>
          <a:p>
            <a:endParaRPr lang="en-US"/>
          </a:p>
        </p:txBody>
      </p:sp>
      <p:sp>
        <p:nvSpPr>
          <p:cNvPr id="5" name="Date Placeholder 4">
            <a:extLst>
              <a:ext uri="{FF2B5EF4-FFF2-40B4-BE49-F238E27FC236}">
                <a16:creationId xmlns:a16="http://schemas.microsoft.com/office/drawing/2014/main" id="{05270161-C122-2AB8-08F1-518A256AD6C0}"/>
              </a:ext>
            </a:extLst>
          </p:cNvPr>
          <p:cNvSpPr>
            <a:spLocks noGrp="1"/>
          </p:cNvSpPr>
          <p:nvPr>
            <p:ph type="dt" idx="1"/>
          </p:nvPr>
        </p:nvSpPr>
        <p:spPr/>
        <p:txBody>
          <a:bodyPr/>
          <a:lstStyle/>
          <a:p>
            <a:fld id="{1965A319-62D1-4B04-B501-E2D2517BFCD3}" type="datetime1">
              <a:rPr lang="en-US" smtClean="0"/>
              <a:t>7/19/2026</a:t>
            </a:fld>
            <a:endParaRPr lang="en-US"/>
          </a:p>
        </p:txBody>
      </p:sp>
      <p:sp>
        <p:nvSpPr>
          <p:cNvPr id="6" name="Footer Placeholder 5">
            <a:extLst>
              <a:ext uri="{FF2B5EF4-FFF2-40B4-BE49-F238E27FC236}">
                <a16:creationId xmlns:a16="http://schemas.microsoft.com/office/drawing/2014/main" id="{26026260-DBB5-9FC0-833A-4E5ADA152364}"/>
              </a:ext>
            </a:extLst>
          </p:cNvPr>
          <p:cNvSpPr>
            <a:spLocks noGrp="1"/>
          </p:cNvSpPr>
          <p:nvPr>
            <p:ph type="ftr" sz="quarter" idx="4"/>
          </p:nvPr>
        </p:nvSpPr>
        <p:spPr/>
        <p:txBody>
          <a:bodyPr/>
          <a:lstStyle/>
          <a:p>
            <a:endParaRPr lang="en-US"/>
          </a:p>
        </p:txBody>
      </p:sp>
      <p:sp>
        <p:nvSpPr>
          <p:cNvPr id="7" name="Slide Number Placeholder 6">
            <a:extLst>
              <a:ext uri="{FF2B5EF4-FFF2-40B4-BE49-F238E27FC236}">
                <a16:creationId xmlns:a16="http://schemas.microsoft.com/office/drawing/2014/main" id="{BF952B12-1A24-3736-CB07-9C402279A456}"/>
              </a:ext>
            </a:extLst>
          </p:cNvPr>
          <p:cNvSpPr>
            <a:spLocks noGrp="1"/>
          </p:cNvSpPr>
          <p:nvPr>
            <p:ph type="sldNum" sz="quarter" idx="5"/>
          </p:nvPr>
        </p:nvSpPr>
        <p:spPr/>
        <p:txBody>
          <a:bodyPr/>
          <a:lstStyle/>
          <a:p>
            <a:fld id="{91715222-4AD9-41F8-B991-E2027C81E89E}" type="slidenum">
              <a:rPr lang="en-US" smtClean="0"/>
              <a:t>66</a:t>
            </a:fld>
            <a:endParaRPr lang="en-US"/>
          </a:p>
        </p:txBody>
      </p:sp>
    </p:spTree>
    <p:extLst>
      <p:ext uri="{BB962C8B-B14F-4D97-AF65-F5344CB8AC3E}">
        <p14:creationId xmlns:p14="http://schemas.microsoft.com/office/powerpoint/2010/main" val="21453900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1A905-E47F-4848-AF8E-B5275EFC6F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BC5804-FD30-15A9-AB8E-82FB3281D3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281D8F-FE4A-DFE5-CE2D-88BA609A39D9}"/>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F193D17F-7878-AC23-3BBD-5EC26ECC7760}"/>
              </a:ext>
            </a:extLst>
          </p:cNvPr>
          <p:cNvSpPr>
            <a:spLocks noGrp="1"/>
          </p:cNvSpPr>
          <p:nvPr>
            <p:ph type="hdr" sz="quarter"/>
          </p:nvPr>
        </p:nvSpPr>
        <p:spPr/>
        <p:txBody>
          <a:bodyPr/>
          <a:lstStyle/>
          <a:p>
            <a:endParaRPr lang="en-US"/>
          </a:p>
        </p:txBody>
      </p:sp>
      <p:sp>
        <p:nvSpPr>
          <p:cNvPr id="5" name="Date Placeholder 4">
            <a:extLst>
              <a:ext uri="{FF2B5EF4-FFF2-40B4-BE49-F238E27FC236}">
                <a16:creationId xmlns:a16="http://schemas.microsoft.com/office/drawing/2014/main" id="{893549E4-77FE-306E-E144-BDF1105F8B87}"/>
              </a:ext>
            </a:extLst>
          </p:cNvPr>
          <p:cNvSpPr>
            <a:spLocks noGrp="1"/>
          </p:cNvSpPr>
          <p:nvPr>
            <p:ph type="dt" idx="1"/>
          </p:nvPr>
        </p:nvSpPr>
        <p:spPr/>
        <p:txBody>
          <a:bodyPr/>
          <a:lstStyle/>
          <a:p>
            <a:fld id="{1965A319-62D1-4B04-B501-E2D2517BFCD3}" type="datetime1">
              <a:rPr lang="en-US" smtClean="0"/>
              <a:t>7/19/2026</a:t>
            </a:fld>
            <a:endParaRPr lang="en-US"/>
          </a:p>
        </p:txBody>
      </p:sp>
      <p:sp>
        <p:nvSpPr>
          <p:cNvPr id="6" name="Footer Placeholder 5">
            <a:extLst>
              <a:ext uri="{FF2B5EF4-FFF2-40B4-BE49-F238E27FC236}">
                <a16:creationId xmlns:a16="http://schemas.microsoft.com/office/drawing/2014/main" id="{C6823F3F-C713-7230-B7C2-54FD0CFE3D76}"/>
              </a:ext>
            </a:extLst>
          </p:cNvPr>
          <p:cNvSpPr>
            <a:spLocks noGrp="1"/>
          </p:cNvSpPr>
          <p:nvPr>
            <p:ph type="ftr" sz="quarter" idx="4"/>
          </p:nvPr>
        </p:nvSpPr>
        <p:spPr/>
        <p:txBody>
          <a:bodyPr/>
          <a:lstStyle/>
          <a:p>
            <a:endParaRPr lang="en-US"/>
          </a:p>
        </p:txBody>
      </p:sp>
      <p:sp>
        <p:nvSpPr>
          <p:cNvPr id="7" name="Slide Number Placeholder 6">
            <a:extLst>
              <a:ext uri="{FF2B5EF4-FFF2-40B4-BE49-F238E27FC236}">
                <a16:creationId xmlns:a16="http://schemas.microsoft.com/office/drawing/2014/main" id="{E10D2BE5-13EB-B328-7368-0484A501EEB3}"/>
              </a:ext>
            </a:extLst>
          </p:cNvPr>
          <p:cNvSpPr>
            <a:spLocks noGrp="1"/>
          </p:cNvSpPr>
          <p:nvPr>
            <p:ph type="sldNum" sz="quarter" idx="5"/>
          </p:nvPr>
        </p:nvSpPr>
        <p:spPr/>
        <p:txBody>
          <a:bodyPr/>
          <a:lstStyle/>
          <a:p>
            <a:fld id="{91715222-4AD9-41F8-B991-E2027C81E89E}" type="slidenum">
              <a:rPr lang="en-US" smtClean="0"/>
              <a:t>67</a:t>
            </a:fld>
            <a:endParaRPr lang="en-US"/>
          </a:p>
        </p:txBody>
      </p:sp>
    </p:spTree>
    <p:extLst>
      <p:ext uri="{BB962C8B-B14F-4D97-AF65-F5344CB8AC3E}">
        <p14:creationId xmlns:p14="http://schemas.microsoft.com/office/powerpoint/2010/main" val="22612001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32DD1-E694-D4FC-9A63-2A3BCEDE4A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2AAC68-33FB-85F5-857C-7935BF79B8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52738F-6358-3310-1658-B0A6F420B11A}"/>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144F259A-9D5C-EE63-84F3-19C0D0CBF283}"/>
              </a:ext>
            </a:extLst>
          </p:cNvPr>
          <p:cNvSpPr>
            <a:spLocks noGrp="1"/>
          </p:cNvSpPr>
          <p:nvPr>
            <p:ph type="hdr" sz="quarter"/>
          </p:nvPr>
        </p:nvSpPr>
        <p:spPr/>
        <p:txBody>
          <a:bodyPr/>
          <a:lstStyle/>
          <a:p>
            <a:endParaRPr lang="en-US"/>
          </a:p>
        </p:txBody>
      </p:sp>
      <p:sp>
        <p:nvSpPr>
          <p:cNvPr id="5" name="Date Placeholder 4">
            <a:extLst>
              <a:ext uri="{FF2B5EF4-FFF2-40B4-BE49-F238E27FC236}">
                <a16:creationId xmlns:a16="http://schemas.microsoft.com/office/drawing/2014/main" id="{10E844A4-D6F6-0A2E-2AFD-C19623D05C1A}"/>
              </a:ext>
            </a:extLst>
          </p:cNvPr>
          <p:cNvSpPr>
            <a:spLocks noGrp="1"/>
          </p:cNvSpPr>
          <p:nvPr>
            <p:ph type="dt" idx="1"/>
          </p:nvPr>
        </p:nvSpPr>
        <p:spPr/>
        <p:txBody>
          <a:bodyPr/>
          <a:lstStyle/>
          <a:p>
            <a:fld id="{1965A319-62D1-4B04-B501-E2D2517BFCD3}" type="datetime1">
              <a:rPr lang="en-US" smtClean="0"/>
              <a:t>7/19/2026</a:t>
            </a:fld>
            <a:endParaRPr lang="en-US"/>
          </a:p>
        </p:txBody>
      </p:sp>
      <p:sp>
        <p:nvSpPr>
          <p:cNvPr id="6" name="Footer Placeholder 5">
            <a:extLst>
              <a:ext uri="{FF2B5EF4-FFF2-40B4-BE49-F238E27FC236}">
                <a16:creationId xmlns:a16="http://schemas.microsoft.com/office/drawing/2014/main" id="{D7C3304A-C9DB-D8DB-F3A7-FD860D5B9DA8}"/>
              </a:ext>
            </a:extLst>
          </p:cNvPr>
          <p:cNvSpPr>
            <a:spLocks noGrp="1"/>
          </p:cNvSpPr>
          <p:nvPr>
            <p:ph type="ftr" sz="quarter" idx="4"/>
          </p:nvPr>
        </p:nvSpPr>
        <p:spPr/>
        <p:txBody>
          <a:bodyPr/>
          <a:lstStyle/>
          <a:p>
            <a:endParaRPr lang="en-US"/>
          </a:p>
        </p:txBody>
      </p:sp>
      <p:sp>
        <p:nvSpPr>
          <p:cNvPr id="7" name="Slide Number Placeholder 6">
            <a:extLst>
              <a:ext uri="{FF2B5EF4-FFF2-40B4-BE49-F238E27FC236}">
                <a16:creationId xmlns:a16="http://schemas.microsoft.com/office/drawing/2014/main" id="{4CB4E90F-E2A4-949C-9928-5C815B25D985}"/>
              </a:ext>
            </a:extLst>
          </p:cNvPr>
          <p:cNvSpPr>
            <a:spLocks noGrp="1"/>
          </p:cNvSpPr>
          <p:nvPr>
            <p:ph type="sldNum" sz="quarter" idx="5"/>
          </p:nvPr>
        </p:nvSpPr>
        <p:spPr/>
        <p:txBody>
          <a:bodyPr/>
          <a:lstStyle/>
          <a:p>
            <a:fld id="{91715222-4AD9-41F8-B991-E2027C81E89E}" type="slidenum">
              <a:rPr lang="en-US" smtClean="0"/>
              <a:t>68</a:t>
            </a:fld>
            <a:endParaRPr lang="en-US"/>
          </a:p>
        </p:txBody>
      </p:sp>
    </p:spTree>
    <p:extLst>
      <p:ext uri="{BB962C8B-B14F-4D97-AF65-F5344CB8AC3E}">
        <p14:creationId xmlns:p14="http://schemas.microsoft.com/office/powerpoint/2010/main" val="22808590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1965A319-62D1-4B04-B501-E2D2517BFCD3}" type="datetime1">
              <a:rPr lang="en-US" smtClean="0"/>
              <a:t>7/19/2026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1715222-4AD9-41F8-B991-E2027C81E89E}" type="slidenum">
              <a:rPr lang="en-US" smtClean="0"/>
              <a:t>86</a:t>
            </a:fld>
            <a:endParaRPr lang="en-US"/>
          </a:p>
        </p:txBody>
      </p:sp>
    </p:spTree>
    <p:extLst>
      <p:ext uri="{BB962C8B-B14F-4D97-AF65-F5344CB8AC3E}">
        <p14:creationId xmlns:p14="http://schemas.microsoft.com/office/powerpoint/2010/main" val="35528953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C3291201-F75C-4ED7-9D0F-D50CAED31039}" type="datetime1">
              <a:rPr lang="en-US" smtClean="0"/>
              <a:t>7/19/2026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1715222-4AD9-41F8-B991-E2027C81E89E}" type="slidenum">
              <a:rPr lang="en-US" smtClean="0"/>
              <a:t>99</a:t>
            </a:fld>
            <a:endParaRPr lang="en-US"/>
          </a:p>
        </p:txBody>
      </p:sp>
    </p:spTree>
    <p:extLst>
      <p:ext uri="{BB962C8B-B14F-4D97-AF65-F5344CB8AC3E}">
        <p14:creationId xmlns:p14="http://schemas.microsoft.com/office/powerpoint/2010/main" val="35753307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CD397803-AD25-420B-9E20-5C7370E44F7B}" type="datetime1">
              <a:rPr lang="en-US" smtClean="0"/>
              <a:t>7/19/2026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1715222-4AD9-41F8-B991-E2027C81E89E}" type="slidenum">
              <a:rPr lang="en-US" smtClean="0"/>
              <a:t>101</a:t>
            </a:fld>
            <a:endParaRPr lang="en-US"/>
          </a:p>
        </p:txBody>
      </p:sp>
    </p:spTree>
    <p:extLst>
      <p:ext uri="{BB962C8B-B14F-4D97-AF65-F5344CB8AC3E}">
        <p14:creationId xmlns:p14="http://schemas.microsoft.com/office/powerpoint/2010/main" val="5774608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4F8785FB-B1A3-49AD-A6FC-BD00666AE429}" type="datetime1">
              <a:rPr lang="en-US" smtClean="0"/>
              <a:t>7/19/2026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1715222-4AD9-41F8-B991-E2027C81E89E}" type="slidenum">
              <a:rPr lang="en-US" smtClean="0"/>
              <a:t>104</a:t>
            </a:fld>
            <a:endParaRPr lang="en-US"/>
          </a:p>
        </p:txBody>
      </p:sp>
    </p:spTree>
    <p:extLst>
      <p:ext uri="{BB962C8B-B14F-4D97-AF65-F5344CB8AC3E}">
        <p14:creationId xmlns:p14="http://schemas.microsoft.com/office/powerpoint/2010/main" val="436995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E404DCE8-A902-43E3-A55C-4CD0E3290697}" type="datetime1">
              <a:rPr lang="en-US" smtClean="0"/>
              <a:t>7/19/2026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1715222-4AD9-41F8-B991-E2027C81E89E}" type="slidenum">
              <a:rPr lang="en-US" smtClean="0"/>
              <a:t>108</a:t>
            </a:fld>
            <a:endParaRPr lang="en-US"/>
          </a:p>
        </p:txBody>
      </p:sp>
    </p:spTree>
    <p:extLst>
      <p:ext uri="{BB962C8B-B14F-4D97-AF65-F5344CB8AC3E}">
        <p14:creationId xmlns:p14="http://schemas.microsoft.com/office/powerpoint/2010/main" val="5978841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F13B0-0110-40CB-B103-C84D066A302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1E45420-02E4-46DC-8BD9-7A3967ABC4B2}"/>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Footer Placeholder 3">
            <a:extLst>
              <a:ext uri="{FF2B5EF4-FFF2-40B4-BE49-F238E27FC236}">
                <a16:creationId xmlns:a16="http://schemas.microsoft.com/office/drawing/2014/main" id="{97CAD084-6015-5CA0-F163-85F48DF8846E}"/>
              </a:ext>
            </a:extLst>
          </p:cNvPr>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63705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F13B0-0110-40CB-B103-C84D066A3029}"/>
              </a:ext>
            </a:extLst>
          </p:cNvPr>
          <p:cNvSpPr>
            <a:spLocks noGrp="1"/>
          </p:cNvSpPr>
          <p:nvPr>
            <p:ph type="ctrTitle"/>
          </p:nvPr>
        </p:nvSpPr>
        <p:spPr>
          <a:xfrm>
            <a:off x="914400" y="457200"/>
            <a:ext cx="3840480" cy="457200"/>
          </a:xfrm>
          <a:prstGeom prst="rect">
            <a:avLst/>
          </a:prstGeom>
          <a:solidFill>
            <a:schemeClr val="accent6">
              <a:lumMod val="20000"/>
              <a:lumOff val="80000"/>
            </a:schemeClr>
          </a:solidFill>
        </p:spPr>
        <p:txBody>
          <a:bodyPr anchor="b"/>
          <a:lstStyle>
            <a:lvl1pPr algn="ctr">
              <a:defRPr sz="2400"/>
            </a:lvl1pPr>
          </a:lstStyle>
          <a:p>
            <a:r>
              <a:rPr lang="en-US"/>
              <a:t>Click to edit Master title style</a:t>
            </a:r>
          </a:p>
        </p:txBody>
      </p:sp>
      <p:sp>
        <p:nvSpPr>
          <p:cNvPr id="4" name="Footer Placeholder 3">
            <a:extLst>
              <a:ext uri="{FF2B5EF4-FFF2-40B4-BE49-F238E27FC236}">
                <a16:creationId xmlns:a16="http://schemas.microsoft.com/office/drawing/2014/main" id="{97CAD084-6015-5CA0-F163-85F48DF8846E}"/>
              </a:ext>
            </a:extLst>
          </p:cNvPr>
          <p:cNvSpPr>
            <a:spLocks noGrp="1"/>
          </p:cNvSpPr>
          <p:nvPr>
            <p:ph type="ftr" sz="quarter" idx="10"/>
          </p:nvPr>
        </p:nvSpPr>
        <p:spPr/>
        <p:txBody>
          <a:bodyPr/>
          <a:lstStyle/>
          <a:p>
            <a:endParaRPr lang="en-US"/>
          </a:p>
        </p:txBody>
      </p:sp>
      <p:sp>
        <p:nvSpPr>
          <p:cNvPr id="3" name="Slide Number Placeholder 4">
            <a:extLst>
              <a:ext uri="{FF2B5EF4-FFF2-40B4-BE49-F238E27FC236}">
                <a16:creationId xmlns:a16="http://schemas.microsoft.com/office/drawing/2014/main" id="{EE594F1C-C906-4944-123A-025F50367235}"/>
              </a:ext>
            </a:extLst>
          </p:cNvPr>
          <p:cNvSpPr txBox="1">
            <a:spLocks/>
          </p:cNvSpPr>
          <p:nvPr userDrawn="1"/>
        </p:nvSpPr>
        <p:spPr>
          <a:xfrm>
            <a:off x="9361051" y="6366011"/>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sz="1200" b="1" smtClean="0">
                <a:solidFill>
                  <a:schemeClr val="bg1"/>
                </a:solidFill>
              </a:rPr>
              <a:pPr/>
              <a:t>‹#›</a:t>
            </a:fld>
            <a:endParaRPr lang="en-US" sz="1200" b="1">
              <a:solidFill>
                <a:schemeClr val="bg1"/>
              </a:solidFill>
            </a:endParaRPr>
          </a:p>
        </p:txBody>
      </p:sp>
    </p:spTree>
    <p:extLst>
      <p:ext uri="{BB962C8B-B14F-4D97-AF65-F5344CB8AC3E}">
        <p14:creationId xmlns:p14="http://schemas.microsoft.com/office/powerpoint/2010/main" val="57621278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slide" Target="../slides/slide9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F323051-B7BD-DEF7-2D19-81A0C7163CF4}"/>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4" name="Title 1">
            <a:extLst>
              <a:ext uri="{FF2B5EF4-FFF2-40B4-BE49-F238E27FC236}">
                <a16:creationId xmlns:a16="http://schemas.microsoft.com/office/drawing/2014/main" id="{4C74192E-16AF-775D-E1BA-8A59AC649F13}"/>
              </a:ext>
            </a:extLst>
          </p:cNvPr>
          <p:cNvSpPr txBox="1">
            <a:spLocks/>
          </p:cNvSpPr>
          <p:nvPr userDrawn="1"/>
        </p:nvSpPr>
        <p:spPr>
          <a:xfrm>
            <a:off x="1524002" y="318031"/>
            <a:ext cx="4896255" cy="4778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400"/>
          </a:p>
        </p:txBody>
      </p:sp>
      <p:pic>
        <p:nvPicPr>
          <p:cNvPr id="5" name="Picture 4">
            <a:hlinkClick r:id="rId4" action="ppaction://hlinksldjump"/>
            <a:extLst>
              <a:ext uri="{FF2B5EF4-FFF2-40B4-BE49-F238E27FC236}">
                <a16:creationId xmlns:a16="http://schemas.microsoft.com/office/drawing/2014/main" id="{24710491-6A34-1721-BBDE-678AC7B2C6BE}"/>
              </a:ext>
            </a:extLst>
          </p:cNvPr>
          <p:cNvPicPr>
            <a:picLocks noChangeAspect="1"/>
          </p:cNvPicPr>
          <p:nvPr userDrawn="1"/>
        </p:nvPicPr>
        <p:blipFill>
          <a:blip r:embed="rId5"/>
          <a:stretch>
            <a:fillRect/>
          </a:stretch>
        </p:blipFill>
        <p:spPr>
          <a:xfrm>
            <a:off x="11038384" y="6427540"/>
            <a:ext cx="1076851" cy="222744"/>
          </a:xfrm>
          <a:prstGeom prst="rect">
            <a:avLst/>
          </a:prstGeom>
        </p:spPr>
      </p:pic>
      <p:sp>
        <p:nvSpPr>
          <p:cNvPr id="10" name="Slide Number Placeholder 4">
            <a:extLst>
              <a:ext uri="{FF2B5EF4-FFF2-40B4-BE49-F238E27FC236}">
                <a16:creationId xmlns:a16="http://schemas.microsoft.com/office/drawing/2014/main" id="{F1985B15-9648-16BA-8FE7-BAFF380D2732}"/>
              </a:ext>
            </a:extLst>
          </p:cNvPr>
          <p:cNvSpPr txBox="1">
            <a:spLocks/>
          </p:cNvSpPr>
          <p:nvPr userDrawn="1"/>
        </p:nvSpPr>
        <p:spPr>
          <a:xfrm>
            <a:off x="9361051" y="6366011"/>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sz="1200" b="1" smtClean="0">
                <a:solidFill>
                  <a:schemeClr val="bg1"/>
                </a:solidFill>
              </a:rPr>
              <a:pPr/>
              <a:t>‹#›</a:t>
            </a:fld>
            <a:endParaRPr lang="en-US" sz="1200" b="1">
              <a:solidFill>
                <a:schemeClr val="bg1"/>
              </a:solidFill>
            </a:endParaRPr>
          </a:p>
        </p:txBody>
      </p:sp>
    </p:spTree>
    <p:extLst>
      <p:ext uri="{BB962C8B-B14F-4D97-AF65-F5344CB8AC3E}">
        <p14:creationId xmlns:p14="http://schemas.microsoft.com/office/powerpoint/2010/main" val="3723904720"/>
      </p:ext>
    </p:ext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slide" Target="slide28.xml"/><Relationship Id="rId13" Type="http://schemas.openxmlformats.org/officeDocument/2006/relationships/slide" Target="slide21.xml"/><Relationship Id="rId3" Type="http://schemas.openxmlformats.org/officeDocument/2006/relationships/slide" Target="slide16.xml"/><Relationship Id="rId7" Type="http://schemas.openxmlformats.org/officeDocument/2006/relationships/slide" Target="slide14.xml"/><Relationship Id="rId12" Type="http://schemas.openxmlformats.org/officeDocument/2006/relationships/slide" Target="slide78.xml"/><Relationship Id="rId2" Type="http://schemas.openxmlformats.org/officeDocument/2006/relationships/slide" Target="slide27.xml"/><Relationship Id="rId1" Type="http://schemas.openxmlformats.org/officeDocument/2006/relationships/slideLayout" Target="../slideLayouts/slideLayout2.xml"/><Relationship Id="rId6" Type="http://schemas.openxmlformats.org/officeDocument/2006/relationships/slide" Target="slide20.xml"/><Relationship Id="rId11" Type="http://schemas.openxmlformats.org/officeDocument/2006/relationships/slide" Target="slide25.xml"/><Relationship Id="rId5" Type="http://schemas.openxmlformats.org/officeDocument/2006/relationships/slide" Target="slide23.xml"/><Relationship Id="rId10" Type="http://schemas.openxmlformats.org/officeDocument/2006/relationships/slide" Target="slide22.xml"/><Relationship Id="rId4" Type="http://schemas.openxmlformats.org/officeDocument/2006/relationships/slide" Target="slide17.xml"/><Relationship Id="rId9" Type="http://schemas.openxmlformats.org/officeDocument/2006/relationships/slide" Target="slide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slide" Target="slide23.xml"/><Relationship Id="rId13" Type="http://schemas.openxmlformats.org/officeDocument/2006/relationships/slide" Target="slide22.xml"/><Relationship Id="rId3" Type="http://schemas.openxmlformats.org/officeDocument/2006/relationships/image" Target="../media/image9.png"/><Relationship Id="rId7" Type="http://schemas.openxmlformats.org/officeDocument/2006/relationships/slide" Target="slide28.xml"/><Relationship Id="rId12" Type="http://schemas.openxmlformats.org/officeDocument/2006/relationships/slide" Target="slide25.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20.xml"/><Relationship Id="rId11" Type="http://schemas.openxmlformats.org/officeDocument/2006/relationships/slide" Target="slide21.xml"/><Relationship Id="rId5" Type="http://schemas.openxmlformats.org/officeDocument/2006/relationships/slide" Target="slide27.xml"/><Relationship Id="rId10" Type="http://schemas.openxmlformats.org/officeDocument/2006/relationships/slide" Target="slide13.xml"/><Relationship Id="rId4" Type="http://schemas.openxmlformats.org/officeDocument/2006/relationships/slide" Target="slide31.xml"/><Relationship Id="rId9" Type="http://schemas.openxmlformats.org/officeDocument/2006/relationships/slide" Target="slide12.xml"/></Relationships>
</file>

<file path=ppt/slides/_rels/slide12.xml.rels><?xml version="1.0" encoding="UTF-8" standalone="yes"?>
<Relationships xmlns="http://schemas.openxmlformats.org/package/2006/relationships"><Relationship Id="rId8" Type="http://schemas.openxmlformats.org/officeDocument/2006/relationships/slide" Target="slide11.xml"/><Relationship Id="rId3" Type="http://schemas.openxmlformats.org/officeDocument/2006/relationships/slide" Target="slide106.xml"/><Relationship Id="rId7" Type="http://schemas.openxmlformats.org/officeDocument/2006/relationships/slide" Target="slide24.xml"/><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slide" Target="slide18.xml"/><Relationship Id="rId5" Type="http://schemas.openxmlformats.org/officeDocument/2006/relationships/hyperlink" Target="http://electronics.stackexchange.com/questions/125384/making-2-input-and-gate-2-input-or-gate-and-not-gate-using-only-the-sand-gate" TargetMode="Externa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1.xml"/><Relationship Id="rId1" Type="http://schemas.openxmlformats.org/officeDocument/2006/relationships/slideLayout" Target="../slideLayouts/slideLayout2.xml"/><Relationship Id="rId4" Type="http://schemas.openxmlformats.org/officeDocument/2006/relationships/slide" Target="slide27.xml"/></Relationships>
</file>

<file path=ppt/slides/_rels/slide14.xml.rels><?xml version="1.0" encoding="UTF-8" standalone="yes"?>
<Relationships xmlns="http://schemas.openxmlformats.org/package/2006/relationships"><Relationship Id="rId8" Type="http://schemas.openxmlformats.org/officeDocument/2006/relationships/slide" Target="slide17.xml"/><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slide" Target="slide16.xml"/><Relationship Id="rId5" Type="http://schemas.openxmlformats.org/officeDocument/2006/relationships/slide" Target="slide90.xml"/><Relationship Id="rId10" Type="http://schemas.openxmlformats.org/officeDocument/2006/relationships/slide" Target="slide33.xml"/><Relationship Id="rId4" Type="http://schemas.openxmlformats.org/officeDocument/2006/relationships/hyperlink" Target="http://electronics.stackexchange.com/questions/125384/making-2-input-and-gate-2-input-or-gate-and-not-gate-using-only-the-sand-gate" TargetMode="External"/><Relationship Id="rId9" Type="http://schemas.openxmlformats.org/officeDocument/2006/relationships/slide" Target="slide32.xml"/></Relationships>
</file>

<file path=ppt/slides/_rels/slide15.xml.rels><?xml version="1.0" encoding="UTF-8" standalone="yes"?>
<Relationships xmlns="http://schemas.openxmlformats.org/package/2006/relationships"><Relationship Id="rId8" Type="http://schemas.openxmlformats.org/officeDocument/2006/relationships/slide" Target="slide103.xml"/><Relationship Id="rId3" Type="http://schemas.openxmlformats.org/officeDocument/2006/relationships/slide" Target="slide27.xml"/><Relationship Id="rId7" Type="http://schemas.openxmlformats.org/officeDocument/2006/relationships/hyperlink" Target="http://electronics.stackexchange.com/questions/125384/making-2-input-and-gate-2-input-or-gate-and-not-gate-using-only-the-sand-gate" TargetMode="External"/><Relationship Id="rId12" Type="http://schemas.openxmlformats.org/officeDocument/2006/relationships/image" Target="../media/image18.png"/><Relationship Id="rId2" Type="http://schemas.openxmlformats.org/officeDocument/2006/relationships/slide" Target="slide28.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hyperlink" Target="https://liucs.net/cs101s14/n4-logic.html" TargetMode="External"/><Relationship Id="rId5" Type="http://schemas.openxmlformats.org/officeDocument/2006/relationships/slide" Target="slide16.xml"/><Relationship Id="rId10" Type="http://schemas.openxmlformats.org/officeDocument/2006/relationships/image" Target="../media/image17.png"/><Relationship Id="rId4" Type="http://schemas.openxmlformats.org/officeDocument/2006/relationships/image" Target="../media/image15.png"/><Relationship Id="rId9"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slide" Target="slide15.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slide" Target="slide14.xml"/><Relationship Id="rId5" Type="http://schemas.openxmlformats.org/officeDocument/2006/relationships/image" Target="../media/image1.png"/><Relationship Id="rId4" Type="http://schemas.openxmlformats.org/officeDocument/2006/relationships/slide" Target="slide98.xml"/></Relationships>
</file>

<file path=ppt/slides/_rels/slide17.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image" Target="../media/image20.png"/><Relationship Id="rId7" Type="http://schemas.openxmlformats.org/officeDocument/2006/relationships/slide" Target="slide1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slide" Target="slide98.xml"/><Relationship Id="rId4" Type="http://schemas.openxmlformats.org/officeDocument/2006/relationships/slide" Target="slide104.xml"/></Relationships>
</file>

<file path=ppt/slides/_rels/slide18.xml.rels><?xml version="1.0" encoding="UTF-8" standalone="yes"?>
<Relationships xmlns="http://schemas.openxmlformats.org/package/2006/relationships"><Relationship Id="rId8" Type="http://schemas.openxmlformats.org/officeDocument/2006/relationships/slide" Target="slide21.xml"/><Relationship Id="rId13" Type="http://schemas.openxmlformats.org/officeDocument/2006/relationships/slide" Target="slide103.xml"/><Relationship Id="rId3" Type="http://schemas.openxmlformats.org/officeDocument/2006/relationships/slide" Target="slide28.xml"/><Relationship Id="rId7" Type="http://schemas.openxmlformats.org/officeDocument/2006/relationships/slide" Target="slide27.xml"/><Relationship Id="rId12" Type="http://schemas.openxmlformats.org/officeDocument/2006/relationships/hyperlink" Target="http://electronics.stackexchange.com/questions/125384/making-2-input-and-gate-2-input-or-gate-and-not-gate-using-only-the-sand-gate" TargetMode="External"/><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slide" Target="slide12.xml"/><Relationship Id="rId11" Type="http://schemas.openxmlformats.org/officeDocument/2006/relationships/image" Target="../media/image11.png"/><Relationship Id="rId5" Type="http://schemas.openxmlformats.org/officeDocument/2006/relationships/slide" Target="slide20.xml"/><Relationship Id="rId10" Type="http://schemas.openxmlformats.org/officeDocument/2006/relationships/slide" Target="slide22.xml"/><Relationship Id="rId4" Type="http://schemas.openxmlformats.org/officeDocument/2006/relationships/slide" Target="slide38.xml"/><Relationship Id="rId9" Type="http://schemas.openxmlformats.org/officeDocument/2006/relationships/slide" Target="slide2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slide" Target="slide27.xml"/><Relationship Id="rId13" Type="http://schemas.openxmlformats.org/officeDocument/2006/relationships/slide" Target="slide95.xml"/><Relationship Id="rId3" Type="http://schemas.openxmlformats.org/officeDocument/2006/relationships/image" Target="../media/image21.jpeg"/><Relationship Id="rId7" Type="http://schemas.openxmlformats.org/officeDocument/2006/relationships/slide" Target="slide103.xml"/><Relationship Id="rId12"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slide" Target="slide91.xml"/><Relationship Id="rId11" Type="http://schemas.openxmlformats.org/officeDocument/2006/relationships/slide" Target="slide11.xml"/><Relationship Id="rId5" Type="http://schemas.openxmlformats.org/officeDocument/2006/relationships/image" Target="../media/image22.png"/><Relationship Id="rId10" Type="http://schemas.openxmlformats.org/officeDocument/2006/relationships/image" Target="../media/image1.png"/><Relationship Id="rId4" Type="http://schemas.openxmlformats.org/officeDocument/2006/relationships/slide" Target="slide93.xml"/><Relationship Id="rId9" Type="http://schemas.openxmlformats.org/officeDocument/2006/relationships/slide" Target="slide98.xml"/><Relationship Id="rId14" Type="http://schemas.openxmlformats.org/officeDocument/2006/relationships/slide" Target="slide18.xml"/></Relationships>
</file>

<file path=ppt/slides/_rels/slide21.xml.rels><?xml version="1.0" encoding="UTF-8" standalone="yes"?>
<Relationships xmlns="http://schemas.openxmlformats.org/package/2006/relationships"><Relationship Id="rId8" Type="http://schemas.openxmlformats.org/officeDocument/2006/relationships/slide" Target="slide18.xml"/><Relationship Id="rId3" Type="http://schemas.openxmlformats.org/officeDocument/2006/relationships/slide" Target="slide98.xml"/><Relationship Id="rId7" Type="http://schemas.openxmlformats.org/officeDocument/2006/relationships/slide" Target="slide1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slide" Target="slide95.xml"/><Relationship Id="rId5" Type="http://schemas.openxmlformats.org/officeDocument/2006/relationships/image" Target="../media/image23.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8" Type="http://schemas.openxmlformats.org/officeDocument/2006/relationships/slide" Target="slide11.xml"/><Relationship Id="rId3" Type="http://schemas.openxmlformats.org/officeDocument/2006/relationships/slide" Target="slide98.xml"/><Relationship Id="rId7" Type="http://schemas.openxmlformats.org/officeDocument/2006/relationships/slide" Target="slide18.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slide" Target="slide95.xml"/><Relationship Id="rId5" Type="http://schemas.openxmlformats.org/officeDocument/2006/relationships/image" Target="../media/image23.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8" Type="http://schemas.openxmlformats.org/officeDocument/2006/relationships/slide" Target="slide11.xml"/><Relationship Id="rId13" Type="http://schemas.openxmlformats.org/officeDocument/2006/relationships/image" Target="../media/image11.png"/><Relationship Id="rId3" Type="http://schemas.openxmlformats.org/officeDocument/2006/relationships/image" Target="../media/image23.png"/><Relationship Id="rId7" Type="http://schemas.openxmlformats.org/officeDocument/2006/relationships/image" Target="../media/image1.png"/><Relationship Id="rId12"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slide" Target="slide98.xml"/><Relationship Id="rId11" Type="http://schemas.openxmlformats.org/officeDocument/2006/relationships/image" Target="../media/image24.png"/><Relationship Id="rId5" Type="http://schemas.openxmlformats.org/officeDocument/2006/relationships/slide" Target="slide28.xml"/><Relationship Id="rId10" Type="http://schemas.openxmlformats.org/officeDocument/2006/relationships/slide" Target="slide103.xml"/><Relationship Id="rId4" Type="http://schemas.openxmlformats.org/officeDocument/2006/relationships/slide" Target="slide95.xml"/><Relationship Id="rId9" Type="http://schemas.openxmlformats.org/officeDocument/2006/relationships/slide" Target="slide18.xml"/><Relationship Id="rId14" Type="http://schemas.openxmlformats.org/officeDocument/2006/relationships/hyperlink" Target="http://electronics.stackexchange.com/questions/125384/making-2-input-and-gate-2-input-or-gate-and-not-gate-using-only-the-sand-gate" TargetMode="External"/></Relationships>
</file>

<file path=ppt/slides/_rels/slide24.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hyperlink" Target="https://commons.wikimedia.org/wiki/Category:NOR_gate_symbols" TargetMode="External"/><Relationship Id="rId3" Type="http://schemas.openxmlformats.org/officeDocument/2006/relationships/slide" Target="slide95.xml"/><Relationship Id="rId7" Type="http://schemas.openxmlformats.org/officeDocument/2006/relationships/slide" Target="slide27.xml"/><Relationship Id="rId12" Type="http://schemas.openxmlformats.org/officeDocument/2006/relationships/image" Target="../media/image30.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slide" Target="slide12.xml"/><Relationship Id="rId11" Type="http://schemas.openxmlformats.org/officeDocument/2006/relationships/slide" Target="slide11.xml"/><Relationship Id="rId5" Type="http://schemas.openxmlformats.org/officeDocument/2006/relationships/slide" Target="slide28.xml"/><Relationship Id="rId10" Type="http://schemas.openxmlformats.org/officeDocument/2006/relationships/image" Target="../media/image29.png"/><Relationship Id="rId4" Type="http://schemas.openxmlformats.org/officeDocument/2006/relationships/slide" Target="slide103.xml"/><Relationship Id="rId9" Type="http://schemas.openxmlformats.org/officeDocument/2006/relationships/image" Target="../media/image28.png"/></Relationships>
</file>

<file path=ppt/slides/_rels/slide25.xml.rels><?xml version="1.0" encoding="UTF-8" standalone="yes"?>
<Relationships xmlns="http://schemas.openxmlformats.org/package/2006/relationships"><Relationship Id="rId8" Type="http://schemas.openxmlformats.org/officeDocument/2006/relationships/hyperlink" Target="http://electronics.stackexchange.com/questions/125384/making-2-input-and-gate-2-input-or-gate-and-not-gate-using-only-the-sand-gate" TargetMode="External"/><Relationship Id="rId3" Type="http://schemas.openxmlformats.org/officeDocument/2006/relationships/image" Target="../media/image26.png"/><Relationship Id="rId7" Type="http://schemas.openxmlformats.org/officeDocument/2006/relationships/image" Target="../media/image11.png"/><Relationship Id="rId2" Type="http://schemas.openxmlformats.org/officeDocument/2006/relationships/slide" Target="slide11.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slide" Target="slide103.xml"/><Relationship Id="rId4" Type="http://schemas.openxmlformats.org/officeDocument/2006/relationships/slide" Target="slide95.xml"/><Relationship Id="rId9" Type="http://schemas.openxmlformats.org/officeDocument/2006/relationships/slide" Target="slide28.xml"/></Relationships>
</file>

<file path=ppt/slides/_rels/slide26.xml.rels><?xml version="1.0" encoding="UTF-8" standalone="yes"?>
<Relationships xmlns="http://schemas.openxmlformats.org/package/2006/relationships"><Relationship Id="rId8" Type="http://schemas.openxmlformats.org/officeDocument/2006/relationships/slide" Target="slide98.xml"/><Relationship Id="rId3" Type="http://schemas.openxmlformats.org/officeDocument/2006/relationships/hyperlink" Target="http://electronics.stackexchange.com/questions/196655/build-and-logic-gate-with-7400-ics-nand-in-negative-logic" TargetMode="External"/><Relationship Id="rId7" Type="http://schemas.openxmlformats.org/officeDocument/2006/relationships/slide" Target="slide105.xml"/><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slide" Target="slide104.xml"/><Relationship Id="rId11" Type="http://schemas.openxmlformats.org/officeDocument/2006/relationships/hyperlink" Target="http://electronics.stackexchange.com/questions/125384/making-2-input-and-gate-2-input-or-gate-and-not-gate-using-only-the-sand-gate" TargetMode="External"/><Relationship Id="rId5" Type="http://schemas.openxmlformats.org/officeDocument/2006/relationships/slide" Target="slide107.xml"/><Relationship Id="rId10" Type="http://schemas.openxmlformats.org/officeDocument/2006/relationships/image" Target="../media/image11.png"/><Relationship Id="rId4" Type="http://schemas.openxmlformats.org/officeDocument/2006/relationships/image" Target="../media/image21.jpeg"/><Relationship Id="rId9" Type="http://schemas.openxmlformats.org/officeDocument/2006/relationships/image" Target="../media/image1.png"/></Relationships>
</file>

<file path=ppt/slides/_rels/slide27.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slide" Target="slide105.xml"/><Relationship Id="rId18" Type="http://schemas.openxmlformats.org/officeDocument/2006/relationships/image" Target="../media/image1.png"/><Relationship Id="rId3" Type="http://schemas.openxmlformats.org/officeDocument/2006/relationships/slide" Target="slide94.xml"/><Relationship Id="rId21" Type="http://schemas.openxmlformats.org/officeDocument/2006/relationships/slide" Target="slide15.xml"/><Relationship Id="rId7" Type="http://schemas.openxmlformats.org/officeDocument/2006/relationships/slide" Target="slide103.xml"/><Relationship Id="rId12" Type="http://schemas.openxmlformats.org/officeDocument/2006/relationships/slide" Target="slide26.xml"/><Relationship Id="rId17" Type="http://schemas.openxmlformats.org/officeDocument/2006/relationships/slide" Target="slide98.xml"/><Relationship Id="rId25" Type="http://schemas.openxmlformats.org/officeDocument/2006/relationships/slide" Target="slide11.xml"/><Relationship Id="rId2" Type="http://schemas.openxmlformats.org/officeDocument/2006/relationships/image" Target="../media/image33.png"/><Relationship Id="rId16" Type="http://schemas.openxmlformats.org/officeDocument/2006/relationships/slide" Target="slide39.xml"/><Relationship Id="rId20" Type="http://schemas.openxmlformats.org/officeDocument/2006/relationships/slide" Target="slide31.xml"/><Relationship Id="rId1" Type="http://schemas.openxmlformats.org/officeDocument/2006/relationships/slideLayout" Target="../slideLayouts/slideLayout2.xml"/><Relationship Id="rId6" Type="http://schemas.openxmlformats.org/officeDocument/2006/relationships/slide" Target="slide28.xml"/><Relationship Id="rId11" Type="http://schemas.openxmlformats.org/officeDocument/2006/relationships/slide" Target="slide35.xml"/><Relationship Id="rId24" Type="http://schemas.openxmlformats.org/officeDocument/2006/relationships/image" Target="../media/image15.png"/><Relationship Id="rId5" Type="http://schemas.openxmlformats.org/officeDocument/2006/relationships/slide" Target="slide92.xml"/><Relationship Id="rId15" Type="http://schemas.openxmlformats.org/officeDocument/2006/relationships/slide" Target="slide99.xml"/><Relationship Id="rId23" Type="http://schemas.openxmlformats.org/officeDocument/2006/relationships/hyperlink" Target="https://liucs.net/cs101s14/n4-logic.html" TargetMode="External"/><Relationship Id="rId10" Type="http://schemas.openxmlformats.org/officeDocument/2006/relationships/slide" Target="slide104.xml"/><Relationship Id="rId19" Type="http://schemas.openxmlformats.org/officeDocument/2006/relationships/slide" Target="slide20.xml"/><Relationship Id="rId4" Type="http://schemas.openxmlformats.org/officeDocument/2006/relationships/image" Target="../media/image34.png"/><Relationship Id="rId9" Type="http://schemas.openxmlformats.org/officeDocument/2006/relationships/hyperlink" Target="http://electronics.stackexchange.com/questions/125384/making-2-input-and-gate-2-input-or-gate-and-not-gate-using-only-the-sand-gate" TargetMode="External"/><Relationship Id="rId14" Type="http://schemas.openxmlformats.org/officeDocument/2006/relationships/slide" Target="slide101.xml"/><Relationship Id="rId22" Type="http://schemas.openxmlformats.org/officeDocument/2006/relationships/image" Target="../media/image17.png"/></Relationships>
</file>

<file path=ppt/slides/_rels/slide28.xml.rels><?xml version="1.0" encoding="UTF-8" standalone="yes"?>
<Relationships xmlns="http://schemas.openxmlformats.org/package/2006/relationships"><Relationship Id="rId8" Type="http://schemas.openxmlformats.org/officeDocument/2006/relationships/slide" Target="slide99.xml"/><Relationship Id="rId13" Type="http://schemas.openxmlformats.org/officeDocument/2006/relationships/slide" Target="slide15.xml"/><Relationship Id="rId18" Type="http://schemas.openxmlformats.org/officeDocument/2006/relationships/slide" Target="slide24.xml"/><Relationship Id="rId3" Type="http://schemas.openxmlformats.org/officeDocument/2006/relationships/slide" Target="slide104.xml"/><Relationship Id="rId21" Type="http://schemas.openxmlformats.org/officeDocument/2006/relationships/image" Target="../media/image1.png"/><Relationship Id="rId7" Type="http://schemas.openxmlformats.org/officeDocument/2006/relationships/hyperlink" Target="http://electronics.stackexchange.com/questions/125384/making-2-input-and-gate-2-input-or-gate-and-not-gate-using-only-the-sand-gate" TargetMode="External"/><Relationship Id="rId12" Type="http://schemas.openxmlformats.org/officeDocument/2006/relationships/slide" Target="slide16.xml"/><Relationship Id="rId17" Type="http://schemas.openxmlformats.org/officeDocument/2006/relationships/slide" Target="slide27.xml"/><Relationship Id="rId2" Type="http://schemas.openxmlformats.org/officeDocument/2006/relationships/image" Target="../media/image20.png"/><Relationship Id="rId16" Type="http://schemas.openxmlformats.org/officeDocument/2006/relationships/slide" Target="slide91.xml"/><Relationship Id="rId20" Type="http://schemas.openxmlformats.org/officeDocument/2006/relationships/slide" Target="slide98.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slide" Target="slide21.xml"/><Relationship Id="rId5" Type="http://schemas.openxmlformats.org/officeDocument/2006/relationships/slide" Target="slide101.xml"/><Relationship Id="rId15" Type="http://schemas.openxmlformats.org/officeDocument/2006/relationships/image" Target="../media/image35.jpeg"/><Relationship Id="rId10" Type="http://schemas.openxmlformats.org/officeDocument/2006/relationships/slide" Target="slide11.xml"/><Relationship Id="rId19" Type="http://schemas.openxmlformats.org/officeDocument/2006/relationships/slide" Target="slide25.xml"/><Relationship Id="rId4" Type="http://schemas.openxmlformats.org/officeDocument/2006/relationships/slide" Target="slide103.xml"/><Relationship Id="rId9" Type="http://schemas.openxmlformats.org/officeDocument/2006/relationships/slide" Target="slide30.xml"/><Relationship Id="rId14" Type="http://schemas.openxmlformats.org/officeDocument/2006/relationships/slide" Target="slide1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slide" Target="slide92.xml"/><Relationship Id="rId3" Type="http://schemas.openxmlformats.org/officeDocument/2006/relationships/slide" Target="slide11.xml"/><Relationship Id="rId7" Type="http://schemas.openxmlformats.org/officeDocument/2006/relationships/image" Target="../media/image34.png"/><Relationship Id="rId2" Type="http://schemas.openxmlformats.org/officeDocument/2006/relationships/slide" Target="slide32.xml"/><Relationship Id="rId1" Type="http://schemas.openxmlformats.org/officeDocument/2006/relationships/slideLayout" Target="../slideLayouts/slideLayout2.xml"/><Relationship Id="rId6" Type="http://schemas.openxmlformats.org/officeDocument/2006/relationships/hyperlink" Target="http://electronics.stackexchange.com/questions/125384/making-2-input-and-gate-2-input-or-gate-and-not-gate-using-only-the-sand-gate" TargetMode="External"/><Relationship Id="rId5" Type="http://schemas.openxmlformats.org/officeDocument/2006/relationships/image" Target="../media/image11.png"/><Relationship Id="rId10" Type="http://schemas.openxmlformats.org/officeDocument/2006/relationships/hyperlink" Target="https://liucs.net/cs101s14/n4-logic.html" TargetMode="External"/><Relationship Id="rId4" Type="http://schemas.openxmlformats.org/officeDocument/2006/relationships/slide" Target="slide27.xml"/><Relationship Id="rId9" Type="http://schemas.openxmlformats.org/officeDocument/2006/relationships/image" Target="../media/image17.png"/></Relationships>
</file>

<file path=ppt/slides/_rels/slide32.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3.png"/><Relationship Id="rId18" Type="http://schemas.openxmlformats.org/officeDocument/2006/relationships/hyperlink" Target="http://electronics.stackexchange.com/questions/125384/making-2-input-and-gate-2-input-or-gate-and-not-gate-using-only-the-sand-gate" TargetMode="External"/><Relationship Id="rId3" Type="http://schemas.openxmlformats.org/officeDocument/2006/relationships/image" Target="../media/image37.png"/><Relationship Id="rId7" Type="http://schemas.openxmlformats.org/officeDocument/2006/relationships/image" Target="../media/image39.png"/><Relationship Id="rId12" Type="http://schemas.openxmlformats.org/officeDocument/2006/relationships/slide" Target="slide14.xml"/><Relationship Id="rId17" Type="http://schemas.openxmlformats.org/officeDocument/2006/relationships/image" Target="../media/image11.png"/><Relationship Id="rId2" Type="http://schemas.openxmlformats.org/officeDocument/2006/relationships/notesSlide" Target="../notesSlides/notesSlide10.xml"/><Relationship Id="rId16" Type="http://schemas.openxmlformats.org/officeDocument/2006/relationships/slide" Target="slide103.xml"/><Relationship Id="rId1" Type="http://schemas.openxmlformats.org/officeDocument/2006/relationships/slideLayout" Target="../slideLayouts/slideLayout1.xml"/><Relationship Id="rId6" Type="http://schemas.openxmlformats.org/officeDocument/2006/relationships/image" Target="../media/image1.png"/><Relationship Id="rId11" Type="http://schemas.openxmlformats.org/officeDocument/2006/relationships/image" Target="../media/image42.png"/><Relationship Id="rId5" Type="http://schemas.openxmlformats.org/officeDocument/2006/relationships/slide" Target="slide98.xml"/><Relationship Id="rId15" Type="http://schemas.openxmlformats.org/officeDocument/2006/relationships/slide" Target="slide31.xml"/><Relationship Id="rId10" Type="http://schemas.openxmlformats.org/officeDocument/2006/relationships/image" Target="../media/image13.png"/><Relationship Id="rId4" Type="http://schemas.openxmlformats.org/officeDocument/2006/relationships/image" Target="../media/image38.png"/><Relationship Id="rId9" Type="http://schemas.openxmlformats.org/officeDocument/2006/relationships/image" Target="../media/image41.png"/><Relationship Id="rId14" Type="http://schemas.openxmlformats.org/officeDocument/2006/relationships/slide" Target="slide15.xml"/></Relationships>
</file>

<file path=ppt/slides/_rels/slide33.xml.rels><?xml version="1.0" encoding="UTF-8" standalone="yes"?>
<Relationships xmlns="http://schemas.openxmlformats.org/package/2006/relationships"><Relationship Id="rId3" Type="http://schemas.openxmlformats.org/officeDocument/2006/relationships/slide" Target="slide15.xml"/><Relationship Id="rId7" Type="http://schemas.openxmlformats.org/officeDocument/2006/relationships/slide" Target="slide34.xml"/><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slide" Target="slide14.xml"/></Relationships>
</file>

<file path=ppt/slides/_rels/slide34.xml.rels><?xml version="1.0" encoding="UTF-8" standalone="yes"?>
<Relationships xmlns="http://schemas.openxmlformats.org/package/2006/relationships"><Relationship Id="rId8" Type="http://schemas.openxmlformats.org/officeDocument/2006/relationships/hyperlink" Target="http://it.wikibooks.org/wiki/File:Xor-gate-en.svg" TargetMode="External"/><Relationship Id="rId3" Type="http://schemas.openxmlformats.org/officeDocument/2006/relationships/image" Target="../media/image46.png"/><Relationship Id="rId7" Type="http://schemas.openxmlformats.org/officeDocument/2006/relationships/image" Target="../media/image48.png"/><Relationship Id="rId2" Type="http://schemas.openxmlformats.org/officeDocument/2006/relationships/slide" Target="slide33.xml"/><Relationship Id="rId1" Type="http://schemas.openxmlformats.org/officeDocument/2006/relationships/slideLayout" Target="../slideLayouts/slideLayout2.xml"/><Relationship Id="rId6" Type="http://schemas.openxmlformats.org/officeDocument/2006/relationships/hyperlink" Target="http://electronics.stackexchange.com/questions/125384/making-2-input-and-gate-2-input-or-gate-and-not-gate-using-only-the-sand-gate" TargetMode="External"/><Relationship Id="rId5" Type="http://schemas.openxmlformats.org/officeDocument/2006/relationships/image" Target="../media/image11.png"/><Relationship Id="rId4" Type="http://schemas.openxmlformats.org/officeDocument/2006/relationships/image" Target="../media/image47.png"/></Relationships>
</file>

<file path=ppt/slides/_rels/slide35.xml.rels><?xml version="1.0" encoding="UTF-8" standalone="yes"?>
<Relationships xmlns="http://schemas.openxmlformats.org/package/2006/relationships"><Relationship Id="rId8" Type="http://schemas.openxmlformats.org/officeDocument/2006/relationships/slide" Target="slide104.xml"/><Relationship Id="rId13" Type="http://schemas.openxmlformats.org/officeDocument/2006/relationships/hyperlink" Target="http://electronics.stackexchange.com/questions/125384/making-2-input-and-gate-2-input-or-gate-and-not-gate-using-only-the-sand-gate" TargetMode="External"/><Relationship Id="rId18" Type="http://schemas.openxmlformats.org/officeDocument/2006/relationships/slide" Target="slide68.xml"/><Relationship Id="rId3" Type="http://schemas.openxmlformats.org/officeDocument/2006/relationships/image" Target="../media/image49.png"/><Relationship Id="rId7" Type="http://schemas.openxmlformats.org/officeDocument/2006/relationships/slide" Target="slide110.xml"/><Relationship Id="rId12" Type="http://schemas.openxmlformats.org/officeDocument/2006/relationships/image" Target="../media/image11.png"/><Relationship Id="rId17" Type="http://schemas.openxmlformats.org/officeDocument/2006/relationships/slide" Target="slide67.xml"/><Relationship Id="rId2" Type="http://schemas.openxmlformats.org/officeDocument/2006/relationships/notesSlide" Target="../notesSlides/notesSlide11.xml"/><Relationship Id="rId16" Type="http://schemas.openxmlformats.org/officeDocument/2006/relationships/slide" Target="slide66.xml"/><Relationship Id="rId1" Type="http://schemas.openxmlformats.org/officeDocument/2006/relationships/slideLayout" Target="../slideLayouts/slideLayout2.xml"/><Relationship Id="rId6" Type="http://schemas.openxmlformats.org/officeDocument/2006/relationships/slide" Target="slide38.xml"/><Relationship Id="rId11" Type="http://schemas.openxmlformats.org/officeDocument/2006/relationships/slide" Target="slide106.xml"/><Relationship Id="rId5" Type="http://schemas.openxmlformats.org/officeDocument/2006/relationships/slide" Target="slide27.xml"/><Relationship Id="rId15" Type="http://schemas.openxmlformats.org/officeDocument/2006/relationships/slide" Target="slide65.xml"/><Relationship Id="rId10" Type="http://schemas.openxmlformats.org/officeDocument/2006/relationships/image" Target="../media/image1.png"/><Relationship Id="rId4" Type="http://schemas.openxmlformats.org/officeDocument/2006/relationships/slide" Target="slide103.xml"/><Relationship Id="rId9" Type="http://schemas.openxmlformats.org/officeDocument/2006/relationships/slide" Target="slide98.xml"/><Relationship Id="rId14" Type="http://schemas.openxmlformats.org/officeDocument/2006/relationships/slide" Target="slide64.xml"/></Relationships>
</file>

<file path=ppt/slides/_rels/slide36.xml.rels><?xml version="1.0" encoding="UTF-8" standalone="yes"?>
<Relationships xmlns="http://schemas.openxmlformats.org/package/2006/relationships"><Relationship Id="rId8" Type="http://schemas.openxmlformats.org/officeDocument/2006/relationships/hyperlink" Target="http://electronics.stackexchange.com/questions/125384/making-2-input-and-gate-2-input-or-gate-and-not-gate-using-only-the-sand-gate" TargetMode="External"/><Relationship Id="rId3" Type="http://schemas.openxmlformats.org/officeDocument/2006/relationships/slide" Target="slide35.xml"/><Relationship Id="rId7"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slide" Target="slide103.xml"/><Relationship Id="rId5" Type="http://schemas.openxmlformats.org/officeDocument/2006/relationships/hyperlink" Target="http://electronics.stackexchange.com/questions/196655/build-and-logic-gate-with-7400-ics-nand-in-negative-logic" TargetMode="External"/><Relationship Id="rId4" Type="http://schemas.openxmlformats.org/officeDocument/2006/relationships/image" Target="../media/image32.png"/><Relationship Id="rId9" Type="http://schemas.openxmlformats.org/officeDocument/2006/relationships/slide" Target="slide105.xml"/></Relationships>
</file>

<file path=ppt/slides/_rels/slide37.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30.png"/><Relationship Id="rId7" Type="http://schemas.openxmlformats.org/officeDocument/2006/relationships/slide" Target="slide98.xml"/><Relationship Id="rId2" Type="http://schemas.openxmlformats.org/officeDocument/2006/relationships/slide" Target="slide107.xml"/><Relationship Id="rId1" Type="http://schemas.openxmlformats.org/officeDocument/2006/relationships/slideLayout" Target="../slideLayouts/slideLayout2.xml"/><Relationship Id="rId6" Type="http://schemas.openxmlformats.org/officeDocument/2006/relationships/hyperlink" Target="http://it.wikibooks.org/wiki/File:Xor-gate-en.svg" TargetMode="External"/><Relationship Id="rId5" Type="http://schemas.openxmlformats.org/officeDocument/2006/relationships/image" Target="../media/image48.png"/><Relationship Id="rId4" Type="http://schemas.openxmlformats.org/officeDocument/2006/relationships/hyperlink" Target="https://commons.wikimedia.org/wiki/Category:NOR_gate_symbols" TargetMode="External"/></Relationships>
</file>

<file path=ppt/slides/_rels/slide3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50.png"/><Relationship Id="rId7" Type="http://schemas.openxmlformats.org/officeDocument/2006/relationships/slide" Target="slide18.xml"/><Relationship Id="rId2" Type="http://schemas.openxmlformats.org/officeDocument/2006/relationships/slide" Target="slide104.xml"/><Relationship Id="rId1" Type="http://schemas.openxmlformats.org/officeDocument/2006/relationships/slideLayout" Target="../slideLayouts/slideLayout2.xml"/><Relationship Id="rId6" Type="http://schemas.openxmlformats.org/officeDocument/2006/relationships/slide" Target="slide103.xml"/><Relationship Id="rId5" Type="http://schemas.openxmlformats.org/officeDocument/2006/relationships/hyperlink" Target="https://simple.wikipedia.org/wiki/Logic_gate" TargetMode="External"/><Relationship Id="rId4" Type="http://schemas.openxmlformats.org/officeDocument/2006/relationships/image" Target="../media/image51.png"/><Relationship Id="rId9" Type="http://schemas.openxmlformats.org/officeDocument/2006/relationships/hyperlink" Target="http://electronics.stackexchange.com/questions/125384/making-2-input-and-gate-2-input-or-gate-and-not-gate-using-only-the-sand-gate" TargetMode="External"/></Relationships>
</file>

<file path=ppt/slides/_rels/slide39.xml.rels><?xml version="1.0" encoding="UTF-8" standalone="yes"?>
<Relationships xmlns="http://schemas.openxmlformats.org/package/2006/relationships"><Relationship Id="rId8" Type="http://schemas.openxmlformats.org/officeDocument/2006/relationships/slide" Target="slide40.xml"/><Relationship Id="rId3" Type="http://schemas.openxmlformats.org/officeDocument/2006/relationships/slide" Target="slide110.xml"/><Relationship Id="rId7" Type="http://schemas.openxmlformats.org/officeDocument/2006/relationships/image" Target="../media/image55.png"/><Relationship Id="rId12" Type="http://schemas.openxmlformats.org/officeDocument/2006/relationships/slide" Target="slide103.xm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4.png"/><Relationship Id="rId11" Type="http://schemas.openxmlformats.org/officeDocument/2006/relationships/slide" Target="slide41.xml"/><Relationship Id="rId5" Type="http://schemas.openxmlformats.org/officeDocument/2006/relationships/image" Target="../media/image53.jpeg"/><Relationship Id="rId10" Type="http://schemas.openxmlformats.org/officeDocument/2006/relationships/image" Target="../media/image1.png"/><Relationship Id="rId4" Type="http://schemas.openxmlformats.org/officeDocument/2006/relationships/image" Target="../media/image52.jpeg"/><Relationship Id="rId9" Type="http://schemas.openxmlformats.org/officeDocument/2006/relationships/slide" Target="slide98.xml"/></Relationships>
</file>

<file path=ppt/slides/_rels/slide40.xml.rels><?xml version="1.0" encoding="UTF-8" standalone="yes"?>
<Relationships xmlns="http://schemas.openxmlformats.org/package/2006/relationships"><Relationship Id="rId8" Type="http://schemas.openxmlformats.org/officeDocument/2006/relationships/hyperlink" Target="https://liucs.net/cs101s14/n4-logic.html" TargetMode="External"/><Relationship Id="rId13" Type="http://schemas.openxmlformats.org/officeDocument/2006/relationships/slide" Target="slide39.xml"/><Relationship Id="rId3" Type="http://schemas.openxmlformats.org/officeDocument/2006/relationships/slide" Target="slide103.xml"/><Relationship Id="rId7" Type="http://schemas.openxmlformats.org/officeDocument/2006/relationships/image" Target="../media/image17.png"/><Relationship Id="rId12" Type="http://schemas.openxmlformats.org/officeDocument/2006/relationships/slide" Target="slide104.xml"/><Relationship Id="rId2" Type="http://schemas.openxmlformats.org/officeDocument/2006/relationships/slide" Target="slide109.xml"/><Relationship Id="rId1" Type="http://schemas.openxmlformats.org/officeDocument/2006/relationships/slideLayout" Target="../slideLayouts/slideLayout1.xml"/><Relationship Id="rId6" Type="http://schemas.openxmlformats.org/officeDocument/2006/relationships/hyperlink" Target="http://electronics.stackexchange.com/questions/125384/making-2-input-and-gate-2-input-or-gate-and-not-gate-using-only-the-sand-gate" TargetMode="External"/><Relationship Id="rId11" Type="http://schemas.openxmlformats.org/officeDocument/2006/relationships/image" Target="../media/image1.png"/><Relationship Id="rId5" Type="http://schemas.openxmlformats.org/officeDocument/2006/relationships/image" Target="../media/image11.png"/><Relationship Id="rId10" Type="http://schemas.openxmlformats.org/officeDocument/2006/relationships/slide" Target="slide98.xml"/><Relationship Id="rId4" Type="http://schemas.openxmlformats.org/officeDocument/2006/relationships/slide" Target="slide106.xml"/><Relationship Id="rId9" Type="http://schemas.openxmlformats.org/officeDocument/2006/relationships/image" Target="../media/image33.png"/></Relationships>
</file>

<file path=ppt/slides/_rels/slide41.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image" Target="../media/image17.png"/><Relationship Id="rId7" Type="http://schemas.openxmlformats.org/officeDocument/2006/relationships/image" Target="../media/image56.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electronics.stackexchange.com/questions/125384/making-2-input-and-gate-2-input-or-gate-and-not-gate-using-only-the-sand-gate" TargetMode="External"/><Relationship Id="rId5" Type="http://schemas.openxmlformats.org/officeDocument/2006/relationships/image" Target="../media/image11.png"/><Relationship Id="rId4" Type="http://schemas.openxmlformats.org/officeDocument/2006/relationships/hyperlink" Target="https://liucs.net/cs101s14/n4-logic.html" TargetMode="External"/><Relationship Id="rId9" Type="http://schemas.openxmlformats.org/officeDocument/2006/relationships/image" Target="../media/image57.png"/></Relationships>
</file>

<file path=ppt/slides/_rels/slide42.xml.rels><?xml version="1.0" encoding="UTF-8" standalone="yes"?>
<Relationships xmlns="http://schemas.openxmlformats.org/package/2006/relationships"><Relationship Id="rId8" Type="http://schemas.openxmlformats.org/officeDocument/2006/relationships/slide" Target="slide61.xml"/><Relationship Id="rId13" Type="http://schemas.openxmlformats.org/officeDocument/2006/relationships/slide" Target="slide66.xml"/><Relationship Id="rId3" Type="http://schemas.openxmlformats.org/officeDocument/2006/relationships/slide" Target="slide45.xml"/><Relationship Id="rId7" Type="http://schemas.openxmlformats.org/officeDocument/2006/relationships/slide" Target="slide60.xml"/><Relationship Id="rId12" Type="http://schemas.openxmlformats.org/officeDocument/2006/relationships/slide" Target="slide65.xml"/><Relationship Id="rId17" Type="http://schemas.openxmlformats.org/officeDocument/2006/relationships/image" Target="../media/image1.png"/><Relationship Id="rId2" Type="http://schemas.openxmlformats.org/officeDocument/2006/relationships/slide" Target="slide44.xml"/><Relationship Id="rId16" Type="http://schemas.openxmlformats.org/officeDocument/2006/relationships/slide" Target="slide98.xml"/><Relationship Id="rId1" Type="http://schemas.openxmlformats.org/officeDocument/2006/relationships/slideLayout" Target="../slideLayouts/slideLayout2.xml"/><Relationship Id="rId6" Type="http://schemas.openxmlformats.org/officeDocument/2006/relationships/slide" Target="slide59.xml"/><Relationship Id="rId11" Type="http://schemas.openxmlformats.org/officeDocument/2006/relationships/slide" Target="slide64.xml"/><Relationship Id="rId5" Type="http://schemas.openxmlformats.org/officeDocument/2006/relationships/slide" Target="slide58.xml"/><Relationship Id="rId15" Type="http://schemas.openxmlformats.org/officeDocument/2006/relationships/slide" Target="slide68.xml"/><Relationship Id="rId10" Type="http://schemas.openxmlformats.org/officeDocument/2006/relationships/slide" Target="slide63.xml"/><Relationship Id="rId4" Type="http://schemas.openxmlformats.org/officeDocument/2006/relationships/slide" Target="slide46.xml"/><Relationship Id="rId9" Type="http://schemas.openxmlformats.org/officeDocument/2006/relationships/slide" Target="slide62.xml"/><Relationship Id="rId14" Type="http://schemas.openxmlformats.org/officeDocument/2006/relationships/slide" Target="slide67.xml"/></Relationships>
</file>

<file path=ppt/slides/_rels/slide43.xml.rels><?xml version="1.0" encoding="UTF-8" standalone="yes"?>
<Relationships xmlns="http://schemas.openxmlformats.org/package/2006/relationships"><Relationship Id="rId3" Type="http://schemas.openxmlformats.org/officeDocument/2006/relationships/slide" Target="slide98.xml"/><Relationship Id="rId2" Type="http://schemas.microsoft.com/office/2018/10/relationships/comments" Target="../comments/modernComment_150_A2A5817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4.xml.rels><?xml version="1.0" encoding="UTF-8" standalone="yes"?>
<Relationships xmlns="http://schemas.openxmlformats.org/package/2006/relationships"><Relationship Id="rId3" Type="http://schemas.openxmlformats.org/officeDocument/2006/relationships/slide" Target="slide98.xml"/><Relationship Id="rId2" Type="http://schemas.microsoft.com/office/2018/10/relationships/comments" Target="../comments/modernComment_14E_812B4AD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slide" Target="slide98.xm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slide" Target="slide98.xm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5.xml.rels><?xml version="1.0" encoding="UTF-8" standalone="yes"?>
<Relationships xmlns="http://schemas.openxmlformats.org/package/2006/relationships"><Relationship Id="rId3" Type="http://schemas.openxmlformats.org/officeDocument/2006/relationships/slide" Target="slide98.xm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6.xml.rels><?xml version="1.0" encoding="UTF-8" standalone="yes"?>
<Relationships xmlns="http://schemas.openxmlformats.org/package/2006/relationships"><Relationship Id="rId3" Type="http://schemas.openxmlformats.org/officeDocument/2006/relationships/slide" Target="slide98.xm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7.xml.rels><?xml version="1.0" encoding="UTF-8" standalone="yes"?>
<Relationships xmlns="http://schemas.openxmlformats.org/package/2006/relationships"><Relationship Id="rId3" Type="http://schemas.openxmlformats.org/officeDocument/2006/relationships/slide" Target="slide98.xm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slide" Target="slide98.xm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1.xml.rels><?xml version="1.0" encoding="UTF-8" standalone="yes"?>
<Relationships xmlns="http://schemas.openxmlformats.org/package/2006/relationships"><Relationship Id="rId3" Type="http://schemas.openxmlformats.org/officeDocument/2006/relationships/slide" Target="slide98.xm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2.xml.rels><?xml version="1.0" encoding="UTF-8" standalone="yes"?>
<Relationships xmlns="http://schemas.openxmlformats.org/package/2006/relationships"><Relationship Id="rId3" Type="http://schemas.openxmlformats.org/officeDocument/2006/relationships/slide" Target="slide98.xm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3.xml.rels><?xml version="1.0" encoding="UTF-8" standalone="yes"?>
<Relationships xmlns="http://schemas.openxmlformats.org/package/2006/relationships"><Relationship Id="rId3" Type="http://schemas.openxmlformats.org/officeDocument/2006/relationships/slide" Target="slide98.xm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4.xml.rels><?xml version="1.0" encoding="UTF-8" standalone="yes"?>
<Relationships xmlns="http://schemas.openxmlformats.org/package/2006/relationships"><Relationship Id="rId3" Type="http://schemas.openxmlformats.org/officeDocument/2006/relationships/slide" Target="slide98.xm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5.xml.rels><?xml version="1.0" encoding="UTF-8" standalone="yes"?>
<Relationships xmlns="http://schemas.openxmlformats.org/package/2006/relationships"><Relationship Id="rId3" Type="http://schemas.openxmlformats.org/officeDocument/2006/relationships/slide" Target="slide98.xm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6.xml.rels><?xml version="1.0" encoding="UTF-8" standalone="yes"?>
<Relationships xmlns="http://schemas.openxmlformats.org/package/2006/relationships"><Relationship Id="rId3" Type="http://schemas.openxmlformats.org/officeDocument/2006/relationships/slide" Target="slide98.xml"/><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7.xml.rels><?xml version="1.0" encoding="UTF-8" standalone="yes"?>
<Relationships xmlns="http://schemas.openxmlformats.org/package/2006/relationships"><Relationship Id="rId3" Type="http://schemas.openxmlformats.org/officeDocument/2006/relationships/slide" Target="slide98.xm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8.xml.rels><?xml version="1.0" encoding="UTF-8" standalone="yes"?>
<Relationships xmlns="http://schemas.openxmlformats.org/package/2006/relationships"><Relationship Id="rId3" Type="http://schemas.openxmlformats.org/officeDocument/2006/relationships/slide" Target="slide98.xm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package" Target="../embeddings/Microsoft_Excel_Worksheet.xlsx"/><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slide" Target="slide8.xml"/><Relationship Id="rId7" Type="http://schemas.openxmlformats.org/officeDocument/2006/relationships/slide" Target="slide17.xml"/><Relationship Id="rId2" Type="http://schemas.openxmlformats.org/officeDocument/2006/relationships/slide" Target="slide7.xml"/><Relationship Id="rId1" Type="http://schemas.openxmlformats.org/officeDocument/2006/relationships/slideLayout" Target="../slideLayouts/slideLayout2.xml"/><Relationship Id="rId6" Type="http://schemas.openxmlformats.org/officeDocument/2006/relationships/slide" Target="slide32.xml"/><Relationship Id="rId5" Type="http://schemas.openxmlformats.org/officeDocument/2006/relationships/slide" Target="slide39.xml"/><Relationship Id="rId4" Type="http://schemas.openxmlformats.org/officeDocument/2006/relationships/slide" Target="slide40.xml"/><Relationship Id="rId9" Type="http://schemas.openxmlformats.org/officeDocument/2006/relationships/slide" Target="slide1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hyperlink" Target="https://easyeda.com/editor#id=67eacdcff3ef4f0daaa2c420b6aae15d" TargetMode="External"/><Relationship Id="rId2" Type="http://schemas.openxmlformats.org/officeDocument/2006/relationships/hyperlink" Target="https://smallcomputercentral.com/wp-content/uploads/2023/04/sc709_v1.0.0_2023-04-17_22-11_schematic.pdf" TargetMode="Externa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8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9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9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9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9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9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slide" Target="slide98.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1.png"/></Relationships>
</file>

<file path=ppt/slides/_rels/slide98.xml.rels><?xml version="1.0" encoding="UTF-8" standalone="yes"?>
<Relationships xmlns="http://schemas.openxmlformats.org/package/2006/relationships"><Relationship Id="rId8" Type="http://schemas.openxmlformats.org/officeDocument/2006/relationships/slide" Target="slide108.xml"/><Relationship Id="rId3" Type="http://schemas.openxmlformats.org/officeDocument/2006/relationships/slide" Target="slide99.xml"/><Relationship Id="rId7" Type="http://schemas.openxmlformats.org/officeDocument/2006/relationships/slide" Target="slide106.xml"/><Relationship Id="rId2" Type="http://schemas.openxmlformats.org/officeDocument/2006/relationships/image" Target="../media/image79.jpeg"/><Relationship Id="rId1" Type="http://schemas.openxmlformats.org/officeDocument/2006/relationships/slideLayout" Target="../slideLayouts/slideLayout1.xml"/><Relationship Id="rId6" Type="http://schemas.openxmlformats.org/officeDocument/2006/relationships/slide" Target="slide107.xml"/><Relationship Id="rId11" Type="http://schemas.openxmlformats.org/officeDocument/2006/relationships/slide" Target="slide105.xml"/><Relationship Id="rId5" Type="http://schemas.openxmlformats.org/officeDocument/2006/relationships/slide" Target="slide104.xml"/><Relationship Id="rId10" Type="http://schemas.openxmlformats.org/officeDocument/2006/relationships/slide" Target="slide103.xml"/><Relationship Id="rId4" Type="http://schemas.openxmlformats.org/officeDocument/2006/relationships/slide" Target="slide102.xml"/><Relationship Id="rId9" Type="http://schemas.openxmlformats.org/officeDocument/2006/relationships/slide" Target="slide101.xml"/></Relationships>
</file>

<file path=ppt/slides/_rels/slide99.xml.rels><?xml version="1.0" encoding="UTF-8" standalone="yes"?>
<Relationships xmlns="http://schemas.openxmlformats.org/package/2006/relationships"><Relationship Id="rId8" Type="http://schemas.openxmlformats.org/officeDocument/2006/relationships/slide" Target="slide103.xml"/><Relationship Id="rId3" Type="http://schemas.openxmlformats.org/officeDocument/2006/relationships/image" Target="../media/image80.png"/><Relationship Id="rId7" Type="http://schemas.openxmlformats.org/officeDocument/2006/relationships/image" Target="../media/image84.png"/><Relationship Id="rId12"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83.png"/><Relationship Id="rId11" Type="http://schemas.openxmlformats.org/officeDocument/2006/relationships/slide" Target="slide98.xml"/><Relationship Id="rId5" Type="http://schemas.openxmlformats.org/officeDocument/2006/relationships/image" Target="../media/image82.png"/><Relationship Id="rId10" Type="http://schemas.openxmlformats.org/officeDocument/2006/relationships/slide" Target="slide104.xml"/><Relationship Id="rId4" Type="http://schemas.openxmlformats.org/officeDocument/2006/relationships/image" Target="../media/image81.png"/><Relationship Id="rId9" Type="http://schemas.openxmlformats.org/officeDocument/2006/relationships/slide" Target="slide101.xml"/></Relationships>
</file>

<file path=ppt/slides/_rels/slide100.xml.rels><?xml version="1.0" encoding="UTF-8" standalone="yes"?>
<Relationships xmlns="http://schemas.openxmlformats.org/package/2006/relationships"><Relationship Id="rId8" Type="http://schemas.openxmlformats.org/officeDocument/2006/relationships/slide" Target="slide103.xml"/><Relationship Id="rId3" Type="http://schemas.openxmlformats.org/officeDocument/2006/relationships/image" Target="../media/image15.png"/><Relationship Id="rId7" Type="http://schemas.openxmlformats.org/officeDocument/2006/relationships/image" Target="../media/image86.png"/><Relationship Id="rId2" Type="http://schemas.microsoft.com/office/2018/10/relationships/comments" Target="../comments/modernComment_102_7DC05F85.xml"/><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83.png"/><Relationship Id="rId10" Type="http://schemas.openxmlformats.org/officeDocument/2006/relationships/slide" Target="slide104.xml"/><Relationship Id="rId4" Type="http://schemas.openxmlformats.org/officeDocument/2006/relationships/image" Target="../media/image85.png"/><Relationship Id="rId9" Type="http://schemas.openxmlformats.org/officeDocument/2006/relationships/slide" Target="slide101.xml"/></Relationships>
</file>

<file path=ppt/slides/_rels/slide10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87.png"/><Relationship Id="rId7" Type="http://schemas.openxmlformats.org/officeDocument/2006/relationships/slide" Target="slide98.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slide" Target="slide104.xml"/><Relationship Id="rId5" Type="http://schemas.openxmlformats.org/officeDocument/2006/relationships/slide" Target="slide103.xml"/><Relationship Id="rId4" Type="http://schemas.openxmlformats.org/officeDocument/2006/relationships/slide" Target="slide99.xml"/></Relationships>
</file>

<file path=ppt/slides/_rels/slide10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88.gif"/><Relationship Id="rId7" Type="http://schemas.openxmlformats.org/officeDocument/2006/relationships/slide" Target="slide98.xml"/><Relationship Id="rId2" Type="http://schemas.microsoft.com/office/2018/10/relationships/comments" Target="../comments/modernComment_123_DD226EE1.xml"/><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90.gif"/><Relationship Id="rId4" Type="http://schemas.openxmlformats.org/officeDocument/2006/relationships/image" Target="../media/image89.png"/></Relationships>
</file>

<file path=ppt/slides/_rels/slide103.xml.rels><?xml version="1.0" encoding="UTF-8" standalone="yes"?>
<Relationships xmlns="http://schemas.openxmlformats.org/package/2006/relationships"><Relationship Id="rId8" Type="http://schemas.openxmlformats.org/officeDocument/2006/relationships/slide" Target="slide103.xml"/><Relationship Id="rId13" Type="http://schemas.openxmlformats.org/officeDocument/2006/relationships/hyperlink" Target="https://www.flickr.com/photos/mitopencourseware/3492197396" TargetMode="External"/><Relationship Id="rId3" Type="http://schemas.openxmlformats.org/officeDocument/2006/relationships/slide" Target="slide106.xml"/><Relationship Id="rId7" Type="http://schemas.openxmlformats.org/officeDocument/2006/relationships/hyperlink" Target="http://electronics.stackexchange.com/questions/196655/build-and-logic-gate-with-7400-ics-nand-in-negative-logic" TargetMode="External"/><Relationship Id="rId12" Type="http://schemas.openxmlformats.org/officeDocument/2006/relationships/image" Target="../media/image94.jpeg"/><Relationship Id="rId17" Type="http://schemas.openxmlformats.org/officeDocument/2006/relationships/image" Target="../media/image1.png"/><Relationship Id="rId2" Type="http://schemas.openxmlformats.org/officeDocument/2006/relationships/image" Target="../media/image92.png"/><Relationship Id="rId16" Type="http://schemas.openxmlformats.org/officeDocument/2006/relationships/slide" Target="slide98.xml"/><Relationship Id="rId1" Type="http://schemas.openxmlformats.org/officeDocument/2006/relationships/slideLayout" Target="../slideLayouts/slideLayout2.xml"/><Relationship Id="rId6" Type="http://schemas.openxmlformats.org/officeDocument/2006/relationships/image" Target="../media/image32.png"/><Relationship Id="rId11" Type="http://schemas.openxmlformats.org/officeDocument/2006/relationships/hyperlink" Target="http://electronics.stackexchange.com/questions/218142/using-cmos-schmitt-trigger-inverters-in-quartz-crystal-oscillator-circuit/218145" TargetMode="External"/><Relationship Id="rId5" Type="http://schemas.openxmlformats.org/officeDocument/2006/relationships/hyperlink" Target="https://liucs.net/cs101s14/n4-logic.html" TargetMode="External"/><Relationship Id="rId15" Type="http://schemas.openxmlformats.org/officeDocument/2006/relationships/image" Target="../media/image96.png"/><Relationship Id="rId10" Type="http://schemas.openxmlformats.org/officeDocument/2006/relationships/image" Target="../media/image93.gif"/><Relationship Id="rId4" Type="http://schemas.openxmlformats.org/officeDocument/2006/relationships/image" Target="../media/image17.png"/><Relationship Id="rId9" Type="http://schemas.openxmlformats.org/officeDocument/2006/relationships/image" Target="../media/image90.gif"/><Relationship Id="rId14" Type="http://schemas.openxmlformats.org/officeDocument/2006/relationships/image" Target="../media/image95.png"/></Relationships>
</file>

<file path=ppt/slides/_rels/slide104.xml.rels><?xml version="1.0" encoding="UTF-8" standalone="yes"?>
<Relationships xmlns="http://schemas.openxmlformats.org/package/2006/relationships"><Relationship Id="rId8" Type="http://schemas.openxmlformats.org/officeDocument/2006/relationships/hyperlink" Target="http://electronics.stackexchange.com/questions/125384/making-2-input-and-gate-2-input-or-gate-and-not-gate-using-only-the-sand-gate" TargetMode="External"/><Relationship Id="rId3" Type="http://schemas.openxmlformats.org/officeDocument/2006/relationships/slide" Target="slide106.xml"/><Relationship Id="rId7"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slide" Target="slide103.xml"/><Relationship Id="rId5" Type="http://schemas.openxmlformats.org/officeDocument/2006/relationships/hyperlink" Target="http://electronics.stackexchange.com/questions/196655/build-and-logic-gate-with-7400-ics-nand-in-negative-logic" TargetMode="External"/><Relationship Id="rId4" Type="http://schemas.openxmlformats.org/officeDocument/2006/relationships/image" Target="../media/image32.png"/><Relationship Id="rId9" Type="http://schemas.openxmlformats.org/officeDocument/2006/relationships/slide" Target="slide105.xml"/></Relationships>
</file>

<file path=ppt/slides/_rels/slide105.xml.rels><?xml version="1.0" encoding="UTF-8" standalone="yes"?>
<Relationships xmlns="http://schemas.openxmlformats.org/package/2006/relationships"><Relationship Id="rId8" Type="http://schemas.openxmlformats.org/officeDocument/2006/relationships/slide" Target="slide103.xml"/><Relationship Id="rId3" Type="http://schemas.openxmlformats.org/officeDocument/2006/relationships/image" Target="../media/image50.png"/><Relationship Id="rId7" Type="http://schemas.openxmlformats.org/officeDocument/2006/relationships/hyperlink" Target="http://electronics.stackexchange.com/questions/196655/build-and-logic-gate-with-7400-ics-nand-in-negative-logic" TargetMode="External"/><Relationship Id="rId2" Type="http://schemas.openxmlformats.org/officeDocument/2006/relationships/slide" Target="slide104.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hyperlink" Target="https://simple.wikipedia.org/wiki/Logic_gate" TargetMode="External"/><Relationship Id="rId4" Type="http://schemas.openxmlformats.org/officeDocument/2006/relationships/image" Target="../media/image51.png"/></Relationships>
</file>

<file path=ppt/slides/_rels/slide10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30.png"/><Relationship Id="rId7" Type="http://schemas.openxmlformats.org/officeDocument/2006/relationships/slide" Target="slide98.xml"/><Relationship Id="rId2" Type="http://schemas.openxmlformats.org/officeDocument/2006/relationships/slide" Target="slide107.xml"/><Relationship Id="rId1" Type="http://schemas.openxmlformats.org/officeDocument/2006/relationships/slideLayout" Target="../slideLayouts/slideLayout2.xml"/><Relationship Id="rId6" Type="http://schemas.openxmlformats.org/officeDocument/2006/relationships/hyperlink" Target="http://it.wikibooks.org/wiki/File:Xor-gate-en.svg" TargetMode="External"/><Relationship Id="rId5" Type="http://schemas.openxmlformats.org/officeDocument/2006/relationships/image" Target="../media/image48.png"/><Relationship Id="rId4" Type="http://schemas.openxmlformats.org/officeDocument/2006/relationships/hyperlink" Target="https://commons.wikimedia.org/wiki/Category:NOR_gate_symbols" TargetMode="External"/></Relationships>
</file>

<file path=ppt/slides/_rels/slide107.xml.rels><?xml version="1.0" encoding="UTF-8" standalone="yes"?>
<Relationships xmlns="http://schemas.openxmlformats.org/package/2006/relationships"><Relationship Id="rId3" Type="http://schemas.openxmlformats.org/officeDocument/2006/relationships/slide" Target="slide98.xml"/><Relationship Id="rId2" Type="http://schemas.openxmlformats.org/officeDocument/2006/relationships/slide" Target="slide10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08.xml.rels><?xml version="1.0" encoding="UTF-8" standalone="yes"?>
<Relationships xmlns="http://schemas.openxmlformats.org/package/2006/relationships"><Relationship Id="rId8" Type="http://schemas.openxmlformats.org/officeDocument/2006/relationships/slide" Target="slide98.xml"/><Relationship Id="rId3" Type="http://schemas.openxmlformats.org/officeDocument/2006/relationships/image" Target="../media/image11.png"/><Relationship Id="rId7" Type="http://schemas.openxmlformats.org/officeDocument/2006/relationships/slide" Target="slide103.xm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19.png"/><Relationship Id="rId4" Type="http://schemas.openxmlformats.org/officeDocument/2006/relationships/hyperlink" Target="http://electronics.stackexchange.com/questions/125384/making-2-input-and-gate-2-input-or-gate-and-not-gate-using-only-the-sand-gate" TargetMode="External"/><Relationship Id="rId9" Type="http://schemas.openxmlformats.org/officeDocument/2006/relationships/image" Target="../media/image1.png"/></Relationships>
</file>

<file path=ppt/slides/_rels/slide109.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52.jpeg"/><Relationship Id="rId7" Type="http://schemas.openxmlformats.org/officeDocument/2006/relationships/slide" Target="slide104.xml"/><Relationship Id="rId2" Type="http://schemas.openxmlformats.org/officeDocument/2006/relationships/slide" Target="slide110.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png"/><Relationship Id="rId10" Type="http://schemas.openxmlformats.org/officeDocument/2006/relationships/image" Target="../media/image1.png"/><Relationship Id="rId4" Type="http://schemas.openxmlformats.org/officeDocument/2006/relationships/image" Target="../media/image53.jpeg"/><Relationship Id="rId9" Type="http://schemas.openxmlformats.org/officeDocument/2006/relationships/slide" Target="slide98.xml"/></Relationships>
</file>

<file path=ppt/slides/_rels/slide11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slide" Target="slide109.xml"/><Relationship Id="rId7" Type="http://schemas.openxmlformats.org/officeDocument/2006/relationships/hyperlink" Target="http://electronics.stackexchange.com/questions/125384/making-2-input-and-gate-2-input-or-gate-and-not-gate-using-only-the-sand-gate" TargetMode="External"/><Relationship Id="rId12" Type="http://schemas.openxmlformats.org/officeDocument/2006/relationships/image" Target="../media/image1.png"/><Relationship Id="rId2" Type="http://schemas.microsoft.com/office/2018/10/relationships/comments" Target="../comments/modernComment_132_7EF51595.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slide" Target="slide98.xml"/><Relationship Id="rId5" Type="http://schemas.openxmlformats.org/officeDocument/2006/relationships/slide" Target="slide106.xml"/><Relationship Id="rId10" Type="http://schemas.openxmlformats.org/officeDocument/2006/relationships/image" Target="../media/image33.png"/><Relationship Id="rId4" Type="http://schemas.openxmlformats.org/officeDocument/2006/relationships/slide" Target="slide103.xml"/><Relationship Id="rId9" Type="http://schemas.openxmlformats.org/officeDocument/2006/relationships/hyperlink" Target="https://liucs.net/cs101s14/n4-logic.html" TargetMode="External"/></Relationships>
</file>

<file path=ppt/slides/_rels/slide1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slide" Target="slide98.xml"/><Relationship Id="rId2" Type="http://schemas.microsoft.com/office/2018/10/relationships/comments" Target="../comments/modernComment_107_E0C6783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8.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99.jpeg"/></Relationships>
</file>

<file path=ppt/slides/_rels/slide139.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9D606-E048-4299-802F-1E3F7A1C1E08}"/>
              </a:ext>
            </a:extLst>
          </p:cNvPr>
          <p:cNvSpPr>
            <a:spLocks noGrp="1"/>
          </p:cNvSpPr>
          <p:nvPr>
            <p:ph type="ctrTitle"/>
          </p:nvPr>
        </p:nvSpPr>
        <p:spPr>
          <a:xfrm>
            <a:off x="1644581" y="2679857"/>
            <a:ext cx="2013020" cy="2387600"/>
          </a:xfrm>
          <a:prstGeom prst="rect">
            <a:avLst/>
          </a:prstGeom>
        </p:spPr>
        <p:txBody>
          <a:bodyPr/>
          <a:lstStyle/>
          <a:p>
            <a:r>
              <a:rPr lang="en-US" dirty="0"/>
              <a:t>And the Name</a:t>
            </a:r>
            <a:br>
              <a:rPr lang="en-US" dirty="0"/>
            </a:br>
            <a:r>
              <a:rPr lang="en-US" dirty="0"/>
              <a:t>…</a:t>
            </a:r>
          </a:p>
        </p:txBody>
      </p:sp>
      <p:pic>
        <p:nvPicPr>
          <p:cNvPr id="5" name="Picture 4">
            <a:extLst>
              <a:ext uri="{FF2B5EF4-FFF2-40B4-BE49-F238E27FC236}">
                <a16:creationId xmlns:a16="http://schemas.microsoft.com/office/drawing/2014/main" id="{115F6FE8-C373-E8FF-EBA0-988685C066AC}"/>
              </a:ext>
            </a:extLst>
          </p:cNvPr>
          <p:cNvPicPr>
            <a:picLocks noChangeAspect="1"/>
          </p:cNvPicPr>
          <p:nvPr/>
        </p:nvPicPr>
        <p:blipFill>
          <a:blip r:embed="rId3"/>
          <a:stretch>
            <a:fillRect/>
          </a:stretch>
        </p:blipFill>
        <p:spPr>
          <a:xfrm>
            <a:off x="5115141" y="1164153"/>
            <a:ext cx="6169159" cy="4350977"/>
          </a:xfrm>
          <a:prstGeom prst="rect">
            <a:avLst/>
          </a:prstGeom>
        </p:spPr>
      </p:pic>
    </p:spTree>
    <p:extLst>
      <p:ext uri="{BB962C8B-B14F-4D97-AF65-F5344CB8AC3E}">
        <p14:creationId xmlns:p14="http://schemas.microsoft.com/office/powerpoint/2010/main" val="320004074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B6B63-6D44-CC4E-8BE5-8CD9CE904F17}"/>
              </a:ext>
            </a:extLst>
          </p:cNvPr>
          <p:cNvSpPr>
            <a:spLocks noGrp="1"/>
          </p:cNvSpPr>
          <p:nvPr>
            <p:ph type="ctrTitle"/>
          </p:nvPr>
        </p:nvSpPr>
        <p:spPr>
          <a:xfrm>
            <a:off x="1524000" y="1122363"/>
            <a:ext cx="9144000" cy="2387600"/>
          </a:xfrm>
          <a:prstGeom prst="rect">
            <a:avLst/>
          </a:prstGeom>
        </p:spPr>
        <p:txBody>
          <a:bodyPr/>
          <a:lstStyle/>
          <a:p>
            <a:endParaRPr lang="en-US"/>
          </a:p>
        </p:txBody>
      </p:sp>
      <p:sp>
        <p:nvSpPr>
          <p:cNvPr id="3" name="Subtitle 2">
            <a:extLst>
              <a:ext uri="{FF2B5EF4-FFF2-40B4-BE49-F238E27FC236}">
                <a16:creationId xmlns:a16="http://schemas.microsoft.com/office/drawing/2014/main" id="{0E63B440-AC84-60D7-47FC-1C7BE98A0160}"/>
              </a:ext>
            </a:extLst>
          </p:cNvPr>
          <p:cNvSpPr>
            <a:spLocks noGrp="1"/>
          </p:cNvSpPr>
          <p:nvPr>
            <p:ph type="subTitle" idx="4294967295"/>
          </p:nvPr>
        </p:nvSpPr>
        <p:spPr>
          <a:xfrm>
            <a:off x="1524000" y="3602037"/>
            <a:ext cx="9144000" cy="1655763"/>
          </a:xfrm>
          <a:prstGeom prst="rect">
            <a:avLst/>
          </a:prstGeom>
        </p:spPr>
        <p:txBody>
          <a:bodyPr/>
          <a:lstStyle/>
          <a:p>
            <a:endParaRPr lang="en-US"/>
          </a:p>
        </p:txBody>
      </p:sp>
      <p:grpSp>
        <p:nvGrpSpPr>
          <p:cNvPr id="10" name="Group 9">
            <a:extLst>
              <a:ext uri="{FF2B5EF4-FFF2-40B4-BE49-F238E27FC236}">
                <a16:creationId xmlns:a16="http://schemas.microsoft.com/office/drawing/2014/main" id="{1C70C531-2EF9-A8D0-4ADB-0DE18D615C29}"/>
              </a:ext>
            </a:extLst>
          </p:cNvPr>
          <p:cNvGrpSpPr/>
          <p:nvPr/>
        </p:nvGrpSpPr>
        <p:grpSpPr>
          <a:xfrm>
            <a:off x="0" y="-1088427"/>
            <a:ext cx="12192000" cy="7946427"/>
            <a:chOff x="0" y="-1088426"/>
            <a:chExt cx="12192000" cy="7946426"/>
          </a:xfrm>
        </p:grpSpPr>
        <p:pic>
          <p:nvPicPr>
            <p:cNvPr id="2050" name="Picture 2" descr="Bifrost [3840x2160] : r/wallpaper">
              <a:extLst>
                <a:ext uri="{FF2B5EF4-FFF2-40B4-BE49-F238E27FC236}">
                  <a16:creationId xmlns:a16="http://schemas.microsoft.com/office/drawing/2014/main" id="{7F9671C8-9F07-6877-B282-579C7C2499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0800000" flipV="1">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6C24C1AE-605E-E419-7FD5-28F2165F7670}"/>
                </a:ext>
              </a:extLst>
            </p:cNvPr>
            <p:cNvPicPr>
              <a:picLocks noChangeAspect="1"/>
            </p:cNvPicPr>
            <p:nvPr/>
          </p:nvPicPr>
          <p:blipFill rotWithShape="1">
            <a:blip r:embed="rId3">
              <a:extLst>
                <a:ext uri="{28A0092B-C50C-407E-A947-70E740481C1C}">
                  <a14:useLocalDpi xmlns:a14="http://schemas.microsoft.com/office/drawing/2010/main" val="0"/>
                </a:ext>
              </a:extLst>
            </a:blip>
            <a:srcRect t="5165" r="41194"/>
            <a:stretch/>
          </p:blipFill>
          <p:spPr>
            <a:xfrm rot="5400000">
              <a:off x="3250157" y="-2205682"/>
              <a:ext cx="5377251" cy="7611764"/>
            </a:xfrm>
            <a:prstGeom prst="rect">
              <a:avLst/>
            </a:prstGeom>
          </p:spPr>
        </p:pic>
        <p:sp>
          <p:nvSpPr>
            <p:cNvPr id="9" name="Rectangle 8">
              <a:extLst>
                <a:ext uri="{FF2B5EF4-FFF2-40B4-BE49-F238E27FC236}">
                  <a16:creationId xmlns:a16="http://schemas.microsoft.com/office/drawing/2014/main" id="{857AAEED-C8BB-20EC-B830-C45CF56D6AB5}"/>
                </a:ext>
              </a:extLst>
            </p:cNvPr>
            <p:cNvSpPr/>
            <p:nvPr/>
          </p:nvSpPr>
          <p:spPr>
            <a:xfrm>
              <a:off x="3166802" y="3994796"/>
              <a:ext cx="5858399" cy="1862048"/>
            </a:xfrm>
            <a:prstGeom prst="rect">
              <a:avLst/>
            </a:prstGeom>
            <a:noFill/>
            <a:effectLst/>
          </p:spPr>
          <p:txBody>
            <a:bodyPr wrap="none" lIns="91440" tIns="45720" rIns="91440" bIns="45720">
              <a:spAutoFit/>
            </a:bodyPr>
            <a:lstStyle/>
            <a:p>
              <a:pPr algn="ctr"/>
              <a:r>
                <a:rPr lang="en-US" sz="11500">
                  <a:ln w="19050">
                    <a:solidFill>
                      <a:srgbClr val="002060"/>
                    </a:solidFill>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30000" endPos="45500" dir="5400000" sy="-100000" algn="bl" rotWithShape="0"/>
                  </a:effectLst>
                </a:rPr>
                <a:t>ByteFrost</a:t>
              </a:r>
            </a:p>
          </p:txBody>
        </p:sp>
      </p:grpSp>
    </p:spTree>
    <p:extLst>
      <p:ext uri="{BB962C8B-B14F-4D97-AF65-F5344CB8AC3E}">
        <p14:creationId xmlns:p14="http://schemas.microsoft.com/office/powerpoint/2010/main" val="3729862805"/>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46B08484-5A12-A806-1C24-64F0C0242B11}"/>
              </a:ext>
            </a:extLst>
          </p:cNvPr>
          <p:cNvSpPr>
            <a:spLocks noGrp="1"/>
          </p:cNvSpPr>
          <p:nvPr>
            <p:ph type="ctrTitle"/>
          </p:nvPr>
        </p:nvSpPr>
        <p:spPr/>
        <p:txBody>
          <a:bodyPr/>
          <a:lstStyle/>
          <a:p>
            <a:r>
              <a:rPr lang="en-US" dirty="0"/>
              <a:t>ByteFrost Addressing Modes</a:t>
            </a:r>
          </a:p>
        </p:txBody>
      </p:sp>
      <p:sp>
        <p:nvSpPr>
          <p:cNvPr id="18" name="Rectangle: Rounded Corners 17">
            <a:extLst>
              <a:ext uri="{FF2B5EF4-FFF2-40B4-BE49-F238E27FC236}">
                <a16:creationId xmlns:a16="http://schemas.microsoft.com/office/drawing/2014/main" id="{C42DC5A7-7C36-7F97-84D2-C677316F1FBB}"/>
              </a:ext>
            </a:extLst>
          </p:cNvPr>
          <p:cNvSpPr/>
          <p:nvPr/>
        </p:nvSpPr>
        <p:spPr>
          <a:xfrm>
            <a:off x="260350" y="1150938"/>
            <a:ext cx="1250950" cy="45720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Immediate</a:t>
            </a:r>
          </a:p>
        </p:txBody>
      </p:sp>
      <p:sp>
        <p:nvSpPr>
          <p:cNvPr id="19" name="Rectangle: Rounded Corners 18">
            <a:extLst>
              <a:ext uri="{FF2B5EF4-FFF2-40B4-BE49-F238E27FC236}">
                <a16:creationId xmlns:a16="http://schemas.microsoft.com/office/drawing/2014/main" id="{A1ECC06E-6D94-4982-D6A0-A0F632887311}"/>
              </a:ext>
            </a:extLst>
          </p:cNvPr>
          <p:cNvSpPr/>
          <p:nvPr/>
        </p:nvSpPr>
        <p:spPr>
          <a:xfrm>
            <a:off x="260350" y="3003549"/>
            <a:ext cx="1333500" cy="665691"/>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General Register</a:t>
            </a:r>
          </a:p>
        </p:txBody>
      </p:sp>
      <p:sp>
        <p:nvSpPr>
          <p:cNvPr id="20" name="Rectangle: Rounded Corners 19">
            <a:extLst>
              <a:ext uri="{FF2B5EF4-FFF2-40B4-BE49-F238E27FC236}">
                <a16:creationId xmlns:a16="http://schemas.microsoft.com/office/drawing/2014/main" id="{CE550D93-7DAC-9402-5679-B0F1880DF298}"/>
              </a:ext>
            </a:extLst>
          </p:cNvPr>
          <p:cNvSpPr/>
          <p:nvPr/>
        </p:nvSpPr>
        <p:spPr>
          <a:xfrm>
            <a:off x="3128010" y="2964533"/>
            <a:ext cx="1250950" cy="665691"/>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Address Register</a:t>
            </a:r>
          </a:p>
        </p:txBody>
      </p:sp>
      <p:sp>
        <p:nvSpPr>
          <p:cNvPr id="21" name="Rectangle: Rounded Corners 20">
            <a:extLst>
              <a:ext uri="{FF2B5EF4-FFF2-40B4-BE49-F238E27FC236}">
                <a16:creationId xmlns:a16="http://schemas.microsoft.com/office/drawing/2014/main" id="{874C28B6-9AF0-978E-89B5-FC5C3FCEDF97}"/>
              </a:ext>
            </a:extLst>
          </p:cNvPr>
          <p:cNvSpPr/>
          <p:nvPr/>
        </p:nvSpPr>
        <p:spPr>
          <a:xfrm>
            <a:off x="2917824" y="1114953"/>
            <a:ext cx="1250950" cy="550333"/>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Memory</a:t>
            </a:r>
          </a:p>
        </p:txBody>
      </p:sp>
      <p:sp>
        <p:nvSpPr>
          <p:cNvPr id="24" name="Rectangle 23">
            <a:extLst>
              <a:ext uri="{FF2B5EF4-FFF2-40B4-BE49-F238E27FC236}">
                <a16:creationId xmlns:a16="http://schemas.microsoft.com/office/drawing/2014/main" id="{8DB783A9-4321-3CC2-5760-C72F437A4B36}"/>
              </a:ext>
            </a:extLst>
          </p:cNvPr>
          <p:cNvSpPr/>
          <p:nvPr/>
        </p:nvSpPr>
        <p:spPr>
          <a:xfrm>
            <a:off x="5913120" y="95250"/>
            <a:ext cx="6209030" cy="2990850"/>
          </a:xfrm>
          <a:prstGeom prst="rect">
            <a:avLst/>
          </a:prstGeom>
          <a:solidFill>
            <a:schemeClr val="accent6">
              <a:lumMod val="40000"/>
              <a:lumOff val="60000"/>
            </a:schemeClr>
          </a:solidFill>
        </p:spPr>
        <p:style>
          <a:lnRef idx="1">
            <a:schemeClr val="accent6"/>
          </a:lnRef>
          <a:fillRef idx="2">
            <a:schemeClr val="accent6"/>
          </a:fillRef>
          <a:effectRef idx="1">
            <a:schemeClr val="accent6"/>
          </a:effectRef>
          <a:fontRef idx="minor">
            <a:schemeClr val="dk1"/>
          </a:fontRef>
        </p:style>
        <p:txBody>
          <a:bodyPr rtlCol="0" anchor="ctr"/>
          <a:lstStyle/>
          <a:p>
            <a:r>
              <a:rPr lang="en-US" sz="1400" dirty="0"/>
              <a:t>There are four forms of memory in the ByteFrost – Immediates (read-only), General-Purpose Registers (R0 – R3), Address Registers (DP, SP, PC), and Memory (64KB divided into ROM, RAM, and MMIO regions)</a:t>
            </a:r>
          </a:p>
          <a:p>
            <a:endParaRPr lang="en-US" sz="1400" dirty="0"/>
          </a:p>
          <a:p>
            <a:r>
              <a:rPr lang="en-US" sz="1400" dirty="0"/>
              <a:t>Every solid directed edge (u, v) in the following graph means that memory u can write to memory v with a dedicated instruction.</a:t>
            </a:r>
          </a:p>
          <a:p>
            <a:endParaRPr lang="en-US" sz="1400" dirty="0"/>
          </a:p>
          <a:p>
            <a:r>
              <a:rPr lang="en-US" sz="1400" dirty="0"/>
              <a:t>Every dotted directed edge (u, v) means that the memory u can write to memory v indirectly (i.e., a path exists from u to v but requires multiple instructions to implement).</a:t>
            </a:r>
          </a:p>
          <a:p>
            <a:endParaRPr lang="en-US" sz="1400" dirty="0"/>
          </a:p>
          <a:p>
            <a:r>
              <a:rPr lang="en-US" sz="1400" dirty="0"/>
              <a:t>There are technically 4 x 4 = 16 possible permutations here, but as immediates are read-only, there are in effect only 3 x 4 = 12 possible permutations.</a:t>
            </a:r>
          </a:p>
          <a:p>
            <a:r>
              <a:rPr lang="en-US" sz="1400" dirty="0"/>
              <a:t>Instructions with an asterisk (*) are currently not implemented.</a:t>
            </a:r>
          </a:p>
        </p:txBody>
      </p:sp>
      <p:graphicFrame>
        <p:nvGraphicFramePr>
          <p:cNvPr id="27" name="Table 26">
            <a:extLst>
              <a:ext uri="{FF2B5EF4-FFF2-40B4-BE49-F238E27FC236}">
                <a16:creationId xmlns:a16="http://schemas.microsoft.com/office/drawing/2014/main" id="{B9D72DB4-403F-54A3-516D-5075DA5F80B5}"/>
              </a:ext>
            </a:extLst>
          </p:cNvPr>
          <p:cNvGraphicFramePr>
            <a:graphicFrameLocks noGrp="1"/>
          </p:cNvGraphicFramePr>
          <p:nvPr>
            <p:extLst>
              <p:ext uri="{D42A27DB-BD31-4B8C-83A1-F6EECF244321}">
                <p14:modId xmlns:p14="http://schemas.microsoft.com/office/powerpoint/2010/main" val="1248454026"/>
              </p:ext>
            </p:extLst>
          </p:nvPr>
        </p:nvGraphicFramePr>
        <p:xfrm>
          <a:off x="199388" y="4321581"/>
          <a:ext cx="4179572" cy="2407696"/>
        </p:xfrm>
        <a:graphic>
          <a:graphicData uri="http://schemas.openxmlformats.org/drawingml/2006/table">
            <a:tbl>
              <a:tblPr firstRow="1" bandRow="1">
                <a:tableStyleId>{5C22544A-7EE6-4342-B048-85BDC9FD1C3A}</a:tableStyleId>
              </a:tblPr>
              <a:tblGrid>
                <a:gridCol w="373144">
                  <a:extLst>
                    <a:ext uri="{9D8B030D-6E8A-4147-A177-3AD203B41FA5}">
                      <a16:colId xmlns:a16="http://schemas.microsoft.com/office/drawing/2014/main" val="2862739801"/>
                    </a:ext>
                  </a:extLst>
                </a:gridCol>
                <a:gridCol w="492210">
                  <a:extLst>
                    <a:ext uri="{9D8B030D-6E8A-4147-A177-3AD203B41FA5}">
                      <a16:colId xmlns:a16="http://schemas.microsoft.com/office/drawing/2014/main" val="877928214"/>
                    </a:ext>
                  </a:extLst>
                </a:gridCol>
                <a:gridCol w="1026610">
                  <a:extLst>
                    <a:ext uri="{9D8B030D-6E8A-4147-A177-3AD203B41FA5}">
                      <a16:colId xmlns:a16="http://schemas.microsoft.com/office/drawing/2014/main" val="1620786568"/>
                    </a:ext>
                  </a:extLst>
                </a:gridCol>
                <a:gridCol w="2287608">
                  <a:extLst>
                    <a:ext uri="{9D8B030D-6E8A-4147-A177-3AD203B41FA5}">
                      <a16:colId xmlns:a16="http://schemas.microsoft.com/office/drawing/2014/main" val="3112057589"/>
                    </a:ext>
                  </a:extLst>
                </a:gridCol>
              </a:tblGrid>
              <a:tr h="558433">
                <a:tc>
                  <a:txBody>
                    <a:bodyPr/>
                    <a:lstStyle/>
                    <a:p>
                      <a:r>
                        <a:rPr lang="en-US" sz="1000" dirty="0"/>
                        <a:t>Dest</a:t>
                      </a:r>
                    </a:p>
                  </a:txBody>
                  <a:tcPr/>
                </a:tc>
                <a:tc>
                  <a:txBody>
                    <a:bodyPr/>
                    <a:lstStyle/>
                    <a:p>
                      <a:r>
                        <a:rPr lang="en-US" sz="1000" dirty="0" err="1"/>
                        <a:t>Src</a:t>
                      </a:r>
                      <a:endParaRPr lang="en-US" sz="1000" dirty="0"/>
                    </a:p>
                  </a:txBody>
                  <a:tcPr/>
                </a:tc>
                <a:tc>
                  <a:txBody>
                    <a:bodyPr/>
                    <a:lstStyle/>
                    <a:p>
                      <a:r>
                        <a:rPr lang="en-US" sz="1000" dirty="0"/>
                        <a:t>Dedicated Instruction?</a:t>
                      </a:r>
                    </a:p>
                  </a:txBody>
                  <a:tcPr/>
                </a:tc>
                <a:tc>
                  <a:txBody>
                    <a:bodyPr/>
                    <a:lstStyle/>
                    <a:p>
                      <a:r>
                        <a:rPr lang="en-US" sz="1000" dirty="0"/>
                        <a:t>Form(s)</a:t>
                      </a:r>
                    </a:p>
                  </a:txBody>
                  <a:tcPr/>
                </a:tc>
                <a:extLst>
                  <a:ext uri="{0D108BD9-81ED-4DB2-BD59-A6C34878D82A}">
                    <a16:rowId xmlns:a16="http://schemas.microsoft.com/office/drawing/2014/main" val="2409673025"/>
                  </a:ext>
                </a:extLst>
              </a:tr>
              <a:tr h="433541">
                <a:tc>
                  <a:txBody>
                    <a:bodyPr/>
                    <a:lstStyle/>
                    <a:p>
                      <a:r>
                        <a:rPr lang="en-US" sz="1000" dirty="0"/>
                        <a:t>GR</a:t>
                      </a:r>
                    </a:p>
                  </a:txBody>
                  <a:tcPr/>
                </a:tc>
                <a:tc>
                  <a:txBody>
                    <a:bodyPr/>
                    <a:lstStyle/>
                    <a:p>
                      <a:r>
                        <a:rPr lang="en-US" sz="1000" dirty="0"/>
                        <a:t>Imm</a:t>
                      </a:r>
                    </a:p>
                  </a:txBody>
                  <a:tcPr/>
                </a:tc>
                <a:tc>
                  <a:txBody>
                    <a:bodyPr/>
                    <a:lstStyle/>
                    <a:p>
                      <a:r>
                        <a:rPr lang="en-US" sz="1000" dirty="0"/>
                        <a:t>Yes (LDR)</a:t>
                      </a:r>
                    </a:p>
                  </a:txBody>
                  <a:tcPr/>
                </a:tc>
                <a:tc>
                  <a:txBody>
                    <a:bodyPr/>
                    <a:lstStyle/>
                    <a:p>
                      <a:r>
                        <a:rPr lang="en-US" sz="1000" dirty="0"/>
                        <a:t>Rd = Imm_8</a:t>
                      </a:r>
                    </a:p>
                    <a:p>
                      <a:r>
                        <a:rPr lang="en-US" sz="1000" dirty="0"/>
                        <a:t>(LDR Rd, Imm)</a:t>
                      </a:r>
                    </a:p>
                  </a:txBody>
                  <a:tcPr/>
                </a:tc>
                <a:extLst>
                  <a:ext uri="{0D108BD9-81ED-4DB2-BD59-A6C34878D82A}">
                    <a16:rowId xmlns:a16="http://schemas.microsoft.com/office/drawing/2014/main" val="1813460202"/>
                  </a:ext>
                </a:extLst>
              </a:tr>
              <a:tr h="433541">
                <a:tc>
                  <a:txBody>
                    <a:bodyPr/>
                    <a:lstStyle/>
                    <a:p>
                      <a:r>
                        <a:rPr lang="en-US" sz="1000" dirty="0"/>
                        <a:t>GR</a:t>
                      </a:r>
                    </a:p>
                  </a:txBody>
                  <a:tcPr/>
                </a:tc>
                <a:tc>
                  <a:txBody>
                    <a:bodyPr/>
                    <a:lstStyle/>
                    <a:p>
                      <a:r>
                        <a:rPr lang="en-US" sz="1000" dirty="0"/>
                        <a:t>GR</a:t>
                      </a:r>
                    </a:p>
                  </a:txBody>
                  <a:tcPr/>
                </a:tc>
                <a:tc>
                  <a:txBody>
                    <a:bodyPr/>
                    <a:lstStyle/>
                    <a:p>
                      <a:r>
                        <a:rPr lang="en-US" sz="1000" dirty="0"/>
                        <a:t>Yes (MOV)</a:t>
                      </a:r>
                    </a:p>
                  </a:txBody>
                  <a:tcPr/>
                </a:tc>
                <a:tc>
                  <a:txBody>
                    <a:bodyPr/>
                    <a:lstStyle/>
                    <a:p>
                      <a:r>
                        <a:rPr lang="en-US" sz="1000" dirty="0"/>
                        <a:t>Rd = Rs</a:t>
                      </a:r>
                    </a:p>
                    <a:p>
                      <a:r>
                        <a:rPr lang="en-US" sz="1000" dirty="0"/>
                        <a:t>(MOV Rd, Rs)</a:t>
                      </a:r>
                    </a:p>
                  </a:txBody>
                  <a:tcPr/>
                </a:tc>
                <a:extLst>
                  <a:ext uri="{0D108BD9-81ED-4DB2-BD59-A6C34878D82A}">
                    <a16:rowId xmlns:a16="http://schemas.microsoft.com/office/drawing/2014/main" val="4238323"/>
                  </a:ext>
                </a:extLst>
              </a:tr>
              <a:tr h="433541">
                <a:tc>
                  <a:txBody>
                    <a:bodyPr/>
                    <a:lstStyle/>
                    <a:p>
                      <a:r>
                        <a:rPr lang="en-US" sz="1000" dirty="0"/>
                        <a:t>GR</a:t>
                      </a:r>
                    </a:p>
                  </a:txBody>
                  <a:tcPr/>
                </a:tc>
                <a:tc>
                  <a:txBody>
                    <a:bodyPr/>
                    <a:lstStyle/>
                    <a:p>
                      <a:r>
                        <a:rPr lang="en-US" sz="1000" dirty="0"/>
                        <a:t>AR</a:t>
                      </a:r>
                    </a:p>
                  </a:txBody>
                  <a:tcPr/>
                </a:tc>
                <a:tc>
                  <a:txBody>
                    <a:bodyPr/>
                    <a:lstStyle/>
                    <a:p>
                      <a:r>
                        <a:rPr lang="en-US" sz="1000" dirty="0"/>
                        <a:t>Yes (MVA*)</a:t>
                      </a:r>
                    </a:p>
                  </a:txBody>
                  <a:tcPr/>
                </a:tc>
                <a:tc>
                  <a:txBody>
                    <a:bodyPr/>
                    <a:lstStyle/>
                    <a:p>
                      <a:r>
                        <a:rPr lang="en-US" sz="1000" dirty="0"/>
                        <a:t>Rd = AR[</a:t>
                      </a:r>
                      <a:r>
                        <a:rPr lang="en-US" sz="1000" dirty="0" err="1"/>
                        <a:t>i</a:t>
                      </a:r>
                      <a:r>
                        <a:rPr lang="en-US" sz="1000" dirty="0"/>
                        <a:t>][L/H]</a:t>
                      </a:r>
                    </a:p>
                    <a:p>
                      <a:r>
                        <a:rPr lang="en-US" sz="1000" dirty="0"/>
                        <a:t>(MVA Rd, %L/RAR)</a:t>
                      </a:r>
                    </a:p>
                  </a:txBody>
                  <a:tcPr/>
                </a:tc>
                <a:extLst>
                  <a:ext uri="{0D108BD9-81ED-4DB2-BD59-A6C34878D82A}">
                    <a16:rowId xmlns:a16="http://schemas.microsoft.com/office/drawing/2014/main" val="3392672825"/>
                  </a:ext>
                </a:extLst>
              </a:tr>
              <a:tr h="433541">
                <a:tc>
                  <a:txBody>
                    <a:bodyPr/>
                    <a:lstStyle/>
                    <a:p>
                      <a:r>
                        <a:rPr lang="en-US" sz="1000" dirty="0"/>
                        <a:t>GR</a:t>
                      </a:r>
                    </a:p>
                  </a:txBody>
                  <a:tcPr/>
                </a:tc>
                <a:tc>
                  <a:txBody>
                    <a:bodyPr/>
                    <a:lstStyle/>
                    <a:p>
                      <a:r>
                        <a:rPr lang="en-US" sz="1000" dirty="0"/>
                        <a:t>Memory</a:t>
                      </a:r>
                    </a:p>
                  </a:txBody>
                  <a:tcPr/>
                </a:tc>
                <a:tc>
                  <a:txBody>
                    <a:bodyPr/>
                    <a:lstStyle/>
                    <a:p>
                      <a:r>
                        <a:rPr lang="en-US" sz="1000" dirty="0"/>
                        <a:t>Yes (LMA, LMR, LMO*)</a:t>
                      </a:r>
                    </a:p>
                  </a:txBody>
                  <a:tcPr/>
                </a:tc>
                <a:tc>
                  <a:txBody>
                    <a:bodyPr/>
                    <a:lstStyle/>
                    <a:p>
                      <a:r>
                        <a:rPr lang="en-US" sz="1000" dirty="0"/>
                        <a:t>(LMA) Rd = *{%HDP, Imm}</a:t>
                      </a:r>
                    </a:p>
                    <a:p>
                      <a:r>
                        <a:rPr lang="en-US" sz="1000" dirty="0"/>
                        <a:t>(LMR) Rd = *{%HDP, Rs}</a:t>
                      </a:r>
                    </a:p>
                    <a:p>
                      <a:r>
                        <a:rPr lang="en-US" sz="1000" dirty="0"/>
                        <a:t>(LMO) Rd = *(AR[</a:t>
                      </a:r>
                      <a:r>
                        <a:rPr lang="en-US" sz="1000" dirty="0" err="1"/>
                        <a:t>i</a:t>
                      </a:r>
                      <a:r>
                        <a:rPr lang="en-US" sz="1000" dirty="0"/>
                        <a:t>] + Imm)</a:t>
                      </a:r>
                    </a:p>
                  </a:txBody>
                  <a:tcPr/>
                </a:tc>
                <a:extLst>
                  <a:ext uri="{0D108BD9-81ED-4DB2-BD59-A6C34878D82A}">
                    <a16:rowId xmlns:a16="http://schemas.microsoft.com/office/drawing/2014/main" val="3097999017"/>
                  </a:ext>
                </a:extLst>
              </a:tr>
            </a:tbl>
          </a:graphicData>
        </a:graphic>
      </p:graphicFrame>
      <p:graphicFrame>
        <p:nvGraphicFramePr>
          <p:cNvPr id="28" name="Table 27">
            <a:extLst>
              <a:ext uri="{FF2B5EF4-FFF2-40B4-BE49-F238E27FC236}">
                <a16:creationId xmlns:a16="http://schemas.microsoft.com/office/drawing/2014/main" id="{60D4418B-6DEF-1B07-A304-1C4AA7483D8D}"/>
              </a:ext>
            </a:extLst>
          </p:cNvPr>
          <p:cNvGraphicFramePr>
            <a:graphicFrameLocks noGrp="1"/>
          </p:cNvGraphicFramePr>
          <p:nvPr>
            <p:extLst>
              <p:ext uri="{D42A27DB-BD31-4B8C-83A1-F6EECF244321}">
                <p14:modId xmlns:p14="http://schemas.microsoft.com/office/powerpoint/2010/main" val="3549160252"/>
              </p:ext>
            </p:extLst>
          </p:nvPr>
        </p:nvGraphicFramePr>
        <p:xfrm>
          <a:off x="9540876" y="3221566"/>
          <a:ext cx="2632074" cy="1538110"/>
        </p:xfrm>
        <a:graphic>
          <a:graphicData uri="http://schemas.openxmlformats.org/drawingml/2006/table">
            <a:tbl>
              <a:tblPr firstRow="1" bandRow="1">
                <a:tableStyleId>{5C22544A-7EE6-4342-B048-85BDC9FD1C3A}</a:tableStyleId>
              </a:tblPr>
              <a:tblGrid>
                <a:gridCol w="877358">
                  <a:extLst>
                    <a:ext uri="{9D8B030D-6E8A-4147-A177-3AD203B41FA5}">
                      <a16:colId xmlns:a16="http://schemas.microsoft.com/office/drawing/2014/main" val="2862739801"/>
                    </a:ext>
                  </a:extLst>
                </a:gridCol>
                <a:gridCol w="877358">
                  <a:extLst>
                    <a:ext uri="{9D8B030D-6E8A-4147-A177-3AD203B41FA5}">
                      <a16:colId xmlns:a16="http://schemas.microsoft.com/office/drawing/2014/main" val="877928214"/>
                    </a:ext>
                  </a:extLst>
                </a:gridCol>
                <a:gridCol w="877358">
                  <a:extLst>
                    <a:ext uri="{9D8B030D-6E8A-4147-A177-3AD203B41FA5}">
                      <a16:colId xmlns:a16="http://schemas.microsoft.com/office/drawing/2014/main" val="1620786568"/>
                    </a:ext>
                  </a:extLst>
                </a:gridCol>
              </a:tblGrid>
              <a:tr h="307622">
                <a:tc>
                  <a:txBody>
                    <a:bodyPr/>
                    <a:lstStyle/>
                    <a:p>
                      <a:r>
                        <a:rPr lang="en-US" sz="1000" dirty="0"/>
                        <a:t>Dest</a:t>
                      </a:r>
                    </a:p>
                  </a:txBody>
                  <a:tcPr/>
                </a:tc>
                <a:tc>
                  <a:txBody>
                    <a:bodyPr/>
                    <a:lstStyle/>
                    <a:p>
                      <a:r>
                        <a:rPr lang="en-US" sz="1000" dirty="0" err="1"/>
                        <a:t>Src</a:t>
                      </a:r>
                      <a:endParaRPr lang="en-US" sz="1000" dirty="0"/>
                    </a:p>
                  </a:txBody>
                  <a:tcPr/>
                </a:tc>
                <a:tc>
                  <a:txBody>
                    <a:bodyPr/>
                    <a:lstStyle/>
                    <a:p>
                      <a:r>
                        <a:rPr lang="en-US" sz="1000" dirty="0"/>
                        <a:t>Form</a:t>
                      </a:r>
                    </a:p>
                  </a:txBody>
                  <a:tcPr/>
                </a:tc>
                <a:extLst>
                  <a:ext uri="{0D108BD9-81ED-4DB2-BD59-A6C34878D82A}">
                    <a16:rowId xmlns:a16="http://schemas.microsoft.com/office/drawing/2014/main" val="2409673025"/>
                  </a:ext>
                </a:extLst>
              </a:tr>
              <a:tr h="307622">
                <a:tc>
                  <a:txBody>
                    <a:bodyPr/>
                    <a:lstStyle/>
                    <a:p>
                      <a:r>
                        <a:rPr lang="en-US" sz="1000" dirty="0"/>
                        <a:t>GR</a:t>
                      </a:r>
                    </a:p>
                  </a:txBody>
                  <a:tcPr/>
                </a:tc>
                <a:tc>
                  <a:txBody>
                    <a:bodyPr/>
                    <a:lstStyle/>
                    <a:p>
                      <a:r>
                        <a:rPr lang="en-US" sz="1000" dirty="0"/>
                        <a:t>Imm</a:t>
                      </a:r>
                    </a:p>
                  </a:txBody>
                  <a:tcPr/>
                </a:tc>
                <a:tc>
                  <a:txBody>
                    <a:bodyPr/>
                    <a:lstStyle/>
                    <a:p>
                      <a:endParaRPr lang="en-US" sz="1000" dirty="0"/>
                    </a:p>
                  </a:txBody>
                  <a:tcPr/>
                </a:tc>
                <a:extLst>
                  <a:ext uri="{0D108BD9-81ED-4DB2-BD59-A6C34878D82A}">
                    <a16:rowId xmlns:a16="http://schemas.microsoft.com/office/drawing/2014/main" val="1813460202"/>
                  </a:ext>
                </a:extLst>
              </a:tr>
              <a:tr h="307622">
                <a:tc>
                  <a:txBody>
                    <a:bodyPr/>
                    <a:lstStyle/>
                    <a:p>
                      <a:r>
                        <a:rPr lang="en-US" sz="1000" dirty="0"/>
                        <a:t>GR</a:t>
                      </a:r>
                    </a:p>
                  </a:txBody>
                  <a:tcPr/>
                </a:tc>
                <a:tc>
                  <a:txBody>
                    <a:bodyPr/>
                    <a:lstStyle/>
                    <a:p>
                      <a:r>
                        <a:rPr lang="en-US" sz="1000" dirty="0"/>
                        <a:t>GR</a:t>
                      </a:r>
                    </a:p>
                  </a:txBody>
                  <a:tcPr/>
                </a:tc>
                <a:tc>
                  <a:txBody>
                    <a:bodyPr/>
                    <a:lstStyle/>
                    <a:p>
                      <a:endParaRPr lang="en-US" sz="1000" dirty="0"/>
                    </a:p>
                  </a:txBody>
                  <a:tcPr/>
                </a:tc>
                <a:extLst>
                  <a:ext uri="{0D108BD9-81ED-4DB2-BD59-A6C34878D82A}">
                    <a16:rowId xmlns:a16="http://schemas.microsoft.com/office/drawing/2014/main" val="4238323"/>
                  </a:ext>
                </a:extLst>
              </a:tr>
              <a:tr h="307622">
                <a:tc>
                  <a:txBody>
                    <a:bodyPr/>
                    <a:lstStyle/>
                    <a:p>
                      <a:r>
                        <a:rPr lang="en-US" sz="1000" dirty="0"/>
                        <a:t>GR</a:t>
                      </a:r>
                    </a:p>
                  </a:txBody>
                  <a:tcPr/>
                </a:tc>
                <a:tc>
                  <a:txBody>
                    <a:bodyPr/>
                    <a:lstStyle/>
                    <a:p>
                      <a:r>
                        <a:rPr lang="en-US" sz="1000" dirty="0"/>
                        <a:t>AR</a:t>
                      </a:r>
                    </a:p>
                  </a:txBody>
                  <a:tcPr/>
                </a:tc>
                <a:tc>
                  <a:txBody>
                    <a:bodyPr/>
                    <a:lstStyle/>
                    <a:p>
                      <a:endParaRPr lang="en-US" sz="1000"/>
                    </a:p>
                  </a:txBody>
                  <a:tcPr/>
                </a:tc>
                <a:extLst>
                  <a:ext uri="{0D108BD9-81ED-4DB2-BD59-A6C34878D82A}">
                    <a16:rowId xmlns:a16="http://schemas.microsoft.com/office/drawing/2014/main" val="3392672825"/>
                  </a:ext>
                </a:extLst>
              </a:tr>
              <a:tr h="307622">
                <a:tc>
                  <a:txBody>
                    <a:bodyPr/>
                    <a:lstStyle/>
                    <a:p>
                      <a:r>
                        <a:rPr lang="en-US" sz="1000" dirty="0"/>
                        <a:t>GR</a:t>
                      </a:r>
                    </a:p>
                  </a:txBody>
                  <a:tcPr/>
                </a:tc>
                <a:tc>
                  <a:txBody>
                    <a:bodyPr/>
                    <a:lstStyle/>
                    <a:p>
                      <a:r>
                        <a:rPr lang="en-US" sz="1000" dirty="0"/>
                        <a:t>Memory</a:t>
                      </a:r>
                    </a:p>
                  </a:txBody>
                  <a:tcPr/>
                </a:tc>
                <a:tc>
                  <a:txBody>
                    <a:bodyPr/>
                    <a:lstStyle/>
                    <a:p>
                      <a:endParaRPr lang="en-US" sz="1000" dirty="0"/>
                    </a:p>
                  </a:txBody>
                  <a:tcPr/>
                </a:tc>
                <a:extLst>
                  <a:ext uri="{0D108BD9-81ED-4DB2-BD59-A6C34878D82A}">
                    <a16:rowId xmlns:a16="http://schemas.microsoft.com/office/drawing/2014/main" val="3097999017"/>
                  </a:ext>
                </a:extLst>
              </a:tr>
            </a:tbl>
          </a:graphicData>
        </a:graphic>
      </p:graphicFrame>
      <p:graphicFrame>
        <p:nvGraphicFramePr>
          <p:cNvPr id="29" name="Table 28">
            <a:extLst>
              <a:ext uri="{FF2B5EF4-FFF2-40B4-BE49-F238E27FC236}">
                <a16:creationId xmlns:a16="http://schemas.microsoft.com/office/drawing/2014/main" id="{07845BD8-4256-03A2-0574-30FD4402182F}"/>
              </a:ext>
            </a:extLst>
          </p:cNvPr>
          <p:cNvGraphicFramePr>
            <a:graphicFrameLocks noGrp="1"/>
          </p:cNvGraphicFramePr>
          <p:nvPr>
            <p:extLst>
              <p:ext uri="{D42A27DB-BD31-4B8C-83A1-F6EECF244321}">
                <p14:modId xmlns:p14="http://schemas.microsoft.com/office/powerpoint/2010/main" val="861351595"/>
              </p:ext>
            </p:extLst>
          </p:nvPr>
        </p:nvGraphicFramePr>
        <p:xfrm>
          <a:off x="8547100" y="4895142"/>
          <a:ext cx="2632074" cy="1538110"/>
        </p:xfrm>
        <a:graphic>
          <a:graphicData uri="http://schemas.openxmlformats.org/drawingml/2006/table">
            <a:tbl>
              <a:tblPr firstRow="1" bandRow="1">
                <a:tableStyleId>{5C22544A-7EE6-4342-B048-85BDC9FD1C3A}</a:tableStyleId>
              </a:tblPr>
              <a:tblGrid>
                <a:gridCol w="877358">
                  <a:extLst>
                    <a:ext uri="{9D8B030D-6E8A-4147-A177-3AD203B41FA5}">
                      <a16:colId xmlns:a16="http://schemas.microsoft.com/office/drawing/2014/main" val="2862739801"/>
                    </a:ext>
                  </a:extLst>
                </a:gridCol>
                <a:gridCol w="877358">
                  <a:extLst>
                    <a:ext uri="{9D8B030D-6E8A-4147-A177-3AD203B41FA5}">
                      <a16:colId xmlns:a16="http://schemas.microsoft.com/office/drawing/2014/main" val="877928214"/>
                    </a:ext>
                  </a:extLst>
                </a:gridCol>
                <a:gridCol w="877358">
                  <a:extLst>
                    <a:ext uri="{9D8B030D-6E8A-4147-A177-3AD203B41FA5}">
                      <a16:colId xmlns:a16="http://schemas.microsoft.com/office/drawing/2014/main" val="1620786568"/>
                    </a:ext>
                  </a:extLst>
                </a:gridCol>
              </a:tblGrid>
              <a:tr h="307622">
                <a:tc>
                  <a:txBody>
                    <a:bodyPr/>
                    <a:lstStyle/>
                    <a:p>
                      <a:r>
                        <a:rPr lang="en-US" sz="1000" dirty="0"/>
                        <a:t>Dest</a:t>
                      </a:r>
                    </a:p>
                  </a:txBody>
                  <a:tcPr/>
                </a:tc>
                <a:tc>
                  <a:txBody>
                    <a:bodyPr/>
                    <a:lstStyle/>
                    <a:p>
                      <a:r>
                        <a:rPr lang="en-US" sz="1000" dirty="0" err="1"/>
                        <a:t>Src</a:t>
                      </a:r>
                      <a:endParaRPr lang="en-US" sz="1000" dirty="0"/>
                    </a:p>
                  </a:txBody>
                  <a:tcPr/>
                </a:tc>
                <a:tc>
                  <a:txBody>
                    <a:bodyPr/>
                    <a:lstStyle/>
                    <a:p>
                      <a:r>
                        <a:rPr lang="en-US" sz="1000" dirty="0"/>
                        <a:t>Form</a:t>
                      </a:r>
                    </a:p>
                  </a:txBody>
                  <a:tcPr/>
                </a:tc>
                <a:extLst>
                  <a:ext uri="{0D108BD9-81ED-4DB2-BD59-A6C34878D82A}">
                    <a16:rowId xmlns:a16="http://schemas.microsoft.com/office/drawing/2014/main" val="2409673025"/>
                  </a:ext>
                </a:extLst>
              </a:tr>
              <a:tr h="307622">
                <a:tc>
                  <a:txBody>
                    <a:bodyPr/>
                    <a:lstStyle/>
                    <a:p>
                      <a:r>
                        <a:rPr lang="en-US" sz="1000" dirty="0"/>
                        <a:t>GR</a:t>
                      </a:r>
                    </a:p>
                  </a:txBody>
                  <a:tcPr/>
                </a:tc>
                <a:tc>
                  <a:txBody>
                    <a:bodyPr/>
                    <a:lstStyle/>
                    <a:p>
                      <a:r>
                        <a:rPr lang="en-US" sz="1000" dirty="0"/>
                        <a:t>Imm</a:t>
                      </a:r>
                    </a:p>
                  </a:txBody>
                  <a:tcPr/>
                </a:tc>
                <a:tc>
                  <a:txBody>
                    <a:bodyPr/>
                    <a:lstStyle/>
                    <a:p>
                      <a:endParaRPr lang="en-US" sz="1000" dirty="0"/>
                    </a:p>
                  </a:txBody>
                  <a:tcPr/>
                </a:tc>
                <a:extLst>
                  <a:ext uri="{0D108BD9-81ED-4DB2-BD59-A6C34878D82A}">
                    <a16:rowId xmlns:a16="http://schemas.microsoft.com/office/drawing/2014/main" val="1813460202"/>
                  </a:ext>
                </a:extLst>
              </a:tr>
              <a:tr h="307622">
                <a:tc>
                  <a:txBody>
                    <a:bodyPr/>
                    <a:lstStyle/>
                    <a:p>
                      <a:r>
                        <a:rPr lang="en-US" sz="1000" dirty="0"/>
                        <a:t>GR</a:t>
                      </a:r>
                    </a:p>
                  </a:txBody>
                  <a:tcPr/>
                </a:tc>
                <a:tc>
                  <a:txBody>
                    <a:bodyPr/>
                    <a:lstStyle/>
                    <a:p>
                      <a:r>
                        <a:rPr lang="en-US" sz="1000" dirty="0"/>
                        <a:t>GR</a:t>
                      </a:r>
                    </a:p>
                  </a:txBody>
                  <a:tcPr/>
                </a:tc>
                <a:tc>
                  <a:txBody>
                    <a:bodyPr/>
                    <a:lstStyle/>
                    <a:p>
                      <a:endParaRPr lang="en-US" sz="1000" dirty="0"/>
                    </a:p>
                  </a:txBody>
                  <a:tcPr/>
                </a:tc>
                <a:extLst>
                  <a:ext uri="{0D108BD9-81ED-4DB2-BD59-A6C34878D82A}">
                    <a16:rowId xmlns:a16="http://schemas.microsoft.com/office/drawing/2014/main" val="4238323"/>
                  </a:ext>
                </a:extLst>
              </a:tr>
              <a:tr h="307622">
                <a:tc>
                  <a:txBody>
                    <a:bodyPr/>
                    <a:lstStyle/>
                    <a:p>
                      <a:r>
                        <a:rPr lang="en-US" sz="1000" dirty="0"/>
                        <a:t>GR</a:t>
                      </a:r>
                    </a:p>
                  </a:txBody>
                  <a:tcPr/>
                </a:tc>
                <a:tc>
                  <a:txBody>
                    <a:bodyPr/>
                    <a:lstStyle/>
                    <a:p>
                      <a:r>
                        <a:rPr lang="en-US" sz="1000" dirty="0"/>
                        <a:t>AR</a:t>
                      </a:r>
                    </a:p>
                  </a:txBody>
                  <a:tcPr/>
                </a:tc>
                <a:tc>
                  <a:txBody>
                    <a:bodyPr/>
                    <a:lstStyle/>
                    <a:p>
                      <a:endParaRPr lang="en-US" sz="1000"/>
                    </a:p>
                  </a:txBody>
                  <a:tcPr/>
                </a:tc>
                <a:extLst>
                  <a:ext uri="{0D108BD9-81ED-4DB2-BD59-A6C34878D82A}">
                    <a16:rowId xmlns:a16="http://schemas.microsoft.com/office/drawing/2014/main" val="3392672825"/>
                  </a:ext>
                </a:extLst>
              </a:tr>
              <a:tr h="307622">
                <a:tc>
                  <a:txBody>
                    <a:bodyPr/>
                    <a:lstStyle/>
                    <a:p>
                      <a:r>
                        <a:rPr lang="en-US" sz="1000" dirty="0"/>
                        <a:t>GR</a:t>
                      </a:r>
                    </a:p>
                  </a:txBody>
                  <a:tcPr/>
                </a:tc>
                <a:tc>
                  <a:txBody>
                    <a:bodyPr/>
                    <a:lstStyle/>
                    <a:p>
                      <a:r>
                        <a:rPr lang="en-US" sz="1000" dirty="0"/>
                        <a:t>Memory</a:t>
                      </a:r>
                    </a:p>
                  </a:txBody>
                  <a:tcPr/>
                </a:tc>
                <a:tc>
                  <a:txBody>
                    <a:bodyPr/>
                    <a:lstStyle/>
                    <a:p>
                      <a:endParaRPr lang="en-US" sz="1000" dirty="0"/>
                    </a:p>
                  </a:txBody>
                  <a:tcPr/>
                </a:tc>
                <a:extLst>
                  <a:ext uri="{0D108BD9-81ED-4DB2-BD59-A6C34878D82A}">
                    <a16:rowId xmlns:a16="http://schemas.microsoft.com/office/drawing/2014/main" val="3097999017"/>
                  </a:ext>
                </a:extLst>
              </a:tr>
            </a:tbl>
          </a:graphicData>
        </a:graphic>
      </p:graphicFrame>
      <p:cxnSp>
        <p:nvCxnSpPr>
          <p:cNvPr id="31" name="Straight Arrow Connector 30">
            <a:extLst>
              <a:ext uri="{FF2B5EF4-FFF2-40B4-BE49-F238E27FC236}">
                <a16:creationId xmlns:a16="http://schemas.microsoft.com/office/drawing/2014/main" id="{AC95254A-A505-F7C8-65BF-E80075007C7F}"/>
              </a:ext>
            </a:extLst>
          </p:cNvPr>
          <p:cNvCxnSpPr>
            <a:cxnSpLocks/>
            <a:stCxn id="18" idx="2"/>
            <a:endCxn id="19" idx="0"/>
          </p:cNvCxnSpPr>
          <p:nvPr/>
        </p:nvCxnSpPr>
        <p:spPr>
          <a:xfrm>
            <a:off x="885825" y="1608138"/>
            <a:ext cx="41275" cy="13954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2E28075E-BE3C-1574-EA5A-6268DCEAE4F8}"/>
              </a:ext>
            </a:extLst>
          </p:cNvPr>
          <p:cNvSpPr txBox="1"/>
          <p:nvPr/>
        </p:nvSpPr>
        <p:spPr>
          <a:xfrm>
            <a:off x="355602" y="2250830"/>
            <a:ext cx="584198" cy="276999"/>
          </a:xfrm>
          <a:prstGeom prst="rect">
            <a:avLst/>
          </a:prstGeom>
          <a:noFill/>
        </p:spPr>
        <p:txBody>
          <a:bodyPr wrap="square" rtlCol="0">
            <a:spAutoFit/>
          </a:bodyPr>
          <a:lstStyle/>
          <a:p>
            <a:r>
              <a:rPr lang="en-US" sz="1200" dirty="0"/>
              <a:t>LDR</a:t>
            </a:r>
          </a:p>
        </p:txBody>
      </p:sp>
      <p:cxnSp>
        <p:nvCxnSpPr>
          <p:cNvPr id="36" name="Connector: Curved 35">
            <a:extLst>
              <a:ext uri="{FF2B5EF4-FFF2-40B4-BE49-F238E27FC236}">
                <a16:creationId xmlns:a16="http://schemas.microsoft.com/office/drawing/2014/main" id="{66A0A18F-3546-5952-8E52-572E767073CC}"/>
              </a:ext>
            </a:extLst>
          </p:cNvPr>
          <p:cNvCxnSpPr>
            <a:cxnSpLocks/>
            <a:stCxn id="19" idx="2"/>
            <a:endCxn id="19" idx="1"/>
          </p:cNvCxnSpPr>
          <p:nvPr/>
        </p:nvCxnSpPr>
        <p:spPr>
          <a:xfrm rot="5400000" flipH="1">
            <a:off x="427302" y="3169443"/>
            <a:ext cx="332845" cy="666750"/>
          </a:xfrm>
          <a:prstGeom prst="curvedConnector4">
            <a:avLst>
              <a:gd name="adj1" fmla="val -68681"/>
              <a:gd name="adj2" fmla="val 134286"/>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0187398B-3FE8-52AC-90BF-A220E5BC2EF1}"/>
              </a:ext>
            </a:extLst>
          </p:cNvPr>
          <p:cNvSpPr txBox="1"/>
          <p:nvPr/>
        </p:nvSpPr>
        <p:spPr>
          <a:xfrm>
            <a:off x="243684" y="3923240"/>
            <a:ext cx="584198" cy="276999"/>
          </a:xfrm>
          <a:prstGeom prst="rect">
            <a:avLst/>
          </a:prstGeom>
          <a:noFill/>
        </p:spPr>
        <p:txBody>
          <a:bodyPr wrap="square" rtlCol="0">
            <a:spAutoFit/>
          </a:bodyPr>
          <a:lstStyle/>
          <a:p>
            <a:r>
              <a:rPr lang="en-US" sz="1200" dirty="0"/>
              <a:t>MOV</a:t>
            </a:r>
          </a:p>
        </p:txBody>
      </p:sp>
      <p:cxnSp>
        <p:nvCxnSpPr>
          <p:cNvPr id="41" name="Straight Arrow Connector 40">
            <a:extLst>
              <a:ext uri="{FF2B5EF4-FFF2-40B4-BE49-F238E27FC236}">
                <a16:creationId xmlns:a16="http://schemas.microsoft.com/office/drawing/2014/main" id="{2BAC4DC0-F04A-CFC9-50D1-73A377ADFA98}"/>
              </a:ext>
            </a:extLst>
          </p:cNvPr>
          <p:cNvCxnSpPr>
            <a:cxnSpLocks/>
            <a:stCxn id="20" idx="1"/>
            <a:endCxn id="19" idx="3"/>
          </p:cNvCxnSpPr>
          <p:nvPr/>
        </p:nvCxnSpPr>
        <p:spPr>
          <a:xfrm flipH="1">
            <a:off x="1593850" y="3297379"/>
            <a:ext cx="1534160" cy="39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16CAD826-A10C-FB3B-5FA3-50F6B143E70A}"/>
              </a:ext>
            </a:extLst>
          </p:cNvPr>
          <p:cNvSpPr txBox="1"/>
          <p:nvPr/>
        </p:nvSpPr>
        <p:spPr>
          <a:xfrm>
            <a:off x="2095498" y="3039888"/>
            <a:ext cx="584198" cy="276999"/>
          </a:xfrm>
          <a:prstGeom prst="rect">
            <a:avLst/>
          </a:prstGeom>
          <a:noFill/>
        </p:spPr>
        <p:txBody>
          <a:bodyPr wrap="square" rtlCol="0">
            <a:spAutoFit/>
          </a:bodyPr>
          <a:lstStyle/>
          <a:p>
            <a:r>
              <a:rPr lang="en-US" sz="1200" dirty="0"/>
              <a:t>MVA*</a:t>
            </a:r>
          </a:p>
        </p:txBody>
      </p:sp>
      <p:cxnSp>
        <p:nvCxnSpPr>
          <p:cNvPr id="44" name="Straight Arrow Connector 43">
            <a:extLst>
              <a:ext uri="{FF2B5EF4-FFF2-40B4-BE49-F238E27FC236}">
                <a16:creationId xmlns:a16="http://schemas.microsoft.com/office/drawing/2014/main" id="{9AB7228D-74D6-A0CA-84C6-890CDE5236EB}"/>
              </a:ext>
            </a:extLst>
          </p:cNvPr>
          <p:cNvCxnSpPr>
            <a:cxnSpLocks/>
            <a:stCxn id="21" idx="1"/>
            <a:endCxn id="19" idx="0"/>
          </p:cNvCxnSpPr>
          <p:nvPr/>
        </p:nvCxnSpPr>
        <p:spPr>
          <a:xfrm flipH="1">
            <a:off x="927100" y="1390120"/>
            <a:ext cx="1990724" cy="16134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C2225818-678D-1172-0720-3321822B79F3}"/>
              </a:ext>
            </a:extLst>
          </p:cNvPr>
          <p:cNvSpPr txBox="1"/>
          <p:nvPr/>
        </p:nvSpPr>
        <p:spPr>
          <a:xfrm>
            <a:off x="1511300" y="1965220"/>
            <a:ext cx="584198" cy="646331"/>
          </a:xfrm>
          <a:prstGeom prst="rect">
            <a:avLst/>
          </a:prstGeom>
          <a:noFill/>
        </p:spPr>
        <p:txBody>
          <a:bodyPr wrap="square" rtlCol="0">
            <a:spAutoFit/>
          </a:bodyPr>
          <a:lstStyle/>
          <a:p>
            <a:r>
              <a:rPr lang="en-US" sz="1200" dirty="0"/>
              <a:t>LMA, LMR, LMO*</a:t>
            </a:r>
          </a:p>
        </p:txBody>
      </p:sp>
    </p:spTree>
    <p:extLst>
      <p:ext uri="{BB962C8B-B14F-4D97-AF65-F5344CB8AC3E}">
        <p14:creationId xmlns:p14="http://schemas.microsoft.com/office/powerpoint/2010/main" val="420809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2CBD8-ACF3-FAB1-3306-4292E613E775}"/>
              </a:ext>
            </a:extLst>
          </p:cNvPr>
          <p:cNvSpPr>
            <a:spLocks noGrp="1"/>
          </p:cNvSpPr>
          <p:nvPr>
            <p:ph type="ctrTitle"/>
          </p:nvPr>
        </p:nvSpPr>
        <p:spPr>
          <a:xfrm>
            <a:off x="2735317" y="2286001"/>
            <a:ext cx="7118131" cy="1363719"/>
          </a:xfrm>
        </p:spPr>
        <p:txBody>
          <a:bodyPr anchor="ctr"/>
          <a:lstStyle/>
          <a:p>
            <a:r>
              <a:rPr lang="en-US" sz="4000" dirty="0"/>
              <a:t>ByteFrost V2.0 – 16bit Address</a:t>
            </a:r>
          </a:p>
        </p:txBody>
      </p:sp>
    </p:spTree>
    <p:extLst>
      <p:ext uri="{BB962C8B-B14F-4D97-AF65-F5344CB8AC3E}">
        <p14:creationId xmlns:p14="http://schemas.microsoft.com/office/powerpoint/2010/main" val="1325567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C9BE0-EDF4-FB03-378E-8B44891B5E0E}"/>
            </a:ext>
          </a:extLst>
        </p:cNvPr>
        <p:cNvGrpSpPr/>
        <p:nvPr/>
      </p:nvGrpSpPr>
      <p:grpSpPr>
        <a:xfrm>
          <a:off x="0" y="0"/>
          <a:ext cx="0" cy="0"/>
          <a:chOff x="0" y="0"/>
          <a:chExt cx="0" cy="0"/>
        </a:xfrm>
      </p:grpSpPr>
      <p:sp>
        <p:nvSpPr>
          <p:cNvPr id="164" name="Rectangle 163">
            <a:extLst>
              <a:ext uri="{FF2B5EF4-FFF2-40B4-BE49-F238E27FC236}">
                <a16:creationId xmlns:a16="http://schemas.microsoft.com/office/drawing/2014/main" id="{06009A91-1383-B9CF-6EEB-80DF8F8E0DDB}"/>
              </a:ext>
            </a:extLst>
          </p:cNvPr>
          <p:cNvSpPr/>
          <p:nvPr/>
        </p:nvSpPr>
        <p:spPr>
          <a:xfrm>
            <a:off x="2437168" y="3801937"/>
            <a:ext cx="99060" cy="1258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4BCCE4F1-4DD2-6FE5-56CC-F1F7F34F9097}"/>
              </a:ext>
            </a:extLst>
          </p:cNvPr>
          <p:cNvSpPr/>
          <p:nvPr/>
        </p:nvSpPr>
        <p:spPr>
          <a:xfrm>
            <a:off x="2437168" y="3228181"/>
            <a:ext cx="99060" cy="1258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EAD4371E-C483-3F72-24BB-A12779456BD0}"/>
              </a:ext>
            </a:extLst>
          </p:cNvPr>
          <p:cNvSpPr/>
          <p:nvPr/>
        </p:nvSpPr>
        <p:spPr>
          <a:xfrm>
            <a:off x="2437168" y="2654425"/>
            <a:ext cx="99060" cy="1258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9B46006F-3F4E-0533-F64D-2C2263802F25}"/>
              </a:ext>
            </a:extLst>
          </p:cNvPr>
          <p:cNvSpPr/>
          <p:nvPr/>
        </p:nvSpPr>
        <p:spPr>
          <a:xfrm>
            <a:off x="2437168" y="2080669"/>
            <a:ext cx="99060" cy="1258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D4A42E4E-9302-702B-7944-5213532D6264}"/>
              </a:ext>
            </a:extLst>
          </p:cNvPr>
          <p:cNvSpPr/>
          <p:nvPr/>
        </p:nvSpPr>
        <p:spPr>
          <a:xfrm>
            <a:off x="2437168" y="4375692"/>
            <a:ext cx="99060" cy="1258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TextBox 127">
            <a:extLst>
              <a:ext uri="{FF2B5EF4-FFF2-40B4-BE49-F238E27FC236}">
                <a16:creationId xmlns:a16="http://schemas.microsoft.com/office/drawing/2014/main" id="{A47B4D0A-F7E1-7B97-C4F2-394F6A512798}"/>
              </a:ext>
            </a:extLst>
          </p:cNvPr>
          <p:cNvSpPr txBox="1"/>
          <p:nvPr/>
        </p:nvSpPr>
        <p:spPr>
          <a:xfrm>
            <a:off x="4631207" y="2154137"/>
            <a:ext cx="497252" cy="261610"/>
          </a:xfrm>
          <a:prstGeom prst="rect">
            <a:avLst/>
          </a:prstGeom>
          <a:noFill/>
        </p:spPr>
        <p:txBody>
          <a:bodyPr wrap="none" rtlCol="0">
            <a:spAutoFit/>
          </a:bodyPr>
          <a:lstStyle/>
          <a:p>
            <a:r>
              <a:rPr lang="en-US" sz="1100" dirty="0"/>
              <a:t>3msb</a:t>
            </a:r>
          </a:p>
        </p:txBody>
      </p:sp>
      <p:sp>
        <p:nvSpPr>
          <p:cNvPr id="129" name="TextBox 128">
            <a:extLst>
              <a:ext uri="{FF2B5EF4-FFF2-40B4-BE49-F238E27FC236}">
                <a16:creationId xmlns:a16="http://schemas.microsoft.com/office/drawing/2014/main" id="{24B0A132-BF5C-FEF5-2C95-3BEE99BEBA36}"/>
              </a:ext>
            </a:extLst>
          </p:cNvPr>
          <p:cNvSpPr txBox="1"/>
          <p:nvPr/>
        </p:nvSpPr>
        <p:spPr>
          <a:xfrm>
            <a:off x="5612891" y="2740238"/>
            <a:ext cx="328936" cy="261610"/>
          </a:xfrm>
          <a:prstGeom prst="rect">
            <a:avLst/>
          </a:prstGeom>
          <a:noFill/>
        </p:spPr>
        <p:txBody>
          <a:bodyPr wrap="none" rtlCol="0">
            <a:spAutoFit/>
          </a:bodyPr>
          <a:lstStyle/>
          <a:p>
            <a:r>
              <a:rPr lang="en-US" sz="1100" dirty="0"/>
              <a:t>CE</a:t>
            </a:r>
          </a:p>
        </p:txBody>
      </p:sp>
      <p:sp>
        <p:nvSpPr>
          <p:cNvPr id="130" name="TextBox 129">
            <a:extLst>
              <a:ext uri="{FF2B5EF4-FFF2-40B4-BE49-F238E27FC236}">
                <a16:creationId xmlns:a16="http://schemas.microsoft.com/office/drawing/2014/main" id="{51600C10-A819-89AA-8034-D168409F2690}"/>
              </a:ext>
            </a:extLst>
          </p:cNvPr>
          <p:cNvSpPr txBox="1"/>
          <p:nvPr/>
        </p:nvSpPr>
        <p:spPr>
          <a:xfrm>
            <a:off x="5612891" y="3548017"/>
            <a:ext cx="328936" cy="261610"/>
          </a:xfrm>
          <a:prstGeom prst="rect">
            <a:avLst/>
          </a:prstGeom>
          <a:noFill/>
        </p:spPr>
        <p:txBody>
          <a:bodyPr wrap="none" rtlCol="0">
            <a:spAutoFit/>
          </a:bodyPr>
          <a:lstStyle/>
          <a:p>
            <a:r>
              <a:rPr lang="en-US" sz="1100" dirty="0"/>
              <a:t>CE</a:t>
            </a:r>
          </a:p>
        </p:txBody>
      </p:sp>
      <p:sp>
        <p:nvSpPr>
          <p:cNvPr id="5" name="Title 4">
            <a:extLst>
              <a:ext uri="{FF2B5EF4-FFF2-40B4-BE49-F238E27FC236}">
                <a16:creationId xmlns:a16="http://schemas.microsoft.com/office/drawing/2014/main" id="{E6AD2189-933E-F904-A4B3-2E3331C44428}"/>
              </a:ext>
            </a:extLst>
          </p:cNvPr>
          <p:cNvSpPr>
            <a:spLocks noGrp="1"/>
          </p:cNvSpPr>
          <p:nvPr>
            <p:ph type="ctrTitle"/>
          </p:nvPr>
        </p:nvSpPr>
        <p:spPr/>
        <p:txBody>
          <a:bodyPr/>
          <a:lstStyle/>
          <a:p>
            <a:r>
              <a:rPr lang="en-US" dirty="0"/>
              <a:t>Unified Bus Operation (v2.0)</a:t>
            </a:r>
          </a:p>
        </p:txBody>
      </p:sp>
      <p:sp>
        <p:nvSpPr>
          <p:cNvPr id="6" name="Rectangle 5">
            <a:extLst>
              <a:ext uri="{FF2B5EF4-FFF2-40B4-BE49-F238E27FC236}">
                <a16:creationId xmlns:a16="http://schemas.microsoft.com/office/drawing/2014/main" id="{60DEFC76-9998-19B4-1F88-A502BC47381D}"/>
              </a:ext>
            </a:extLst>
          </p:cNvPr>
          <p:cNvSpPr/>
          <p:nvPr/>
        </p:nvSpPr>
        <p:spPr>
          <a:xfrm>
            <a:off x="7681949" y="1200727"/>
            <a:ext cx="282975" cy="5080000"/>
          </a:xfrm>
          <a:prstGeom prst="rect">
            <a:avLst/>
          </a:prstGeom>
        </p:spPr>
        <p:style>
          <a:lnRef idx="1">
            <a:schemeClr val="accent6"/>
          </a:lnRef>
          <a:fillRef idx="2">
            <a:schemeClr val="accent6"/>
          </a:fillRef>
          <a:effectRef idx="1">
            <a:schemeClr val="accent6"/>
          </a:effectRef>
          <a:fontRef idx="minor">
            <a:schemeClr val="dk1"/>
          </a:fontRef>
        </p:style>
        <p:txBody>
          <a:bodyPr vert="vert" rtlCol="0" anchor="ctr"/>
          <a:lstStyle/>
          <a:p>
            <a:pPr algn="ctr"/>
            <a:r>
              <a:rPr lang="en-US"/>
              <a:t>Data  Bus </a:t>
            </a:r>
          </a:p>
        </p:txBody>
      </p:sp>
      <p:sp>
        <p:nvSpPr>
          <p:cNvPr id="7" name="Rectangle 6">
            <a:extLst>
              <a:ext uri="{FF2B5EF4-FFF2-40B4-BE49-F238E27FC236}">
                <a16:creationId xmlns:a16="http://schemas.microsoft.com/office/drawing/2014/main" id="{DA24EA2B-76E2-56E0-D502-7EA795D4766A}"/>
              </a:ext>
            </a:extLst>
          </p:cNvPr>
          <p:cNvSpPr/>
          <p:nvPr/>
        </p:nvSpPr>
        <p:spPr>
          <a:xfrm>
            <a:off x="772914" y="1874983"/>
            <a:ext cx="282975" cy="4481367"/>
          </a:xfrm>
          <a:prstGeom prst="rect">
            <a:avLst/>
          </a:prstGeom>
        </p:spPr>
        <p:style>
          <a:lnRef idx="1">
            <a:schemeClr val="accent6"/>
          </a:lnRef>
          <a:fillRef idx="2">
            <a:schemeClr val="accent6"/>
          </a:fillRef>
          <a:effectRef idx="1">
            <a:schemeClr val="accent6"/>
          </a:effectRef>
          <a:fontRef idx="minor">
            <a:schemeClr val="dk1"/>
          </a:fontRef>
        </p:style>
        <p:txBody>
          <a:bodyPr vert="vert" rtlCol="0" anchor="ctr"/>
          <a:lstStyle/>
          <a:p>
            <a:pPr algn="ctr"/>
            <a:r>
              <a:rPr lang="en-US"/>
              <a:t>Data  Bus </a:t>
            </a:r>
          </a:p>
        </p:txBody>
      </p:sp>
      <p:sp>
        <p:nvSpPr>
          <p:cNvPr id="8" name="Rectangle 7">
            <a:extLst>
              <a:ext uri="{FF2B5EF4-FFF2-40B4-BE49-F238E27FC236}">
                <a16:creationId xmlns:a16="http://schemas.microsoft.com/office/drawing/2014/main" id="{42778E0D-0ACE-E826-DD06-FBCB740A2466}"/>
              </a:ext>
            </a:extLst>
          </p:cNvPr>
          <p:cNvSpPr/>
          <p:nvPr/>
        </p:nvSpPr>
        <p:spPr>
          <a:xfrm rot="16200000">
            <a:off x="4901686" y="1944603"/>
            <a:ext cx="282975" cy="8540519"/>
          </a:xfrm>
          <a:prstGeom prst="rect">
            <a:avLst/>
          </a:prstGeom>
        </p:spPr>
        <p:style>
          <a:lnRef idx="1">
            <a:schemeClr val="accent6"/>
          </a:lnRef>
          <a:fillRef idx="2">
            <a:schemeClr val="accent6"/>
          </a:fillRef>
          <a:effectRef idx="1">
            <a:schemeClr val="accent6"/>
          </a:effectRef>
          <a:fontRef idx="minor">
            <a:schemeClr val="dk1"/>
          </a:fontRef>
        </p:style>
        <p:txBody>
          <a:bodyPr vert="vert" rtlCol="0" anchor="ctr"/>
          <a:lstStyle/>
          <a:p>
            <a:pPr algn="ctr"/>
            <a:r>
              <a:rPr lang="en-US"/>
              <a:t>Data  Bus </a:t>
            </a:r>
          </a:p>
        </p:txBody>
      </p:sp>
      <p:sp>
        <p:nvSpPr>
          <p:cNvPr id="9" name="Rectangle 8">
            <a:hlinkClick r:id="rId2" action="ppaction://hlinksldjump"/>
            <a:extLst>
              <a:ext uri="{FF2B5EF4-FFF2-40B4-BE49-F238E27FC236}">
                <a16:creationId xmlns:a16="http://schemas.microsoft.com/office/drawing/2014/main" id="{0624C475-378C-9235-EDCB-4968A695E201}"/>
              </a:ext>
            </a:extLst>
          </p:cNvPr>
          <p:cNvSpPr/>
          <p:nvPr/>
        </p:nvSpPr>
        <p:spPr>
          <a:xfrm>
            <a:off x="1512429" y="5384416"/>
            <a:ext cx="1005840" cy="457200"/>
          </a:xfrm>
          <a:prstGeom prst="rect">
            <a:avLst/>
          </a:prstGeom>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en-US" sz="1400" dirty="0"/>
              <a:t>Instruction Registers</a:t>
            </a:r>
          </a:p>
        </p:txBody>
      </p:sp>
      <p:cxnSp>
        <p:nvCxnSpPr>
          <p:cNvPr id="11" name="Straight Arrow Connector 10">
            <a:extLst>
              <a:ext uri="{FF2B5EF4-FFF2-40B4-BE49-F238E27FC236}">
                <a16:creationId xmlns:a16="http://schemas.microsoft.com/office/drawing/2014/main" id="{30D28E6A-30EC-6071-B087-C34D5761DEA0}"/>
              </a:ext>
            </a:extLst>
          </p:cNvPr>
          <p:cNvCxnSpPr>
            <a:cxnSpLocks/>
            <a:endCxn id="9" idx="1"/>
          </p:cNvCxnSpPr>
          <p:nvPr/>
        </p:nvCxnSpPr>
        <p:spPr>
          <a:xfrm>
            <a:off x="1035605" y="5613016"/>
            <a:ext cx="476824"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4" name="Straight Arrow Connector 13">
            <a:extLst>
              <a:ext uri="{FF2B5EF4-FFF2-40B4-BE49-F238E27FC236}">
                <a16:creationId xmlns:a16="http://schemas.microsoft.com/office/drawing/2014/main" id="{04133538-73E4-D915-0FE1-7AF7515A16E1}"/>
              </a:ext>
            </a:extLst>
          </p:cNvPr>
          <p:cNvCxnSpPr>
            <a:cxnSpLocks/>
            <a:endCxn id="13" idx="1"/>
          </p:cNvCxnSpPr>
          <p:nvPr/>
        </p:nvCxnSpPr>
        <p:spPr>
          <a:xfrm flipV="1">
            <a:off x="1055888" y="3768105"/>
            <a:ext cx="477037" cy="0"/>
          </a:xfrm>
          <a:prstGeom prst="straightConnector1">
            <a:avLst/>
          </a:prstGeom>
          <a:ln>
            <a:headEnd type="none"/>
            <a:tailEnd type="triangle"/>
          </a:ln>
        </p:spPr>
        <p:style>
          <a:lnRef idx="3">
            <a:schemeClr val="accent6"/>
          </a:lnRef>
          <a:fillRef idx="0">
            <a:schemeClr val="accent6"/>
          </a:fillRef>
          <a:effectRef idx="2">
            <a:schemeClr val="accent6"/>
          </a:effectRef>
          <a:fontRef idx="minor">
            <a:schemeClr val="tx1"/>
          </a:fontRef>
        </p:style>
      </p:cxnSp>
      <p:sp>
        <p:nvSpPr>
          <p:cNvPr id="15" name="Rectangle 14">
            <a:hlinkClick r:id="rId3" action="ppaction://hlinksldjump"/>
            <a:extLst>
              <a:ext uri="{FF2B5EF4-FFF2-40B4-BE49-F238E27FC236}">
                <a16:creationId xmlns:a16="http://schemas.microsoft.com/office/drawing/2014/main" id="{6C8986A6-3FB3-7696-2F78-B527DC212D3C}"/>
              </a:ext>
            </a:extLst>
          </p:cNvPr>
          <p:cNvSpPr/>
          <p:nvPr/>
        </p:nvSpPr>
        <p:spPr>
          <a:xfrm>
            <a:off x="5786491" y="3789235"/>
            <a:ext cx="1005840" cy="4572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sz="1400"/>
              <a:t>SRAM</a:t>
            </a:r>
          </a:p>
        </p:txBody>
      </p:sp>
      <p:sp>
        <p:nvSpPr>
          <p:cNvPr id="16" name="Rectangle 15">
            <a:hlinkClick r:id="rId4" action="ppaction://hlinksldjump"/>
            <a:extLst>
              <a:ext uri="{FF2B5EF4-FFF2-40B4-BE49-F238E27FC236}">
                <a16:creationId xmlns:a16="http://schemas.microsoft.com/office/drawing/2014/main" id="{A8554522-2D3F-3A1E-D752-7CF3E3C6A555}"/>
              </a:ext>
            </a:extLst>
          </p:cNvPr>
          <p:cNvSpPr/>
          <p:nvPr/>
        </p:nvSpPr>
        <p:spPr>
          <a:xfrm>
            <a:off x="5786491" y="2997435"/>
            <a:ext cx="1005840" cy="4572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lIns="0" rIns="0" rtlCol="0" anchor="ctr"/>
          <a:lstStyle/>
          <a:p>
            <a:pPr algn="ctr"/>
            <a:r>
              <a:rPr lang="en-US" sz="1400"/>
              <a:t>EEPROM</a:t>
            </a:r>
          </a:p>
        </p:txBody>
      </p:sp>
      <p:sp>
        <p:nvSpPr>
          <p:cNvPr id="17" name="Rectangle 16">
            <a:extLst>
              <a:ext uri="{FF2B5EF4-FFF2-40B4-BE49-F238E27FC236}">
                <a16:creationId xmlns:a16="http://schemas.microsoft.com/office/drawing/2014/main" id="{4467AEC6-DD2E-51B8-9D93-908A045CE8C5}"/>
              </a:ext>
            </a:extLst>
          </p:cNvPr>
          <p:cNvSpPr/>
          <p:nvPr/>
        </p:nvSpPr>
        <p:spPr>
          <a:xfrm>
            <a:off x="4356027" y="1274618"/>
            <a:ext cx="282975" cy="3759203"/>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vert="vert" rtlCol="0" anchor="ctr"/>
          <a:lstStyle/>
          <a:p>
            <a:pPr algn="ctr"/>
            <a:r>
              <a:rPr lang="en-US"/>
              <a:t>Address  Bus  +  Read/Write </a:t>
            </a:r>
          </a:p>
        </p:txBody>
      </p:sp>
      <p:sp>
        <p:nvSpPr>
          <p:cNvPr id="19" name="Rectangle 18">
            <a:hlinkClick r:id="rId5" action="ppaction://hlinksldjump"/>
            <a:extLst>
              <a:ext uri="{FF2B5EF4-FFF2-40B4-BE49-F238E27FC236}">
                <a16:creationId xmlns:a16="http://schemas.microsoft.com/office/drawing/2014/main" id="{BBD9601B-98CE-4F02-B323-B7B412025CA7}"/>
              </a:ext>
            </a:extLst>
          </p:cNvPr>
          <p:cNvSpPr/>
          <p:nvPr/>
        </p:nvSpPr>
        <p:spPr>
          <a:xfrm>
            <a:off x="1532925" y="3015433"/>
            <a:ext cx="1005840" cy="365760"/>
          </a:xfrm>
          <a:prstGeom prst="rect">
            <a:avLst/>
          </a:prstGeom>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en-US" sz="1400" dirty="0"/>
              <a:t>Stack Pointer</a:t>
            </a:r>
          </a:p>
        </p:txBody>
      </p:sp>
      <p:cxnSp>
        <p:nvCxnSpPr>
          <p:cNvPr id="20" name="Straight Arrow Connector 19">
            <a:extLst>
              <a:ext uri="{FF2B5EF4-FFF2-40B4-BE49-F238E27FC236}">
                <a16:creationId xmlns:a16="http://schemas.microsoft.com/office/drawing/2014/main" id="{1FB2D77E-55A6-C26F-E2ED-F55A505FF7E7}"/>
              </a:ext>
            </a:extLst>
          </p:cNvPr>
          <p:cNvCxnSpPr>
            <a:cxnSpLocks/>
            <a:endCxn id="19" idx="1"/>
          </p:cNvCxnSpPr>
          <p:nvPr/>
        </p:nvCxnSpPr>
        <p:spPr>
          <a:xfrm flipV="1">
            <a:off x="1065337" y="3198313"/>
            <a:ext cx="467588" cy="0"/>
          </a:xfrm>
          <a:prstGeom prst="straightConnector1">
            <a:avLst/>
          </a:prstGeom>
          <a:ln>
            <a:headEnd type="none"/>
            <a:tailEnd type="triangle"/>
          </a:ln>
        </p:spPr>
        <p:style>
          <a:lnRef idx="3">
            <a:schemeClr val="accent6"/>
          </a:lnRef>
          <a:fillRef idx="0">
            <a:schemeClr val="accent6"/>
          </a:fillRef>
          <a:effectRef idx="2">
            <a:schemeClr val="accent6"/>
          </a:effectRef>
          <a:fontRef idx="minor">
            <a:schemeClr val="tx1"/>
          </a:fontRef>
        </p:style>
      </p:cxnSp>
      <p:sp>
        <p:nvSpPr>
          <p:cNvPr id="21" name="Rectangle 20">
            <a:hlinkClick r:id="rId6" action="ppaction://hlinksldjump"/>
            <a:extLst>
              <a:ext uri="{FF2B5EF4-FFF2-40B4-BE49-F238E27FC236}">
                <a16:creationId xmlns:a16="http://schemas.microsoft.com/office/drawing/2014/main" id="{C594A1F6-C28A-EB8E-76BE-450E36097344}"/>
              </a:ext>
            </a:extLst>
          </p:cNvPr>
          <p:cNvSpPr/>
          <p:nvPr/>
        </p:nvSpPr>
        <p:spPr>
          <a:xfrm>
            <a:off x="1532925" y="2445641"/>
            <a:ext cx="1005840" cy="365760"/>
          </a:xfrm>
          <a:prstGeom prst="rect">
            <a:avLst/>
          </a:prstGeom>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en-US" sz="1400" dirty="0"/>
              <a:t>Program Counter</a:t>
            </a:r>
          </a:p>
        </p:txBody>
      </p:sp>
      <p:cxnSp>
        <p:nvCxnSpPr>
          <p:cNvPr id="22" name="Straight Arrow Connector 21">
            <a:extLst>
              <a:ext uri="{FF2B5EF4-FFF2-40B4-BE49-F238E27FC236}">
                <a16:creationId xmlns:a16="http://schemas.microsoft.com/office/drawing/2014/main" id="{1B459A8F-BF3A-2321-BC37-D10E815B57E0}"/>
              </a:ext>
            </a:extLst>
          </p:cNvPr>
          <p:cNvCxnSpPr>
            <a:cxnSpLocks/>
            <a:endCxn id="21" idx="1"/>
          </p:cNvCxnSpPr>
          <p:nvPr/>
        </p:nvCxnSpPr>
        <p:spPr>
          <a:xfrm flipV="1">
            <a:off x="1069960" y="2628521"/>
            <a:ext cx="462965" cy="0"/>
          </a:xfrm>
          <a:prstGeom prst="straightConnector1">
            <a:avLst/>
          </a:prstGeom>
          <a:ln>
            <a:headEnd type="none"/>
            <a:tailEnd type="triangle"/>
          </a:ln>
        </p:spPr>
        <p:style>
          <a:lnRef idx="3">
            <a:schemeClr val="accent6"/>
          </a:lnRef>
          <a:fillRef idx="0">
            <a:schemeClr val="accent6"/>
          </a:fillRef>
          <a:effectRef idx="2">
            <a:schemeClr val="accent6"/>
          </a:effectRef>
          <a:fontRef idx="minor">
            <a:schemeClr val="tx1"/>
          </a:fontRef>
        </p:style>
      </p:cxnSp>
      <p:cxnSp>
        <p:nvCxnSpPr>
          <p:cNvPr id="32" name="Straight Arrow Connector 31">
            <a:extLst>
              <a:ext uri="{FF2B5EF4-FFF2-40B4-BE49-F238E27FC236}">
                <a16:creationId xmlns:a16="http://schemas.microsoft.com/office/drawing/2014/main" id="{C5897969-8673-5BD5-00B1-36B8D83437E0}"/>
              </a:ext>
            </a:extLst>
          </p:cNvPr>
          <p:cNvCxnSpPr>
            <a:cxnSpLocks/>
            <a:stCxn id="19" idx="3"/>
          </p:cNvCxnSpPr>
          <p:nvPr/>
        </p:nvCxnSpPr>
        <p:spPr>
          <a:xfrm>
            <a:off x="2538765" y="3198313"/>
            <a:ext cx="1817262"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4" name="Straight Arrow Connector 33">
            <a:extLst>
              <a:ext uri="{FF2B5EF4-FFF2-40B4-BE49-F238E27FC236}">
                <a16:creationId xmlns:a16="http://schemas.microsoft.com/office/drawing/2014/main" id="{B20DB054-52F7-0722-599C-E00DA8DC171D}"/>
              </a:ext>
            </a:extLst>
          </p:cNvPr>
          <p:cNvCxnSpPr>
            <a:cxnSpLocks/>
            <a:stCxn id="13" idx="3"/>
          </p:cNvCxnSpPr>
          <p:nvPr/>
        </p:nvCxnSpPr>
        <p:spPr>
          <a:xfrm>
            <a:off x="2538765" y="3768105"/>
            <a:ext cx="1817262"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9" name="Straight Arrow Connector 38">
            <a:extLst>
              <a:ext uri="{FF2B5EF4-FFF2-40B4-BE49-F238E27FC236}">
                <a16:creationId xmlns:a16="http://schemas.microsoft.com/office/drawing/2014/main" id="{A9CEE9FA-3859-9850-DA2D-C93395F1B82A}"/>
              </a:ext>
            </a:extLst>
          </p:cNvPr>
          <p:cNvCxnSpPr>
            <a:endCxn id="16" idx="1"/>
          </p:cNvCxnSpPr>
          <p:nvPr/>
        </p:nvCxnSpPr>
        <p:spPr>
          <a:xfrm>
            <a:off x="4639002" y="3226035"/>
            <a:ext cx="1147489"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1" name="Straight Arrow Connector 40">
            <a:extLst>
              <a:ext uri="{FF2B5EF4-FFF2-40B4-BE49-F238E27FC236}">
                <a16:creationId xmlns:a16="http://schemas.microsoft.com/office/drawing/2014/main" id="{59753AB0-2B26-A839-D50D-50BF64CF061E}"/>
              </a:ext>
            </a:extLst>
          </p:cNvPr>
          <p:cNvCxnSpPr>
            <a:endCxn id="15" idx="1"/>
          </p:cNvCxnSpPr>
          <p:nvPr/>
        </p:nvCxnSpPr>
        <p:spPr>
          <a:xfrm flipV="1">
            <a:off x="4639002" y="4017835"/>
            <a:ext cx="1147489"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2" name="Rectangle 41">
            <a:hlinkClick r:id="rId7" action="ppaction://hlinksldjump"/>
            <a:extLst>
              <a:ext uri="{FF2B5EF4-FFF2-40B4-BE49-F238E27FC236}">
                <a16:creationId xmlns:a16="http://schemas.microsoft.com/office/drawing/2014/main" id="{3EEA8D10-E1B4-C258-C78F-4730CD1CE8A3}"/>
              </a:ext>
            </a:extLst>
          </p:cNvPr>
          <p:cNvSpPr/>
          <p:nvPr/>
        </p:nvSpPr>
        <p:spPr>
          <a:xfrm>
            <a:off x="5098918" y="2123490"/>
            <a:ext cx="787701" cy="420465"/>
          </a:xfrm>
          <a:prstGeom prst="rect">
            <a:avLst/>
          </a:prstGeom>
        </p:spPr>
        <p:style>
          <a:lnRef idx="2">
            <a:schemeClr val="dk1"/>
          </a:lnRef>
          <a:fillRef idx="1">
            <a:schemeClr val="lt1"/>
          </a:fillRef>
          <a:effectRef idx="0">
            <a:schemeClr val="dk1"/>
          </a:effectRef>
          <a:fontRef idx="minor">
            <a:schemeClr val="dk1"/>
          </a:fontRef>
        </p:style>
        <p:txBody>
          <a:bodyPr lIns="0" rIns="0" rtlCol="0" anchor="ctr"/>
          <a:lstStyle/>
          <a:p>
            <a:pPr algn="ctr"/>
            <a:r>
              <a:rPr lang="en-US" sz="1400"/>
              <a:t>AMAP</a:t>
            </a:r>
          </a:p>
          <a:p>
            <a:pPr algn="ctr"/>
            <a:r>
              <a:rPr lang="en-US" sz="1400"/>
              <a:t>Decoder</a:t>
            </a:r>
          </a:p>
        </p:txBody>
      </p:sp>
      <p:cxnSp>
        <p:nvCxnSpPr>
          <p:cNvPr id="44" name="Connector: Elbow 43">
            <a:extLst>
              <a:ext uri="{FF2B5EF4-FFF2-40B4-BE49-F238E27FC236}">
                <a16:creationId xmlns:a16="http://schemas.microsoft.com/office/drawing/2014/main" id="{D116D635-A96F-3F83-A600-91BC0354B683}"/>
              </a:ext>
            </a:extLst>
          </p:cNvPr>
          <p:cNvCxnSpPr>
            <a:cxnSpLocks/>
            <a:stCxn id="42" idx="2"/>
          </p:cNvCxnSpPr>
          <p:nvPr/>
        </p:nvCxnSpPr>
        <p:spPr>
          <a:xfrm rot="16200000" flipH="1">
            <a:off x="5489196" y="2547528"/>
            <a:ext cx="450324" cy="443178"/>
          </a:xfrm>
          <a:prstGeom prst="bentConnector3">
            <a:avLst>
              <a:gd name="adj1" fmla="val 50000"/>
            </a:avLst>
          </a:prstGeom>
          <a:ln>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69C2733D-BDB0-0620-AB53-DA6B664AEC09}"/>
              </a:ext>
            </a:extLst>
          </p:cNvPr>
          <p:cNvCxnSpPr>
            <a:cxnSpLocks/>
            <a:stCxn id="42" idx="2"/>
          </p:cNvCxnSpPr>
          <p:nvPr/>
        </p:nvCxnSpPr>
        <p:spPr>
          <a:xfrm rot="16200000" flipH="1">
            <a:off x="5095810" y="2940914"/>
            <a:ext cx="1242978" cy="449060"/>
          </a:xfrm>
          <a:prstGeom prst="bentConnector3">
            <a:avLst>
              <a:gd name="adj1" fmla="val 84925"/>
            </a:avLst>
          </a:prstGeom>
          <a:ln>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EA3C68E8-1F1F-34AD-5DE7-B184B37CF8AE}"/>
              </a:ext>
            </a:extLst>
          </p:cNvPr>
          <p:cNvCxnSpPr>
            <a:cxnSpLocks/>
            <a:endCxn id="42" idx="1"/>
          </p:cNvCxnSpPr>
          <p:nvPr/>
        </p:nvCxnSpPr>
        <p:spPr>
          <a:xfrm flipV="1">
            <a:off x="4639002" y="2333723"/>
            <a:ext cx="4599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72D5E0DC-1648-593D-63BD-A4CDD15BF2BA}"/>
              </a:ext>
            </a:extLst>
          </p:cNvPr>
          <p:cNvSpPr/>
          <p:nvPr/>
        </p:nvSpPr>
        <p:spPr>
          <a:xfrm>
            <a:off x="5786491" y="4581033"/>
            <a:ext cx="1005840" cy="457200"/>
          </a:xfrm>
          <a:prstGeom prst="rect">
            <a:avLst/>
          </a:prstGeom>
        </p:spPr>
        <p:style>
          <a:lnRef idx="1">
            <a:schemeClr val="dk1"/>
          </a:lnRef>
          <a:fillRef idx="2">
            <a:schemeClr val="dk1"/>
          </a:fillRef>
          <a:effectRef idx="1">
            <a:schemeClr val="dk1"/>
          </a:effectRef>
          <a:fontRef idx="minor">
            <a:schemeClr val="dk1"/>
          </a:fontRef>
        </p:style>
        <p:txBody>
          <a:bodyPr lIns="0" rIns="0" rtlCol="0" anchor="ctr"/>
          <a:lstStyle/>
          <a:p>
            <a:pPr algn="ctr"/>
            <a:r>
              <a:rPr lang="en-US" sz="1400"/>
              <a:t>MMIO</a:t>
            </a:r>
          </a:p>
        </p:txBody>
      </p:sp>
      <p:cxnSp>
        <p:nvCxnSpPr>
          <p:cNvPr id="53" name="Straight Arrow Connector 52">
            <a:extLst>
              <a:ext uri="{FF2B5EF4-FFF2-40B4-BE49-F238E27FC236}">
                <a16:creationId xmlns:a16="http://schemas.microsoft.com/office/drawing/2014/main" id="{74F8153F-F3C5-7E1C-3B43-FA3DB4BA2FFE}"/>
              </a:ext>
            </a:extLst>
          </p:cNvPr>
          <p:cNvCxnSpPr>
            <a:cxnSpLocks/>
            <a:endCxn id="52" idx="1"/>
          </p:cNvCxnSpPr>
          <p:nvPr/>
        </p:nvCxnSpPr>
        <p:spPr>
          <a:xfrm flipV="1">
            <a:off x="4639002" y="4809633"/>
            <a:ext cx="1147489"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56" name="Connector: Elbow 55">
            <a:extLst>
              <a:ext uri="{FF2B5EF4-FFF2-40B4-BE49-F238E27FC236}">
                <a16:creationId xmlns:a16="http://schemas.microsoft.com/office/drawing/2014/main" id="{3256ADC5-FC67-0B20-380B-6CB6C6C60725}"/>
              </a:ext>
            </a:extLst>
          </p:cNvPr>
          <p:cNvCxnSpPr>
            <a:cxnSpLocks/>
            <a:stCxn id="42" idx="2"/>
          </p:cNvCxnSpPr>
          <p:nvPr/>
        </p:nvCxnSpPr>
        <p:spPr>
          <a:xfrm rot="16200000" flipH="1">
            <a:off x="4698759" y="3337965"/>
            <a:ext cx="2037078" cy="449058"/>
          </a:xfrm>
          <a:prstGeom prst="bentConnector3">
            <a:avLst>
              <a:gd name="adj1" fmla="val 91260"/>
            </a:avLst>
          </a:prstGeom>
          <a:ln>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1" name="Rectangle: Rounded Corners 60">
            <a:hlinkClick r:id="rId8" action="ppaction://hlinksldjump"/>
            <a:extLst>
              <a:ext uri="{FF2B5EF4-FFF2-40B4-BE49-F238E27FC236}">
                <a16:creationId xmlns:a16="http://schemas.microsoft.com/office/drawing/2014/main" id="{8D1C9749-F348-2468-3BCE-E2990428FA73}"/>
              </a:ext>
            </a:extLst>
          </p:cNvPr>
          <p:cNvSpPr/>
          <p:nvPr/>
        </p:nvSpPr>
        <p:spPr>
          <a:xfrm>
            <a:off x="2804053" y="5383730"/>
            <a:ext cx="2092820" cy="458572"/>
          </a:xfrm>
          <a:prstGeom prst="roundRect">
            <a:avLst/>
          </a:prstGeom>
          <a:solidFill>
            <a:srgbClr val="CC99FF"/>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400"/>
              <a:t>Micro</a:t>
            </a:r>
            <a:endParaRPr lang="en-US"/>
          </a:p>
          <a:p>
            <a:pPr algn="ctr"/>
            <a:r>
              <a:rPr lang="en-US" sz="1400"/>
              <a:t>Instructions</a:t>
            </a:r>
            <a:endParaRPr lang="en-US"/>
          </a:p>
        </p:txBody>
      </p:sp>
      <p:cxnSp>
        <p:nvCxnSpPr>
          <p:cNvPr id="71" name="Straight Arrow Connector 70">
            <a:extLst>
              <a:ext uri="{FF2B5EF4-FFF2-40B4-BE49-F238E27FC236}">
                <a16:creationId xmlns:a16="http://schemas.microsoft.com/office/drawing/2014/main" id="{ACE59664-9AFB-709F-E257-A0C462BE60EC}"/>
              </a:ext>
            </a:extLst>
          </p:cNvPr>
          <p:cNvCxnSpPr>
            <a:cxnSpLocks/>
            <a:stCxn id="9" idx="3"/>
            <a:endCxn id="61" idx="1"/>
          </p:cNvCxnSpPr>
          <p:nvPr/>
        </p:nvCxnSpPr>
        <p:spPr>
          <a:xfrm>
            <a:off x="2518269" y="5613016"/>
            <a:ext cx="2857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Connector: Elbow 78">
            <a:extLst>
              <a:ext uri="{FF2B5EF4-FFF2-40B4-BE49-F238E27FC236}">
                <a16:creationId xmlns:a16="http://schemas.microsoft.com/office/drawing/2014/main" id="{72D733F0-5CE4-90CB-1652-50F96E34DBE5}"/>
              </a:ext>
            </a:extLst>
          </p:cNvPr>
          <p:cNvCxnSpPr>
            <a:cxnSpLocks/>
            <a:stCxn id="61" idx="0"/>
            <a:endCxn id="17" idx="2"/>
          </p:cNvCxnSpPr>
          <p:nvPr/>
        </p:nvCxnSpPr>
        <p:spPr>
          <a:xfrm rot="5400000" flipH="1" flipV="1">
            <a:off x="3999035" y="4885250"/>
            <a:ext cx="349909" cy="647052"/>
          </a:xfrm>
          <a:prstGeom prst="bentConnector3">
            <a:avLst>
              <a:gd name="adj1" fmla="val 50000"/>
            </a:avLst>
          </a:prstGeom>
          <a:ln>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9345AEB7-CF42-EB69-C4C0-22FD7438F19F}"/>
              </a:ext>
            </a:extLst>
          </p:cNvPr>
          <p:cNvSpPr txBox="1"/>
          <p:nvPr/>
        </p:nvSpPr>
        <p:spPr>
          <a:xfrm>
            <a:off x="3661458" y="4988948"/>
            <a:ext cx="883575" cy="261610"/>
          </a:xfrm>
          <a:prstGeom prst="rect">
            <a:avLst/>
          </a:prstGeom>
          <a:noFill/>
        </p:spPr>
        <p:txBody>
          <a:bodyPr wrap="none" rtlCol="0">
            <a:spAutoFit/>
          </a:bodyPr>
          <a:lstStyle/>
          <a:p>
            <a:r>
              <a:rPr lang="en-US" sz="1100" dirty="0"/>
              <a:t>Read /Write</a:t>
            </a:r>
          </a:p>
        </p:txBody>
      </p:sp>
      <p:cxnSp>
        <p:nvCxnSpPr>
          <p:cNvPr id="83" name="Straight Arrow Connector 82">
            <a:extLst>
              <a:ext uri="{FF2B5EF4-FFF2-40B4-BE49-F238E27FC236}">
                <a16:creationId xmlns:a16="http://schemas.microsoft.com/office/drawing/2014/main" id="{103AACC9-4329-2478-3593-64318A337E3B}"/>
              </a:ext>
            </a:extLst>
          </p:cNvPr>
          <p:cNvCxnSpPr>
            <a:cxnSpLocks/>
            <a:stCxn id="16" idx="3"/>
          </p:cNvCxnSpPr>
          <p:nvPr/>
        </p:nvCxnSpPr>
        <p:spPr>
          <a:xfrm>
            <a:off x="6792330" y="3226035"/>
            <a:ext cx="875919"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86" name="Straight Arrow Connector 85">
            <a:extLst>
              <a:ext uri="{FF2B5EF4-FFF2-40B4-BE49-F238E27FC236}">
                <a16:creationId xmlns:a16="http://schemas.microsoft.com/office/drawing/2014/main" id="{E156A677-10B7-45F3-383D-039231A6EC2C}"/>
              </a:ext>
            </a:extLst>
          </p:cNvPr>
          <p:cNvCxnSpPr>
            <a:cxnSpLocks/>
          </p:cNvCxnSpPr>
          <p:nvPr/>
        </p:nvCxnSpPr>
        <p:spPr>
          <a:xfrm>
            <a:off x="6811659" y="4051589"/>
            <a:ext cx="870288" cy="0"/>
          </a:xfrm>
          <a:prstGeom prst="straightConnector1">
            <a:avLst/>
          </a:prstGeom>
          <a:ln>
            <a:headEnd type="triangle"/>
            <a:tailEnd type="triangle"/>
          </a:ln>
        </p:spPr>
        <p:style>
          <a:lnRef idx="3">
            <a:schemeClr val="accent6"/>
          </a:lnRef>
          <a:fillRef idx="0">
            <a:schemeClr val="accent6"/>
          </a:fillRef>
          <a:effectRef idx="2">
            <a:schemeClr val="accent6"/>
          </a:effectRef>
          <a:fontRef idx="minor">
            <a:schemeClr val="tx1"/>
          </a:fontRef>
        </p:style>
      </p:cxnSp>
      <p:cxnSp>
        <p:nvCxnSpPr>
          <p:cNvPr id="87" name="Straight Arrow Connector 86">
            <a:extLst>
              <a:ext uri="{FF2B5EF4-FFF2-40B4-BE49-F238E27FC236}">
                <a16:creationId xmlns:a16="http://schemas.microsoft.com/office/drawing/2014/main" id="{4DAFCCFF-D79A-4FFF-26DB-79155D090E63}"/>
              </a:ext>
            </a:extLst>
          </p:cNvPr>
          <p:cNvCxnSpPr>
            <a:cxnSpLocks/>
          </p:cNvCxnSpPr>
          <p:nvPr/>
        </p:nvCxnSpPr>
        <p:spPr>
          <a:xfrm>
            <a:off x="6811659" y="4830601"/>
            <a:ext cx="870288" cy="0"/>
          </a:xfrm>
          <a:prstGeom prst="straightConnector1">
            <a:avLst/>
          </a:prstGeom>
          <a:ln>
            <a:headEnd type="triangle"/>
            <a:tailEnd type="triangle"/>
          </a:ln>
        </p:spPr>
        <p:style>
          <a:lnRef idx="3">
            <a:schemeClr val="accent6"/>
          </a:lnRef>
          <a:fillRef idx="0">
            <a:schemeClr val="accent6"/>
          </a:fillRef>
          <a:effectRef idx="2">
            <a:schemeClr val="accent6"/>
          </a:effectRef>
          <a:fontRef idx="minor">
            <a:schemeClr val="tx1"/>
          </a:fontRef>
        </p:style>
      </p:cxnSp>
      <p:sp>
        <p:nvSpPr>
          <p:cNvPr id="88" name="Rectangle 87">
            <a:extLst>
              <a:ext uri="{FF2B5EF4-FFF2-40B4-BE49-F238E27FC236}">
                <a16:creationId xmlns:a16="http://schemas.microsoft.com/office/drawing/2014/main" id="{5505C732-EA41-18D8-A5E5-9BC4FF3D3D79}"/>
              </a:ext>
            </a:extLst>
          </p:cNvPr>
          <p:cNvSpPr/>
          <p:nvPr/>
        </p:nvSpPr>
        <p:spPr>
          <a:xfrm>
            <a:off x="5786491" y="5384416"/>
            <a:ext cx="1005840" cy="457200"/>
          </a:xfrm>
          <a:prstGeom prst="rect">
            <a:avLst/>
          </a:prstGeom>
          <a:solidFill>
            <a:schemeClr val="accent1">
              <a:lumMod val="40000"/>
              <a:lumOff val="60000"/>
            </a:schemeClr>
          </a:solidFill>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sz="1400"/>
              <a:t>Register</a:t>
            </a:r>
          </a:p>
          <a:p>
            <a:pPr algn="ctr"/>
            <a:r>
              <a:rPr lang="en-US" sz="1400"/>
              <a:t>File</a:t>
            </a:r>
          </a:p>
        </p:txBody>
      </p:sp>
      <p:cxnSp>
        <p:nvCxnSpPr>
          <p:cNvPr id="92" name="Straight Arrow Connector 91">
            <a:extLst>
              <a:ext uri="{FF2B5EF4-FFF2-40B4-BE49-F238E27FC236}">
                <a16:creationId xmlns:a16="http://schemas.microsoft.com/office/drawing/2014/main" id="{AE94DF95-B15A-D41A-BF25-5E94F5D61C11}"/>
              </a:ext>
            </a:extLst>
          </p:cNvPr>
          <p:cNvCxnSpPr>
            <a:cxnSpLocks/>
            <a:stCxn id="88" idx="3"/>
          </p:cNvCxnSpPr>
          <p:nvPr/>
        </p:nvCxnSpPr>
        <p:spPr>
          <a:xfrm>
            <a:off x="6792331" y="5613016"/>
            <a:ext cx="889616" cy="0"/>
          </a:xfrm>
          <a:prstGeom prst="straightConnector1">
            <a:avLst/>
          </a:prstGeom>
          <a:ln>
            <a:headEnd type="triangle"/>
            <a:tailEnd type="triangle"/>
          </a:ln>
        </p:spPr>
        <p:style>
          <a:lnRef idx="3">
            <a:schemeClr val="accent6"/>
          </a:lnRef>
          <a:fillRef idx="0">
            <a:schemeClr val="accent6"/>
          </a:fillRef>
          <a:effectRef idx="2">
            <a:schemeClr val="accent6"/>
          </a:effectRef>
          <a:fontRef idx="minor">
            <a:schemeClr val="tx1"/>
          </a:fontRef>
        </p:style>
      </p:cxnSp>
      <p:sp>
        <p:nvSpPr>
          <p:cNvPr id="3" name="Rectangle 2">
            <a:hlinkClick r:id="rId9" action="ppaction://hlinksldjump"/>
            <a:extLst>
              <a:ext uri="{FF2B5EF4-FFF2-40B4-BE49-F238E27FC236}">
                <a16:creationId xmlns:a16="http://schemas.microsoft.com/office/drawing/2014/main" id="{0EBA0DD2-33A7-A74E-0D5B-7045E6E31E2F}"/>
              </a:ext>
            </a:extLst>
          </p:cNvPr>
          <p:cNvSpPr/>
          <p:nvPr/>
        </p:nvSpPr>
        <p:spPr>
          <a:xfrm>
            <a:off x="6125639" y="1227860"/>
            <a:ext cx="638471" cy="248653"/>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sz="1400" dirty="0" err="1"/>
              <a:t>Addr</a:t>
            </a:r>
            <a:r>
              <a:rPr lang="en-US" sz="1400" dirty="0"/>
              <a:t> H</a:t>
            </a:r>
          </a:p>
        </p:txBody>
      </p:sp>
      <p:sp>
        <p:nvSpPr>
          <p:cNvPr id="4" name="Rectangle 3">
            <a:hlinkClick r:id="rId9" action="ppaction://hlinksldjump"/>
            <a:extLst>
              <a:ext uri="{FF2B5EF4-FFF2-40B4-BE49-F238E27FC236}">
                <a16:creationId xmlns:a16="http://schemas.microsoft.com/office/drawing/2014/main" id="{F9AB89FF-4462-CF61-08EF-9861178A439E}"/>
              </a:ext>
            </a:extLst>
          </p:cNvPr>
          <p:cNvSpPr/>
          <p:nvPr/>
        </p:nvSpPr>
        <p:spPr>
          <a:xfrm>
            <a:off x="6137028" y="1580151"/>
            <a:ext cx="638471" cy="248653"/>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sz="1400" dirty="0" err="1"/>
              <a:t>Addr</a:t>
            </a:r>
            <a:r>
              <a:rPr lang="en-US" sz="1400" dirty="0"/>
              <a:t> L</a:t>
            </a:r>
          </a:p>
        </p:txBody>
      </p:sp>
      <p:sp>
        <p:nvSpPr>
          <p:cNvPr id="46" name="Rectangle 45">
            <a:hlinkClick r:id="rId10" action="ppaction://hlinksldjump"/>
            <a:extLst>
              <a:ext uri="{FF2B5EF4-FFF2-40B4-BE49-F238E27FC236}">
                <a16:creationId xmlns:a16="http://schemas.microsoft.com/office/drawing/2014/main" id="{62855FB6-801B-327B-1EBA-B764D214C3E7}"/>
              </a:ext>
            </a:extLst>
          </p:cNvPr>
          <p:cNvSpPr/>
          <p:nvPr/>
        </p:nvSpPr>
        <p:spPr>
          <a:xfrm>
            <a:off x="1532925" y="4155017"/>
            <a:ext cx="1005840" cy="365760"/>
          </a:xfrm>
          <a:prstGeom prst="rect">
            <a:avLst/>
          </a:prstGeom>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en-US" sz="1400" dirty="0"/>
              <a:t>Base Pointer</a:t>
            </a:r>
          </a:p>
        </p:txBody>
      </p:sp>
      <p:cxnSp>
        <p:nvCxnSpPr>
          <p:cNvPr id="58" name="Straight Arrow Connector 57">
            <a:extLst>
              <a:ext uri="{FF2B5EF4-FFF2-40B4-BE49-F238E27FC236}">
                <a16:creationId xmlns:a16="http://schemas.microsoft.com/office/drawing/2014/main" id="{925DFA60-0A2D-6AC8-114D-A68D4ADAADF0}"/>
              </a:ext>
            </a:extLst>
          </p:cNvPr>
          <p:cNvCxnSpPr>
            <a:cxnSpLocks/>
            <a:stCxn id="46" idx="3"/>
          </p:cNvCxnSpPr>
          <p:nvPr/>
        </p:nvCxnSpPr>
        <p:spPr>
          <a:xfrm>
            <a:off x="2538765" y="4337897"/>
            <a:ext cx="1817262"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62" name="Straight Arrow Connector 61">
            <a:extLst>
              <a:ext uri="{FF2B5EF4-FFF2-40B4-BE49-F238E27FC236}">
                <a16:creationId xmlns:a16="http://schemas.microsoft.com/office/drawing/2014/main" id="{9D451238-0D66-FF27-6F2A-543050818402}"/>
              </a:ext>
            </a:extLst>
          </p:cNvPr>
          <p:cNvCxnSpPr>
            <a:cxnSpLocks/>
            <a:endCxn id="46" idx="1"/>
          </p:cNvCxnSpPr>
          <p:nvPr/>
        </p:nvCxnSpPr>
        <p:spPr>
          <a:xfrm flipV="1">
            <a:off x="1065337" y="4337897"/>
            <a:ext cx="467588" cy="0"/>
          </a:xfrm>
          <a:prstGeom prst="straightConnector1">
            <a:avLst/>
          </a:prstGeom>
          <a:ln>
            <a:headEnd type="none"/>
            <a:tailEnd type="triangle"/>
          </a:ln>
        </p:spPr>
        <p:style>
          <a:lnRef idx="3">
            <a:schemeClr val="accent6"/>
          </a:lnRef>
          <a:fillRef idx="0">
            <a:schemeClr val="accent6"/>
          </a:fillRef>
          <a:effectRef idx="2">
            <a:schemeClr val="accent6"/>
          </a:effectRef>
          <a:fontRef idx="minor">
            <a:schemeClr val="tx1"/>
          </a:fontRef>
        </p:style>
      </p:cxnSp>
      <p:sp>
        <p:nvSpPr>
          <p:cNvPr id="65" name="Rectangle 64">
            <a:hlinkClick r:id="rId11" action="ppaction://hlinksldjump"/>
            <a:extLst>
              <a:ext uri="{FF2B5EF4-FFF2-40B4-BE49-F238E27FC236}">
                <a16:creationId xmlns:a16="http://schemas.microsoft.com/office/drawing/2014/main" id="{F8C7235A-FC51-D67D-98AC-99EFDE4380EB}"/>
              </a:ext>
            </a:extLst>
          </p:cNvPr>
          <p:cNvSpPr/>
          <p:nvPr/>
        </p:nvSpPr>
        <p:spPr>
          <a:xfrm>
            <a:off x="1532925" y="1875849"/>
            <a:ext cx="1005840" cy="365760"/>
          </a:xfrm>
          <a:prstGeom prst="rect">
            <a:avLst/>
          </a:prstGeom>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en-US" sz="1400" dirty="0" err="1"/>
              <a:t>TmpAR</a:t>
            </a:r>
            <a:endParaRPr lang="en-US" sz="1400" dirty="0"/>
          </a:p>
        </p:txBody>
      </p:sp>
      <p:cxnSp>
        <p:nvCxnSpPr>
          <p:cNvPr id="66" name="Straight Arrow Connector 65">
            <a:extLst>
              <a:ext uri="{FF2B5EF4-FFF2-40B4-BE49-F238E27FC236}">
                <a16:creationId xmlns:a16="http://schemas.microsoft.com/office/drawing/2014/main" id="{3A1C77BC-F221-2A50-2FB0-606342117FA8}"/>
              </a:ext>
            </a:extLst>
          </p:cNvPr>
          <p:cNvCxnSpPr>
            <a:cxnSpLocks/>
            <a:stCxn id="65" idx="3"/>
          </p:cNvCxnSpPr>
          <p:nvPr/>
        </p:nvCxnSpPr>
        <p:spPr>
          <a:xfrm>
            <a:off x="2538765" y="2058729"/>
            <a:ext cx="1817262"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84" name="Rectangle 83">
            <a:hlinkClick r:id="rId11" action="ppaction://hlinksldjump"/>
            <a:extLst>
              <a:ext uri="{FF2B5EF4-FFF2-40B4-BE49-F238E27FC236}">
                <a16:creationId xmlns:a16="http://schemas.microsoft.com/office/drawing/2014/main" id="{BCCC7742-C3BE-8E8E-0505-A736000DF7EA}"/>
              </a:ext>
            </a:extLst>
          </p:cNvPr>
          <p:cNvSpPr/>
          <p:nvPr/>
        </p:nvSpPr>
        <p:spPr>
          <a:xfrm>
            <a:off x="1532925" y="1120480"/>
            <a:ext cx="1005840" cy="4572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lIns="0" rIns="0" rtlCol="0" anchor="ctr"/>
          <a:lstStyle/>
          <a:p>
            <a:pPr algn="ctr"/>
            <a:r>
              <a:rPr lang="en-US" sz="1400" dirty="0"/>
              <a:t>16bitAdder</a:t>
            </a:r>
          </a:p>
        </p:txBody>
      </p:sp>
      <p:cxnSp>
        <p:nvCxnSpPr>
          <p:cNvPr id="101" name="Straight Arrow Connector 100">
            <a:extLst>
              <a:ext uri="{FF2B5EF4-FFF2-40B4-BE49-F238E27FC236}">
                <a16:creationId xmlns:a16="http://schemas.microsoft.com/office/drawing/2014/main" id="{13964623-27E6-4340-76F9-8EC71741E547}"/>
              </a:ext>
            </a:extLst>
          </p:cNvPr>
          <p:cNvCxnSpPr>
            <a:cxnSpLocks/>
            <a:stCxn id="21" idx="3"/>
          </p:cNvCxnSpPr>
          <p:nvPr/>
        </p:nvCxnSpPr>
        <p:spPr>
          <a:xfrm>
            <a:off x="2538765" y="2628521"/>
            <a:ext cx="1817262"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50" name="Connector: Elbow 49">
            <a:extLst>
              <a:ext uri="{FF2B5EF4-FFF2-40B4-BE49-F238E27FC236}">
                <a16:creationId xmlns:a16="http://schemas.microsoft.com/office/drawing/2014/main" id="{2943D321-0EE6-D927-CDC3-5158AEEB50B5}"/>
              </a:ext>
            </a:extLst>
          </p:cNvPr>
          <p:cNvCxnSpPr>
            <a:cxnSpLocks/>
            <a:stCxn id="7" idx="0"/>
            <a:endCxn id="84" idx="1"/>
          </p:cNvCxnSpPr>
          <p:nvPr/>
        </p:nvCxnSpPr>
        <p:spPr>
          <a:xfrm rot="5400000" flipH="1" flipV="1">
            <a:off x="960712" y="1302771"/>
            <a:ext cx="525903" cy="618523"/>
          </a:xfrm>
          <a:prstGeom prst="bentConnector2">
            <a:avLst/>
          </a:prstGeom>
          <a:ln>
            <a:headEnd type="none"/>
            <a:tailEnd type="triangle"/>
          </a:ln>
        </p:spPr>
        <p:style>
          <a:lnRef idx="3">
            <a:schemeClr val="accent6"/>
          </a:lnRef>
          <a:fillRef idx="0">
            <a:schemeClr val="accent6"/>
          </a:fillRef>
          <a:effectRef idx="2">
            <a:schemeClr val="accent6"/>
          </a:effectRef>
          <a:fontRef idx="minor">
            <a:schemeClr val="tx1"/>
          </a:fontRef>
        </p:style>
      </p:cxnSp>
      <p:sp>
        <p:nvSpPr>
          <p:cNvPr id="75" name="TextBox 74">
            <a:extLst>
              <a:ext uri="{FF2B5EF4-FFF2-40B4-BE49-F238E27FC236}">
                <a16:creationId xmlns:a16="http://schemas.microsoft.com/office/drawing/2014/main" id="{E6168354-3112-3AC6-5E78-D584EA6319E3}"/>
              </a:ext>
            </a:extLst>
          </p:cNvPr>
          <p:cNvSpPr txBox="1"/>
          <p:nvPr/>
        </p:nvSpPr>
        <p:spPr>
          <a:xfrm>
            <a:off x="829014" y="1124786"/>
            <a:ext cx="686406" cy="261610"/>
          </a:xfrm>
          <a:prstGeom prst="rect">
            <a:avLst/>
          </a:prstGeom>
          <a:noFill/>
        </p:spPr>
        <p:txBody>
          <a:bodyPr wrap="none" rtlCol="0">
            <a:spAutoFit/>
          </a:bodyPr>
          <a:lstStyle/>
          <a:p>
            <a:r>
              <a:rPr lang="en-US" sz="1100" dirty="0"/>
              <a:t>8b</a:t>
            </a:r>
            <a:r>
              <a:rPr lang="en-US" sz="1100" dirty="0">
                <a:sym typeface="Wingdings" panose="05000000000000000000" pitchFamily="2" charset="2"/>
              </a:rPr>
              <a:t>16b</a:t>
            </a:r>
            <a:endParaRPr lang="en-US" sz="1100" dirty="0"/>
          </a:p>
        </p:txBody>
      </p:sp>
      <p:cxnSp>
        <p:nvCxnSpPr>
          <p:cNvPr id="80" name="Straight Arrow Connector 79">
            <a:extLst>
              <a:ext uri="{FF2B5EF4-FFF2-40B4-BE49-F238E27FC236}">
                <a16:creationId xmlns:a16="http://schemas.microsoft.com/office/drawing/2014/main" id="{31C31C31-63FB-DECA-AB9B-1A137F478E1B}"/>
              </a:ext>
            </a:extLst>
          </p:cNvPr>
          <p:cNvCxnSpPr>
            <a:cxnSpLocks/>
            <a:stCxn id="84" idx="2"/>
            <a:endCxn id="65" idx="0"/>
          </p:cNvCxnSpPr>
          <p:nvPr/>
        </p:nvCxnSpPr>
        <p:spPr>
          <a:xfrm>
            <a:off x="2035845" y="1577680"/>
            <a:ext cx="0" cy="298169"/>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04" name="Straight Arrow Connector 103">
            <a:extLst>
              <a:ext uri="{FF2B5EF4-FFF2-40B4-BE49-F238E27FC236}">
                <a16:creationId xmlns:a16="http://schemas.microsoft.com/office/drawing/2014/main" id="{E3672053-1ABF-20DA-3218-FBC1587E34C3}"/>
              </a:ext>
            </a:extLst>
          </p:cNvPr>
          <p:cNvCxnSpPr>
            <a:stCxn id="61" idx="3"/>
            <a:endCxn id="88" idx="1"/>
          </p:cNvCxnSpPr>
          <p:nvPr/>
        </p:nvCxnSpPr>
        <p:spPr>
          <a:xfrm>
            <a:off x="4896873" y="5613016"/>
            <a:ext cx="8896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2" name="Rectangle 111">
            <a:hlinkClick r:id="rId12" action="ppaction://hlinksldjump"/>
            <a:extLst>
              <a:ext uri="{FF2B5EF4-FFF2-40B4-BE49-F238E27FC236}">
                <a16:creationId xmlns:a16="http://schemas.microsoft.com/office/drawing/2014/main" id="{F3CA3F7A-DB6B-1F6C-3860-096BA9172147}"/>
              </a:ext>
            </a:extLst>
          </p:cNvPr>
          <p:cNvSpPr/>
          <p:nvPr/>
        </p:nvSpPr>
        <p:spPr>
          <a:xfrm>
            <a:off x="2070601" y="4828639"/>
            <a:ext cx="1605100" cy="305482"/>
          </a:xfrm>
          <a:prstGeom prst="rect">
            <a:avLst/>
          </a:prstGeom>
        </p:spPr>
        <p:style>
          <a:lnRef idx="2">
            <a:schemeClr val="dk1"/>
          </a:lnRef>
          <a:fillRef idx="1">
            <a:schemeClr val="lt1"/>
          </a:fillRef>
          <a:effectRef idx="0">
            <a:schemeClr val="dk1"/>
          </a:effectRef>
          <a:fontRef idx="minor">
            <a:schemeClr val="dk1"/>
          </a:fontRef>
        </p:style>
        <p:txBody>
          <a:bodyPr lIns="0" rIns="0" rtlCol="0" anchor="ctr"/>
          <a:lstStyle/>
          <a:p>
            <a:pPr algn="ctr"/>
            <a:r>
              <a:rPr lang="en-US" sz="1400" dirty="0"/>
              <a:t>AR Select</a:t>
            </a:r>
          </a:p>
        </p:txBody>
      </p:sp>
      <p:cxnSp>
        <p:nvCxnSpPr>
          <p:cNvPr id="113" name="Straight Arrow Connector 112">
            <a:extLst>
              <a:ext uri="{FF2B5EF4-FFF2-40B4-BE49-F238E27FC236}">
                <a16:creationId xmlns:a16="http://schemas.microsoft.com/office/drawing/2014/main" id="{E3E5B068-4E06-151C-AD93-14E2FF8B029A}"/>
              </a:ext>
            </a:extLst>
          </p:cNvPr>
          <p:cNvCxnSpPr>
            <a:cxnSpLocks/>
          </p:cNvCxnSpPr>
          <p:nvPr/>
        </p:nvCxnSpPr>
        <p:spPr>
          <a:xfrm flipV="1">
            <a:off x="2355273" y="5134120"/>
            <a:ext cx="0" cy="2468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FCB68532-B566-055C-EC8C-B7FB0386B0BE}"/>
              </a:ext>
            </a:extLst>
          </p:cNvPr>
          <p:cNvCxnSpPr>
            <a:cxnSpLocks/>
          </p:cNvCxnSpPr>
          <p:nvPr/>
        </p:nvCxnSpPr>
        <p:spPr>
          <a:xfrm flipV="1">
            <a:off x="3274291" y="5137958"/>
            <a:ext cx="0" cy="2468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A4148293-F401-31C6-1D64-649F31B8199D}"/>
              </a:ext>
            </a:extLst>
          </p:cNvPr>
          <p:cNvCxnSpPr>
            <a:cxnSpLocks/>
          </p:cNvCxnSpPr>
          <p:nvPr/>
        </p:nvCxnSpPr>
        <p:spPr>
          <a:xfrm>
            <a:off x="2538765" y="1349081"/>
            <a:ext cx="1817262" cy="0"/>
          </a:xfrm>
          <a:prstGeom prst="straightConnector1">
            <a:avLst/>
          </a:prstGeom>
          <a:ln>
            <a:headEnd type="triangle"/>
            <a:tailEnd type="none"/>
          </a:ln>
        </p:spPr>
        <p:style>
          <a:lnRef idx="3">
            <a:schemeClr val="accent1"/>
          </a:lnRef>
          <a:fillRef idx="0">
            <a:schemeClr val="accent1"/>
          </a:fillRef>
          <a:effectRef idx="2">
            <a:schemeClr val="accent1"/>
          </a:effectRef>
          <a:fontRef idx="minor">
            <a:schemeClr val="tx1"/>
          </a:fontRef>
        </p:style>
      </p:cxnSp>
      <p:sp>
        <p:nvSpPr>
          <p:cNvPr id="131" name="TextBox 130">
            <a:extLst>
              <a:ext uri="{FF2B5EF4-FFF2-40B4-BE49-F238E27FC236}">
                <a16:creationId xmlns:a16="http://schemas.microsoft.com/office/drawing/2014/main" id="{FDC13BD0-E33C-84CB-5D7A-3F327932E7FB}"/>
              </a:ext>
            </a:extLst>
          </p:cNvPr>
          <p:cNvSpPr txBox="1"/>
          <p:nvPr/>
        </p:nvSpPr>
        <p:spPr>
          <a:xfrm>
            <a:off x="5612891" y="4361708"/>
            <a:ext cx="328936" cy="261610"/>
          </a:xfrm>
          <a:prstGeom prst="rect">
            <a:avLst/>
          </a:prstGeom>
          <a:noFill/>
        </p:spPr>
        <p:txBody>
          <a:bodyPr wrap="none" rtlCol="0">
            <a:spAutoFit/>
          </a:bodyPr>
          <a:lstStyle/>
          <a:p>
            <a:r>
              <a:rPr lang="en-US" sz="1100" dirty="0"/>
              <a:t>CE</a:t>
            </a:r>
          </a:p>
        </p:txBody>
      </p:sp>
      <p:cxnSp>
        <p:nvCxnSpPr>
          <p:cNvPr id="133" name="Straight Arrow Connector 132">
            <a:extLst>
              <a:ext uri="{FF2B5EF4-FFF2-40B4-BE49-F238E27FC236}">
                <a16:creationId xmlns:a16="http://schemas.microsoft.com/office/drawing/2014/main" id="{EF031CD1-FC68-7973-0B30-A52916074EC7}"/>
              </a:ext>
            </a:extLst>
          </p:cNvPr>
          <p:cNvCxnSpPr>
            <a:cxnSpLocks/>
          </p:cNvCxnSpPr>
          <p:nvPr/>
        </p:nvCxnSpPr>
        <p:spPr>
          <a:xfrm flipV="1">
            <a:off x="4639002" y="1352186"/>
            <a:ext cx="1486637"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36" name="Straight Arrow Connector 135">
            <a:extLst>
              <a:ext uri="{FF2B5EF4-FFF2-40B4-BE49-F238E27FC236}">
                <a16:creationId xmlns:a16="http://schemas.microsoft.com/office/drawing/2014/main" id="{193C7FBD-BD38-DA2C-1C0A-0F019528FD5E}"/>
              </a:ext>
            </a:extLst>
          </p:cNvPr>
          <p:cNvCxnSpPr>
            <a:cxnSpLocks/>
          </p:cNvCxnSpPr>
          <p:nvPr/>
        </p:nvCxnSpPr>
        <p:spPr>
          <a:xfrm>
            <a:off x="4650391" y="1704477"/>
            <a:ext cx="1486637"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37" name="TextBox 136">
            <a:extLst>
              <a:ext uri="{FF2B5EF4-FFF2-40B4-BE49-F238E27FC236}">
                <a16:creationId xmlns:a16="http://schemas.microsoft.com/office/drawing/2014/main" id="{743CB3DA-FB9A-22C3-2443-58D8D3EC6151}"/>
              </a:ext>
            </a:extLst>
          </p:cNvPr>
          <p:cNvSpPr txBox="1"/>
          <p:nvPr/>
        </p:nvSpPr>
        <p:spPr>
          <a:xfrm>
            <a:off x="5387715" y="1490548"/>
            <a:ext cx="449162" cy="261610"/>
          </a:xfrm>
          <a:prstGeom prst="rect">
            <a:avLst/>
          </a:prstGeom>
          <a:noFill/>
        </p:spPr>
        <p:txBody>
          <a:bodyPr wrap="none" rtlCol="0">
            <a:spAutoFit/>
          </a:bodyPr>
          <a:lstStyle/>
          <a:p>
            <a:r>
              <a:rPr lang="en-US" sz="1100" dirty="0"/>
              <a:t>8 </a:t>
            </a:r>
            <a:r>
              <a:rPr lang="en-US" sz="1100" dirty="0" err="1"/>
              <a:t>lsb</a:t>
            </a:r>
            <a:endParaRPr lang="en-US" sz="1100" dirty="0"/>
          </a:p>
        </p:txBody>
      </p:sp>
      <p:sp>
        <p:nvSpPr>
          <p:cNvPr id="138" name="TextBox 137">
            <a:extLst>
              <a:ext uri="{FF2B5EF4-FFF2-40B4-BE49-F238E27FC236}">
                <a16:creationId xmlns:a16="http://schemas.microsoft.com/office/drawing/2014/main" id="{980A5CAC-696D-C1B9-70F9-CA19F00F49F7}"/>
              </a:ext>
            </a:extLst>
          </p:cNvPr>
          <p:cNvSpPr txBox="1"/>
          <p:nvPr/>
        </p:nvSpPr>
        <p:spPr>
          <a:xfrm>
            <a:off x="5387715" y="1138257"/>
            <a:ext cx="529312" cy="261610"/>
          </a:xfrm>
          <a:prstGeom prst="rect">
            <a:avLst/>
          </a:prstGeom>
          <a:noFill/>
        </p:spPr>
        <p:txBody>
          <a:bodyPr wrap="none" rtlCol="0">
            <a:spAutoFit/>
          </a:bodyPr>
          <a:lstStyle/>
          <a:p>
            <a:r>
              <a:rPr lang="en-US" sz="1100" dirty="0"/>
              <a:t>8 </a:t>
            </a:r>
            <a:r>
              <a:rPr lang="en-US" sz="1100" dirty="0" err="1"/>
              <a:t>msb</a:t>
            </a:r>
            <a:endParaRPr lang="en-US" sz="1100" dirty="0"/>
          </a:p>
        </p:txBody>
      </p:sp>
      <p:cxnSp>
        <p:nvCxnSpPr>
          <p:cNvPr id="139" name="Straight Arrow Connector 138">
            <a:extLst>
              <a:ext uri="{FF2B5EF4-FFF2-40B4-BE49-F238E27FC236}">
                <a16:creationId xmlns:a16="http://schemas.microsoft.com/office/drawing/2014/main" id="{3463C2FE-6ED1-85F3-DD91-70DF8769AA2B}"/>
              </a:ext>
            </a:extLst>
          </p:cNvPr>
          <p:cNvCxnSpPr>
            <a:cxnSpLocks/>
          </p:cNvCxnSpPr>
          <p:nvPr/>
        </p:nvCxnSpPr>
        <p:spPr>
          <a:xfrm>
            <a:off x="6764110" y="1352186"/>
            <a:ext cx="932296"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41" name="Straight Arrow Connector 140">
            <a:extLst>
              <a:ext uri="{FF2B5EF4-FFF2-40B4-BE49-F238E27FC236}">
                <a16:creationId xmlns:a16="http://schemas.microsoft.com/office/drawing/2014/main" id="{F56E5EF4-DFAB-DAF9-FAB6-FE9EE1BE33C9}"/>
              </a:ext>
            </a:extLst>
          </p:cNvPr>
          <p:cNvCxnSpPr>
            <a:cxnSpLocks/>
          </p:cNvCxnSpPr>
          <p:nvPr/>
        </p:nvCxnSpPr>
        <p:spPr>
          <a:xfrm>
            <a:off x="6749651" y="1704477"/>
            <a:ext cx="932296"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57" name="Connector: Elbow 156">
            <a:extLst>
              <a:ext uri="{FF2B5EF4-FFF2-40B4-BE49-F238E27FC236}">
                <a16:creationId xmlns:a16="http://schemas.microsoft.com/office/drawing/2014/main" id="{898118BB-E26B-1008-6226-CE4730FD8F6D}"/>
              </a:ext>
            </a:extLst>
          </p:cNvPr>
          <p:cNvCxnSpPr>
            <a:cxnSpLocks/>
            <a:stCxn id="112" idx="0"/>
            <a:endCxn id="171" idx="3"/>
          </p:cNvCxnSpPr>
          <p:nvPr/>
        </p:nvCxnSpPr>
        <p:spPr>
          <a:xfrm rot="16200000" flipV="1">
            <a:off x="2509673" y="4465160"/>
            <a:ext cx="390035" cy="336923"/>
          </a:xfrm>
          <a:prstGeom prst="bentConnector2">
            <a:avLst/>
          </a:prstGeom>
          <a:ln>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0" name="Connector: Elbow 159">
            <a:extLst>
              <a:ext uri="{FF2B5EF4-FFF2-40B4-BE49-F238E27FC236}">
                <a16:creationId xmlns:a16="http://schemas.microsoft.com/office/drawing/2014/main" id="{741F6AAE-E616-7CA1-1616-727DD2B336A9}"/>
              </a:ext>
            </a:extLst>
          </p:cNvPr>
          <p:cNvCxnSpPr>
            <a:cxnSpLocks/>
            <a:stCxn id="112" idx="0"/>
            <a:endCxn id="164" idx="3"/>
          </p:cNvCxnSpPr>
          <p:nvPr/>
        </p:nvCxnSpPr>
        <p:spPr>
          <a:xfrm rot="16200000" flipV="1">
            <a:off x="2222795" y="4178282"/>
            <a:ext cx="963790" cy="336923"/>
          </a:xfrm>
          <a:prstGeom prst="bentConnector2">
            <a:avLst/>
          </a:prstGeom>
          <a:ln>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hlinkClick r:id="rId13" action="ppaction://hlinksldjump"/>
            <a:extLst>
              <a:ext uri="{FF2B5EF4-FFF2-40B4-BE49-F238E27FC236}">
                <a16:creationId xmlns:a16="http://schemas.microsoft.com/office/drawing/2014/main" id="{A85457E7-0A17-A2F7-3CB9-3D5AB0E7E6E5}"/>
              </a:ext>
            </a:extLst>
          </p:cNvPr>
          <p:cNvSpPr/>
          <p:nvPr/>
        </p:nvSpPr>
        <p:spPr>
          <a:xfrm>
            <a:off x="1532925" y="3585225"/>
            <a:ext cx="1005840" cy="365760"/>
          </a:xfrm>
          <a:prstGeom prst="rect">
            <a:avLst/>
          </a:prstGeom>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en-US" sz="1400" dirty="0"/>
              <a:t>Data Pointer</a:t>
            </a:r>
          </a:p>
        </p:txBody>
      </p:sp>
      <p:cxnSp>
        <p:nvCxnSpPr>
          <p:cNvPr id="177" name="Connector: Elbow 176">
            <a:extLst>
              <a:ext uri="{FF2B5EF4-FFF2-40B4-BE49-F238E27FC236}">
                <a16:creationId xmlns:a16="http://schemas.microsoft.com/office/drawing/2014/main" id="{100EC02C-79B7-FC12-6DC4-1BB47EAC4321}"/>
              </a:ext>
            </a:extLst>
          </p:cNvPr>
          <p:cNvCxnSpPr>
            <a:cxnSpLocks/>
            <a:stCxn id="112" idx="0"/>
            <a:endCxn id="168" idx="3"/>
          </p:cNvCxnSpPr>
          <p:nvPr/>
        </p:nvCxnSpPr>
        <p:spPr>
          <a:xfrm rot="16200000" flipV="1">
            <a:off x="1935917" y="3891404"/>
            <a:ext cx="1537546" cy="336923"/>
          </a:xfrm>
          <a:prstGeom prst="bentConnector2">
            <a:avLst/>
          </a:prstGeom>
          <a:ln>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0" name="Connector: Elbow 179">
            <a:extLst>
              <a:ext uri="{FF2B5EF4-FFF2-40B4-BE49-F238E27FC236}">
                <a16:creationId xmlns:a16="http://schemas.microsoft.com/office/drawing/2014/main" id="{37E88183-D48E-5780-FC51-37930368ED76}"/>
              </a:ext>
            </a:extLst>
          </p:cNvPr>
          <p:cNvCxnSpPr>
            <a:cxnSpLocks/>
            <a:stCxn id="112" idx="0"/>
            <a:endCxn id="169" idx="3"/>
          </p:cNvCxnSpPr>
          <p:nvPr/>
        </p:nvCxnSpPr>
        <p:spPr>
          <a:xfrm rot="16200000" flipV="1">
            <a:off x="1649039" y="3604526"/>
            <a:ext cx="2111302" cy="336923"/>
          </a:xfrm>
          <a:prstGeom prst="bentConnector2">
            <a:avLst/>
          </a:prstGeom>
          <a:ln>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7" name="Connector: Elbow 186">
            <a:extLst>
              <a:ext uri="{FF2B5EF4-FFF2-40B4-BE49-F238E27FC236}">
                <a16:creationId xmlns:a16="http://schemas.microsoft.com/office/drawing/2014/main" id="{34070226-3DCE-27ED-333B-A3734C0BF7B9}"/>
              </a:ext>
            </a:extLst>
          </p:cNvPr>
          <p:cNvCxnSpPr>
            <a:cxnSpLocks/>
            <a:stCxn id="112" idx="0"/>
            <a:endCxn id="170" idx="3"/>
          </p:cNvCxnSpPr>
          <p:nvPr/>
        </p:nvCxnSpPr>
        <p:spPr>
          <a:xfrm rot="16200000" flipV="1">
            <a:off x="1362161" y="3317648"/>
            <a:ext cx="2685058" cy="336923"/>
          </a:xfrm>
          <a:prstGeom prst="bentConnector2">
            <a:avLst/>
          </a:prstGeom>
          <a:ln>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2" name="TextBox 191">
            <a:extLst>
              <a:ext uri="{FF2B5EF4-FFF2-40B4-BE49-F238E27FC236}">
                <a16:creationId xmlns:a16="http://schemas.microsoft.com/office/drawing/2014/main" id="{872EF9E5-039B-047F-F599-9A8F60726343}"/>
              </a:ext>
            </a:extLst>
          </p:cNvPr>
          <p:cNvSpPr txBox="1"/>
          <p:nvPr/>
        </p:nvSpPr>
        <p:spPr>
          <a:xfrm>
            <a:off x="2471006" y="2684832"/>
            <a:ext cx="304892" cy="230832"/>
          </a:xfrm>
          <a:prstGeom prst="rect">
            <a:avLst/>
          </a:prstGeom>
          <a:noFill/>
        </p:spPr>
        <p:txBody>
          <a:bodyPr wrap="none" rtlCol="0">
            <a:spAutoFit/>
          </a:bodyPr>
          <a:lstStyle/>
          <a:p>
            <a:r>
              <a:rPr lang="en-US" sz="900" dirty="0"/>
              <a:t>PC</a:t>
            </a:r>
          </a:p>
        </p:txBody>
      </p:sp>
      <p:sp>
        <p:nvSpPr>
          <p:cNvPr id="193" name="TextBox 192">
            <a:extLst>
              <a:ext uri="{FF2B5EF4-FFF2-40B4-BE49-F238E27FC236}">
                <a16:creationId xmlns:a16="http://schemas.microsoft.com/office/drawing/2014/main" id="{F6DB1294-AAE0-4A6A-108F-01BF32DE7BAA}"/>
              </a:ext>
            </a:extLst>
          </p:cNvPr>
          <p:cNvSpPr txBox="1"/>
          <p:nvPr/>
        </p:nvSpPr>
        <p:spPr>
          <a:xfrm>
            <a:off x="2471006" y="3262102"/>
            <a:ext cx="296876" cy="230832"/>
          </a:xfrm>
          <a:prstGeom prst="rect">
            <a:avLst/>
          </a:prstGeom>
          <a:noFill/>
        </p:spPr>
        <p:txBody>
          <a:bodyPr wrap="none" rtlCol="0">
            <a:spAutoFit/>
          </a:bodyPr>
          <a:lstStyle/>
          <a:p>
            <a:r>
              <a:rPr lang="en-US" sz="900" dirty="0"/>
              <a:t>SP</a:t>
            </a:r>
          </a:p>
        </p:txBody>
      </p:sp>
      <p:sp>
        <p:nvSpPr>
          <p:cNvPr id="194" name="TextBox 193">
            <a:extLst>
              <a:ext uri="{FF2B5EF4-FFF2-40B4-BE49-F238E27FC236}">
                <a16:creationId xmlns:a16="http://schemas.microsoft.com/office/drawing/2014/main" id="{11324B96-2595-A49A-603B-0FF8D8870AD7}"/>
              </a:ext>
            </a:extLst>
          </p:cNvPr>
          <p:cNvSpPr txBox="1"/>
          <p:nvPr/>
        </p:nvSpPr>
        <p:spPr>
          <a:xfrm>
            <a:off x="2471006" y="3812465"/>
            <a:ext cx="314510" cy="230832"/>
          </a:xfrm>
          <a:prstGeom prst="rect">
            <a:avLst/>
          </a:prstGeom>
          <a:noFill/>
        </p:spPr>
        <p:txBody>
          <a:bodyPr wrap="none" rtlCol="0">
            <a:spAutoFit/>
          </a:bodyPr>
          <a:lstStyle/>
          <a:p>
            <a:r>
              <a:rPr lang="en-US" sz="900" dirty="0"/>
              <a:t>DP</a:t>
            </a:r>
          </a:p>
        </p:txBody>
      </p:sp>
      <p:sp>
        <p:nvSpPr>
          <p:cNvPr id="195" name="TextBox 194">
            <a:extLst>
              <a:ext uri="{FF2B5EF4-FFF2-40B4-BE49-F238E27FC236}">
                <a16:creationId xmlns:a16="http://schemas.microsoft.com/office/drawing/2014/main" id="{B90FF7B1-AD84-2A2D-EFB8-6799B5109499}"/>
              </a:ext>
            </a:extLst>
          </p:cNvPr>
          <p:cNvSpPr txBox="1"/>
          <p:nvPr/>
        </p:nvSpPr>
        <p:spPr>
          <a:xfrm>
            <a:off x="2471006" y="4425885"/>
            <a:ext cx="306494" cy="230832"/>
          </a:xfrm>
          <a:prstGeom prst="rect">
            <a:avLst/>
          </a:prstGeom>
          <a:noFill/>
        </p:spPr>
        <p:txBody>
          <a:bodyPr wrap="none" rtlCol="0">
            <a:spAutoFit/>
          </a:bodyPr>
          <a:lstStyle/>
          <a:p>
            <a:r>
              <a:rPr lang="en-US" sz="900" dirty="0"/>
              <a:t>BP</a:t>
            </a:r>
          </a:p>
        </p:txBody>
      </p:sp>
      <p:sp>
        <p:nvSpPr>
          <p:cNvPr id="196" name="TextBox 195">
            <a:extLst>
              <a:ext uri="{FF2B5EF4-FFF2-40B4-BE49-F238E27FC236}">
                <a16:creationId xmlns:a16="http://schemas.microsoft.com/office/drawing/2014/main" id="{5EB578E3-3BB2-5879-C370-7F52D29B0ACE}"/>
              </a:ext>
            </a:extLst>
          </p:cNvPr>
          <p:cNvSpPr txBox="1"/>
          <p:nvPr/>
        </p:nvSpPr>
        <p:spPr>
          <a:xfrm>
            <a:off x="2471006" y="2126538"/>
            <a:ext cx="524503" cy="369332"/>
          </a:xfrm>
          <a:prstGeom prst="rect">
            <a:avLst/>
          </a:prstGeom>
          <a:noFill/>
        </p:spPr>
        <p:txBody>
          <a:bodyPr wrap="none" rtlCol="0">
            <a:spAutoFit/>
          </a:bodyPr>
          <a:lstStyle/>
          <a:p>
            <a:r>
              <a:rPr lang="en-US" sz="900" dirty="0" err="1"/>
              <a:t>TmpAR</a:t>
            </a:r>
            <a:endParaRPr lang="en-US" sz="900" dirty="0"/>
          </a:p>
          <a:p>
            <a:endParaRPr lang="en-US" sz="900" dirty="0"/>
          </a:p>
        </p:txBody>
      </p:sp>
    </p:spTree>
    <p:extLst>
      <p:ext uri="{BB962C8B-B14F-4D97-AF65-F5344CB8AC3E}">
        <p14:creationId xmlns:p14="http://schemas.microsoft.com/office/powerpoint/2010/main" val="2266690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05472-50A2-E7D3-F3E3-A0A3B32FDA41}"/>
            </a:ext>
          </a:extLst>
        </p:cNvPr>
        <p:cNvGrpSpPr/>
        <p:nvPr/>
      </p:nvGrpSpPr>
      <p:grpSpPr>
        <a:xfrm>
          <a:off x="0" y="0"/>
          <a:ext cx="0" cy="0"/>
          <a:chOff x="0" y="0"/>
          <a:chExt cx="0" cy="0"/>
        </a:xfrm>
      </p:grpSpPr>
      <p:sp>
        <p:nvSpPr>
          <p:cNvPr id="16" name="Title 15">
            <a:extLst>
              <a:ext uri="{FF2B5EF4-FFF2-40B4-BE49-F238E27FC236}">
                <a16:creationId xmlns:a16="http://schemas.microsoft.com/office/drawing/2014/main" id="{4C5849BF-4643-977C-2129-6E960F424580}"/>
              </a:ext>
            </a:extLst>
          </p:cNvPr>
          <p:cNvSpPr>
            <a:spLocks noGrp="1"/>
          </p:cNvSpPr>
          <p:nvPr>
            <p:ph type="ctrTitle"/>
          </p:nvPr>
        </p:nvSpPr>
        <p:spPr/>
        <p:txBody>
          <a:bodyPr/>
          <a:lstStyle/>
          <a:p>
            <a:r>
              <a:rPr lang="en-US" dirty="0"/>
              <a:t>ByteFrost Addressing Modes</a:t>
            </a:r>
          </a:p>
        </p:txBody>
      </p:sp>
      <p:sp>
        <p:nvSpPr>
          <p:cNvPr id="18" name="Rectangle: Rounded Corners 17">
            <a:extLst>
              <a:ext uri="{FF2B5EF4-FFF2-40B4-BE49-F238E27FC236}">
                <a16:creationId xmlns:a16="http://schemas.microsoft.com/office/drawing/2014/main" id="{AD5AB008-47BB-7A9F-9FE5-C24C20F61F8E}"/>
              </a:ext>
            </a:extLst>
          </p:cNvPr>
          <p:cNvSpPr/>
          <p:nvPr/>
        </p:nvSpPr>
        <p:spPr>
          <a:xfrm>
            <a:off x="795338" y="1194608"/>
            <a:ext cx="1280160" cy="548640"/>
          </a:xfrm>
          <a:prstGeom prst="roundRect">
            <a:avLst/>
          </a:prstGeom>
          <a:solidFill>
            <a:schemeClr val="bg1">
              <a:lumMod val="75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Immediate</a:t>
            </a:r>
          </a:p>
        </p:txBody>
      </p:sp>
      <p:sp>
        <p:nvSpPr>
          <p:cNvPr id="19" name="Rectangle: Rounded Corners 18">
            <a:extLst>
              <a:ext uri="{FF2B5EF4-FFF2-40B4-BE49-F238E27FC236}">
                <a16:creationId xmlns:a16="http://schemas.microsoft.com/office/drawing/2014/main" id="{248F7F1C-C364-557C-11FE-43714C0428DB}"/>
              </a:ext>
            </a:extLst>
          </p:cNvPr>
          <p:cNvSpPr/>
          <p:nvPr/>
        </p:nvSpPr>
        <p:spPr>
          <a:xfrm>
            <a:off x="2124075" y="2148752"/>
            <a:ext cx="1280160" cy="548640"/>
          </a:xfrm>
          <a:prstGeom prst="roundRect">
            <a:avLst/>
          </a:prstGeom>
          <a:solidFill>
            <a:srgbClr val="00B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General Register</a:t>
            </a:r>
          </a:p>
        </p:txBody>
      </p:sp>
      <p:sp>
        <p:nvSpPr>
          <p:cNvPr id="20" name="Rectangle: Rounded Corners 19">
            <a:extLst>
              <a:ext uri="{FF2B5EF4-FFF2-40B4-BE49-F238E27FC236}">
                <a16:creationId xmlns:a16="http://schemas.microsoft.com/office/drawing/2014/main" id="{410DDA3C-2A74-9DCA-3A46-14645AF70D04}"/>
              </a:ext>
            </a:extLst>
          </p:cNvPr>
          <p:cNvSpPr/>
          <p:nvPr/>
        </p:nvSpPr>
        <p:spPr>
          <a:xfrm>
            <a:off x="795338" y="3102896"/>
            <a:ext cx="1280160" cy="548640"/>
          </a:xfrm>
          <a:prstGeom prst="roundRect">
            <a:avLst/>
          </a:prstGeom>
          <a:solidFill>
            <a:schemeClr val="accent4">
              <a:lumMod val="60000"/>
              <a:lumOff val="40000"/>
            </a:schemeClr>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Address Register</a:t>
            </a:r>
          </a:p>
        </p:txBody>
      </p:sp>
      <p:sp>
        <p:nvSpPr>
          <p:cNvPr id="21" name="Rectangle: Rounded Corners 20">
            <a:extLst>
              <a:ext uri="{FF2B5EF4-FFF2-40B4-BE49-F238E27FC236}">
                <a16:creationId xmlns:a16="http://schemas.microsoft.com/office/drawing/2014/main" id="{DAC9BFC3-FE66-6335-C204-A56F91F77BF9}"/>
              </a:ext>
            </a:extLst>
          </p:cNvPr>
          <p:cNvSpPr/>
          <p:nvPr/>
        </p:nvSpPr>
        <p:spPr>
          <a:xfrm>
            <a:off x="3452812" y="1194608"/>
            <a:ext cx="1280160" cy="548640"/>
          </a:xfrm>
          <a:prstGeom prst="roundRect">
            <a:avLst/>
          </a:prstGeom>
          <a:solidFill>
            <a:schemeClr val="accent1">
              <a:lumMod val="60000"/>
              <a:lumOff val="40000"/>
            </a:schemeClr>
          </a:soli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Memory</a:t>
            </a:r>
          </a:p>
        </p:txBody>
      </p:sp>
      <p:sp>
        <p:nvSpPr>
          <p:cNvPr id="24" name="Rectangle 23">
            <a:extLst>
              <a:ext uri="{FF2B5EF4-FFF2-40B4-BE49-F238E27FC236}">
                <a16:creationId xmlns:a16="http://schemas.microsoft.com/office/drawing/2014/main" id="{7A206A7A-2459-2D06-AB28-C3D4070EE540}"/>
              </a:ext>
            </a:extLst>
          </p:cNvPr>
          <p:cNvSpPr/>
          <p:nvPr/>
        </p:nvSpPr>
        <p:spPr>
          <a:xfrm>
            <a:off x="5913120" y="95250"/>
            <a:ext cx="6209030" cy="2560047"/>
          </a:xfrm>
          <a:prstGeom prst="rect">
            <a:avLst/>
          </a:prstGeom>
          <a:solidFill>
            <a:schemeClr val="accent6">
              <a:lumMod val="40000"/>
              <a:lumOff val="60000"/>
            </a:schemeClr>
          </a:solidFill>
        </p:spPr>
        <p:style>
          <a:lnRef idx="1">
            <a:schemeClr val="accent6"/>
          </a:lnRef>
          <a:fillRef idx="2">
            <a:schemeClr val="accent6"/>
          </a:fillRef>
          <a:effectRef idx="1">
            <a:schemeClr val="accent6"/>
          </a:effectRef>
          <a:fontRef idx="minor">
            <a:schemeClr val="dk1"/>
          </a:fontRef>
        </p:style>
        <p:txBody>
          <a:bodyPr rtlCol="0" anchor="ctr"/>
          <a:lstStyle/>
          <a:p>
            <a:r>
              <a:rPr lang="en-US" sz="1200" dirty="0"/>
              <a:t>There are five forms of memory in the ByteFrost – Immediates (read-only), General-Purpose Registers (R0 – R3), Address Registers (DP, SP, PC, BP), Memory (64KB divided into ROM, RAM, and MMIO regions), and Stack</a:t>
            </a:r>
          </a:p>
          <a:p>
            <a:endParaRPr lang="en-US" sz="1200" dirty="0"/>
          </a:p>
          <a:p>
            <a:r>
              <a:rPr lang="en-US" sz="1200" dirty="0"/>
              <a:t>Every solid directed edge (u, v) in the following graph means that memory u can write to memory v with a dedicated instruction.</a:t>
            </a:r>
          </a:p>
          <a:p>
            <a:endParaRPr lang="en-US" sz="1200" dirty="0"/>
          </a:p>
          <a:p>
            <a:r>
              <a:rPr lang="en-US" sz="1200" dirty="0"/>
              <a:t>Every dotted directed edge (u, v) means that the memory u can write to memory v indirectly (i.e., a path exists from u to v but requires multiple instructions to implement).</a:t>
            </a:r>
          </a:p>
          <a:p>
            <a:endParaRPr lang="en-US" sz="1200" dirty="0"/>
          </a:p>
          <a:p>
            <a:r>
              <a:rPr lang="en-US" sz="1200" dirty="0"/>
              <a:t>There are technically 5 x 5 = 25 possible permutations here, but as immediates are read-only, there are in effect only 5 x 4 = 20 possible permutations.</a:t>
            </a:r>
          </a:p>
          <a:p>
            <a:r>
              <a:rPr lang="en-US" sz="1200" dirty="0"/>
              <a:t>Instructions with an asterisk (*) are currently not implemented.</a:t>
            </a:r>
          </a:p>
        </p:txBody>
      </p:sp>
      <p:graphicFrame>
        <p:nvGraphicFramePr>
          <p:cNvPr id="27" name="Table 26">
            <a:extLst>
              <a:ext uri="{FF2B5EF4-FFF2-40B4-BE49-F238E27FC236}">
                <a16:creationId xmlns:a16="http://schemas.microsoft.com/office/drawing/2014/main" id="{D2E86BE9-844B-D11E-5AC8-3D7570F1AAB6}"/>
              </a:ext>
            </a:extLst>
          </p:cNvPr>
          <p:cNvGraphicFramePr>
            <a:graphicFrameLocks noGrp="1"/>
          </p:cNvGraphicFramePr>
          <p:nvPr>
            <p:extLst>
              <p:ext uri="{D42A27DB-BD31-4B8C-83A1-F6EECF244321}">
                <p14:modId xmlns:p14="http://schemas.microsoft.com/office/powerpoint/2010/main" val="2939780305"/>
              </p:ext>
            </p:extLst>
          </p:nvPr>
        </p:nvGraphicFramePr>
        <p:xfrm>
          <a:off x="269339" y="3922694"/>
          <a:ext cx="2743200" cy="2468880"/>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862739801"/>
                    </a:ext>
                  </a:extLst>
                </a:gridCol>
                <a:gridCol w="365760">
                  <a:extLst>
                    <a:ext uri="{9D8B030D-6E8A-4147-A177-3AD203B41FA5}">
                      <a16:colId xmlns:a16="http://schemas.microsoft.com/office/drawing/2014/main" val="877928214"/>
                    </a:ext>
                  </a:extLst>
                </a:gridCol>
                <a:gridCol w="1188720">
                  <a:extLst>
                    <a:ext uri="{9D8B030D-6E8A-4147-A177-3AD203B41FA5}">
                      <a16:colId xmlns:a16="http://schemas.microsoft.com/office/drawing/2014/main" val="3112057589"/>
                    </a:ext>
                  </a:extLst>
                </a:gridCol>
                <a:gridCol w="731520">
                  <a:extLst>
                    <a:ext uri="{9D8B030D-6E8A-4147-A177-3AD203B41FA5}">
                      <a16:colId xmlns:a16="http://schemas.microsoft.com/office/drawing/2014/main" val="3741578217"/>
                    </a:ext>
                  </a:extLst>
                </a:gridCol>
              </a:tblGrid>
              <a:tr h="244344">
                <a:tc>
                  <a:txBody>
                    <a:bodyPr/>
                    <a:lstStyle/>
                    <a:p>
                      <a:pPr algn="ctr"/>
                      <a:r>
                        <a:rPr lang="en-US" sz="900" dirty="0" err="1"/>
                        <a:t>Src</a:t>
                      </a:r>
                      <a:endParaRPr lang="en-US" sz="900" dirty="0"/>
                    </a:p>
                  </a:txBody>
                  <a:tcPr marL="9144" marR="9144"/>
                </a:tc>
                <a:tc>
                  <a:txBody>
                    <a:bodyPr/>
                    <a:lstStyle/>
                    <a:p>
                      <a:pPr algn="ctr"/>
                      <a:r>
                        <a:rPr lang="en-US" sz="900" dirty="0"/>
                        <a:t>Dest</a:t>
                      </a:r>
                    </a:p>
                  </a:txBody>
                  <a:tcPr marL="9144" marR="9144"/>
                </a:tc>
                <a:tc>
                  <a:txBody>
                    <a:bodyPr/>
                    <a:lstStyle/>
                    <a:p>
                      <a:r>
                        <a:rPr lang="en-US" sz="900" dirty="0"/>
                        <a:t>Semantics</a:t>
                      </a:r>
                    </a:p>
                  </a:txBody>
                  <a:tcPr marL="9144" marR="9144"/>
                </a:tc>
                <a:tc>
                  <a:txBody>
                    <a:bodyPr/>
                    <a:lstStyle/>
                    <a:p>
                      <a:r>
                        <a:rPr lang="en-US" sz="900" dirty="0"/>
                        <a:t>Dedicated Instruction?</a:t>
                      </a:r>
                    </a:p>
                  </a:txBody>
                  <a:tcPr marL="9144" marR="9144"/>
                </a:tc>
                <a:extLst>
                  <a:ext uri="{0D108BD9-81ED-4DB2-BD59-A6C34878D82A}">
                    <a16:rowId xmlns:a16="http://schemas.microsoft.com/office/drawing/2014/main" val="2409673025"/>
                  </a:ext>
                </a:extLst>
              </a:tr>
              <a:tr h="244344">
                <a:tc>
                  <a:txBody>
                    <a:bodyPr/>
                    <a:lstStyle/>
                    <a:p>
                      <a:pPr algn="ctr"/>
                      <a:r>
                        <a:rPr lang="en-US" sz="900" dirty="0"/>
                        <a:t>Imm</a:t>
                      </a:r>
                    </a:p>
                  </a:txBody>
                  <a:tcPr marL="9144" marR="9144">
                    <a:solidFill>
                      <a:srgbClr val="CECECE"/>
                    </a:solidFill>
                  </a:tcPr>
                </a:tc>
                <a:tc>
                  <a:txBody>
                    <a:bodyPr/>
                    <a:lstStyle/>
                    <a:p>
                      <a:pPr algn="ctr"/>
                      <a:r>
                        <a:rPr lang="en-US" sz="900" dirty="0">
                          <a:solidFill>
                            <a:schemeClr val="bg1"/>
                          </a:solidFill>
                        </a:rPr>
                        <a:t>GR</a:t>
                      </a:r>
                    </a:p>
                  </a:txBody>
                  <a:tcPr marL="9144" marR="9144">
                    <a:solidFill>
                      <a:srgbClr val="00B050"/>
                    </a:solidFill>
                  </a:tcPr>
                </a:tc>
                <a:tc>
                  <a:txBody>
                    <a:bodyPr/>
                    <a:lstStyle/>
                    <a:p>
                      <a:r>
                        <a:rPr lang="en-US" sz="900" dirty="0"/>
                        <a:t>Rd = Imm_8</a:t>
                      </a:r>
                    </a:p>
                    <a:p>
                      <a:r>
                        <a:rPr lang="en-US" sz="900" dirty="0"/>
                        <a:t>(LDR Rd, Imm)</a:t>
                      </a:r>
                    </a:p>
                  </a:txBody>
                  <a:tcPr marL="9144" marR="9144"/>
                </a:tc>
                <a:tc>
                  <a:txBody>
                    <a:bodyPr/>
                    <a:lstStyle/>
                    <a:p>
                      <a:r>
                        <a:rPr lang="en-US" sz="900" dirty="0"/>
                        <a:t>Yes (LDR)</a:t>
                      </a:r>
                    </a:p>
                  </a:txBody>
                  <a:tcPr marL="9144" marR="9144"/>
                </a:tc>
                <a:extLst>
                  <a:ext uri="{0D108BD9-81ED-4DB2-BD59-A6C34878D82A}">
                    <a16:rowId xmlns:a16="http://schemas.microsoft.com/office/drawing/2014/main" val="1813460202"/>
                  </a:ext>
                </a:extLst>
              </a:tr>
              <a:tr h="244344">
                <a:tc>
                  <a:txBody>
                    <a:bodyPr/>
                    <a:lstStyle/>
                    <a:p>
                      <a:pPr algn="ctr"/>
                      <a:r>
                        <a:rPr lang="en-US" sz="900" dirty="0">
                          <a:solidFill>
                            <a:schemeClr val="bg1"/>
                          </a:solidFill>
                        </a:rPr>
                        <a:t>GR</a:t>
                      </a:r>
                    </a:p>
                  </a:txBody>
                  <a:tcPr marL="9144" marR="9144">
                    <a:solidFill>
                      <a:srgbClr val="00B050"/>
                    </a:solidFill>
                  </a:tcPr>
                </a:tc>
                <a:tc>
                  <a:txBody>
                    <a:bodyPr/>
                    <a:lstStyle/>
                    <a:p>
                      <a:pPr algn="ctr"/>
                      <a:r>
                        <a:rPr lang="en-US" sz="900" dirty="0">
                          <a:solidFill>
                            <a:schemeClr val="bg1"/>
                          </a:solidFill>
                        </a:rPr>
                        <a:t>GR</a:t>
                      </a:r>
                    </a:p>
                  </a:txBody>
                  <a:tcPr marL="9144" marR="9144">
                    <a:solidFill>
                      <a:srgbClr val="00B050"/>
                    </a:solidFill>
                  </a:tcPr>
                </a:tc>
                <a:tc>
                  <a:txBody>
                    <a:bodyPr/>
                    <a:lstStyle/>
                    <a:p>
                      <a:r>
                        <a:rPr lang="en-US" sz="900" dirty="0"/>
                        <a:t>Rd = Rs</a:t>
                      </a:r>
                    </a:p>
                    <a:p>
                      <a:r>
                        <a:rPr lang="en-US" sz="900" dirty="0"/>
                        <a:t>(MOV Rd, Rs)</a:t>
                      </a:r>
                    </a:p>
                  </a:txBody>
                  <a:tcPr marL="9144" marR="9144"/>
                </a:tc>
                <a:tc>
                  <a:txBody>
                    <a:bodyPr/>
                    <a:lstStyle/>
                    <a:p>
                      <a:r>
                        <a:rPr lang="en-US" sz="900" dirty="0"/>
                        <a:t>Yes (MOV)</a:t>
                      </a:r>
                    </a:p>
                  </a:txBody>
                  <a:tcPr marL="9144" marR="9144"/>
                </a:tc>
                <a:extLst>
                  <a:ext uri="{0D108BD9-81ED-4DB2-BD59-A6C34878D82A}">
                    <a16:rowId xmlns:a16="http://schemas.microsoft.com/office/drawing/2014/main" val="4238323"/>
                  </a:ext>
                </a:extLst>
              </a:tr>
              <a:tr h="184152">
                <a:tc>
                  <a:txBody>
                    <a:bodyPr/>
                    <a:lstStyle/>
                    <a:p>
                      <a:pPr algn="ctr"/>
                      <a:r>
                        <a:rPr lang="en-US" sz="900" dirty="0"/>
                        <a:t>AR</a:t>
                      </a:r>
                    </a:p>
                  </a:txBody>
                  <a:tcPr marL="9144" marR="9144">
                    <a:solidFill>
                      <a:schemeClr val="accent4">
                        <a:lumMod val="60000"/>
                        <a:lumOff val="40000"/>
                      </a:schemeClr>
                    </a:solidFill>
                  </a:tcPr>
                </a:tc>
                <a:tc>
                  <a:txBody>
                    <a:bodyPr/>
                    <a:lstStyle/>
                    <a:p>
                      <a:pPr algn="ctr"/>
                      <a:r>
                        <a:rPr lang="en-US" sz="900" dirty="0">
                          <a:solidFill>
                            <a:schemeClr val="bg1"/>
                          </a:solidFill>
                        </a:rPr>
                        <a:t>GR</a:t>
                      </a:r>
                    </a:p>
                  </a:txBody>
                  <a:tcPr marL="9144" marR="9144">
                    <a:solidFill>
                      <a:srgbClr val="00B050"/>
                    </a:solidFill>
                  </a:tcPr>
                </a:tc>
                <a:tc>
                  <a:txBody>
                    <a:bodyPr/>
                    <a:lstStyle/>
                    <a:p>
                      <a:r>
                        <a:rPr lang="en-US" sz="900" dirty="0"/>
                        <a:t>Rd = </a:t>
                      </a:r>
                      <a:r>
                        <a:rPr lang="en-US" sz="900" dirty="0" err="1"/>
                        <a:t>ARSrc</a:t>
                      </a:r>
                      <a:r>
                        <a:rPr lang="en-US" sz="900" dirty="0"/>
                        <a:t>[L/H]</a:t>
                      </a:r>
                    </a:p>
                  </a:txBody>
                  <a:tcPr marL="9144" marR="9144"/>
                </a:tc>
                <a:tc>
                  <a:txBody>
                    <a:bodyPr/>
                    <a:lstStyle/>
                    <a:p>
                      <a:r>
                        <a:rPr lang="en-US" sz="900" dirty="0"/>
                        <a:t>Yes (*)</a:t>
                      </a:r>
                    </a:p>
                  </a:txBody>
                  <a:tcPr marL="9144" marR="9144"/>
                </a:tc>
                <a:extLst>
                  <a:ext uri="{0D108BD9-81ED-4DB2-BD59-A6C34878D82A}">
                    <a16:rowId xmlns:a16="http://schemas.microsoft.com/office/drawing/2014/main" val="3392672825"/>
                  </a:ext>
                </a:extLst>
              </a:tr>
              <a:tr h="610860">
                <a:tc>
                  <a:txBody>
                    <a:bodyPr/>
                    <a:lstStyle/>
                    <a:p>
                      <a:pPr algn="ctr"/>
                      <a:r>
                        <a:rPr lang="en-US" sz="900" dirty="0"/>
                        <a:t>Memory</a:t>
                      </a:r>
                    </a:p>
                  </a:txBody>
                  <a:tcPr marL="9144" marR="9144">
                    <a:solidFill>
                      <a:schemeClr val="accent1">
                        <a:lumMod val="60000"/>
                        <a:lumOff val="40000"/>
                      </a:schemeClr>
                    </a:solidFill>
                  </a:tcPr>
                </a:tc>
                <a:tc>
                  <a:txBody>
                    <a:bodyPr/>
                    <a:lstStyle/>
                    <a:p>
                      <a:pPr algn="ctr"/>
                      <a:r>
                        <a:rPr lang="en-US" sz="900" dirty="0">
                          <a:solidFill>
                            <a:schemeClr val="bg1"/>
                          </a:solidFill>
                        </a:rPr>
                        <a:t>GR</a:t>
                      </a:r>
                    </a:p>
                  </a:txBody>
                  <a:tcPr marL="9144" marR="9144">
                    <a:solidFill>
                      <a:srgbClr val="00B050"/>
                    </a:solidFill>
                  </a:tcPr>
                </a:tc>
                <a:tc>
                  <a:txBody>
                    <a:bodyPr/>
                    <a:lstStyle/>
                    <a:p>
                      <a:r>
                        <a:rPr lang="en-US" sz="900" dirty="0"/>
                        <a:t>(LMA) Rd = *{%DP[H], Imm}, DP[L] = Imm</a:t>
                      </a:r>
                    </a:p>
                    <a:p>
                      <a:r>
                        <a:rPr lang="en-US" sz="900" dirty="0"/>
                        <a:t>(LMR) Rd = *{%DP[H], Rs}, DP[L] = Rs</a:t>
                      </a:r>
                    </a:p>
                    <a:p>
                      <a:r>
                        <a:rPr lang="en-US" sz="900" dirty="0"/>
                        <a:t>(LMO*) Rd = *(</a:t>
                      </a:r>
                      <a:r>
                        <a:rPr lang="en-US" sz="900" dirty="0" err="1"/>
                        <a:t>ARSrc</a:t>
                      </a:r>
                      <a:r>
                        <a:rPr lang="en-US" sz="900" dirty="0"/>
                        <a:t> + Imm)</a:t>
                      </a:r>
                    </a:p>
                  </a:txBody>
                  <a:tcPr marL="9144" marR="9144"/>
                </a:tc>
                <a:tc>
                  <a:txBody>
                    <a:bodyPr/>
                    <a:lstStyle/>
                    <a:p>
                      <a:r>
                        <a:rPr lang="en-US" sz="900" dirty="0"/>
                        <a:t>Yes (LMA, LMR, *</a:t>
                      </a:r>
                    </a:p>
                  </a:txBody>
                  <a:tcPr marL="9144" marR="9144"/>
                </a:tc>
                <a:extLst>
                  <a:ext uri="{0D108BD9-81ED-4DB2-BD59-A6C34878D82A}">
                    <a16:rowId xmlns:a16="http://schemas.microsoft.com/office/drawing/2014/main" val="3097999017"/>
                  </a:ext>
                </a:extLst>
              </a:tr>
              <a:tr h="184152">
                <a:tc>
                  <a:txBody>
                    <a:bodyPr/>
                    <a:lstStyle/>
                    <a:p>
                      <a:pPr algn="ctr"/>
                      <a:r>
                        <a:rPr lang="en-US" sz="900" dirty="0"/>
                        <a:t>Stack</a:t>
                      </a:r>
                    </a:p>
                  </a:txBody>
                  <a:tcPr marL="9144" marR="9144">
                    <a:solidFill>
                      <a:schemeClr val="accent2">
                        <a:lumMod val="60000"/>
                        <a:lumOff val="40000"/>
                      </a:schemeClr>
                    </a:solidFill>
                  </a:tcPr>
                </a:tc>
                <a:tc>
                  <a:txBody>
                    <a:bodyPr/>
                    <a:lstStyle/>
                    <a:p>
                      <a:pPr algn="ctr"/>
                      <a:r>
                        <a:rPr lang="en-US" sz="900" dirty="0">
                          <a:solidFill>
                            <a:schemeClr val="bg1"/>
                          </a:solidFill>
                        </a:rPr>
                        <a:t>GR</a:t>
                      </a:r>
                    </a:p>
                  </a:txBody>
                  <a:tcPr marL="9144" marR="9144">
                    <a:solidFill>
                      <a:srgbClr val="00B050"/>
                    </a:solidFill>
                  </a:tcPr>
                </a:tc>
                <a:tc>
                  <a:txBody>
                    <a:bodyPr/>
                    <a:lstStyle/>
                    <a:p>
                      <a:r>
                        <a:rPr lang="en-US" sz="900" dirty="0"/>
                        <a:t>Rd = *(SP), SP++</a:t>
                      </a:r>
                    </a:p>
                  </a:txBody>
                  <a:tcPr marL="9144" marR="9144"/>
                </a:tc>
                <a:tc>
                  <a:txBody>
                    <a:bodyPr/>
                    <a:lstStyle/>
                    <a:p>
                      <a:r>
                        <a:rPr lang="en-US" sz="900" dirty="0"/>
                        <a:t>Yes (POP)</a:t>
                      </a:r>
                    </a:p>
                  </a:txBody>
                  <a:tcPr marL="9144" marR="9144"/>
                </a:tc>
                <a:extLst>
                  <a:ext uri="{0D108BD9-81ED-4DB2-BD59-A6C34878D82A}">
                    <a16:rowId xmlns:a16="http://schemas.microsoft.com/office/drawing/2014/main" val="3161806886"/>
                  </a:ext>
                </a:extLst>
              </a:tr>
            </a:tbl>
          </a:graphicData>
        </a:graphic>
      </p:graphicFrame>
      <p:sp>
        <p:nvSpPr>
          <p:cNvPr id="8" name="Rectangle: Rounded Corners 7">
            <a:extLst>
              <a:ext uri="{FF2B5EF4-FFF2-40B4-BE49-F238E27FC236}">
                <a16:creationId xmlns:a16="http://schemas.microsoft.com/office/drawing/2014/main" id="{BF2657BB-2261-20EA-1A05-AFAD3CA9488D}"/>
              </a:ext>
            </a:extLst>
          </p:cNvPr>
          <p:cNvSpPr/>
          <p:nvPr/>
        </p:nvSpPr>
        <p:spPr>
          <a:xfrm>
            <a:off x="3452812" y="3102896"/>
            <a:ext cx="1280160" cy="548640"/>
          </a:xfrm>
          <a:prstGeom prst="roundRect">
            <a:avLst/>
          </a:prstGeom>
          <a:solidFill>
            <a:schemeClr val="accent2">
              <a:lumMod val="60000"/>
              <a:lumOff val="40000"/>
            </a:schemeClr>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Stack</a:t>
            </a:r>
          </a:p>
        </p:txBody>
      </p:sp>
      <p:grpSp>
        <p:nvGrpSpPr>
          <p:cNvPr id="30" name="Group 29">
            <a:extLst>
              <a:ext uri="{FF2B5EF4-FFF2-40B4-BE49-F238E27FC236}">
                <a16:creationId xmlns:a16="http://schemas.microsoft.com/office/drawing/2014/main" id="{B43E10A7-BF18-74B6-8E25-148822ECAC82}"/>
              </a:ext>
            </a:extLst>
          </p:cNvPr>
          <p:cNvGrpSpPr/>
          <p:nvPr/>
        </p:nvGrpSpPr>
        <p:grpSpPr>
          <a:xfrm>
            <a:off x="1435418" y="1743248"/>
            <a:ext cx="904097" cy="396268"/>
            <a:chOff x="1435418" y="1743248"/>
            <a:chExt cx="904097" cy="396268"/>
          </a:xfrm>
        </p:grpSpPr>
        <p:cxnSp>
          <p:nvCxnSpPr>
            <p:cNvPr id="10" name="Straight Arrow Connector 9">
              <a:extLst>
                <a:ext uri="{FF2B5EF4-FFF2-40B4-BE49-F238E27FC236}">
                  <a16:creationId xmlns:a16="http://schemas.microsoft.com/office/drawing/2014/main" id="{6490661C-6B05-233E-AF05-34D636F47D5D}"/>
                </a:ext>
              </a:extLst>
            </p:cNvPr>
            <p:cNvCxnSpPr>
              <a:cxnSpLocks/>
              <a:stCxn id="18" idx="2"/>
            </p:cNvCxnSpPr>
            <p:nvPr/>
          </p:nvCxnSpPr>
          <p:spPr>
            <a:xfrm>
              <a:off x="1435418" y="1743248"/>
              <a:ext cx="837405" cy="396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2B675C2-587E-CD89-DAA2-57BAED0D7597}"/>
                </a:ext>
              </a:extLst>
            </p:cNvPr>
            <p:cNvSpPr txBox="1"/>
            <p:nvPr/>
          </p:nvSpPr>
          <p:spPr>
            <a:xfrm>
              <a:off x="1870284" y="1796986"/>
              <a:ext cx="469231" cy="246221"/>
            </a:xfrm>
            <a:prstGeom prst="rect">
              <a:avLst/>
            </a:prstGeom>
            <a:noFill/>
          </p:spPr>
          <p:txBody>
            <a:bodyPr wrap="square" rtlCol="0">
              <a:spAutoFit/>
            </a:bodyPr>
            <a:lstStyle/>
            <a:p>
              <a:r>
                <a:rPr lang="en-US" sz="1000" dirty="0"/>
                <a:t>LDR</a:t>
              </a:r>
            </a:p>
          </p:txBody>
        </p:sp>
      </p:grpSp>
      <p:cxnSp>
        <p:nvCxnSpPr>
          <p:cNvPr id="15" name="Straight Arrow Connector 14">
            <a:extLst>
              <a:ext uri="{FF2B5EF4-FFF2-40B4-BE49-F238E27FC236}">
                <a16:creationId xmlns:a16="http://schemas.microsoft.com/office/drawing/2014/main" id="{854D6BE3-9A99-271E-8212-040BC816AB6A}"/>
              </a:ext>
            </a:extLst>
          </p:cNvPr>
          <p:cNvCxnSpPr>
            <a:cxnSpLocks/>
          </p:cNvCxnSpPr>
          <p:nvPr/>
        </p:nvCxnSpPr>
        <p:spPr>
          <a:xfrm flipV="1">
            <a:off x="1703971" y="2706628"/>
            <a:ext cx="651833" cy="387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DA09A44-42E1-ECD2-41B7-02FA1457A169}"/>
              </a:ext>
            </a:extLst>
          </p:cNvPr>
          <p:cNvSpPr txBox="1"/>
          <p:nvPr/>
        </p:nvSpPr>
        <p:spPr>
          <a:xfrm>
            <a:off x="1505166" y="2139516"/>
            <a:ext cx="454243" cy="246221"/>
          </a:xfrm>
          <a:prstGeom prst="rect">
            <a:avLst/>
          </a:prstGeom>
          <a:noFill/>
        </p:spPr>
        <p:txBody>
          <a:bodyPr wrap="square" rtlCol="0">
            <a:spAutoFit/>
          </a:bodyPr>
          <a:lstStyle/>
          <a:p>
            <a:r>
              <a:rPr lang="en-US" sz="1000" dirty="0"/>
              <a:t>MOV</a:t>
            </a:r>
          </a:p>
        </p:txBody>
      </p:sp>
      <p:graphicFrame>
        <p:nvGraphicFramePr>
          <p:cNvPr id="37" name="Table 36">
            <a:extLst>
              <a:ext uri="{FF2B5EF4-FFF2-40B4-BE49-F238E27FC236}">
                <a16:creationId xmlns:a16="http://schemas.microsoft.com/office/drawing/2014/main" id="{4B8C28A2-BAD3-35C8-98BC-2440AAE7A33C}"/>
              </a:ext>
            </a:extLst>
          </p:cNvPr>
          <p:cNvGraphicFramePr>
            <a:graphicFrameLocks noGrp="1"/>
          </p:cNvGraphicFramePr>
          <p:nvPr>
            <p:extLst>
              <p:ext uri="{D42A27DB-BD31-4B8C-83A1-F6EECF244321}">
                <p14:modId xmlns:p14="http://schemas.microsoft.com/office/powerpoint/2010/main" val="2353402043"/>
              </p:ext>
            </p:extLst>
          </p:nvPr>
        </p:nvGraphicFramePr>
        <p:xfrm>
          <a:off x="3347817" y="3922694"/>
          <a:ext cx="2743200" cy="2478105"/>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862739801"/>
                    </a:ext>
                  </a:extLst>
                </a:gridCol>
                <a:gridCol w="365760">
                  <a:extLst>
                    <a:ext uri="{9D8B030D-6E8A-4147-A177-3AD203B41FA5}">
                      <a16:colId xmlns:a16="http://schemas.microsoft.com/office/drawing/2014/main" val="877928214"/>
                    </a:ext>
                  </a:extLst>
                </a:gridCol>
                <a:gridCol w="1188720">
                  <a:extLst>
                    <a:ext uri="{9D8B030D-6E8A-4147-A177-3AD203B41FA5}">
                      <a16:colId xmlns:a16="http://schemas.microsoft.com/office/drawing/2014/main" val="3112057589"/>
                    </a:ext>
                  </a:extLst>
                </a:gridCol>
                <a:gridCol w="731520">
                  <a:extLst>
                    <a:ext uri="{9D8B030D-6E8A-4147-A177-3AD203B41FA5}">
                      <a16:colId xmlns:a16="http://schemas.microsoft.com/office/drawing/2014/main" val="3741578217"/>
                    </a:ext>
                  </a:extLst>
                </a:gridCol>
              </a:tblGrid>
              <a:tr h="387053">
                <a:tc>
                  <a:txBody>
                    <a:bodyPr/>
                    <a:lstStyle/>
                    <a:p>
                      <a:pPr algn="ctr"/>
                      <a:r>
                        <a:rPr lang="en-US" sz="900" dirty="0" err="1"/>
                        <a:t>Src</a:t>
                      </a:r>
                      <a:endParaRPr lang="en-US" sz="900" dirty="0"/>
                    </a:p>
                  </a:txBody>
                  <a:tcPr marL="9144" marR="9144"/>
                </a:tc>
                <a:tc>
                  <a:txBody>
                    <a:bodyPr/>
                    <a:lstStyle/>
                    <a:p>
                      <a:pPr algn="ctr"/>
                      <a:r>
                        <a:rPr lang="en-US" sz="900" dirty="0"/>
                        <a:t>Dest</a:t>
                      </a:r>
                    </a:p>
                  </a:txBody>
                  <a:tcPr marL="9144" marR="9144"/>
                </a:tc>
                <a:tc>
                  <a:txBody>
                    <a:bodyPr/>
                    <a:lstStyle/>
                    <a:p>
                      <a:r>
                        <a:rPr lang="en-US" sz="900" dirty="0"/>
                        <a:t>Semantics</a:t>
                      </a:r>
                    </a:p>
                  </a:txBody>
                  <a:tcPr marL="9144" marR="9144"/>
                </a:tc>
                <a:tc>
                  <a:txBody>
                    <a:bodyPr/>
                    <a:lstStyle/>
                    <a:p>
                      <a:r>
                        <a:rPr lang="en-US" sz="900" dirty="0"/>
                        <a:t>Dedicated Instruction?</a:t>
                      </a:r>
                    </a:p>
                  </a:txBody>
                  <a:tcPr marL="9144" marR="9144"/>
                </a:tc>
                <a:extLst>
                  <a:ext uri="{0D108BD9-81ED-4DB2-BD59-A6C34878D82A}">
                    <a16:rowId xmlns:a16="http://schemas.microsoft.com/office/drawing/2014/main" val="2409673025"/>
                  </a:ext>
                </a:extLst>
              </a:tr>
              <a:tr h="280861">
                <a:tc>
                  <a:txBody>
                    <a:bodyPr/>
                    <a:lstStyle/>
                    <a:p>
                      <a:pPr algn="ctr"/>
                      <a:r>
                        <a:rPr lang="en-US" sz="900" dirty="0"/>
                        <a:t>Imm</a:t>
                      </a:r>
                    </a:p>
                  </a:txBody>
                  <a:tcPr marL="9144" marR="9144">
                    <a:solidFill>
                      <a:srgbClr val="CECECE"/>
                    </a:solidFill>
                  </a:tcPr>
                </a:tc>
                <a:tc>
                  <a:txBody>
                    <a:bodyPr/>
                    <a:lstStyle/>
                    <a:p>
                      <a:pPr algn="ctr"/>
                      <a:r>
                        <a:rPr lang="en-US" sz="900" dirty="0"/>
                        <a:t>AR</a:t>
                      </a:r>
                    </a:p>
                  </a:txBody>
                  <a:tcPr marL="9144" marR="9144">
                    <a:solidFill>
                      <a:schemeClr val="accent4">
                        <a:lumMod val="60000"/>
                        <a:lumOff val="40000"/>
                      </a:schemeClr>
                    </a:solidFill>
                  </a:tcPr>
                </a:tc>
                <a:tc>
                  <a:txBody>
                    <a:bodyPr/>
                    <a:lstStyle/>
                    <a:p>
                      <a:r>
                        <a:rPr lang="en-US" sz="900" dirty="0"/>
                        <a:t>ARDest[L/H] = Imm</a:t>
                      </a:r>
                    </a:p>
                  </a:txBody>
                  <a:tcPr marL="9144" marR="9144"/>
                </a:tc>
                <a:tc>
                  <a:txBody>
                    <a:bodyPr/>
                    <a:lstStyle/>
                    <a:p>
                      <a:r>
                        <a:rPr lang="en-US" sz="900" dirty="0"/>
                        <a:t>Yes (*)</a:t>
                      </a:r>
                    </a:p>
                  </a:txBody>
                  <a:tcPr marL="9144" marR="9144"/>
                </a:tc>
                <a:extLst>
                  <a:ext uri="{0D108BD9-81ED-4DB2-BD59-A6C34878D82A}">
                    <a16:rowId xmlns:a16="http://schemas.microsoft.com/office/drawing/2014/main" val="1813460202"/>
                  </a:ext>
                </a:extLst>
              </a:tr>
              <a:tr h="280861">
                <a:tc>
                  <a:txBody>
                    <a:bodyPr/>
                    <a:lstStyle/>
                    <a:p>
                      <a:pPr algn="ctr"/>
                      <a:r>
                        <a:rPr lang="en-US" sz="900" dirty="0">
                          <a:solidFill>
                            <a:schemeClr val="bg1"/>
                          </a:solidFill>
                        </a:rPr>
                        <a:t>GR</a:t>
                      </a:r>
                    </a:p>
                  </a:txBody>
                  <a:tcPr marL="9144" marR="9144">
                    <a:solidFill>
                      <a:srgbClr val="00B050"/>
                    </a:solidFill>
                  </a:tcPr>
                </a:tc>
                <a:tc>
                  <a:txBody>
                    <a:bodyPr/>
                    <a:lstStyle/>
                    <a:p>
                      <a:pPr algn="ctr"/>
                      <a:r>
                        <a:rPr lang="en-US" sz="900" dirty="0"/>
                        <a:t>AR</a:t>
                      </a:r>
                    </a:p>
                  </a:txBody>
                  <a:tcPr marL="9144" marR="9144">
                    <a:solidFill>
                      <a:schemeClr val="accent4">
                        <a:lumMod val="60000"/>
                        <a:lumOff val="40000"/>
                      </a:schemeClr>
                    </a:solidFill>
                  </a:tcPr>
                </a:tc>
                <a:tc>
                  <a:txBody>
                    <a:bodyPr/>
                    <a:lstStyle/>
                    <a:p>
                      <a:r>
                        <a:rPr lang="en-US" sz="900" dirty="0"/>
                        <a:t>ARDest[L/H] = Rs</a:t>
                      </a:r>
                    </a:p>
                  </a:txBody>
                  <a:tcPr marL="9144" marR="9144"/>
                </a:tc>
                <a:tc>
                  <a:txBody>
                    <a:bodyPr/>
                    <a:lstStyle/>
                    <a:p>
                      <a:r>
                        <a:rPr lang="en-US" sz="900" dirty="0"/>
                        <a:t>Yes (*)</a:t>
                      </a:r>
                    </a:p>
                  </a:txBody>
                  <a:tcPr marL="9144" marR="9144"/>
                </a:tc>
                <a:extLst>
                  <a:ext uri="{0D108BD9-81ED-4DB2-BD59-A6C34878D82A}">
                    <a16:rowId xmlns:a16="http://schemas.microsoft.com/office/drawing/2014/main" val="4238323"/>
                  </a:ext>
                </a:extLst>
              </a:tr>
              <a:tr h="280861">
                <a:tc>
                  <a:txBody>
                    <a:bodyPr/>
                    <a:lstStyle/>
                    <a:p>
                      <a:pPr algn="ctr"/>
                      <a:r>
                        <a:rPr lang="en-US" sz="900" dirty="0"/>
                        <a:t>AR</a:t>
                      </a:r>
                    </a:p>
                  </a:txBody>
                  <a:tcPr marL="9144" marR="9144">
                    <a:solidFill>
                      <a:schemeClr val="accent4">
                        <a:lumMod val="60000"/>
                        <a:lumOff val="40000"/>
                      </a:schemeClr>
                    </a:solidFill>
                  </a:tcPr>
                </a:tc>
                <a:tc>
                  <a:txBody>
                    <a:bodyPr/>
                    <a:lstStyle/>
                    <a:p>
                      <a:pPr algn="ctr"/>
                      <a:r>
                        <a:rPr lang="en-US" sz="900" dirty="0"/>
                        <a:t>AR</a:t>
                      </a:r>
                    </a:p>
                  </a:txBody>
                  <a:tcPr marL="9144" marR="9144">
                    <a:solidFill>
                      <a:schemeClr val="accent4">
                        <a:lumMod val="60000"/>
                        <a:lumOff val="40000"/>
                      </a:schemeClr>
                    </a:solidFill>
                  </a:tcPr>
                </a:tc>
                <a:tc>
                  <a:txBody>
                    <a:bodyPr/>
                    <a:lstStyle/>
                    <a:p>
                      <a:r>
                        <a:rPr lang="en-US" sz="900" dirty="0"/>
                        <a:t>ARDest = </a:t>
                      </a:r>
                      <a:r>
                        <a:rPr lang="en-US" sz="900" dirty="0" err="1"/>
                        <a:t>ARSrc</a:t>
                      </a:r>
                      <a:r>
                        <a:rPr lang="en-US" sz="900" dirty="0"/>
                        <a:t> + Imm</a:t>
                      </a:r>
                    </a:p>
                  </a:txBody>
                  <a:tcPr marL="9144" marR="9144"/>
                </a:tc>
                <a:tc>
                  <a:txBody>
                    <a:bodyPr/>
                    <a:lstStyle/>
                    <a:p>
                      <a:r>
                        <a:rPr lang="en-US" sz="900" dirty="0"/>
                        <a:t>Yes (*)</a:t>
                      </a:r>
                    </a:p>
                  </a:txBody>
                  <a:tcPr marL="9144" marR="9144"/>
                </a:tc>
                <a:extLst>
                  <a:ext uri="{0D108BD9-81ED-4DB2-BD59-A6C34878D82A}">
                    <a16:rowId xmlns:a16="http://schemas.microsoft.com/office/drawing/2014/main" val="3392672825"/>
                  </a:ext>
                </a:extLst>
              </a:tr>
              <a:tr h="677343">
                <a:tc>
                  <a:txBody>
                    <a:bodyPr/>
                    <a:lstStyle/>
                    <a:p>
                      <a:pPr algn="ctr"/>
                      <a:r>
                        <a:rPr lang="en-US" sz="900" dirty="0"/>
                        <a:t>Memory</a:t>
                      </a:r>
                    </a:p>
                  </a:txBody>
                  <a:tcPr marL="9144" marR="9144">
                    <a:solidFill>
                      <a:schemeClr val="accent1">
                        <a:lumMod val="60000"/>
                        <a:lumOff val="40000"/>
                      </a:schemeClr>
                    </a:solidFill>
                  </a:tcPr>
                </a:tc>
                <a:tc>
                  <a:txBody>
                    <a:bodyPr/>
                    <a:lstStyle/>
                    <a:p>
                      <a:pPr algn="ctr"/>
                      <a:r>
                        <a:rPr lang="en-US" sz="900" dirty="0"/>
                        <a:t>AR</a:t>
                      </a:r>
                    </a:p>
                  </a:txBody>
                  <a:tcPr marL="9144" marR="9144">
                    <a:solidFill>
                      <a:schemeClr val="accent4">
                        <a:lumMod val="60000"/>
                        <a:lumOff val="40000"/>
                      </a:schemeClr>
                    </a:solidFill>
                  </a:tcPr>
                </a:tc>
                <a:tc>
                  <a:txBody>
                    <a:bodyPr/>
                    <a:lstStyle/>
                    <a:p>
                      <a:r>
                        <a:rPr lang="en-US" sz="900" dirty="0"/>
                        <a:t>ARDest[L/H] = *(</a:t>
                      </a:r>
                      <a:r>
                        <a:rPr lang="en-US" sz="900" dirty="0" err="1"/>
                        <a:t>ARSrc</a:t>
                      </a:r>
                      <a:r>
                        <a:rPr lang="en-US" sz="900" dirty="0"/>
                        <a:t> + Imm) (?)</a:t>
                      </a:r>
                    </a:p>
                    <a:p>
                      <a:r>
                        <a:rPr lang="en-US" sz="900" dirty="0"/>
                        <a:t>ARDest = *{</a:t>
                      </a:r>
                      <a:r>
                        <a:rPr lang="en-US" sz="900" dirty="0" err="1"/>
                        <a:t>ARSrc</a:t>
                      </a:r>
                      <a:r>
                        <a:rPr lang="en-US" sz="900" dirty="0"/>
                        <a:t> + Imm + 1, </a:t>
                      </a:r>
                      <a:r>
                        <a:rPr lang="en-US" sz="900" dirty="0" err="1"/>
                        <a:t>ARSrc</a:t>
                      </a:r>
                      <a:r>
                        <a:rPr lang="en-US" sz="900" dirty="0"/>
                        <a:t>  + Imm} (?)</a:t>
                      </a:r>
                    </a:p>
                  </a:txBody>
                  <a:tcPr marL="9144" marR="9144"/>
                </a:tc>
                <a:tc>
                  <a:txBody>
                    <a:bodyPr/>
                    <a:lstStyle/>
                    <a:p>
                      <a:r>
                        <a:rPr lang="en-US" sz="900" dirty="0"/>
                        <a:t>No</a:t>
                      </a:r>
                    </a:p>
                  </a:txBody>
                  <a:tcPr marL="9144" marR="9144"/>
                </a:tc>
                <a:extLst>
                  <a:ext uri="{0D108BD9-81ED-4DB2-BD59-A6C34878D82A}">
                    <a16:rowId xmlns:a16="http://schemas.microsoft.com/office/drawing/2014/main" val="3097999017"/>
                  </a:ext>
                </a:extLst>
              </a:tr>
              <a:tr h="571126">
                <a:tc>
                  <a:txBody>
                    <a:bodyPr/>
                    <a:lstStyle/>
                    <a:p>
                      <a:pPr algn="ctr"/>
                      <a:r>
                        <a:rPr lang="en-US" sz="900" dirty="0"/>
                        <a:t>Stack</a:t>
                      </a:r>
                    </a:p>
                  </a:txBody>
                  <a:tcPr marL="9144" marR="9144">
                    <a:solidFill>
                      <a:schemeClr val="accent2">
                        <a:lumMod val="60000"/>
                        <a:lumOff val="40000"/>
                      </a:schemeClr>
                    </a:solidFill>
                  </a:tcPr>
                </a:tc>
                <a:tc>
                  <a:txBody>
                    <a:bodyPr/>
                    <a:lstStyle/>
                    <a:p>
                      <a:pPr algn="ctr"/>
                      <a:r>
                        <a:rPr lang="en-US" sz="900" dirty="0"/>
                        <a:t>AR</a:t>
                      </a:r>
                    </a:p>
                  </a:txBody>
                  <a:tcPr marL="9144" marR="9144">
                    <a:solidFill>
                      <a:schemeClr val="accent4">
                        <a:lumMod val="60000"/>
                        <a:lumOff val="40000"/>
                      </a:schemeClr>
                    </a:solidFill>
                  </a:tcPr>
                </a:tc>
                <a:tc>
                  <a:txBody>
                    <a:bodyPr/>
                    <a:lstStyle/>
                    <a:p>
                      <a:r>
                        <a:rPr lang="en-US" sz="900" dirty="0"/>
                        <a:t>ARDest = *{SP + 1, SP}, SP += 2 (?) (e.g. POP ARDest)</a:t>
                      </a:r>
                    </a:p>
                  </a:txBody>
                  <a:tcPr marL="9144" marR="9144"/>
                </a:tc>
                <a:tc>
                  <a:txBody>
                    <a:bodyPr/>
                    <a:lstStyle/>
                    <a:p>
                      <a:r>
                        <a:rPr lang="en-US" sz="900" dirty="0"/>
                        <a:t>No</a:t>
                      </a:r>
                    </a:p>
                  </a:txBody>
                  <a:tcPr marL="9144" marR="9144"/>
                </a:tc>
                <a:extLst>
                  <a:ext uri="{0D108BD9-81ED-4DB2-BD59-A6C34878D82A}">
                    <a16:rowId xmlns:a16="http://schemas.microsoft.com/office/drawing/2014/main" val="3161806886"/>
                  </a:ext>
                </a:extLst>
              </a:tr>
            </a:tbl>
          </a:graphicData>
        </a:graphic>
      </p:graphicFrame>
      <p:graphicFrame>
        <p:nvGraphicFramePr>
          <p:cNvPr id="38" name="Table 37">
            <a:extLst>
              <a:ext uri="{FF2B5EF4-FFF2-40B4-BE49-F238E27FC236}">
                <a16:creationId xmlns:a16="http://schemas.microsoft.com/office/drawing/2014/main" id="{AE779DEF-FE58-4D15-0561-71C70060C8C9}"/>
              </a:ext>
            </a:extLst>
          </p:cNvPr>
          <p:cNvGraphicFramePr>
            <a:graphicFrameLocks noGrp="1"/>
          </p:cNvGraphicFramePr>
          <p:nvPr>
            <p:extLst>
              <p:ext uri="{D42A27DB-BD31-4B8C-83A1-F6EECF244321}">
                <p14:modId xmlns:p14="http://schemas.microsoft.com/office/powerpoint/2010/main" val="335246596"/>
              </p:ext>
            </p:extLst>
          </p:nvPr>
        </p:nvGraphicFramePr>
        <p:xfrm>
          <a:off x="6247428" y="3922693"/>
          <a:ext cx="2743200" cy="2468878"/>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862739801"/>
                    </a:ext>
                  </a:extLst>
                </a:gridCol>
                <a:gridCol w="365760">
                  <a:extLst>
                    <a:ext uri="{9D8B030D-6E8A-4147-A177-3AD203B41FA5}">
                      <a16:colId xmlns:a16="http://schemas.microsoft.com/office/drawing/2014/main" val="877928214"/>
                    </a:ext>
                  </a:extLst>
                </a:gridCol>
                <a:gridCol w="1188720">
                  <a:extLst>
                    <a:ext uri="{9D8B030D-6E8A-4147-A177-3AD203B41FA5}">
                      <a16:colId xmlns:a16="http://schemas.microsoft.com/office/drawing/2014/main" val="3112057589"/>
                    </a:ext>
                  </a:extLst>
                </a:gridCol>
                <a:gridCol w="731520">
                  <a:extLst>
                    <a:ext uri="{9D8B030D-6E8A-4147-A177-3AD203B41FA5}">
                      <a16:colId xmlns:a16="http://schemas.microsoft.com/office/drawing/2014/main" val="3741578217"/>
                    </a:ext>
                  </a:extLst>
                </a:gridCol>
              </a:tblGrid>
              <a:tr h="387275">
                <a:tc>
                  <a:txBody>
                    <a:bodyPr/>
                    <a:lstStyle/>
                    <a:p>
                      <a:pPr algn="ctr"/>
                      <a:r>
                        <a:rPr lang="en-US" sz="900" dirty="0" err="1"/>
                        <a:t>Src</a:t>
                      </a:r>
                      <a:endParaRPr lang="en-US" sz="900" dirty="0"/>
                    </a:p>
                  </a:txBody>
                  <a:tcPr marL="9144" marR="9144"/>
                </a:tc>
                <a:tc>
                  <a:txBody>
                    <a:bodyPr/>
                    <a:lstStyle/>
                    <a:p>
                      <a:pPr algn="ctr"/>
                      <a:r>
                        <a:rPr lang="en-US" sz="900" dirty="0"/>
                        <a:t>Dest</a:t>
                      </a:r>
                    </a:p>
                  </a:txBody>
                  <a:tcPr marL="9144" marR="9144"/>
                </a:tc>
                <a:tc>
                  <a:txBody>
                    <a:bodyPr/>
                    <a:lstStyle/>
                    <a:p>
                      <a:r>
                        <a:rPr lang="en-US" sz="900" dirty="0"/>
                        <a:t>Semantics</a:t>
                      </a:r>
                    </a:p>
                  </a:txBody>
                  <a:tcPr marL="9144" marR="9144"/>
                </a:tc>
                <a:tc>
                  <a:txBody>
                    <a:bodyPr/>
                    <a:lstStyle/>
                    <a:p>
                      <a:r>
                        <a:rPr lang="en-US" sz="900" dirty="0"/>
                        <a:t>Dedicated Instruction?</a:t>
                      </a:r>
                    </a:p>
                  </a:txBody>
                  <a:tcPr marL="9144" marR="9144"/>
                </a:tc>
                <a:extLst>
                  <a:ext uri="{0D108BD9-81ED-4DB2-BD59-A6C34878D82A}">
                    <a16:rowId xmlns:a16="http://schemas.microsoft.com/office/drawing/2014/main" val="2409673025"/>
                  </a:ext>
                </a:extLst>
              </a:tr>
              <a:tr h="387275">
                <a:tc>
                  <a:txBody>
                    <a:bodyPr/>
                    <a:lstStyle/>
                    <a:p>
                      <a:pPr algn="ctr"/>
                      <a:r>
                        <a:rPr lang="en-US" sz="900" dirty="0"/>
                        <a:t>Imm</a:t>
                      </a:r>
                    </a:p>
                  </a:txBody>
                  <a:tcPr marL="9144" marR="9144">
                    <a:solidFill>
                      <a:srgbClr val="CECECE"/>
                    </a:solidFill>
                  </a:tcPr>
                </a:tc>
                <a:tc>
                  <a:txBody>
                    <a:bodyPr/>
                    <a:lstStyle/>
                    <a:p>
                      <a:pPr algn="ctr"/>
                      <a:r>
                        <a:rPr lang="en-US" sz="900" dirty="0"/>
                        <a:t>Memory</a:t>
                      </a:r>
                    </a:p>
                  </a:txBody>
                  <a:tcPr marL="9144" marR="9144">
                    <a:solidFill>
                      <a:schemeClr val="accent1">
                        <a:lumMod val="60000"/>
                        <a:lumOff val="40000"/>
                      </a:schemeClr>
                    </a:solidFill>
                  </a:tcPr>
                </a:tc>
                <a:tc>
                  <a:txBody>
                    <a:bodyPr/>
                    <a:lstStyle/>
                    <a:p>
                      <a:r>
                        <a:rPr lang="en-US" sz="900" dirty="0"/>
                        <a:t>*(</a:t>
                      </a:r>
                      <a:r>
                        <a:rPr lang="en-US" sz="900" dirty="0" err="1"/>
                        <a:t>ARSrc</a:t>
                      </a:r>
                      <a:r>
                        <a:rPr lang="en-US" sz="900" dirty="0"/>
                        <a:t>) = Imm (?)</a:t>
                      </a:r>
                    </a:p>
                  </a:txBody>
                  <a:tcPr marL="9144" marR="9144"/>
                </a:tc>
                <a:tc>
                  <a:txBody>
                    <a:bodyPr/>
                    <a:lstStyle/>
                    <a:p>
                      <a:r>
                        <a:rPr lang="en-US" sz="900" dirty="0"/>
                        <a:t>No</a:t>
                      </a:r>
                    </a:p>
                  </a:txBody>
                  <a:tcPr marL="9144" marR="9144"/>
                </a:tc>
                <a:extLst>
                  <a:ext uri="{0D108BD9-81ED-4DB2-BD59-A6C34878D82A}">
                    <a16:rowId xmlns:a16="http://schemas.microsoft.com/office/drawing/2014/main" val="1813460202"/>
                  </a:ext>
                </a:extLst>
              </a:tr>
              <a:tr h="387275">
                <a:tc>
                  <a:txBody>
                    <a:bodyPr/>
                    <a:lstStyle/>
                    <a:p>
                      <a:pPr algn="ctr"/>
                      <a:r>
                        <a:rPr lang="en-US" sz="900" dirty="0">
                          <a:solidFill>
                            <a:schemeClr val="bg1"/>
                          </a:solidFill>
                        </a:rPr>
                        <a:t>GR</a:t>
                      </a:r>
                    </a:p>
                  </a:txBody>
                  <a:tcPr marL="9144" marR="9144">
                    <a:solidFill>
                      <a:srgbClr val="00B050"/>
                    </a:solidFill>
                  </a:tcPr>
                </a:tc>
                <a:tc>
                  <a:txBody>
                    <a:bodyPr/>
                    <a:lstStyle/>
                    <a:p>
                      <a:pPr algn="ctr"/>
                      <a:r>
                        <a:rPr lang="en-US" sz="900" dirty="0"/>
                        <a:t>Memory</a:t>
                      </a:r>
                    </a:p>
                  </a:txBody>
                  <a:tcPr marL="9144" marR="9144">
                    <a:solidFill>
                      <a:schemeClr val="accent1">
                        <a:lumMod val="60000"/>
                        <a:lumOff val="40000"/>
                      </a:schemeClr>
                    </a:solidFill>
                  </a:tcPr>
                </a:tc>
                <a:tc>
                  <a:txBody>
                    <a:bodyPr/>
                    <a:lstStyle/>
                    <a:p>
                      <a:r>
                        <a:rPr lang="en-US" sz="900" dirty="0"/>
                        <a:t>*(</a:t>
                      </a:r>
                      <a:r>
                        <a:rPr lang="en-US" sz="900" dirty="0" err="1"/>
                        <a:t>ARSrc</a:t>
                      </a:r>
                      <a:r>
                        <a:rPr lang="en-US" sz="900" dirty="0"/>
                        <a:t> + Imm) = Rs</a:t>
                      </a:r>
                    </a:p>
                  </a:txBody>
                  <a:tcPr marL="9144" marR="9144"/>
                </a:tc>
                <a:tc>
                  <a:txBody>
                    <a:bodyPr/>
                    <a:lstStyle/>
                    <a:p>
                      <a:r>
                        <a:rPr lang="en-US" sz="900" dirty="0"/>
                        <a:t>Yes (*)</a:t>
                      </a:r>
                    </a:p>
                  </a:txBody>
                  <a:tcPr marL="9144" marR="9144"/>
                </a:tc>
                <a:extLst>
                  <a:ext uri="{0D108BD9-81ED-4DB2-BD59-A6C34878D82A}">
                    <a16:rowId xmlns:a16="http://schemas.microsoft.com/office/drawing/2014/main" val="4238323"/>
                  </a:ext>
                </a:extLst>
              </a:tr>
              <a:tr h="532503">
                <a:tc>
                  <a:txBody>
                    <a:bodyPr/>
                    <a:lstStyle/>
                    <a:p>
                      <a:pPr algn="ctr"/>
                      <a:r>
                        <a:rPr lang="en-US" sz="900" dirty="0"/>
                        <a:t>AR</a:t>
                      </a:r>
                    </a:p>
                  </a:txBody>
                  <a:tcPr marL="9144" marR="9144">
                    <a:solidFill>
                      <a:schemeClr val="accent4">
                        <a:lumMod val="60000"/>
                        <a:lumOff val="40000"/>
                      </a:schemeClr>
                    </a:solidFill>
                  </a:tcPr>
                </a:tc>
                <a:tc>
                  <a:txBody>
                    <a:bodyPr/>
                    <a:lstStyle/>
                    <a:p>
                      <a:pPr algn="ctr"/>
                      <a:r>
                        <a:rPr lang="en-US" sz="900" dirty="0"/>
                        <a:t>Memory</a:t>
                      </a:r>
                    </a:p>
                  </a:txBody>
                  <a:tcPr marL="9144" marR="9144">
                    <a:solidFill>
                      <a:schemeClr val="accent1">
                        <a:lumMod val="60000"/>
                        <a:lumOff val="40000"/>
                      </a:schemeClr>
                    </a:solidFill>
                  </a:tcPr>
                </a:tc>
                <a:tc>
                  <a:txBody>
                    <a:bodyPr/>
                    <a:lstStyle/>
                    <a:p>
                      <a:r>
                        <a:rPr lang="en-US" sz="900" dirty="0"/>
                        <a:t>*(ARDest + Imm + 1, ARDest + Imm) = </a:t>
                      </a:r>
                      <a:r>
                        <a:rPr lang="en-US" sz="900" dirty="0" err="1"/>
                        <a:t>ARSrc</a:t>
                      </a:r>
                      <a:r>
                        <a:rPr lang="en-US" sz="900" dirty="0"/>
                        <a:t>(?)</a:t>
                      </a:r>
                    </a:p>
                  </a:txBody>
                  <a:tcPr marL="9144" marR="9144"/>
                </a:tc>
                <a:tc>
                  <a:txBody>
                    <a:bodyPr/>
                    <a:lstStyle/>
                    <a:p>
                      <a:r>
                        <a:rPr lang="en-US" sz="900" dirty="0"/>
                        <a:t>No</a:t>
                      </a:r>
                    </a:p>
                  </a:txBody>
                  <a:tcPr marL="9144" marR="9144"/>
                </a:tc>
                <a:extLst>
                  <a:ext uri="{0D108BD9-81ED-4DB2-BD59-A6C34878D82A}">
                    <a16:rowId xmlns:a16="http://schemas.microsoft.com/office/drawing/2014/main" val="3392672825"/>
                  </a:ext>
                </a:extLst>
              </a:tr>
              <a:tr h="387275">
                <a:tc>
                  <a:txBody>
                    <a:bodyPr/>
                    <a:lstStyle/>
                    <a:p>
                      <a:pPr algn="ctr"/>
                      <a:r>
                        <a:rPr lang="en-US" sz="900" dirty="0"/>
                        <a:t>Memory</a:t>
                      </a:r>
                    </a:p>
                  </a:txBody>
                  <a:tcPr marL="9144" marR="9144">
                    <a:solidFill>
                      <a:schemeClr val="accent1">
                        <a:lumMod val="60000"/>
                        <a:lumOff val="40000"/>
                      </a:schemeClr>
                    </a:solidFill>
                  </a:tcPr>
                </a:tc>
                <a:tc>
                  <a:txBody>
                    <a:bodyPr/>
                    <a:lstStyle/>
                    <a:p>
                      <a:pPr algn="ctr"/>
                      <a:r>
                        <a:rPr lang="en-US" sz="900" dirty="0"/>
                        <a:t>Memory</a:t>
                      </a:r>
                    </a:p>
                  </a:txBody>
                  <a:tcPr marL="9144" marR="9144">
                    <a:solidFill>
                      <a:schemeClr val="accent1">
                        <a:lumMod val="60000"/>
                        <a:lumOff val="40000"/>
                      </a:schemeClr>
                    </a:solidFill>
                  </a:tcPr>
                </a:tc>
                <a:tc>
                  <a:txBody>
                    <a:bodyPr/>
                    <a:lstStyle/>
                    <a:p>
                      <a:r>
                        <a:rPr lang="en-US" sz="900" dirty="0"/>
                        <a:t>*(ARDest + Imm) = *(</a:t>
                      </a:r>
                      <a:r>
                        <a:rPr lang="en-US" sz="900" dirty="0" err="1"/>
                        <a:t>ARSrc</a:t>
                      </a:r>
                      <a:r>
                        <a:rPr lang="en-US" sz="900" dirty="0"/>
                        <a:t>)</a:t>
                      </a:r>
                    </a:p>
                  </a:txBody>
                  <a:tcPr marL="9144" marR="9144"/>
                </a:tc>
                <a:tc>
                  <a:txBody>
                    <a:bodyPr/>
                    <a:lstStyle/>
                    <a:p>
                      <a:r>
                        <a:rPr lang="en-US" sz="900" dirty="0"/>
                        <a:t>No (load-store architecture)</a:t>
                      </a:r>
                    </a:p>
                  </a:txBody>
                  <a:tcPr marL="9144" marR="9144"/>
                </a:tc>
                <a:extLst>
                  <a:ext uri="{0D108BD9-81ED-4DB2-BD59-A6C34878D82A}">
                    <a16:rowId xmlns:a16="http://schemas.microsoft.com/office/drawing/2014/main" val="3097999017"/>
                  </a:ext>
                </a:extLst>
              </a:tr>
              <a:tr h="387275">
                <a:tc>
                  <a:txBody>
                    <a:bodyPr/>
                    <a:lstStyle/>
                    <a:p>
                      <a:pPr algn="ctr"/>
                      <a:r>
                        <a:rPr lang="en-US" sz="900" dirty="0"/>
                        <a:t>Stack</a:t>
                      </a:r>
                    </a:p>
                  </a:txBody>
                  <a:tcPr marL="9144" marR="9144">
                    <a:solidFill>
                      <a:schemeClr val="accent2">
                        <a:lumMod val="60000"/>
                        <a:lumOff val="40000"/>
                      </a:schemeClr>
                    </a:solidFill>
                  </a:tcPr>
                </a:tc>
                <a:tc>
                  <a:txBody>
                    <a:bodyPr/>
                    <a:lstStyle/>
                    <a:p>
                      <a:pPr algn="ctr"/>
                      <a:r>
                        <a:rPr lang="en-US" sz="900" dirty="0"/>
                        <a:t>Memory</a:t>
                      </a:r>
                    </a:p>
                  </a:txBody>
                  <a:tcPr marL="9144" marR="9144">
                    <a:solidFill>
                      <a:schemeClr val="accent1">
                        <a:lumMod val="60000"/>
                        <a:lumOff val="40000"/>
                      </a:schemeClr>
                    </a:solidFill>
                  </a:tcPr>
                </a:tc>
                <a:tc>
                  <a:txBody>
                    <a:bodyPr/>
                    <a:lstStyle/>
                    <a:p>
                      <a:r>
                        <a:rPr lang="en-US" sz="900" dirty="0"/>
                        <a:t>*(</a:t>
                      </a:r>
                      <a:r>
                        <a:rPr lang="en-US" sz="900" dirty="0" err="1"/>
                        <a:t>ARSrc</a:t>
                      </a:r>
                      <a:r>
                        <a:rPr lang="en-US" sz="900" dirty="0"/>
                        <a:t> + Imm) = *SP, SP++ (?)</a:t>
                      </a:r>
                    </a:p>
                  </a:txBody>
                  <a:tcPr marL="9144" marR="9144"/>
                </a:tc>
                <a:tc>
                  <a:txBody>
                    <a:bodyPr/>
                    <a:lstStyle/>
                    <a:p>
                      <a:r>
                        <a:rPr lang="en-US" sz="900" dirty="0"/>
                        <a:t>No</a:t>
                      </a:r>
                    </a:p>
                  </a:txBody>
                  <a:tcPr marL="9144" marR="9144"/>
                </a:tc>
                <a:extLst>
                  <a:ext uri="{0D108BD9-81ED-4DB2-BD59-A6C34878D82A}">
                    <a16:rowId xmlns:a16="http://schemas.microsoft.com/office/drawing/2014/main" val="3161806886"/>
                  </a:ext>
                </a:extLst>
              </a:tr>
            </a:tbl>
          </a:graphicData>
        </a:graphic>
      </p:graphicFrame>
      <p:graphicFrame>
        <p:nvGraphicFramePr>
          <p:cNvPr id="40" name="Table 39">
            <a:extLst>
              <a:ext uri="{FF2B5EF4-FFF2-40B4-BE49-F238E27FC236}">
                <a16:creationId xmlns:a16="http://schemas.microsoft.com/office/drawing/2014/main" id="{32FBA3AA-A6E3-F336-224E-26BDAC000211}"/>
              </a:ext>
            </a:extLst>
          </p:cNvPr>
          <p:cNvGraphicFramePr>
            <a:graphicFrameLocks noGrp="1"/>
          </p:cNvGraphicFramePr>
          <p:nvPr>
            <p:extLst>
              <p:ext uri="{D42A27DB-BD31-4B8C-83A1-F6EECF244321}">
                <p14:modId xmlns:p14="http://schemas.microsoft.com/office/powerpoint/2010/main" val="1723908304"/>
              </p:ext>
            </p:extLst>
          </p:nvPr>
        </p:nvGraphicFramePr>
        <p:xfrm>
          <a:off x="9246330" y="3922693"/>
          <a:ext cx="2743200" cy="2468876"/>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862739801"/>
                    </a:ext>
                  </a:extLst>
                </a:gridCol>
                <a:gridCol w="365760">
                  <a:extLst>
                    <a:ext uri="{9D8B030D-6E8A-4147-A177-3AD203B41FA5}">
                      <a16:colId xmlns:a16="http://schemas.microsoft.com/office/drawing/2014/main" val="877928214"/>
                    </a:ext>
                  </a:extLst>
                </a:gridCol>
                <a:gridCol w="1188720">
                  <a:extLst>
                    <a:ext uri="{9D8B030D-6E8A-4147-A177-3AD203B41FA5}">
                      <a16:colId xmlns:a16="http://schemas.microsoft.com/office/drawing/2014/main" val="3112057589"/>
                    </a:ext>
                  </a:extLst>
                </a:gridCol>
                <a:gridCol w="731520">
                  <a:extLst>
                    <a:ext uri="{9D8B030D-6E8A-4147-A177-3AD203B41FA5}">
                      <a16:colId xmlns:a16="http://schemas.microsoft.com/office/drawing/2014/main" val="3741578217"/>
                    </a:ext>
                  </a:extLst>
                </a:gridCol>
              </a:tblGrid>
              <a:tr h="438911">
                <a:tc>
                  <a:txBody>
                    <a:bodyPr/>
                    <a:lstStyle/>
                    <a:p>
                      <a:pPr algn="ctr"/>
                      <a:r>
                        <a:rPr lang="en-US" sz="900" dirty="0" err="1"/>
                        <a:t>Src</a:t>
                      </a:r>
                      <a:endParaRPr lang="en-US" sz="900" dirty="0"/>
                    </a:p>
                  </a:txBody>
                  <a:tcPr marL="9144" marR="9144"/>
                </a:tc>
                <a:tc>
                  <a:txBody>
                    <a:bodyPr/>
                    <a:lstStyle/>
                    <a:p>
                      <a:pPr algn="ctr"/>
                      <a:r>
                        <a:rPr lang="en-US" sz="900" dirty="0"/>
                        <a:t>Dest</a:t>
                      </a:r>
                    </a:p>
                  </a:txBody>
                  <a:tcPr marL="9144" marR="9144"/>
                </a:tc>
                <a:tc>
                  <a:txBody>
                    <a:bodyPr/>
                    <a:lstStyle/>
                    <a:p>
                      <a:r>
                        <a:rPr lang="en-US" sz="900" dirty="0"/>
                        <a:t>Semantics</a:t>
                      </a:r>
                    </a:p>
                  </a:txBody>
                  <a:tcPr marL="9144" marR="9144"/>
                </a:tc>
                <a:tc>
                  <a:txBody>
                    <a:bodyPr/>
                    <a:lstStyle/>
                    <a:p>
                      <a:r>
                        <a:rPr lang="en-US" sz="900" dirty="0"/>
                        <a:t>Dedicated Instruction?</a:t>
                      </a:r>
                    </a:p>
                  </a:txBody>
                  <a:tcPr marL="9144" marR="9144"/>
                </a:tc>
                <a:extLst>
                  <a:ext uri="{0D108BD9-81ED-4DB2-BD59-A6C34878D82A}">
                    <a16:rowId xmlns:a16="http://schemas.microsoft.com/office/drawing/2014/main" val="2409673025"/>
                  </a:ext>
                </a:extLst>
              </a:tr>
              <a:tr h="438911">
                <a:tc>
                  <a:txBody>
                    <a:bodyPr/>
                    <a:lstStyle/>
                    <a:p>
                      <a:pPr algn="ctr"/>
                      <a:r>
                        <a:rPr lang="en-US" sz="900" dirty="0"/>
                        <a:t>Imm</a:t>
                      </a:r>
                    </a:p>
                  </a:txBody>
                  <a:tcPr marL="9144" marR="9144">
                    <a:solidFill>
                      <a:srgbClr val="CECECE"/>
                    </a:solidFill>
                  </a:tcPr>
                </a:tc>
                <a:tc>
                  <a:txBody>
                    <a:bodyPr/>
                    <a:lstStyle/>
                    <a:p>
                      <a:pPr algn="ctr"/>
                      <a:r>
                        <a:rPr lang="en-US" sz="900" dirty="0"/>
                        <a:t>Stack</a:t>
                      </a:r>
                    </a:p>
                  </a:txBody>
                  <a:tcPr marL="9144" marR="9144">
                    <a:solidFill>
                      <a:schemeClr val="accent2">
                        <a:lumMod val="60000"/>
                        <a:lumOff val="40000"/>
                      </a:schemeClr>
                    </a:solidFill>
                  </a:tcPr>
                </a:tc>
                <a:tc>
                  <a:txBody>
                    <a:bodyPr/>
                    <a:lstStyle/>
                    <a:p>
                      <a:r>
                        <a:rPr lang="en-US" sz="900" dirty="0"/>
                        <a:t>*(SP) = Imm, SP– (Push Imm)</a:t>
                      </a:r>
                    </a:p>
                  </a:txBody>
                  <a:tcPr marL="9144" marR="9144"/>
                </a:tc>
                <a:tc>
                  <a:txBody>
                    <a:bodyPr/>
                    <a:lstStyle/>
                    <a:p>
                      <a:r>
                        <a:rPr lang="en-US" sz="900" dirty="0"/>
                        <a:t>No?</a:t>
                      </a:r>
                    </a:p>
                  </a:txBody>
                  <a:tcPr marL="9144" marR="9144"/>
                </a:tc>
                <a:extLst>
                  <a:ext uri="{0D108BD9-81ED-4DB2-BD59-A6C34878D82A}">
                    <a16:rowId xmlns:a16="http://schemas.microsoft.com/office/drawing/2014/main" val="1813460202"/>
                  </a:ext>
                </a:extLst>
              </a:tr>
              <a:tr h="603503">
                <a:tc>
                  <a:txBody>
                    <a:bodyPr/>
                    <a:lstStyle/>
                    <a:p>
                      <a:pPr algn="ctr"/>
                      <a:r>
                        <a:rPr lang="en-US" sz="900" dirty="0">
                          <a:solidFill>
                            <a:schemeClr val="bg1"/>
                          </a:solidFill>
                        </a:rPr>
                        <a:t>GR</a:t>
                      </a:r>
                    </a:p>
                  </a:txBody>
                  <a:tcPr marL="9144" marR="9144">
                    <a:solidFill>
                      <a:srgbClr val="00B050"/>
                    </a:solidFill>
                  </a:tcPr>
                </a:tc>
                <a:tc>
                  <a:txBody>
                    <a:bodyPr/>
                    <a:lstStyle/>
                    <a:p>
                      <a:pPr algn="ctr"/>
                      <a:r>
                        <a:rPr lang="en-US" sz="900" dirty="0"/>
                        <a:t>Stack</a:t>
                      </a:r>
                    </a:p>
                  </a:txBody>
                  <a:tcPr marL="9144" marR="9144">
                    <a:solidFill>
                      <a:schemeClr val="accent2">
                        <a:lumMod val="60000"/>
                        <a:lumOff val="40000"/>
                      </a:schemeClr>
                    </a:solidFill>
                  </a:tcPr>
                </a:tc>
                <a:tc>
                  <a:txBody>
                    <a:bodyPr/>
                    <a:lstStyle/>
                    <a:p>
                      <a:r>
                        <a:rPr lang="en-US" sz="900" dirty="0"/>
                        <a:t>*(SP) = Rs, SP--</a:t>
                      </a:r>
                    </a:p>
                  </a:txBody>
                  <a:tcPr marL="9144" marR="9144"/>
                </a:tc>
                <a:tc>
                  <a:txBody>
                    <a:bodyPr/>
                    <a:lstStyle/>
                    <a:p>
                      <a:r>
                        <a:rPr lang="en-US" sz="900" dirty="0"/>
                        <a:t>Yes (PUSH *)</a:t>
                      </a:r>
                    </a:p>
                    <a:p>
                      <a:r>
                        <a:rPr lang="en-US" sz="900" dirty="0"/>
                        <a:t>(change to full-descending)</a:t>
                      </a:r>
                    </a:p>
                  </a:txBody>
                  <a:tcPr marL="9144" marR="9144"/>
                </a:tc>
                <a:extLst>
                  <a:ext uri="{0D108BD9-81ED-4DB2-BD59-A6C34878D82A}">
                    <a16:rowId xmlns:a16="http://schemas.microsoft.com/office/drawing/2014/main" val="4238323"/>
                  </a:ext>
                </a:extLst>
              </a:tr>
              <a:tr h="438911">
                <a:tc>
                  <a:txBody>
                    <a:bodyPr/>
                    <a:lstStyle/>
                    <a:p>
                      <a:pPr algn="ctr"/>
                      <a:r>
                        <a:rPr lang="en-US" sz="900" dirty="0"/>
                        <a:t>AR</a:t>
                      </a:r>
                    </a:p>
                  </a:txBody>
                  <a:tcPr marL="9144" marR="9144">
                    <a:solidFill>
                      <a:schemeClr val="accent4">
                        <a:lumMod val="60000"/>
                        <a:lumOff val="40000"/>
                      </a:schemeClr>
                    </a:solidFill>
                  </a:tcPr>
                </a:tc>
                <a:tc>
                  <a:txBody>
                    <a:bodyPr/>
                    <a:lstStyle/>
                    <a:p>
                      <a:pPr algn="ctr"/>
                      <a:r>
                        <a:rPr lang="en-US" sz="900" dirty="0"/>
                        <a:t>Stack</a:t>
                      </a:r>
                    </a:p>
                  </a:txBody>
                  <a:tcPr marL="9144" marR="9144">
                    <a:solidFill>
                      <a:schemeClr val="accent2">
                        <a:lumMod val="60000"/>
                        <a:lumOff val="40000"/>
                      </a:schemeClr>
                    </a:solidFill>
                  </a:tcPr>
                </a:tc>
                <a:tc>
                  <a:txBody>
                    <a:bodyPr/>
                    <a:lstStyle/>
                    <a:p>
                      <a:r>
                        <a:rPr lang="en-US" sz="900" dirty="0"/>
                        <a:t>*(SP, SP – 1) = </a:t>
                      </a:r>
                      <a:r>
                        <a:rPr lang="en-US" sz="900" dirty="0" err="1"/>
                        <a:t>ARSrc</a:t>
                      </a:r>
                      <a:r>
                        <a:rPr lang="en-US" sz="900" dirty="0"/>
                        <a:t>, SP -= 2</a:t>
                      </a:r>
                    </a:p>
                  </a:txBody>
                  <a:tcPr marL="9144" marR="9144"/>
                </a:tc>
                <a:tc>
                  <a:txBody>
                    <a:bodyPr/>
                    <a:lstStyle/>
                    <a:p>
                      <a:r>
                        <a:rPr lang="en-US" sz="900" dirty="0"/>
                        <a:t>No? (Push </a:t>
                      </a:r>
                      <a:r>
                        <a:rPr lang="en-US" sz="900" dirty="0" err="1"/>
                        <a:t>ARSrc</a:t>
                      </a:r>
                      <a:r>
                        <a:rPr lang="en-US" sz="900" dirty="0"/>
                        <a:t>)</a:t>
                      </a:r>
                    </a:p>
                  </a:txBody>
                  <a:tcPr marL="9144" marR="9144"/>
                </a:tc>
                <a:extLst>
                  <a:ext uri="{0D108BD9-81ED-4DB2-BD59-A6C34878D82A}">
                    <a16:rowId xmlns:a16="http://schemas.microsoft.com/office/drawing/2014/main" val="3392672825"/>
                  </a:ext>
                </a:extLst>
              </a:tr>
              <a:tr h="274320">
                <a:tc>
                  <a:txBody>
                    <a:bodyPr/>
                    <a:lstStyle/>
                    <a:p>
                      <a:pPr algn="ctr"/>
                      <a:r>
                        <a:rPr lang="en-US" sz="900" dirty="0"/>
                        <a:t>Memory</a:t>
                      </a:r>
                    </a:p>
                  </a:txBody>
                  <a:tcPr marL="9144" marR="9144">
                    <a:solidFill>
                      <a:schemeClr val="accent1">
                        <a:lumMod val="60000"/>
                        <a:lumOff val="40000"/>
                      </a:schemeClr>
                    </a:solidFill>
                  </a:tcPr>
                </a:tc>
                <a:tc>
                  <a:txBody>
                    <a:bodyPr/>
                    <a:lstStyle/>
                    <a:p>
                      <a:pPr algn="ctr"/>
                      <a:r>
                        <a:rPr lang="en-US" sz="900" dirty="0"/>
                        <a:t>Stack</a:t>
                      </a:r>
                    </a:p>
                  </a:txBody>
                  <a:tcPr marL="9144" marR="9144">
                    <a:solidFill>
                      <a:schemeClr val="accent2">
                        <a:lumMod val="60000"/>
                        <a:lumOff val="40000"/>
                      </a:schemeClr>
                    </a:solidFill>
                  </a:tcPr>
                </a:tc>
                <a:tc>
                  <a:txBody>
                    <a:bodyPr/>
                    <a:lstStyle/>
                    <a:p>
                      <a:r>
                        <a:rPr lang="en-US" sz="900" dirty="0"/>
                        <a:t>?</a:t>
                      </a:r>
                    </a:p>
                  </a:txBody>
                  <a:tcPr marL="9144" marR="9144"/>
                </a:tc>
                <a:tc>
                  <a:txBody>
                    <a:bodyPr/>
                    <a:lstStyle/>
                    <a:p>
                      <a:r>
                        <a:rPr lang="en-US" sz="900" dirty="0"/>
                        <a:t>?</a:t>
                      </a:r>
                    </a:p>
                  </a:txBody>
                  <a:tcPr marL="9144" marR="9144"/>
                </a:tc>
                <a:extLst>
                  <a:ext uri="{0D108BD9-81ED-4DB2-BD59-A6C34878D82A}">
                    <a16:rowId xmlns:a16="http://schemas.microsoft.com/office/drawing/2014/main" val="3097999017"/>
                  </a:ext>
                </a:extLst>
              </a:tr>
              <a:tr h="274320">
                <a:tc>
                  <a:txBody>
                    <a:bodyPr/>
                    <a:lstStyle/>
                    <a:p>
                      <a:pPr algn="ctr"/>
                      <a:r>
                        <a:rPr lang="en-US" sz="900" dirty="0"/>
                        <a:t>Stack</a:t>
                      </a:r>
                    </a:p>
                  </a:txBody>
                  <a:tcPr marL="9144" marR="9144">
                    <a:solidFill>
                      <a:schemeClr val="accent2">
                        <a:lumMod val="60000"/>
                        <a:lumOff val="40000"/>
                      </a:schemeClr>
                    </a:solidFill>
                  </a:tcPr>
                </a:tc>
                <a:tc>
                  <a:txBody>
                    <a:bodyPr/>
                    <a:lstStyle/>
                    <a:p>
                      <a:pPr algn="ctr"/>
                      <a:r>
                        <a:rPr lang="en-US" sz="900" dirty="0"/>
                        <a:t>Stack</a:t>
                      </a:r>
                    </a:p>
                  </a:txBody>
                  <a:tcPr marL="9144" marR="9144">
                    <a:solidFill>
                      <a:schemeClr val="accent2">
                        <a:lumMod val="60000"/>
                        <a:lumOff val="40000"/>
                      </a:schemeClr>
                    </a:solidFill>
                  </a:tcPr>
                </a:tc>
                <a:tc>
                  <a:txBody>
                    <a:bodyPr/>
                    <a:lstStyle/>
                    <a:p>
                      <a:r>
                        <a:rPr lang="en-US" sz="900" dirty="0"/>
                        <a:t>?</a:t>
                      </a:r>
                    </a:p>
                  </a:txBody>
                  <a:tcPr marL="9144" marR="9144"/>
                </a:tc>
                <a:tc>
                  <a:txBody>
                    <a:bodyPr/>
                    <a:lstStyle/>
                    <a:p>
                      <a:r>
                        <a:rPr lang="en-US" sz="900" dirty="0"/>
                        <a:t>?</a:t>
                      </a:r>
                    </a:p>
                  </a:txBody>
                  <a:tcPr marL="9144" marR="9144"/>
                </a:tc>
                <a:extLst>
                  <a:ext uri="{0D108BD9-81ED-4DB2-BD59-A6C34878D82A}">
                    <a16:rowId xmlns:a16="http://schemas.microsoft.com/office/drawing/2014/main" val="3161806886"/>
                  </a:ext>
                </a:extLst>
              </a:tr>
            </a:tbl>
          </a:graphicData>
        </a:graphic>
      </p:graphicFrame>
      <p:cxnSp>
        <p:nvCxnSpPr>
          <p:cNvPr id="43" name="Straight Arrow Connector 42">
            <a:extLst>
              <a:ext uri="{FF2B5EF4-FFF2-40B4-BE49-F238E27FC236}">
                <a16:creationId xmlns:a16="http://schemas.microsoft.com/office/drawing/2014/main" id="{2C024229-DB71-E055-33CD-D0591FD17B6C}"/>
              </a:ext>
            </a:extLst>
          </p:cNvPr>
          <p:cNvCxnSpPr>
            <a:cxnSpLocks/>
          </p:cNvCxnSpPr>
          <p:nvPr/>
        </p:nvCxnSpPr>
        <p:spPr>
          <a:xfrm flipH="1">
            <a:off x="3094182" y="1734012"/>
            <a:ext cx="720436" cy="4055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738D53C8-0FF7-1701-C435-8E6C5F2C9FD8}"/>
              </a:ext>
            </a:extLst>
          </p:cNvPr>
          <p:cNvCxnSpPr>
            <a:cxnSpLocks/>
          </p:cNvCxnSpPr>
          <p:nvPr/>
        </p:nvCxnSpPr>
        <p:spPr>
          <a:xfrm flipH="1" flipV="1">
            <a:off x="3184260" y="2706628"/>
            <a:ext cx="667302" cy="4055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FF331BEA-25E2-D1B8-8909-089471E75021}"/>
              </a:ext>
            </a:extLst>
          </p:cNvPr>
          <p:cNvCxnSpPr>
            <a:cxnSpLocks/>
          </p:cNvCxnSpPr>
          <p:nvPr/>
        </p:nvCxnSpPr>
        <p:spPr>
          <a:xfrm>
            <a:off x="1380002" y="1743248"/>
            <a:ext cx="0" cy="13596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EBDD56F6-9637-454F-9754-22922F0DBD91}"/>
              </a:ext>
            </a:extLst>
          </p:cNvPr>
          <p:cNvCxnSpPr>
            <a:cxnSpLocks/>
            <a:endCxn id="20" idx="0"/>
          </p:cNvCxnSpPr>
          <p:nvPr/>
        </p:nvCxnSpPr>
        <p:spPr>
          <a:xfrm flipH="1">
            <a:off x="1435418" y="2678920"/>
            <a:ext cx="737234" cy="4239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AA782C60-C322-FED0-331D-EB63A493DB63}"/>
              </a:ext>
            </a:extLst>
          </p:cNvPr>
          <p:cNvCxnSpPr>
            <a:cxnSpLocks/>
            <a:endCxn id="21" idx="2"/>
          </p:cNvCxnSpPr>
          <p:nvPr/>
        </p:nvCxnSpPr>
        <p:spPr>
          <a:xfrm flipV="1">
            <a:off x="3347817" y="1743248"/>
            <a:ext cx="745075" cy="4055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AB4FCD91-BB57-5EA8-6E43-3AD61C2ACA85}"/>
              </a:ext>
            </a:extLst>
          </p:cNvPr>
          <p:cNvCxnSpPr>
            <a:cxnSpLocks/>
            <a:endCxn id="8" idx="0"/>
          </p:cNvCxnSpPr>
          <p:nvPr/>
        </p:nvCxnSpPr>
        <p:spPr>
          <a:xfrm>
            <a:off x="3404235" y="2678920"/>
            <a:ext cx="688657" cy="4239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Arc 44">
            <a:extLst>
              <a:ext uri="{FF2B5EF4-FFF2-40B4-BE49-F238E27FC236}">
                <a16:creationId xmlns:a16="http://schemas.microsoft.com/office/drawing/2014/main" id="{CACD09FF-CAE3-A1D1-4031-516AC16FF069}"/>
              </a:ext>
            </a:extLst>
          </p:cNvPr>
          <p:cNvSpPr/>
          <p:nvPr/>
        </p:nvSpPr>
        <p:spPr>
          <a:xfrm>
            <a:off x="1830949" y="2217152"/>
            <a:ext cx="512703" cy="365459"/>
          </a:xfrm>
          <a:prstGeom prst="arc">
            <a:avLst>
              <a:gd name="adj1" fmla="val 4404093"/>
              <a:gd name="adj2" fmla="val 17510318"/>
            </a:avLst>
          </a:prstGeom>
          <a:ln>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Arc 45">
            <a:extLst>
              <a:ext uri="{FF2B5EF4-FFF2-40B4-BE49-F238E27FC236}">
                <a16:creationId xmlns:a16="http://schemas.microsoft.com/office/drawing/2014/main" id="{B2132F25-198C-1753-4841-90CD4BE9388D}"/>
              </a:ext>
            </a:extLst>
          </p:cNvPr>
          <p:cNvSpPr/>
          <p:nvPr/>
        </p:nvSpPr>
        <p:spPr>
          <a:xfrm>
            <a:off x="487064" y="3200827"/>
            <a:ext cx="512703" cy="365459"/>
          </a:xfrm>
          <a:prstGeom prst="arc">
            <a:avLst>
              <a:gd name="adj1" fmla="val 4404093"/>
              <a:gd name="adj2" fmla="val 17510318"/>
            </a:avLst>
          </a:prstGeom>
          <a:ln>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804542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4804C-52ED-885C-82D4-83372C051F45}"/>
              </a:ext>
            </a:extLst>
          </p:cNvPr>
          <p:cNvSpPr>
            <a:spLocks noGrp="1"/>
          </p:cNvSpPr>
          <p:nvPr>
            <p:ph type="ctrTitle"/>
          </p:nvPr>
        </p:nvSpPr>
        <p:spPr>
          <a:xfrm>
            <a:off x="0" y="457200"/>
            <a:ext cx="2231647" cy="457200"/>
          </a:xfrm>
        </p:spPr>
        <p:txBody>
          <a:bodyPr/>
          <a:lstStyle/>
          <a:p>
            <a:r>
              <a:rPr lang="en-US" dirty="0"/>
              <a:t>Clock and Debug</a:t>
            </a:r>
          </a:p>
        </p:txBody>
      </p:sp>
      <p:pic>
        <p:nvPicPr>
          <p:cNvPr id="4" name="Picture 3">
            <a:extLst>
              <a:ext uri="{FF2B5EF4-FFF2-40B4-BE49-F238E27FC236}">
                <a16:creationId xmlns:a16="http://schemas.microsoft.com/office/drawing/2014/main" id="{6BB784B1-6BDE-402D-2052-104387207CDF}"/>
              </a:ext>
            </a:extLst>
          </p:cNvPr>
          <p:cNvPicPr>
            <a:picLocks noChangeAspect="1"/>
          </p:cNvPicPr>
          <p:nvPr/>
        </p:nvPicPr>
        <p:blipFill>
          <a:blip r:embed="rId2"/>
          <a:stretch>
            <a:fillRect/>
          </a:stretch>
        </p:blipFill>
        <p:spPr>
          <a:xfrm>
            <a:off x="2231647" y="143779"/>
            <a:ext cx="9127948" cy="6257021"/>
          </a:xfrm>
          <a:prstGeom prst="rect">
            <a:avLst/>
          </a:prstGeom>
        </p:spPr>
      </p:pic>
    </p:spTree>
    <p:extLst>
      <p:ext uri="{BB962C8B-B14F-4D97-AF65-F5344CB8AC3E}">
        <p14:creationId xmlns:p14="http://schemas.microsoft.com/office/powerpoint/2010/main" val="1483627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AF0AE-DD30-1376-E4A3-D005CD3CB9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88C209-3148-E38A-ABD4-AF3BE51BFF20}"/>
              </a:ext>
            </a:extLst>
          </p:cNvPr>
          <p:cNvSpPr>
            <a:spLocks noGrp="1"/>
          </p:cNvSpPr>
          <p:nvPr>
            <p:ph type="ctrTitle"/>
          </p:nvPr>
        </p:nvSpPr>
        <p:spPr>
          <a:xfrm>
            <a:off x="0" y="457200"/>
            <a:ext cx="2231647" cy="457200"/>
          </a:xfrm>
        </p:spPr>
        <p:txBody>
          <a:bodyPr/>
          <a:lstStyle/>
          <a:p>
            <a:r>
              <a:rPr lang="en-US" dirty="0"/>
              <a:t>Reset</a:t>
            </a:r>
          </a:p>
        </p:txBody>
      </p:sp>
      <p:pic>
        <p:nvPicPr>
          <p:cNvPr id="5" name="Picture 4">
            <a:extLst>
              <a:ext uri="{FF2B5EF4-FFF2-40B4-BE49-F238E27FC236}">
                <a16:creationId xmlns:a16="http://schemas.microsoft.com/office/drawing/2014/main" id="{54ABA8B1-B3BA-640E-724F-FA98F2D29D4C}"/>
              </a:ext>
            </a:extLst>
          </p:cNvPr>
          <p:cNvPicPr>
            <a:picLocks noChangeAspect="1"/>
          </p:cNvPicPr>
          <p:nvPr/>
        </p:nvPicPr>
        <p:blipFill>
          <a:blip r:embed="rId2"/>
          <a:stretch>
            <a:fillRect/>
          </a:stretch>
        </p:blipFill>
        <p:spPr>
          <a:xfrm>
            <a:off x="2231647" y="211477"/>
            <a:ext cx="8962940" cy="6189323"/>
          </a:xfrm>
          <a:prstGeom prst="rect">
            <a:avLst/>
          </a:prstGeom>
        </p:spPr>
      </p:pic>
    </p:spTree>
    <p:extLst>
      <p:ext uri="{BB962C8B-B14F-4D97-AF65-F5344CB8AC3E}">
        <p14:creationId xmlns:p14="http://schemas.microsoft.com/office/powerpoint/2010/main" val="1584353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70EFB-20B7-32A4-9BBC-530ECA86C5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143BAE-675B-D2EF-6F7B-B725826B77C8}"/>
              </a:ext>
            </a:extLst>
          </p:cNvPr>
          <p:cNvSpPr>
            <a:spLocks noGrp="1"/>
          </p:cNvSpPr>
          <p:nvPr>
            <p:ph type="ctrTitle"/>
          </p:nvPr>
        </p:nvSpPr>
        <p:spPr>
          <a:xfrm>
            <a:off x="0" y="457200"/>
            <a:ext cx="2231647" cy="457200"/>
          </a:xfrm>
        </p:spPr>
        <p:txBody>
          <a:bodyPr/>
          <a:lstStyle/>
          <a:p>
            <a:r>
              <a:rPr lang="en-US" dirty="0"/>
              <a:t>Registers File</a:t>
            </a:r>
          </a:p>
        </p:txBody>
      </p:sp>
      <p:pic>
        <p:nvPicPr>
          <p:cNvPr id="6" name="Picture 5">
            <a:extLst>
              <a:ext uri="{FF2B5EF4-FFF2-40B4-BE49-F238E27FC236}">
                <a16:creationId xmlns:a16="http://schemas.microsoft.com/office/drawing/2014/main" id="{C954B464-3D44-3412-9628-A3F27475D150}"/>
              </a:ext>
            </a:extLst>
          </p:cNvPr>
          <p:cNvPicPr>
            <a:picLocks noChangeAspect="1"/>
          </p:cNvPicPr>
          <p:nvPr/>
        </p:nvPicPr>
        <p:blipFill>
          <a:blip r:embed="rId2"/>
          <a:stretch>
            <a:fillRect/>
          </a:stretch>
        </p:blipFill>
        <p:spPr>
          <a:xfrm>
            <a:off x="2231647" y="155989"/>
            <a:ext cx="9080757" cy="6244811"/>
          </a:xfrm>
          <a:prstGeom prst="rect">
            <a:avLst/>
          </a:prstGeom>
        </p:spPr>
      </p:pic>
    </p:spTree>
    <p:extLst>
      <p:ext uri="{BB962C8B-B14F-4D97-AF65-F5344CB8AC3E}">
        <p14:creationId xmlns:p14="http://schemas.microsoft.com/office/powerpoint/2010/main" val="937724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168E7-2AAB-EE70-A8B0-4D2EB0FB8E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DDE522-E5E6-25C0-5312-455FF550DED1}"/>
              </a:ext>
            </a:extLst>
          </p:cNvPr>
          <p:cNvSpPr>
            <a:spLocks noGrp="1"/>
          </p:cNvSpPr>
          <p:nvPr>
            <p:ph type="ctrTitle"/>
          </p:nvPr>
        </p:nvSpPr>
        <p:spPr>
          <a:xfrm>
            <a:off x="0" y="457200"/>
            <a:ext cx="2231647" cy="828076"/>
          </a:xfrm>
        </p:spPr>
        <p:txBody>
          <a:bodyPr/>
          <a:lstStyle/>
          <a:p>
            <a:r>
              <a:rPr lang="en-US" dirty="0"/>
              <a:t>Register Out</a:t>
            </a:r>
            <a:br>
              <a:rPr lang="en-US" dirty="0"/>
            </a:br>
            <a:r>
              <a:rPr lang="en-US" dirty="0"/>
              <a:t>Select</a:t>
            </a:r>
          </a:p>
        </p:txBody>
      </p:sp>
      <p:pic>
        <p:nvPicPr>
          <p:cNvPr id="4" name="Picture 3">
            <a:extLst>
              <a:ext uri="{FF2B5EF4-FFF2-40B4-BE49-F238E27FC236}">
                <a16:creationId xmlns:a16="http://schemas.microsoft.com/office/drawing/2014/main" id="{FBC69BC4-3BFD-2D8B-9924-C76E9A87B953}"/>
              </a:ext>
            </a:extLst>
          </p:cNvPr>
          <p:cNvPicPr>
            <a:picLocks noChangeAspect="1"/>
          </p:cNvPicPr>
          <p:nvPr/>
        </p:nvPicPr>
        <p:blipFill>
          <a:blip r:embed="rId2"/>
          <a:stretch>
            <a:fillRect/>
          </a:stretch>
        </p:blipFill>
        <p:spPr>
          <a:xfrm>
            <a:off x="1892658" y="1019995"/>
            <a:ext cx="8777587" cy="6047270"/>
          </a:xfrm>
          <a:prstGeom prst="rect">
            <a:avLst/>
          </a:prstGeom>
        </p:spPr>
      </p:pic>
    </p:spTree>
    <p:extLst>
      <p:ext uri="{BB962C8B-B14F-4D97-AF65-F5344CB8AC3E}">
        <p14:creationId xmlns:p14="http://schemas.microsoft.com/office/powerpoint/2010/main" val="6544003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FDAB6-FC71-BACC-45F5-B83A06B9AEE8}"/>
              </a:ext>
            </a:extLst>
          </p:cNvPr>
          <p:cNvSpPr>
            <a:spLocks noGrp="1"/>
          </p:cNvSpPr>
          <p:nvPr>
            <p:ph type="ctrTitle"/>
          </p:nvPr>
        </p:nvSpPr>
        <p:spPr>
          <a:xfrm>
            <a:off x="914399" y="457200"/>
            <a:ext cx="4722395" cy="457200"/>
          </a:xfrm>
        </p:spPr>
        <p:txBody>
          <a:bodyPr/>
          <a:lstStyle/>
          <a:p>
            <a:r>
              <a:rPr lang="en-US" dirty="0"/>
              <a:t>Address Bus Select (ARSelect) v2.0</a:t>
            </a:r>
          </a:p>
        </p:txBody>
      </p:sp>
      <p:grpSp>
        <p:nvGrpSpPr>
          <p:cNvPr id="6" name="Group 5">
            <a:extLst>
              <a:ext uri="{FF2B5EF4-FFF2-40B4-BE49-F238E27FC236}">
                <a16:creationId xmlns:a16="http://schemas.microsoft.com/office/drawing/2014/main" id="{E860EB00-E02E-3781-88B8-86E8AA7B4171}"/>
              </a:ext>
            </a:extLst>
          </p:cNvPr>
          <p:cNvGrpSpPr/>
          <p:nvPr/>
        </p:nvGrpSpPr>
        <p:grpSpPr>
          <a:xfrm>
            <a:off x="7030843" y="1715961"/>
            <a:ext cx="1184722" cy="1672548"/>
            <a:chOff x="5721016" y="2899611"/>
            <a:chExt cx="1184722" cy="1672548"/>
          </a:xfrm>
        </p:grpSpPr>
        <p:pic>
          <p:nvPicPr>
            <p:cNvPr id="4" name="Picture 3" descr="A group of black squares with numbers&#10;&#10;AI-generated content may be incorrect.">
              <a:extLst>
                <a:ext uri="{FF2B5EF4-FFF2-40B4-BE49-F238E27FC236}">
                  <a16:creationId xmlns:a16="http://schemas.microsoft.com/office/drawing/2014/main" id="{1A0DF66E-BB5C-031E-DFB0-F9DF22F70C22}"/>
                </a:ext>
              </a:extLst>
            </p:cNvPr>
            <p:cNvPicPr>
              <a:picLocks noChangeAspect="1"/>
            </p:cNvPicPr>
            <p:nvPr/>
          </p:nvPicPr>
          <p:blipFill>
            <a:blip r:embed="rId3"/>
            <a:stretch>
              <a:fillRect/>
            </a:stretch>
          </p:blipFill>
          <p:spPr>
            <a:xfrm>
              <a:off x="5721016" y="2899611"/>
              <a:ext cx="1184722" cy="1672548"/>
            </a:xfrm>
            <a:prstGeom prst="rect">
              <a:avLst/>
            </a:prstGeom>
          </p:spPr>
        </p:pic>
        <p:sp>
          <p:nvSpPr>
            <p:cNvPr id="5" name="TextBox 4">
              <a:extLst>
                <a:ext uri="{FF2B5EF4-FFF2-40B4-BE49-F238E27FC236}">
                  <a16:creationId xmlns:a16="http://schemas.microsoft.com/office/drawing/2014/main" id="{A91F2063-EB65-F498-45CC-84A1C86168A6}"/>
                </a:ext>
              </a:extLst>
            </p:cNvPr>
            <p:cNvSpPr txBox="1"/>
            <p:nvPr/>
          </p:nvSpPr>
          <p:spPr>
            <a:xfrm rot="5400000">
              <a:off x="5769144" y="3669634"/>
              <a:ext cx="1173719" cy="261610"/>
            </a:xfrm>
            <a:prstGeom prst="rect">
              <a:avLst/>
            </a:prstGeom>
            <a:noFill/>
          </p:spPr>
          <p:txBody>
            <a:bodyPr wrap="none" rtlCol="0">
              <a:spAutoFit/>
            </a:bodyPr>
            <a:lstStyle/>
            <a:p>
              <a:r>
                <a:rPr lang="en-US" sz="1050" dirty="0" err="1"/>
                <a:t>ARSelect</a:t>
              </a:r>
              <a:r>
                <a:rPr lang="en-US" sz="1050" dirty="0"/>
                <a:t> 8x8 LUT</a:t>
              </a:r>
            </a:p>
          </p:txBody>
        </p:sp>
      </p:grpSp>
      <p:graphicFrame>
        <p:nvGraphicFramePr>
          <p:cNvPr id="7" name="Table 6">
            <a:extLst>
              <a:ext uri="{FF2B5EF4-FFF2-40B4-BE49-F238E27FC236}">
                <a16:creationId xmlns:a16="http://schemas.microsoft.com/office/drawing/2014/main" id="{C807164F-CDE0-B751-A32B-DA36C1B25B0D}"/>
              </a:ext>
            </a:extLst>
          </p:cNvPr>
          <p:cNvGraphicFramePr>
            <a:graphicFrameLocks noGrp="1"/>
          </p:cNvGraphicFramePr>
          <p:nvPr>
            <p:extLst>
              <p:ext uri="{D42A27DB-BD31-4B8C-83A1-F6EECF244321}">
                <p14:modId xmlns:p14="http://schemas.microsoft.com/office/powerpoint/2010/main" val="1667524628"/>
              </p:ext>
            </p:extLst>
          </p:nvPr>
        </p:nvGraphicFramePr>
        <p:xfrm>
          <a:off x="288757" y="3976091"/>
          <a:ext cx="8235616" cy="2651760"/>
        </p:xfrm>
        <a:graphic>
          <a:graphicData uri="http://schemas.openxmlformats.org/drawingml/2006/table">
            <a:tbl>
              <a:tblPr firstRow="1" bandRow="1">
                <a:tableStyleId>{5C22544A-7EE6-4342-B048-85BDC9FD1C3A}</a:tableStyleId>
              </a:tblPr>
              <a:tblGrid>
                <a:gridCol w="657399">
                  <a:extLst>
                    <a:ext uri="{9D8B030D-6E8A-4147-A177-3AD203B41FA5}">
                      <a16:colId xmlns:a16="http://schemas.microsoft.com/office/drawing/2014/main" val="3057299652"/>
                    </a:ext>
                  </a:extLst>
                </a:gridCol>
                <a:gridCol w="713848">
                  <a:extLst>
                    <a:ext uri="{9D8B030D-6E8A-4147-A177-3AD203B41FA5}">
                      <a16:colId xmlns:a16="http://schemas.microsoft.com/office/drawing/2014/main" val="3556910871"/>
                    </a:ext>
                  </a:extLst>
                </a:gridCol>
                <a:gridCol w="851521">
                  <a:extLst>
                    <a:ext uri="{9D8B030D-6E8A-4147-A177-3AD203B41FA5}">
                      <a16:colId xmlns:a16="http://schemas.microsoft.com/office/drawing/2014/main" val="1464492428"/>
                    </a:ext>
                  </a:extLst>
                </a:gridCol>
                <a:gridCol w="1151060">
                  <a:extLst>
                    <a:ext uri="{9D8B030D-6E8A-4147-A177-3AD203B41FA5}">
                      <a16:colId xmlns:a16="http://schemas.microsoft.com/office/drawing/2014/main" val="465393676"/>
                    </a:ext>
                  </a:extLst>
                </a:gridCol>
                <a:gridCol w="1181436">
                  <a:extLst>
                    <a:ext uri="{9D8B030D-6E8A-4147-A177-3AD203B41FA5}">
                      <a16:colId xmlns:a16="http://schemas.microsoft.com/office/drawing/2014/main" val="462801025"/>
                    </a:ext>
                  </a:extLst>
                </a:gridCol>
                <a:gridCol w="1508652">
                  <a:extLst>
                    <a:ext uri="{9D8B030D-6E8A-4147-A177-3AD203B41FA5}">
                      <a16:colId xmlns:a16="http://schemas.microsoft.com/office/drawing/2014/main" val="2396601857"/>
                    </a:ext>
                  </a:extLst>
                </a:gridCol>
                <a:gridCol w="938463">
                  <a:extLst>
                    <a:ext uri="{9D8B030D-6E8A-4147-A177-3AD203B41FA5}">
                      <a16:colId xmlns:a16="http://schemas.microsoft.com/office/drawing/2014/main" val="1491896773"/>
                    </a:ext>
                  </a:extLst>
                </a:gridCol>
                <a:gridCol w="1233237">
                  <a:extLst>
                    <a:ext uri="{9D8B030D-6E8A-4147-A177-3AD203B41FA5}">
                      <a16:colId xmlns:a16="http://schemas.microsoft.com/office/drawing/2014/main" val="3099209367"/>
                    </a:ext>
                  </a:extLst>
                </a:gridCol>
              </a:tblGrid>
              <a:tr h="231981">
                <a:tc gridSpan="7">
                  <a:txBody>
                    <a:bodyPr/>
                    <a:lstStyle/>
                    <a:p>
                      <a:pPr algn="ctr"/>
                      <a:r>
                        <a:rPr lang="en-US" sz="1000" dirty="0"/>
                        <a:t>Inputs</a:t>
                      </a:r>
                    </a:p>
                  </a:txBody>
                  <a:tcPr marL="27432" marR="27432"/>
                </a:tc>
                <a:tc hMerge="1">
                  <a:txBody>
                    <a:bodyPr/>
                    <a:lstStyle/>
                    <a:p>
                      <a:pPr algn="ctr"/>
                      <a:endParaRPr lang="en-US" sz="1000" dirty="0"/>
                    </a:p>
                  </a:txBody>
                  <a:tcPr marL="27432" marR="27432"/>
                </a:tc>
                <a:tc hMerge="1">
                  <a:txBody>
                    <a:bodyPr/>
                    <a:lstStyle/>
                    <a:p>
                      <a:pPr algn="ctr"/>
                      <a:endParaRPr lang="en-US" sz="1000" dirty="0"/>
                    </a:p>
                  </a:txBody>
                  <a:tcPr marL="27432" marR="27432"/>
                </a:tc>
                <a:tc hMerge="1">
                  <a:txBody>
                    <a:bodyPr/>
                    <a:lstStyle/>
                    <a:p>
                      <a:pPr algn="ctr"/>
                      <a:endParaRPr lang="en-US" sz="1000" dirty="0"/>
                    </a:p>
                  </a:txBody>
                  <a:tcPr marL="27432" marR="27432"/>
                </a:tc>
                <a:tc hMerge="1">
                  <a:txBody>
                    <a:bodyPr/>
                    <a:lstStyle/>
                    <a:p>
                      <a:pPr algn="ctr"/>
                      <a:endParaRPr lang="en-US" sz="1000" dirty="0"/>
                    </a:p>
                  </a:txBody>
                  <a:tcPr marL="27432" marR="27432"/>
                </a:tc>
                <a:tc hMerge="1">
                  <a:txBody>
                    <a:bodyPr/>
                    <a:lstStyle/>
                    <a:p>
                      <a:pPr algn="ctr"/>
                      <a:endParaRPr lang="en-US" sz="1000" dirty="0"/>
                    </a:p>
                  </a:txBody>
                  <a:tcPr marL="27432" marR="27432"/>
                </a:tc>
                <a:tc hMerge="1">
                  <a:txBody>
                    <a:bodyPr/>
                    <a:lstStyle/>
                    <a:p>
                      <a:pPr algn="ctr"/>
                      <a:endParaRPr lang="en-US" sz="1000" dirty="0"/>
                    </a:p>
                  </a:txBody>
                  <a:tcPr marL="27432" marR="27432"/>
                </a:tc>
                <a:tc rowSpan="2">
                  <a:txBody>
                    <a:bodyPr/>
                    <a:lstStyle/>
                    <a:p>
                      <a:pPr algn="ctr"/>
                      <a:endParaRPr lang="en-US" sz="1000" dirty="0"/>
                    </a:p>
                    <a:p>
                      <a:pPr algn="ctr"/>
                      <a:r>
                        <a:rPr lang="en-US" sz="1000" dirty="0"/>
                        <a:t>Outputs</a:t>
                      </a:r>
                    </a:p>
                    <a:p>
                      <a:pPr algn="ctr"/>
                      <a:r>
                        <a:rPr lang="en-US" sz="1000" dirty="0"/>
                        <a:t>(Active Low)</a:t>
                      </a:r>
                    </a:p>
                  </a:txBody>
                  <a:tcPr marL="27432" marR="27432">
                    <a:solidFill>
                      <a:schemeClr val="accent6"/>
                    </a:solidFill>
                  </a:tcPr>
                </a:tc>
                <a:extLst>
                  <a:ext uri="{0D108BD9-81ED-4DB2-BD59-A6C34878D82A}">
                    <a16:rowId xmlns:a16="http://schemas.microsoft.com/office/drawing/2014/main" val="2251697608"/>
                  </a:ext>
                </a:extLst>
              </a:tr>
              <a:tr h="345259">
                <a:tc>
                  <a:txBody>
                    <a:bodyPr/>
                    <a:lstStyle/>
                    <a:p>
                      <a:pPr algn="ctr"/>
                      <a:r>
                        <a:rPr lang="en-US" sz="1000" dirty="0">
                          <a:solidFill>
                            <a:schemeClr val="bg1"/>
                          </a:solidFill>
                        </a:rPr>
                        <a:t>Bus Grant (A7)</a:t>
                      </a:r>
                    </a:p>
                  </a:txBody>
                  <a:tcPr marL="27432" marR="27432">
                    <a:solidFill>
                      <a:schemeClr val="accent1">
                        <a:lumMod val="60000"/>
                        <a:lumOff val="40000"/>
                      </a:schemeClr>
                    </a:solidFill>
                  </a:tcPr>
                </a:tc>
                <a:tc>
                  <a:txBody>
                    <a:bodyPr/>
                    <a:lstStyle/>
                    <a:p>
                      <a:pPr algn="ctr"/>
                      <a:r>
                        <a:rPr lang="en-US" sz="1000" dirty="0">
                          <a:solidFill>
                            <a:schemeClr val="bg1"/>
                          </a:solidFill>
                        </a:rPr>
                        <a:t>Fetch Cycle</a:t>
                      </a:r>
                    </a:p>
                    <a:p>
                      <a:pPr algn="ctr"/>
                      <a:r>
                        <a:rPr lang="en-US" sz="1000" dirty="0">
                          <a:solidFill>
                            <a:schemeClr val="bg1"/>
                          </a:solidFill>
                        </a:rPr>
                        <a:t>(A6)</a:t>
                      </a:r>
                    </a:p>
                  </a:txBody>
                  <a:tcPr marL="27432" marR="27432">
                    <a:solidFill>
                      <a:schemeClr val="accent1">
                        <a:lumMod val="60000"/>
                        <a:lumOff val="40000"/>
                      </a:schemeClr>
                    </a:solidFill>
                  </a:tcPr>
                </a:tc>
                <a:tc>
                  <a:txBody>
                    <a:bodyPr/>
                    <a:lstStyle/>
                    <a:p>
                      <a:pPr algn="ctr"/>
                      <a:r>
                        <a:rPr lang="en-US" sz="1000" dirty="0">
                          <a:solidFill>
                            <a:schemeClr val="bg1"/>
                          </a:solidFill>
                        </a:rPr>
                        <a:t>PC Out control signal (A5)</a:t>
                      </a:r>
                    </a:p>
                  </a:txBody>
                  <a:tcPr marL="27432" marR="27432">
                    <a:solidFill>
                      <a:schemeClr val="accent1">
                        <a:lumMod val="60000"/>
                        <a:lumOff val="40000"/>
                      </a:schemeClr>
                    </a:solidFill>
                  </a:tcPr>
                </a:tc>
                <a:tc>
                  <a:txBody>
                    <a:bodyPr/>
                    <a:lstStyle/>
                    <a:p>
                      <a:pPr algn="ctr"/>
                      <a:r>
                        <a:rPr lang="en-US" sz="1000" dirty="0">
                          <a:solidFill>
                            <a:schemeClr val="bg1"/>
                          </a:solidFill>
                        </a:rPr>
                        <a:t>SP Out control signal (A4)</a:t>
                      </a:r>
                    </a:p>
                  </a:txBody>
                  <a:tcPr marL="27432" marR="27432">
                    <a:solidFill>
                      <a:schemeClr val="accent1">
                        <a:lumMod val="60000"/>
                        <a:lumOff val="40000"/>
                      </a:schemeClr>
                    </a:solidFill>
                  </a:tcPr>
                </a:tc>
                <a:tc>
                  <a:txBody>
                    <a:bodyPr/>
                    <a:lstStyle/>
                    <a:p>
                      <a:pPr algn="ctr"/>
                      <a:r>
                        <a:rPr lang="en-US" sz="1000" dirty="0" err="1">
                          <a:solidFill>
                            <a:schemeClr val="bg1"/>
                          </a:solidFill>
                        </a:rPr>
                        <a:t>TmpAR</a:t>
                      </a:r>
                      <a:r>
                        <a:rPr lang="en-US" sz="1000" dirty="0">
                          <a:solidFill>
                            <a:schemeClr val="bg1"/>
                          </a:solidFill>
                        </a:rPr>
                        <a:t> Write control signal (A3)</a:t>
                      </a:r>
                    </a:p>
                  </a:txBody>
                  <a:tcPr marL="27432" marR="27432">
                    <a:solidFill>
                      <a:schemeClr val="accent1">
                        <a:lumMod val="60000"/>
                        <a:lumOff val="40000"/>
                      </a:schemeClr>
                    </a:solidFill>
                  </a:tcPr>
                </a:tc>
                <a:tc>
                  <a:txBody>
                    <a:bodyPr/>
                    <a:lstStyle/>
                    <a:p>
                      <a:pPr algn="ctr"/>
                      <a:r>
                        <a:rPr lang="en-US" sz="1000" dirty="0" err="1">
                          <a:solidFill>
                            <a:schemeClr val="bg1"/>
                          </a:solidFill>
                        </a:rPr>
                        <a:t>Opcode_MAG_LDW_SDW_MAA</a:t>
                      </a:r>
                      <a:r>
                        <a:rPr lang="en-US" sz="1000" dirty="0">
                          <a:solidFill>
                            <a:schemeClr val="bg1"/>
                          </a:solidFill>
                        </a:rPr>
                        <a:t> (Active Low) (A2)</a:t>
                      </a:r>
                    </a:p>
                  </a:txBody>
                  <a:tcPr marL="27432" marR="27432">
                    <a:solidFill>
                      <a:schemeClr val="accent1">
                        <a:lumMod val="60000"/>
                        <a:lumOff val="40000"/>
                      </a:schemeClr>
                    </a:solidFill>
                  </a:tcPr>
                </a:tc>
                <a:tc>
                  <a:txBody>
                    <a:bodyPr/>
                    <a:lstStyle/>
                    <a:p>
                      <a:pPr algn="ctr"/>
                      <a:r>
                        <a:rPr lang="en-US" sz="1000" dirty="0">
                          <a:solidFill>
                            <a:schemeClr val="bg1"/>
                          </a:solidFill>
                        </a:rPr>
                        <a:t>AR </a:t>
                      </a:r>
                      <a:r>
                        <a:rPr lang="en-US" sz="1000" dirty="0" err="1">
                          <a:solidFill>
                            <a:schemeClr val="bg1"/>
                          </a:solidFill>
                        </a:rPr>
                        <a:t>Src</a:t>
                      </a:r>
                      <a:r>
                        <a:rPr lang="en-US" sz="1000" dirty="0">
                          <a:solidFill>
                            <a:schemeClr val="bg1"/>
                          </a:solidFill>
                        </a:rPr>
                        <a:t> operand</a:t>
                      </a:r>
                    </a:p>
                    <a:p>
                      <a:pPr algn="ctr"/>
                      <a:r>
                        <a:rPr lang="en-US" sz="1000" dirty="0">
                          <a:solidFill>
                            <a:schemeClr val="bg1"/>
                          </a:solidFill>
                        </a:rPr>
                        <a:t>(A1, A0)</a:t>
                      </a:r>
                    </a:p>
                  </a:txBody>
                  <a:tcPr marL="27432" marR="27432">
                    <a:solidFill>
                      <a:schemeClr val="accent1">
                        <a:lumMod val="60000"/>
                        <a:lumOff val="40000"/>
                      </a:schemeClr>
                    </a:solidFill>
                  </a:tcPr>
                </a:tc>
                <a:tc vMerge="1">
                  <a:txBody>
                    <a:bodyPr/>
                    <a:lstStyle/>
                    <a:p>
                      <a:endParaRPr dirty="0"/>
                    </a:p>
                  </a:txBody>
                  <a:tcPr marL="27432" marR="27432">
                    <a:solidFill>
                      <a:schemeClr val="accent6"/>
                    </a:solidFill>
                  </a:tcPr>
                </a:tc>
                <a:extLst>
                  <a:ext uri="{0D108BD9-81ED-4DB2-BD59-A6C34878D82A}">
                    <a16:rowId xmlns:a16="http://schemas.microsoft.com/office/drawing/2014/main" val="3978028469"/>
                  </a:ext>
                </a:extLst>
              </a:tr>
              <a:tr h="212467">
                <a:tc>
                  <a:txBody>
                    <a:bodyPr/>
                    <a:lstStyle/>
                    <a:p>
                      <a:r>
                        <a:rPr lang="en-US" sz="1000" dirty="0"/>
                        <a:t>1</a:t>
                      </a:r>
                    </a:p>
                  </a:txBody>
                  <a:tcPr/>
                </a:tc>
                <a:tc>
                  <a:txBody>
                    <a:bodyPr/>
                    <a:lstStyle/>
                    <a:p>
                      <a:r>
                        <a:rPr lang="en-US" sz="1000" dirty="0"/>
                        <a:t>X</a:t>
                      </a:r>
                    </a:p>
                  </a:txBody>
                  <a:tcPr/>
                </a:tc>
                <a:tc>
                  <a:txBody>
                    <a:bodyPr/>
                    <a:lstStyle/>
                    <a:p>
                      <a:r>
                        <a:rPr lang="en-US" sz="1000" dirty="0"/>
                        <a:t>X</a:t>
                      </a:r>
                    </a:p>
                  </a:txBody>
                  <a:tcPr/>
                </a:tc>
                <a:tc>
                  <a:txBody>
                    <a:bodyPr/>
                    <a:lstStyle/>
                    <a:p>
                      <a:r>
                        <a:rPr lang="en-US" sz="1000" dirty="0"/>
                        <a:t>X</a:t>
                      </a:r>
                    </a:p>
                  </a:txBody>
                  <a:tcPr/>
                </a:tc>
                <a:tc>
                  <a:txBody>
                    <a:bodyPr/>
                    <a:lstStyle/>
                    <a:p>
                      <a:r>
                        <a:rPr lang="en-US" sz="1000" dirty="0"/>
                        <a:t>X</a:t>
                      </a:r>
                    </a:p>
                  </a:txBody>
                  <a:tcPr/>
                </a:tc>
                <a:tc>
                  <a:txBody>
                    <a:bodyPr/>
                    <a:lstStyle/>
                    <a:p>
                      <a:r>
                        <a:rPr lang="en-US" sz="1000" dirty="0"/>
                        <a:t>X</a:t>
                      </a:r>
                    </a:p>
                  </a:txBody>
                  <a:tcPr/>
                </a:tc>
                <a:tc>
                  <a:txBody>
                    <a:bodyPr/>
                    <a:lstStyle/>
                    <a:p>
                      <a:r>
                        <a:rPr lang="en-US" sz="1000" dirty="0"/>
                        <a:t>X</a:t>
                      </a:r>
                    </a:p>
                  </a:txBody>
                  <a:tcPr/>
                </a:tc>
                <a:tc>
                  <a:txBody>
                    <a:bodyPr/>
                    <a:lstStyle/>
                    <a:p>
                      <a:r>
                        <a:rPr lang="en-US" sz="1000" dirty="0"/>
                        <a:t>None (Bus floats)</a:t>
                      </a:r>
                    </a:p>
                  </a:txBody>
                  <a:tcPr>
                    <a:solidFill>
                      <a:schemeClr val="accent6">
                        <a:lumMod val="40000"/>
                        <a:lumOff val="60000"/>
                      </a:schemeClr>
                    </a:solidFill>
                  </a:tcPr>
                </a:tc>
                <a:extLst>
                  <a:ext uri="{0D108BD9-81ED-4DB2-BD59-A6C34878D82A}">
                    <a16:rowId xmlns:a16="http://schemas.microsoft.com/office/drawing/2014/main" val="2793775515"/>
                  </a:ext>
                </a:extLst>
              </a:tr>
              <a:tr h="212467">
                <a:tc>
                  <a:txBody>
                    <a:bodyPr/>
                    <a:lstStyle/>
                    <a:p>
                      <a:r>
                        <a:rPr lang="en-US" sz="1000" dirty="0"/>
                        <a:t>0</a:t>
                      </a:r>
                    </a:p>
                  </a:txBody>
                  <a:tcPr/>
                </a:tc>
                <a:tc>
                  <a:txBody>
                    <a:bodyPr/>
                    <a:lstStyle/>
                    <a:p>
                      <a:r>
                        <a:rPr lang="en-US" sz="1000" dirty="0"/>
                        <a:t>1</a:t>
                      </a:r>
                    </a:p>
                  </a:txBody>
                  <a:tcPr/>
                </a:tc>
                <a:tc>
                  <a:txBody>
                    <a:bodyPr/>
                    <a:lstStyle/>
                    <a:p>
                      <a:r>
                        <a:rPr lang="en-US" sz="1000" dirty="0"/>
                        <a:t>X</a:t>
                      </a:r>
                    </a:p>
                  </a:txBody>
                  <a:tcPr/>
                </a:tc>
                <a:tc>
                  <a:txBody>
                    <a:bodyPr/>
                    <a:lstStyle/>
                    <a:p>
                      <a:r>
                        <a:rPr lang="en-US" sz="1000" dirty="0"/>
                        <a:t>X</a:t>
                      </a:r>
                    </a:p>
                  </a:txBody>
                  <a:tcPr/>
                </a:tc>
                <a:tc>
                  <a:txBody>
                    <a:bodyPr/>
                    <a:lstStyle/>
                    <a:p>
                      <a:r>
                        <a:rPr lang="en-US" sz="1000" dirty="0"/>
                        <a:t>X</a:t>
                      </a:r>
                    </a:p>
                  </a:txBody>
                  <a:tcPr/>
                </a:tc>
                <a:tc>
                  <a:txBody>
                    <a:bodyPr/>
                    <a:lstStyle/>
                    <a:p>
                      <a:r>
                        <a:rPr lang="en-US" sz="1000" dirty="0"/>
                        <a:t>X</a:t>
                      </a:r>
                    </a:p>
                  </a:txBody>
                  <a:tcPr/>
                </a:tc>
                <a:tc>
                  <a:txBody>
                    <a:bodyPr/>
                    <a:lstStyle/>
                    <a:p>
                      <a:r>
                        <a:rPr lang="en-US" sz="1000" dirty="0"/>
                        <a:t>X</a:t>
                      </a:r>
                    </a:p>
                  </a:txBody>
                  <a:tcPr/>
                </a:tc>
                <a:tc>
                  <a:txBody>
                    <a:bodyPr/>
                    <a:lstStyle/>
                    <a:p>
                      <a:r>
                        <a:rPr lang="en-US" sz="1000" dirty="0"/>
                        <a:t>PC (I/O 0)</a:t>
                      </a:r>
                    </a:p>
                  </a:txBody>
                  <a:tcPr>
                    <a:solidFill>
                      <a:schemeClr val="accent6">
                        <a:lumMod val="40000"/>
                        <a:lumOff val="60000"/>
                      </a:schemeClr>
                    </a:solidFill>
                  </a:tcPr>
                </a:tc>
                <a:extLst>
                  <a:ext uri="{0D108BD9-81ED-4DB2-BD59-A6C34878D82A}">
                    <a16:rowId xmlns:a16="http://schemas.microsoft.com/office/drawing/2014/main" val="901676983"/>
                  </a:ext>
                </a:extLst>
              </a:tr>
              <a:tr h="212467">
                <a:tc>
                  <a:txBody>
                    <a:bodyPr/>
                    <a:lstStyle/>
                    <a:p>
                      <a:r>
                        <a:rPr lang="en-US" sz="1000" dirty="0"/>
                        <a:t>0</a:t>
                      </a:r>
                    </a:p>
                  </a:txBody>
                  <a:tcPr/>
                </a:tc>
                <a:tc>
                  <a:txBody>
                    <a:bodyPr/>
                    <a:lstStyle/>
                    <a:p>
                      <a:r>
                        <a:rPr lang="en-US" sz="1000" dirty="0"/>
                        <a:t>0</a:t>
                      </a:r>
                    </a:p>
                  </a:txBody>
                  <a:tcPr/>
                </a:tc>
                <a:tc>
                  <a:txBody>
                    <a:bodyPr/>
                    <a:lstStyle/>
                    <a:p>
                      <a:r>
                        <a:rPr lang="en-US" sz="1000" dirty="0"/>
                        <a:t>1</a:t>
                      </a:r>
                    </a:p>
                  </a:txBody>
                  <a:tcPr/>
                </a:tc>
                <a:tc>
                  <a:txBody>
                    <a:bodyPr/>
                    <a:lstStyle/>
                    <a:p>
                      <a:r>
                        <a:rPr lang="en-US" sz="1000" dirty="0"/>
                        <a:t>X</a:t>
                      </a:r>
                    </a:p>
                  </a:txBody>
                  <a:tcPr/>
                </a:tc>
                <a:tc>
                  <a:txBody>
                    <a:bodyPr/>
                    <a:lstStyle/>
                    <a:p>
                      <a:r>
                        <a:rPr lang="en-US" sz="1000" dirty="0"/>
                        <a:t>X</a:t>
                      </a:r>
                    </a:p>
                  </a:txBody>
                  <a:tcPr/>
                </a:tc>
                <a:tc>
                  <a:txBody>
                    <a:bodyPr/>
                    <a:lstStyle/>
                    <a:p>
                      <a:r>
                        <a:rPr lang="en-US" sz="1000" dirty="0"/>
                        <a:t>X</a:t>
                      </a:r>
                    </a:p>
                  </a:txBody>
                  <a:tcPr/>
                </a:tc>
                <a:tc>
                  <a:txBody>
                    <a:bodyPr/>
                    <a:lstStyle/>
                    <a:p>
                      <a:r>
                        <a:rPr lang="en-US" sz="1000" dirty="0"/>
                        <a:t>X</a:t>
                      </a:r>
                    </a:p>
                  </a:txBody>
                  <a:tcPr/>
                </a:tc>
                <a:tc>
                  <a:txBody>
                    <a:bodyPr/>
                    <a:lstStyle/>
                    <a:p>
                      <a:r>
                        <a:rPr lang="en-US" sz="1000" dirty="0"/>
                        <a:t>PC (I/O 0)</a:t>
                      </a:r>
                    </a:p>
                  </a:txBody>
                  <a:tcPr>
                    <a:solidFill>
                      <a:schemeClr val="accent6">
                        <a:lumMod val="40000"/>
                        <a:lumOff val="60000"/>
                      </a:schemeClr>
                    </a:solidFill>
                  </a:tcPr>
                </a:tc>
                <a:extLst>
                  <a:ext uri="{0D108BD9-81ED-4DB2-BD59-A6C34878D82A}">
                    <a16:rowId xmlns:a16="http://schemas.microsoft.com/office/drawing/2014/main" val="3357466174"/>
                  </a:ext>
                </a:extLst>
              </a:tr>
              <a:tr h="212467">
                <a:tc>
                  <a:txBody>
                    <a:bodyPr/>
                    <a:lstStyle/>
                    <a:p>
                      <a:r>
                        <a:rPr lang="en-US" sz="1000" dirty="0"/>
                        <a:t>0</a:t>
                      </a:r>
                    </a:p>
                  </a:txBody>
                  <a:tcPr/>
                </a:tc>
                <a:tc>
                  <a:txBody>
                    <a:bodyPr/>
                    <a:lstStyle/>
                    <a:p>
                      <a:r>
                        <a:rPr lang="en-US" sz="1000" dirty="0"/>
                        <a:t>0</a:t>
                      </a:r>
                    </a:p>
                  </a:txBody>
                  <a:tcPr/>
                </a:tc>
                <a:tc>
                  <a:txBody>
                    <a:bodyPr/>
                    <a:lstStyle/>
                    <a:p>
                      <a:r>
                        <a:rPr lang="en-US" sz="1000" dirty="0"/>
                        <a:t>0</a:t>
                      </a:r>
                    </a:p>
                  </a:txBody>
                  <a:tcPr/>
                </a:tc>
                <a:tc>
                  <a:txBody>
                    <a:bodyPr/>
                    <a:lstStyle/>
                    <a:p>
                      <a:r>
                        <a:rPr lang="en-US" sz="1000" dirty="0"/>
                        <a:t>1</a:t>
                      </a:r>
                    </a:p>
                  </a:txBody>
                  <a:tcPr/>
                </a:tc>
                <a:tc>
                  <a:txBody>
                    <a:bodyPr/>
                    <a:lstStyle/>
                    <a:p>
                      <a:r>
                        <a:rPr lang="en-US" sz="1000" dirty="0"/>
                        <a:t>X</a:t>
                      </a:r>
                    </a:p>
                  </a:txBody>
                  <a:tcPr/>
                </a:tc>
                <a:tc>
                  <a:txBody>
                    <a:bodyPr/>
                    <a:lstStyle/>
                    <a:p>
                      <a:r>
                        <a:rPr lang="en-US" sz="1000" dirty="0"/>
                        <a:t>X</a:t>
                      </a:r>
                    </a:p>
                  </a:txBody>
                  <a:tcPr/>
                </a:tc>
                <a:tc>
                  <a:txBody>
                    <a:bodyPr/>
                    <a:lstStyle/>
                    <a:p>
                      <a:r>
                        <a:rPr lang="en-US" sz="1000" dirty="0"/>
                        <a:t>X</a:t>
                      </a:r>
                    </a:p>
                  </a:txBody>
                  <a:tcPr/>
                </a:tc>
                <a:tc>
                  <a:txBody>
                    <a:bodyPr/>
                    <a:lstStyle/>
                    <a:p>
                      <a:r>
                        <a:rPr lang="en-US" sz="1000" dirty="0"/>
                        <a:t>SP (I/O 2)</a:t>
                      </a:r>
                    </a:p>
                  </a:txBody>
                  <a:tcPr>
                    <a:solidFill>
                      <a:schemeClr val="accent6">
                        <a:lumMod val="40000"/>
                        <a:lumOff val="60000"/>
                      </a:schemeClr>
                    </a:solidFill>
                  </a:tcPr>
                </a:tc>
                <a:extLst>
                  <a:ext uri="{0D108BD9-81ED-4DB2-BD59-A6C34878D82A}">
                    <a16:rowId xmlns:a16="http://schemas.microsoft.com/office/drawing/2014/main" val="2810329507"/>
                  </a:ext>
                </a:extLst>
              </a:tr>
              <a:tr h="212467">
                <a:tc>
                  <a:txBody>
                    <a:bodyPr/>
                    <a:lstStyle/>
                    <a:p>
                      <a:r>
                        <a:rPr lang="en-US" sz="1000" dirty="0"/>
                        <a:t>0</a:t>
                      </a:r>
                    </a:p>
                  </a:txBody>
                  <a:tcPr/>
                </a:tc>
                <a:tc>
                  <a:txBody>
                    <a:bodyPr/>
                    <a:lstStyle/>
                    <a:p>
                      <a:r>
                        <a:rPr lang="en-US" sz="1000" dirty="0"/>
                        <a:t>0</a:t>
                      </a:r>
                    </a:p>
                  </a:txBody>
                  <a:tcPr/>
                </a:tc>
                <a:tc>
                  <a:txBody>
                    <a:bodyPr/>
                    <a:lstStyle/>
                    <a:p>
                      <a:r>
                        <a:rPr lang="en-US" sz="1000" dirty="0"/>
                        <a:t>0</a:t>
                      </a:r>
                    </a:p>
                  </a:txBody>
                  <a:tcPr/>
                </a:tc>
                <a:tc>
                  <a:txBody>
                    <a:bodyPr/>
                    <a:lstStyle/>
                    <a:p>
                      <a:r>
                        <a:rPr lang="en-US" sz="1000" dirty="0"/>
                        <a:t>0</a:t>
                      </a:r>
                    </a:p>
                  </a:txBody>
                  <a:tcPr/>
                </a:tc>
                <a:tc>
                  <a:txBody>
                    <a:bodyPr/>
                    <a:lstStyle/>
                    <a:p>
                      <a:r>
                        <a:rPr lang="en-US" sz="1000" dirty="0"/>
                        <a:t>1</a:t>
                      </a:r>
                    </a:p>
                  </a:txBody>
                  <a:tcPr/>
                </a:tc>
                <a:tc>
                  <a:txBody>
                    <a:bodyPr/>
                    <a:lstStyle/>
                    <a:p>
                      <a:r>
                        <a:rPr lang="en-US" sz="1000" dirty="0"/>
                        <a:t>X</a:t>
                      </a:r>
                    </a:p>
                  </a:txBody>
                  <a:tcPr/>
                </a:tc>
                <a:tc>
                  <a:txBody>
                    <a:bodyPr/>
                    <a:lstStyle/>
                    <a:p>
                      <a:r>
                        <a:rPr lang="en-US" sz="1000" dirty="0"/>
                        <a:t>X</a:t>
                      </a:r>
                    </a:p>
                  </a:txBody>
                  <a:tcPr/>
                </a:tc>
                <a:tc>
                  <a:txBody>
                    <a:bodyPr/>
                    <a:lstStyle/>
                    <a:p>
                      <a:r>
                        <a:rPr lang="en-US" sz="1000" dirty="0" err="1"/>
                        <a:t>TmpAR</a:t>
                      </a:r>
                      <a:r>
                        <a:rPr lang="en-US" sz="1000" dirty="0"/>
                        <a:t> (I/O 4)</a:t>
                      </a:r>
                    </a:p>
                  </a:txBody>
                  <a:tcPr>
                    <a:solidFill>
                      <a:schemeClr val="accent6">
                        <a:lumMod val="40000"/>
                        <a:lumOff val="60000"/>
                      </a:schemeClr>
                    </a:solidFill>
                  </a:tcPr>
                </a:tc>
                <a:extLst>
                  <a:ext uri="{0D108BD9-81ED-4DB2-BD59-A6C34878D82A}">
                    <a16:rowId xmlns:a16="http://schemas.microsoft.com/office/drawing/2014/main" val="765499286"/>
                  </a:ext>
                </a:extLst>
              </a:tr>
              <a:tr h="345259">
                <a:tc>
                  <a:txBody>
                    <a:bodyPr/>
                    <a:lstStyle/>
                    <a:p>
                      <a:r>
                        <a:rPr lang="en-US" sz="1000" dirty="0"/>
                        <a:t>0</a:t>
                      </a:r>
                    </a:p>
                  </a:txBody>
                  <a:tcPr/>
                </a:tc>
                <a:tc>
                  <a:txBody>
                    <a:bodyPr/>
                    <a:lstStyle/>
                    <a:p>
                      <a:r>
                        <a:rPr lang="en-US" sz="1000" dirty="0"/>
                        <a:t>0</a:t>
                      </a:r>
                    </a:p>
                  </a:txBody>
                  <a:tcPr/>
                </a:tc>
                <a:tc>
                  <a:txBody>
                    <a:bodyPr/>
                    <a:lstStyle/>
                    <a:p>
                      <a:r>
                        <a:rPr lang="en-US" sz="1000" dirty="0"/>
                        <a:t>0</a:t>
                      </a:r>
                    </a:p>
                  </a:txBody>
                  <a:tcPr/>
                </a:tc>
                <a:tc>
                  <a:txBody>
                    <a:bodyPr/>
                    <a:lstStyle/>
                    <a:p>
                      <a:r>
                        <a:rPr lang="en-US" sz="1000" dirty="0"/>
                        <a:t>0</a:t>
                      </a:r>
                    </a:p>
                  </a:txBody>
                  <a:tcPr/>
                </a:tc>
                <a:tc>
                  <a:txBody>
                    <a:bodyPr/>
                    <a:lstStyle/>
                    <a:p>
                      <a:r>
                        <a:rPr lang="en-US" sz="1000" dirty="0"/>
                        <a:t>0</a:t>
                      </a:r>
                    </a:p>
                  </a:txBody>
                  <a:tcPr/>
                </a:tc>
                <a:tc>
                  <a:txBody>
                    <a:bodyPr/>
                    <a:lstStyle/>
                    <a:p>
                      <a:pPr marL="0" indent="0">
                        <a:buNone/>
                      </a:pPr>
                      <a:r>
                        <a:rPr lang="en-US" sz="1000" dirty="0"/>
                        <a:t>MAG, LDW, SDW, MAA</a:t>
                      </a:r>
                    </a:p>
                  </a:txBody>
                  <a:tcPr/>
                </a:tc>
                <a:tc>
                  <a:txBody>
                    <a:bodyPr/>
                    <a:lstStyle/>
                    <a:p>
                      <a:r>
                        <a:rPr lang="en-US" sz="1000" dirty="0"/>
                        <a:t>AR </a:t>
                      </a:r>
                      <a:r>
                        <a:rPr lang="en-US" sz="1000" dirty="0" err="1"/>
                        <a:t>Src</a:t>
                      </a:r>
                      <a:r>
                        <a:rPr lang="en-US" sz="1000" dirty="0"/>
                        <a:t>[1:0]</a:t>
                      </a:r>
                    </a:p>
                  </a:txBody>
                  <a:tcPr/>
                </a:tc>
                <a:tc>
                  <a:txBody>
                    <a:bodyPr/>
                    <a:lstStyle/>
                    <a:p>
                      <a:r>
                        <a:rPr lang="en-US" sz="1000" dirty="0"/>
                        <a:t> = AR </a:t>
                      </a:r>
                      <a:r>
                        <a:rPr lang="en-US" sz="1000" dirty="0" err="1"/>
                        <a:t>Src</a:t>
                      </a:r>
                      <a:r>
                        <a:rPr lang="en-US" sz="1000" dirty="0"/>
                        <a:t>[1:0] </a:t>
                      </a:r>
                    </a:p>
                    <a:p>
                      <a:r>
                        <a:rPr lang="en-US" sz="1000" dirty="0"/>
                        <a:t>0-PC, 1-DP, </a:t>
                      </a:r>
                    </a:p>
                    <a:p>
                      <a:r>
                        <a:rPr lang="en-US" sz="1000" dirty="0"/>
                        <a:t>2-SP, 3-BP</a:t>
                      </a:r>
                    </a:p>
                  </a:txBody>
                  <a:tcPr>
                    <a:solidFill>
                      <a:schemeClr val="accent6">
                        <a:lumMod val="40000"/>
                        <a:lumOff val="60000"/>
                      </a:schemeClr>
                    </a:solidFill>
                  </a:tcPr>
                </a:tc>
                <a:extLst>
                  <a:ext uri="{0D108BD9-81ED-4DB2-BD59-A6C34878D82A}">
                    <a16:rowId xmlns:a16="http://schemas.microsoft.com/office/drawing/2014/main" val="43658182"/>
                  </a:ext>
                </a:extLst>
              </a:tr>
              <a:tr h="212467">
                <a:tc>
                  <a:txBody>
                    <a:bodyPr/>
                    <a:lstStyle/>
                    <a:p>
                      <a:r>
                        <a:rPr lang="en-US" sz="1000" dirty="0"/>
                        <a:t>0</a:t>
                      </a:r>
                    </a:p>
                  </a:txBody>
                  <a:tcPr/>
                </a:tc>
                <a:tc>
                  <a:txBody>
                    <a:bodyPr/>
                    <a:lstStyle/>
                    <a:p>
                      <a:r>
                        <a:rPr lang="en-US" sz="1000" dirty="0"/>
                        <a:t>0</a:t>
                      </a:r>
                    </a:p>
                  </a:txBody>
                  <a:tcPr/>
                </a:tc>
                <a:tc>
                  <a:txBody>
                    <a:bodyPr/>
                    <a:lstStyle/>
                    <a:p>
                      <a:r>
                        <a:rPr lang="en-US" sz="1000" dirty="0"/>
                        <a:t>0</a:t>
                      </a:r>
                    </a:p>
                  </a:txBody>
                  <a:tcPr/>
                </a:tc>
                <a:tc>
                  <a:txBody>
                    <a:bodyPr/>
                    <a:lstStyle/>
                    <a:p>
                      <a:r>
                        <a:rPr lang="en-US" sz="1000" dirty="0"/>
                        <a:t>0</a:t>
                      </a:r>
                    </a:p>
                  </a:txBody>
                  <a:tcPr/>
                </a:tc>
                <a:tc>
                  <a:txBody>
                    <a:bodyPr/>
                    <a:lstStyle/>
                    <a:p>
                      <a:r>
                        <a:rPr lang="en-US" sz="1000" dirty="0"/>
                        <a:t>0</a:t>
                      </a:r>
                    </a:p>
                  </a:txBody>
                  <a:tcPr/>
                </a:tc>
                <a:tc>
                  <a:txBody>
                    <a:bodyPr/>
                    <a:lstStyle/>
                    <a:p>
                      <a:pPr marL="0" indent="0">
                        <a:buNone/>
                      </a:pPr>
                      <a:r>
                        <a:rPr lang="en-US" sz="1000" dirty="0"/>
                        <a:t>Other Opcodes</a:t>
                      </a:r>
                    </a:p>
                  </a:txBody>
                  <a:tcPr/>
                </a:tc>
                <a:tc>
                  <a:txBody>
                    <a:bodyPr/>
                    <a:lstStyle/>
                    <a:p>
                      <a:r>
                        <a:rPr lang="en-US" sz="1000" dirty="0"/>
                        <a:t>X</a:t>
                      </a:r>
                    </a:p>
                  </a:txBody>
                  <a:tcPr/>
                </a:tc>
                <a:tc>
                  <a:txBody>
                    <a:bodyPr/>
                    <a:lstStyle/>
                    <a:p>
                      <a:r>
                        <a:rPr lang="en-US" sz="1000" dirty="0"/>
                        <a:t>DP (I/O 0)</a:t>
                      </a:r>
                    </a:p>
                  </a:txBody>
                  <a:tcPr>
                    <a:solidFill>
                      <a:schemeClr val="accent6">
                        <a:lumMod val="40000"/>
                        <a:lumOff val="60000"/>
                      </a:schemeClr>
                    </a:solidFill>
                  </a:tcPr>
                </a:tc>
                <a:extLst>
                  <a:ext uri="{0D108BD9-81ED-4DB2-BD59-A6C34878D82A}">
                    <a16:rowId xmlns:a16="http://schemas.microsoft.com/office/drawing/2014/main" val="1854652975"/>
                  </a:ext>
                </a:extLst>
              </a:tr>
            </a:tbl>
          </a:graphicData>
        </a:graphic>
      </p:graphicFrame>
      <p:sp>
        <p:nvSpPr>
          <p:cNvPr id="8" name="TextBox 7">
            <a:extLst>
              <a:ext uri="{FF2B5EF4-FFF2-40B4-BE49-F238E27FC236}">
                <a16:creationId xmlns:a16="http://schemas.microsoft.com/office/drawing/2014/main" id="{D5F6D17F-0985-0DCA-DF13-EF08EAE585DC}"/>
              </a:ext>
            </a:extLst>
          </p:cNvPr>
          <p:cNvSpPr txBox="1"/>
          <p:nvPr/>
        </p:nvSpPr>
        <p:spPr>
          <a:xfrm>
            <a:off x="914400" y="1104900"/>
            <a:ext cx="3062037" cy="1200329"/>
          </a:xfrm>
          <a:prstGeom prst="rect">
            <a:avLst/>
          </a:prstGeom>
          <a:noFill/>
        </p:spPr>
        <p:txBody>
          <a:bodyPr wrap="square" rtlCol="0">
            <a:spAutoFit/>
          </a:bodyPr>
          <a:lstStyle/>
          <a:p>
            <a:r>
              <a:rPr lang="en-US" sz="1200" dirty="0"/>
              <a:t>ARSelect specifies which AR gets to write to the Address Bus and whether any of them do (it can do this since it only sends output enables; if it doesn’t send an output enable to any hardware entity, then no entity writes to the address bus).</a:t>
            </a:r>
          </a:p>
        </p:txBody>
      </p:sp>
      <p:graphicFrame>
        <p:nvGraphicFramePr>
          <p:cNvPr id="10" name="Table 9">
            <a:extLst>
              <a:ext uri="{FF2B5EF4-FFF2-40B4-BE49-F238E27FC236}">
                <a16:creationId xmlns:a16="http://schemas.microsoft.com/office/drawing/2014/main" id="{E32BCBD9-F3EB-E903-8BCA-BE962DD117AF}"/>
              </a:ext>
            </a:extLst>
          </p:cNvPr>
          <p:cNvGraphicFramePr>
            <a:graphicFrameLocks noGrp="1"/>
          </p:cNvGraphicFramePr>
          <p:nvPr>
            <p:extLst>
              <p:ext uri="{D42A27DB-BD31-4B8C-83A1-F6EECF244321}">
                <p14:modId xmlns:p14="http://schemas.microsoft.com/office/powerpoint/2010/main" val="1825992892"/>
              </p:ext>
            </p:extLst>
          </p:nvPr>
        </p:nvGraphicFramePr>
        <p:xfrm>
          <a:off x="8720888" y="3976091"/>
          <a:ext cx="2961774" cy="2042160"/>
        </p:xfrm>
        <a:graphic>
          <a:graphicData uri="http://schemas.openxmlformats.org/drawingml/2006/table">
            <a:tbl>
              <a:tblPr firstRow="1" bandRow="1">
                <a:tableStyleId>{5C22544A-7EE6-4342-B048-85BDC9FD1C3A}</a:tableStyleId>
              </a:tblPr>
              <a:tblGrid>
                <a:gridCol w="1208168">
                  <a:extLst>
                    <a:ext uri="{9D8B030D-6E8A-4147-A177-3AD203B41FA5}">
                      <a16:colId xmlns:a16="http://schemas.microsoft.com/office/drawing/2014/main" val="2482476324"/>
                    </a:ext>
                  </a:extLst>
                </a:gridCol>
                <a:gridCol w="1753606">
                  <a:extLst>
                    <a:ext uri="{9D8B030D-6E8A-4147-A177-3AD203B41FA5}">
                      <a16:colId xmlns:a16="http://schemas.microsoft.com/office/drawing/2014/main" val="777123861"/>
                    </a:ext>
                  </a:extLst>
                </a:gridCol>
              </a:tblGrid>
              <a:tr h="0">
                <a:tc>
                  <a:txBody>
                    <a:bodyPr/>
                    <a:lstStyle/>
                    <a:p>
                      <a:r>
                        <a:rPr lang="en-US" sz="800" dirty="0"/>
                        <a:t>EEPROM Data Output Bit</a:t>
                      </a:r>
                    </a:p>
                  </a:txBody>
                  <a:tcPr/>
                </a:tc>
                <a:tc>
                  <a:txBody>
                    <a:bodyPr/>
                    <a:lstStyle/>
                    <a:p>
                      <a:r>
                        <a:rPr lang="en-US" sz="800" dirty="0"/>
                        <a:t>Output</a:t>
                      </a:r>
                    </a:p>
                  </a:txBody>
                  <a:tcPr/>
                </a:tc>
                <a:extLst>
                  <a:ext uri="{0D108BD9-81ED-4DB2-BD59-A6C34878D82A}">
                    <a16:rowId xmlns:a16="http://schemas.microsoft.com/office/drawing/2014/main" val="3916399277"/>
                  </a:ext>
                </a:extLst>
              </a:tr>
              <a:tr h="0">
                <a:tc>
                  <a:txBody>
                    <a:bodyPr/>
                    <a:lstStyle/>
                    <a:p>
                      <a:r>
                        <a:rPr lang="en-US" sz="800" dirty="0"/>
                        <a:t>7</a:t>
                      </a:r>
                    </a:p>
                  </a:txBody>
                  <a:tcPr/>
                </a:tc>
                <a:tc>
                  <a:txBody>
                    <a:bodyPr/>
                    <a:lstStyle/>
                    <a:p>
                      <a:r>
                        <a:rPr lang="en-US" sz="800" dirty="0"/>
                        <a:t>1 (unused)</a:t>
                      </a:r>
                    </a:p>
                  </a:txBody>
                  <a:tcPr/>
                </a:tc>
                <a:extLst>
                  <a:ext uri="{0D108BD9-81ED-4DB2-BD59-A6C34878D82A}">
                    <a16:rowId xmlns:a16="http://schemas.microsoft.com/office/drawing/2014/main" val="4162940809"/>
                  </a:ext>
                </a:extLst>
              </a:tr>
              <a:tr h="0">
                <a:tc>
                  <a:txBody>
                    <a:bodyPr/>
                    <a:lstStyle/>
                    <a:p>
                      <a:r>
                        <a:rPr lang="en-US" sz="800" dirty="0"/>
                        <a:t>6</a:t>
                      </a:r>
                    </a:p>
                  </a:txBody>
                  <a:tcPr/>
                </a:tc>
                <a:tc>
                  <a:txBody>
                    <a:bodyPr/>
                    <a:lstStyle/>
                    <a:p>
                      <a:r>
                        <a:rPr lang="en-US" sz="800" i="0" dirty="0"/>
                        <a:t>1 (unused)</a:t>
                      </a:r>
                    </a:p>
                  </a:txBody>
                  <a:tcPr/>
                </a:tc>
                <a:extLst>
                  <a:ext uri="{0D108BD9-81ED-4DB2-BD59-A6C34878D82A}">
                    <a16:rowId xmlns:a16="http://schemas.microsoft.com/office/drawing/2014/main" val="38975368"/>
                  </a:ext>
                </a:extLst>
              </a:tr>
              <a:tr h="0">
                <a:tc>
                  <a:txBody>
                    <a:bodyPr/>
                    <a:lstStyle/>
                    <a:p>
                      <a:r>
                        <a:rPr lang="en-US" sz="800" dirty="0"/>
                        <a:t>5</a:t>
                      </a:r>
                    </a:p>
                  </a:txBody>
                  <a:tcPr/>
                </a:tc>
                <a:tc>
                  <a:txBody>
                    <a:bodyPr/>
                    <a:lstStyle/>
                    <a:p>
                      <a:r>
                        <a:rPr lang="en-US" sz="800" i="0" dirty="0"/>
                        <a:t>1 (unused)</a:t>
                      </a:r>
                    </a:p>
                  </a:txBody>
                  <a:tcPr/>
                </a:tc>
                <a:extLst>
                  <a:ext uri="{0D108BD9-81ED-4DB2-BD59-A6C34878D82A}">
                    <a16:rowId xmlns:a16="http://schemas.microsoft.com/office/drawing/2014/main" val="1263556232"/>
                  </a:ext>
                </a:extLst>
              </a:tr>
              <a:tr h="0">
                <a:tc>
                  <a:txBody>
                    <a:bodyPr/>
                    <a:lstStyle/>
                    <a:p>
                      <a:r>
                        <a:rPr lang="en-US" sz="800" dirty="0"/>
                        <a:t>4</a:t>
                      </a:r>
                    </a:p>
                  </a:txBody>
                  <a:tcPr/>
                </a:tc>
                <a:tc>
                  <a:txBody>
                    <a:bodyPr/>
                    <a:lstStyle/>
                    <a:p>
                      <a:r>
                        <a:rPr lang="en-US" sz="800" i="0" dirty="0" err="1">
                          <a:highlight>
                            <a:srgbClr val="FFFFCC"/>
                          </a:highlight>
                        </a:rPr>
                        <a:t>TmpAR</a:t>
                      </a:r>
                      <a:r>
                        <a:rPr lang="en-US" sz="800" i="0" dirty="0">
                          <a:highlight>
                            <a:srgbClr val="FFFFCC"/>
                          </a:highlight>
                        </a:rPr>
                        <a:t> Output Enable (</a:t>
                      </a:r>
                      <a:r>
                        <a:rPr lang="en-US" sz="800" b="1" i="0" dirty="0">
                          <a:highlight>
                            <a:srgbClr val="FFFFCC"/>
                          </a:highlight>
                        </a:rPr>
                        <a:t>ACTIVE LOW</a:t>
                      </a:r>
                      <a:r>
                        <a:rPr lang="en-US" sz="800" b="0" i="0" dirty="0">
                          <a:highlight>
                            <a:srgbClr val="FFFFCC"/>
                          </a:highlight>
                        </a:rPr>
                        <a:t>)</a:t>
                      </a:r>
                      <a:endParaRPr lang="en-US" sz="800" i="0" dirty="0">
                        <a:highlight>
                          <a:srgbClr val="FFFFCC"/>
                        </a:highlight>
                      </a:endParaRPr>
                    </a:p>
                  </a:txBody>
                  <a:tcPr/>
                </a:tc>
                <a:extLst>
                  <a:ext uri="{0D108BD9-81ED-4DB2-BD59-A6C34878D82A}">
                    <a16:rowId xmlns:a16="http://schemas.microsoft.com/office/drawing/2014/main" val="3876244510"/>
                  </a:ext>
                </a:extLst>
              </a:tr>
              <a:tr h="0">
                <a:tc>
                  <a:txBody>
                    <a:bodyPr/>
                    <a:lstStyle/>
                    <a:p>
                      <a:r>
                        <a:rPr lang="en-US" sz="800" dirty="0"/>
                        <a:t>3</a:t>
                      </a:r>
                    </a:p>
                  </a:txBody>
                  <a:tcPr/>
                </a:tc>
                <a:tc>
                  <a:txBody>
                    <a:bodyPr/>
                    <a:lstStyle/>
                    <a:p>
                      <a:r>
                        <a:rPr lang="en-US" sz="800" i="0" dirty="0">
                          <a:highlight>
                            <a:srgbClr val="FFFFCC"/>
                          </a:highlight>
                        </a:rPr>
                        <a:t>BP Output Enable (</a:t>
                      </a:r>
                      <a:r>
                        <a:rPr lang="en-US" sz="800" b="1" i="0" dirty="0">
                          <a:highlight>
                            <a:srgbClr val="FFFFCC"/>
                          </a:highlight>
                        </a:rPr>
                        <a:t>ACTIVE LOW</a:t>
                      </a:r>
                      <a:r>
                        <a:rPr lang="en-US" sz="800" b="0" i="0" dirty="0">
                          <a:highlight>
                            <a:srgbClr val="FFFFCC"/>
                          </a:highlight>
                        </a:rPr>
                        <a:t>)</a:t>
                      </a:r>
                      <a:endParaRPr lang="en-US" sz="800" i="0" dirty="0">
                        <a:highlight>
                          <a:srgbClr val="FFFFCC"/>
                        </a:highlight>
                      </a:endParaRPr>
                    </a:p>
                  </a:txBody>
                  <a:tcPr/>
                </a:tc>
                <a:extLst>
                  <a:ext uri="{0D108BD9-81ED-4DB2-BD59-A6C34878D82A}">
                    <a16:rowId xmlns:a16="http://schemas.microsoft.com/office/drawing/2014/main" val="34840973"/>
                  </a:ext>
                </a:extLst>
              </a:tr>
              <a:tr h="0">
                <a:tc>
                  <a:txBody>
                    <a:bodyPr/>
                    <a:lstStyle/>
                    <a:p>
                      <a:r>
                        <a:rPr lang="en-US" sz="800" dirty="0"/>
                        <a:t>2</a:t>
                      </a:r>
                    </a:p>
                  </a:txBody>
                  <a:tcPr/>
                </a:tc>
                <a:tc>
                  <a:txBody>
                    <a:bodyPr/>
                    <a:lstStyle/>
                    <a:p>
                      <a:r>
                        <a:rPr lang="en-US" sz="800" dirty="0">
                          <a:highlight>
                            <a:srgbClr val="FFFFCC"/>
                          </a:highlight>
                        </a:rPr>
                        <a:t>SP Output Enable </a:t>
                      </a:r>
                      <a:r>
                        <a:rPr lang="en-US" sz="800" i="0" dirty="0">
                          <a:highlight>
                            <a:srgbClr val="FFFFCC"/>
                          </a:highlight>
                        </a:rPr>
                        <a:t>(</a:t>
                      </a:r>
                      <a:r>
                        <a:rPr lang="en-US" sz="800" b="1" i="0" dirty="0">
                          <a:highlight>
                            <a:srgbClr val="FFFFCC"/>
                          </a:highlight>
                        </a:rPr>
                        <a:t>ACTIVE LOW</a:t>
                      </a:r>
                      <a:r>
                        <a:rPr lang="en-US" sz="800" b="0" i="0" dirty="0">
                          <a:highlight>
                            <a:srgbClr val="FFFFCC"/>
                          </a:highlight>
                        </a:rPr>
                        <a:t>)</a:t>
                      </a:r>
                      <a:endParaRPr lang="en-US" sz="800" dirty="0">
                        <a:highlight>
                          <a:srgbClr val="FFFFCC"/>
                        </a:highlight>
                      </a:endParaRPr>
                    </a:p>
                  </a:txBody>
                  <a:tcPr/>
                </a:tc>
                <a:extLst>
                  <a:ext uri="{0D108BD9-81ED-4DB2-BD59-A6C34878D82A}">
                    <a16:rowId xmlns:a16="http://schemas.microsoft.com/office/drawing/2014/main" val="3812691075"/>
                  </a:ext>
                </a:extLst>
              </a:tr>
              <a:tr h="0">
                <a:tc>
                  <a:txBody>
                    <a:bodyPr/>
                    <a:lstStyle/>
                    <a:p>
                      <a:r>
                        <a:rPr lang="en-US" sz="800" dirty="0"/>
                        <a:t>1</a:t>
                      </a:r>
                    </a:p>
                  </a:txBody>
                  <a:tcPr/>
                </a:tc>
                <a:tc>
                  <a:txBody>
                    <a:bodyPr/>
                    <a:lstStyle/>
                    <a:p>
                      <a:r>
                        <a:rPr lang="en-US" sz="800" dirty="0">
                          <a:highlight>
                            <a:srgbClr val="FFFFCC"/>
                          </a:highlight>
                        </a:rPr>
                        <a:t>DP Output Enable </a:t>
                      </a:r>
                      <a:r>
                        <a:rPr lang="en-US" sz="800" i="0" dirty="0">
                          <a:highlight>
                            <a:srgbClr val="FFFFCC"/>
                          </a:highlight>
                        </a:rPr>
                        <a:t>(</a:t>
                      </a:r>
                      <a:r>
                        <a:rPr lang="en-US" sz="800" b="1" i="0" dirty="0">
                          <a:highlight>
                            <a:srgbClr val="FFFFCC"/>
                          </a:highlight>
                        </a:rPr>
                        <a:t>ACTIVE LOW</a:t>
                      </a:r>
                      <a:r>
                        <a:rPr lang="en-US" sz="800" b="0" i="0" dirty="0">
                          <a:highlight>
                            <a:srgbClr val="FFFFCC"/>
                          </a:highlight>
                        </a:rPr>
                        <a:t>)</a:t>
                      </a:r>
                      <a:endParaRPr lang="en-US" sz="800" dirty="0">
                        <a:highlight>
                          <a:srgbClr val="FFFFCC"/>
                        </a:highlight>
                      </a:endParaRPr>
                    </a:p>
                  </a:txBody>
                  <a:tcPr/>
                </a:tc>
                <a:extLst>
                  <a:ext uri="{0D108BD9-81ED-4DB2-BD59-A6C34878D82A}">
                    <a16:rowId xmlns:a16="http://schemas.microsoft.com/office/drawing/2014/main" val="523843"/>
                  </a:ext>
                </a:extLst>
              </a:tr>
              <a:tr h="0">
                <a:tc>
                  <a:txBody>
                    <a:bodyPr/>
                    <a:lstStyle/>
                    <a:p>
                      <a:r>
                        <a:rPr lang="en-US" sz="800" dirty="0"/>
                        <a:t>0</a:t>
                      </a:r>
                    </a:p>
                  </a:txBody>
                  <a:tcPr/>
                </a:tc>
                <a:tc>
                  <a:txBody>
                    <a:bodyPr/>
                    <a:lstStyle/>
                    <a:p>
                      <a:r>
                        <a:rPr lang="en-US" sz="800" dirty="0">
                          <a:highlight>
                            <a:srgbClr val="FFFFCC"/>
                          </a:highlight>
                        </a:rPr>
                        <a:t>PC Output Enable </a:t>
                      </a:r>
                      <a:r>
                        <a:rPr lang="en-US" sz="800" i="0" dirty="0">
                          <a:highlight>
                            <a:srgbClr val="FFFFCC"/>
                          </a:highlight>
                        </a:rPr>
                        <a:t>(</a:t>
                      </a:r>
                      <a:r>
                        <a:rPr lang="en-US" sz="800" b="1" i="0" dirty="0">
                          <a:highlight>
                            <a:srgbClr val="FFFFCC"/>
                          </a:highlight>
                        </a:rPr>
                        <a:t>ACTIVE LOW</a:t>
                      </a:r>
                      <a:r>
                        <a:rPr lang="en-US" sz="800" b="0" i="0" dirty="0">
                          <a:highlight>
                            <a:srgbClr val="FFFFCC"/>
                          </a:highlight>
                        </a:rPr>
                        <a:t>)</a:t>
                      </a:r>
                      <a:endParaRPr lang="en-US" sz="800" dirty="0">
                        <a:highlight>
                          <a:srgbClr val="FFFFCC"/>
                        </a:highlight>
                      </a:endParaRPr>
                    </a:p>
                  </a:txBody>
                  <a:tcPr/>
                </a:tc>
                <a:extLst>
                  <a:ext uri="{0D108BD9-81ED-4DB2-BD59-A6C34878D82A}">
                    <a16:rowId xmlns:a16="http://schemas.microsoft.com/office/drawing/2014/main" val="2010627648"/>
                  </a:ext>
                </a:extLst>
              </a:tr>
            </a:tbl>
          </a:graphicData>
        </a:graphic>
      </p:graphicFrame>
      <p:sp>
        <p:nvSpPr>
          <p:cNvPr id="3" name="TextBox 2">
            <a:hlinkClick r:id="rId4" action="ppaction://hlinksldjump"/>
            <a:extLst>
              <a:ext uri="{FF2B5EF4-FFF2-40B4-BE49-F238E27FC236}">
                <a16:creationId xmlns:a16="http://schemas.microsoft.com/office/drawing/2014/main" id="{F2AE5E46-A56A-C146-7FD4-41C9DB1B3CC3}"/>
              </a:ext>
            </a:extLst>
          </p:cNvPr>
          <p:cNvSpPr txBox="1"/>
          <p:nvPr/>
        </p:nvSpPr>
        <p:spPr>
          <a:xfrm>
            <a:off x="5322963" y="1454351"/>
            <a:ext cx="748923" cy="169277"/>
          </a:xfrm>
          <a:prstGeom prst="rect">
            <a:avLst/>
          </a:prstGeom>
        </p:spPr>
        <p:style>
          <a:lnRef idx="2">
            <a:schemeClr val="accent5"/>
          </a:lnRef>
          <a:fillRef idx="1">
            <a:schemeClr val="lt1"/>
          </a:fillRef>
          <a:effectRef idx="0">
            <a:schemeClr val="accent5"/>
          </a:effectRef>
          <a:fontRef idx="minor">
            <a:schemeClr val="dk1"/>
          </a:fontRef>
        </p:style>
        <p:txBody>
          <a:bodyPr wrap="none" tIns="0" bIns="0" rtlCol="0">
            <a:spAutoFit/>
          </a:bodyPr>
          <a:lstStyle/>
          <a:p>
            <a:pPr algn="r"/>
            <a:r>
              <a:rPr lang="en-US" sz="1100" dirty="0"/>
              <a:t>Bus Grant</a:t>
            </a:r>
          </a:p>
        </p:txBody>
      </p:sp>
      <p:cxnSp>
        <p:nvCxnSpPr>
          <p:cNvPr id="11" name="Connector: Elbow 10">
            <a:extLst>
              <a:ext uri="{FF2B5EF4-FFF2-40B4-BE49-F238E27FC236}">
                <a16:creationId xmlns:a16="http://schemas.microsoft.com/office/drawing/2014/main" id="{060A9438-B597-1473-9C09-50AB638CDF78}"/>
              </a:ext>
            </a:extLst>
          </p:cNvPr>
          <p:cNvCxnSpPr>
            <a:cxnSpLocks/>
            <a:stCxn id="3" idx="3"/>
          </p:cNvCxnSpPr>
          <p:nvPr/>
        </p:nvCxnSpPr>
        <p:spPr>
          <a:xfrm>
            <a:off x="6071886" y="1538990"/>
            <a:ext cx="1068856" cy="34227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hlinkClick r:id="rId5" action="ppaction://hlinksldjump"/>
            <a:extLst>
              <a:ext uri="{FF2B5EF4-FFF2-40B4-BE49-F238E27FC236}">
                <a16:creationId xmlns:a16="http://schemas.microsoft.com/office/drawing/2014/main" id="{5464D62C-E432-5961-EC08-CC71E1AB31E0}"/>
              </a:ext>
            </a:extLst>
          </p:cNvPr>
          <p:cNvSpPr txBox="1"/>
          <p:nvPr/>
        </p:nvSpPr>
        <p:spPr>
          <a:xfrm>
            <a:off x="5271667" y="1796625"/>
            <a:ext cx="800219" cy="169277"/>
          </a:xfrm>
          <a:prstGeom prst="rect">
            <a:avLst/>
          </a:prstGeom>
          <a:solidFill>
            <a:schemeClr val="bg1"/>
          </a:solidFill>
          <a:ln>
            <a:solidFill>
              <a:schemeClr val="accent1"/>
            </a:solidFill>
          </a:ln>
        </p:spPr>
        <p:txBody>
          <a:bodyPr wrap="none" tIns="0" bIns="0" rtlCol="0">
            <a:spAutoFit/>
          </a:bodyPr>
          <a:lstStyle/>
          <a:p>
            <a:pPr algn="r"/>
            <a:r>
              <a:rPr lang="en-US" sz="1100" dirty="0" err="1"/>
              <a:t>FetchCycle</a:t>
            </a:r>
            <a:endParaRPr lang="en-US" sz="1100" dirty="0"/>
          </a:p>
        </p:txBody>
      </p:sp>
      <p:cxnSp>
        <p:nvCxnSpPr>
          <p:cNvPr id="13" name="Connector: Elbow 12">
            <a:extLst>
              <a:ext uri="{FF2B5EF4-FFF2-40B4-BE49-F238E27FC236}">
                <a16:creationId xmlns:a16="http://schemas.microsoft.com/office/drawing/2014/main" id="{CD8C9F42-2F38-7556-0F7C-5CB967398B1E}"/>
              </a:ext>
            </a:extLst>
          </p:cNvPr>
          <p:cNvCxnSpPr>
            <a:cxnSpLocks/>
            <a:stCxn id="12" idx="3"/>
          </p:cNvCxnSpPr>
          <p:nvPr/>
        </p:nvCxnSpPr>
        <p:spPr>
          <a:xfrm>
            <a:off x="6071886" y="1881264"/>
            <a:ext cx="1068856" cy="138499"/>
          </a:xfrm>
          <a:prstGeom prst="bentConnector3">
            <a:avLst>
              <a:gd name="adj1" fmla="val 44935"/>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hlinkClick r:id="rId6" action="ppaction://hlinksldjump"/>
            <a:extLst>
              <a:ext uri="{FF2B5EF4-FFF2-40B4-BE49-F238E27FC236}">
                <a16:creationId xmlns:a16="http://schemas.microsoft.com/office/drawing/2014/main" id="{2E645051-0446-6FA6-2CE2-52F71FFE05C1}"/>
              </a:ext>
            </a:extLst>
          </p:cNvPr>
          <p:cNvSpPr txBox="1"/>
          <p:nvPr/>
        </p:nvSpPr>
        <p:spPr>
          <a:xfrm>
            <a:off x="4705895" y="3369518"/>
            <a:ext cx="1364476" cy="169277"/>
          </a:xfrm>
          <a:prstGeom prst="rect">
            <a:avLst/>
          </a:prstGeom>
          <a:solidFill>
            <a:srgbClr val="FFFFCC"/>
          </a:solidFill>
          <a:ln>
            <a:solidFill>
              <a:schemeClr val="accent1"/>
            </a:solidFill>
          </a:ln>
        </p:spPr>
        <p:txBody>
          <a:bodyPr wrap="none" tIns="0" bIns="0" rtlCol="0">
            <a:spAutoFit/>
          </a:bodyPr>
          <a:lstStyle/>
          <a:p>
            <a:pPr algn="r"/>
            <a:r>
              <a:rPr lang="en-US" sz="1100" dirty="0"/>
              <a:t>Program Counter OE</a:t>
            </a:r>
          </a:p>
        </p:txBody>
      </p:sp>
      <p:cxnSp>
        <p:nvCxnSpPr>
          <p:cNvPr id="19" name="Connector: Elbow 18">
            <a:extLst>
              <a:ext uri="{FF2B5EF4-FFF2-40B4-BE49-F238E27FC236}">
                <a16:creationId xmlns:a16="http://schemas.microsoft.com/office/drawing/2014/main" id="{1F4028F8-C5C6-F3CB-4B93-666FF99DB0E7}"/>
              </a:ext>
            </a:extLst>
          </p:cNvPr>
          <p:cNvCxnSpPr>
            <a:cxnSpLocks/>
            <a:endCxn id="17" idx="3"/>
          </p:cNvCxnSpPr>
          <p:nvPr/>
        </p:nvCxnSpPr>
        <p:spPr>
          <a:xfrm rot="10800000" flipV="1">
            <a:off x="6070371" y="2857043"/>
            <a:ext cx="955928" cy="597114"/>
          </a:xfrm>
          <a:prstGeom prst="bentConnector3">
            <a:avLst>
              <a:gd name="adj1" fmla="val 29233"/>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hlinkClick r:id="rId7" action="ppaction://hlinksldjump"/>
            <a:extLst>
              <a:ext uri="{FF2B5EF4-FFF2-40B4-BE49-F238E27FC236}">
                <a16:creationId xmlns:a16="http://schemas.microsoft.com/office/drawing/2014/main" id="{B48F6D1B-1F27-C619-81AA-6832447F1A5A}"/>
              </a:ext>
            </a:extLst>
          </p:cNvPr>
          <p:cNvSpPr/>
          <p:nvPr/>
        </p:nvSpPr>
        <p:spPr>
          <a:xfrm>
            <a:off x="5021017" y="2080636"/>
            <a:ext cx="1050869"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r"/>
            <a:r>
              <a:rPr lang="en-US" sz="1100"/>
              <a:t>µC 9: PC Out</a:t>
            </a:r>
          </a:p>
        </p:txBody>
      </p:sp>
      <p:cxnSp>
        <p:nvCxnSpPr>
          <p:cNvPr id="25" name="Connector: Elbow 24">
            <a:extLst>
              <a:ext uri="{FF2B5EF4-FFF2-40B4-BE49-F238E27FC236}">
                <a16:creationId xmlns:a16="http://schemas.microsoft.com/office/drawing/2014/main" id="{42A62EE9-54A5-F074-A8C6-29CE816C3FB6}"/>
              </a:ext>
            </a:extLst>
          </p:cNvPr>
          <p:cNvCxnSpPr>
            <a:stCxn id="23" idx="3"/>
          </p:cNvCxnSpPr>
          <p:nvPr/>
        </p:nvCxnSpPr>
        <p:spPr>
          <a:xfrm flipV="1">
            <a:off x="6071886" y="2121170"/>
            <a:ext cx="1068856" cy="5090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angle 25">
            <a:hlinkClick r:id="rId7" action="ppaction://hlinksldjump"/>
            <a:extLst>
              <a:ext uri="{FF2B5EF4-FFF2-40B4-BE49-F238E27FC236}">
                <a16:creationId xmlns:a16="http://schemas.microsoft.com/office/drawing/2014/main" id="{F779FF1C-7C89-06DD-7D9B-7317F87473B4}"/>
              </a:ext>
            </a:extLst>
          </p:cNvPr>
          <p:cNvSpPr/>
          <p:nvPr/>
        </p:nvSpPr>
        <p:spPr>
          <a:xfrm>
            <a:off x="5021017" y="2321225"/>
            <a:ext cx="1050869" cy="182880"/>
          </a:xfrm>
          <a:prstGeom prst="rect">
            <a:avLst/>
          </a:prstGeom>
          <a:solidFill>
            <a:schemeClr val="bg1"/>
          </a:solidFill>
        </p:spPr>
        <p:style>
          <a:lnRef idx="2">
            <a:schemeClr val="accent5"/>
          </a:lnRef>
          <a:fillRef idx="1">
            <a:schemeClr val="lt1"/>
          </a:fillRef>
          <a:effectRef idx="0">
            <a:schemeClr val="accent5"/>
          </a:effectRef>
          <a:fontRef idx="minor">
            <a:schemeClr val="dk1"/>
          </a:fontRef>
        </p:style>
        <p:txBody>
          <a:bodyPr rtlCol="0" anchor="ctr"/>
          <a:lstStyle/>
          <a:p>
            <a:pPr algn="r"/>
            <a:r>
              <a:rPr lang="en-US" sz="1100" dirty="0"/>
              <a:t>µC 14: SP Out</a:t>
            </a:r>
          </a:p>
        </p:txBody>
      </p:sp>
      <p:cxnSp>
        <p:nvCxnSpPr>
          <p:cNvPr id="27" name="Connector: Elbow 26">
            <a:extLst>
              <a:ext uri="{FF2B5EF4-FFF2-40B4-BE49-F238E27FC236}">
                <a16:creationId xmlns:a16="http://schemas.microsoft.com/office/drawing/2014/main" id="{EB6A4228-CD04-08AC-5FF6-194B77182887}"/>
              </a:ext>
            </a:extLst>
          </p:cNvPr>
          <p:cNvCxnSpPr>
            <a:cxnSpLocks/>
            <a:stCxn id="26" idx="3"/>
          </p:cNvCxnSpPr>
          <p:nvPr/>
        </p:nvCxnSpPr>
        <p:spPr>
          <a:xfrm flipV="1">
            <a:off x="6071886" y="2243388"/>
            <a:ext cx="1068856" cy="169277"/>
          </a:xfrm>
          <a:prstGeom prst="bentConnector3">
            <a:avLst>
              <a:gd name="adj1" fmla="val 33678"/>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hlinkClick r:id="rId8" action="ppaction://hlinksldjump"/>
            <a:extLst>
              <a:ext uri="{FF2B5EF4-FFF2-40B4-BE49-F238E27FC236}">
                <a16:creationId xmlns:a16="http://schemas.microsoft.com/office/drawing/2014/main" id="{C61B61A6-BC9F-1B7A-5533-168C6824FF64}"/>
              </a:ext>
            </a:extLst>
          </p:cNvPr>
          <p:cNvSpPr txBox="1"/>
          <p:nvPr/>
        </p:nvSpPr>
        <p:spPr>
          <a:xfrm>
            <a:off x="4939933" y="3746944"/>
            <a:ext cx="1130438" cy="169277"/>
          </a:xfrm>
          <a:prstGeom prst="rect">
            <a:avLst/>
          </a:prstGeom>
          <a:solidFill>
            <a:srgbClr val="FFFFCC"/>
          </a:solidFill>
          <a:ln>
            <a:solidFill>
              <a:schemeClr val="accent1"/>
            </a:solidFill>
          </a:ln>
        </p:spPr>
        <p:txBody>
          <a:bodyPr wrap="none" tIns="0" bIns="0" rtlCol="0">
            <a:spAutoFit/>
          </a:bodyPr>
          <a:lstStyle/>
          <a:p>
            <a:pPr algn="r"/>
            <a:r>
              <a:rPr lang="en-US" sz="1100" dirty="0"/>
              <a:t>Stack Pointer OE</a:t>
            </a:r>
          </a:p>
        </p:txBody>
      </p:sp>
      <p:cxnSp>
        <p:nvCxnSpPr>
          <p:cNvPr id="31" name="Connector: Elbow 30">
            <a:extLst>
              <a:ext uri="{FF2B5EF4-FFF2-40B4-BE49-F238E27FC236}">
                <a16:creationId xmlns:a16="http://schemas.microsoft.com/office/drawing/2014/main" id="{1CFFDE97-E772-26E2-DB98-16B3A1873039}"/>
              </a:ext>
            </a:extLst>
          </p:cNvPr>
          <p:cNvCxnSpPr>
            <a:cxnSpLocks/>
            <a:endCxn id="30" idx="3"/>
          </p:cNvCxnSpPr>
          <p:nvPr/>
        </p:nvCxnSpPr>
        <p:spPr>
          <a:xfrm rot="10800000" flipV="1">
            <a:off x="6070372" y="3090405"/>
            <a:ext cx="1045725" cy="741178"/>
          </a:xfrm>
          <a:prstGeom prst="bentConnector3">
            <a:avLst>
              <a:gd name="adj1" fmla="val 14333"/>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Rectangle 35">
            <a:hlinkClick r:id="rId7" action="ppaction://hlinksldjump"/>
            <a:extLst>
              <a:ext uri="{FF2B5EF4-FFF2-40B4-BE49-F238E27FC236}">
                <a16:creationId xmlns:a16="http://schemas.microsoft.com/office/drawing/2014/main" id="{AA9669CC-9C05-D263-705C-3E0DF44B2DAA}"/>
              </a:ext>
            </a:extLst>
          </p:cNvPr>
          <p:cNvSpPr/>
          <p:nvPr/>
        </p:nvSpPr>
        <p:spPr>
          <a:xfrm>
            <a:off x="4608846" y="2555798"/>
            <a:ext cx="1463040" cy="15368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100" dirty="0"/>
              <a:t>µC 20: </a:t>
            </a:r>
            <a:r>
              <a:rPr lang="en-US" sz="1100" dirty="0" err="1"/>
              <a:t>TmpARWrite</a:t>
            </a:r>
            <a:endParaRPr lang="en-US" sz="1100" dirty="0"/>
          </a:p>
        </p:txBody>
      </p:sp>
      <p:cxnSp>
        <p:nvCxnSpPr>
          <p:cNvPr id="37" name="Connector: Elbow 36">
            <a:extLst>
              <a:ext uri="{FF2B5EF4-FFF2-40B4-BE49-F238E27FC236}">
                <a16:creationId xmlns:a16="http://schemas.microsoft.com/office/drawing/2014/main" id="{0B991C28-F723-EC30-B678-B39BE85DA65D}"/>
              </a:ext>
            </a:extLst>
          </p:cNvPr>
          <p:cNvCxnSpPr>
            <a:cxnSpLocks/>
            <a:stCxn id="36" idx="3"/>
          </p:cNvCxnSpPr>
          <p:nvPr/>
        </p:nvCxnSpPr>
        <p:spPr>
          <a:xfrm flipV="1">
            <a:off x="6071886" y="2358907"/>
            <a:ext cx="1068856" cy="273733"/>
          </a:xfrm>
          <a:prstGeom prst="bentConnector3">
            <a:avLst>
              <a:gd name="adj1" fmla="val 42120"/>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TextBox 43">
            <a:hlinkClick r:id="rId9" action="ppaction://hlinksldjump"/>
            <a:extLst>
              <a:ext uri="{FF2B5EF4-FFF2-40B4-BE49-F238E27FC236}">
                <a16:creationId xmlns:a16="http://schemas.microsoft.com/office/drawing/2014/main" id="{B62D2EB2-00A4-7C9A-636D-2CE6C67A0DF5}"/>
              </a:ext>
            </a:extLst>
          </p:cNvPr>
          <p:cNvSpPr txBox="1"/>
          <p:nvPr/>
        </p:nvSpPr>
        <p:spPr>
          <a:xfrm>
            <a:off x="4037443" y="2772404"/>
            <a:ext cx="2032929" cy="169277"/>
          </a:xfrm>
          <a:prstGeom prst="rect">
            <a:avLst/>
          </a:prstGeom>
          <a:noFill/>
          <a:ln>
            <a:solidFill>
              <a:schemeClr val="accent1"/>
            </a:solidFill>
          </a:ln>
        </p:spPr>
        <p:txBody>
          <a:bodyPr wrap="none" tIns="0" bIns="0" rtlCol="0">
            <a:spAutoFit/>
          </a:bodyPr>
          <a:lstStyle/>
          <a:p>
            <a:r>
              <a:rPr lang="en-US" sz="1100" dirty="0" err="1"/>
              <a:t>Opcode_MAG_LDW_SDW_MAA</a:t>
            </a:r>
            <a:endParaRPr lang="en-US" sz="1100" dirty="0"/>
          </a:p>
        </p:txBody>
      </p:sp>
      <p:cxnSp>
        <p:nvCxnSpPr>
          <p:cNvPr id="45" name="Connector: Elbow 44">
            <a:extLst>
              <a:ext uri="{FF2B5EF4-FFF2-40B4-BE49-F238E27FC236}">
                <a16:creationId xmlns:a16="http://schemas.microsoft.com/office/drawing/2014/main" id="{F028790A-6671-0E48-8D3F-727E6BA5FDC9}"/>
              </a:ext>
            </a:extLst>
          </p:cNvPr>
          <p:cNvCxnSpPr>
            <a:cxnSpLocks/>
            <a:stCxn id="44" idx="3"/>
          </p:cNvCxnSpPr>
          <p:nvPr/>
        </p:nvCxnSpPr>
        <p:spPr>
          <a:xfrm flipV="1">
            <a:off x="6070372" y="2490676"/>
            <a:ext cx="1070370" cy="36636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Rectangle 51">
            <a:hlinkClick r:id="rId10" action="ppaction://hlinksldjump"/>
            <a:extLst>
              <a:ext uri="{FF2B5EF4-FFF2-40B4-BE49-F238E27FC236}">
                <a16:creationId xmlns:a16="http://schemas.microsoft.com/office/drawing/2014/main" id="{8E3BDE55-6044-FF20-107A-D6243635F46A}"/>
              </a:ext>
            </a:extLst>
          </p:cNvPr>
          <p:cNvSpPr/>
          <p:nvPr/>
        </p:nvSpPr>
        <p:spPr>
          <a:xfrm>
            <a:off x="5114443" y="3016300"/>
            <a:ext cx="955930" cy="15368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100" dirty="0" err="1"/>
              <a:t>ARSrc</a:t>
            </a:r>
            <a:r>
              <a:rPr lang="en-US" sz="1100" dirty="0"/>
              <a:t> [1:0]</a:t>
            </a:r>
          </a:p>
        </p:txBody>
      </p:sp>
      <p:cxnSp>
        <p:nvCxnSpPr>
          <p:cNvPr id="54" name="Connector: Elbow 53">
            <a:extLst>
              <a:ext uri="{FF2B5EF4-FFF2-40B4-BE49-F238E27FC236}">
                <a16:creationId xmlns:a16="http://schemas.microsoft.com/office/drawing/2014/main" id="{8768B553-E156-09A7-6B8D-24D9354F43AC}"/>
              </a:ext>
            </a:extLst>
          </p:cNvPr>
          <p:cNvCxnSpPr>
            <a:stCxn id="52" idx="3"/>
          </p:cNvCxnSpPr>
          <p:nvPr/>
        </p:nvCxnSpPr>
        <p:spPr>
          <a:xfrm flipV="1">
            <a:off x="6070373" y="2625680"/>
            <a:ext cx="1070369" cy="467462"/>
          </a:xfrm>
          <a:prstGeom prst="bentConnector3">
            <a:avLst>
              <a:gd name="adj1" fmla="val 57306"/>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Connector: Elbow 55">
            <a:extLst>
              <a:ext uri="{FF2B5EF4-FFF2-40B4-BE49-F238E27FC236}">
                <a16:creationId xmlns:a16="http://schemas.microsoft.com/office/drawing/2014/main" id="{872170E8-05D6-FBD4-A859-0C4647ADFE55}"/>
              </a:ext>
            </a:extLst>
          </p:cNvPr>
          <p:cNvCxnSpPr>
            <a:cxnSpLocks/>
            <a:stCxn id="52" idx="3"/>
          </p:cNvCxnSpPr>
          <p:nvPr/>
        </p:nvCxnSpPr>
        <p:spPr>
          <a:xfrm flipV="1">
            <a:off x="6070373" y="2728031"/>
            <a:ext cx="1070369" cy="365111"/>
          </a:xfrm>
          <a:prstGeom prst="bentConnector3">
            <a:avLst>
              <a:gd name="adj1" fmla="val 57306"/>
            </a:avLst>
          </a:prstGeom>
          <a:ln>
            <a:tailEnd type="triangle"/>
          </a:ln>
        </p:spPr>
        <p:style>
          <a:lnRef idx="1">
            <a:schemeClr val="accent1"/>
          </a:lnRef>
          <a:fillRef idx="0">
            <a:schemeClr val="accent1"/>
          </a:fillRef>
          <a:effectRef idx="0">
            <a:schemeClr val="accent1"/>
          </a:effectRef>
          <a:fontRef idx="minor">
            <a:schemeClr val="tx1"/>
          </a:fontRef>
        </p:style>
      </p:cxnSp>
      <p:sp>
        <p:nvSpPr>
          <p:cNvPr id="65" name="TextBox 64">
            <a:hlinkClick r:id="rId11" action="ppaction://hlinksldjump"/>
            <a:extLst>
              <a:ext uri="{FF2B5EF4-FFF2-40B4-BE49-F238E27FC236}">
                <a16:creationId xmlns:a16="http://schemas.microsoft.com/office/drawing/2014/main" id="{7F4151F2-95CC-556D-6503-54090DB0695A}"/>
              </a:ext>
            </a:extLst>
          </p:cNvPr>
          <p:cNvSpPr txBox="1"/>
          <p:nvPr/>
        </p:nvSpPr>
        <p:spPr>
          <a:xfrm>
            <a:off x="4973597" y="3558231"/>
            <a:ext cx="1096775" cy="169277"/>
          </a:xfrm>
          <a:prstGeom prst="rect">
            <a:avLst/>
          </a:prstGeom>
          <a:solidFill>
            <a:srgbClr val="FFFFCC"/>
          </a:solidFill>
          <a:ln>
            <a:solidFill>
              <a:schemeClr val="accent1"/>
            </a:solidFill>
          </a:ln>
        </p:spPr>
        <p:txBody>
          <a:bodyPr wrap="none" tIns="0" bIns="0" rtlCol="0">
            <a:spAutoFit/>
          </a:bodyPr>
          <a:lstStyle/>
          <a:p>
            <a:r>
              <a:rPr lang="en-US" sz="1100" dirty="0"/>
              <a:t>Data Pointer OE</a:t>
            </a:r>
          </a:p>
        </p:txBody>
      </p:sp>
      <p:cxnSp>
        <p:nvCxnSpPr>
          <p:cNvPr id="71" name="Connector: Elbow 70">
            <a:extLst>
              <a:ext uri="{FF2B5EF4-FFF2-40B4-BE49-F238E27FC236}">
                <a16:creationId xmlns:a16="http://schemas.microsoft.com/office/drawing/2014/main" id="{EB0D2B27-0E7E-B81B-B541-AE870F1348BE}"/>
              </a:ext>
            </a:extLst>
          </p:cNvPr>
          <p:cNvCxnSpPr>
            <a:cxnSpLocks/>
            <a:endCxn id="65" idx="3"/>
          </p:cNvCxnSpPr>
          <p:nvPr/>
        </p:nvCxnSpPr>
        <p:spPr>
          <a:xfrm rot="10800000" flipV="1">
            <a:off x="6070373" y="2975090"/>
            <a:ext cx="1027699" cy="667779"/>
          </a:xfrm>
          <a:prstGeom prst="bentConnector3">
            <a:avLst>
              <a:gd name="adj1" fmla="val 24829"/>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TextBox 75">
            <a:hlinkClick r:id="rId12" action="ppaction://hlinksldjump"/>
            <a:extLst>
              <a:ext uri="{FF2B5EF4-FFF2-40B4-BE49-F238E27FC236}">
                <a16:creationId xmlns:a16="http://schemas.microsoft.com/office/drawing/2014/main" id="{103A62F4-9244-C0A2-D746-CE0261901218}"/>
              </a:ext>
            </a:extLst>
          </p:cNvPr>
          <p:cNvSpPr txBox="1"/>
          <p:nvPr/>
        </p:nvSpPr>
        <p:spPr>
          <a:xfrm>
            <a:off x="9206764" y="2220590"/>
            <a:ext cx="792205" cy="169277"/>
          </a:xfrm>
          <a:prstGeom prst="rect">
            <a:avLst/>
          </a:prstGeom>
          <a:solidFill>
            <a:srgbClr val="FFFFCC"/>
          </a:solidFill>
          <a:ln>
            <a:solidFill>
              <a:schemeClr val="accent1"/>
            </a:solidFill>
          </a:ln>
        </p:spPr>
        <p:txBody>
          <a:bodyPr wrap="none" tIns="0" bIns="0" rtlCol="0">
            <a:spAutoFit/>
          </a:bodyPr>
          <a:lstStyle/>
          <a:p>
            <a:pPr algn="r"/>
            <a:r>
              <a:rPr lang="en-US" sz="1100" dirty="0" err="1"/>
              <a:t>TmpAR</a:t>
            </a:r>
            <a:r>
              <a:rPr lang="en-US" sz="1100" dirty="0"/>
              <a:t> OE</a:t>
            </a:r>
          </a:p>
        </p:txBody>
      </p:sp>
      <p:cxnSp>
        <p:nvCxnSpPr>
          <p:cNvPr id="77" name="Connector: Elbow 76">
            <a:extLst>
              <a:ext uri="{FF2B5EF4-FFF2-40B4-BE49-F238E27FC236}">
                <a16:creationId xmlns:a16="http://schemas.microsoft.com/office/drawing/2014/main" id="{14B9964C-3B9E-55DA-29A8-D03AB213EC40}"/>
              </a:ext>
            </a:extLst>
          </p:cNvPr>
          <p:cNvCxnSpPr>
            <a:cxnSpLocks/>
            <a:endCxn id="76" idx="1"/>
          </p:cNvCxnSpPr>
          <p:nvPr/>
        </p:nvCxnSpPr>
        <p:spPr>
          <a:xfrm flipV="1">
            <a:off x="8215565" y="2305229"/>
            <a:ext cx="991199" cy="78517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hlinkClick r:id="rId13" action="ppaction://hlinksldjump"/>
            <a:extLst>
              <a:ext uri="{FF2B5EF4-FFF2-40B4-BE49-F238E27FC236}">
                <a16:creationId xmlns:a16="http://schemas.microsoft.com/office/drawing/2014/main" id="{0735FDC6-5B76-CC54-1FDF-825B31C68915}"/>
              </a:ext>
            </a:extLst>
          </p:cNvPr>
          <p:cNvSpPr txBox="1"/>
          <p:nvPr/>
        </p:nvSpPr>
        <p:spPr>
          <a:xfrm>
            <a:off x="8902194" y="3179467"/>
            <a:ext cx="1098378" cy="169277"/>
          </a:xfrm>
          <a:prstGeom prst="rect">
            <a:avLst/>
          </a:prstGeom>
          <a:solidFill>
            <a:srgbClr val="FFFFCC"/>
          </a:solidFill>
          <a:ln>
            <a:solidFill>
              <a:schemeClr val="accent1"/>
            </a:solidFill>
          </a:ln>
        </p:spPr>
        <p:txBody>
          <a:bodyPr wrap="none" tIns="0" bIns="0" rtlCol="0">
            <a:spAutoFit/>
          </a:bodyPr>
          <a:lstStyle/>
          <a:p>
            <a:r>
              <a:rPr lang="en-US" sz="1100" dirty="0"/>
              <a:t>Base Pointer OE</a:t>
            </a:r>
          </a:p>
        </p:txBody>
      </p:sp>
      <p:cxnSp>
        <p:nvCxnSpPr>
          <p:cNvPr id="14" name="Connector: Elbow 13">
            <a:extLst>
              <a:ext uri="{FF2B5EF4-FFF2-40B4-BE49-F238E27FC236}">
                <a16:creationId xmlns:a16="http://schemas.microsoft.com/office/drawing/2014/main" id="{02E970AC-11FE-C438-F777-6142D7CE4A56}"/>
              </a:ext>
            </a:extLst>
          </p:cNvPr>
          <p:cNvCxnSpPr>
            <a:cxnSpLocks/>
            <a:endCxn id="9" idx="1"/>
          </p:cNvCxnSpPr>
          <p:nvPr/>
        </p:nvCxnSpPr>
        <p:spPr>
          <a:xfrm>
            <a:off x="8190097" y="3203649"/>
            <a:ext cx="712097" cy="6045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35386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06B6B-BD05-59B4-51C5-C64184F92F9D}"/>
            </a:ext>
          </a:extLst>
        </p:cNvPr>
        <p:cNvGrpSpPr/>
        <p:nvPr/>
      </p:nvGrpSpPr>
      <p:grpSpPr>
        <a:xfrm>
          <a:off x="0" y="0"/>
          <a:ext cx="0" cy="0"/>
          <a:chOff x="0" y="0"/>
          <a:chExt cx="0" cy="0"/>
        </a:xfrm>
      </p:grpSpPr>
      <p:sp>
        <p:nvSpPr>
          <p:cNvPr id="123" name="Rectangle 122">
            <a:extLst>
              <a:ext uri="{FF2B5EF4-FFF2-40B4-BE49-F238E27FC236}">
                <a16:creationId xmlns:a16="http://schemas.microsoft.com/office/drawing/2014/main" id="{B825018E-EE5A-BC90-78AC-911FBBE32F0F}"/>
              </a:ext>
            </a:extLst>
          </p:cNvPr>
          <p:cNvSpPr/>
          <p:nvPr/>
        </p:nvSpPr>
        <p:spPr>
          <a:xfrm>
            <a:off x="7785360" y="2148419"/>
            <a:ext cx="97972" cy="81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124">
            <a:extLst>
              <a:ext uri="{FF2B5EF4-FFF2-40B4-BE49-F238E27FC236}">
                <a16:creationId xmlns:a16="http://schemas.microsoft.com/office/drawing/2014/main" id="{35943BEF-6502-D958-7B81-3EC732A882C0}"/>
              </a:ext>
            </a:extLst>
          </p:cNvPr>
          <p:cNvSpPr/>
          <p:nvPr/>
        </p:nvSpPr>
        <p:spPr>
          <a:xfrm>
            <a:off x="6044157" y="2854134"/>
            <a:ext cx="97972" cy="81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011D15A9-A54F-BC41-0C32-698663359A49}"/>
              </a:ext>
            </a:extLst>
          </p:cNvPr>
          <p:cNvSpPr/>
          <p:nvPr/>
        </p:nvSpPr>
        <p:spPr>
          <a:xfrm>
            <a:off x="6044157" y="1801011"/>
            <a:ext cx="97972" cy="81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31089A12-37E8-CF26-5591-22013DC5673F}"/>
              </a:ext>
            </a:extLst>
          </p:cNvPr>
          <p:cNvSpPr/>
          <p:nvPr/>
        </p:nvSpPr>
        <p:spPr>
          <a:xfrm>
            <a:off x="6044157" y="2503093"/>
            <a:ext cx="97972" cy="81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625428EF-BAC9-E350-7FC4-EE30082C0059}"/>
              </a:ext>
            </a:extLst>
          </p:cNvPr>
          <p:cNvSpPr/>
          <p:nvPr/>
        </p:nvSpPr>
        <p:spPr>
          <a:xfrm>
            <a:off x="6044157" y="2152052"/>
            <a:ext cx="97972" cy="81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3C249E5-7C42-86C8-33AD-F787C5CA9347}"/>
              </a:ext>
            </a:extLst>
          </p:cNvPr>
          <p:cNvSpPr/>
          <p:nvPr/>
        </p:nvSpPr>
        <p:spPr>
          <a:xfrm>
            <a:off x="6044157" y="1449970"/>
            <a:ext cx="97972" cy="81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DA46879-1D60-8D9B-5559-DDC21519B5DC}"/>
              </a:ext>
            </a:extLst>
          </p:cNvPr>
          <p:cNvSpPr/>
          <p:nvPr/>
        </p:nvSpPr>
        <p:spPr>
          <a:xfrm>
            <a:off x="6044157" y="1098929"/>
            <a:ext cx="97972" cy="81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D15B3DFE-7FC2-E45D-D87A-DD879593E0DD}"/>
              </a:ext>
            </a:extLst>
          </p:cNvPr>
          <p:cNvGrpSpPr/>
          <p:nvPr/>
        </p:nvGrpSpPr>
        <p:grpSpPr>
          <a:xfrm rot="5400000">
            <a:off x="5538152" y="1015760"/>
            <a:ext cx="2537758" cy="2390775"/>
            <a:chOff x="8367913" y="235934"/>
            <a:chExt cx="2537758" cy="2390775"/>
          </a:xfrm>
        </p:grpSpPr>
        <p:pic>
          <p:nvPicPr>
            <p:cNvPr id="5" name="Picture 4">
              <a:extLst>
                <a:ext uri="{FF2B5EF4-FFF2-40B4-BE49-F238E27FC236}">
                  <a16:creationId xmlns:a16="http://schemas.microsoft.com/office/drawing/2014/main" id="{8CABEBD1-F8FE-AAE0-B16F-F4B9676C08B5}"/>
                </a:ext>
              </a:extLst>
            </p:cNvPr>
            <p:cNvPicPr>
              <a:picLocks noChangeAspect="1"/>
            </p:cNvPicPr>
            <p:nvPr/>
          </p:nvPicPr>
          <p:blipFill>
            <a:blip r:embed="rId2"/>
            <a:srcRect l="9377"/>
            <a:stretch>
              <a:fillRect/>
            </a:stretch>
          </p:blipFill>
          <p:spPr>
            <a:xfrm>
              <a:off x="8367913" y="235934"/>
              <a:ext cx="2537758" cy="2390775"/>
            </a:xfrm>
            <a:prstGeom prst="rect">
              <a:avLst/>
            </a:prstGeom>
          </p:spPr>
        </p:pic>
        <p:sp>
          <p:nvSpPr>
            <p:cNvPr id="6" name="TextBox 5">
              <a:extLst>
                <a:ext uri="{FF2B5EF4-FFF2-40B4-BE49-F238E27FC236}">
                  <a16:creationId xmlns:a16="http://schemas.microsoft.com/office/drawing/2014/main" id="{7347F82D-6AFC-803D-92D1-1E0AF68C08DA}"/>
                </a:ext>
              </a:extLst>
            </p:cNvPr>
            <p:cNvSpPr txBox="1"/>
            <p:nvPr/>
          </p:nvSpPr>
          <p:spPr>
            <a:xfrm>
              <a:off x="9263213" y="1040550"/>
              <a:ext cx="856325" cy="369332"/>
            </a:xfrm>
            <a:prstGeom prst="rect">
              <a:avLst/>
            </a:prstGeom>
            <a:solidFill>
              <a:srgbClr val="FFFFFF">
                <a:alpha val="80000"/>
              </a:srgbClr>
            </a:solidFill>
          </p:spPr>
          <p:txBody>
            <a:bodyPr wrap="none" rtlCol="0">
              <a:spAutoFit/>
            </a:bodyPr>
            <a:lstStyle/>
            <a:p>
              <a:r>
                <a:rPr lang="en-US" dirty="0"/>
                <a:t>74LS30</a:t>
              </a:r>
            </a:p>
          </p:txBody>
        </p:sp>
      </p:grpSp>
      <p:sp>
        <p:nvSpPr>
          <p:cNvPr id="98" name="Rectangle 97">
            <a:extLst>
              <a:ext uri="{FF2B5EF4-FFF2-40B4-BE49-F238E27FC236}">
                <a16:creationId xmlns:a16="http://schemas.microsoft.com/office/drawing/2014/main" id="{CC560139-FDDC-F549-5AF5-169C0A5197F5}"/>
              </a:ext>
            </a:extLst>
          </p:cNvPr>
          <p:cNvSpPr/>
          <p:nvPr/>
        </p:nvSpPr>
        <p:spPr>
          <a:xfrm>
            <a:off x="4164479" y="4254640"/>
            <a:ext cx="97972" cy="81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03599736-92C8-E224-2725-57B73BE11166}"/>
              </a:ext>
            </a:extLst>
          </p:cNvPr>
          <p:cNvSpPr/>
          <p:nvPr/>
        </p:nvSpPr>
        <p:spPr>
          <a:xfrm>
            <a:off x="4150947" y="3982154"/>
            <a:ext cx="97972" cy="81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a:extLst>
              <a:ext uri="{FF2B5EF4-FFF2-40B4-BE49-F238E27FC236}">
                <a16:creationId xmlns:a16="http://schemas.microsoft.com/office/drawing/2014/main" id="{86B1E408-66B9-7E77-E5A2-3E8EB3EAAA20}"/>
              </a:ext>
            </a:extLst>
          </p:cNvPr>
          <p:cNvSpPr/>
          <p:nvPr/>
        </p:nvSpPr>
        <p:spPr>
          <a:xfrm>
            <a:off x="4589852" y="4122158"/>
            <a:ext cx="97972" cy="81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7EC671-455F-2C35-3B0E-E6B45E22B725}"/>
              </a:ext>
            </a:extLst>
          </p:cNvPr>
          <p:cNvSpPr>
            <a:spLocks noGrp="1"/>
          </p:cNvSpPr>
          <p:nvPr>
            <p:ph type="ctrTitle"/>
          </p:nvPr>
        </p:nvSpPr>
        <p:spPr>
          <a:xfrm>
            <a:off x="914399" y="457200"/>
            <a:ext cx="5570621" cy="457200"/>
          </a:xfrm>
        </p:spPr>
        <p:txBody>
          <a:bodyPr/>
          <a:lstStyle/>
          <a:p>
            <a:r>
              <a:rPr lang="en-US" dirty="0" err="1"/>
              <a:t>Opcode_MAG_LDW_SDW_MAA</a:t>
            </a:r>
            <a:r>
              <a:rPr lang="en-US" dirty="0"/>
              <a:t> (v2.0)</a:t>
            </a:r>
          </a:p>
        </p:txBody>
      </p:sp>
      <p:cxnSp>
        <p:nvCxnSpPr>
          <p:cNvPr id="10" name="Connector: Elbow 9">
            <a:extLst>
              <a:ext uri="{FF2B5EF4-FFF2-40B4-BE49-F238E27FC236}">
                <a16:creationId xmlns:a16="http://schemas.microsoft.com/office/drawing/2014/main" id="{6662B850-ECF2-044F-82E1-AD62E6C2C67E}"/>
              </a:ext>
            </a:extLst>
          </p:cNvPr>
          <p:cNvCxnSpPr>
            <a:cxnSpLocks/>
            <a:stCxn id="18" idx="3"/>
            <a:endCxn id="21" idx="1"/>
          </p:cNvCxnSpPr>
          <p:nvPr/>
        </p:nvCxnSpPr>
        <p:spPr>
          <a:xfrm flipV="1">
            <a:off x="3506527" y="1139513"/>
            <a:ext cx="2537630" cy="513690"/>
          </a:xfrm>
          <a:prstGeom prst="bentConnector3">
            <a:avLst>
              <a:gd name="adj1" fmla="val 32437"/>
            </a:avLst>
          </a:prstGeom>
        </p:spPr>
        <p:style>
          <a:lnRef idx="1">
            <a:schemeClr val="accent1"/>
          </a:lnRef>
          <a:fillRef idx="0">
            <a:schemeClr val="accent1"/>
          </a:fillRef>
          <a:effectRef idx="0">
            <a:schemeClr val="accent1"/>
          </a:effectRef>
          <a:fontRef idx="minor">
            <a:schemeClr val="tx1"/>
          </a:fontRef>
        </p:style>
      </p:cxnSp>
      <p:cxnSp>
        <p:nvCxnSpPr>
          <p:cNvPr id="11" name="Connector: Elbow 10">
            <a:extLst>
              <a:ext uri="{FF2B5EF4-FFF2-40B4-BE49-F238E27FC236}">
                <a16:creationId xmlns:a16="http://schemas.microsoft.com/office/drawing/2014/main" id="{AFAE0281-D317-7440-B783-E719695AF41F}"/>
              </a:ext>
            </a:extLst>
          </p:cNvPr>
          <p:cNvCxnSpPr>
            <a:cxnSpLocks/>
            <a:stCxn id="55" idx="3"/>
            <a:endCxn id="24" idx="1"/>
          </p:cNvCxnSpPr>
          <p:nvPr/>
        </p:nvCxnSpPr>
        <p:spPr>
          <a:xfrm flipV="1">
            <a:off x="3506527" y="1490554"/>
            <a:ext cx="2537630" cy="525663"/>
          </a:xfrm>
          <a:prstGeom prst="bentConnector3">
            <a:avLst>
              <a:gd name="adj1" fmla="val 38493"/>
            </a:avLst>
          </a:prstGeom>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470A31A0-9B95-36FC-75AD-0314CD7113A9}"/>
              </a:ext>
            </a:extLst>
          </p:cNvPr>
          <p:cNvSpPr txBox="1"/>
          <p:nvPr/>
        </p:nvSpPr>
        <p:spPr>
          <a:xfrm>
            <a:off x="1211216" y="1533341"/>
            <a:ext cx="1184299" cy="261610"/>
          </a:xfrm>
          <a:prstGeom prst="rect">
            <a:avLst/>
          </a:prstGeom>
          <a:noFill/>
        </p:spPr>
        <p:txBody>
          <a:bodyPr wrap="square" rtlCol="0">
            <a:spAutoFit/>
          </a:bodyPr>
          <a:lstStyle/>
          <a:p>
            <a:pPr algn="r"/>
            <a:r>
              <a:rPr lang="en-US" sz="1100" dirty="0"/>
              <a:t>LDWL</a:t>
            </a:r>
          </a:p>
        </p:txBody>
      </p:sp>
      <p:grpSp>
        <p:nvGrpSpPr>
          <p:cNvPr id="13" name="Group 12">
            <a:extLst>
              <a:ext uri="{FF2B5EF4-FFF2-40B4-BE49-F238E27FC236}">
                <a16:creationId xmlns:a16="http://schemas.microsoft.com/office/drawing/2014/main" id="{A7368E16-6770-1891-07F7-6D1FC896CA04}"/>
              </a:ext>
            </a:extLst>
          </p:cNvPr>
          <p:cNvGrpSpPr/>
          <p:nvPr/>
        </p:nvGrpSpPr>
        <p:grpSpPr>
          <a:xfrm>
            <a:off x="2461048" y="1499314"/>
            <a:ext cx="1045479" cy="307777"/>
            <a:chOff x="1992327" y="3559447"/>
            <a:chExt cx="1045480" cy="307778"/>
          </a:xfrm>
        </p:grpSpPr>
        <p:sp>
          <p:nvSpPr>
            <p:cNvPr id="18" name="TextBox 17">
              <a:hlinkClick r:id="rId3" action="ppaction://hlinksldjump"/>
              <a:extLst>
                <a:ext uri="{FF2B5EF4-FFF2-40B4-BE49-F238E27FC236}">
                  <a16:creationId xmlns:a16="http://schemas.microsoft.com/office/drawing/2014/main" id="{9186A7BC-1558-EB9C-EA34-7E62CECA02D5}"/>
                </a:ext>
              </a:extLst>
            </p:cNvPr>
            <p:cNvSpPr txBox="1"/>
            <p:nvPr/>
          </p:nvSpPr>
          <p:spPr>
            <a:xfrm>
              <a:off x="1992327" y="3559447"/>
              <a:ext cx="1045480" cy="307778"/>
            </a:xfrm>
            <a:prstGeom prst="rect">
              <a:avLst/>
            </a:prstGeom>
            <a:noFill/>
            <a:ln>
              <a:solidFill>
                <a:schemeClr val="accent1"/>
              </a:solidFill>
            </a:ln>
          </p:spPr>
          <p:txBody>
            <a:bodyPr wrap="none" rtlCol="0">
              <a:spAutoFit/>
            </a:bodyPr>
            <a:lstStyle/>
            <a:p>
              <a:r>
                <a:rPr lang="en-US" sz="1400" dirty="0"/>
                <a:t>OpCode_14</a:t>
              </a:r>
            </a:p>
          </p:txBody>
        </p:sp>
        <p:cxnSp>
          <p:nvCxnSpPr>
            <p:cNvPr id="19" name="Straight Connector 18">
              <a:extLst>
                <a:ext uri="{FF2B5EF4-FFF2-40B4-BE49-F238E27FC236}">
                  <a16:creationId xmlns:a16="http://schemas.microsoft.com/office/drawing/2014/main" id="{EED70D72-B727-8A96-4A0E-5EBBF91E81D3}"/>
                </a:ext>
              </a:extLst>
            </p:cNvPr>
            <p:cNvCxnSpPr>
              <a:cxnSpLocks/>
            </p:cNvCxnSpPr>
            <p:nvPr/>
          </p:nvCxnSpPr>
          <p:spPr>
            <a:xfrm>
              <a:off x="2080151" y="3626824"/>
              <a:ext cx="804299"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53" name="TextBox 52">
            <a:extLst>
              <a:ext uri="{FF2B5EF4-FFF2-40B4-BE49-F238E27FC236}">
                <a16:creationId xmlns:a16="http://schemas.microsoft.com/office/drawing/2014/main" id="{E5F9CCF9-8317-FC3E-7DE8-7126018DA4B4}"/>
              </a:ext>
            </a:extLst>
          </p:cNvPr>
          <p:cNvSpPr txBox="1"/>
          <p:nvPr/>
        </p:nvSpPr>
        <p:spPr>
          <a:xfrm>
            <a:off x="1211216" y="1896355"/>
            <a:ext cx="1184299" cy="261610"/>
          </a:xfrm>
          <a:prstGeom prst="rect">
            <a:avLst/>
          </a:prstGeom>
          <a:noFill/>
        </p:spPr>
        <p:txBody>
          <a:bodyPr wrap="square" rtlCol="0">
            <a:spAutoFit/>
          </a:bodyPr>
          <a:lstStyle/>
          <a:p>
            <a:pPr algn="r"/>
            <a:r>
              <a:rPr lang="en-US" sz="1100" dirty="0"/>
              <a:t>LDWH</a:t>
            </a:r>
          </a:p>
        </p:txBody>
      </p:sp>
      <p:grpSp>
        <p:nvGrpSpPr>
          <p:cNvPr id="54" name="Group 53">
            <a:extLst>
              <a:ext uri="{FF2B5EF4-FFF2-40B4-BE49-F238E27FC236}">
                <a16:creationId xmlns:a16="http://schemas.microsoft.com/office/drawing/2014/main" id="{720B4A37-531C-4C5D-EA27-FBEF23516233}"/>
              </a:ext>
            </a:extLst>
          </p:cNvPr>
          <p:cNvGrpSpPr/>
          <p:nvPr/>
        </p:nvGrpSpPr>
        <p:grpSpPr>
          <a:xfrm>
            <a:off x="2461048" y="1862328"/>
            <a:ext cx="1045479" cy="307777"/>
            <a:chOff x="1992327" y="3559447"/>
            <a:chExt cx="1045480" cy="307778"/>
          </a:xfrm>
        </p:grpSpPr>
        <p:sp>
          <p:nvSpPr>
            <p:cNvPr id="55" name="TextBox 54">
              <a:hlinkClick r:id="rId3" action="ppaction://hlinksldjump"/>
              <a:extLst>
                <a:ext uri="{FF2B5EF4-FFF2-40B4-BE49-F238E27FC236}">
                  <a16:creationId xmlns:a16="http://schemas.microsoft.com/office/drawing/2014/main" id="{7BE39FCB-2C4B-40E0-B214-F4DD43DAAAA1}"/>
                </a:ext>
              </a:extLst>
            </p:cNvPr>
            <p:cNvSpPr txBox="1"/>
            <p:nvPr/>
          </p:nvSpPr>
          <p:spPr>
            <a:xfrm>
              <a:off x="1992327" y="3559447"/>
              <a:ext cx="1045480" cy="307778"/>
            </a:xfrm>
            <a:prstGeom prst="rect">
              <a:avLst/>
            </a:prstGeom>
            <a:noFill/>
            <a:ln>
              <a:solidFill>
                <a:schemeClr val="accent1"/>
              </a:solidFill>
            </a:ln>
          </p:spPr>
          <p:txBody>
            <a:bodyPr wrap="none" rtlCol="0">
              <a:spAutoFit/>
            </a:bodyPr>
            <a:lstStyle/>
            <a:p>
              <a:r>
                <a:rPr lang="en-US" sz="1400" dirty="0"/>
                <a:t>OpCode_15</a:t>
              </a:r>
            </a:p>
          </p:txBody>
        </p:sp>
        <p:cxnSp>
          <p:nvCxnSpPr>
            <p:cNvPr id="56" name="Straight Connector 55">
              <a:extLst>
                <a:ext uri="{FF2B5EF4-FFF2-40B4-BE49-F238E27FC236}">
                  <a16:creationId xmlns:a16="http://schemas.microsoft.com/office/drawing/2014/main" id="{BE1A3B6D-4D9F-B7A3-2958-6641CB9F1C2A}"/>
                </a:ext>
              </a:extLst>
            </p:cNvPr>
            <p:cNvCxnSpPr>
              <a:cxnSpLocks/>
            </p:cNvCxnSpPr>
            <p:nvPr/>
          </p:nvCxnSpPr>
          <p:spPr>
            <a:xfrm>
              <a:off x="2080151" y="3626824"/>
              <a:ext cx="804299"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57" name="TextBox 56">
            <a:extLst>
              <a:ext uri="{FF2B5EF4-FFF2-40B4-BE49-F238E27FC236}">
                <a16:creationId xmlns:a16="http://schemas.microsoft.com/office/drawing/2014/main" id="{8169DD1F-5236-24F3-2D4D-33962283D167}"/>
              </a:ext>
            </a:extLst>
          </p:cNvPr>
          <p:cNvSpPr txBox="1"/>
          <p:nvPr/>
        </p:nvSpPr>
        <p:spPr>
          <a:xfrm>
            <a:off x="1211216" y="2244857"/>
            <a:ext cx="1184299" cy="261610"/>
          </a:xfrm>
          <a:prstGeom prst="rect">
            <a:avLst/>
          </a:prstGeom>
          <a:noFill/>
        </p:spPr>
        <p:txBody>
          <a:bodyPr wrap="square" rtlCol="0">
            <a:spAutoFit/>
          </a:bodyPr>
          <a:lstStyle/>
          <a:p>
            <a:pPr algn="r"/>
            <a:r>
              <a:rPr lang="en-US" sz="1100" dirty="0"/>
              <a:t>SDWL</a:t>
            </a:r>
          </a:p>
        </p:txBody>
      </p:sp>
      <p:grpSp>
        <p:nvGrpSpPr>
          <p:cNvPr id="58" name="Group 57">
            <a:extLst>
              <a:ext uri="{FF2B5EF4-FFF2-40B4-BE49-F238E27FC236}">
                <a16:creationId xmlns:a16="http://schemas.microsoft.com/office/drawing/2014/main" id="{85DC14C2-3C16-1795-C0A0-5347FE2CA6B9}"/>
              </a:ext>
            </a:extLst>
          </p:cNvPr>
          <p:cNvGrpSpPr/>
          <p:nvPr/>
        </p:nvGrpSpPr>
        <p:grpSpPr>
          <a:xfrm>
            <a:off x="2461048" y="2210830"/>
            <a:ext cx="1045479" cy="307777"/>
            <a:chOff x="1992327" y="3559447"/>
            <a:chExt cx="1045480" cy="307778"/>
          </a:xfrm>
        </p:grpSpPr>
        <p:sp>
          <p:nvSpPr>
            <p:cNvPr id="59" name="TextBox 58">
              <a:hlinkClick r:id="rId3" action="ppaction://hlinksldjump"/>
              <a:extLst>
                <a:ext uri="{FF2B5EF4-FFF2-40B4-BE49-F238E27FC236}">
                  <a16:creationId xmlns:a16="http://schemas.microsoft.com/office/drawing/2014/main" id="{103B7ABA-AB4F-2133-BA2D-FA0EC6782CEA}"/>
                </a:ext>
              </a:extLst>
            </p:cNvPr>
            <p:cNvSpPr txBox="1"/>
            <p:nvPr/>
          </p:nvSpPr>
          <p:spPr>
            <a:xfrm>
              <a:off x="1992327" y="3559447"/>
              <a:ext cx="1045480" cy="307778"/>
            </a:xfrm>
            <a:prstGeom prst="rect">
              <a:avLst/>
            </a:prstGeom>
            <a:noFill/>
            <a:ln>
              <a:solidFill>
                <a:schemeClr val="accent1"/>
              </a:solidFill>
            </a:ln>
          </p:spPr>
          <p:txBody>
            <a:bodyPr wrap="none" rtlCol="0">
              <a:spAutoFit/>
            </a:bodyPr>
            <a:lstStyle/>
            <a:p>
              <a:r>
                <a:rPr lang="en-US" sz="1400" dirty="0"/>
                <a:t>OpCode_16</a:t>
              </a:r>
            </a:p>
          </p:txBody>
        </p:sp>
        <p:cxnSp>
          <p:nvCxnSpPr>
            <p:cNvPr id="60" name="Straight Connector 59">
              <a:extLst>
                <a:ext uri="{FF2B5EF4-FFF2-40B4-BE49-F238E27FC236}">
                  <a16:creationId xmlns:a16="http://schemas.microsoft.com/office/drawing/2014/main" id="{2511D3F2-CBD3-9E44-037B-517718723FF3}"/>
                </a:ext>
              </a:extLst>
            </p:cNvPr>
            <p:cNvCxnSpPr>
              <a:cxnSpLocks/>
            </p:cNvCxnSpPr>
            <p:nvPr/>
          </p:nvCxnSpPr>
          <p:spPr>
            <a:xfrm>
              <a:off x="2080151" y="3626824"/>
              <a:ext cx="804299"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61" name="TextBox 60">
            <a:extLst>
              <a:ext uri="{FF2B5EF4-FFF2-40B4-BE49-F238E27FC236}">
                <a16:creationId xmlns:a16="http://schemas.microsoft.com/office/drawing/2014/main" id="{793458C2-D003-6F67-598B-AC05F724D6AB}"/>
              </a:ext>
            </a:extLst>
          </p:cNvPr>
          <p:cNvSpPr txBox="1"/>
          <p:nvPr/>
        </p:nvSpPr>
        <p:spPr>
          <a:xfrm>
            <a:off x="1211216" y="2593359"/>
            <a:ext cx="1184299" cy="261610"/>
          </a:xfrm>
          <a:prstGeom prst="rect">
            <a:avLst/>
          </a:prstGeom>
          <a:noFill/>
        </p:spPr>
        <p:txBody>
          <a:bodyPr wrap="square" rtlCol="0">
            <a:spAutoFit/>
          </a:bodyPr>
          <a:lstStyle/>
          <a:p>
            <a:pPr algn="r"/>
            <a:r>
              <a:rPr lang="en-US" sz="1100" dirty="0"/>
              <a:t>SDWH</a:t>
            </a:r>
          </a:p>
        </p:txBody>
      </p:sp>
      <p:grpSp>
        <p:nvGrpSpPr>
          <p:cNvPr id="62" name="Group 61">
            <a:extLst>
              <a:ext uri="{FF2B5EF4-FFF2-40B4-BE49-F238E27FC236}">
                <a16:creationId xmlns:a16="http://schemas.microsoft.com/office/drawing/2014/main" id="{33EE5C21-B9CD-3AB9-4145-3F24A2594938}"/>
              </a:ext>
            </a:extLst>
          </p:cNvPr>
          <p:cNvGrpSpPr/>
          <p:nvPr/>
        </p:nvGrpSpPr>
        <p:grpSpPr>
          <a:xfrm>
            <a:off x="2461048" y="2559332"/>
            <a:ext cx="1045479" cy="307777"/>
            <a:chOff x="1992327" y="3559447"/>
            <a:chExt cx="1045480" cy="307778"/>
          </a:xfrm>
        </p:grpSpPr>
        <p:sp>
          <p:nvSpPr>
            <p:cNvPr id="63" name="TextBox 62">
              <a:hlinkClick r:id="rId3" action="ppaction://hlinksldjump"/>
              <a:extLst>
                <a:ext uri="{FF2B5EF4-FFF2-40B4-BE49-F238E27FC236}">
                  <a16:creationId xmlns:a16="http://schemas.microsoft.com/office/drawing/2014/main" id="{5B675561-1850-2E5D-D866-3CAF0A0083A0}"/>
                </a:ext>
              </a:extLst>
            </p:cNvPr>
            <p:cNvSpPr txBox="1"/>
            <p:nvPr/>
          </p:nvSpPr>
          <p:spPr>
            <a:xfrm>
              <a:off x="1992327" y="3559447"/>
              <a:ext cx="1045480" cy="307778"/>
            </a:xfrm>
            <a:prstGeom prst="rect">
              <a:avLst/>
            </a:prstGeom>
            <a:noFill/>
            <a:ln>
              <a:solidFill>
                <a:schemeClr val="accent1"/>
              </a:solidFill>
            </a:ln>
          </p:spPr>
          <p:txBody>
            <a:bodyPr wrap="none" rtlCol="0">
              <a:spAutoFit/>
            </a:bodyPr>
            <a:lstStyle/>
            <a:p>
              <a:r>
                <a:rPr lang="en-US" sz="1400" dirty="0"/>
                <a:t>OpCode_17</a:t>
              </a:r>
            </a:p>
          </p:txBody>
        </p:sp>
        <p:cxnSp>
          <p:nvCxnSpPr>
            <p:cNvPr id="64" name="Straight Connector 63">
              <a:extLst>
                <a:ext uri="{FF2B5EF4-FFF2-40B4-BE49-F238E27FC236}">
                  <a16:creationId xmlns:a16="http://schemas.microsoft.com/office/drawing/2014/main" id="{67974177-8A40-959E-3AE8-BB0B2FDEBD41}"/>
                </a:ext>
              </a:extLst>
            </p:cNvPr>
            <p:cNvCxnSpPr>
              <a:cxnSpLocks/>
            </p:cNvCxnSpPr>
            <p:nvPr/>
          </p:nvCxnSpPr>
          <p:spPr>
            <a:xfrm>
              <a:off x="2080151" y="3626824"/>
              <a:ext cx="804299"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65" name="TextBox 64">
            <a:extLst>
              <a:ext uri="{FF2B5EF4-FFF2-40B4-BE49-F238E27FC236}">
                <a16:creationId xmlns:a16="http://schemas.microsoft.com/office/drawing/2014/main" id="{613F4F4A-4EF4-F64B-0D6F-995E55E8B283}"/>
              </a:ext>
            </a:extLst>
          </p:cNvPr>
          <p:cNvSpPr txBox="1"/>
          <p:nvPr/>
        </p:nvSpPr>
        <p:spPr>
          <a:xfrm>
            <a:off x="1211216" y="2941861"/>
            <a:ext cx="1184299" cy="261610"/>
          </a:xfrm>
          <a:prstGeom prst="rect">
            <a:avLst/>
          </a:prstGeom>
          <a:noFill/>
        </p:spPr>
        <p:txBody>
          <a:bodyPr wrap="square" rtlCol="0">
            <a:spAutoFit/>
          </a:bodyPr>
          <a:lstStyle/>
          <a:p>
            <a:pPr algn="r"/>
            <a:r>
              <a:rPr lang="en-US" sz="1100" dirty="0"/>
              <a:t>MAAL</a:t>
            </a:r>
          </a:p>
        </p:txBody>
      </p:sp>
      <p:grpSp>
        <p:nvGrpSpPr>
          <p:cNvPr id="66" name="Group 65">
            <a:extLst>
              <a:ext uri="{FF2B5EF4-FFF2-40B4-BE49-F238E27FC236}">
                <a16:creationId xmlns:a16="http://schemas.microsoft.com/office/drawing/2014/main" id="{255F0A33-8A83-C9B7-2D67-7527D1871482}"/>
              </a:ext>
            </a:extLst>
          </p:cNvPr>
          <p:cNvGrpSpPr/>
          <p:nvPr/>
        </p:nvGrpSpPr>
        <p:grpSpPr>
          <a:xfrm>
            <a:off x="2461048" y="2907834"/>
            <a:ext cx="1045479" cy="307777"/>
            <a:chOff x="1992327" y="3559447"/>
            <a:chExt cx="1045480" cy="307778"/>
          </a:xfrm>
        </p:grpSpPr>
        <p:sp>
          <p:nvSpPr>
            <p:cNvPr id="67" name="TextBox 66">
              <a:hlinkClick r:id="rId3" action="ppaction://hlinksldjump"/>
              <a:extLst>
                <a:ext uri="{FF2B5EF4-FFF2-40B4-BE49-F238E27FC236}">
                  <a16:creationId xmlns:a16="http://schemas.microsoft.com/office/drawing/2014/main" id="{84BC79C1-EB03-E1A6-5423-7C94BD870B4A}"/>
                </a:ext>
              </a:extLst>
            </p:cNvPr>
            <p:cNvSpPr txBox="1"/>
            <p:nvPr/>
          </p:nvSpPr>
          <p:spPr>
            <a:xfrm>
              <a:off x="1992327" y="3559447"/>
              <a:ext cx="1045480" cy="307778"/>
            </a:xfrm>
            <a:prstGeom prst="rect">
              <a:avLst/>
            </a:prstGeom>
            <a:noFill/>
            <a:ln>
              <a:solidFill>
                <a:schemeClr val="accent1"/>
              </a:solidFill>
            </a:ln>
          </p:spPr>
          <p:txBody>
            <a:bodyPr wrap="none" rtlCol="0">
              <a:spAutoFit/>
            </a:bodyPr>
            <a:lstStyle/>
            <a:p>
              <a:r>
                <a:rPr lang="en-US" sz="1400" dirty="0"/>
                <a:t>OpCode_18</a:t>
              </a:r>
            </a:p>
          </p:txBody>
        </p:sp>
        <p:cxnSp>
          <p:nvCxnSpPr>
            <p:cNvPr id="68" name="Straight Connector 67">
              <a:extLst>
                <a:ext uri="{FF2B5EF4-FFF2-40B4-BE49-F238E27FC236}">
                  <a16:creationId xmlns:a16="http://schemas.microsoft.com/office/drawing/2014/main" id="{CA11F6D1-BF5A-CC97-4F6D-C313814AE98F}"/>
                </a:ext>
              </a:extLst>
            </p:cNvPr>
            <p:cNvCxnSpPr>
              <a:cxnSpLocks/>
            </p:cNvCxnSpPr>
            <p:nvPr/>
          </p:nvCxnSpPr>
          <p:spPr>
            <a:xfrm>
              <a:off x="2080151" y="3626824"/>
              <a:ext cx="804299"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69" name="TextBox 68">
            <a:extLst>
              <a:ext uri="{FF2B5EF4-FFF2-40B4-BE49-F238E27FC236}">
                <a16:creationId xmlns:a16="http://schemas.microsoft.com/office/drawing/2014/main" id="{874E3F94-4198-8B3A-1CDF-680F85F17B18}"/>
              </a:ext>
            </a:extLst>
          </p:cNvPr>
          <p:cNvSpPr txBox="1"/>
          <p:nvPr/>
        </p:nvSpPr>
        <p:spPr>
          <a:xfrm>
            <a:off x="1211216" y="3317015"/>
            <a:ext cx="1184299" cy="261610"/>
          </a:xfrm>
          <a:prstGeom prst="rect">
            <a:avLst/>
          </a:prstGeom>
          <a:noFill/>
        </p:spPr>
        <p:txBody>
          <a:bodyPr wrap="square" rtlCol="0">
            <a:spAutoFit/>
          </a:bodyPr>
          <a:lstStyle/>
          <a:p>
            <a:pPr algn="r"/>
            <a:r>
              <a:rPr lang="en-US" sz="1100" dirty="0"/>
              <a:t>MAAH</a:t>
            </a:r>
          </a:p>
        </p:txBody>
      </p:sp>
      <p:grpSp>
        <p:nvGrpSpPr>
          <p:cNvPr id="70" name="Group 69">
            <a:extLst>
              <a:ext uri="{FF2B5EF4-FFF2-40B4-BE49-F238E27FC236}">
                <a16:creationId xmlns:a16="http://schemas.microsoft.com/office/drawing/2014/main" id="{516456E9-C2DA-F04F-3267-5BD8F137DC29}"/>
              </a:ext>
            </a:extLst>
          </p:cNvPr>
          <p:cNvGrpSpPr/>
          <p:nvPr/>
        </p:nvGrpSpPr>
        <p:grpSpPr>
          <a:xfrm>
            <a:off x="2461048" y="3282988"/>
            <a:ext cx="1045479" cy="307777"/>
            <a:chOff x="1992327" y="3559447"/>
            <a:chExt cx="1045480" cy="307778"/>
          </a:xfrm>
        </p:grpSpPr>
        <p:sp>
          <p:nvSpPr>
            <p:cNvPr id="71" name="TextBox 70">
              <a:hlinkClick r:id="rId3" action="ppaction://hlinksldjump"/>
              <a:extLst>
                <a:ext uri="{FF2B5EF4-FFF2-40B4-BE49-F238E27FC236}">
                  <a16:creationId xmlns:a16="http://schemas.microsoft.com/office/drawing/2014/main" id="{FEEEE9D9-6895-5C62-1508-04BACD8FB772}"/>
                </a:ext>
              </a:extLst>
            </p:cNvPr>
            <p:cNvSpPr txBox="1"/>
            <p:nvPr/>
          </p:nvSpPr>
          <p:spPr>
            <a:xfrm>
              <a:off x="1992327" y="3559447"/>
              <a:ext cx="1045480" cy="307778"/>
            </a:xfrm>
            <a:prstGeom prst="rect">
              <a:avLst/>
            </a:prstGeom>
            <a:noFill/>
            <a:ln>
              <a:solidFill>
                <a:schemeClr val="accent1"/>
              </a:solidFill>
            </a:ln>
          </p:spPr>
          <p:txBody>
            <a:bodyPr wrap="none" rtlCol="0">
              <a:spAutoFit/>
            </a:bodyPr>
            <a:lstStyle/>
            <a:p>
              <a:r>
                <a:rPr lang="en-US" sz="1400" dirty="0"/>
                <a:t>OpCode_19</a:t>
              </a:r>
            </a:p>
          </p:txBody>
        </p:sp>
        <p:cxnSp>
          <p:nvCxnSpPr>
            <p:cNvPr id="72" name="Straight Connector 71">
              <a:extLst>
                <a:ext uri="{FF2B5EF4-FFF2-40B4-BE49-F238E27FC236}">
                  <a16:creationId xmlns:a16="http://schemas.microsoft.com/office/drawing/2014/main" id="{5373ACC4-4717-ED2C-9C47-FA802AA1CAB4}"/>
                </a:ext>
              </a:extLst>
            </p:cNvPr>
            <p:cNvCxnSpPr>
              <a:cxnSpLocks/>
            </p:cNvCxnSpPr>
            <p:nvPr/>
          </p:nvCxnSpPr>
          <p:spPr>
            <a:xfrm>
              <a:off x="2080151" y="3626824"/>
              <a:ext cx="804299"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73" name="TextBox 72">
            <a:extLst>
              <a:ext uri="{FF2B5EF4-FFF2-40B4-BE49-F238E27FC236}">
                <a16:creationId xmlns:a16="http://schemas.microsoft.com/office/drawing/2014/main" id="{17E37862-C066-0D29-36D8-FF36DC89EE0E}"/>
              </a:ext>
            </a:extLst>
          </p:cNvPr>
          <p:cNvSpPr txBox="1"/>
          <p:nvPr/>
        </p:nvSpPr>
        <p:spPr>
          <a:xfrm>
            <a:off x="1216025" y="3676417"/>
            <a:ext cx="1184299" cy="261610"/>
          </a:xfrm>
          <a:prstGeom prst="rect">
            <a:avLst/>
          </a:prstGeom>
          <a:noFill/>
        </p:spPr>
        <p:txBody>
          <a:bodyPr wrap="square" rtlCol="0">
            <a:spAutoFit/>
          </a:bodyPr>
          <a:lstStyle/>
          <a:p>
            <a:pPr algn="r"/>
            <a:r>
              <a:rPr lang="en-US" sz="1100" dirty="0"/>
              <a:t>MAG</a:t>
            </a:r>
          </a:p>
        </p:txBody>
      </p:sp>
      <p:grpSp>
        <p:nvGrpSpPr>
          <p:cNvPr id="74" name="Group 73">
            <a:extLst>
              <a:ext uri="{FF2B5EF4-FFF2-40B4-BE49-F238E27FC236}">
                <a16:creationId xmlns:a16="http://schemas.microsoft.com/office/drawing/2014/main" id="{FB55D2F8-3410-8B24-1798-F804EB170CCE}"/>
              </a:ext>
            </a:extLst>
          </p:cNvPr>
          <p:cNvGrpSpPr/>
          <p:nvPr/>
        </p:nvGrpSpPr>
        <p:grpSpPr>
          <a:xfrm>
            <a:off x="2465857" y="3642390"/>
            <a:ext cx="1058303" cy="307777"/>
            <a:chOff x="1992327" y="3559447"/>
            <a:chExt cx="1058304" cy="307778"/>
          </a:xfrm>
        </p:grpSpPr>
        <p:sp>
          <p:nvSpPr>
            <p:cNvPr id="75" name="TextBox 74">
              <a:hlinkClick r:id="rId3" action="ppaction://hlinksldjump"/>
              <a:extLst>
                <a:ext uri="{FF2B5EF4-FFF2-40B4-BE49-F238E27FC236}">
                  <a16:creationId xmlns:a16="http://schemas.microsoft.com/office/drawing/2014/main" id="{C00414C3-A02B-60BA-50E0-565DA31ED209}"/>
                </a:ext>
              </a:extLst>
            </p:cNvPr>
            <p:cNvSpPr txBox="1"/>
            <p:nvPr/>
          </p:nvSpPr>
          <p:spPr>
            <a:xfrm>
              <a:off x="1992327" y="3559447"/>
              <a:ext cx="1058304" cy="307778"/>
            </a:xfrm>
            <a:prstGeom prst="rect">
              <a:avLst/>
            </a:prstGeom>
            <a:noFill/>
            <a:ln>
              <a:solidFill>
                <a:schemeClr val="accent1"/>
              </a:solidFill>
            </a:ln>
          </p:spPr>
          <p:txBody>
            <a:bodyPr wrap="none" rtlCol="0">
              <a:spAutoFit/>
            </a:bodyPr>
            <a:lstStyle/>
            <a:p>
              <a:r>
                <a:rPr lang="en-US" sz="1400" dirty="0"/>
                <a:t>OpCode_1A</a:t>
              </a:r>
            </a:p>
          </p:txBody>
        </p:sp>
        <p:cxnSp>
          <p:nvCxnSpPr>
            <p:cNvPr id="76" name="Straight Connector 75">
              <a:extLst>
                <a:ext uri="{FF2B5EF4-FFF2-40B4-BE49-F238E27FC236}">
                  <a16:creationId xmlns:a16="http://schemas.microsoft.com/office/drawing/2014/main" id="{2E1FD70B-415D-71A5-9512-319CC302C284}"/>
                </a:ext>
              </a:extLst>
            </p:cNvPr>
            <p:cNvCxnSpPr>
              <a:cxnSpLocks/>
            </p:cNvCxnSpPr>
            <p:nvPr/>
          </p:nvCxnSpPr>
          <p:spPr>
            <a:xfrm>
              <a:off x="2080151" y="3626824"/>
              <a:ext cx="804299"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95" name="Picture 94" descr="Diagram&#10;&#10;Description automatically generated with low confidence">
            <a:extLst>
              <a:ext uri="{FF2B5EF4-FFF2-40B4-BE49-F238E27FC236}">
                <a16:creationId xmlns:a16="http://schemas.microsoft.com/office/drawing/2014/main" id="{0E3A7496-3F77-7F3D-F0A5-2E38BFCA16A9}"/>
              </a:ext>
            </a:extLst>
          </p:cNvPr>
          <p:cNvPicPr>
            <a:picLocks noChangeAspect="1"/>
          </p:cNvPicPr>
          <p:nvPr/>
        </p:nvPicPr>
        <p:blipFill rotWithShape="1">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50000" t="19257" r="4045" b="-1180"/>
          <a:stretch/>
        </p:blipFill>
        <p:spPr>
          <a:xfrm>
            <a:off x="4072628" y="3940661"/>
            <a:ext cx="659287" cy="459531"/>
          </a:xfrm>
          <a:prstGeom prst="rect">
            <a:avLst/>
          </a:prstGeom>
        </p:spPr>
      </p:pic>
      <p:cxnSp>
        <p:nvCxnSpPr>
          <p:cNvPr id="103" name="Connector: Elbow 102">
            <a:extLst>
              <a:ext uri="{FF2B5EF4-FFF2-40B4-BE49-F238E27FC236}">
                <a16:creationId xmlns:a16="http://schemas.microsoft.com/office/drawing/2014/main" id="{1C94F09B-A3AE-BFAE-0C31-8B91D8F2B905}"/>
              </a:ext>
            </a:extLst>
          </p:cNvPr>
          <p:cNvCxnSpPr>
            <a:cxnSpLocks/>
            <a:stCxn id="59" idx="3"/>
            <a:endCxn id="90" idx="1"/>
          </p:cNvCxnSpPr>
          <p:nvPr/>
        </p:nvCxnSpPr>
        <p:spPr>
          <a:xfrm flipV="1">
            <a:off x="3506527" y="1841595"/>
            <a:ext cx="2537630" cy="523124"/>
          </a:xfrm>
          <a:prstGeom prst="bentConnector3">
            <a:avLst>
              <a:gd name="adj1" fmla="val 43944"/>
            </a:avLst>
          </a:prstGeom>
        </p:spPr>
        <p:style>
          <a:lnRef idx="1">
            <a:schemeClr val="accent1"/>
          </a:lnRef>
          <a:fillRef idx="0">
            <a:schemeClr val="accent1"/>
          </a:fillRef>
          <a:effectRef idx="0">
            <a:schemeClr val="accent1"/>
          </a:effectRef>
          <a:fontRef idx="minor">
            <a:schemeClr val="tx1"/>
          </a:fontRef>
        </p:style>
      </p:cxnSp>
      <p:cxnSp>
        <p:nvCxnSpPr>
          <p:cNvPr id="106" name="Connector: Elbow 105">
            <a:extLst>
              <a:ext uri="{FF2B5EF4-FFF2-40B4-BE49-F238E27FC236}">
                <a16:creationId xmlns:a16="http://schemas.microsoft.com/office/drawing/2014/main" id="{462CEC27-1225-7622-9543-1A4836E3F1DD}"/>
              </a:ext>
            </a:extLst>
          </p:cNvPr>
          <p:cNvCxnSpPr>
            <a:cxnSpLocks/>
            <a:stCxn id="63" idx="3"/>
            <a:endCxn id="96" idx="1"/>
          </p:cNvCxnSpPr>
          <p:nvPr/>
        </p:nvCxnSpPr>
        <p:spPr>
          <a:xfrm flipV="1">
            <a:off x="3506527" y="2192636"/>
            <a:ext cx="2537630" cy="520585"/>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09" name="Connector: Elbow 108">
            <a:extLst>
              <a:ext uri="{FF2B5EF4-FFF2-40B4-BE49-F238E27FC236}">
                <a16:creationId xmlns:a16="http://schemas.microsoft.com/office/drawing/2014/main" id="{864B984E-C5A5-6E23-83AC-5DD254A1C895}"/>
              </a:ext>
            </a:extLst>
          </p:cNvPr>
          <p:cNvCxnSpPr>
            <a:cxnSpLocks/>
            <a:stCxn id="67" idx="3"/>
            <a:endCxn id="93" idx="1"/>
          </p:cNvCxnSpPr>
          <p:nvPr/>
        </p:nvCxnSpPr>
        <p:spPr>
          <a:xfrm>
            <a:off x="3506527" y="3061723"/>
            <a:ext cx="644420" cy="961015"/>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13" name="Connector: Elbow 112">
            <a:extLst>
              <a:ext uri="{FF2B5EF4-FFF2-40B4-BE49-F238E27FC236}">
                <a16:creationId xmlns:a16="http://schemas.microsoft.com/office/drawing/2014/main" id="{76D1C302-F4EE-37C5-05A0-4CF1989E2187}"/>
              </a:ext>
            </a:extLst>
          </p:cNvPr>
          <p:cNvCxnSpPr>
            <a:cxnSpLocks/>
            <a:stCxn id="71" idx="3"/>
            <a:endCxn id="98" idx="1"/>
          </p:cNvCxnSpPr>
          <p:nvPr/>
        </p:nvCxnSpPr>
        <p:spPr>
          <a:xfrm>
            <a:off x="3506527" y="3436877"/>
            <a:ext cx="657952" cy="858347"/>
          </a:xfrm>
          <a:prstGeom prst="bentConnector3">
            <a:avLst>
              <a:gd name="adj1" fmla="val 27810"/>
            </a:avLst>
          </a:prstGeom>
        </p:spPr>
        <p:style>
          <a:lnRef idx="1">
            <a:schemeClr val="accent1"/>
          </a:lnRef>
          <a:fillRef idx="0">
            <a:schemeClr val="accent1"/>
          </a:fillRef>
          <a:effectRef idx="0">
            <a:schemeClr val="accent1"/>
          </a:effectRef>
          <a:fontRef idx="minor">
            <a:schemeClr val="tx1"/>
          </a:fontRef>
        </p:style>
      </p:cxnSp>
      <p:cxnSp>
        <p:nvCxnSpPr>
          <p:cNvPr id="116" name="Connector: Elbow 115">
            <a:extLst>
              <a:ext uri="{FF2B5EF4-FFF2-40B4-BE49-F238E27FC236}">
                <a16:creationId xmlns:a16="http://schemas.microsoft.com/office/drawing/2014/main" id="{A7F070C1-D4B5-D46C-8C2D-A3BB49928879}"/>
              </a:ext>
            </a:extLst>
          </p:cNvPr>
          <p:cNvCxnSpPr>
            <a:cxnSpLocks/>
            <a:stCxn id="75" idx="3"/>
            <a:endCxn id="123" idx="3"/>
          </p:cNvCxnSpPr>
          <p:nvPr/>
        </p:nvCxnSpPr>
        <p:spPr>
          <a:xfrm flipV="1">
            <a:off x="3524160" y="2189003"/>
            <a:ext cx="4359172" cy="1607276"/>
          </a:xfrm>
          <a:prstGeom prst="bentConnector3">
            <a:avLst>
              <a:gd name="adj1" fmla="val 105244"/>
            </a:avLst>
          </a:prstGeom>
        </p:spPr>
        <p:style>
          <a:lnRef idx="1">
            <a:schemeClr val="accent1"/>
          </a:lnRef>
          <a:fillRef idx="0">
            <a:schemeClr val="accent1"/>
          </a:fillRef>
          <a:effectRef idx="0">
            <a:schemeClr val="accent1"/>
          </a:effectRef>
          <a:fontRef idx="minor">
            <a:schemeClr val="tx1"/>
          </a:fontRef>
        </p:style>
      </p:cxnSp>
      <p:cxnSp>
        <p:nvCxnSpPr>
          <p:cNvPr id="153" name="Connector: Elbow 152">
            <a:extLst>
              <a:ext uri="{FF2B5EF4-FFF2-40B4-BE49-F238E27FC236}">
                <a16:creationId xmlns:a16="http://schemas.microsoft.com/office/drawing/2014/main" id="{90A6F715-B942-BA02-5383-DBBBFD5E8FD6}"/>
              </a:ext>
            </a:extLst>
          </p:cNvPr>
          <p:cNvCxnSpPr>
            <a:cxnSpLocks/>
            <a:stCxn id="71" idx="3"/>
            <a:endCxn id="125" idx="1"/>
          </p:cNvCxnSpPr>
          <p:nvPr/>
        </p:nvCxnSpPr>
        <p:spPr>
          <a:xfrm flipV="1">
            <a:off x="3506527" y="2894718"/>
            <a:ext cx="2537630" cy="542159"/>
          </a:xfrm>
          <a:prstGeom prst="bentConnector3">
            <a:avLst>
              <a:gd name="adj1" fmla="val 62112"/>
            </a:avLst>
          </a:prstGeom>
        </p:spPr>
        <p:style>
          <a:lnRef idx="1">
            <a:schemeClr val="accent1"/>
          </a:lnRef>
          <a:fillRef idx="0">
            <a:schemeClr val="accent1"/>
          </a:fillRef>
          <a:effectRef idx="0">
            <a:schemeClr val="accent1"/>
          </a:effectRef>
          <a:fontRef idx="minor">
            <a:schemeClr val="tx1"/>
          </a:fontRef>
        </p:style>
      </p:cxnSp>
      <p:cxnSp>
        <p:nvCxnSpPr>
          <p:cNvPr id="156" name="Connector: Elbow 155">
            <a:extLst>
              <a:ext uri="{FF2B5EF4-FFF2-40B4-BE49-F238E27FC236}">
                <a16:creationId xmlns:a16="http://schemas.microsoft.com/office/drawing/2014/main" id="{2E0E5C11-F944-17CB-4057-FB591A802377}"/>
              </a:ext>
            </a:extLst>
          </p:cNvPr>
          <p:cNvCxnSpPr>
            <a:cxnSpLocks/>
            <a:endCxn id="8" idx="1"/>
          </p:cNvCxnSpPr>
          <p:nvPr/>
        </p:nvCxnSpPr>
        <p:spPr>
          <a:xfrm flipV="1">
            <a:off x="7878163" y="3215611"/>
            <a:ext cx="445129" cy="3084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3" name="Connector: Elbow 2">
            <a:extLst>
              <a:ext uri="{FF2B5EF4-FFF2-40B4-BE49-F238E27FC236}">
                <a16:creationId xmlns:a16="http://schemas.microsoft.com/office/drawing/2014/main" id="{99C9329F-BB15-C049-BA02-8A45609EFF4F}"/>
              </a:ext>
            </a:extLst>
          </p:cNvPr>
          <p:cNvCxnSpPr>
            <a:cxnSpLocks/>
            <a:stCxn id="97" idx="3"/>
            <a:endCxn id="12" idx="1"/>
          </p:cNvCxnSpPr>
          <p:nvPr/>
        </p:nvCxnSpPr>
        <p:spPr>
          <a:xfrm>
            <a:off x="4687824" y="4162742"/>
            <a:ext cx="3137978" cy="2395"/>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12" name="TextBox 11">
            <a:hlinkClick r:id="rId6" action="ppaction://hlinksldjump"/>
            <a:extLst>
              <a:ext uri="{FF2B5EF4-FFF2-40B4-BE49-F238E27FC236}">
                <a16:creationId xmlns:a16="http://schemas.microsoft.com/office/drawing/2014/main" id="{BEF58FA8-27AA-1D61-BBDD-EDF280CFB2E3}"/>
              </a:ext>
            </a:extLst>
          </p:cNvPr>
          <p:cNvSpPr txBox="1"/>
          <p:nvPr/>
        </p:nvSpPr>
        <p:spPr>
          <a:xfrm>
            <a:off x="7825802" y="4072804"/>
            <a:ext cx="1058623" cy="184666"/>
          </a:xfrm>
          <a:prstGeom prst="rect">
            <a:avLst/>
          </a:prstGeom>
          <a:noFill/>
          <a:ln>
            <a:solidFill>
              <a:schemeClr val="accent1"/>
            </a:solidFill>
          </a:ln>
        </p:spPr>
        <p:txBody>
          <a:bodyPr wrap="none" tIns="0" bIns="0" rtlCol="0">
            <a:spAutoFit/>
          </a:bodyPr>
          <a:lstStyle/>
          <a:p>
            <a:r>
              <a:rPr lang="en-US" sz="1200" dirty="0" err="1"/>
              <a:t>Opcode_MAA</a:t>
            </a:r>
            <a:endParaRPr lang="en-US" sz="1200" dirty="0"/>
          </a:p>
        </p:txBody>
      </p:sp>
      <p:grpSp>
        <p:nvGrpSpPr>
          <p:cNvPr id="16" name="Group 15">
            <a:extLst>
              <a:ext uri="{FF2B5EF4-FFF2-40B4-BE49-F238E27FC236}">
                <a16:creationId xmlns:a16="http://schemas.microsoft.com/office/drawing/2014/main" id="{62F4F6B0-8011-3E9E-D044-A502F4520388}"/>
              </a:ext>
            </a:extLst>
          </p:cNvPr>
          <p:cNvGrpSpPr/>
          <p:nvPr/>
        </p:nvGrpSpPr>
        <p:grpSpPr>
          <a:xfrm>
            <a:off x="2428281" y="4558124"/>
            <a:ext cx="1045479" cy="307777"/>
            <a:chOff x="1992327" y="3559447"/>
            <a:chExt cx="1045480" cy="307778"/>
          </a:xfrm>
        </p:grpSpPr>
        <p:sp>
          <p:nvSpPr>
            <p:cNvPr id="17" name="TextBox 16">
              <a:hlinkClick r:id="rId3" action="ppaction://hlinksldjump"/>
              <a:extLst>
                <a:ext uri="{FF2B5EF4-FFF2-40B4-BE49-F238E27FC236}">
                  <a16:creationId xmlns:a16="http://schemas.microsoft.com/office/drawing/2014/main" id="{D900B185-ABCA-D846-1F2D-6A09EAA6F94C}"/>
                </a:ext>
              </a:extLst>
            </p:cNvPr>
            <p:cNvSpPr txBox="1"/>
            <p:nvPr/>
          </p:nvSpPr>
          <p:spPr>
            <a:xfrm>
              <a:off x="1992327" y="3559447"/>
              <a:ext cx="1045480" cy="307778"/>
            </a:xfrm>
            <a:prstGeom prst="rect">
              <a:avLst/>
            </a:prstGeom>
            <a:noFill/>
            <a:ln>
              <a:solidFill>
                <a:schemeClr val="accent1"/>
              </a:solidFill>
            </a:ln>
          </p:spPr>
          <p:txBody>
            <a:bodyPr wrap="none" rtlCol="0">
              <a:spAutoFit/>
            </a:bodyPr>
            <a:lstStyle/>
            <a:p>
              <a:r>
                <a:rPr lang="en-US" sz="1400" dirty="0"/>
                <a:t>OpCode_10</a:t>
              </a:r>
            </a:p>
          </p:txBody>
        </p:sp>
        <p:cxnSp>
          <p:nvCxnSpPr>
            <p:cNvPr id="20" name="Straight Connector 19">
              <a:extLst>
                <a:ext uri="{FF2B5EF4-FFF2-40B4-BE49-F238E27FC236}">
                  <a16:creationId xmlns:a16="http://schemas.microsoft.com/office/drawing/2014/main" id="{D850499D-5DDC-712C-A266-76B4A22E52E3}"/>
                </a:ext>
              </a:extLst>
            </p:cNvPr>
            <p:cNvCxnSpPr>
              <a:cxnSpLocks/>
            </p:cNvCxnSpPr>
            <p:nvPr/>
          </p:nvCxnSpPr>
          <p:spPr>
            <a:xfrm>
              <a:off x="2080151" y="3626824"/>
              <a:ext cx="804299"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22" name="TextBox 21">
            <a:extLst>
              <a:ext uri="{FF2B5EF4-FFF2-40B4-BE49-F238E27FC236}">
                <a16:creationId xmlns:a16="http://schemas.microsoft.com/office/drawing/2014/main" id="{9F508E2D-F430-D027-A1D4-8D5E8A593144}"/>
              </a:ext>
            </a:extLst>
          </p:cNvPr>
          <p:cNvSpPr txBox="1"/>
          <p:nvPr/>
        </p:nvSpPr>
        <p:spPr>
          <a:xfrm>
            <a:off x="1146010" y="4557483"/>
            <a:ext cx="1184299" cy="261610"/>
          </a:xfrm>
          <a:prstGeom prst="rect">
            <a:avLst/>
          </a:prstGeom>
          <a:noFill/>
        </p:spPr>
        <p:txBody>
          <a:bodyPr wrap="square" rtlCol="0">
            <a:spAutoFit/>
          </a:bodyPr>
          <a:lstStyle/>
          <a:p>
            <a:pPr algn="r"/>
            <a:r>
              <a:rPr lang="en-US" sz="1100" dirty="0"/>
              <a:t>JSR</a:t>
            </a:r>
          </a:p>
        </p:txBody>
      </p:sp>
      <p:cxnSp>
        <p:nvCxnSpPr>
          <p:cNvPr id="23" name="Connector: Elbow 22">
            <a:extLst>
              <a:ext uri="{FF2B5EF4-FFF2-40B4-BE49-F238E27FC236}">
                <a16:creationId xmlns:a16="http://schemas.microsoft.com/office/drawing/2014/main" id="{E12F5534-B659-2BA4-E272-B905B6206DB0}"/>
              </a:ext>
            </a:extLst>
          </p:cNvPr>
          <p:cNvCxnSpPr>
            <a:cxnSpLocks/>
            <a:stCxn id="17" idx="3"/>
            <a:endCxn id="29" idx="1"/>
          </p:cNvCxnSpPr>
          <p:nvPr/>
        </p:nvCxnSpPr>
        <p:spPr>
          <a:xfrm flipV="1">
            <a:off x="3473760" y="4711239"/>
            <a:ext cx="1652249" cy="774"/>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D059D93C-C161-2C43-0282-4E81C844DCF2}"/>
              </a:ext>
            </a:extLst>
          </p:cNvPr>
          <p:cNvSpPr/>
          <p:nvPr/>
        </p:nvSpPr>
        <p:spPr>
          <a:xfrm>
            <a:off x="5126009" y="4670655"/>
            <a:ext cx="97972" cy="81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1541F346-CB56-CC24-E850-FD5E0FE5BE34}"/>
              </a:ext>
            </a:extLst>
          </p:cNvPr>
          <p:cNvSpPr/>
          <p:nvPr/>
        </p:nvSpPr>
        <p:spPr>
          <a:xfrm>
            <a:off x="5126009" y="4390174"/>
            <a:ext cx="97972" cy="81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8B9783A7-AEB8-AC57-F887-777546150B04}"/>
              </a:ext>
            </a:extLst>
          </p:cNvPr>
          <p:cNvSpPr/>
          <p:nvPr/>
        </p:nvSpPr>
        <p:spPr>
          <a:xfrm>
            <a:off x="5546195" y="4531799"/>
            <a:ext cx="97972" cy="81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Connector: Elbow 31">
            <a:extLst>
              <a:ext uri="{FF2B5EF4-FFF2-40B4-BE49-F238E27FC236}">
                <a16:creationId xmlns:a16="http://schemas.microsoft.com/office/drawing/2014/main" id="{08DCA976-7E8C-FF4F-8C12-66445E909A0F}"/>
              </a:ext>
            </a:extLst>
          </p:cNvPr>
          <p:cNvCxnSpPr>
            <a:cxnSpLocks/>
            <a:stCxn id="12" idx="1"/>
            <a:endCxn id="30" idx="1"/>
          </p:cNvCxnSpPr>
          <p:nvPr/>
        </p:nvCxnSpPr>
        <p:spPr>
          <a:xfrm rot="10800000" flipV="1">
            <a:off x="5126010" y="4165136"/>
            <a:ext cx="2699793" cy="265621"/>
          </a:xfrm>
          <a:prstGeom prst="bentConnector3">
            <a:avLst>
              <a:gd name="adj1" fmla="val 108467"/>
            </a:avLst>
          </a:prstGeom>
        </p:spPr>
        <p:style>
          <a:lnRef idx="1">
            <a:schemeClr val="accent1"/>
          </a:lnRef>
          <a:fillRef idx="0">
            <a:schemeClr val="accent1"/>
          </a:fillRef>
          <a:effectRef idx="0">
            <a:schemeClr val="accent1"/>
          </a:effectRef>
          <a:fontRef idx="minor">
            <a:schemeClr val="tx1"/>
          </a:fontRef>
        </p:style>
      </p:cxnSp>
      <p:grpSp>
        <p:nvGrpSpPr>
          <p:cNvPr id="42" name="Group 41">
            <a:extLst>
              <a:ext uri="{FF2B5EF4-FFF2-40B4-BE49-F238E27FC236}">
                <a16:creationId xmlns:a16="http://schemas.microsoft.com/office/drawing/2014/main" id="{DA12956D-ECCB-2B2E-1244-18B863544B17}"/>
              </a:ext>
            </a:extLst>
          </p:cNvPr>
          <p:cNvGrpSpPr/>
          <p:nvPr/>
        </p:nvGrpSpPr>
        <p:grpSpPr>
          <a:xfrm>
            <a:off x="7825802" y="4477886"/>
            <a:ext cx="1339149" cy="184666"/>
            <a:chOff x="5292243" y="4304787"/>
            <a:chExt cx="1339149" cy="184667"/>
          </a:xfrm>
        </p:grpSpPr>
        <p:sp>
          <p:nvSpPr>
            <p:cNvPr id="44" name="TextBox 43">
              <a:hlinkClick r:id="rId7" action="ppaction://hlinksldjump"/>
              <a:extLst>
                <a:ext uri="{FF2B5EF4-FFF2-40B4-BE49-F238E27FC236}">
                  <a16:creationId xmlns:a16="http://schemas.microsoft.com/office/drawing/2014/main" id="{878F8E80-F520-6F98-A47B-457873C02247}"/>
                </a:ext>
              </a:extLst>
            </p:cNvPr>
            <p:cNvSpPr txBox="1"/>
            <p:nvPr/>
          </p:nvSpPr>
          <p:spPr>
            <a:xfrm>
              <a:off x="5292243" y="4304787"/>
              <a:ext cx="1339149" cy="184667"/>
            </a:xfrm>
            <a:prstGeom prst="rect">
              <a:avLst/>
            </a:prstGeom>
            <a:noFill/>
            <a:ln>
              <a:solidFill>
                <a:schemeClr val="accent1"/>
              </a:solidFill>
            </a:ln>
          </p:spPr>
          <p:txBody>
            <a:bodyPr wrap="none" tIns="0" bIns="0" rtlCol="0">
              <a:spAutoFit/>
            </a:bodyPr>
            <a:lstStyle/>
            <a:p>
              <a:r>
                <a:rPr lang="en-US" sz="1200" dirty="0" err="1"/>
                <a:t>Opcode_MAA_JSR</a:t>
              </a:r>
              <a:endParaRPr lang="en-US" sz="1200" dirty="0"/>
            </a:p>
          </p:txBody>
        </p:sp>
        <p:cxnSp>
          <p:nvCxnSpPr>
            <p:cNvPr id="45" name="Straight Connector 44">
              <a:extLst>
                <a:ext uri="{FF2B5EF4-FFF2-40B4-BE49-F238E27FC236}">
                  <a16:creationId xmlns:a16="http://schemas.microsoft.com/office/drawing/2014/main" id="{8C4E5BC8-8E7F-E7CB-E5E0-75A0C5C51923}"/>
                </a:ext>
              </a:extLst>
            </p:cNvPr>
            <p:cNvCxnSpPr>
              <a:cxnSpLocks/>
            </p:cNvCxnSpPr>
            <p:nvPr/>
          </p:nvCxnSpPr>
          <p:spPr>
            <a:xfrm>
              <a:off x="5355775" y="4337825"/>
              <a:ext cx="546457"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46" name="Connector: Elbow 45">
            <a:extLst>
              <a:ext uri="{FF2B5EF4-FFF2-40B4-BE49-F238E27FC236}">
                <a16:creationId xmlns:a16="http://schemas.microsoft.com/office/drawing/2014/main" id="{444EC60D-7944-A84A-2229-1137F3406DD3}"/>
              </a:ext>
            </a:extLst>
          </p:cNvPr>
          <p:cNvCxnSpPr>
            <a:cxnSpLocks/>
            <a:stCxn id="31" idx="3"/>
            <a:endCxn id="44" idx="1"/>
          </p:cNvCxnSpPr>
          <p:nvPr/>
        </p:nvCxnSpPr>
        <p:spPr>
          <a:xfrm flipV="1">
            <a:off x="5644167" y="4570219"/>
            <a:ext cx="2181635" cy="2164"/>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pic>
        <p:nvPicPr>
          <p:cNvPr id="27" name="Picture 26" descr="Diagram&#10;&#10;Description automatically generated with low confidence">
            <a:extLst>
              <a:ext uri="{FF2B5EF4-FFF2-40B4-BE49-F238E27FC236}">
                <a16:creationId xmlns:a16="http://schemas.microsoft.com/office/drawing/2014/main" id="{0CF4BAEB-16FC-78B0-BE20-00828A523B0B}"/>
              </a:ext>
            </a:extLst>
          </p:cNvPr>
          <p:cNvPicPr>
            <a:picLocks noChangeAspect="1"/>
          </p:cNvPicPr>
          <p:nvPr/>
        </p:nvPicPr>
        <p:blipFill rotWithShape="1">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50000" t="19257" r="4045" b="-1180"/>
          <a:stretch/>
        </p:blipFill>
        <p:spPr>
          <a:xfrm>
            <a:off x="5055792" y="4352212"/>
            <a:ext cx="659287" cy="459531"/>
          </a:xfrm>
          <a:prstGeom prst="rect">
            <a:avLst/>
          </a:prstGeom>
        </p:spPr>
      </p:pic>
      <p:cxnSp>
        <p:nvCxnSpPr>
          <p:cNvPr id="41" name="Straight Connector 40">
            <a:extLst>
              <a:ext uri="{FF2B5EF4-FFF2-40B4-BE49-F238E27FC236}">
                <a16:creationId xmlns:a16="http://schemas.microsoft.com/office/drawing/2014/main" id="{34FC1D71-3620-446B-AD8C-D8CA4075D675}"/>
              </a:ext>
            </a:extLst>
          </p:cNvPr>
          <p:cNvCxnSpPr>
            <a:cxnSpLocks/>
          </p:cNvCxnSpPr>
          <p:nvPr/>
        </p:nvCxnSpPr>
        <p:spPr>
          <a:xfrm>
            <a:off x="7926474" y="4094624"/>
            <a:ext cx="546457"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hlinkClick r:id="rId8" action="ppaction://hlinksldjump"/>
            <a:extLst>
              <a:ext uri="{FF2B5EF4-FFF2-40B4-BE49-F238E27FC236}">
                <a16:creationId xmlns:a16="http://schemas.microsoft.com/office/drawing/2014/main" id="{7F0109D4-A651-8B89-080C-F40B6A1BFC1D}"/>
              </a:ext>
            </a:extLst>
          </p:cNvPr>
          <p:cNvSpPr txBox="1"/>
          <p:nvPr/>
        </p:nvSpPr>
        <p:spPr>
          <a:xfrm>
            <a:off x="8323292" y="3123278"/>
            <a:ext cx="2201565" cy="184666"/>
          </a:xfrm>
          <a:prstGeom prst="rect">
            <a:avLst/>
          </a:prstGeom>
          <a:noFill/>
          <a:ln>
            <a:solidFill>
              <a:schemeClr val="accent1"/>
            </a:solidFill>
          </a:ln>
        </p:spPr>
        <p:txBody>
          <a:bodyPr wrap="none" tIns="0" bIns="0" rtlCol="0">
            <a:spAutoFit/>
          </a:bodyPr>
          <a:lstStyle/>
          <a:p>
            <a:r>
              <a:rPr lang="en-US" sz="1200" dirty="0" err="1"/>
              <a:t>Opcode_MAG_LDW_SDW_MAA</a:t>
            </a:r>
            <a:endParaRPr lang="en-US" sz="1200" dirty="0"/>
          </a:p>
        </p:txBody>
      </p:sp>
      <p:cxnSp>
        <p:nvCxnSpPr>
          <p:cNvPr id="9" name="Connector: Elbow 8">
            <a:extLst>
              <a:ext uri="{FF2B5EF4-FFF2-40B4-BE49-F238E27FC236}">
                <a16:creationId xmlns:a16="http://schemas.microsoft.com/office/drawing/2014/main" id="{398B215C-14C7-D712-5172-B325F13CB216}"/>
              </a:ext>
            </a:extLst>
          </p:cNvPr>
          <p:cNvCxnSpPr>
            <a:cxnSpLocks/>
            <a:stCxn id="67" idx="3"/>
            <a:endCxn id="126" idx="1"/>
          </p:cNvCxnSpPr>
          <p:nvPr/>
        </p:nvCxnSpPr>
        <p:spPr>
          <a:xfrm flipV="1">
            <a:off x="3506527" y="2543677"/>
            <a:ext cx="2537630" cy="518046"/>
          </a:xfrm>
          <a:prstGeom prst="bentConnector3">
            <a:avLst>
              <a:gd name="adj1" fmla="val 56359"/>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28727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299B9-4B02-9D7C-96FB-24127763A402}"/>
              </a:ext>
            </a:extLst>
          </p:cNvPr>
          <p:cNvSpPr>
            <a:spLocks noGrp="1"/>
          </p:cNvSpPr>
          <p:nvPr>
            <p:ph type="ctrTitle"/>
          </p:nvPr>
        </p:nvSpPr>
        <p:spPr/>
        <p:txBody>
          <a:bodyPr/>
          <a:lstStyle/>
          <a:p>
            <a:r>
              <a:rPr lang="en-US" dirty="0" err="1"/>
              <a:t>ARSrc</a:t>
            </a:r>
            <a:r>
              <a:rPr lang="en-US" dirty="0"/>
              <a:t> Operand Decode v2.0</a:t>
            </a:r>
          </a:p>
        </p:txBody>
      </p:sp>
      <p:sp>
        <p:nvSpPr>
          <p:cNvPr id="3" name="Rectangle 2">
            <a:hlinkClick r:id="rId2" action="ppaction://hlinksldjump"/>
            <a:extLst>
              <a:ext uri="{FF2B5EF4-FFF2-40B4-BE49-F238E27FC236}">
                <a16:creationId xmlns:a16="http://schemas.microsoft.com/office/drawing/2014/main" id="{2C6B1308-4B27-BECF-15EB-8A7BE0697717}"/>
              </a:ext>
            </a:extLst>
          </p:cNvPr>
          <p:cNvSpPr/>
          <p:nvPr/>
        </p:nvSpPr>
        <p:spPr>
          <a:xfrm>
            <a:off x="9954500" y="3404600"/>
            <a:ext cx="955930" cy="15368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100" dirty="0" err="1"/>
              <a:t>ARSrc</a:t>
            </a:r>
            <a:r>
              <a:rPr lang="en-US" sz="1100" dirty="0"/>
              <a:t> [1:0]</a:t>
            </a:r>
          </a:p>
        </p:txBody>
      </p:sp>
      <p:grpSp>
        <p:nvGrpSpPr>
          <p:cNvPr id="10" name="Group 9">
            <a:extLst>
              <a:ext uri="{FF2B5EF4-FFF2-40B4-BE49-F238E27FC236}">
                <a16:creationId xmlns:a16="http://schemas.microsoft.com/office/drawing/2014/main" id="{5B29F761-55C7-4FF4-26E0-C98E63B91E0C}"/>
              </a:ext>
            </a:extLst>
          </p:cNvPr>
          <p:cNvGrpSpPr/>
          <p:nvPr/>
        </p:nvGrpSpPr>
        <p:grpSpPr>
          <a:xfrm>
            <a:off x="6336058" y="2730476"/>
            <a:ext cx="2934639" cy="2304741"/>
            <a:chOff x="4856171" y="2730476"/>
            <a:chExt cx="2934639" cy="2304741"/>
          </a:xfrm>
        </p:grpSpPr>
        <p:pic>
          <p:nvPicPr>
            <p:cNvPr id="8" name="Picture 7" descr="A diagram of a circuit board&#10;&#10;AI-generated content may be incorrect.">
              <a:extLst>
                <a:ext uri="{FF2B5EF4-FFF2-40B4-BE49-F238E27FC236}">
                  <a16:creationId xmlns:a16="http://schemas.microsoft.com/office/drawing/2014/main" id="{BD4857BA-959F-21B0-EF5F-3AB4E08BB883}"/>
                </a:ext>
              </a:extLst>
            </p:cNvPr>
            <p:cNvPicPr>
              <a:picLocks noChangeAspect="1"/>
            </p:cNvPicPr>
            <p:nvPr/>
          </p:nvPicPr>
          <p:blipFill>
            <a:blip r:embed="rId3"/>
            <a:stretch>
              <a:fillRect/>
            </a:stretch>
          </p:blipFill>
          <p:spPr>
            <a:xfrm>
              <a:off x="4856171" y="2730476"/>
              <a:ext cx="2934639" cy="2304741"/>
            </a:xfrm>
            <a:prstGeom prst="rect">
              <a:avLst/>
            </a:prstGeom>
          </p:spPr>
        </p:pic>
        <p:sp>
          <p:nvSpPr>
            <p:cNvPr id="9" name="TextBox 8">
              <a:extLst>
                <a:ext uri="{FF2B5EF4-FFF2-40B4-BE49-F238E27FC236}">
                  <a16:creationId xmlns:a16="http://schemas.microsoft.com/office/drawing/2014/main" id="{D5E676CF-ED0E-DC5C-FD81-5034A215201F}"/>
                </a:ext>
              </a:extLst>
            </p:cNvPr>
            <p:cNvSpPr txBox="1"/>
            <p:nvPr/>
          </p:nvSpPr>
          <p:spPr>
            <a:xfrm rot="5400000">
              <a:off x="5841726" y="3495873"/>
              <a:ext cx="963534" cy="307777"/>
            </a:xfrm>
            <a:prstGeom prst="rect">
              <a:avLst/>
            </a:prstGeom>
            <a:noFill/>
          </p:spPr>
          <p:txBody>
            <a:bodyPr wrap="none" rtlCol="0">
              <a:spAutoFit/>
            </a:bodyPr>
            <a:lstStyle/>
            <a:p>
              <a:r>
                <a:rPr lang="en-US" sz="1400" dirty="0"/>
                <a:t>157: </a:t>
              </a:r>
              <a:r>
                <a:rPr lang="en-US" sz="1400" dirty="0" err="1"/>
                <a:t>ARSrc</a:t>
              </a:r>
              <a:endParaRPr lang="en-US" sz="1400" dirty="0"/>
            </a:p>
          </p:txBody>
        </p:sp>
      </p:grpSp>
      <p:cxnSp>
        <p:nvCxnSpPr>
          <p:cNvPr id="14" name="Connector: Elbow 13">
            <a:extLst>
              <a:ext uri="{FF2B5EF4-FFF2-40B4-BE49-F238E27FC236}">
                <a16:creationId xmlns:a16="http://schemas.microsoft.com/office/drawing/2014/main" id="{3B1856A3-0411-64E4-0A75-D6071B336C5D}"/>
              </a:ext>
            </a:extLst>
          </p:cNvPr>
          <p:cNvCxnSpPr>
            <a:cxnSpLocks/>
            <a:endCxn id="3" idx="1"/>
          </p:cNvCxnSpPr>
          <p:nvPr/>
        </p:nvCxnSpPr>
        <p:spPr>
          <a:xfrm>
            <a:off x="8367966" y="3376558"/>
            <a:ext cx="1586534" cy="104884"/>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8F021240-E09C-3B2B-D6E9-B7EEE9260642}"/>
              </a:ext>
            </a:extLst>
          </p:cNvPr>
          <p:cNvCxnSpPr>
            <a:cxnSpLocks/>
            <a:endCxn id="3" idx="1"/>
          </p:cNvCxnSpPr>
          <p:nvPr/>
        </p:nvCxnSpPr>
        <p:spPr>
          <a:xfrm flipV="1">
            <a:off x="8367966" y="3481442"/>
            <a:ext cx="1586534" cy="76842"/>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D9EABDE0-D23F-D961-1ABB-9809BBA29276}"/>
              </a:ext>
            </a:extLst>
          </p:cNvPr>
          <p:cNvSpPr txBox="1"/>
          <p:nvPr/>
        </p:nvSpPr>
        <p:spPr>
          <a:xfrm>
            <a:off x="4842960" y="1351918"/>
            <a:ext cx="1056700" cy="261610"/>
          </a:xfrm>
          <a:prstGeom prst="rect">
            <a:avLst/>
          </a:prstGeom>
          <a:noFill/>
        </p:spPr>
        <p:txBody>
          <a:bodyPr wrap="none" rtlCol="0">
            <a:spAutoFit/>
          </a:bodyPr>
          <a:lstStyle/>
          <a:p>
            <a:r>
              <a:rPr lang="en-US" sz="1050" dirty="0" err="1"/>
              <a:t>Instr</a:t>
            </a:r>
            <a:r>
              <a:rPr lang="en-US" sz="1050" dirty="0"/>
              <a:t>[5],</a:t>
            </a:r>
            <a:r>
              <a:rPr lang="en-US" sz="1050" dirty="0" err="1"/>
              <a:t>Instr</a:t>
            </a:r>
            <a:r>
              <a:rPr lang="en-US" sz="1050" dirty="0"/>
              <a:t>[1]</a:t>
            </a:r>
          </a:p>
        </p:txBody>
      </p:sp>
      <p:sp>
        <p:nvSpPr>
          <p:cNvPr id="21" name="TextBox 20">
            <a:extLst>
              <a:ext uri="{FF2B5EF4-FFF2-40B4-BE49-F238E27FC236}">
                <a16:creationId xmlns:a16="http://schemas.microsoft.com/office/drawing/2014/main" id="{91D4102C-7135-C100-4C2B-29D3846B4379}"/>
              </a:ext>
            </a:extLst>
          </p:cNvPr>
          <p:cNvSpPr txBox="1"/>
          <p:nvPr/>
        </p:nvSpPr>
        <p:spPr>
          <a:xfrm>
            <a:off x="543431" y="2120510"/>
            <a:ext cx="3356810" cy="3323987"/>
          </a:xfrm>
          <a:prstGeom prst="rect">
            <a:avLst/>
          </a:prstGeom>
          <a:solidFill>
            <a:schemeClr val="accent5">
              <a:lumMod val="20000"/>
              <a:lumOff val="80000"/>
            </a:schemeClr>
          </a:solidFill>
        </p:spPr>
        <p:txBody>
          <a:bodyPr wrap="square" rtlCol="0">
            <a:spAutoFit/>
          </a:bodyPr>
          <a:lstStyle/>
          <a:p>
            <a:r>
              <a:rPr lang="en-US" sz="1400" dirty="0" err="1"/>
              <a:t>ARSrc</a:t>
            </a:r>
            <a:r>
              <a:rPr lang="en-US" sz="1400" dirty="0"/>
              <a:t> Decode:</a:t>
            </a:r>
          </a:p>
          <a:p>
            <a:pPr marL="342900" indent="-342900">
              <a:buAutoNum type="arabicPeriod"/>
            </a:pPr>
            <a:r>
              <a:rPr lang="en-US" sz="1400" dirty="0"/>
              <a:t>If opcode is of (AR </a:t>
            </a:r>
            <a:r>
              <a:rPr lang="en-US" sz="1400" dirty="0">
                <a:sym typeface="Wingdings" panose="05000000000000000000" pitchFamily="2" charset="2"/>
              </a:rPr>
              <a:t> GR) (Rd = </a:t>
            </a:r>
            <a:r>
              <a:rPr lang="en-US" sz="1400" dirty="0" err="1">
                <a:sym typeface="Wingdings" panose="05000000000000000000" pitchFamily="2" charset="2"/>
              </a:rPr>
              <a:t>ARSrc</a:t>
            </a:r>
            <a:r>
              <a:rPr lang="en-US" sz="1400" dirty="0">
                <a:sym typeface="Wingdings" panose="05000000000000000000" pitchFamily="2" charset="2"/>
              </a:rPr>
              <a:t>[L/H]) instruction, then </a:t>
            </a:r>
            <a:r>
              <a:rPr lang="en-US" sz="1400" dirty="0" err="1">
                <a:sym typeface="Wingdings" panose="05000000000000000000" pitchFamily="2" charset="2"/>
              </a:rPr>
              <a:t>ARSrc</a:t>
            </a:r>
            <a:r>
              <a:rPr lang="en-US" sz="1400" dirty="0">
                <a:sym typeface="Wingdings" panose="05000000000000000000" pitchFamily="2" charset="2"/>
              </a:rPr>
              <a:t> is in bits 9:8.</a:t>
            </a:r>
          </a:p>
          <a:p>
            <a:pPr marL="342900" indent="-342900">
              <a:buAutoNum type="arabicPeriod"/>
            </a:pPr>
            <a:r>
              <a:rPr lang="en-US" sz="1400" dirty="0">
                <a:sym typeface="Wingdings" panose="05000000000000000000" pitchFamily="2" charset="2"/>
              </a:rPr>
              <a:t>Otherwise, </a:t>
            </a:r>
            <a:r>
              <a:rPr lang="en-US" sz="1400" dirty="0" err="1">
                <a:sym typeface="Wingdings" panose="05000000000000000000" pitchFamily="2" charset="2"/>
              </a:rPr>
              <a:t>ARSrc</a:t>
            </a:r>
            <a:r>
              <a:rPr lang="en-US" sz="1400" dirty="0">
                <a:sym typeface="Wingdings" panose="05000000000000000000" pitchFamily="2" charset="2"/>
              </a:rPr>
              <a:t> is a function of bits 5 and the opcode (maybe the opcode’ least significant bit?)</a:t>
            </a:r>
          </a:p>
          <a:p>
            <a:r>
              <a:rPr lang="en-US" sz="1400" dirty="0">
                <a:sym typeface="Wingdings" panose="05000000000000000000" pitchFamily="2" charset="2"/>
              </a:rPr>
              <a:t>Instructions that specify </a:t>
            </a:r>
            <a:r>
              <a:rPr lang="en-US" sz="1400" dirty="0" err="1">
                <a:sym typeface="Wingdings" panose="05000000000000000000" pitchFamily="2" charset="2"/>
              </a:rPr>
              <a:t>ARSrc</a:t>
            </a:r>
            <a:r>
              <a:rPr lang="en-US" sz="1400" dirty="0">
                <a:sym typeface="Wingdings" panose="05000000000000000000" pitchFamily="2" charset="2"/>
              </a:rPr>
              <a:t> with 1 bit in bit 5 need to get the other bit from the opcode; if we always assign these two-opcode instructions opcodes as [4-bit opcode x][0/1], then we can get the other </a:t>
            </a:r>
            <a:r>
              <a:rPr lang="en-US" sz="1400" dirty="0" err="1">
                <a:sym typeface="Wingdings" panose="05000000000000000000" pitchFamily="2" charset="2"/>
              </a:rPr>
              <a:t>ARSrc</a:t>
            </a:r>
            <a:r>
              <a:rPr lang="en-US" sz="1400" dirty="0">
                <a:sym typeface="Wingdings" panose="05000000000000000000" pitchFamily="2" charset="2"/>
              </a:rPr>
              <a:t> bit from the least significant bit of the opcode, i.e., in these instructions </a:t>
            </a:r>
            <a:r>
              <a:rPr lang="en-US" sz="1400" dirty="0" err="1">
                <a:sym typeface="Wingdings" panose="05000000000000000000" pitchFamily="2" charset="2"/>
              </a:rPr>
              <a:t>ARSrc</a:t>
            </a:r>
            <a:r>
              <a:rPr lang="en-US" sz="1400" dirty="0">
                <a:sym typeface="Wingdings" panose="05000000000000000000" pitchFamily="2" charset="2"/>
              </a:rPr>
              <a:t> is {</a:t>
            </a:r>
            <a:r>
              <a:rPr lang="en-US" sz="1400" dirty="0" err="1">
                <a:sym typeface="Wingdings" panose="05000000000000000000" pitchFamily="2" charset="2"/>
              </a:rPr>
              <a:t>Instr</a:t>
            </a:r>
            <a:r>
              <a:rPr lang="en-US" sz="1400" dirty="0">
                <a:sym typeface="Wingdings" panose="05000000000000000000" pitchFamily="2" charset="2"/>
              </a:rPr>
              <a:t>[5], </a:t>
            </a:r>
            <a:r>
              <a:rPr lang="en-US" sz="1400" dirty="0" err="1">
                <a:sym typeface="Wingdings" panose="05000000000000000000" pitchFamily="2" charset="2"/>
              </a:rPr>
              <a:t>Instr</a:t>
            </a:r>
            <a:r>
              <a:rPr lang="en-US" sz="1400" dirty="0">
                <a:sym typeface="Wingdings" panose="05000000000000000000" pitchFamily="2" charset="2"/>
              </a:rPr>
              <a:t>[0]} (in bits 5 and 0)</a:t>
            </a:r>
            <a:endParaRPr lang="en-US" sz="1400" dirty="0"/>
          </a:p>
        </p:txBody>
      </p:sp>
      <p:sp>
        <p:nvSpPr>
          <p:cNvPr id="22" name="TextBox 21">
            <a:extLst>
              <a:ext uri="{FF2B5EF4-FFF2-40B4-BE49-F238E27FC236}">
                <a16:creationId xmlns:a16="http://schemas.microsoft.com/office/drawing/2014/main" id="{CD3C1750-042F-1158-EB60-49F60EECC376}"/>
              </a:ext>
            </a:extLst>
          </p:cNvPr>
          <p:cNvSpPr txBox="1"/>
          <p:nvPr/>
        </p:nvSpPr>
        <p:spPr>
          <a:xfrm>
            <a:off x="4871173" y="1751178"/>
            <a:ext cx="1056700" cy="261610"/>
          </a:xfrm>
          <a:prstGeom prst="rect">
            <a:avLst/>
          </a:prstGeom>
          <a:noFill/>
        </p:spPr>
        <p:txBody>
          <a:bodyPr wrap="none" rtlCol="0">
            <a:spAutoFit/>
          </a:bodyPr>
          <a:lstStyle/>
          <a:p>
            <a:r>
              <a:rPr lang="en-US" sz="1050" dirty="0" err="1"/>
              <a:t>Instr</a:t>
            </a:r>
            <a:r>
              <a:rPr lang="en-US" sz="1050" dirty="0"/>
              <a:t>[9],</a:t>
            </a:r>
            <a:r>
              <a:rPr lang="en-US" sz="1050" dirty="0" err="1"/>
              <a:t>Instr</a:t>
            </a:r>
            <a:r>
              <a:rPr lang="en-US" sz="1050" dirty="0"/>
              <a:t>[8]</a:t>
            </a:r>
          </a:p>
        </p:txBody>
      </p:sp>
      <p:sp>
        <p:nvSpPr>
          <p:cNvPr id="24" name="TextBox 23">
            <a:hlinkClick r:id="rId4" action="ppaction://hlinksldjump"/>
            <a:extLst>
              <a:ext uri="{FF2B5EF4-FFF2-40B4-BE49-F238E27FC236}">
                <a16:creationId xmlns:a16="http://schemas.microsoft.com/office/drawing/2014/main" id="{96FE8F99-1FD0-D2DC-595A-B3D7401AFC23}"/>
              </a:ext>
            </a:extLst>
          </p:cNvPr>
          <p:cNvSpPr txBox="1"/>
          <p:nvPr/>
        </p:nvSpPr>
        <p:spPr>
          <a:xfrm>
            <a:off x="5156939" y="2945070"/>
            <a:ext cx="1130181" cy="184666"/>
          </a:xfrm>
          <a:prstGeom prst="rect">
            <a:avLst/>
          </a:prstGeom>
          <a:noFill/>
          <a:ln>
            <a:solidFill>
              <a:schemeClr val="accent1"/>
            </a:solidFill>
          </a:ln>
        </p:spPr>
        <p:txBody>
          <a:bodyPr wrap="none" tIns="0" bIns="0" rtlCol="0">
            <a:spAutoFit/>
          </a:bodyPr>
          <a:lstStyle/>
          <a:p>
            <a:r>
              <a:rPr lang="en-US" sz="1200" dirty="0" err="1"/>
              <a:t>Instr</a:t>
            </a:r>
            <a:r>
              <a:rPr lang="en-US" sz="1200" dirty="0"/>
              <a:t>[9],</a:t>
            </a:r>
            <a:r>
              <a:rPr lang="en-US" sz="1200" dirty="0" err="1"/>
              <a:t>Instr</a:t>
            </a:r>
            <a:r>
              <a:rPr lang="en-US" sz="1200" dirty="0"/>
              <a:t>[8]</a:t>
            </a:r>
          </a:p>
        </p:txBody>
      </p:sp>
      <p:sp>
        <p:nvSpPr>
          <p:cNvPr id="26" name="TextBox 25">
            <a:hlinkClick r:id="rId4" action="ppaction://hlinksldjump"/>
            <a:extLst>
              <a:ext uri="{FF2B5EF4-FFF2-40B4-BE49-F238E27FC236}">
                <a16:creationId xmlns:a16="http://schemas.microsoft.com/office/drawing/2014/main" id="{F00C941B-1424-4EE5-5FEE-8C4A2B6B4211}"/>
              </a:ext>
            </a:extLst>
          </p:cNvPr>
          <p:cNvSpPr txBox="1"/>
          <p:nvPr/>
        </p:nvSpPr>
        <p:spPr>
          <a:xfrm>
            <a:off x="5156939" y="3792548"/>
            <a:ext cx="1130181" cy="184666"/>
          </a:xfrm>
          <a:prstGeom prst="rect">
            <a:avLst/>
          </a:prstGeom>
          <a:noFill/>
          <a:ln>
            <a:solidFill>
              <a:schemeClr val="accent1"/>
            </a:solidFill>
          </a:ln>
        </p:spPr>
        <p:txBody>
          <a:bodyPr wrap="none" tIns="0" bIns="0" rtlCol="0">
            <a:spAutoFit/>
          </a:bodyPr>
          <a:lstStyle/>
          <a:p>
            <a:r>
              <a:rPr lang="en-US" sz="1200" dirty="0" err="1"/>
              <a:t>Instr</a:t>
            </a:r>
            <a:r>
              <a:rPr lang="en-US" sz="1200" dirty="0"/>
              <a:t>[5],</a:t>
            </a:r>
            <a:r>
              <a:rPr lang="en-US" sz="1200" dirty="0" err="1"/>
              <a:t>Instr</a:t>
            </a:r>
            <a:r>
              <a:rPr lang="en-US" sz="1200" dirty="0"/>
              <a:t>[1]</a:t>
            </a:r>
          </a:p>
        </p:txBody>
      </p:sp>
      <p:cxnSp>
        <p:nvCxnSpPr>
          <p:cNvPr id="28" name="Connector: Elbow 27">
            <a:extLst>
              <a:ext uri="{FF2B5EF4-FFF2-40B4-BE49-F238E27FC236}">
                <a16:creationId xmlns:a16="http://schemas.microsoft.com/office/drawing/2014/main" id="{E5119F70-6ED5-BBA5-1E3E-84F64B8F9BEB}"/>
              </a:ext>
            </a:extLst>
          </p:cNvPr>
          <p:cNvCxnSpPr>
            <a:stCxn id="24" idx="3"/>
          </p:cNvCxnSpPr>
          <p:nvPr/>
        </p:nvCxnSpPr>
        <p:spPr>
          <a:xfrm flipV="1">
            <a:off x="6287120" y="2947737"/>
            <a:ext cx="661120" cy="89666"/>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4E61CB31-3A53-B60B-C8EC-3D1F08FD3751}"/>
              </a:ext>
            </a:extLst>
          </p:cNvPr>
          <p:cNvCxnSpPr>
            <a:cxnSpLocks/>
            <a:stCxn id="24" idx="3"/>
          </p:cNvCxnSpPr>
          <p:nvPr/>
        </p:nvCxnSpPr>
        <p:spPr>
          <a:xfrm>
            <a:off x="6287120" y="3037403"/>
            <a:ext cx="661120" cy="95000"/>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E8A478A8-5AB4-2348-9877-8FB333E4A760}"/>
              </a:ext>
            </a:extLst>
          </p:cNvPr>
          <p:cNvCxnSpPr>
            <a:stCxn id="26" idx="3"/>
          </p:cNvCxnSpPr>
          <p:nvPr/>
        </p:nvCxnSpPr>
        <p:spPr>
          <a:xfrm flipV="1">
            <a:off x="6287120" y="3782503"/>
            <a:ext cx="661120" cy="102378"/>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265F4537-0FE2-0E4D-BE8E-5966020A1580}"/>
              </a:ext>
            </a:extLst>
          </p:cNvPr>
          <p:cNvCxnSpPr>
            <a:cxnSpLocks/>
            <a:stCxn id="26" idx="3"/>
          </p:cNvCxnSpPr>
          <p:nvPr/>
        </p:nvCxnSpPr>
        <p:spPr>
          <a:xfrm>
            <a:off x="6287120" y="3884881"/>
            <a:ext cx="678568" cy="92333"/>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110C00A2-611C-1853-2766-EF747760FAFE}"/>
              </a:ext>
            </a:extLst>
          </p:cNvPr>
          <p:cNvSpPr txBox="1"/>
          <p:nvPr/>
        </p:nvSpPr>
        <p:spPr>
          <a:xfrm>
            <a:off x="6355694" y="4737511"/>
            <a:ext cx="320922" cy="261610"/>
          </a:xfrm>
          <a:prstGeom prst="rect">
            <a:avLst/>
          </a:prstGeom>
          <a:noFill/>
        </p:spPr>
        <p:txBody>
          <a:bodyPr wrap="none" rtlCol="0">
            <a:spAutoFit/>
          </a:bodyPr>
          <a:lstStyle/>
          <a:p>
            <a:r>
              <a:rPr lang="en-US" sz="1050" dirty="0"/>
              <a:t>0v</a:t>
            </a:r>
          </a:p>
        </p:txBody>
      </p:sp>
      <p:cxnSp>
        <p:nvCxnSpPr>
          <p:cNvPr id="43" name="Connector: Elbow 42">
            <a:extLst>
              <a:ext uri="{FF2B5EF4-FFF2-40B4-BE49-F238E27FC236}">
                <a16:creationId xmlns:a16="http://schemas.microsoft.com/office/drawing/2014/main" id="{282E3944-0493-9EB8-1E27-E2F0C7FFB9E6}"/>
              </a:ext>
            </a:extLst>
          </p:cNvPr>
          <p:cNvCxnSpPr>
            <a:cxnSpLocks/>
            <a:stCxn id="38" idx="3"/>
          </p:cNvCxnSpPr>
          <p:nvPr/>
        </p:nvCxnSpPr>
        <p:spPr>
          <a:xfrm>
            <a:off x="6676616" y="4868316"/>
            <a:ext cx="524284" cy="12700"/>
          </a:xfrm>
          <a:prstGeom prst="bentConnector3">
            <a:avLst/>
          </a:prstGeom>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BC706211-3253-0F52-BE75-D0BF21A3FAC6}"/>
              </a:ext>
            </a:extLst>
          </p:cNvPr>
          <p:cNvGrpSpPr/>
          <p:nvPr/>
        </p:nvGrpSpPr>
        <p:grpSpPr>
          <a:xfrm>
            <a:off x="5704875" y="4601289"/>
            <a:ext cx="971741" cy="161583"/>
            <a:chOff x="1992327" y="3569991"/>
            <a:chExt cx="971741" cy="283170"/>
          </a:xfrm>
        </p:grpSpPr>
        <p:sp>
          <p:nvSpPr>
            <p:cNvPr id="12" name="TextBox 11">
              <a:hlinkClick r:id="rId4" action="ppaction://hlinksldjump"/>
              <a:extLst>
                <a:ext uri="{FF2B5EF4-FFF2-40B4-BE49-F238E27FC236}">
                  <a16:creationId xmlns:a16="http://schemas.microsoft.com/office/drawing/2014/main" id="{A530EECC-1A66-FDCD-BB06-11F83BE92488}"/>
                </a:ext>
              </a:extLst>
            </p:cNvPr>
            <p:cNvSpPr txBox="1"/>
            <p:nvPr/>
          </p:nvSpPr>
          <p:spPr>
            <a:xfrm>
              <a:off x="1992327" y="3569991"/>
              <a:ext cx="971741" cy="283170"/>
            </a:xfrm>
            <a:prstGeom prst="rect">
              <a:avLst/>
            </a:prstGeom>
            <a:noFill/>
            <a:ln>
              <a:solidFill>
                <a:schemeClr val="accent1"/>
              </a:solidFill>
            </a:ln>
          </p:spPr>
          <p:txBody>
            <a:bodyPr wrap="none" tIns="0" bIns="0" rtlCol="0">
              <a:spAutoFit/>
            </a:bodyPr>
            <a:lstStyle/>
            <a:p>
              <a:r>
                <a:rPr lang="en-US" sz="1050" dirty="0" err="1"/>
                <a:t>OpCode_MAG</a:t>
              </a:r>
              <a:endParaRPr lang="en-US" sz="1050" dirty="0"/>
            </a:p>
          </p:txBody>
        </p:sp>
        <p:cxnSp>
          <p:nvCxnSpPr>
            <p:cNvPr id="13" name="Straight Connector 12">
              <a:extLst>
                <a:ext uri="{FF2B5EF4-FFF2-40B4-BE49-F238E27FC236}">
                  <a16:creationId xmlns:a16="http://schemas.microsoft.com/office/drawing/2014/main" id="{487137E3-617D-B65E-B495-2F0D67CC643D}"/>
                </a:ext>
              </a:extLst>
            </p:cNvPr>
            <p:cNvCxnSpPr>
              <a:cxnSpLocks/>
            </p:cNvCxnSpPr>
            <p:nvPr/>
          </p:nvCxnSpPr>
          <p:spPr>
            <a:xfrm>
              <a:off x="2080151" y="3607040"/>
              <a:ext cx="7315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 name="Straight Connector 16">
            <a:extLst>
              <a:ext uri="{FF2B5EF4-FFF2-40B4-BE49-F238E27FC236}">
                <a16:creationId xmlns:a16="http://schemas.microsoft.com/office/drawing/2014/main" id="{D6852510-B728-5EC5-701F-DC93A8FB8781}"/>
              </a:ext>
            </a:extLst>
          </p:cNvPr>
          <p:cNvCxnSpPr/>
          <p:nvPr/>
        </p:nvCxnSpPr>
        <p:spPr>
          <a:xfrm>
            <a:off x="6671508" y="4680285"/>
            <a:ext cx="547437"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49652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37">
            <a:extLst>
              <a:ext uri="{FF2B5EF4-FFF2-40B4-BE49-F238E27FC236}">
                <a16:creationId xmlns:a16="http://schemas.microsoft.com/office/drawing/2014/main" id="{3453A138-0E34-17B0-1965-FBEA8D72A381}"/>
              </a:ext>
            </a:extLst>
          </p:cNvPr>
          <p:cNvSpPr>
            <a:spLocks noGrp="1"/>
          </p:cNvSpPr>
          <p:nvPr>
            <p:ph type="ctrTitle"/>
          </p:nvPr>
        </p:nvSpPr>
        <p:spPr/>
        <p:txBody>
          <a:bodyPr/>
          <a:lstStyle/>
          <a:p>
            <a:r>
              <a:rPr lang="en-US" dirty="0">
                <a:latin typeface="+mj-lt"/>
              </a:rPr>
              <a:t>Address Map Decoder (v2.0)</a:t>
            </a:r>
            <a:endParaRPr lang="en-US" dirty="0"/>
          </a:p>
        </p:txBody>
      </p:sp>
      <p:graphicFrame>
        <p:nvGraphicFramePr>
          <p:cNvPr id="4" name="Table 3">
            <a:extLst>
              <a:ext uri="{FF2B5EF4-FFF2-40B4-BE49-F238E27FC236}">
                <a16:creationId xmlns:a16="http://schemas.microsoft.com/office/drawing/2014/main" id="{DA57C668-8828-827B-8959-2EA449B12C9B}"/>
              </a:ext>
            </a:extLst>
          </p:cNvPr>
          <p:cNvGraphicFramePr>
            <a:graphicFrameLocks noGrp="1"/>
          </p:cNvGraphicFramePr>
          <p:nvPr>
            <p:extLst>
              <p:ext uri="{D42A27DB-BD31-4B8C-83A1-F6EECF244321}">
                <p14:modId xmlns:p14="http://schemas.microsoft.com/office/powerpoint/2010/main" val="1037175021"/>
              </p:ext>
            </p:extLst>
          </p:nvPr>
        </p:nvGraphicFramePr>
        <p:xfrm>
          <a:off x="7819005" y="2168507"/>
          <a:ext cx="1566660" cy="2194560"/>
        </p:xfrm>
        <a:graphic>
          <a:graphicData uri="http://schemas.openxmlformats.org/drawingml/2006/table">
            <a:tbl>
              <a:tblPr bandRow="1">
                <a:tableStyleId>{5C22544A-7EE6-4342-B048-85BDC9FD1C3A}</a:tableStyleId>
              </a:tblPr>
              <a:tblGrid>
                <a:gridCol w="962407">
                  <a:extLst>
                    <a:ext uri="{9D8B030D-6E8A-4147-A177-3AD203B41FA5}">
                      <a16:colId xmlns:a16="http://schemas.microsoft.com/office/drawing/2014/main" val="3863887044"/>
                    </a:ext>
                  </a:extLst>
                </a:gridCol>
                <a:gridCol w="604253">
                  <a:extLst>
                    <a:ext uri="{9D8B030D-6E8A-4147-A177-3AD203B41FA5}">
                      <a16:colId xmlns:a16="http://schemas.microsoft.com/office/drawing/2014/main" val="944774736"/>
                    </a:ext>
                  </a:extLst>
                </a:gridCol>
              </a:tblGrid>
              <a:tr h="274320">
                <a:tc>
                  <a:txBody>
                    <a:bodyPr/>
                    <a:lstStyle/>
                    <a:p>
                      <a:r>
                        <a:rPr lang="en-US" sz="1200"/>
                        <a:t>0000 – 1FFF</a:t>
                      </a:r>
                    </a:p>
                  </a:txBody>
                  <a:tcPr/>
                </a:tc>
                <a:tc>
                  <a:txBody>
                    <a:bodyPr/>
                    <a:lstStyle/>
                    <a:p>
                      <a:r>
                        <a:rPr lang="en-US" sz="1200"/>
                        <a:t>ROM</a:t>
                      </a:r>
                    </a:p>
                  </a:txBody>
                  <a:tcPr/>
                </a:tc>
                <a:extLst>
                  <a:ext uri="{0D108BD9-81ED-4DB2-BD59-A6C34878D82A}">
                    <a16:rowId xmlns:a16="http://schemas.microsoft.com/office/drawing/2014/main" val="1714091076"/>
                  </a:ext>
                </a:extLst>
              </a:tr>
              <a:tr h="274320">
                <a:tc>
                  <a:txBody>
                    <a:bodyPr/>
                    <a:lstStyle/>
                    <a:p>
                      <a:r>
                        <a:rPr lang="en-US" sz="1200"/>
                        <a:t>2000 – 3FFF</a:t>
                      </a:r>
                    </a:p>
                  </a:txBody>
                  <a:tcPr/>
                </a:tc>
                <a:tc rowSpan="6">
                  <a:txBody>
                    <a:bodyPr/>
                    <a:lstStyle/>
                    <a:p>
                      <a:r>
                        <a:rPr lang="en-US" sz="1200"/>
                        <a:t>RAM</a:t>
                      </a:r>
                    </a:p>
                  </a:txBody>
                  <a:tcPr anchor="ctr"/>
                </a:tc>
                <a:extLst>
                  <a:ext uri="{0D108BD9-81ED-4DB2-BD59-A6C34878D82A}">
                    <a16:rowId xmlns:a16="http://schemas.microsoft.com/office/drawing/2014/main" val="2788929914"/>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4000 – 5FFF</a:t>
                      </a:r>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txBody>
                  <a:tcPr/>
                </a:tc>
                <a:extLst>
                  <a:ext uri="{0D108BD9-81ED-4DB2-BD59-A6C34878D82A}">
                    <a16:rowId xmlns:a16="http://schemas.microsoft.com/office/drawing/2014/main" val="3651513594"/>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6000 – 7FFF</a:t>
                      </a:r>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txBody>
                  <a:tcPr/>
                </a:tc>
                <a:extLst>
                  <a:ext uri="{0D108BD9-81ED-4DB2-BD59-A6C34878D82A}">
                    <a16:rowId xmlns:a16="http://schemas.microsoft.com/office/drawing/2014/main" val="1291716959"/>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8000 – 9FFF</a:t>
                      </a:r>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txBody>
                  <a:tcPr/>
                </a:tc>
                <a:extLst>
                  <a:ext uri="{0D108BD9-81ED-4DB2-BD59-A6C34878D82A}">
                    <a16:rowId xmlns:a16="http://schemas.microsoft.com/office/drawing/2014/main" val="2735181719"/>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A000 – BFFF</a:t>
                      </a:r>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txBody>
                  <a:tcPr/>
                </a:tc>
                <a:extLst>
                  <a:ext uri="{0D108BD9-81ED-4DB2-BD59-A6C34878D82A}">
                    <a16:rowId xmlns:a16="http://schemas.microsoft.com/office/drawing/2014/main" val="2265423991"/>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C000 – DFFF</a:t>
                      </a:r>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txBody>
                  <a:tcPr/>
                </a:tc>
                <a:extLst>
                  <a:ext uri="{0D108BD9-81ED-4DB2-BD59-A6C34878D82A}">
                    <a16:rowId xmlns:a16="http://schemas.microsoft.com/office/drawing/2014/main" val="2997578407"/>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E000 – FFFF</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MMIO</a:t>
                      </a:r>
                    </a:p>
                  </a:txBody>
                  <a:tcPr/>
                </a:tc>
                <a:extLst>
                  <a:ext uri="{0D108BD9-81ED-4DB2-BD59-A6C34878D82A}">
                    <a16:rowId xmlns:a16="http://schemas.microsoft.com/office/drawing/2014/main" val="2298302548"/>
                  </a:ext>
                </a:extLst>
              </a:tr>
            </a:tbl>
          </a:graphicData>
        </a:graphic>
      </p:graphicFrame>
      <p:grpSp>
        <p:nvGrpSpPr>
          <p:cNvPr id="5" name="Group 4">
            <a:extLst>
              <a:ext uri="{FF2B5EF4-FFF2-40B4-BE49-F238E27FC236}">
                <a16:creationId xmlns:a16="http://schemas.microsoft.com/office/drawing/2014/main" id="{A162A7A7-6543-D66C-E2ED-C437827B9563}"/>
              </a:ext>
            </a:extLst>
          </p:cNvPr>
          <p:cNvGrpSpPr/>
          <p:nvPr/>
        </p:nvGrpSpPr>
        <p:grpSpPr>
          <a:xfrm rot="10800000">
            <a:off x="3768109" y="1535315"/>
            <a:ext cx="1066795" cy="1348207"/>
            <a:chOff x="7412689" y="3305857"/>
            <a:chExt cx="1066794" cy="1348207"/>
          </a:xfrm>
        </p:grpSpPr>
        <p:pic>
          <p:nvPicPr>
            <p:cNvPr id="6" name="Picture 5">
              <a:extLst>
                <a:ext uri="{FF2B5EF4-FFF2-40B4-BE49-F238E27FC236}">
                  <a16:creationId xmlns:a16="http://schemas.microsoft.com/office/drawing/2014/main" id="{8D4CE1B5-9702-B62B-A9B1-5EDC741BD810}"/>
                </a:ext>
              </a:extLst>
            </p:cNvPr>
            <p:cNvPicPr>
              <a:picLocks noChangeAspect="1"/>
            </p:cNvPicPr>
            <p:nvPr/>
          </p:nvPicPr>
          <p:blipFill>
            <a:blip r:embed="rId2"/>
            <a:stretch>
              <a:fillRect/>
            </a:stretch>
          </p:blipFill>
          <p:spPr>
            <a:xfrm rot="10800000">
              <a:off x="7412689" y="3305857"/>
              <a:ext cx="1066794" cy="1348207"/>
            </a:xfrm>
            <a:prstGeom prst="rect">
              <a:avLst/>
            </a:prstGeom>
          </p:spPr>
        </p:pic>
        <p:sp>
          <p:nvSpPr>
            <p:cNvPr id="7" name="TextBox 6">
              <a:extLst>
                <a:ext uri="{FF2B5EF4-FFF2-40B4-BE49-F238E27FC236}">
                  <a16:creationId xmlns:a16="http://schemas.microsoft.com/office/drawing/2014/main" id="{3695FB78-B1BB-A3DD-EA97-DFBA9C744950}"/>
                </a:ext>
              </a:extLst>
            </p:cNvPr>
            <p:cNvSpPr txBox="1"/>
            <p:nvPr/>
          </p:nvSpPr>
          <p:spPr>
            <a:xfrm rot="5400000">
              <a:off x="7424929" y="3911376"/>
              <a:ext cx="926411" cy="261610"/>
            </a:xfrm>
            <a:prstGeom prst="rect">
              <a:avLst/>
            </a:prstGeom>
            <a:solidFill>
              <a:schemeClr val="bg1"/>
            </a:solidFill>
            <a:ln/>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1100"/>
                <a:t>138 AMAP</a:t>
              </a:r>
            </a:p>
          </p:txBody>
        </p:sp>
      </p:grpSp>
      <p:cxnSp>
        <p:nvCxnSpPr>
          <p:cNvPr id="33" name="Connector: Elbow 32">
            <a:extLst>
              <a:ext uri="{FF2B5EF4-FFF2-40B4-BE49-F238E27FC236}">
                <a16:creationId xmlns:a16="http://schemas.microsoft.com/office/drawing/2014/main" id="{23A33DB4-93E9-BA0C-84C8-CE99ADE5383A}"/>
              </a:ext>
            </a:extLst>
          </p:cNvPr>
          <p:cNvCxnSpPr>
            <a:cxnSpLocks/>
            <a:stCxn id="34" idx="3"/>
          </p:cNvCxnSpPr>
          <p:nvPr/>
        </p:nvCxnSpPr>
        <p:spPr>
          <a:xfrm flipV="1">
            <a:off x="4826179" y="1217598"/>
            <a:ext cx="2058780" cy="602825"/>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3BC18817-DF17-DDA9-C4DD-6671FFCA7BE7}"/>
              </a:ext>
            </a:extLst>
          </p:cNvPr>
          <p:cNvCxnSpPr>
            <a:cxnSpLocks/>
            <a:stCxn id="42" idx="1"/>
            <a:endCxn id="20" idx="1"/>
          </p:cNvCxnSpPr>
          <p:nvPr/>
        </p:nvCxnSpPr>
        <p:spPr>
          <a:xfrm rot="10800000" flipV="1">
            <a:off x="3793982" y="2610404"/>
            <a:ext cx="43319" cy="1814781"/>
          </a:xfrm>
          <a:prstGeom prst="bentConnector3">
            <a:avLst>
              <a:gd name="adj1" fmla="val 627725"/>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16F08B06-07EB-D5CF-D083-983B8B2BB565}"/>
              </a:ext>
            </a:extLst>
          </p:cNvPr>
          <p:cNvSpPr/>
          <p:nvPr/>
        </p:nvSpPr>
        <p:spPr>
          <a:xfrm>
            <a:off x="3837301" y="2561611"/>
            <a:ext cx="126124" cy="975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Picture 48" descr="Diagram&#10;&#10;Description automatically generated with low confidence">
            <a:extLst>
              <a:ext uri="{FF2B5EF4-FFF2-40B4-BE49-F238E27FC236}">
                <a16:creationId xmlns:a16="http://schemas.microsoft.com/office/drawing/2014/main" id="{7ABB6F58-7DA9-793C-A068-E33D98B425B3}"/>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50000" t="19257" r="4045" b="-1180"/>
          <a:stretch/>
        </p:blipFill>
        <p:spPr>
          <a:xfrm>
            <a:off x="5558901" y="2429433"/>
            <a:ext cx="659287" cy="459531"/>
          </a:xfrm>
          <a:prstGeom prst="rect">
            <a:avLst/>
          </a:prstGeom>
        </p:spPr>
      </p:pic>
      <p:grpSp>
        <p:nvGrpSpPr>
          <p:cNvPr id="52" name="Group 51">
            <a:extLst>
              <a:ext uri="{FF2B5EF4-FFF2-40B4-BE49-F238E27FC236}">
                <a16:creationId xmlns:a16="http://schemas.microsoft.com/office/drawing/2014/main" id="{8756272D-AF99-62C9-C0DD-7B84D730C0BF}"/>
              </a:ext>
            </a:extLst>
          </p:cNvPr>
          <p:cNvGrpSpPr/>
          <p:nvPr/>
        </p:nvGrpSpPr>
        <p:grpSpPr>
          <a:xfrm rot="10800000">
            <a:off x="3777609" y="1557825"/>
            <a:ext cx="1066795" cy="1348207"/>
            <a:chOff x="7412689" y="3305857"/>
            <a:chExt cx="1066794" cy="1348207"/>
          </a:xfrm>
        </p:grpSpPr>
        <p:pic>
          <p:nvPicPr>
            <p:cNvPr id="53" name="Picture 52">
              <a:extLst>
                <a:ext uri="{FF2B5EF4-FFF2-40B4-BE49-F238E27FC236}">
                  <a16:creationId xmlns:a16="http://schemas.microsoft.com/office/drawing/2014/main" id="{C402FF26-07C0-2BD4-F183-2A351B79CAF8}"/>
                </a:ext>
              </a:extLst>
            </p:cNvPr>
            <p:cNvPicPr>
              <a:picLocks noChangeAspect="1"/>
            </p:cNvPicPr>
            <p:nvPr/>
          </p:nvPicPr>
          <p:blipFill>
            <a:blip r:embed="rId2"/>
            <a:stretch>
              <a:fillRect/>
            </a:stretch>
          </p:blipFill>
          <p:spPr>
            <a:xfrm rot="10800000">
              <a:off x="7412689" y="3305857"/>
              <a:ext cx="1066794" cy="1348207"/>
            </a:xfrm>
            <a:prstGeom prst="rect">
              <a:avLst/>
            </a:prstGeom>
          </p:spPr>
        </p:pic>
        <p:sp>
          <p:nvSpPr>
            <p:cNvPr id="54" name="TextBox 53">
              <a:extLst>
                <a:ext uri="{FF2B5EF4-FFF2-40B4-BE49-F238E27FC236}">
                  <a16:creationId xmlns:a16="http://schemas.microsoft.com/office/drawing/2014/main" id="{46005232-7E19-7F67-0C8E-938ECB5F2417}"/>
                </a:ext>
              </a:extLst>
            </p:cNvPr>
            <p:cNvSpPr txBox="1"/>
            <p:nvPr/>
          </p:nvSpPr>
          <p:spPr>
            <a:xfrm rot="5400000">
              <a:off x="7424929" y="3911376"/>
              <a:ext cx="926411" cy="261610"/>
            </a:xfrm>
            <a:prstGeom prst="rect">
              <a:avLst/>
            </a:prstGeom>
            <a:solidFill>
              <a:schemeClr val="bg1"/>
            </a:solidFill>
            <a:ln/>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1100">
                  <a:hlinkClick r:id="rId5" action="ppaction://hlinksldjump"/>
                </a:rPr>
                <a:t>138 AMAP</a:t>
              </a:r>
              <a:endParaRPr lang="en-US" sz="1100"/>
            </a:p>
          </p:txBody>
        </p:sp>
      </p:grpSp>
      <p:sp>
        <p:nvSpPr>
          <p:cNvPr id="51" name="Rectangle 50">
            <a:extLst>
              <a:ext uri="{FF2B5EF4-FFF2-40B4-BE49-F238E27FC236}">
                <a16:creationId xmlns:a16="http://schemas.microsoft.com/office/drawing/2014/main" id="{D090072A-2F43-08F3-47C8-7021999EFC31}"/>
              </a:ext>
            </a:extLst>
          </p:cNvPr>
          <p:cNvSpPr/>
          <p:nvPr/>
        </p:nvSpPr>
        <p:spPr>
          <a:xfrm>
            <a:off x="4700055" y="2094425"/>
            <a:ext cx="126124" cy="975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765FBA79-E8D3-349B-C057-B5AF496E93AD}"/>
              </a:ext>
            </a:extLst>
          </p:cNvPr>
          <p:cNvSpPr/>
          <p:nvPr/>
        </p:nvSpPr>
        <p:spPr>
          <a:xfrm>
            <a:off x="4700055" y="2255823"/>
            <a:ext cx="126124" cy="975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8F965DCF-0A9B-B1FC-1C22-0F54243A7176}"/>
              </a:ext>
            </a:extLst>
          </p:cNvPr>
          <p:cNvSpPr/>
          <p:nvPr/>
        </p:nvSpPr>
        <p:spPr>
          <a:xfrm>
            <a:off x="4700055" y="1771629"/>
            <a:ext cx="126124" cy="975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B0C2F95E-69F0-B9D5-0479-D44BD2A9462C}"/>
              </a:ext>
            </a:extLst>
          </p:cNvPr>
          <p:cNvSpPr/>
          <p:nvPr/>
        </p:nvSpPr>
        <p:spPr>
          <a:xfrm>
            <a:off x="4700055" y="1933027"/>
            <a:ext cx="126124" cy="975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357ED164-9473-0775-7728-7A9615AB3522}"/>
              </a:ext>
            </a:extLst>
          </p:cNvPr>
          <p:cNvSpPr/>
          <p:nvPr/>
        </p:nvSpPr>
        <p:spPr>
          <a:xfrm>
            <a:off x="4700055" y="2417221"/>
            <a:ext cx="126124" cy="975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Connector: Elbow 56">
            <a:extLst>
              <a:ext uri="{FF2B5EF4-FFF2-40B4-BE49-F238E27FC236}">
                <a16:creationId xmlns:a16="http://schemas.microsoft.com/office/drawing/2014/main" id="{28ACB119-F7C0-1978-7842-30E506BF4A2A}"/>
              </a:ext>
            </a:extLst>
          </p:cNvPr>
          <p:cNvCxnSpPr>
            <a:cxnSpLocks/>
            <a:stCxn id="49" idx="3"/>
            <a:endCxn id="39" idx="1"/>
          </p:cNvCxnSpPr>
          <p:nvPr/>
        </p:nvCxnSpPr>
        <p:spPr>
          <a:xfrm>
            <a:off x="6218188" y="2659197"/>
            <a:ext cx="270417" cy="162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7351C303-5A63-9B57-ECF8-6FD14BEBB55F}"/>
              </a:ext>
            </a:extLst>
          </p:cNvPr>
          <p:cNvSpPr/>
          <p:nvPr/>
        </p:nvSpPr>
        <p:spPr>
          <a:xfrm>
            <a:off x="4700055" y="2578619"/>
            <a:ext cx="126124" cy="975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9847A6CC-B8E5-B31B-C5F7-094898B8CD56}"/>
              </a:ext>
            </a:extLst>
          </p:cNvPr>
          <p:cNvSpPr/>
          <p:nvPr/>
        </p:nvSpPr>
        <p:spPr>
          <a:xfrm>
            <a:off x="4700055" y="2740015"/>
            <a:ext cx="126124" cy="975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Connector: Elbow 59">
            <a:extLst>
              <a:ext uri="{FF2B5EF4-FFF2-40B4-BE49-F238E27FC236}">
                <a16:creationId xmlns:a16="http://schemas.microsoft.com/office/drawing/2014/main" id="{53281494-3C24-1D95-C96A-F2E3AE8AA59D}"/>
              </a:ext>
            </a:extLst>
          </p:cNvPr>
          <p:cNvCxnSpPr>
            <a:cxnSpLocks/>
            <a:stCxn id="50" idx="3"/>
          </p:cNvCxnSpPr>
          <p:nvPr/>
        </p:nvCxnSpPr>
        <p:spPr>
          <a:xfrm>
            <a:off x="4826180" y="1981821"/>
            <a:ext cx="745355" cy="544083"/>
          </a:xfrm>
          <a:prstGeom prst="bentConnector3">
            <a:avLst>
              <a:gd name="adj1" fmla="val 64806"/>
            </a:avLst>
          </a:prstGeom>
        </p:spPr>
        <p:style>
          <a:lnRef idx="1">
            <a:schemeClr val="accent1"/>
          </a:lnRef>
          <a:fillRef idx="0">
            <a:schemeClr val="accent1"/>
          </a:fillRef>
          <a:effectRef idx="0">
            <a:schemeClr val="accent1"/>
          </a:effectRef>
          <a:fontRef idx="minor">
            <a:schemeClr val="tx1"/>
          </a:fontRef>
        </p:style>
      </p:cxnSp>
      <p:cxnSp>
        <p:nvCxnSpPr>
          <p:cNvPr id="63" name="Connector: Elbow 62">
            <a:extLst>
              <a:ext uri="{FF2B5EF4-FFF2-40B4-BE49-F238E27FC236}">
                <a16:creationId xmlns:a16="http://schemas.microsoft.com/office/drawing/2014/main" id="{27EB4F64-6236-675D-780E-055A59007B9A}"/>
              </a:ext>
            </a:extLst>
          </p:cNvPr>
          <p:cNvCxnSpPr>
            <a:cxnSpLocks/>
            <a:stCxn id="51" idx="3"/>
            <a:endCxn id="17" idx="1"/>
          </p:cNvCxnSpPr>
          <p:nvPr/>
        </p:nvCxnSpPr>
        <p:spPr>
          <a:xfrm>
            <a:off x="4826179" y="2143217"/>
            <a:ext cx="815459" cy="425963"/>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66" name="Connector: Elbow 65">
            <a:extLst>
              <a:ext uri="{FF2B5EF4-FFF2-40B4-BE49-F238E27FC236}">
                <a16:creationId xmlns:a16="http://schemas.microsoft.com/office/drawing/2014/main" id="{FB6ECE1F-8525-4107-1342-0326E0684E3F}"/>
              </a:ext>
            </a:extLst>
          </p:cNvPr>
          <p:cNvCxnSpPr>
            <a:cxnSpLocks/>
            <a:stCxn id="55" idx="3"/>
            <a:endCxn id="32" idx="1"/>
          </p:cNvCxnSpPr>
          <p:nvPr/>
        </p:nvCxnSpPr>
        <p:spPr>
          <a:xfrm>
            <a:off x="4826179" y="2304616"/>
            <a:ext cx="815459" cy="325592"/>
          </a:xfrm>
          <a:prstGeom prst="bentConnector3">
            <a:avLst>
              <a:gd name="adj1" fmla="val 42267"/>
            </a:avLst>
          </a:prstGeom>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10D369C2-FD30-062E-1FC3-1B4C322868B4}"/>
              </a:ext>
            </a:extLst>
          </p:cNvPr>
          <p:cNvCxnSpPr>
            <a:cxnSpLocks/>
            <a:stCxn id="56" idx="3"/>
            <a:endCxn id="35" idx="1"/>
          </p:cNvCxnSpPr>
          <p:nvPr/>
        </p:nvCxnSpPr>
        <p:spPr>
          <a:xfrm>
            <a:off x="4826179" y="2466014"/>
            <a:ext cx="815459" cy="225223"/>
          </a:xfrm>
          <a:prstGeom prst="bentConnector3">
            <a:avLst>
              <a:gd name="adj1" fmla="val 34533"/>
            </a:avLst>
          </a:prstGeom>
        </p:spPr>
        <p:style>
          <a:lnRef idx="1">
            <a:schemeClr val="accent1"/>
          </a:lnRef>
          <a:fillRef idx="0">
            <a:schemeClr val="accent1"/>
          </a:fillRef>
          <a:effectRef idx="0">
            <a:schemeClr val="accent1"/>
          </a:effectRef>
          <a:fontRef idx="minor">
            <a:schemeClr val="tx1"/>
          </a:fontRef>
        </p:style>
      </p:cxnSp>
      <p:cxnSp>
        <p:nvCxnSpPr>
          <p:cNvPr id="72" name="Connector: Elbow 71">
            <a:extLst>
              <a:ext uri="{FF2B5EF4-FFF2-40B4-BE49-F238E27FC236}">
                <a16:creationId xmlns:a16="http://schemas.microsoft.com/office/drawing/2014/main" id="{2D38D1A5-558F-8D7F-D08E-55AA3F2A5115}"/>
              </a:ext>
            </a:extLst>
          </p:cNvPr>
          <p:cNvCxnSpPr>
            <a:cxnSpLocks/>
            <a:stCxn id="58" idx="3"/>
            <a:endCxn id="37" idx="1"/>
          </p:cNvCxnSpPr>
          <p:nvPr/>
        </p:nvCxnSpPr>
        <p:spPr>
          <a:xfrm>
            <a:off x="4826179" y="2627413"/>
            <a:ext cx="815459" cy="124852"/>
          </a:xfrm>
          <a:prstGeom prst="bentConnector3">
            <a:avLst>
              <a:gd name="adj1" fmla="val 26800"/>
            </a:avLst>
          </a:prstGeom>
        </p:spPr>
        <p:style>
          <a:lnRef idx="1">
            <a:schemeClr val="accent1"/>
          </a:lnRef>
          <a:fillRef idx="0">
            <a:schemeClr val="accent1"/>
          </a:fillRef>
          <a:effectRef idx="0">
            <a:schemeClr val="accent1"/>
          </a:effectRef>
          <a:fontRef idx="minor">
            <a:schemeClr val="tx1"/>
          </a:fontRef>
        </p:style>
      </p:cxnSp>
      <p:cxnSp>
        <p:nvCxnSpPr>
          <p:cNvPr id="75" name="Connector: Elbow 74">
            <a:extLst>
              <a:ext uri="{FF2B5EF4-FFF2-40B4-BE49-F238E27FC236}">
                <a16:creationId xmlns:a16="http://schemas.microsoft.com/office/drawing/2014/main" id="{A9BBFC08-3B3C-0837-0664-49634A028DAB}"/>
              </a:ext>
            </a:extLst>
          </p:cNvPr>
          <p:cNvCxnSpPr>
            <a:cxnSpLocks/>
            <a:stCxn id="59" idx="3"/>
          </p:cNvCxnSpPr>
          <p:nvPr/>
        </p:nvCxnSpPr>
        <p:spPr>
          <a:xfrm flipV="1">
            <a:off x="4826179" y="2780575"/>
            <a:ext cx="709819" cy="8235"/>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E1CC9EC2-2881-E18C-3048-9149BCEA2F26}"/>
              </a:ext>
            </a:extLst>
          </p:cNvPr>
          <p:cNvGrpSpPr/>
          <p:nvPr/>
        </p:nvGrpSpPr>
        <p:grpSpPr>
          <a:xfrm>
            <a:off x="3011368" y="1661552"/>
            <a:ext cx="804041" cy="341587"/>
            <a:chOff x="2964068" y="2118755"/>
            <a:chExt cx="804041" cy="341586"/>
          </a:xfrm>
        </p:grpSpPr>
        <p:cxnSp>
          <p:nvCxnSpPr>
            <p:cNvPr id="8" name="Straight Arrow Connector 7">
              <a:extLst>
                <a:ext uri="{FF2B5EF4-FFF2-40B4-BE49-F238E27FC236}">
                  <a16:creationId xmlns:a16="http://schemas.microsoft.com/office/drawing/2014/main" id="{6D18DD7F-14FB-87EB-C847-DA0EE71970F8}"/>
                </a:ext>
              </a:extLst>
            </p:cNvPr>
            <p:cNvCxnSpPr>
              <a:cxnSpLocks/>
            </p:cNvCxnSpPr>
            <p:nvPr/>
          </p:nvCxnSpPr>
          <p:spPr>
            <a:xfrm>
              <a:off x="2964068" y="2118755"/>
              <a:ext cx="80404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B73A5C3A-BD4D-00BE-7C99-3120E02E35EA}"/>
                </a:ext>
              </a:extLst>
            </p:cNvPr>
            <p:cNvCxnSpPr>
              <a:cxnSpLocks/>
            </p:cNvCxnSpPr>
            <p:nvPr/>
          </p:nvCxnSpPr>
          <p:spPr>
            <a:xfrm>
              <a:off x="2964068" y="2289548"/>
              <a:ext cx="80404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550D338-EB25-455D-081C-544AD18D1723}"/>
                </a:ext>
              </a:extLst>
            </p:cNvPr>
            <p:cNvCxnSpPr>
              <a:cxnSpLocks/>
            </p:cNvCxnSpPr>
            <p:nvPr/>
          </p:nvCxnSpPr>
          <p:spPr>
            <a:xfrm>
              <a:off x="2964068" y="2460341"/>
              <a:ext cx="80404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3" name="Left Brace 12">
            <a:extLst>
              <a:ext uri="{FF2B5EF4-FFF2-40B4-BE49-F238E27FC236}">
                <a16:creationId xmlns:a16="http://schemas.microsoft.com/office/drawing/2014/main" id="{CB0AA101-0AE5-88BD-DE2A-C583BE116781}"/>
              </a:ext>
            </a:extLst>
          </p:cNvPr>
          <p:cNvSpPr/>
          <p:nvPr/>
        </p:nvSpPr>
        <p:spPr>
          <a:xfrm>
            <a:off x="2869327" y="1633807"/>
            <a:ext cx="142040" cy="41578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Rectangle 16">
            <a:extLst>
              <a:ext uri="{FF2B5EF4-FFF2-40B4-BE49-F238E27FC236}">
                <a16:creationId xmlns:a16="http://schemas.microsoft.com/office/drawing/2014/main" id="{53C36C44-5ABB-41C4-1B34-FFA95FCF4DFE}"/>
              </a:ext>
            </a:extLst>
          </p:cNvPr>
          <p:cNvSpPr/>
          <p:nvPr/>
        </p:nvSpPr>
        <p:spPr>
          <a:xfrm>
            <a:off x="5641638" y="2520387"/>
            <a:ext cx="126124" cy="975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2BAA1861-1757-04DB-1819-211F57A3A381}"/>
              </a:ext>
            </a:extLst>
          </p:cNvPr>
          <p:cNvSpPr/>
          <p:nvPr/>
        </p:nvSpPr>
        <p:spPr>
          <a:xfrm>
            <a:off x="5641638" y="2581415"/>
            <a:ext cx="126124" cy="975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C96B721E-8A41-0569-94AF-D480EC36ACDB}"/>
              </a:ext>
            </a:extLst>
          </p:cNvPr>
          <p:cNvSpPr/>
          <p:nvPr/>
        </p:nvSpPr>
        <p:spPr>
          <a:xfrm>
            <a:off x="5641638" y="2642443"/>
            <a:ext cx="126124" cy="975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E54C56C9-C4C8-534E-B5F6-25D7394FC89B}"/>
              </a:ext>
            </a:extLst>
          </p:cNvPr>
          <p:cNvSpPr/>
          <p:nvPr/>
        </p:nvSpPr>
        <p:spPr>
          <a:xfrm>
            <a:off x="5641638" y="2703471"/>
            <a:ext cx="126124" cy="975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hlinkClick r:id="rId6" action="ppaction://hlinksldjump"/>
            <a:extLst>
              <a:ext uri="{FF2B5EF4-FFF2-40B4-BE49-F238E27FC236}">
                <a16:creationId xmlns:a16="http://schemas.microsoft.com/office/drawing/2014/main" id="{94E15FA7-913B-5BA9-CDB0-1D49F4B5397B}"/>
              </a:ext>
            </a:extLst>
          </p:cNvPr>
          <p:cNvSpPr/>
          <p:nvPr/>
        </p:nvSpPr>
        <p:spPr>
          <a:xfrm>
            <a:off x="6488604" y="2569384"/>
            <a:ext cx="1178395" cy="182880"/>
          </a:xfrm>
          <a:prstGeom prst="rect">
            <a:avLst/>
          </a:prstGeom>
        </p:spPr>
        <p:style>
          <a:lnRef idx="2">
            <a:schemeClr val="accent5"/>
          </a:lnRef>
          <a:fillRef idx="1">
            <a:schemeClr val="lt1"/>
          </a:fillRef>
          <a:effectRef idx="0">
            <a:schemeClr val="accent5"/>
          </a:effectRef>
          <a:fontRef idx="minor">
            <a:schemeClr val="dk1"/>
          </a:fontRef>
        </p:style>
        <p:txBody>
          <a:bodyPr tIns="0" bIns="0" rtlCol="0" anchor="ctr"/>
          <a:lstStyle/>
          <a:p>
            <a:r>
              <a:rPr lang="en-US" sz="1050"/>
              <a:t>~SRAM Chip En</a:t>
            </a:r>
          </a:p>
        </p:txBody>
      </p:sp>
      <p:sp>
        <p:nvSpPr>
          <p:cNvPr id="47" name="TextBox 46">
            <a:extLst>
              <a:ext uri="{FF2B5EF4-FFF2-40B4-BE49-F238E27FC236}">
                <a16:creationId xmlns:a16="http://schemas.microsoft.com/office/drawing/2014/main" id="{ADA3133B-8678-22DF-DEAD-A2CD3C0BD233}"/>
              </a:ext>
            </a:extLst>
          </p:cNvPr>
          <p:cNvSpPr txBox="1"/>
          <p:nvPr/>
        </p:nvSpPr>
        <p:spPr>
          <a:xfrm>
            <a:off x="5558899" y="2215199"/>
            <a:ext cx="615874" cy="254044"/>
          </a:xfrm>
          <a:prstGeom prst="rect">
            <a:avLst/>
          </a:prstGeom>
          <a:noFill/>
        </p:spPr>
        <p:txBody>
          <a:bodyPr wrap="none" rtlCol="0">
            <a:spAutoFit/>
          </a:bodyPr>
          <a:lstStyle/>
          <a:p>
            <a:r>
              <a:rPr lang="en-US" sz="1051"/>
              <a:t>74HC21</a:t>
            </a:r>
          </a:p>
        </p:txBody>
      </p:sp>
      <p:grpSp>
        <p:nvGrpSpPr>
          <p:cNvPr id="19" name="Group 18">
            <a:extLst>
              <a:ext uri="{FF2B5EF4-FFF2-40B4-BE49-F238E27FC236}">
                <a16:creationId xmlns:a16="http://schemas.microsoft.com/office/drawing/2014/main" id="{0F20C333-5037-27BC-699F-9EEF42EFF653}"/>
              </a:ext>
            </a:extLst>
          </p:cNvPr>
          <p:cNvGrpSpPr/>
          <p:nvPr/>
        </p:nvGrpSpPr>
        <p:grpSpPr>
          <a:xfrm>
            <a:off x="437599" y="4730541"/>
            <a:ext cx="1463040" cy="1835649"/>
            <a:chOff x="8562111" y="4895351"/>
            <a:chExt cx="1463040" cy="1835649"/>
          </a:xfrm>
        </p:grpSpPr>
        <p:pic>
          <p:nvPicPr>
            <p:cNvPr id="46" name="Picture 45">
              <a:extLst>
                <a:ext uri="{FF2B5EF4-FFF2-40B4-BE49-F238E27FC236}">
                  <a16:creationId xmlns:a16="http://schemas.microsoft.com/office/drawing/2014/main" id="{4924968E-CCB0-89F0-4C10-F64E361C64FE}"/>
                </a:ext>
              </a:extLst>
            </p:cNvPr>
            <p:cNvPicPr>
              <a:picLocks noChangeAspect="1"/>
            </p:cNvPicPr>
            <p:nvPr/>
          </p:nvPicPr>
          <p:blipFill>
            <a:blip r:embed="rId7"/>
            <a:stretch>
              <a:fillRect/>
            </a:stretch>
          </p:blipFill>
          <p:spPr>
            <a:xfrm rot="16200000">
              <a:off x="8375806" y="5081656"/>
              <a:ext cx="1835649" cy="1463040"/>
            </a:xfrm>
            <a:prstGeom prst="rect">
              <a:avLst/>
            </a:prstGeom>
          </p:spPr>
        </p:pic>
        <p:sp>
          <p:nvSpPr>
            <p:cNvPr id="48" name="TextBox 47">
              <a:extLst>
                <a:ext uri="{FF2B5EF4-FFF2-40B4-BE49-F238E27FC236}">
                  <a16:creationId xmlns:a16="http://schemas.microsoft.com/office/drawing/2014/main" id="{850257A3-7BAE-7C67-56AC-890A65414FFC}"/>
                </a:ext>
              </a:extLst>
            </p:cNvPr>
            <p:cNvSpPr txBox="1"/>
            <p:nvPr/>
          </p:nvSpPr>
          <p:spPr>
            <a:xfrm>
              <a:off x="8868518" y="5642022"/>
              <a:ext cx="676788" cy="276999"/>
            </a:xfrm>
            <a:prstGeom prst="rect">
              <a:avLst/>
            </a:prstGeom>
            <a:noFill/>
          </p:spPr>
          <p:txBody>
            <a:bodyPr wrap="none" rtlCol="0">
              <a:spAutoFit/>
            </a:bodyPr>
            <a:lstStyle/>
            <a:p>
              <a:r>
                <a:rPr lang="en-US" sz="1200"/>
                <a:t>74HC21</a:t>
              </a:r>
            </a:p>
          </p:txBody>
        </p:sp>
      </p:grpSp>
      <p:sp>
        <p:nvSpPr>
          <p:cNvPr id="61" name="Rectangle 60">
            <a:hlinkClick r:id="rId8" action="ppaction://hlinksldjump"/>
            <a:extLst>
              <a:ext uri="{FF2B5EF4-FFF2-40B4-BE49-F238E27FC236}">
                <a16:creationId xmlns:a16="http://schemas.microsoft.com/office/drawing/2014/main" id="{AA16C05B-BAD8-4C18-F250-B78A72734375}"/>
              </a:ext>
            </a:extLst>
          </p:cNvPr>
          <p:cNvSpPr/>
          <p:nvPr/>
        </p:nvSpPr>
        <p:spPr>
          <a:xfrm>
            <a:off x="6488603" y="1145385"/>
            <a:ext cx="1463040" cy="182880"/>
          </a:xfrm>
          <a:prstGeom prst="rect">
            <a:avLst/>
          </a:prstGeom>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en-US" sz="1050"/>
              <a:t>~EEPROM Chip En</a:t>
            </a:r>
          </a:p>
        </p:txBody>
      </p:sp>
      <p:sp>
        <p:nvSpPr>
          <p:cNvPr id="3" name="Rectangle 2">
            <a:extLst>
              <a:ext uri="{FF2B5EF4-FFF2-40B4-BE49-F238E27FC236}">
                <a16:creationId xmlns:a16="http://schemas.microsoft.com/office/drawing/2014/main" id="{0685F77A-17A1-5151-3A78-7E29FC2A8DFC}"/>
              </a:ext>
            </a:extLst>
          </p:cNvPr>
          <p:cNvSpPr/>
          <p:nvPr/>
        </p:nvSpPr>
        <p:spPr>
          <a:xfrm>
            <a:off x="1317682" y="1077871"/>
            <a:ext cx="282975" cy="325120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vert="vert" rtlCol="0" anchor="ctr"/>
          <a:lstStyle/>
          <a:p>
            <a:pPr algn="ctr"/>
            <a:r>
              <a:rPr lang="en-US"/>
              <a:t>Address  Bus  +  Read/Write </a:t>
            </a:r>
          </a:p>
        </p:txBody>
      </p:sp>
      <p:sp>
        <p:nvSpPr>
          <p:cNvPr id="14" name="Arrow: Right 13">
            <a:extLst>
              <a:ext uri="{FF2B5EF4-FFF2-40B4-BE49-F238E27FC236}">
                <a16:creationId xmlns:a16="http://schemas.microsoft.com/office/drawing/2014/main" id="{2E02728F-F3AA-8C0E-94D9-89103A605EB6}"/>
              </a:ext>
            </a:extLst>
          </p:cNvPr>
          <p:cNvSpPr/>
          <p:nvPr/>
        </p:nvSpPr>
        <p:spPr>
          <a:xfrm>
            <a:off x="1610155" y="1656635"/>
            <a:ext cx="1241944"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a:t>A15..A13</a:t>
            </a:r>
          </a:p>
        </p:txBody>
      </p:sp>
      <p:grpSp>
        <p:nvGrpSpPr>
          <p:cNvPr id="15" name="Group 14">
            <a:extLst>
              <a:ext uri="{FF2B5EF4-FFF2-40B4-BE49-F238E27FC236}">
                <a16:creationId xmlns:a16="http://schemas.microsoft.com/office/drawing/2014/main" id="{D802B054-3776-6EE3-5533-A06066000B63}"/>
              </a:ext>
            </a:extLst>
          </p:cNvPr>
          <p:cNvGrpSpPr/>
          <p:nvPr/>
        </p:nvGrpSpPr>
        <p:grpSpPr>
          <a:xfrm rot="10800000">
            <a:off x="3815405" y="3688965"/>
            <a:ext cx="1066795" cy="1348207"/>
            <a:chOff x="7412689" y="3305857"/>
            <a:chExt cx="1066794" cy="1348207"/>
          </a:xfrm>
        </p:grpSpPr>
        <p:pic>
          <p:nvPicPr>
            <p:cNvPr id="16" name="Picture 15">
              <a:extLst>
                <a:ext uri="{FF2B5EF4-FFF2-40B4-BE49-F238E27FC236}">
                  <a16:creationId xmlns:a16="http://schemas.microsoft.com/office/drawing/2014/main" id="{B0F256F5-0B74-D156-359A-7EAD277B568C}"/>
                </a:ext>
              </a:extLst>
            </p:cNvPr>
            <p:cNvPicPr>
              <a:picLocks noChangeAspect="1"/>
            </p:cNvPicPr>
            <p:nvPr/>
          </p:nvPicPr>
          <p:blipFill>
            <a:blip r:embed="rId2"/>
            <a:stretch>
              <a:fillRect/>
            </a:stretch>
          </p:blipFill>
          <p:spPr>
            <a:xfrm rot="10800000">
              <a:off x="7412689" y="3305857"/>
              <a:ext cx="1066794" cy="1348207"/>
            </a:xfrm>
            <a:prstGeom prst="rect">
              <a:avLst/>
            </a:prstGeom>
          </p:spPr>
        </p:pic>
        <p:sp>
          <p:nvSpPr>
            <p:cNvPr id="18" name="TextBox 17">
              <a:extLst>
                <a:ext uri="{FF2B5EF4-FFF2-40B4-BE49-F238E27FC236}">
                  <a16:creationId xmlns:a16="http://schemas.microsoft.com/office/drawing/2014/main" id="{2935D9E1-4D2B-D863-82E3-C00B6CEF91EF}"/>
                </a:ext>
              </a:extLst>
            </p:cNvPr>
            <p:cNvSpPr txBox="1"/>
            <p:nvPr/>
          </p:nvSpPr>
          <p:spPr>
            <a:xfrm rot="5400000">
              <a:off x="7403387" y="3779070"/>
              <a:ext cx="1021740" cy="430887"/>
            </a:xfrm>
            <a:prstGeom prst="rect">
              <a:avLst/>
            </a:prstGeom>
            <a:solidFill>
              <a:schemeClr val="bg1"/>
            </a:solidFill>
            <a:ln/>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sz="1100">
                  <a:hlinkClick r:id="rId5" action="ppaction://hlinksldjump"/>
                </a:rPr>
                <a:t>138 </a:t>
              </a:r>
              <a:r>
                <a:rPr lang="en-US" sz="1100"/>
                <a:t> MMIO Device Enable</a:t>
              </a:r>
            </a:p>
          </p:txBody>
        </p:sp>
      </p:grpSp>
      <p:sp>
        <p:nvSpPr>
          <p:cNvPr id="20" name="Rectangle 19">
            <a:extLst>
              <a:ext uri="{FF2B5EF4-FFF2-40B4-BE49-F238E27FC236}">
                <a16:creationId xmlns:a16="http://schemas.microsoft.com/office/drawing/2014/main" id="{EA717DCD-4160-7F9A-090B-21E77D4C57BE}"/>
              </a:ext>
            </a:extLst>
          </p:cNvPr>
          <p:cNvSpPr/>
          <p:nvPr/>
        </p:nvSpPr>
        <p:spPr>
          <a:xfrm>
            <a:off x="3793983" y="4350685"/>
            <a:ext cx="113063" cy="14900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a:extLst>
              <a:ext uri="{FF2B5EF4-FFF2-40B4-BE49-F238E27FC236}">
                <a16:creationId xmlns:a16="http://schemas.microsoft.com/office/drawing/2014/main" id="{DE924FF5-EEA3-F09F-931D-B1ABE0FD06C9}"/>
              </a:ext>
            </a:extLst>
          </p:cNvPr>
          <p:cNvGrpSpPr/>
          <p:nvPr/>
        </p:nvGrpSpPr>
        <p:grpSpPr>
          <a:xfrm>
            <a:off x="1597802" y="3797964"/>
            <a:ext cx="2206895" cy="461331"/>
            <a:chOff x="1597801" y="3797963"/>
            <a:chExt cx="2206894" cy="461331"/>
          </a:xfrm>
        </p:grpSpPr>
        <p:cxnSp>
          <p:nvCxnSpPr>
            <p:cNvPr id="27" name="Straight Arrow Connector 26">
              <a:extLst>
                <a:ext uri="{FF2B5EF4-FFF2-40B4-BE49-F238E27FC236}">
                  <a16:creationId xmlns:a16="http://schemas.microsoft.com/office/drawing/2014/main" id="{9D7C1B3E-BBBB-3E56-22D9-38E49181A9F6}"/>
                </a:ext>
              </a:extLst>
            </p:cNvPr>
            <p:cNvCxnSpPr>
              <a:cxnSpLocks/>
            </p:cNvCxnSpPr>
            <p:nvPr/>
          </p:nvCxnSpPr>
          <p:spPr>
            <a:xfrm>
              <a:off x="1597801" y="3797963"/>
              <a:ext cx="22068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3351FC4-9727-E686-5C90-0B2A9F222051}"/>
                </a:ext>
              </a:extLst>
            </p:cNvPr>
            <p:cNvCxnSpPr>
              <a:cxnSpLocks/>
            </p:cNvCxnSpPr>
            <p:nvPr/>
          </p:nvCxnSpPr>
          <p:spPr>
            <a:xfrm>
              <a:off x="1597801" y="3951740"/>
              <a:ext cx="22068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C4DEDC5-E6B0-0E2B-C8A2-FA8D12919FAC}"/>
                </a:ext>
              </a:extLst>
            </p:cNvPr>
            <p:cNvCxnSpPr>
              <a:cxnSpLocks/>
            </p:cNvCxnSpPr>
            <p:nvPr/>
          </p:nvCxnSpPr>
          <p:spPr>
            <a:xfrm>
              <a:off x="1597801" y="4105517"/>
              <a:ext cx="22068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7DEBAB19-7B24-68F9-8D46-CC2F6B309D12}"/>
                </a:ext>
              </a:extLst>
            </p:cNvPr>
            <p:cNvCxnSpPr>
              <a:cxnSpLocks/>
            </p:cNvCxnSpPr>
            <p:nvPr/>
          </p:nvCxnSpPr>
          <p:spPr>
            <a:xfrm>
              <a:off x="1597801" y="4259294"/>
              <a:ext cx="22068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36" name="TextBox 35">
            <a:extLst>
              <a:ext uri="{FF2B5EF4-FFF2-40B4-BE49-F238E27FC236}">
                <a16:creationId xmlns:a16="http://schemas.microsoft.com/office/drawing/2014/main" id="{C6275D9E-BC03-EF07-879A-FA4031F80FD1}"/>
              </a:ext>
            </a:extLst>
          </p:cNvPr>
          <p:cNvSpPr txBox="1"/>
          <p:nvPr/>
        </p:nvSpPr>
        <p:spPr>
          <a:xfrm>
            <a:off x="1561145" y="4073993"/>
            <a:ext cx="389850" cy="246221"/>
          </a:xfrm>
          <a:prstGeom prst="rect">
            <a:avLst/>
          </a:prstGeom>
          <a:noFill/>
        </p:spPr>
        <p:txBody>
          <a:bodyPr wrap="none" rtlCol="0">
            <a:spAutoFit/>
          </a:bodyPr>
          <a:lstStyle/>
          <a:p>
            <a:r>
              <a:rPr lang="en-US" sz="1000"/>
              <a:t>A12</a:t>
            </a:r>
          </a:p>
        </p:txBody>
      </p:sp>
      <p:sp>
        <p:nvSpPr>
          <p:cNvPr id="40" name="TextBox 39">
            <a:extLst>
              <a:ext uri="{FF2B5EF4-FFF2-40B4-BE49-F238E27FC236}">
                <a16:creationId xmlns:a16="http://schemas.microsoft.com/office/drawing/2014/main" id="{4EAB284E-58F8-9308-28B4-A28C30C1FD2C}"/>
              </a:ext>
            </a:extLst>
          </p:cNvPr>
          <p:cNvSpPr txBox="1"/>
          <p:nvPr/>
        </p:nvSpPr>
        <p:spPr>
          <a:xfrm>
            <a:off x="1561145" y="3922319"/>
            <a:ext cx="389850" cy="246221"/>
          </a:xfrm>
          <a:prstGeom prst="rect">
            <a:avLst/>
          </a:prstGeom>
          <a:noFill/>
        </p:spPr>
        <p:txBody>
          <a:bodyPr wrap="none" rtlCol="0">
            <a:spAutoFit/>
          </a:bodyPr>
          <a:lstStyle/>
          <a:p>
            <a:r>
              <a:rPr lang="en-US" sz="1000"/>
              <a:t>A11</a:t>
            </a:r>
          </a:p>
        </p:txBody>
      </p:sp>
      <p:sp>
        <p:nvSpPr>
          <p:cNvPr id="43" name="TextBox 42">
            <a:extLst>
              <a:ext uri="{FF2B5EF4-FFF2-40B4-BE49-F238E27FC236}">
                <a16:creationId xmlns:a16="http://schemas.microsoft.com/office/drawing/2014/main" id="{181687ED-239D-2586-FA37-8C2DE2414574}"/>
              </a:ext>
            </a:extLst>
          </p:cNvPr>
          <p:cNvSpPr txBox="1"/>
          <p:nvPr/>
        </p:nvSpPr>
        <p:spPr>
          <a:xfrm>
            <a:off x="1561145" y="3770647"/>
            <a:ext cx="389850" cy="246221"/>
          </a:xfrm>
          <a:prstGeom prst="rect">
            <a:avLst/>
          </a:prstGeom>
          <a:noFill/>
        </p:spPr>
        <p:txBody>
          <a:bodyPr wrap="none" rtlCol="0">
            <a:spAutoFit/>
          </a:bodyPr>
          <a:lstStyle/>
          <a:p>
            <a:r>
              <a:rPr lang="en-US" sz="1000"/>
              <a:t>A10</a:t>
            </a:r>
          </a:p>
        </p:txBody>
      </p:sp>
      <p:sp>
        <p:nvSpPr>
          <p:cNvPr id="44" name="TextBox 43">
            <a:extLst>
              <a:ext uri="{FF2B5EF4-FFF2-40B4-BE49-F238E27FC236}">
                <a16:creationId xmlns:a16="http://schemas.microsoft.com/office/drawing/2014/main" id="{15137CDD-3AA9-F880-9DBD-B38377AC27D6}"/>
              </a:ext>
            </a:extLst>
          </p:cNvPr>
          <p:cNvSpPr txBox="1"/>
          <p:nvPr/>
        </p:nvSpPr>
        <p:spPr>
          <a:xfrm>
            <a:off x="1561145" y="3618975"/>
            <a:ext cx="324128" cy="246221"/>
          </a:xfrm>
          <a:prstGeom prst="rect">
            <a:avLst/>
          </a:prstGeom>
          <a:noFill/>
        </p:spPr>
        <p:txBody>
          <a:bodyPr wrap="none" rtlCol="0">
            <a:spAutoFit/>
          </a:bodyPr>
          <a:lstStyle/>
          <a:p>
            <a:r>
              <a:rPr lang="en-US" sz="1000"/>
              <a:t>A9</a:t>
            </a:r>
          </a:p>
        </p:txBody>
      </p:sp>
      <p:sp>
        <p:nvSpPr>
          <p:cNvPr id="65" name="Rectangle 64">
            <a:hlinkClick r:id="rId9" action="ppaction://hlinksldjump"/>
            <a:extLst>
              <a:ext uri="{FF2B5EF4-FFF2-40B4-BE49-F238E27FC236}">
                <a16:creationId xmlns:a16="http://schemas.microsoft.com/office/drawing/2014/main" id="{B1A95538-BA28-2AC1-63DF-584CFB1887D2}"/>
              </a:ext>
            </a:extLst>
          </p:cNvPr>
          <p:cNvSpPr/>
          <p:nvPr/>
        </p:nvSpPr>
        <p:spPr>
          <a:xfrm>
            <a:off x="5540995" y="3909532"/>
            <a:ext cx="1463040" cy="120077"/>
          </a:xfrm>
          <a:prstGeom prst="rect">
            <a:avLst/>
          </a:prstGeom>
        </p:spPr>
        <p:style>
          <a:lnRef idx="2">
            <a:schemeClr val="accent5"/>
          </a:lnRef>
          <a:fillRef idx="1">
            <a:schemeClr val="lt1"/>
          </a:fillRef>
          <a:effectRef idx="0">
            <a:schemeClr val="accent5"/>
          </a:effectRef>
          <a:fontRef idx="minor">
            <a:schemeClr val="dk1"/>
          </a:fontRef>
        </p:style>
        <p:txBody>
          <a:bodyPr tIns="0" bIns="0" rtlCol="0" anchor="ctr"/>
          <a:lstStyle/>
          <a:p>
            <a:r>
              <a:rPr lang="en-US" sz="1050"/>
              <a:t>~SD Card Device En</a:t>
            </a:r>
          </a:p>
        </p:txBody>
      </p:sp>
      <p:cxnSp>
        <p:nvCxnSpPr>
          <p:cNvPr id="67" name="Straight Arrow Connector 66">
            <a:extLst>
              <a:ext uri="{FF2B5EF4-FFF2-40B4-BE49-F238E27FC236}">
                <a16:creationId xmlns:a16="http://schemas.microsoft.com/office/drawing/2014/main" id="{30B09378-F981-6D83-E806-F490A08713EC}"/>
              </a:ext>
            </a:extLst>
          </p:cNvPr>
          <p:cNvCxnSpPr>
            <a:cxnSpLocks/>
            <a:endCxn id="65" idx="1"/>
          </p:cNvCxnSpPr>
          <p:nvPr/>
        </p:nvCxnSpPr>
        <p:spPr>
          <a:xfrm>
            <a:off x="4882200" y="3951741"/>
            <a:ext cx="65879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9CEBB32-1CEF-7B66-293D-C96270994380}"/>
              </a:ext>
            </a:extLst>
          </p:cNvPr>
          <p:cNvSpPr txBox="1"/>
          <p:nvPr/>
        </p:nvSpPr>
        <p:spPr>
          <a:xfrm rot="5400000">
            <a:off x="3381187" y="3170506"/>
            <a:ext cx="538930" cy="254044"/>
          </a:xfrm>
          <a:prstGeom prst="rect">
            <a:avLst/>
          </a:prstGeom>
          <a:noFill/>
        </p:spPr>
        <p:txBody>
          <a:bodyPr wrap="none" rtlCol="0">
            <a:spAutoFit/>
          </a:bodyPr>
          <a:lstStyle/>
          <a:p>
            <a:r>
              <a:rPr lang="en-US" sz="1051"/>
              <a:t>MMIO</a:t>
            </a:r>
          </a:p>
        </p:txBody>
      </p:sp>
      <p:graphicFrame>
        <p:nvGraphicFramePr>
          <p:cNvPr id="23" name="Table 22">
            <a:extLst>
              <a:ext uri="{FF2B5EF4-FFF2-40B4-BE49-F238E27FC236}">
                <a16:creationId xmlns:a16="http://schemas.microsoft.com/office/drawing/2014/main" id="{ABA828C1-4FF8-5F18-BD2E-CB9DCD74FCAF}"/>
              </a:ext>
            </a:extLst>
          </p:cNvPr>
          <p:cNvGraphicFramePr>
            <a:graphicFrameLocks noGrp="1"/>
          </p:cNvGraphicFramePr>
          <p:nvPr>
            <p:extLst>
              <p:ext uri="{D42A27DB-BD31-4B8C-83A1-F6EECF244321}">
                <p14:modId xmlns:p14="http://schemas.microsoft.com/office/powerpoint/2010/main" val="585309348"/>
              </p:ext>
            </p:extLst>
          </p:nvPr>
        </p:nvGraphicFramePr>
        <p:xfrm>
          <a:off x="10010915" y="3222931"/>
          <a:ext cx="1837096" cy="2167128"/>
        </p:xfrm>
        <a:graphic>
          <a:graphicData uri="http://schemas.openxmlformats.org/drawingml/2006/table">
            <a:tbl>
              <a:tblPr bandRow="1">
                <a:tableStyleId>{5C22544A-7EE6-4342-B048-85BDC9FD1C3A}</a:tableStyleId>
              </a:tblPr>
              <a:tblGrid>
                <a:gridCol w="890039">
                  <a:extLst>
                    <a:ext uri="{9D8B030D-6E8A-4147-A177-3AD203B41FA5}">
                      <a16:colId xmlns:a16="http://schemas.microsoft.com/office/drawing/2014/main" val="3863887044"/>
                    </a:ext>
                  </a:extLst>
                </a:gridCol>
                <a:gridCol w="947057">
                  <a:extLst>
                    <a:ext uri="{9D8B030D-6E8A-4147-A177-3AD203B41FA5}">
                      <a16:colId xmlns:a16="http://schemas.microsoft.com/office/drawing/2014/main" val="944774736"/>
                    </a:ext>
                  </a:extLst>
                </a:gridCol>
              </a:tblGrid>
              <a:tr h="204216">
                <a:tc>
                  <a:txBody>
                    <a:bodyPr/>
                    <a:lstStyle/>
                    <a:p>
                      <a:r>
                        <a:rPr lang="en-US" sz="1100"/>
                        <a:t>E000 – E1FF</a:t>
                      </a:r>
                    </a:p>
                  </a:txBody>
                  <a:tcPr marT="18288" marB="18288" anchor="ctr"/>
                </a:tc>
                <a:tc>
                  <a:txBody>
                    <a:bodyPr/>
                    <a:lstStyle/>
                    <a:p>
                      <a:r>
                        <a:rPr lang="en-US" sz="1100"/>
                        <a:t>SD Card</a:t>
                      </a:r>
                    </a:p>
                  </a:txBody>
                  <a:tcPr marT="18288" marB="18288" anchor="ctr"/>
                </a:tc>
                <a:extLst>
                  <a:ext uri="{0D108BD9-81ED-4DB2-BD59-A6C34878D82A}">
                    <a16:rowId xmlns:a16="http://schemas.microsoft.com/office/drawing/2014/main" val="1714091076"/>
                  </a:ext>
                </a:extLst>
              </a:tr>
              <a:tr h="204216">
                <a:tc>
                  <a:txBody>
                    <a:bodyPr/>
                    <a:lstStyle/>
                    <a:p>
                      <a:r>
                        <a:rPr lang="en-US" sz="1100"/>
                        <a:t>E200 – E3FF</a:t>
                      </a:r>
                    </a:p>
                  </a:txBody>
                  <a:tcPr marT="18288" marB="18288" anchor="ctr"/>
                </a:tc>
                <a:tc>
                  <a:txBody>
                    <a:bodyPr/>
                    <a:lstStyle/>
                    <a:p>
                      <a:r>
                        <a:rPr lang="en-US" sz="1100"/>
                        <a:t> Counter</a:t>
                      </a:r>
                    </a:p>
                  </a:txBody>
                  <a:tcPr marT="18288" marB="18288" anchor="ctr"/>
                </a:tc>
                <a:extLst>
                  <a:ext uri="{0D108BD9-81ED-4DB2-BD59-A6C34878D82A}">
                    <a16:rowId xmlns:a16="http://schemas.microsoft.com/office/drawing/2014/main" val="2788929914"/>
                  </a:ext>
                </a:extLst>
              </a:tr>
              <a:tr h="2042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E400 – E5FF</a:t>
                      </a:r>
                    </a:p>
                  </a:txBody>
                  <a:tcPr marT="18288" marB="18288" anchor="ctr"/>
                </a:tc>
                <a:tc>
                  <a:txBody>
                    <a:bodyPr/>
                    <a:lstStyle/>
                    <a:p>
                      <a:endParaRPr lang="en-US" sz="1100" dirty="0"/>
                    </a:p>
                  </a:txBody>
                  <a:tcPr marT="18288" marB="18288" anchor="ctr"/>
                </a:tc>
                <a:extLst>
                  <a:ext uri="{0D108BD9-81ED-4DB2-BD59-A6C34878D82A}">
                    <a16:rowId xmlns:a16="http://schemas.microsoft.com/office/drawing/2014/main" val="3651513594"/>
                  </a:ext>
                </a:extLst>
              </a:tr>
              <a:tr h="2042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E600 – E7FF</a:t>
                      </a:r>
                    </a:p>
                  </a:txBody>
                  <a:tcPr marT="18288" marB="18288" anchor="ctr"/>
                </a:tc>
                <a:tc>
                  <a:txBody>
                    <a:bodyPr/>
                    <a:lstStyle/>
                    <a:p>
                      <a:endParaRPr lang="en-US" sz="1100"/>
                    </a:p>
                  </a:txBody>
                  <a:tcPr marT="18288" marB="18288" anchor="ctr"/>
                </a:tc>
                <a:extLst>
                  <a:ext uri="{0D108BD9-81ED-4DB2-BD59-A6C34878D82A}">
                    <a16:rowId xmlns:a16="http://schemas.microsoft.com/office/drawing/2014/main" val="1291716959"/>
                  </a:ext>
                </a:extLst>
              </a:tr>
              <a:tr h="2042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E800 – E9FF</a:t>
                      </a:r>
                    </a:p>
                  </a:txBody>
                  <a:tcPr marT="18288" marB="1828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 </a:t>
                      </a:r>
                    </a:p>
                  </a:txBody>
                  <a:tcPr marT="18288" marB="18288" anchor="ctr"/>
                </a:tc>
                <a:extLst>
                  <a:ext uri="{0D108BD9-81ED-4DB2-BD59-A6C34878D82A}">
                    <a16:rowId xmlns:a16="http://schemas.microsoft.com/office/drawing/2014/main" val="2735181719"/>
                  </a:ext>
                </a:extLst>
              </a:tr>
              <a:tr h="2042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EA00 – EBFF</a:t>
                      </a:r>
                    </a:p>
                  </a:txBody>
                  <a:tcPr marT="18288" marB="1828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p>
                  </a:txBody>
                  <a:tcPr marT="18288" marB="18288" anchor="ctr"/>
                </a:tc>
                <a:extLst>
                  <a:ext uri="{0D108BD9-81ED-4DB2-BD59-A6C34878D82A}">
                    <a16:rowId xmlns:a16="http://schemas.microsoft.com/office/drawing/2014/main" val="2265423991"/>
                  </a:ext>
                </a:extLst>
              </a:tr>
              <a:tr h="2042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EC00 – EDFF</a:t>
                      </a:r>
                    </a:p>
                  </a:txBody>
                  <a:tcPr marT="18288" marB="1828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p>
                  </a:txBody>
                  <a:tcPr marT="18288" marB="18288" anchor="ctr"/>
                </a:tc>
                <a:extLst>
                  <a:ext uri="{0D108BD9-81ED-4DB2-BD59-A6C34878D82A}">
                    <a16:rowId xmlns:a16="http://schemas.microsoft.com/office/drawing/2014/main" val="2997578407"/>
                  </a:ext>
                </a:extLst>
              </a:tr>
              <a:tr h="2042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EE00 – EFFF</a:t>
                      </a:r>
                    </a:p>
                  </a:txBody>
                  <a:tcPr marT="18288" marB="1828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a:p>
                  </a:txBody>
                  <a:tcPr marT="18288" marB="18288" anchor="ctr"/>
                </a:tc>
                <a:extLst>
                  <a:ext uri="{0D108BD9-81ED-4DB2-BD59-A6C34878D82A}">
                    <a16:rowId xmlns:a16="http://schemas.microsoft.com/office/drawing/2014/main" val="2298302548"/>
                  </a:ext>
                </a:extLst>
              </a:tr>
              <a:tr h="5334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F000 – FFFF </a:t>
                      </a:r>
                    </a:p>
                  </a:txBody>
                  <a:tcPr marT="182880" marB="182880" anchor="ctr">
                    <a:solidFill>
                      <a:schemeClr val="bg1">
                        <a:lumMod val="6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No HW</a:t>
                      </a:r>
                    </a:p>
                  </a:txBody>
                  <a:tcPr marT="182880" marB="182880" anchor="ctr">
                    <a:solidFill>
                      <a:schemeClr val="bg1">
                        <a:lumMod val="65000"/>
                      </a:schemeClr>
                    </a:solidFill>
                  </a:tcPr>
                </a:tc>
                <a:extLst>
                  <a:ext uri="{0D108BD9-81ED-4DB2-BD59-A6C34878D82A}">
                    <a16:rowId xmlns:a16="http://schemas.microsoft.com/office/drawing/2014/main" val="3278066591"/>
                  </a:ext>
                </a:extLst>
              </a:tr>
            </a:tbl>
          </a:graphicData>
        </a:graphic>
      </p:graphicFrame>
      <p:sp>
        <p:nvSpPr>
          <p:cNvPr id="24" name="TextBox 23">
            <a:extLst>
              <a:ext uri="{FF2B5EF4-FFF2-40B4-BE49-F238E27FC236}">
                <a16:creationId xmlns:a16="http://schemas.microsoft.com/office/drawing/2014/main" id="{2DAA8409-F598-67E1-14BA-EC104C662617}"/>
              </a:ext>
            </a:extLst>
          </p:cNvPr>
          <p:cNvSpPr txBox="1"/>
          <p:nvPr/>
        </p:nvSpPr>
        <p:spPr>
          <a:xfrm>
            <a:off x="8118022" y="1818120"/>
            <a:ext cx="904415" cy="254044"/>
          </a:xfrm>
          <a:prstGeom prst="rect">
            <a:avLst/>
          </a:prstGeom>
          <a:noFill/>
        </p:spPr>
        <p:txBody>
          <a:bodyPr wrap="none" rtlCol="0">
            <a:spAutoFit/>
          </a:bodyPr>
          <a:lstStyle/>
          <a:p>
            <a:r>
              <a:rPr lang="en-US" sz="1051"/>
              <a:t>Address Map</a:t>
            </a:r>
          </a:p>
        </p:txBody>
      </p:sp>
      <p:cxnSp>
        <p:nvCxnSpPr>
          <p:cNvPr id="26" name="Straight Connector 25">
            <a:extLst>
              <a:ext uri="{FF2B5EF4-FFF2-40B4-BE49-F238E27FC236}">
                <a16:creationId xmlns:a16="http://schemas.microsoft.com/office/drawing/2014/main" id="{0C67DB49-BED3-92F0-0635-BE215D9F36A6}"/>
              </a:ext>
            </a:extLst>
          </p:cNvPr>
          <p:cNvCxnSpPr>
            <a:cxnSpLocks/>
          </p:cNvCxnSpPr>
          <p:nvPr/>
        </p:nvCxnSpPr>
        <p:spPr>
          <a:xfrm flipV="1">
            <a:off x="9385665" y="3222931"/>
            <a:ext cx="625251" cy="85106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56986165-B7B6-B0FC-7597-B11D3A44015D}"/>
              </a:ext>
            </a:extLst>
          </p:cNvPr>
          <p:cNvCxnSpPr>
            <a:cxnSpLocks/>
          </p:cNvCxnSpPr>
          <p:nvPr/>
        </p:nvCxnSpPr>
        <p:spPr>
          <a:xfrm>
            <a:off x="9353385" y="4350685"/>
            <a:ext cx="657531" cy="988199"/>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1">
            <a:hlinkClick r:id="rId10" action="ppaction://hlinksldjump"/>
            <a:extLst>
              <a:ext uri="{FF2B5EF4-FFF2-40B4-BE49-F238E27FC236}">
                <a16:creationId xmlns:a16="http://schemas.microsoft.com/office/drawing/2014/main" id="{8D01224E-3888-9420-37A2-F952FAE82204}"/>
              </a:ext>
            </a:extLst>
          </p:cNvPr>
          <p:cNvSpPr/>
          <p:nvPr/>
        </p:nvSpPr>
        <p:spPr>
          <a:xfrm>
            <a:off x="5535998" y="4077100"/>
            <a:ext cx="1463040" cy="120077"/>
          </a:xfrm>
          <a:prstGeom prst="rect">
            <a:avLst/>
          </a:prstGeom>
        </p:spPr>
        <p:style>
          <a:lnRef idx="2">
            <a:schemeClr val="accent5"/>
          </a:lnRef>
          <a:fillRef idx="1">
            <a:schemeClr val="lt1"/>
          </a:fillRef>
          <a:effectRef idx="0">
            <a:schemeClr val="accent5"/>
          </a:effectRef>
          <a:fontRef idx="minor">
            <a:schemeClr val="dk1"/>
          </a:fontRef>
        </p:style>
        <p:txBody>
          <a:bodyPr tIns="0" bIns="0" rtlCol="0" anchor="ctr"/>
          <a:lstStyle/>
          <a:p>
            <a:r>
              <a:rPr lang="en-US" sz="1050"/>
              <a:t>~Counter Device En</a:t>
            </a:r>
          </a:p>
        </p:txBody>
      </p:sp>
      <p:cxnSp>
        <p:nvCxnSpPr>
          <p:cNvPr id="62" name="Straight Arrow Connector 61">
            <a:extLst>
              <a:ext uri="{FF2B5EF4-FFF2-40B4-BE49-F238E27FC236}">
                <a16:creationId xmlns:a16="http://schemas.microsoft.com/office/drawing/2014/main" id="{AA6C6BFB-275A-82C9-D275-3637CC25CF16}"/>
              </a:ext>
            </a:extLst>
          </p:cNvPr>
          <p:cNvCxnSpPr>
            <a:cxnSpLocks/>
          </p:cNvCxnSpPr>
          <p:nvPr/>
        </p:nvCxnSpPr>
        <p:spPr>
          <a:xfrm>
            <a:off x="4877203" y="4125226"/>
            <a:ext cx="65879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68310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EECA0ABF-D83B-05CD-5D01-8A4AFF0BD550}"/>
              </a:ext>
            </a:extLst>
          </p:cNvPr>
          <p:cNvSpPr/>
          <p:nvPr/>
        </p:nvSpPr>
        <p:spPr>
          <a:xfrm>
            <a:off x="7271129" y="4859903"/>
            <a:ext cx="121494" cy="735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Connector: Elbow 38">
            <a:extLst>
              <a:ext uri="{FF2B5EF4-FFF2-40B4-BE49-F238E27FC236}">
                <a16:creationId xmlns:a16="http://schemas.microsoft.com/office/drawing/2014/main" id="{61E86250-C1D7-CF04-C913-844DAEC41132}"/>
              </a:ext>
            </a:extLst>
          </p:cNvPr>
          <p:cNvCxnSpPr>
            <a:cxnSpLocks/>
            <a:stCxn id="20" idx="3"/>
            <a:endCxn id="27" idx="2"/>
          </p:cNvCxnSpPr>
          <p:nvPr/>
        </p:nvCxnSpPr>
        <p:spPr>
          <a:xfrm flipV="1">
            <a:off x="5164210" y="4933490"/>
            <a:ext cx="2167666" cy="1555742"/>
          </a:xfrm>
          <a:prstGeom prst="bentConnector2">
            <a:avLst/>
          </a:prstGeom>
          <a:ln>
            <a:tailEnd type="non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5CE0DE4-6D59-8B94-5035-3F3F960B28FE}"/>
              </a:ext>
            </a:extLst>
          </p:cNvPr>
          <p:cNvSpPr>
            <a:spLocks noGrp="1"/>
          </p:cNvSpPr>
          <p:nvPr>
            <p:ph type="ctrTitle"/>
          </p:nvPr>
        </p:nvSpPr>
        <p:spPr/>
        <p:txBody>
          <a:bodyPr/>
          <a:lstStyle/>
          <a:p>
            <a:r>
              <a:rPr lang="en-US"/>
              <a:t>Memory Access (v2.0)</a:t>
            </a:r>
          </a:p>
        </p:txBody>
      </p:sp>
      <p:graphicFrame>
        <p:nvGraphicFramePr>
          <p:cNvPr id="3" name="Table 2">
            <a:extLst>
              <a:ext uri="{FF2B5EF4-FFF2-40B4-BE49-F238E27FC236}">
                <a16:creationId xmlns:a16="http://schemas.microsoft.com/office/drawing/2014/main" id="{A9428495-7B2A-3AF5-724A-81B610A8880E}"/>
              </a:ext>
            </a:extLst>
          </p:cNvPr>
          <p:cNvGraphicFramePr>
            <a:graphicFrameLocks noGrp="1"/>
          </p:cNvGraphicFramePr>
          <p:nvPr>
            <p:extLst>
              <p:ext uri="{D42A27DB-BD31-4B8C-83A1-F6EECF244321}">
                <p14:modId xmlns:p14="http://schemas.microsoft.com/office/powerpoint/2010/main" val="2812970588"/>
              </p:ext>
            </p:extLst>
          </p:nvPr>
        </p:nvGraphicFramePr>
        <p:xfrm>
          <a:off x="1699235" y="1196722"/>
          <a:ext cx="8272555" cy="1661160"/>
        </p:xfrm>
        <a:graphic>
          <a:graphicData uri="http://schemas.openxmlformats.org/drawingml/2006/table">
            <a:tbl>
              <a:tblPr firstRow="1" bandRow="1">
                <a:tableStyleId>{5C22544A-7EE6-4342-B048-85BDC9FD1C3A}</a:tableStyleId>
              </a:tblPr>
              <a:tblGrid>
                <a:gridCol w="1867681">
                  <a:extLst>
                    <a:ext uri="{9D8B030D-6E8A-4147-A177-3AD203B41FA5}">
                      <a16:colId xmlns:a16="http://schemas.microsoft.com/office/drawing/2014/main" val="867544660"/>
                    </a:ext>
                  </a:extLst>
                </a:gridCol>
                <a:gridCol w="1458505">
                  <a:extLst>
                    <a:ext uri="{9D8B030D-6E8A-4147-A177-3AD203B41FA5}">
                      <a16:colId xmlns:a16="http://schemas.microsoft.com/office/drawing/2014/main" val="275812589"/>
                    </a:ext>
                  </a:extLst>
                </a:gridCol>
                <a:gridCol w="1798572">
                  <a:extLst>
                    <a:ext uri="{9D8B030D-6E8A-4147-A177-3AD203B41FA5}">
                      <a16:colId xmlns:a16="http://schemas.microsoft.com/office/drawing/2014/main" val="3605157969"/>
                    </a:ext>
                  </a:extLst>
                </a:gridCol>
                <a:gridCol w="1760787">
                  <a:extLst>
                    <a:ext uri="{9D8B030D-6E8A-4147-A177-3AD203B41FA5}">
                      <a16:colId xmlns:a16="http://schemas.microsoft.com/office/drawing/2014/main" val="3932137034"/>
                    </a:ext>
                  </a:extLst>
                </a:gridCol>
                <a:gridCol w="1387010">
                  <a:extLst>
                    <a:ext uri="{9D8B030D-6E8A-4147-A177-3AD203B41FA5}">
                      <a16:colId xmlns:a16="http://schemas.microsoft.com/office/drawing/2014/main" val="1243366287"/>
                    </a:ext>
                  </a:extLst>
                </a:gridCol>
              </a:tblGrid>
              <a:tr h="370840">
                <a:tc>
                  <a:txBody>
                    <a:bodyPr/>
                    <a:lstStyle/>
                    <a:p>
                      <a:r>
                        <a:rPr lang="en-US" sz="1500"/>
                        <a:t>Cycle</a:t>
                      </a:r>
                    </a:p>
                  </a:txBody>
                  <a:tcPr/>
                </a:tc>
                <a:tc>
                  <a:txBody>
                    <a:bodyPr/>
                    <a:lstStyle/>
                    <a:p>
                      <a:r>
                        <a:rPr lang="en-US" sz="1500"/>
                        <a:t>Signal</a:t>
                      </a:r>
                    </a:p>
                  </a:txBody>
                  <a:tcPr/>
                </a:tc>
                <a:tc>
                  <a:txBody>
                    <a:bodyPr/>
                    <a:lstStyle/>
                    <a:p>
                      <a:pPr algn="ctr"/>
                      <a:r>
                        <a:rPr lang="en-US" sz="1500" dirty="0"/>
                        <a:t>SRAM</a:t>
                      </a:r>
                    </a:p>
                  </a:txBody>
                  <a:tcPr/>
                </a:tc>
                <a:tc>
                  <a:txBody>
                    <a:bodyPr/>
                    <a:lstStyle/>
                    <a:p>
                      <a:pPr algn="ctr"/>
                      <a:r>
                        <a:rPr lang="en-US" sz="1500"/>
                        <a:t>EEPROM</a:t>
                      </a:r>
                      <a:endParaRPr lang="en-US" sz="1500" dirty="0"/>
                    </a:p>
                  </a:txBody>
                  <a:tcPr/>
                </a:tc>
                <a:tc>
                  <a:txBody>
                    <a:bodyPr/>
                    <a:lstStyle/>
                    <a:p>
                      <a:pPr algn="ctr"/>
                      <a:r>
                        <a:rPr lang="en-US" sz="1500"/>
                        <a:t>MMIO</a:t>
                      </a:r>
                    </a:p>
                  </a:txBody>
                  <a:tcPr/>
                </a:tc>
                <a:extLst>
                  <a:ext uri="{0D108BD9-81ED-4DB2-BD59-A6C34878D82A}">
                    <a16:rowId xmlns:a16="http://schemas.microsoft.com/office/drawing/2014/main" val="221361701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a:t>Memory Write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a:t>#WE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dirty="0"/>
                        <a:t>#WE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dirty="0"/>
                        <a:t>‘1’ (no writes)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dirty="0"/>
                        <a:t> #WE</a:t>
                      </a:r>
                    </a:p>
                  </a:txBody>
                  <a:tcPr/>
                </a:tc>
                <a:extLst>
                  <a:ext uri="{0D108BD9-81ED-4DB2-BD59-A6C34878D82A}">
                    <a16:rowId xmlns:a16="http://schemas.microsoft.com/office/drawing/2014/main" val="2557594559"/>
                  </a:ext>
                </a:extLst>
              </a:tr>
              <a:tr h="370840">
                <a:tc>
                  <a:txBody>
                    <a:bodyPr/>
                    <a:lstStyle/>
                    <a:p>
                      <a:r>
                        <a:rPr lang="en-US" sz="1500"/>
                        <a:t>Memory Read</a:t>
                      </a:r>
                    </a:p>
                  </a:txBody>
                  <a:tcPr/>
                </a:tc>
                <a:tc>
                  <a:txBody>
                    <a:bodyPr/>
                    <a:lstStyle/>
                    <a:p>
                      <a:r>
                        <a:rPr lang="en-US" sz="1500"/>
                        <a:t>#OE</a:t>
                      </a:r>
                    </a:p>
                  </a:txBody>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dirty="0"/>
                        <a:t>#OE</a:t>
                      </a:r>
                    </a:p>
                  </a:txBody>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500" dirty="0"/>
                    </a:p>
                  </a:txBody>
                  <a:tcPr/>
                </a:tc>
                <a:extLst>
                  <a:ext uri="{0D108BD9-81ED-4DB2-BD59-A6C34878D82A}">
                    <a16:rowId xmlns:a16="http://schemas.microsoft.com/office/drawing/2014/main" val="1192613445"/>
                  </a:ext>
                </a:extLst>
              </a:tr>
              <a:tr h="370840">
                <a:tc>
                  <a:txBody>
                    <a:bodyPr/>
                    <a:lstStyle/>
                    <a:p>
                      <a:r>
                        <a:rPr lang="en-US" sz="1500" dirty="0"/>
                        <a:t>Memory Write, or Memory Read</a:t>
                      </a:r>
                    </a:p>
                  </a:txBody>
                  <a:tcPr/>
                </a:tc>
                <a:tc>
                  <a:txBody>
                    <a:bodyPr/>
                    <a:lstStyle/>
                    <a:p>
                      <a:r>
                        <a:rPr lang="en-US" sz="1500" dirty="0"/>
                        <a:t>#CE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dirty="0"/>
                        <a:t>(~SRAM Chip En)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dirty="0"/>
                        <a:t>(~EEPROM Chip En)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dirty="0"/>
                        <a:t>MMIO</a:t>
                      </a:r>
                    </a:p>
                  </a:txBody>
                  <a:tcPr/>
                </a:tc>
                <a:extLst>
                  <a:ext uri="{0D108BD9-81ED-4DB2-BD59-A6C34878D82A}">
                    <a16:rowId xmlns:a16="http://schemas.microsoft.com/office/drawing/2014/main" val="442694000"/>
                  </a:ext>
                </a:extLst>
              </a:tr>
            </a:tbl>
          </a:graphicData>
        </a:graphic>
      </p:graphicFrame>
      <p:sp>
        <p:nvSpPr>
          <p:cNvPr id="4" name="Rectangle 3">
            <a:hlinkClick r:id="rId2" action="ppaction://hlinksldjump"/>
            <a:extLst>
              <a:ext uri="{FF2B5EF4-FFF2-40B4-BE49-F238E27FC236}">
                <a16:creationId xmlns:a16="http://schemas.microsoft.com/office/drawing/2014/main" id="{63A1CBA5-F0E0-7F57-4A5A-BDC8D340B64A}"/>
              </a:ext>
            </a:extLst>
          </p:cNvPr>
          <p:cNvSpPr/>
          <p:nvPr/>
        </p:nvSpPr>
        <p:spPr>
          <a:xfrm>
            <a:off x="962677" y="4509632"/>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10: MEM Read</a:t>
            </a:r>
          </a:p>
        </p:txBody>
      </p:sp>
      <p:sp>
        <p:nvSpPr>
          <p:cNvPr id="5" name="TextBox 4">
            <a:hlinkClick r:id="rId3" action="ppaction://hlinksldjump"/>
            <a:extLst>
              <a:ext uri="{FF2B5EF4-FFF2-40B4-BE49-F238E27FC236}">
                <a16:creationId xmlns:a16="http://schemas.microsoft.com/office/drawing/2014/main" id="{9CE9938C-D5B0-D9CE-5038-967C8289C8DA}"/>
              </a:ext>
            </a:extLst>
          </p:cNvPr>
          <p:cNvSpPr txBox="1"/>
          <p:nvPr/>
        </p:nvSpPr>
        <p:spPr>
          <a:xfrm>
            <a:off x="1553041" y="4811354"/>
            <a:ext cx="851067" cy="184666"/>
          </a:xfrm>
          <a:prstGeom prst="rect">
            <a:avLst/>
          </a:prstGeom>
          <a:solidFill>
            <a:schemeClr val="bg1"/>
          </a:solidFill>
          <a:ln>
            <a:solidFill>
              <a:schemeClr val="accent1"/>
            </a:solidFill>
          </a:ln>
        </p:spPr>
        <p:txBody>
          <a:bodyPr wrap="none" tIns="0" bIns="0" rtlCol="0">
            <a:spAutoFit/>
          </a:bodyPr>
          <a:lstStyle/>
          <a:p>
            <a:r>
              <a:rPr lang="en-US" sz="1200" dirty="0" err="1"/>
              <a:t>FetchCycle</a:t>
            </a:r>
            <a:endParaRPr lang="en-US" sz="1200" dirty="0"/>
          </a:p>
        </p:txBody>
      </p:sp>
      <p:cxnSp>
        <p:nvCxnSpPr>
          <p:cNvPr id="6" name="Connector: Elbow 5">
            <a:extLst>
              <a:ext uri="{FF2B5EF4-FFF2-40B4-BE49-F238E27FC236}">
                <a16:creationId xmlns:a16="http://schemas.microsoft.com/office/drawing/2014/main" id="{AF306872-9F92-3B5E-FBE2-CCF2F6F5D745}"/>
              </a:ext>
            </a:extLst>
          </p:cNvPr>
          <p:cNvCxnSpPr>
            <a:cxnSpLocks/>
            <a:stCxn id="4" idx="3"/>
          </p:cNvCxnSpPr>
          <p:nvPr/>
        </p:nvCxnSpPr>
        <p:spPr>
          <a:xfrm>
            <a:off x="2425717" y="4601072"/>
            <a:ext cx="671648" cy="133024"/>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7" name="Connector: Elbow 6">
            <a:extLst>
              <a:ext uri="{FF2B5EF4-FFF2-40B4-BE49-F238E27FC236}">
                <a16:creationId xmlns:a16="http://schemas.microsoft.com/office/drawing/2014/main" id="{705CDBD8-A47B-E4FC-0251-5FB621C4536C}"/>
              </a:ext>
            </a:extLst>
          </p:cNvPr>
          <p:cNvCxnSpPr>
            <a:cxnSpLocks/>
          </p:cNvCxnSpPr>
          <p:nvPr/>
        </p:nvCxnSpPr>
        <p:spPr>
          <a:xfrm flipV="1">
            <a:off x="2376651" y="4883458"/>
            <a:ext cx="720715" cy="13239"/>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pic>
        <p:nvPicPr>
          <p:cNvPr id="8" name="Picture 2" descr="NOR logic - Wikipedia">
            <a:extLst>
              <a:ext uri="{FF2B5EF4-FFF2-40B4-BE49-F238E27FC236}">
                <a16:creationId xmlns:a16="http://schemas.microsoft.com/office/drawing/2014/main" id="{78EAA5D5-3C68-A772-8AED-6B715EC9241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5691" r="13725"/>
          <a:stretch/>
        </p:blipFill>
        <p:spPr bwMode="auto">
          <a:xfrm>
            <a:off x="2959035" y="4630547"/>
            <a:ext cx="619419" cy="36565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hlinkClick r:id="rId5" action="ppaction://hlinksldjump"/>
            <a:extLst>
              <a:ext uri="{FF2B5EF4-FFF2-40B4-BE49-F238E27FC236}">
                <a16:creationId xmlns:a16="http://schemas.microsoft.com/office/drawing/2014/main" id="{CF69501E-1FEA-44F4-0BD6-FA08D98C02F7}"/>
              </a:ext>
            </a:extLst>
          </p:cNvPr>
          <p:cNvSpPr txBox="1"/>
          <p:nvPr/>
        </p:nvSpPr>
        <p:spPr>
          <a:xfrm>
            <a:off x="8267740" y="4703907"/>
            <a:ext cx="439544" cy="184666"/>
          </a:xfrm>
          <a:prstGeom prst="rect">
            <a:avLst/>
          </a:prstGeom>
          <a:solidFill>
            <a:schemeClr val="bg1"/>
          </a:solidFill>
          <a:ln>
            <a:solidFill>
              <a:schemeClr val="accent1"/>
            </a:solidFill>
          </a:ln>
        </p:spPr>
        <p:txBody>
          <a:bodyPr wrap="none" tIns="0" bIns="0" rtlCol="0">
            <a:spAutoFit/>
          </a:bodyPr>
          <a:lstStyle/>
          <a:p>
            <a:r>
              <a:rPr lang="en-US" sz="1200"/>
              <a:t>#OE</a:t>
            </a:r>
          </a:p>
        </p:txBody>
      </p:sp>
      <p:cxnSp>
        <p:nvCxnSpPr>
          <p:cNvPr id="10" name="Connector: Elbow 9">
            <a:extLst>
              <a:ext uri="{FF2B5EF4-FFF2-40B4-BE49-F238E27FC236}">
                <a16:creationId xmlns:a16="http://schemas.microsoft.com/office/drawing/2014/main" id="{F9571CA4-30FF-36FF-79B4-64FD181CA11D}"/>
              </a:ext>
            </a:extLst>
          </p:cNvPr>
          <p:cNvCxnSpPr>
            <a:cxnSpLocks/>
          </p:cNvCxnSpPr>
          <p:nvPr/>
        </p:nvCxnSpPr>
        <p:spPr>
          <a:xfrm flipV="1">
            <a:off x="1896569" y="5883140"/>
            <a:ext cx="1908669" cy="20412"/>
          </a:xfrm>
          <a:prstGeom prst="bentConnector3">
            <a:avLst>
              <a:gd name="adj1" fmla="val 50000"/>
            </a:avLst>
          </a:prstGeom>
          <a:ln>
            <a:tailEnd type="none"/>
          </a:ln>
        </p:spPr>
        <p:style>
          <a:lnRef idx="1">
            <a:schemeClr val="accent1"/>
          </a:lnRef>
          <a:fillRef idx="0">
            <a:schemeClr val="accent1"/>
          </a:fillRef>
          <a:effectRef idx="0">
            <a:schemeClr val="accent1"/>
          </a:effectRef>
          <a:fontRef idx="minor">
            <a:schemeClr val="tx1"/>
          </a:fontRef>
        </p:style>
      </p:cxnSp>
      <p:cxnSp>
        <p:nvCxnSpPr>
          <p:cNvPr id="11" name="Connector: Elbow 10">
            <a:extLst>
              <a:ext uri="{FF2B5EF4-FFF2-40B4-BE49-F238E27FC236}">
                <a16:creationId xmlns:a16="http://schemas.microsoft.com/office/drawing/2014/main" id="{E4E86FAE-FD92-A78E-A2CF-6FCD2B00BDF7}"/>
              </a:ext>
            </a:extLst>
          </p:cNvPr>
          <p:cNvCxnSpPr>
            <a:cxnSpLocks/>
            <a:stCxn id="12" idx="3"/>
            <a:endCxn id="19" idx="1"/>
          </p:cNvCxnSpPr>
          <p:nvPr/>
        </p:nvCxnSpPr>
        <p:spPr>
          <a:xfrm flipV="1">
            <a:off x="4299190" y="5751496"/>
            <a:ext cx="3960618" cy="630"/>
          </a:xfrm>
          <a:prstGeom prst="bentConnector3">
            <a:avLst>
              <a:gd name="adj1" fmla="val 50000"/>
            </a:avLst>
          </a:prstGeom>
          <a:ln>
            <a:tailEnd type="none"/>
          </a:ln>
        </p:spPr>
        <p:style>
          <a:lnRef idx="1">
            <a:schemeClr val="accent1"/>
          </a:lnRef>
          <a:fillRef idx="0">
            <a:schemeClr val="accent1"/>
          </a:fillRef>
          <a:effectRef idx="0">
            <a:schemeClr val="accent1"/>
          </a:effectRef>
          <a:fontRef idx="minor">
            <a:schemeClr val="tx1"/>
          </a:fontRef>
        </p:style>
      </p:cxnSp>
      <p:pic>
        <p:nvPicPr>
          <p:cNvPr id="12" name="Picture 11" descr="Diagram&#10;&#10;Description automatically generated with low confidence">
            <a:extLst>
              <a:ext uri="{FF2B5EF4-FFF2-40B4-BE49-F238E27FC236}">
                <a16:creationId xmlns:a16="http://schemas.microsoft.com/office/drawing/2014/main" id="{551FA89A-A4E3-169D-0710-FEA7AAC876DC}"/>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50000" t="19257" r="4045" b="-1180"/>
          <a:stretch/>
        </p:blipFill>
        <p:spPr>
          <a:xfrm>
            <a:off x="3639903" y="5522360"/>
            <a:ext cx="659287" cy="459531"/>
          </a:xfrm>
          <a:prstGeom prst="rect">
            <a:avLst/>
          </a:prstGeom>
        </p:spPr>
      </p:pic>
      <p:cxnSp>
        <p:nvCxnSpPr>
          <p:cNvPr id="13" name="Connector: Elbow 12">
            <a:extLst>
              <a:ext uri="{FF2B5EF4-FFF2-40B4-BE49-F238E27FC236}">
                <a16:creationId xmlns:a16="http://schemas.microsoft.com/office/drawing/2014/main" id="{3F2E65A9-79AE-42E3-5ACE-9E6A4111AD78}"/>
              </a:ext>
            </a:extLst>
          </p:cNvPr>
          <p:cNvCxnSpPr>
            <a:cxnSpLocks/>
            <a:stCxn id="16" idx="3"/>
            <a:endCxn id="14" idx="1"/>
          </p:cNvCxnSpPr>
          <p:nvPr/>
        </p:nvCxnSpPr>
        <p:spPr>
          <a:xfrm>
            <a:off x="2425719" y="5563096"/>
            <a:ext cx="473157" cy="47032"/>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pic>
        <p:nvPicPr>
          <p:cNvPr id="14" name="Picture 13" descr="Diagram&#10;&#10;Description automatically generated with low confidence">
            <a:extLst>
              <a:ext uri="{FF2B5EF4-FFF2-40B4-BE49-F238E27FC236}">
                <a16:creationId xmlns:a16="http://schemas.microsoft.com/office/drawing/2014/main" id="{8C0C7F74-C14E-8F2D-4274-F1F3A9EAC67A}"/>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1192" r="58979" b="31050"/>
          <a:stretch>
            <a:fillRect/>
          </a:stretch>
        </p:blipFill>
        <p:spPr>
          <a:xfrm>
            <a:off x="2898876" y="5424882"/>
            <a:ext cx="547356" cy="370491"/>
          </a:xfrm>
          <a:prstGeom prst="rect">
            <a:avLst/>
          </a:prstGeom>
          <a:solidFill>
            <a:schemeClr val="bg1"/>
          </a:solidFill>
        </p:spPr>
      </p:pic>
      <p:pic>
        <p:nvPicPr>
          <p:cNvPr id="15" name="Picture 14" descr="Diagram&#10;&#10;Description automatically generated with low confidence">
            <a:extLst>
              <a:ext uri="{FF2B5EF4-FFF2-40B4-BE49-F238E27FC236}">
                <a16:creationId xmlns:a16="http://schemas.microsoft.com/office/drawing/2014/main" id="{44E51F48-65DC-1BDA-A17D-FCA1061A5A72}"/>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2053" r="58980" b="28024"/>
          <a:stretch>
            <a:fillRect/>
          </a:stretch>
        </p:blipFill>
        <p:spPr>
          <a:xfrm>
            <a:off x="4464525" y="5565504"/>
            <a:ext cx="535524" cy="386751"/>
          </a:xfrm>
          <a:prstGeom prst="rect">
            <a:avLst/>
          </a:prstGeom>
        </p:spPr>
      </p:pic>
      <p:sp>
        <p:nvSpPr>
          <p:cNvPr id="16" name="TextBox 15">
            <a:hlinkClick r:id="rId8" action="ppaction://hlinksldjump"/>
            <a:extLst>
              <a:ext uri="{FF2B5EF4-FFF2-40B4-BE49-F238E27FC236}">
                <a16:creationId xmlns:a16="http://schemas.microsoft.com/office/drawing/2014/main" id="{4C5F8198-5914-D64A-0EB6-5C75E3A9D07C}"/>
              </a:ext>
            </a:extLst>
          </p:cNvPr>
          <p:cNvSpPr txBox="1"/>
          <p:nvPr/>
        </p:nvSpPr>
        <p:spPr>
          <a:xfrm>
            <a:off x="1659162" y="5470763"/>
            <a:ext cx="766557" cy="184666"/>
          </a:xfrm>
          <a:prstGeom prst="rect">
            <a:avLst/>
          </a:prstGeom>
          <a:solidFill>
            <a:schemeClr val="bg1"/>
          </a:solidFill>
          <a:ln>
            <a:solidFill>
              <a:schemeClr val="accent1"/>
            </a:solidFill>
          </a:ln>
        </p:spPr>
        <p:txBody>
          <a:bodyPr wrap="none" tIns="0" bIns="0" rtlCol="0">
            <a:spAutoFit/>
          </a:bodyPr>
          <a:lstStyle/>
          <a:p>
            <a:r>
              <a:rPr lang="en-US" sz="1200"/>
              <a:t>Main CLK</a:t>
            </a:r>
          </a:p>
        </p:txBody>
      </p:sp>
      <p:sp>
        <p:nvSpPr>
          <p:cNvPr id="17" name="Rectangle 16">
            <a:hlinkClick r:id="rId2" action="ppaction://hlinksldjump"/>
            <a:extLst>
              <a:ext uri="{FF2B5EF4-FFF2-40B4-BE49-F238E27FC236}">
                <a16:creationId xmlns:a16="http://schemas.microsoft.com/office/drawing/2014/main" id="{6ACF243C-6489-7285-70AA-D96D466F3AAA}"/>
              </a:ext>
            </a:extLst>
          </p:cNvPr>
          <p:cNvSpPr/>
          <p:nvPr/>
        </p:nvSpPr>
        <p:spPr>
          <a:xfrm>
            <a:off x="962677" y="5820338"/>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11: MEM Write</a:t>
            </a:r>
          </a:p>
        </p:txBody>
      </p:sp>
      <p:cxnSp>
        <p:nvCxnSpPr>
          <p:cNvPr id="18" name="Straight Connector 17">
            <a:extLst>
              <a:ext uri="{FF2B5EF4-FFF2-40B4-BE49-F238E27FC236}">
                <a16:creationId xmlns:a16="http://schemas.microsoft.com/office/drawing/2014/main" id="{1CDAD533-B428-1104-F7AC-C409311F9F56}"/>
              </a:ext>
            </a:extLst>
          </p:cNvPr>
          <p:cNvCxnSpPr>
            <a:cxnSpLocks/>
            <a:stCxn id="14" idx="3"/>
          </p:cNvCxnSpPr>
          <p:nvPr/>
        </p:nvCxnSpPr>
        <p:spPr>
          <a:xfrm flipV="1">
            <a:off x="3446232" y="5610127"/>
            <a:ext cx="270746" cy="1"/>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0BC9C102-A9C5-A154-2828-D5F42F3082D9}"/>
              </a:ext>
            </a:extLst>
          </p:cNvPr>
          <p:cNvSpPr txBox="1"/>
          <p:nvPr/>
        </p:nvSpPr>
        <p:spPr>
          <a:xfrm>
            <a:off x="8259808" y="5670640"/>
            <a:ext cx="437940" cy="161711"/>
          </a:xfrm>
          <a:prstGeom prst="rect">
            <a:avLst/>
          </a:prstGeom>
          <a:noFill/>
          <a:ln>
            <a:solidFill>
              <a:schemeClr val="accent1"/>
            </a:solidFill>
          </a:ln>
        </p:spPr>
        <p:txBody>
          <a:bodyPr wrap="none" tIns="0" bIns="0" rtlCol="0">
            <a:spAutoFit/>
          </a:bodyPr>
          <a:lstStyle/>
          <a:p>
            <a:r>
              <a:rPr lang="en-US" sz="1051"/>
              <a:t>#WE</a:t>
            </a:r>
          </a:p>
        </p:txBody>
      </p:sp>
      <p:sp>
        <p:nvSpPr>
          <p:cNvPr id="20" name="TextBox 19">
            <a:hlinkClick r:id="rId3" action="ppaction://hlinksldjump"/>
            <a:extLst>
              <a:ext uri="{FF2B5EF4-FFF2-40B4-BE49-F238E27FC236}">
                <a16:creationId xmlns:a16="http://schemas.microsoft.com/office/drawing/2014/main" id="{088E158F-1688-9524-77FA-B515FFF7EA8B}"/>
              </a:ext>
            </a:extLst>
          </p:cNvPr>
          <p:cNvSpPr txBox="1"/>
          <p:nvPr/>
        </p:nvSpPr>
        <p:spPr>
          <a:xfrm>
            <a:off x="4440935" y="6362274"/>
            <a:ext cx="723275" cy="253916"/>
          </a:xfrm>
          <a:prstGeom prst="rect">
            <a:avLst/>
          </a:prstGeom>
        </p:spPr>
        <p:style>
          <a:lnRef idx="2">
            <a:schemeClr val="accent5"/>
          </a:lnRef>
          <a:fillRef idx="1">
            <a:schemeClr val="lt1"/>
          </a:fillRef>
          <a:effectRef idx="0">
            <a:schemeClr val="accent5"/>
          </a:effectRef>
          <a:fontRef idx="minor">
            <a:schemeClr val="dk1"/>
          </a:fontRef>
        </p:style>
        <p:txBody>
          <a:bodyPr wrap="none" rtlCol="0" anchor="ctr">
            <a:spAutoFit/>
          </a:bodyPr>
          <a:lstStyle/>
          <a:p>
            <a:r>
              <a:rPr lang="en-US" sz="1050" dirty="0"/>
              <a:t>Bus Grant</a:t>
            </a:r>
          </a:p>
        </p:txBody>
      </p:sp>
      <p:cxnSp>
        <p:nvCxnSpPr>
          <p:cNvPr id="25" name="Connector: Elbow 24">
            <a:extLst>
              <a:ext uri="{FF2B5EF4-FFF2-40B4-BE49-F238E27FC236}">
                <a16:creationId xmlns:a16="http://schemas.microsoft.com/office/drawing/2014/main" id="{604F0FBD-82F0-D4C6-F963-DC2412A78535}"/>
              </a:ext>
            </a:extLst>
          </p:cNvPr>
          <p:cNvCxnSpPr>
            <a:cxnSpLocks/>
            <a:endCxn id="9" idx="1"/>
          </p:cNvCxnSpPr>
          <p:nvPr/>
        </p:nvCxnSpPr>
        <p:spPr>
          <a:xfrm flipV="1">
            <a:off x="6051124" y="4796240"/>
            <a:ext cx="2216616" cy="14362"/>
          </a:xfrm>
          <a:prstGeom prst="bentConnector3">
            <a:avLst>
              <a:gd name="adj1" fmla="val 50000"/>
            </a:avLst>
          </a:prstGeom>
          <a:ln>
            <a:tailEnd type="non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2F8E27BB-D14C-C7AB-93C0-9AE3DF070A79}"/>
              </a:ext>
            </a:extLst>
          </p:cNvPr>
          <p:cNvPicPr>
            <a:picLocks noChangeAspect="1"/>
          </p:cNvPicPr>
          <p:nvPr/>
        </p:nvPicPr>
        <p:blipFill>
          <a:blip r:embed="rId9"/>
          <a:stretch>
            <a:fillRect/>
          </a:stretch>
        </p:blipFill>
        <p:spPr>
          <a:xfrm>
            <a:off x="6935583" y="4516878"/>
            <a:ext cx="851068" cy="588952"/>
          </a:xfrm>
          <a:prstGeom prst="rect">
            <a:avLst/>
          </a:prstGeom>
        </p:spPr>
      </p:pic>
      <p:pic>
        <p:nvPicPr>
          <p:cNvPr id="28" name="Picture 27">
            <a:extLst>
              <a:ext uri="{FF2B5EF4-FFF2-40B4-BE49-F238E27FC236}">
                <a16:creationId xmlns:a16="http://schemas.microsoft.com/office/drawing/2014/main" id="{256576E5-04C0-6159-C21B-FFBD89743023}"/>
              </a:ext>
            </a:extLst>
          </p:cNvPr>
          <p:cNvPicPr>
            <a:picLocks noChangeAspect="1"/>
          </p:cNvPicPr>
          <p:nvPr/>
        </p:nvPicPr>
        <p:blipFill>
          <a:blip r:embed="rId9"/>
          <a:stretch>
            <a:fillRect/>
          </a:stretch>
        </p:blipFill>
        <p:spPr>
          <a:xfrm>
            <a:off x="6935583" y="5456268"/>
            <a:ext cx="851068" cy="588952"/>
          </a:xfrm>
          <a:prstGeom prst="rect">
            <a:avLst/>
          </a:prstGeom>
        </p:spPr>
      </p:pic>
      <p:sp>
        <p:nvSpPr>
          <p:cNvPr id="36" name="TextBox 35">
            <a:extLst>
              <a:ext uri="{FF2B5EF4-FFF2-40B4-BE49-F238E27FC236}">
                <a16:creationId xmlns:a16="http://schemas.microsoft.com/office/drawing/2014/main" id="{B5D58FC3-D2CA-CDBC-61BE-AC04B0D6297F}"/>
              </a:ext>
            </a:extLst>
          </p:cNvPr>
          <p:cNvSpPr txBox="1"/>
          <p:nvPr/>
        </p:nvSpPr>
        <p:spPr>
          <a:xfrm>
            <a:off x="7249892" y="5900666"/>
            <a:ext cx="75107" cy="123111"/>
          </a:xfrm>
          <a:prstGeom prst="rect">
            <a:avLst/>
          </a:prstGeom>
          <a:solidFill>
            <a:srgbClr val="F5F4EF"/>
          </a:solidFill>
        </p:spPr>
        <p:txBody>
          <a:bodyPr wrap="square" lIns="0" tIns="0" rIns="0" bIns="0" rtlCol="0">
            <a:spAutoFit/>
          </a:bodyPr>
          <a:lstStyle/>
          <a:p>
            <a:pPr algn="ctr"/>
            <a:r>
              <a:rPr lang="en-US" sz="800" dirty="0"/>
              <a:t>4</a:t>
            </a:r>
          </a:p>
        </p:txBody>
      </p:sp>
      <p:sp>
        <p:nvSpPr>
          <p:cNvPr id="37" name="TextBox 36">
            <a:extLst>
              <a:ext uri="{FF2B5EF4-FFF2-40B4-BE49-F238E27FC236}">
                <a16:creationId xmlns:a16="http://schemas.microsoft.com/office/drawing/2014/main" id="{7AE880CD-657E-D6AD-434B-31F40EFEDD46}"/>
              </a:ext>
            </a:extLst>
          </p:cNvPr>
          <p:cNvSpPr txBox="1"/>
          <p:nvPr/>
        </p:nvSpPr>
        <p:spPr>
          <a:xfrm>
            <a:off x="7027384" y="5622871"/>
            <a:ext cx="75107" cy="123111"/>
          </a:xfrm>
          <a:prstGeom prst="rect">
            <a:avLst/>
          </a:prstGeom>
          <a:solidFill>
            <a:srgbClr val="F5F4EF"/>
          </a:solidFill>
        </p:spPr>
        <p:txBody>
          <a:bodyPr wrap="square" lIns="0" tIns="0" rIns="0" bIns="0" rtlCol="0">
            <a:spAutoFit/>
          </a:bodyPr>
          <a:lstStyle/>
          <a:p>
            <a:pPr algn="ctr"/>
            <a:r>
              <a:rPr lang="en-US" sz="800" dirty="0"/>
              <a:t>5</a:t>
            </a:r>
          </a:p>
        </p:txBody>
      </p:sp>
      <p:sp>
        <p:nvSpPr>
          <p:cNvPr id="38" name="TextBox 37">
            <a:extLst>
              <a:ext uri="{FF2B5EF4-FFF2-40B4-BE49-F238E27FC236}">
                <a16:creationId xmlns:a16="http://schemas.microsoft.com/office/drawing/2014/main" id="{A22B9C9D-7A87-6C6B-730C-DF6B8862DF0E}"/>
              </a:ext>
            </a:extLst>
          </p:cNvPr>
          <p:cNvSpPr txBox="1"/>
          <p:nvPr/>
        </p:nvSpPr>
        <p:spPr>
          <a:xfrm>
            <a:off x="7558407" y="5615725"/>
            <a:ext cx="75107" cy="123111"/>
          </a:xfrm>
          <a:prstGeom prst="rect">
            <a:avLst/>
          </a:prstGeom>
          <a:solidFill>
            <a:srgbClr val="F5F4EF"/>
          </a:solidFill>
        </p:spPr>
        <p:txBody>
          <a:bodyPr wrap="square" lIns="0" tIns="0" rIns="0" bIns="0" rtlCol="0">
            <a:spAutoFit/>
          </a:bodyPr>
          <a:lstStyle/>
          <a:p>
            <a:pPr algn="ctr"/>
            <a:r>
              <a:rPr lang="en-US" sz="800" dirty="0"/>
              <a:t>6</a:t>
            </a:r>
          </a:p>
        </p:txBody>
      </p:sp>
      <p:sp>
        <p:nvSpPr>
          <p:cNvPr id="21" name="TextBox 20">
            <a:extLst>
              <a:ext uri="{FF2B5EF4-FFF2-40B4-BE49-F238E27FC236}">
                <a16:creationId xmlns:a16="http://schemas.microsoft.com/office/drawing/2014/main" id="{207E5C7F-8DDF-CF9D-6871-5B9048646B4C}"/>
              </a:ext>
            </a:extLst>
          </p:cNvPr>
          <p:cNvSpPr txBox="1"/>
          <p:nvPr/>
        </p:nvSpPr>
        <p:spPr>
          <a:xfrm>
            <a:off x="4440935" y="3442691"/>
            <a:ext cx="806631" cy="246221"/>
          </a:xfrm>
          <a:prstGeom prst="rect">
            <a:avLst/>
          </a:prstGeom>
          <a:noFill/>
        </p:spPr>
        <p:txBody>
          <a:bodyPr wrap="none" rtlCol="0">
            <a:spAutoFit/>
          </a:bodyPr>
          <a:lstStyle/>
          <a:p>
            <a:r>
              <a:rPr lang="en-US" sz="1000" dirty="0"/>
              <a:t>148ns delay</a:t>
            </a:r>
          </a:p>
        </p:txBody>
      </p:sp>
      <p:pic>
        <p:nvPicPr>
          <p:cNvPr id="26" name="Picture 25">
            <a:extLst>
              <a:ext uri="{FF2B5EF4-FFF2-40B4-BE49-F238E27FC236}">
                <a16:creationId xmlns:a16="http://schemas.microsoft.com/office/drawing/2014/main" id="{E098F408-6085-E35C-1CC2-4E6CDC734E66}"/>
              </a:ext>
            </a:extLst>
          </p:cNvPr>
          <p:cNvPicPr>
            <a:picLocks noChangeAspect="1"/>
          </p:cNvPicPr>
          <p:nvPr/>
        </p:nvPicPr>
        <p:blipFill rotWithShape="1">
          <a:blip r:embed="rId10">
            <a:extLst>
              <a:ext uri="{28A0092B-C50C-407E-A947-70E740481C1C}">
                <a14:useLocalDpi xmlns:a14="http://schemas.microsoft.com/office/drawing/2010/main" val="0"/>
              </a:ext>
              <a:ext uri="{837473B0-CC2E-450A-ABE3-18F120FF3D39}">
                <a1611:picAttrSrcUrl xmlns:a1611="http://schemas.microsoft.com/office/drawing/2016/11/main" r:id="rId11"/>
              </a:ext>
            </a:extLst>
          </a:blip>
          <a:srcRect l="65790" t="23028" r="7330" b="48750"/>
          <a:stretch/>
        </p:blipFill>
        <p:spPr>
          <a:xfrm>
            <a:off x="5683643" y="4536933"/>
            <a:ext cx="778849" cy="604563"/>
          </a:xfrm>
          <a:prstGeom prst="rect">
            <a:avLst/>
          </a:prstGeom>
        </p:spPr>
      </p:pic>
      <p:cxnSp>
        <p:nvCxnSpPr>
          <p:cNvPr id="33" name="Connector: Elbow 32">
            <a:extLst>
              <a:ext uri="{FF2B5EF4-FFF2-40B4-BE49-F238E27FC236}">
                <a16:creationId xmlns:a16="http://schemas.microsoft.com/office/drawing/2014/main" id="{6323B914-0FEE-3B76-0926-50C39BFA20B9}"/>
              </a:ext>
            </a:extLst>
          </p:cNvPr>
          <p:cNvCxnSpPr>
            <a:cxnSpLocks/>
            <a:stCxn id="8" idx="3"/>
          </p:cNvCxnSpPr>
          <p:nvPr/>
        </p:nvCxnSpPr>
        <p:spPr>
          <a:xfrm flipV="1">
            <a:off x="3578454" y="4094654"/>
            <a:ext cx="937661" cy="718721"/>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357FAA15-F0A1-DFC7-CC7A-CECBCD8B2E6A}"/>
              </a:ext>
            </a:extLst>
          </p:cNvPr>
          <p:cNvCxnSpPr>
            <a:cxnSpLocks/>
            <a:stCxn id="8" idx="3"/>
          </p:cNvCxnSpPr>
          <p:nvPr/>
        </p:nvCxnSpPr>
        <p:spPr>
          <a:xfrm>
            <a:off x="3578454" y="4813375"/>
            <a:ext cx="2116511" cy="100166"/>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B60FC402-811E-DE0E-26DE-60848964F8CB}"/>
              </a:ext>
            </a:extLst>
          </p:cNvPr>
          <p:cNvCxnSpPr>
            <a:cxnSpLocks/>
          </p:cNvCxnSpPr>
          <p:nvPr/>
        </p:nvCxnSpPr>
        <p:spPr>
          <a:xfrm>
            <a:off x="4955659" y="4123638"/>
            <a:ext cx="844916" cy="593324"/>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pic>
        <p:nvPicPr>
          <p:cNvPr id="1026" name="Picture 2" descr="7400 Series Guide: 74LS31 Delay Elements">
            <a:extLst>
              <a:ext uri="{FF2B5EF4-FFF2-40B4-BE49-F238E27FC236}">
                <a16:creationId xmlns:a16="http://schemas.microsoft.com/office/drawing/2014/main" id="{0E0B09A6-EAA6-1F48-97B2-11B4C78B38CD}"/>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t="4215" b="4599"/>
          <a:stretch>
            <a:fillRect/>
          </a:stretch>
        </p:blipFill>
        <p:spPr bwMode="auto">
          <a:xfrm rot="16200000">
            <a:off x="4360961" y="3633537"/>
            <a:ext cx="900784" cy="937663"/>
          </a:xfrm>
          <a:prstGeom prst="rect">
            <a:avLst/>
          </a:prstGeom>
          <a:noFill/>
          <a:extLst>
            <a:ext uri="{909E8E84-426E-40DD-AFC4-6F175D3DCCD1}">
              <a14:hiddenFill xmlns:a14="http://schemas.microsoft.com/office/drawing/2010/main">
                <a:solidFill>
                  <a:srgbClr val="FFFFFF"/>
                </a:solidFill>
              </a14:hiddenFill>
            </a:ext>
          </a:extLst>
        </p:spPr>
      </p:pic>
      <p:sp>
        <p:nvSpPr>
          <p:cNvPr id="49" name="TextBox 48">
            <a:extLst>
              <a:ext uri="{FF2B5EF4-FFF2-40B4-BE49-F238E27FC236}">
                <a16:creationId xmlns:a16="http://schemas.microsoft.com/office/drawing/2014/main" id="{BE7AC6B3-0634-6563-89CF-9390C4F439A7}"/>
              </a:ext>
            </a:extLst>
          </p:cNvPr>
          <p:cNvSpPr txBox="1"/>
          <p:nvPr/>
        </p:nvSpPr>
        <p:spPr>
          <a:xfrm>
            <a:off x="5584796" y="3993678"/>
            <a:ext cx="2175596" cy="400110"/>
          </a:xfrm>
          <a:prstGeom prst="rect">
            <a:avLst/>
          </a:prstGeom>
          <a:noFill/>
        </p:spPr>
        <p:txBody>
          <a:bodyPr wrap="none" rtlCol="0">
            <a:spAutoFit/>
          </a:bodyPr>
          <a:lstStyle/>
          <a:p>
            <a:r>
              <a:rPr lang="en-US" sz="1000" dirty="0" err="1"/>
              <a:t>OR+Delay</a:t>
            </a:r>
            <a:r>
              <a:rPr lang="en-US" sz="1000" dirty="0"/>
              <a:t> postpones the start of #OE, </a:t>
            </a:r>
          </a:p>
          <a:p>
            <a:r>
              <a:rPr lang="en-US" sz="1000" dirty="0"/>
              <a:t>but doesn’t impact its end</a:t>
            </a:r>
          </a:p>
        </p:txBody>
      </p:sp>
    </p:spTree>
    <p:extLst>
      <p:ext uri="{BB962C8B-B14F-4D97-AF65-F5344CB8AC3E}">
        <p14:creationId xmlns:p14="http://schemas.microsoft.com/office/powerpoint/2010/main" val="19340695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Rectangle 87">
            <a:extLst>
              <a:ext uri="{FF2B5EF4-FFF2-40B4-BE49-F238E27FC236}">
                <a16:creationId xmlns:a16="http://schemas.microsoft.com/office/drawing/2014/main" id="{84B0C0EA-E1BC-22EA-4FBA-4B1605043482}"/>
              </a:ext>
            </a:extLst>
          </p:cNvPr>
          <p:cNvSpPr/>
          <p:nvPr/>
        </p:nvSpPr>
        <p:spPr>
          <a:xfrm>
            <a:off x="7102498" y="4837755"/>
            <a:ext cx="170644" cy="1474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6CA3F9AB-473D-4843-A447-4D0724F39502}"/>
              </a:ext>
            </a:extLst>
          </p:cNvPr>
          <p:cNvSpPr/>
          <p:nvPr/>
        </p:nvSpPr>
        <p:spPr>
          <a:xfrm>
            <a:off x="7052319" y="3755751"/>
            <a:ext cx="211336" cy="2144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C80551B-3875-A41D-9C11-2189323D0083}"/>
              </a:ext>
            </a:extLst>
          </p:cNvPr>
          <p:cNvSpPr/>
          <p:nvPr/>
        </p:nvSpPr>
        <p:spPr>
          <a:xfrm>
            <a:off x="7105277" y="4531330"/>
            <a:ext cx="158379" cy="1381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Picture 52">
            <a:extLst>
              <a:ext uri="{FF2B5EF4-FFF2-40B4-BE49-F238E27FC236}">
                <a16:creationId xmlns:a16="http://schemas.microsoft.com/office/drawing/2014/main" id="{9E4FFC7B-2818-49AF-601C-FFCA92B8AF31}"/>
              </a:ext>
            </a:extLst>
          </p:cNvPr>
          <p:cNvPicPr>
            <a:picLocks noChangeAspect="1"/>
          </p:cNvPicPr>
          <p:nvPr/>
        </p:nvPicPr>
        <p:blipFill>
          <a:blip r:embed="rId3"/>
          <a:stretch>
            <a:fillRect/>
          </a:stretch>
        </p:blipFill>
        <p:spPr>
          <a:xfrm rot="5400000">
            <a:off x="5435928" y="3823026"/>
            <a:ext cx="2361877" cy="1697599"/>
          </a:xfrm>
          <a:prstGeom prst="rect">
            <a:avLst/>
          </a:prstGeom>
        </p:spPr>
      </p:pic>
      <p:sp>
        <p:nvSpPr>
          <p:cNvPr id="5" name="Title 4">
            <a:extLst>
              <a:ext uri="{FF2B5EF4-FFF2-40B4-BE49-F238E27FC236}">
                <a16:creationId xmlns:a16="http://schemas.microsoft.com/office/drawing/2014/main" id="{9BE396E5-0BAD-297C-B1A0-7FBBA301D6C3}"/>
              </a:ext>
            </a:extLst>
          </p:cNvPr>
          <p:cNvSpPr>
            <a:spLocks noGrp="1"/>
          </p:cNvSpPr>
          <p:nvPr>
            <p:ph type="ctrTitle"/>
          </p:nvPr>
        </p:nvSpPr>
        <p:spPr/>
        <p:txBody>
          <a:bodyPr/>
          <a:lstStyle/>
          <a:p>
            <a:r>
              <a:rPr lang="en-US"/>
              <a:t>SRAM (v2.0)</a:t>
            </a:r>
          </a:p>
        </p:txBody>
      </p:sp>
      <p:sp>
        <p:nvSpPr>
          <p:cNvPr id="1040" name="Rectangle 1039">
            <a:extLst>
              <a:ext uri="{FF2B5EF4-FFF2-40B4-BE49-F238E27FC236}">
                <a16:creationId xmlns:a16="http://schemas.microsoft.com/office/drawing/2014/main" id="{3036A34F-87E3-4CAD-910D-E76DFED40169}"/>
              </a:ext>
            </a:extLst>
          </p:cNvPr>
          <p:cNvSpPr/>
          <p:nvPr/>
        </p:nvSpPr>
        <p:spPr>
          <a:xfrm>
            <a:off x="9730227" y="869500"/>
            <a:ext cx="282975" cy="5624169"/>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t>Data </a:t>
            </a:r>
          </a:p>
          <a:p>
            <a:pPr algn="ctr"/>
            <a:endParaRPr lang="en-US"/>
          </a:p>
          <a:p>
            <a:pPr algn="ctr"/>
            <a:r>
              <a:rPr lang="en-US"/>
              <a:t>  Bus </a:t>
            </a:r>
          </a:p>
        </p:txBody>
      </p:sp>
      <p:sp>
        <p:nvSpPr>
          <p:cNvPr id="16" name="Arrow: Left-Right 15">
            <a:extLst>
              <a:ext uri="{FF2B5EF4-FFF2-40B4-BE49-F238E27FC236}">
                <a16:creationId xmlns:a16="http://schemas.microsoft.com/office/drawing/2014/main" id="{47BEA703-448D-4E43-ABA5-04151F81CF6A}"/>
              </a:ext>
            </a:extLst>
          </p:cNvPr>
          <p:cNvSpPr/>
          <p:nvPr/>
        </p:nvSpPr>
        <p:spPr>
          <a:xfrm>
            <a:off x="7278141" y="5164146"/>
            <a:ext cx="2452087" cy="346929"/>
          </a:xfrm>
          <a:prstGeom prst="leftRightArrow">
            <a:avLst/>
          </a:prstGeom>
          <a:solidFill>
            <a:schemeClr val="accent6">
              <a:lumMod val="60000"/>
              <a:lumOff val="4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a:solidFill>
                  <a:schemeClr val="tx1"/>
                </a:solidFill>
              </a:rPr>
              <a:t>I/O[0:7]</a:t>
            </a:r>
          </a:p>
        </p:txBody>
      </p:sp>
      <p:cxnSp>
        <p:nvCxnSpPr>
          <p:cNvPr id="110" name="Connector: Elbow 109">
            <a:extLst>
              <a:ext uri="{FF2B5EF4-FFF2-40B4-BE49-F238E27FC236}">
                <a16:creationId xmlns:a16="http://schemas.microsoft.com/office/drawing/2014/main" id="{FB0F4F5E-9752-4378-B44B-2AF2DF94A47B}"/>
              </a:ext>
            </a:extLst>
          </p:cNvPr>
          <p:cNvCxnSpPr>
            <a:cxnSpLocks/>
            <a:stCxn id="9" idx="3"/>
            <a:endCxn id="106" idx="3"/>
          </p:cNvCxnSpPr>
          <p:nvPr/>
        </p:nvCxnSpPr>
        <p:spPr>
          <a:xfrm>
            <a:off x="2425716" y="2458810"/>
            <a:ext cx="4837939" cy="1404187"/>
          </a:xfrm>
          <a:prstGeom prst="bentConnector3">
            <a:avLst>
              <a:gd name="adj1" fmla="val 104725"/>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D66B736-BA21-A3E7-3B68-EA5C25E6CB68}"/>
              </a:ext>
            </a:extLst>
          </p:cNvPr>
          <p:cNvSpPr txBox="1"/>
          <p:nvPr/>
        </p:nvSpPr>
        <p:spPr>
          <a:xfrm rot="5400000">
            <a:off x="6201450" y="4537392"/>
            <a:ext cx="745717" cy="369332"/>
          </a:xfrm>
          <a:prstGeom prst="rect">
            <a:avLst/>
          </a:prstGeom>
          <a:noFill/>
        </p:spPr>
        <p:txBody>
          <a:bodyPr wrap="none" rtlCol="0">
            <a:spAutoFit/>
          </a:bodyPr>
          <a:lstStyle/>
          <a:p>
            <a:r>
              <a:rPr lang="en-US"/>
              <a:t>SRAM</a:t>
            </a:r>
          </a:p>
        </p:txBody>
      </p:sp>
      <p:sp>
        <p:nvSpPr>
          <p:cNvPr id="73" name="Arrow: Right 72">
            <a:extLst>
              <a:ext uri="{FF2B5EF4-FFF2-40B4-BE49-F238E27FC236}">
                <a16:creationId xmlns:a16="http://schemas.microsoft.com/office/drawing/2014/main" id="{D9A714B9-C469-52CF-416E-8652B5D683D8}"/>
              </a:ext>
            </a:extLst>
          </p:cNvPr>
          <p:cNvSpPr/>
          <p:nvPr/>
        </p:nvSpPr>
        <p:spPr>
          <a:xfrm>
            <a:off x="4501207" y="4709019"/>
            <a:ext cx="1241944"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a:t>A0..A15</a:t>
            </a:r>
          </a:p>
        </p:txBody>
      </p:sp>
      <p:pic>
        <p:nvPicPr>
          <p:cNvPr id="7" name="Picture 6">
            <a:hlinkClick r:id="rId4" action="ppaction://hlinksldjump"/>
            <a:extLst>
              <a:ext uri="{FF2B5EF4-FFF2-40B4-BE49-F238E27FC236}">
                <a16:creationId xmlns:a16="http://schemas.microsoft.com/office/drawing/2014/main" id="{CE0A0B2E-B32C-3E12-8443-DEC701D2042F}"/>
              </a:ext>
            </a:extLst>
          </p:cNvPr>
          <p:cNvPicPr>
            <a:picLocks noChangeAspect="1"/>
          </p:cNvPicPr>
          <p:nvPr/>
        </p:nvPicPr>
        <p:blipFill>
          <a:blip r:embed="rId5"/>
          <a:stretch>
            <a:fillRect/>
          </a:stretch>
        </p:blipFill>
        <p:spPr>
          <a:xfrm>
            <a:off x="11038384" y="6427540"/>
            <a:ext cx="1076851" cy="222744"/>
          </a:xfrm>
          <a:prstGeom prst="rect">
            <a:avLst/>
          </a:prstGeom>
        </p:spPr>
      </p:pic>
      <p:sp>
        <p:nvSpPr>
          <p:cNvPr id="10" name="Slide Number Placeholder 4">
            <a:extLst>
              <a:ext uri="{FF2B5EF4-FFF2-40B4-BE49-F238E27FC236}">
                <a16:creationId xmlns:a16="http://schemas.microsoft.com/office/drawing/2014/main" id="{55BC07DB-924C-0058-602E-334FEC8F3C87}"/>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16</a:t>
            </a:fld>
            <a:endParaRPr lang="en-US" b="1">
              <a:solidFill>
                <a:schemeClr val="bg1"/>
              </a:solidFill>
            </a:endParaRPr>
          </a:p>
        </p:txBody>
      </p:sp>
      <p:sp>
        <p:nvSpPr>
          <p:cNvPr id="3" name="Rectangle 2">
            <a:extLst>
              <a:ext uri="{FF2B5EF4-FFF2-40B4-BE49-F238E27FC236}">
                <a16:creationId xmlns:a16="http://schemas.microsoft.com/office/drawing/2014/main" id="{EA9B9D24-7EA6-3FB5-3F69-E1952E804511}"/>
              </a:ext>
            </a:extLst>
          </p:cNvPr>
          <p:cNvSpPr/>
          <p:nvPr/>
        </p:nvSpPr>
        <p:spPr>
          <a:xfrm>
            <a:off x="4254290" y="3242467"/>
            <a:ext cx="282975" cy="325120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vert="vert" rtlCol="0" anchor="ctr"/>
          <a:lstStyle/>
          <a:p>
            <a:pPr algn="ctr"/>
            <a:r>
              <a:rPr lang="en-US"/>
              <a:t>Address  Bus  +  Read/Write </a:t>
            </a:r>
          </a:p>
        </p:txBody>
      </p:sp>
      <p:cxnSp>
        <p:nvCxnSpPr>
          <p:cNvPr id="22" name="Connector: Elbow 21">
            <a:extLst>
              <a:ext uri="{FF2B5EF4-FFF2-40B4-BE49-F238E27FC236}">
                <a16:creationId xmlns:a16="http://schemas.microsoft.com/office/drawing/2014/main" id="{01A6B392-CD60-3071-06E2-E94E47E03A90}"/>
              </a:ext>
            </a:extLst>
          </p:cNvPr>
          <p:cNvCxnSpPr>
            <a:cxnSpLocks/>
            <a:stCxn id="8" idx="3"/>
            <a:endCxn id="23" idx="3"/>
          </p:cNvCxnSpPr>
          <p:nvPr/>
        </p:nvCxnSpPr>
        <p:spPr>
          <a:xfrm>
            <a:off x="2446173" y="1861881"/>
            <a:ext cx="4817483" cy="2738519"/>
          </a:xfrm>
          <a:prstGeom prst="bentConnector3">
            <a:avLst>
              <a:gd name="adj1" fmla="val 112061"/>
            </a:avLst>
          </a:prstGeom>
          <a:ln>
            <a:tailEnd type="triangle"/>
          </a:ln>
        </p:spPr>
        <p:style>
          <a:lnRef idx="1">
            <a:schemeClr val="accent1"/>
          </a:lnRef>
          <a:fillRef idx="0">
            <a:schemeClr val="accent1"/>
          </a:fillRef>
          <a:effectRef idx="0">
            <a:schemeClr val="accent1"/>
          </a:effectRef>
          <a:fontRef idx="minor">
            <a:schemeClr val="tx1"/>
          </a:fontRef>
        </p:style>
      </p:cxnSp>
      <p:sp>
        <p:nvSpPr>
          <p:cNvPr id="81" name="Rectangle 80">
            <a:hlinkClick r:id="rId6" action="ppaction://hlinksldjump"/>
            <a:extLst>
              <a:ext uri="{FF2B5EF4-FFF2-40B4-BE49-F238E27FC236}">
                <a16:creationId xmlns:a16="http://schemas.microsoft.com/office/drawing/2014/main" id="{5D440DCF-9807-96B0-8ED7-F62F8B208602}"/>
              </a:ext>
            </a:extLst>
          </p:cNvPr>
          <p:cNvSpPr/>
          <p:nvPr/>
        </p:nvSpPr>
        <p:spPr>
          <a:xfrm>
            <a:off x="962677" y="1222800"/>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~SRAM Chip En</a:t>
            </a:r>
          </a:p>
        </p:txBody>
      </p:sp>
      <p:cxnSp>
        <p:nvCxnSpPr>
          <p:cNvPr id="82" name="Connector: Elbow 81">
            <a:extLst>
              <a:ext uri="{FF2B5EF4-FFF2-40B4-BE49-F238E27FC236}">
                <a16:creationId xmlns:a16="http://schemas.microsoft.com/office/drawing/2014/main" id="{D0EDEB23-3381-CF40-1BC4-3A1E76AF7C2A}"/>
              </a:ext>
            </a:extLst>
          </p:cNvPr>
          <p:cNvCxnSpPr>
            <a:cxnSpLocks/>
            <a:stCxn id="81" idx="3"/>
            <a:endCxn id="88" idx="3"/>
          </p:cNvCxnSpPr>
          <p:nvPr/>
        </p:nvCxnSpPr>
        <p:spPr>
          <a:xfrm>
            <a:off x="2425717" y="1314241"/>
            <a:ext cx="4847424" cy="3597263"/>
          </a:xfrm>
          <a:prstGeom prst="bentConnector3">
            <a:avLst>
              <a:gd name="adj1" fmla="val 130249"/>
            </a:avLst>
          </a:prstGeom>
          <a:ln>
            <a:tailEnd type="none"/>
          </a:ln>
        </p:spPr>
        <p:style>
          <a:lnRef idx="1">
            <a:schemeClr val="accent1"/>
          </a:lnRef>
          <a:fillRef idx="0">
            <a:schemeClr val="accent1"/>
          </a:fillRef>
          <a:effectRef idx="0">
            <a:schemeClr val="accent1"/>
          </a:effectRef>
          <a:fontRef idx="minor">
            <a:schemeClr val="tx1"/>
          </a:fontRef>
        </p:style>
      </p:cxnSp>
      <p:sp>
        <p:nvSpPr>
          <p:cNvPr id="8" name="TextBox 7">
            <a:hlinkClick r:id="rId7" action="ppaction://hlinksldjump"/>
            <a:extLst>
              <a:ext uri="{FF2B5EF4-FFF2-40B4-BE49-F238E27FC236}">
                <a16:creationId xmlns:a16="http://schemas.microsoft.com/office/drawing/2014/main" id="{817BB199-CE53-CE81-5CDA-C8821186C829}"/>
              </a:ext>
            </a:extLst>
          </p:cNvPr>
          <p:cNvSpPr txBox="1"/>
          <p:nvPr/>
        </p:nvSpPr>
        <p:spPr>
          <a:xfrm>
            <a:off x="2006629" y="1769548"/>
            <a:ext cx="439544" cy="184666"/>
          </a:xfrm>
          <a:prstGeom prst="rect">
            <a:avLst/>
          </a:prstGeom>
          <a:solidFill>
            <a:schemeClr val="bg1"/>
          </a:solidFill>
          <a:ln>
            <a:solidFill>
              <a:schemeClr val="accent1"/>
            </a:solidFill>
          </a:ln>
        </p:spPr>
        <p:txBody>
          <a:bodyPr wrap="none" tIns="0" bIns="0" rtlCol="0">
            <a:spAutoFit/>
          </a:bodyPr>
          <a:lstStyle/>
          <a:p>
            <a:r>
              <a:rPr lang="en-US" sz="1200" dirty="0"/>
              <a:t>#OE</a:t>
            </a:r>
          </a:p>
        </p:txBody>
      </p:sp>
      <p:sp>
        <p:nvSpPr>
          <p:cNvPr id="9" name="TextBox 8">
            <a:hlinkClick r:id="rId7" action="ppaction://hlinksldjump"/>
            <a:extLst>
              <a:ext uri="{FF2B5EF4-FFF2-40B4-BE49-F238E27FC236}">
                <a16:creationId xmlns:a16="http://schemas.microsoft.com/office/drawing/2014/main" id="{CFFFFFB3-E644-0CA6-EC8E-82C1E6B8613E}"/>
              </a:ext>
            </a:extLst>
          </p:cNvPr>
          <p:cNvSpPr txBox="1"/>
          <p:nvPr/>
        </p:nvSpPr>
        <p:spPr>
          <a:xfrm>
            <a:off x="1987776" y="2377954"/>
            <a:ext cx="437940" cy="161711"/>
          </a:xfrm>
          <a:prstGeom prst="rect">
            <a:avLst/>
          </a:prstGeom>
          <a:noFill/>
          <a:ln>
            <a:solidFill>
              <a:schemeClr val="accent1"/>
            </a:solidFill>
          </a:ln>
        </p:spPr>
        <p:txBody>
          <a:bodyPr wrap="none" tIns="0" bIns="0" rtlCol="0">
            <a:spAutoFit/>
          </a:bodyPr>
          <a:lstStyle/>
          <a:p>
            <a:r>
              <a:rPr lang="en-US" sz="1051" dirty="0"/>
              <a:t>#WE</a:t>
            </a:r>
          </a:p>
        </p:txBody>
      </p:sp>
    </p:spTree>
    <p:extLst>
      <p:ext uri="{BB962C8B-B14F-4D97-AF65-F5344CB8AC3E}">
        <p14:creationId xmlns:p14="http://schemas.microsoft.com/office/powerpoint/2010/main" val="3127032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Rectangle 84">
            <a:extLst>
              <a:ext uri="{FF2B5EF4-FFF2-40B4-BE49-F238E27FC236}">
                <a16:creationId xmlns:a16="http://schemas.microsoft.com/office/drawing/2014/main" id="{1BE6810C-42F2-FABB-06F3-14CFBEA1F7E3}"/>
              </a:ext>
            </a:extLst>
          </p:cNvPr>
          <p:cNvSpPr/>
          <p:nvPr/>
        </p:nvSpPr>
        <p:spPr>
          <a:xfrm>
            <a:off x="5939466" y="4323215"/>
            <a:ext cx="142519" cy="234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FFFF2E-7605-4905-B239-2F1537E1D807}"/>
              </a:ext>
            </a:extLst>
          </p:cNvPr>
          <p:cNvSpPr>
            <a:spLocks noGrp="1"/>
          </p:cNvSpPr>
          <p:nvPr>
            <p:ph type="ctrTitle"/>
          </p:nvPr>
        </p:nvSpPr>
        <p:spPr>
          <a:xfrm>
            <a:off x="914400" y="124693"/>
            <a:ext cx="3840480" cy="457200"/>
          </a:xfrm>
          <a:prstGeom prst="rect">
            <a:avLst/>
          </a:prstGeom>
        </p:spPr>
        <p:txBody>
          <a:bodyPr/>
          <a:lstStyle/>
          <a:p>
            <a:r>
              <a:rPr lang="en-US"/>
              <a:t>EEPROM (v2.0)</a:t>
            </a:r>
          </a:p>
        </p:txBody>
      </p:sp>
      <p:sp>
        <p:nvSpPr>
          <p:cNvPr id="39" name="Rectangle 38">
            <a:extLst>
              <a:ext uri="{FF2B5EF4-FFF2-40B4-BE49-F238E27FC236}">
                <a16:creationId xmlns:a16="http://schemas.microsoft.com/office/drawing/2014/main" id="{21BFEEB5-A39E-B284-4B24-202C8C74E161}"/>
              </a:ext>
            </a:extLst>
          </p:cNvPr>
          <p:cNvSpPr/>
          <p:nvPr/>
        </p:nvSpPr>
        <p:spPr>
          <a:xfrm>
            <a:off x="2560515" y="5518714"/>
            <a:ext cx="7242495" cy="235389"/>
          </a:xfrm>
          <a:prstGeom prst="rect">
            <a:avLst/>
          </a:prstGeom>
        </p:spPr>
        <p:style>
          <a:lnRef idx="1">
            <a:schemeClr val="accent6"/>
          </a:lnRef>
          <a:fillRef idx="2">
            <a:schemeClr val="accent6"/>
          </a:fillRef>
          <a:effectRef idx="1">
            <a:schemeClr val="accent6"/>
          </a:effectRef>
          <a:fontRef idx="minor">
            <a:schemeClr val="dk1"/>
          </a:fontRef>
        </p:style>
        <p:txBody>
          <a:bodyPr vert="horz" rtlCol="0" anchor="ctr"/>
          <a:lstStyle/>
          <a:p>
            <a:pPr algn="ctr"/>
            <a:r>
              <a:rPr lang="en-US"/>
              <a:t>Data  Bus </a:t>
            </a:r>
          </a:p>
        </p:txBody>
      </p:sp>
      <p:pic>
        <p:nvPicPr>
          <p:cNvPr id="77" name="Picture 2" descr="The Ben Eater EEPROM Programmer, 28C256 and Software Data Protection –  Bread80.com">
            <a:extLst>
              <a:ext uri="{FF2B5EF4-FFF2-40B4-BE49-F238E27FC236}">
                <a16:creationId xmlns:a16="http://schemas.microsoft.com/office/drawing/2014/main" id="{7592DFCB-CA42-5F01-2640-7953877F85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5357850" y="2881518"/>
            <a:ext cx="1647825" cy="2295525"/>
          </a:xfrm>
          <a:prstGeom prst="rect">
            <a:avLst/>
          </a:prstGeom>
          <a:noFill/>
          <a:extLst>
            <a:ext uri="{909E8E84-426E-40DD-AFC4-6F175D3DCCD1}">
              <a14:hiddenFill xmlns:a14="http://schemas.microsoft.com/office/drawing/2010/main">
                <a:solidFill>
                  <a:srgbClr val="FFFFFF"/>
                </a:solidFill>
              </a14:hiddenFill>
            </a:ext>
          </a:extLst>
        </p:spPr>
      </p:pic>
      <p:sp>
        <p:nvSpPr>
          <p:cNvPr id="78" name="TextBox 77">
            <a:extLst>
              <a:ext uri="{FF2B5EF4-FFF2-40B4-BE49-F238E27FC236}">
                <a16:creationId xmlns:a16="http://schemas.microsoft.com/office/drawing/2014/main" id="{B58A3450-8A62-4AAE-3510-4811966D5101}"/>
              </a:ext>
            </a:extLst>
          </p:cNvPr>
          <p:cNvSpPr txBox="1"/>
          <p:nvPr/>
        </p:nvSpPr>
        <p:spPr>
          <a:xfrm>
            <a:off x="5584388" y="3825225"/>
            <a:ext cx="1194751" cy="307777"/>
          </a:xfrm>
          <a:prstGeom prst="rect">
            <a:avLst/>
          </a:prstGeom>
          <a:noFill/>
        </p:spPr>
        <p:txBody>
          <a:bodyPr wrap="none" rtlCol="0">
            <a:spAutoFit/>
          </a:bodyPr>
          <a:lstStyle/>
          <a:p>
            <a:r>
              <a:rPr lang="en-US" sz="1400"/>
              <a:t>Prog EEPROM</a:t>
            </a:r>
          </a:p>
        </p:txBody>
      </p:sp>
      <p:sp>
        <p:nvSpPr>
          <p:cNvPr id="79" name="Arrow: Right 78">
            <a:extLst>
              <a:ext uri="{FF2B5EF4-FFF2-40B4-BE49-F238E27FC236}">
                <a16:creationId xmlns:a16="http://schemas.microsoft.com/office/drawing/2014/main" id="{58F40A20-DE12-09C1-FFD2-6EAAD6A93716}"/>
              </a:ext>
            </a:extLst>
          </p:cNvPr>
          <p:cNvSpPr/>
          <p:nvPr/>
        </p:nvSpPr>
        <p:spPr>
          <a:xfrm rot="5400000">
            <a:off x="5872093" y="2458171"/>
            <a:ext cx="619336" cy="988109"/>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vert="vert270" rtlCol="0" anchor="ctr"/>
          <a:lstStyle/>
          <a:p>
            <a:pPr algn="ctr"/>
            <a:r>
              <a:rPr lang="en-US" sz="1200" err="1"/>
              <a:t>Addr</a:t>
            </a:r>
            <a:endParaRPr lang="en-US" sz="1200"/>
          </a:p>
          <a:p>
            <a:pPr algn="ctr"/>
            <a:r>
              <a:rPr lang="en-US" sz="1200"/>
              <a:t>[15:0]</a:t>
            </a:r>
          </a:p>
        </p:txBody>
      </p:sp>
      <p:sp>
        <p:nvSpPr>
          <p:cNvPr id="97" name="Arrow: Right 96">
            <a:hlinkClick r:id="rId4" action="ppaction://hlinksldjump"/>
            <a:extLst>
              <a:ext uri="{FF2B5EF4-FFF2-40B4-BE49-F238E27FC236}">
                <a16:creationId xmlns:a16="http://schemas.microsoft.com/office/drawing/2014/main" id="{0B49D036-F266-3613-4810-B55A990BFCDF}"/>
              </a:ext>
            </a:extLst>
          </p:cNvPr>
          <p:cNvSpPr/>
          <p:nvPr/>
        </p:nvSpPr>
        <p:spPr>
          <a:xfrm rot="5400000">
            <a:off x="5816001" y="4586880"/>
            <a:ext cx="731520" cy="1104409"/>
          </a:xfrm>
          <a:prstGeom prst="rightArrow">
            <a:avLst/>
          </a:prstGeom>
        </p:spPr>
        <p:style>
          <a:lnRef idx="1">
            <a:schemeClr val="accent6"/>
          </a:lnRef>
          <a:fillRef idx="2">
            <a:schemeClr val="accent6"/>
          </a:fillRef>
          <a:effectRef idx="1">
            <a:schemeClr val="accent6"/>
          </a:effectRef>
          <a:fontRef idx="minor">
            <a:schemeClr val="dk1"/>
          </a:fontRef>
        </p:style>
        <p:txBody>
          <a:bodyPr vert="vert270" wrap="none" rtlCol="0" anchor="ctr"/>
          <a:lstStyle/>
          <a:p>
            <a:pPr algn="ctr"/>
            <a:r>
              <a:rPr lang="en-US" sz="1100"/>
              <a:t>Prog </a:t>
            </a:r>
          </a:p>
          <a:p>
            <a:pPr algn="ctr"/>
            <a:r>
              <a:rPr lang="en-US" sz="1100"/>
              <a:t>Data[7:0]</a:t>
            </a:r>
          </a:p>
        </p:txBody>
      </p:sp>
      <p:pic>
        <p:nvPicPr>
          <p:cNvPr id="10" name="Picture 9">
            <a:hlinkClick r:id="rId5" action="ppaction://hlinksldjump"/>
            <a:extLst>
              <a:ext uri="{FF2B5EF4-FFF2-40B4-BE49-F238E27FC236}">
                <a16:creationId xmlns:a16="http://schemas.microsoft.com/office/drawing/2014/main" id="{56F6A782-03FE-4D7E-9864-713BE457AEB6}"/>
              </a:ext>
            </a:extLst>
          </p:cNvPr>
          <p:cNvPicPr>
            <a:picLocks noChangeAspect="1"/>
          </p:cNvPicPr>
          <p:nvPr/>
        </p:nvPicPr>
        <p:blipFill>
          <a:blip r:embed="rId6"/>
          <a:stretch>
            <a:fillRect/>
          </a:stretch>
        </p:blipFill>
        <p:spPr>
          <a:xfrm>
            <a:off x="11038384" y="6427540"/>
            <a:ext cx="1076851" cy="222744"/>
          </a:xfrm>
          <a:prstGeom prst="rect">
            <a:avLst/>
          </a:prstGeom>
        </p:spPr>
      </p:pic>
      <p:sp>
        <p:nvSpPr>
          <p:cNvPr id="3" name="Slide Number Placeholder 4">
            <a:extLst>
              <a:ext uri="{FF2B5EF4-FFF2-40B4-BE49-F238E27FC236}">
                <a16:creationId xmlns:a16="http://schemas.microsoft.com/office/drawing/2014/main" id="{D24E716E-EEA0-D2BE-D470-844DBB6812CF}"/>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17</a:t>
            </a:fld>
            <a:endParaRPr lang="en-US" b="1">
              <a:solidFill>
                <a:schemeClr val="bg1"/>
              </a:solidFill>
            </a:endParaRPr>
          </a:p>
        </p:txBody>
      </p:sp>
      <p:sp>
        <p:nvSpPr>
          <p:cNvPr id="4" name="Rectangle 3">
            <a:extLst>
              <a:ext uri="{FF2B5EF4-FFF2-40B4-BE49-F238E27FC236}">
                <a16:creationId xmlns:a16="http://schemas.microsoft.com/office/drawing/2014/main" id="{B9259154-74B1-8EA6-27E8-2C0B683D31EC}"/>
              </a:ext>
            </a:extLst>
          </p:cNvPr>
          <p:cNvSpPr/>
          <p:nvPr/>
        </p:nvSpPr>
        <p:spPr>
          <a:xfrm rot="16200000">
            <a:off x="6040274" y="-1382649"/>
            <a:ext cx="282975" cy="7242496"/>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vert="vert" rtlCol="0" anchor="ctr"/>
          <a:lstStyle/>
          <a:p>
            <a:pPr algn="ctr"/>
            <a:r>
              <a:rPr lang="en-US"/>
              <a:t>Address  Bus   </a:t>
            </a:r>
          </a:p>
        </p:txBody>
      </p:sp>
      <p:sp>
        <p:nvSpPr>
          <p:cNvPr id="9" name="Rectangle 8">
            <a:hlinkClick r:id="rId7" action="ppaction://hlinksldjump"/>
            <a:extLst>
              <a:ext uri="{FF2B5EF4-FFF2-40B4-BE49-F238E27FC236}">
                <a16:creationId xmlns:a16="http://schemas.microsoft.com/office/drawing/2014/main" id="{04694702-6A85-0CCC-35A8-462E3D1AA135}"/>
              </a:ext>
            </a:extLst>
          </p:cNvPr>
          <p:cNvSpPr/>
          <p:nvPr/>
        </p:nvSpPr>
        <p:spPr>
          <a:xfrm>
            <a:off x="2577168" y="4586100"/>
            <a:ext cx="1463040" cy="182880"/>
          </a:xfrm>
          <a:prstGeom prst="rect">
            <a:avLst/>
          </a:prstGeom>
        </p:spPr>
        <p:style>
          <a:lnRef idx="2">
            <a:schemeClr val="accent5"/>
          </a:lnRef>
          <a:fillRef idx="1">
            <a:schemeClr val="lt1"/>
          </a:fillRef>
          <a:effectRef idx="0">
            <a:schemeClr val="accent5"/>
          </a:effectRef>
          <a:fontRef idx="minor">
            <a:schemeClr val="dk1"/>
          </a:fontRef>
        </p:style>
        <p:txBody>
          <a:bodyPr lIns="0" rIns="0" rtlCol="0" anchor="ctr"/>
          <a:lstStyle/>
          <a:p>
            <a:pPr algn="ctr"/>
            <a:r>
              <a:rPr lang="en-US" sz="1200"/>
              <a:t>~EEPROM Chip En</a:t>
            </a:r>
          </a:p>
        </p:txBody>
      </p:sp>
      <p:cxnSp>
        <p:nvCxnSpPr>
          <p:cNvPr id="16" name="Connector: Elbow 15">
            <a:extLst>
              <a:ext uri="{FF2B5EF4-FFF2-40B4-BE49-F238E27FC236}">
                <a16:creationId xmlns:a16="http://schemas.microsoft.com/office/drawing/2014/main" id="{AA228691-39D2-72AF-FBCC-60386C5ACFF9}"/>
              </a:ext>
            </a:extLst>
          </p:cNvPr>
          <p:cNvCxnSpPr>
            <a:cxnSpLocks/>
            <a:stCxn id="9" idx="3"/>
            <a:endCxn id="85" idx="2"/>
          </p:cNvCxnSpPr>
          <p:nvPr/>
        </p:nvCxnSpPr>
        <p:spPr>
          <a:xfrm flipV="1">
            <a:off x="4040208" y="4557910"/>
            <a:ext cx="1970517" cy="119631"/>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DC0A56B7-B06C-0814-2A90-F992BA5C5DC8}"/>
              </a:ext>
            </a:extLst>
          </p:cNvPr>
          <p:cNvCxnSpPr>
            <a:cxnSpLocks/>
          </p:cNvCxnSpPr>
          <p:nvPr/>
        </p:nvCxnSpPr>
        <p:spPr>
          <a:xfrm rot="10800000">
            <a:off x="6317673" y="4586100"/>
            <a:ext cx="2005643" cy="109104"/>
          </a:xfrm>
          <a:prstGeom prst="bentConnector3">
            <a:avLst>
              <a:gd name="adj1" fmla="val 100657"/>
            </a:avLst>
          </a:prstGeom>
        </p:spPr>
        <p:style>
          <a:lnRef idx="1">
            <a:schemeClr val="accent1"/>
          </a:lnRef>
          <a:fillRef idx="0">
            <a:schemeClr val="accent1"/>
          </a:fillRef>
          <a:effectRef idx="0">
            <a:schemeClr val="accent1"/>
          </a:effectRef>
          <a:fontRef idx="minor">
            <a:schemeClr val="tx1"/>
          </a:fontRef>
        </p:style>
      </p:cxnSp>
      <p:sp>
        <p:nvSpPr>
          <p:cNvPr id="6" name="TextBox 5">
            <a:hlinkClick r:id="rId8" action="ppaction://hlinksldjump"/>
            <a:extLst>
              <a:ext uri="{FF2B5EF4-FFF2-40B4-BE49-F238E27FC236}">
                <a16:creationId xmlns:a16="http://schemas.microsoft.com/office/drawing/2014/main" id="{6ADE87BA-A6B6-588D-FB8D-BF0DF02648C9}"/>
              </a:ext>
            </a:extLst>
          </p:cNvPr>
          <p:cNvSpPr txBox="1"/>
          <p:nvPr/>
        </p:nvSpPr>
        <p:spPr>
          <a:xfrm>
            <a:off x="8263739" y="4616743"/>
            <a:ext cx="439544" cy="184666"/>
          </a:xfrm>
          <a:prstGeom prst="rect">
            <a:avLst/>
          </a:prstGeom>
          <a:solidFill>
            <a:schemeClr val="bg1"/>
          </a:solidFill>
          <a:ln>
            <a:solidFill>
              <a:schemeClr val="accent1"/>
            </a:solidFill>
          </a:ln>
        </p:spPr>
        <p:txBody>
          <a:bodyPr wrap="none" tIns="0" bIns="0" rtlCol="0">
            <a:spAutoFit/>
          </a:bodyPr>
          <a:lstStyle/>
          <a:p>
            <a:r>
              <a:rPr lang="en-US" sz="1200"/>
              <a:t>#OE</a:t>
            </a:r>
          </a:p>
        </p:txBody>
      </p:sp>
    </p:spTree>
    <p:extLst>
      <p:ext uri="{BB962C8B-B14F-4D97-AF65-F5344CB8AC3E}">
        <p14:creationId xmlns:p14="http://schemas.microsoft.com/office/powerpoint/2010/main" val="3265224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Rectangle 52">
            <a:extLst>
              <a:ext uri="{FF2B5EF4-FFF2-40B4-BE49-F238E27FC236}">
                <a16:creationId xmlns:a16="http://schemas.microsoft.com/office/drawing/2014/main" id="{56529B80-120C-BCEB-9D96-052E0F2B87BC}"/>
              </a:ext>
            </a:extLst>
          </p:cNvPr>
          <p:cNvSpPr/>
          <p:nvPr/>
        </p:nvSpPr>
        <p:spPr>
          <a:xfrm>
            <a:off x="6950812" y="2687180"/>
            <a:ext cx="133947" cy="913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636248-77E2-8250-E9C6-512CB7195362}"/>
              </a:ext>
            </a:extLst>
          </p:cNvPr>
          <p:cNvSpPr>
            <a:spLocks noGrp="1"/>
          </p:cNvSpPr>
          <p:nvPr>
            <p:ph type="ctrTitle"/>
          </p:nvPr>
        </p:nvSpPr>
        <p:spPr>
          <a:xfrm>
            <a:off x="914399" y="457200"/>
            <a:ext cx="6485022" cy="457200"/>
          </a:xfrm>
        </p:spPr>
        <p:txBody>
          <a:bodyPr/>
          <a:lstStyle/>
          <a:p>
            <a:r>
              <a:rPr lang="en-US" dirty="0"/>
              <a:t>Address Registers - Data Bus Load Enable v2.0</a:t>
            </a:r>
          </a:p>
        </p:txBody>
      </p:sp>
      <p:grpSp>
        <p:nvGrpSpPr>
          <p:cNvPr id="3" name="Group 2">
            <a:extLst>
              <a:ext uri="{FF2B5EF4-FFF2-40B4-BE49-F238E27FC236}">
                <a16:creationId xmlns:a16="http://schemas.microsoft.com/office/drawing/2014/main" id="{0A199914-35F5-764B-9EA8-540FA02F9DF0}"/>
              </a:ext>
            </a:extLst>
          </p:cNvPr>
          <p:cNvGrpSpPr/>
          <p:nvPr/>
        </p:nvGrpSpPr>
        <p:grpSpPr>
          <a:xfrm>
            <a:off x="5105790" y="1517440"/>
            <a:ext cx="1184722" cy="1672548"/>
            <a:chOff x="5721016" y="2899611"/>
            <a:chExt cx="1184722" cy="1672548"/>
          </a:xfrm>
        </p:grpSpPr>
        <p:pic>
          <p:nvPicPr>
            <p:cNvPr id="4" name="Picture 3" descr="A group of black squares with numbers&#10;&#10;AI-generated content may be incorrect.">
              <a:extLst>
                <a:ext uri="{FF2B5EF4-FFF2-40B4-BE49-F238E27FC236}">
                  <a16:creationId xmlns:a16="http://schemas.microsoft.com/office/drawing/2014/main" id="{AD1FC7BD-9F9B-6201-C3E5-64F6EE615083}"/>
                </a:ext>
              </a:extLst>
            </p:cNvPr>
            <p:cNvPicPr>
              <a:picLocks noChangeAspect="1"/>
            </p:cNvPicPr>
            <p:nvPr/>
          </p:nvPicPr>
          <p:blipFill>
            <a:blip r:embed="rId2"/>
            <a:stretch>
              <a:fillRect/>
            </a:stretch>
          </p:blipFill>
          <p:spPr>
            <a:xfrm>
              <a:off x="5721016" y="2899611"/>
              <a:ext cx="1184722" cy="1672548"/>
            </a:xfrm>
            <a:prstGeom prst="rect">
              <a:avLst/>
            </a:prstGeom>
          </p:spPr>
        </p:pic>
        <p:sp>
          <p:nvSpPr>
            <p:cNvPr id="5" name="TextBox 4">
              <a:extLst>
                <a:ext uri="{FF2B5EF4-FFF2-40B4-BE49-F238E27FC236}">
                  <a16:creationId xmlns:a16="http://schemas.microsoft.com/office/drawing/2014/main" id="{42986F20-2CED-E0DD-2F17-9F49CB64369A}"/>
                </a:ext>
              </a:extLst>
            </p:cNvPr>
            <p:cNvSpPr txBox="1"/>
            <p:nvPr/>
          </p:nvSpPr>
          <p:spPr>
            <a:xfrm rot="5400000">
              <a:off x="5762732" y="3673481"/>
              <a:ext cx="1186543" cy="253916"/>
            </a:xfrm>
            <a:prstGeom prst="rect">
              <a:avLst/>
            </a:prstGeom>
            <a:noFill/>
          </p:spPr>
          <p:txBody>
            <a:bodyPr wrap="none" rtlCol="0">
              <a:spAutoFit/>
            </a:bodyPr>
            <a:lstStyle/>
            <a:p>
              <a:r>
                <a:rPr lang="en-US" sz="1050" dirty="0"/>
                <a:t>AR DB LE 8x8 LUT</a:t>
              </a:r>
            </a:p>
          </p:txBody>
        </p:sp>
      </p:grpSp>
      <p:graphicFrame>
        <p:nvGraphicFramePr>
          <p:cNvPr id="6" name="Table 5">
            <a:extLst>
              <a:ext uri="{FF2B5EF4-FFF2-40B4-BE49-F238E27FC236}">
                <a16:creationId xmlns:a16="http://schemas.microsoft.com/office/drawing/2014/main" id="{0735B6E4-261C-0648-B4BA-F15434C7A326}"/>
              </a:ext>
            </a:extLst>
          </p:cNvPr>
          <p:cNvGraphicFramePr>
            <a:graphicFrameLocks noGrp="1"/>
          </p:cNvGraphicFramePr>
          <p:nvPr>
            <p:extLst>
              <p:ext uri="{D42A27DB-BD31-4B8C-83A1-F6EECF244321}">
                <p14:modId xmlns:p14="http://schemas.microsoft.com/office/powerpoint/2010/main" val="346486688"/>
              </p:ext>
            </p:extLst>
          </p:nvPr>
        </p:nvGraphicFramePr>
        <p:xfrm>
          <a:off x="1081838" y="4009431"/>
          <a:ext cx="4684896" cy="2483236"/>
        </p:xfrm>
        <a:graphic>
          <a:graphicData uri="http://schemas.openxmlformats.org/drawingml/2006/table">
            <a:tbl>
              <a:tblPr firstRow="1" bandRow="1">
                <a:tableStyleId>{5C22544A-7EE6-4342-B048-85BDC9FD1C3A}</a:tableStyleId>
              </a:tblPr>
              <a:tblGrid>
                <a:gridCol w="1911067">
                  <a:extLst>
                    <a:ext uri="{9D8B030D-6E8A-4147-A177-3AD203B41FA5}">
                      <a16:colId xmlns:a16="http://schemas.microsoft.com/office/drawing/2014/main" val="2482476324"/>
                    </a:ext>
                  </a:extLst>
                </a:gridCol>
                <a:gridCol w="2773829">
                  <a:extLst>
                    <a:ext uri="{9D8B030D-6E8A-4147-A177-3AD203B41FA5}">
                      <a16:colId xmlns:a16="http://schemas.microsoft.com/office/drawing/2014/main" val="777123861"/>
                    </a:ext>
                  </a:extLst>
                </a:gridCol>
              </a:tblGrid>
              <a:tr h="288676">
                <a:tc>
                  <a:txBody>
                    <a:bodyPr/>
                    <a:lstStyle/>
                    <a:p>
                      <a:r>
                        <a:rPr lang="en-US" sz="1200" dirty="0"/>
                        <a:t>EEPROM Address Bit</a:t>
                      </a:r>
                    </a:p>
                  </a:txBody>
                  <a:tcPr/>
                </a:tc>
                <a:tc>
                  <a:txBody>
                    <a:bodyPr/>
                    <a:lstStyle/>
                    <a:p>
                      <a:r>
                        <a:rPr lang="en-US" sz="1200" dirty="0"/>
                        <a:t>Input</a:t>
                      </a:r>
                    </a:p>
                  </a:txBody>
                  <a:tcPr/>
                </a:tc>
                <a:extLst>
                  <a:ext uri="{0D108BD9-81ED-4DB2-BD59-A6C34878D82A}">
                    <a16:rowId xmlns:a16="http://schemas.microsoft.com/office/drawing/2014/main" val="3916399277"/>
                  </a:ext>
                </a:extLst>
              </a:tr>
              <a:tr h="173205">
                <a:tc>
                  <a:txBody>
                    <a:bodyPr/>
                    <a:lstStyle/>
                    <a:p>
                      <a:r>
                        <a:rPr lang="en-US" sz="1200" dirty="0"/>
                        <a:t>7</a:t>
                      </a: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dirty="0"/>
                        <a:t>PC </a:t>
                      </a:r>
                      <a:r>
                        <a:rPr lang="en-US" sz="1200" dirty="0" err="1"/>
                        <a:t>Ld</a:t>
                      </a:r>
                      <a:r>
                        <a:rPr lang="en-US" sz="1200" dirty="0"/>
                        <a:t> Branch (Flags &amp; µC 8: PC Load)</a:t>
                      </a:r>
                    </a:p>
                  </a:txBody>
                  <a:tcPr/>
                </a:tc>
                <a:extLst>
                  <a:ext uri="{0D108BD9-81ED-4DB2-BD59-A6C34878D82A}">
                    <a16:rowId xmlns:a16="http://schemas.microsoft.com/office/drawing/2014/main" val="4162940809"/>
                  </a:ext>
                </a:extLst>
              </a:tr>
              <a:tr h="173205">
                <a:tc>
                  <a:txBody>
                    <a:bodyPr/>
                    <a:lstStyle/>
                    <a:p>
                      <a:r>
                        <a:rPr lang="en-US" sz="1200" dirty="0"/>
                        <a:t>6</a:t>
                      </a:r>
                    </a:p>
                  </a:txBody>
                  <a:tcPr/>
                </a:tc>
                <a:tc>
                  <a:txBody>
                    <a:bodyPr/>
                    <a:lstStyle/>
                    <a:p>
                      <a:r>
                        <a:rPr lang="en-US" sz="1200" i="1" dirty="0" err="1"/>
                        <a:t>loadAR</a:t>
                      </a:r>
                      <a:r>
                        <a:rPr lang="en-US" sz="1200" i="0" dirty="0"/>
                        <a:t> (control signal)</a:t>
                      </a:r>
                      <a:endParaRPr lang="en-US" sz="1200" i="1" dirty="0"/>
                    </a:p>
                  </a:txBody>
                  <a:tcPr/>
                </a:tc>
                <a:extLst>
                  <a:ext uri="{0D108BD9-81ED-4DB2-BD59-A6C34878D82A}">
                    <a16:rowId xmlns:a16="http://schemas.microsoft.com/office/drawing/2014/main" val="38975368"/>
                  </a:ext>
                </a:extLst>
              </a:tr>
              <a:tr h="173205">
                <a:tc>
                  <a:txBody>
                    <a:bodyPr/>
                    <a:lstStyle/>
                    <a:p>
                      <a:r>
                        <a:rPr lang="en-US" sz="1200" dirty="0"/>
                        <a:t>5</a:t>
                      </a:r>
                    </a:p>
                  </a:txBody>
                  <a:tcPr/>
                </a:tc>
                <a:tc>
                  <a:txBody>
                    <a:bodyPr/>
                    <a:lstStyle/>
                    <a:p>
                      <a:r>
                        <a:rPr lang="en-US" sz="1200" i="1" dirty="0"/>
                        <a:t>PC Load</a:t>
                      </a:r>
                      <a:r>
                        <a:rPr lang="en-US" sz="1200" i="0" dirty="0"/>
                        <a:t> (control signal)</a:t>
                      </a:r>
                      <a:endParaRPr lang="en-US" sz="1200" i="1" dirty="0"/>
                    </a:p>
                  </a:txBody>
                  <a:tcPr/>
                </a:tc>
                <a:extLst>
                  <a:ext uri="{0D108BD9-81ED-4DB2-BD59-A6C34878D82A}">
                    <a16:rowId xmlns:a16="http://schemas.microsoft.com/office/drawing/2014/main" val="1263556232"/>
                  </a:ext>
                </a:extLst>
              </a:tr>
              <a:tr h="173205">
                <a:tc>
                  <a:txBody>
                    <a:bodyPr/>
                    <a:lstStyle/>
                    <a:p>
                      <a:r>
                        <a:rPr lang="en-US" sz="1200" dirty="0"/>
                        <a:t>4</a:t>
                      </a:r>
                    </a:p>
                  </a:txBody>
                  <a:tcPr/>
                </a:tc>
                <a:tc>
                  <a:txBody>
                    <a:bodyPr/>
                    <a:lstStyle/>
                    <a:p>
                      <a:r>
                        <a:rPr lang="en-US" sz="1200" i="1" dirty="0" err="1"/>
                        <a:t>loadARHorL</a:t>
                      </a:r>
                      <a:r>
                        <a:rPr lang="en-US" sz="1200" i="0" dirty="0"/>
                        <a:t> (control signal)</a:t>
                      </a:r>
                      <a:endParaRPr lang="en-US" sz="1200" i="1" dirty="0"/>
                    </a:p>
                  </a:txBody>
                  <a:tcPr/>
                </a:tc>
                <a:extLst>
                  <a:ext uri="{0D108BD9-81ED-4DB2-BD59-A6C34878D82A}">
                    <a16:rowId xmlns:a16="http://schemas.microsoft.com/office/drawing/2014/main" val="3876244510"/>
                  </a:ext>
                </a:extLst>
              </a:tr>
              <a:tr h="173205">
                <a:tc>
                  <a:txBody>
                    <a:bodyPr/>
                    <a:lstStyle/>
                    <a:p>
                      <a:r>
                        <a:rPr lang="en-US" sz="1200" dirty="0"/>
                        <a:t>3</a:t>
                      </a:r>
                    </a:p>
                  </a:txBody>
                  <a:tcPr/>
                </a:tc>
                <a:tc>
                  <a:txBody>
                    <a:bodyPr/>
                    <a:lstStyle/>
                    <a:p>
                      <a:r>
                        <a:rPr lang="en-US" sz="1200" i="0" dirty="0" err="1"/>
                        <a:t>Opcode_MAA</a:t>
                      </a:r>
                      <a:r>
                        <a:rPr lang="en-US" sz="1200" i="0" dirty="0"/>
                        <a:t> (</a:t>
                      </a:r>
                      <a:r>
                        <a:rPr lang="en-US" sz="1200" b="1" i="0" dirty="0"/>
                        <a:t>ACTIVE LOW</a:t>
                      </a:r>
                      <a:r>
                        <a:rPr lang="en-US" sz="1200" i="0" dirty="0"/>
                        <a:t>)</a:t>
                      </a:r>
                    </a:p>
                  </a:txBody>
                  <a:tcPr/>
                </a:tc>
                <a:extLst>
                  <a:ext uri="{0D108BD9-81ED-4DB2-BD59-A6C34878D82A}">
                    <a16:rowId xmlns:a16="http://schemas.microsoft.com/office/drawing/2014/main" val="34840973"/>
                  </a:ext>
                </a:extLst>
              </a:tr>
              <a:tr h="173205">
                <a:tc>
                  <a:txBody>
                    <a:bodyPr/>
                    <a:lstStyle/>
                    <a:p>
                      <a:r>
                        <a:rPr lang="en-US" sz="1200" dirty="0"/>
                        <a:t>2</a:t>
                      </a:r>
                    </a:p>
                  </a:txBody>
                  <a:tcPr/>
                </a:tc>
                <a:tc>
                  <a:txBody>
                    <a:bodyPr/>
                    <a:lstStyle/>
                    <a:p>
                      <a:r>
                        <a:rPr lang="en-US" sz="1200" dirty="0"/>
                        <a:t>(AR) L/H instruction operand</a:t>
                      </a:r>
                    </a:p>
                  </a:txBody>
                  <a:tcPr/>
                </a:tc>
                <a:extLst>
                  <a:ext uri="{0D108BD9-81ED-4DB2-BD59-A6C34878D82A}">
                    <a16:rowId xmlns:a16="http://schemas.microsoft.com/office/drawing/2014/main" val="3812691075"/>
                  </a:ext>
                </a:extLst>
              </a:tr>
              <a:tr h="173205">
                <a:tc>
                  <a:txBody>
                    <a:bodyPr/>
                    <a:lstStyle/>
                    <a:p>
                      <a:r>
                        <a:rPr lang="en-US" sz="1200" dirty="0"/>
                        <a:t>1</a:t>
                      </a:r>
                    </a:p>
                  </a:txBody>
                  <a:tcPr/>
                </a:tc>
                <a:tc>
                  <a:txBody>
                    <a:bodyPr/>
                    <a:lstStyle/>
                    <a:p>
                      <a:r>
                        <a:rPr lang="en-US" sz="1200" dirty="0"/>
                        <a:t>ARDest[1]</a:t>
                      </a:r>
                    </a:p>
                  </a:txBody>
                  <a:tcPr/>
                </a:tc>
                <a:extLst>
                  <a:ext uri="{0D108BD9-81ED-4DB2-BD59-A6C34878D82A}">
                    <a16:rowId xmlns:a16="http://schemas.microsoft.com/office/drawing/2014/main" val="523843"/>
                  </a:ext>
                </a:extLst>
              </a:tr>
              <a:tr h="173205">
                <a:tc>
                  <a:txBody>
                    <a:bodyPr/>
                    <a:lstStyle/>
                    <a:p>
                      <a:r>
                        <a:rPr lang="en-US" sz="1200" dirty="0"/>
                        <a:t>0</a:t>
                      </a:r>
                    </a:p>
                  </a:txBody>
                  <a:tcPr/>
                </a:tc>
                <a:tc>
                  <a:txBody>
                    <a:bodyPr/>
                    <a:lstStyle/>
                    <a:p>
                      <a:r>
                        <a:rPr lang="en-US" sz="1200" dirty="0"/>
                        <a:t>ARDest[0]</a:t>
                      </a:r>
                    </a:p>
                  </a:txBody>
                  <a:tcPr/>
                </a:tc>
                <a:extLst>
                  <a:ext uri="{0D108BD9-81ED-4DB2-BD59-A6C34878D82A}">
                    <a16:rowId xmlns:a16="http://schemas.microsoft.com/office/drawing/2014/main" val="2010627648"/>
                  </a:ext>
                </a:extLst>
              </a:tr>
            </a:tbl>
          </a:graphicData>
        </a:graphic>
      </p:graphicFrame>
      <p:graphicFrame>
        <p:nvGraphicFramePr>
          <p:cNvPr id="7" name="Table 6">
            <a:extLst>
              <a:ext uri="{FF2B5EF4-FFF2-40B4-BE49-F238E27FC236}">
                <a16:creationId xmlns:a16="http://schemas.microsoft.com/office/drawing/2014/main" id="{EC22D1D1-E290-13AF-6A14-1EF746861564}"/>
              </a:ext>
            </a:extLst>
          </p:cNvPr>
          <p:cNvGraphicFramePr>
            <a:graphicFrameLocks noGrp="1"/>
          </p:cNvGraphicFramePr>
          <p:nvPr>
            <p:extLst>
              <p:ext uri="{D42A27DB-BD31-4B8C-83A1-F6EECF244321}">
                <p14:modId xmlns:p14="http://schemas.microsoft.com/office/powerpoint/2010/main" val="728477801"/>
              </p:ext>
            </p:extLst>
          </p:nvPr>
        </p:nvGraphicFramePr>
        <p:xfrm>
          <a:off x="6015790" y="4009431"/>
          <a:ext cx="5094372" cy="2497592"/>
        </p:xfrm>
        <a:graphic>
          <a:graphicData uri="http://schemas.openxmlformats.org/drawingml/2006/table">
            <a:tbl>
              <a:tblPr firstRow="1" bandRow="1">
                <a:tableStyleId>{5C22544A-7EE6-4342-B048-85BDC9FD1C3A}</a:tableStyleId>
              </a:tblPr>
              <a:tblGrid>
                <a:gridCol w="1863893">
                  <a:extLst>
                    <a:ext uri="{9D8B030D-6E8A-4147-A177-3AD203B41FA5}">
                      <a16:colId xmlns:a16="http://schemas.microsoft.com/office/drawing/2014/main" val="2482476324"/>
                    </a:ext>
                  </a:extLst>
                </a:gridCol>
                <a:gridCol w="3230479">
                  <a:extLst>
                    <a:ext uri="{9D8B030D-6E8A-4147-A177-3AD203B41FA5}">
                      <a16:colId xmlns:a16="http://schemas.microsoft.com/office/drawing/2014/main" val="777123861"/>
                    </a:ext>
                  </a:extLst>
                </a:gridCol>
              </a:tblGrid>
              <a:tr h="288676">
                <a:tc>
                  <a:txBody>
                    <a:bodyPr/>
                    <a:lstStyle/>
                    <a:p>
                      <a:r>
                        <a:rPr lang="en-US" sz="1200" dirty="0"/>
                        <a:t>EEPROM Data Output Bit</a:t>
                      </a:r>
                    </a:p>
                  </a:txBody>
                  <a:tcPr/>
                </a:tc>
                <a:tc>
                  <a:txBody>
                    <a:bodyPr/>
                    <a:lstStyle/>
                    <a:p>
                      <a:r>
                        <a:rPr lang="en-US" sz="1200" dirty="0"/>
                        <a:t>Output</a:t>
                      </a:r>
                    </a:p>
                  </a:txBody>
                  <a:tcPr/>
                </a:tc>
                <a:extLst>
                  <a:ext uri="{0D108BD9-81ED-4DB2-BD59-A6C34878D82A}">
                    <a16:rowId xmlns:a16="http://schemas.microsoft.com/office/drawing/2014/main" val="3916399277"/>
                  </a:ext>
                </a:extLst>
              </a:tr>
              <a:tr h="173205">
                <a:tc>
                  <a:txBody>
                    <a:bodyPr/>
                    <a:lstStyle/>
                    <a:p>
                      <a:r>
                        <a:rPr lang="en-US" sz="1200" dirty="0"/>
                        <a:t>7</a:t>
                      </a:r>
                    </a:p>
                  </a:txBody>
                  <a:tcPr/>
                </a:tc>
                <a:tc>
                  <a:txBody>
                    <a:bodyPr/>
                    <a:lstStyle/>
                    <a:p>
                      <a:r>
                        <a:rPr lang="en-US" sz="1200" dirty="0"/>
                        <a:t>BP[H] Load Enable </a:t>
                      </a:r>
                      <a:r>
                        <a:rPr lang="en-US" sz="1200" i="0" dirty="0"/>
                        <a:t>(574 - </a:t>
                      </a:r>
                      <a:r>
                        <a:rPr lang="en-US" sz="1200" b="1" i="0" dirty="0"/>
                        <a:t>ACTIVE HIGH</a:t>
                      </a:r>
                      <a:r>
                        <a:rPr lang="en-US" sz="1200" i="0" dirty="0"/>
                        <a:t>)</a:t>
                      </a:r>
                      <a:endParaRPr lang="en-US" sz="1200" dirty="0"/>
                    </a:p>
                  </a:txBody>
                  <a:tcPr/>
                </a:tc>
                <a:extLst>
                  <a:ext uri="{0D108BD9-81ED-4DB2-BD59-A6C34878D82A}">
                    <a16:rowId xmlns:a16="http://schemas.microsoft.com/office/drawing/2014/main" val="4162940809"/>
                  </a:ext>
                </a:extLst>
              </a:tr>
              <a:tr h="173205">
                <a:tc>
                  <a:txBody>
                    <a:bodyPr/>
                    <a:lstStyle/>
                    <a:p>
                      <a:r>
                        <a:rPr lang="en-US" sz="1200" dirty="0"/>
                        <a:t>6</a:t>
                      </a:r>
                    </a:p>
                  </a:txBody>
                  <a:tcPr/>
                </a:tc>
                <a:tc>
                  <a:txBody>
                    <a:bodyPr/>
                    <a:lstStyle/>
                    <a:p>
                      <a:r>
                        <a:rPr lang="en-US" sz="1200" i="0" dirty="0"/>
                        <a:t>BP[L] Load Enable (574 - </a:t>
                      </a:r>
                      <a:r>
                        <a:rPr lang="en-US" sz="1200" b="1" i="0" dirty="0"/>
                        <a:t>ACTIVE HIGH</a:t>
                      </a:r>
                      <a:r>
                        <a:rPr lang="en-US" sz="1200" i="0" dirty="0"/>
                        <a:t>)</a:t>
                      </a:r>
                    </a:p>
                  </a:txBody>
                  <a:tcPr/>
                </a:tc>
                <a:extLst>
                  <a:ext uri="{0D108BD9-81ED-4DB2-BD59-A6C34878D82A}">
                    <a16:rowId xmlns:a16="http://schemas.microsoft.com/office/drawing/2014/main" val="38975368"/>
                  </a:ext>
                </a:extLst>
              </a:tr>
              <a:tr h="173205">
                <a:tc>
                  <a:txBody>
                    <a:bodyPr/>
                    <a:lstStyle/>
                    <a:p>
                      <a:r>
                        <a:rPr lang="en-US" sz="1200" dirty="0"/>
                        <a:t>5</a:t>
                      </a:r>
                    </a:p>
                  </a:txBody>
                  <a:tcPr/>
                </a:tc>
                <a:tc>
                  <a:txBody>
                    <a:bodyPr/>
                    <a:lstStyle/>
                    <a:p>
                      <a:r>
                        <a:rPr lang="en-US" sz="1200" i="0" dirty="0"/>
                        <a:t>SP[H] Load Enable (191 – </a:t>
                      </a:r>
                      <a:r>
                        <a:rPr lang="en-US" sz="1200" b="1" i="0" dirty="0"/>
                        <a:t>ACTIVE High*</a:t>
                      </a:r>
                      <a:r>
                        <a:rPr lang="en-US" sz="1200" i="0" dirty="0"/>
                        <a:t>)</a:t>
                      </a:r>
                    </a:p>
                  </a:txBody>
                  <a:tcPr/>
                </a:tc>
                <a:extLst>
                  <a:ext uri="{0D108BD9-81ED-4DB2-BD59-A6C34878D82A}">
                    <a16:rowId xmlns:a16="http://schemas.microsoft.com/office/drawing/2014/main" val="1263556232"/>
                  </a:ext>
                </a:extLst>
              </a:tr>
              <a:tr h="173205">
                <a:tc>
                  <a:txBody>
                    <a:bodyPr/>
                    <a:lstStyle/>
                    <a:p>
                      <a:r>
                        <a:rPr lang="en-US" sz="1200" dirty="0"/>
                        <a:t>4</a:t>
                      </a:r>
                    </a:p>
                  </a:txBody>
                  <a:tcPr/>
                </a:tc>
                <a:tc>
                  <a:txBody>
                    <a:bodyPr/>
                    <a:lstStyle/>
                    <a:p>
                      <a:r>
                        <a:rPr lang="en-US" sz="1200" i="0" dirty="0"/>
                        <a:t>SP[L] Load Enable (191 - </a:t>
                      </a:r>
                      <a:r>
                        <a:rPr lang="en-US" sz="1200" b="1" i="0" dirty="0"/>
                        <a:t>ACTIVE High*</a:t>
                      </a:r>
                      <a:r>
                        <a:rPr lang="en-US" sz="1200" i="0" dirty="0"/>
                        <a:t>)</a:t>
                      </a:r>
                    </a:p>
                  </a:txBody>
                  <a:tcPr/>
                </a:tc>
                <a:extLst>
                  <a:ext uri="{0D108BD9-81ED-4DB2-BD59-A6C34878D82A}">
                    <a16:rowId xmlns:a16="http://schemas.microsoft.com/office/drawing/2014/main" val="3876244510"/>
                  </a:ext>
                </a:extLst>
              </a:tr>
              <a:tr h="173205">
                <a:tc>
                  <a:txBody>
                    <a:bodyPr/>
                    <a:lstStyle/>
                    <a:p>
                      <a:r>
                        <a:rPr lang="en-US" sz="1200" dirty="0"/>
                        <a:t>3</a:t>
                      </a:r>
                    </a:p>
                  </a:txBody>
                  <a:tcPr/>
                </a:tc>
                <a:tc>
                  <a:txBody>
                    <a:bodyPr/>
                    <a:lstStyle/>
                    <a:p>
                      <a:r>
                        <a:rPr lang="en-US" sz="1200" i="0" dirty="0"/>
                        <a:t>DP[H] Load Enable (574 - </a:t>
                      </a:r>
                      <a:r>
                        <a:rPr lang="en-US" sz="1200" b="1" i="0" dirty="0"/>
                        <a:t>ACTIVE HIGH</a:t>
                      </a:r>
                      <a:r>
                        <a:rPr lang="en-US" sz="1200" i="0" dirty="0"/>
                        <a:t>)</a:t>
                      </a:r>
                    </a:p>
                  </a:txBody>
                  <a:tcPr/>
                </a:tc>
                <a:extLst>
                  <a:ext uri="{0D108BD9-81ED-4DB2-BD59-A6C34878D82A}">
                    <a16:rowId xmlns:a16="http://schemas.microsoft.com/office/drawing/2014/main" val="34840973"/>
                  </a:ext>
                </a:extLst>
              </a:tr>
              <a:tr h="173205">
                <a:tc>
                  <a:txBody>
                    <a:bodyPr/>
                    <a:lstStyle/>
                    <a:p>
                      <a:r>
                        <a:rPr lang="en-US" sz="1200" dirty="0"/>
                        <a:t>2</a:t>
                      </a:r>
                    </a:p>
                  </a:txBody>
                  <a:tcPr/>
                </a:tc>
                <a:tc>
                  <a:txBody>
                    <a:bodyPr/>
                    <a:lstStyle/>
                    <a:p>
                      <a:r>
                        <a:rPr lang="en-US" sz="1200" dirty="0"/>
                        <a:t>DP[L] Load Enable </a:t>
                      </a:r>
                      <a:r>
                        <a:rPr lang="en-US" sz="1200" i="0" dirty="0"/>
                        <a:t>(574 - </a:t>
                      </a:r>
                      <a:r>
                        <a:rPr lang="en-US" sz="1200" b="1" i="0" dirty="0"/>
                        <a:t>ACTIVE HIGH</a:t>
                      </a:r>
                      <a:r>
                        <a:rPr lang="en-US" sz="1200" i="0" dirty="0"/>
                        <a:t>)</a:t>
                      </a:r>
                      <a:endParaRPr lang="en-US" sz="1200" dirty="0"/>
                    </a:p>
                  </a:txBody>
                  <a:tcPr/>
                </a:tc>
                <a:extLst>
                  <a:ext uri="{0D108BD9-81ED-4DB2-BD59-A6C34878D82A}">
                    <a16:rowId xmlns:a16="http://schemas.microsoft.com/office/drawing/2014/main" val="3812691075"/>
                  </a:ext>
                </a:extLst>
              </a:tr>
              <a:tr h="173205">
                <a:tc>
                  <a:txBody>
                    <a:bodyPr/>
                    <a:lstStyle/>
                    <a:p>
                      <a:r>
                        <a:rPr lang="en-US" sz="1200" dirty="0"/>
                        <a:t>1</a:t>
                      </a:r>
                    </a:p>
                  </a:txBody>
                  <a:tcPr/>
                </a:tc>
                <a:tc>
                  <a:txBody>
                    <a:bodyPr/>
                    <a:lstStyle/>
                    <a:p>
                      <a:r>
                        <a:rPr lang="en-US" sz="1200" dirty="0"/>
                        <a:t>DHPC Load Enable </a:t>
                      </a:r>
                      <a:r>
                        <a:rPr lang="en-US" sz="1200" i="0" dirty="0"/>
                        <a:t>(574 - </a:t>
                      </a:r>
                      <a:r>
                        <a:rPr lang="en-US" sz="1200" b="1" i="0" dirty="0"/>
                        <a:t>ACTIVE HIGH</a:t>
                      </a:r>
                      <a:r>
                        <a:rPr lang="en-US" sz="1200" i="0" dirty="0"/>
                        <a:t>)</a:t>
                      </a:r>
                      <a:endParaRPr lang="en-US" sz="1200" dirty="0"/>
                    </a:p>
                  </a:txBody>
                  <a:tcPr/>
                </a:tc>
                <a:extLst>
                  <a:ext uri="{0D108BD9-81ED-4DB2-BD59-A6C34878D82A}">
                    <a16:rowId xmlns:a16="http://schemas.microsoft.com/office/drawing/2014/main" val="523843"/>
                  </a:ext>
                </a:extLst>
              </a:tr>
              <a:tr h="288676">
                <a:tc>
                  <a:txBody>
                    <a:bodyPr/>
                    <a:lstStyle/>
                    <a:p>
                      <a:r>
                        <a:rPr lang="en-US" sz="1200" dirty="0"/>
                        <a:t>0</a:t>
                      </a:r>
                    </a:p>
                  </a:txBody>
                  <a:tcPr/>
                </a:tc>
                <a:tc>
                  <a:txBody>
                    <a:bodyPr/>
                    <a:lstStyle/>
                    <a:p>
                      <a:r>
                        <a:rPr lang="en-US" sz="1200" dirty="0"/>
                        <a:t>PC[L] Load Enable </a:t>
                      </a:r>
                      <a:r>
                        <a:rPr lang="en-US" sz="1200" i="0" dirty="0"/>
                        <a:t>(161 - </a:t>
                      </a:r>
                      <a:r>
                        <a:rPr lang="en-US" sz="1200" b="1" i="0" dirty="0"/>
                        <a:t>ACTIVE LOW</a:t>
                      </a:r>
                      <a:r>
                        <a:rPr lang="en-US" sz="1200" i="0" dirty="0"/>
                        <a:t>)</a:t>
                      </a:r>
                      <a:endParaRPr lang="en-US" sz="1200" dirty="0"/>
                    </a:p>
                  </a:txBody>
                  <a:tcPr/>
                </a:tc>
                <a:extLst>
                  <a:ext uri="{0D108BD9-81ED-4DB2-BD59-A6C34878D82A}">
                    <a16:rowId xmlns:a16="http://schemas.microsoft.com/office/drawing/2014/main" val="2010627648"/>
                  </a:ext>
                </a:extLst>
              </a:tr>
            </a:tbl>
          </a:graphicData>
        </a:graphic>
      </p:graphicFrame>
      <p:sp>
        <p:nvSpPr>
          <p:cNvPr id="8" name="Rectangle 7">
            <a:hlinkClick r:id="rId3" action="ppaction://hlinksldjump"/>
            <a:extLst>
              <a:ext uri="{FF2B5EF4-FFF2-40B4-BE49-F238E27FC236}">
                <a16:creationId xmlns:a16="http://schemas.microsoft.com/office/drawing/2014/main" id="{1F486D80-860F-FCED-57DB-9BC18F026219}"/>
              </a:ext>
            </a:extLst>
          </p:cNvPr>
          <p:cNvSpPr/>
          <p:nvPr/>
        </p:nvSpPr>
        <p:spPr>
          <a:xfrm>
            <a:off x="2919780" y="1631660"/>
            <a:ext cx="1037704" cy="1463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050"/>
              <a:t>µC 8: PC Load</a:t>
            </a:r>
          </a:p>
        </p:txBody>
      </p:sp>
      <p:sp>
        <p:nvSpPr>
          <p:cNvPr id="10" name="TextBox 9">
            <a:hlinkClick r:id="rId4" action="ppaction://hlinksldjump"/>
            <a:extLst>
              <a:ext uri="{FF2B5EF4-FFF2-40B4-BE49-F238E27FC236}">
                <a16:creationId xmlns:a16="http://schemas.microsoft.com/office/drawing/2014/main" id="{E5105EF3-BAB6-3508-75FE-1B70604A4808}"/>
              </a:ext>
            </a:extLst>
          </p:cNvPr>
          <p:cNvSpPr txBox="1"/>
          <p:nvPr/>
        </p:nvSpPr>
        <p:spPr>
          <a:xfrm>
            <a:off x="3061085" y="1226026"/>
            <a:ext cx="896399" cy="146304"/>
          </a:xfrm>
          <a:prstGeom prst="rect">
            <a:avLst/>
          </a:prstGeom>
          <a:noFill/>
          <a:ln>
            <a:solidFill>
              <a:schemeClr val="accent1"/>
            </a:solidFill>
          </a:ln>
        </p:spPr>
        <p:txBody>
          <a:bodyPr wrap="none" tIns="0" bIns="0" rtlCol="0">
            <a:spAutoFit/>
          </a:bodyPr>
          <a:lstStyle/>
          <a:p>
            <a:r>
              <a:rPr lang="en-US" sz="1050" dirty="0"/>
              <a:t>PC </a:t>
            </a:r>
            <a:r>
              <a:rPr lang="en-US" sz="1050" dirty="0" err="1"/>
              <a:t>Ld</a:t>
            </a:r>
            <a:r>
              <a:rPr lang="en-US" sz="1050" dirty="0"/>
              <a:t> Branch</a:t>
            </a:r>
          </a:p>
        </p:txBody>
      </p:sp>
      <p:cxnSp>
        <p:nvCxnSpPr>
          <p:cNvPr id="13" name="Connector: Elbow 12">
            <a:extLst>
              <a:ext uri="{FF2B5EF4-FFF2-40B4-BE49-F238E27FC236}">
                <a16:creationId xmlns:a16="http://schemas.microsoft.com/office/drawing/2014/main" id="{D87546E7-187B-FFDB-5F0E-19CCC33AF46F}"/>
              </a:ext>
            </a:extLst>
          </p:cNvPr>
          <p:cNvCxnSpPr>
            <a:cxnSpLocks/>
            <a:stCxn id="8" idx="3"/>
          </p:cNvCxnSpPr>
          <p:nvPr/>
        </p:nvCxnSpPr>
        <p:spPr>
          <a:xfrm>
            <a:off x="3957484" y="1704812"/>
            <a:ext cx="1282269" cy="250320"/>
          </a:xfrm>
          <a:prstGeom prst="bentConnector3">
            <a:avLst>
              <a:gd name="adj1" fmla="val 61729"/>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08163E97-4BD7-3E64-D5D7-31E87E9B7C51}"/>
              </a:ext>
            </a:extLst>
          </p:cNvPr>
          <p:cNvGrpSpPr/>
          <p:nvPr/>
        </p:nvGrpSpPr>
        <p:grpSpPr>
          <a:xfrm>
            <a:off x="3307947" y="3161388"/>
            <a:ext cx="649537" cy="146304"/>
            <a:chOff x="10114348" y="3078736"/>
            <a:chExt cx="649538" cy="161584"/>
          </a:xfrm>
        </p:grpSpPr>
        <p:sp>
          <p:nvSpPr>
            <p:cNvPr id="18" name="TextBox 17">
              <a:hlinkClick r:id="rId5" action="ppaction://hlinksldjump"/>
              <a:extLst>
                <a:ext uri="{FF2B5EF4-FFF2-40B4-BE49-F238E27FC236}">
                  <a16:creationId xmlns:a16="http://schemas.microsoft.com/office/drawing/2014/main" id="{3E1B57FB-278B-18DF-D1CA-05C156EE137F}"/>
                </a:ext>
              </a:extLst>
            </p:cNvPr>
            <p:cNvSpPr txBox="1"/>
            <p:nvPr/>
          </p:nvSpPr>
          <p:spPr>
            <a:xfrm>
              <a:off x="10114348" y="3078736"/>
              <a:ext cx="649538" cy="161584"/>
            </a:xfrm>
            <a:prstGeom prst="rect">
              <a:avLst/>
            </a:prstGeom>
            <a:solidFill>
              <a:schemeClr val="bg1"/>
            </a:solidFill>
            <a:ln>
              <a:solidFill>
                <a:schemeClr val="accent1"/>
              </a:solidFill>
            </a:ln>
          </p:spPr>
          <p:txBody>
            <a:bodyPr wrap="none" tIns="0" bIns="0" rtlCol="0">
              <a:spAutoFit/>
            </a:bodyPr>
            <a:lstStyle/>
            <a:p>
              <a:r>
                <a:rPr lang="en-US" sz="1050" dirty="0"/>
                <a:t>PC </a:t>
              </a:r>
              <a:r>
                <a:rPr lang="en-US" sz="1050" dirty="0" err="1"/>
                <a:t>Ld</a:t>
              </a:r>
              <a:r>
                <a:rPr lang="en-US" sz="1050" dirty="0"/>
                <a:t> En</a:t>
              </a:r>
            </a:p>
          </p:txBody>
        </p:sp>
        <p:cxnSp>
          <p:nvCxnSpPr>
            <p:cNvPr id="19" name="Straight Connector 18">
              <a:extLst>
                <a:ext uri="{FF2B5EF4-FFF2-40B4-BE49-F238E27FC236}">
                  <a16:creationId xmlns:a16="http://schemas.microsoft.com/office/drawing/2014/main" id="{4AD2298E-0BA8-5ECC-8415-83333B566556}"/>
                </a:ext>
              </a:extLst>
            </p:cNvPr>
            <p:cNvCxnSpPr>
              <a:cxnSpLocks/>
            </p:cNvCxnSpPr>
            <p:nvPr/>
          </p:nvCxnSpPr>
          <p:spPr>
            <a:xfrm>
              <a:off x="10214082" y="3105035"/>
              <a:ext cx="546457"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1" name="Connector: Elbow 20">
            <a:extLst>
              <a:ext uri="{FF2B5EF4-FFF2-40B4-BE49-F238E27FC236}">
                <a16:creationId xmlns:a16="http://schemas.microsoft.com/office/drawing/2014/main" id="{DF415799-CA5A-9155-B7A4-65FCF31AA622}"/>
              </a:ext>
            </a:extLst>
          </p:cNvPr>
          <p:cNvCxnSpPr>
            <a:cxnSpLocks/>
            <a:endCxn id="18" idx="3"/>
          </p:cNvCxnSpPr>
          <p:nvPr/>
        </p:nvCxnSpPr>
        <p:spPr>
          <a:xfrm rot="10800000" flipV="1">
            <a:off x="3957485" y="2645742"/>
            <a:ext cx="1204065" cy="588797"/>
          </a:xfrm>
          <a:prstGeom prst="bentConnector3">
            <a:avLst>
              <a:gd name="adj1" fmla="val 3551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AF2A9385-923B-3535-BCE2-E6B6C21268FA}"/>
              </a:ext>
            </a:extLst>
          </p:cNvPr>
          <p:cNvCxnSpPr>
            <a:stCxn id="10" idx="3"/>
          </p:cNvCxnSpPr>
          <p:nvPr/>
        </p:nvCxnSpPr>
        <p:spPr>
          <a:xfrm>
            <a:off x="3957484" y="1299178"/>
            <a:ext cx="1282269" cy="399159"/>
          </a:xfrm>
          <a:prstGeom prst="bentConnector3">
            <a:avLst>
              <a:gd name="adj1" fmla="val 80026"/>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Rectangle 24">
            <a:hlinkClick r:id="rId3" action="ppaction://hlinksldjump"/>
            <a:extLst>
              <a:ext uri="{FF2B5EF4-FFF2-40B4-BE49-F238E27FC236}">
                <a16:creationId xmlns:a16="http://schemas.microsoft.com/office/drawing/2014/main" id="{11C745FD-B589-8292-8749-61D31A9D627A}"/>
              </a:ext>
            </a:extLst>
          </p:cNvPr>
          <p:cNvSpPr/>
          <p:nvPr/>
        </p:nvSpPr>
        <p:spPr>
          <a:xfrm>
            <a:off x="2652169" y="1834477"/>
            <a:ext cx="1305315" cy="1463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050" dirty="0"/>
              <a:t>µC 18: </a:t>
            </a:r>
            <a:r>
              <a:rPr lang="en-US" sz="1050" dirty="0" err="1"/>
              <a:t>LoadAR</a:t>
            </a:r>
            <a:r>
              <a:rPr lang="en-US" sz="1050" dirty="0"/>
              <a:t> H/L</a:t>
            </a:r>
          </a:p>
        </p:txBody>
      </p:sp>
      <p:sp>
        <p:nvSpPr>
          <p:cNvPr id="26" name="Rectangle 25">
            <a:hlinkClick r:id="rId3" action="ppaction://hlinksldjump"/>
            <a:extLst>
              <a:ext uri="{FF2B5EF4-FFF2-40B4-BE49-F238E27FC236}">
                <a16:creationId xmlns:a16="http://schemas.microsoft.com/office/drawing/2014/main" id="{CAEBCEA9-4B15-2734-46CD-FD3796325D5E}"/>
              </a:ext>
            </a:extLst>
          </p:cNvPr>
          <p:cNvSpPr/>
          <p:nvPr/>
        </p:nvSpPr>
        <p:spPr>
          <a:xfrm>
            <a:off x="2919780" y="1428843"/>
            <a:ext cx="1037704" cy="14630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050" dirty="0"/>
              <a:t>µC 17: </a:t>
            </a:r>
            <a:r>
              <a:rPr lang="en-US" sz="1050" dirty="0" err="1"/>
              <a:t>LoadAR</a:t>
            </a:r>
            <a:endParaRPr lang="en-US" sz="1050" strike="sngStrike" dirty="0"/>
          </a:p>
        </p:txBody>
      </p:sp>
      <p:cxnSp>
        <p:nvCxnSpPr>
          <p:cNvPr id="29" name="Connector: Elbow 28">
            <a:extLst>
              <a:ext uri="{FF2B5EF4-FFF2-40B4-BE49-F238E27FC236}">
                <a16:creationId xmlns:a16="http://schemas.microsoft.com/office/drawing/2014/main" id="{01E55A0E-DD4E-4804-BC6D-5708497282F9}"/>
              </a:ext>
            </a:extLst>
          </p:cNvPr>
          <p:cNvCxnSpPr>
            <a:stCxn id="26" idx="3"/>
          </p:cNvCxnSpPr>
          <p:nvPr/>
        </p:nvCxnSpPr>
        <p:spPr>
          <a:xfrm>
            <a:off x="3957484" y="1501995"/>
            <a:ext cx="1282269" cy="317528"/>
          </a:xfrm>
          <a:prstGeom prst="bentConnector3">
            <a:avLst>
              <a:gd name="adj1" fmla="val 7111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ADFD1A42-348E-AB02-AAE0-71781F049E8E}"/>
              </a:ext>
            </a:extLst>
          </p:cNvPr>
          <p:cNvCxnSpPr>
            <a:stCxn id="25" idx="3"/>
          </p:cNvCxnSpPr>
          <p:nvPr/>
        </p:nvCxnSpPr>
        <p:spPr>
          <a:xfrm>
            <a:off x="3957484" y="1907629"/>
            <a:ext cx="1282269" cy="14977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a:hlinkClick r:id="rId6" action="ppaction://hlinksldjump"/>
            <a:extLst>
              <a:ext uri="{FF2B5EF4-FFF2-40B4-BE49-F238E27FC236}">
                <a16:creationId xmlns:a16="http://schemas.microsoft.com/office/drawing/2014/main" id="{C27EBC28-DD73-8BBA-535F-1311F2852E62}"/>
              </a:ext>
            </a:extLst>
          </p:cNvPr>
          <p:cNvSpPr txBox="1"/>
          <p:nvPr/>
        </p:nvSpPr>
        <p:spPr>
          <a:xfrm>
            <a:off x="3006583" y="2037294"/>
            <a:ext cx="950901" cy="146304"/>
          </a:xfrm>
          <a:prstGeom prst="rect">
            <a:avLst/>
          </a:prstGeom>
          <a:noFill/>
          <a:ln>
            <a:solidFill>
              <a:schemeClr val="accent1"/>
            </a:solidFill>
          </a:ln>
        </p:spPr>
        <p:txBody>
          <a:bodyPr wrap="none" tIns="0" bIns="0" rtlCol="0">
            <a:spAutoFit/>
          </a:bodyPr>
          <a:lstStyle/>
          <a:p>
            <a:r>
              <a:rPr lang="en-US" sz="1050" dirty="0" err="1"/>
              <a:t>Opcode_MAA</a:t>
            </a:r>
            <a:endParaRPr lang="en-US" sz="1050" dirty="0"/>
          </a:p>
        </p:txBody>
      </p:sp>
      <p:cxnSp>
        <p:nvCxnSpPr>
          <p:cNvPr id="37" name="Connector: Elbow 36">
            <a:extLst>
              <a:ext uri="{FF2B5EF4-FFF2-40B4-BE49-F238E27FC236}">
                <a16:creationId xmlns:a16="http://schemas.microsoft.com/office/drawing/2014/main" id="{013E522B-10FE-2508-F196-059961274C67}"/>
              </a:ext>
            </a:extLst>
          </p:cNvPr>
          <p:cNvCxnSpPr>
            <a:stCxn id="35" idx="3"/>
          </p:cNvCxnSpPr>
          <p:nvPr/>
        </p:nvCxnSpPr>
        <p:spPr>
          <a:xfrm>
            <a:off x="3957484" y="2110446"/>
            <a:ext cx="1282269" cy="4016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TextBox 37">
            <a:hlinkClick r:id="rId7" action="ppaction://hlinksldjump"/>
            <a:extLst>
              <a:ext uri="{FF2B5EF4-FFF2-40B4-BE49-F238E27FC236}">
                <a16:creationId xmlns:a16="http://schemas.microsoft.com/office/drawing/2014/main" id="{0B48037C-645A-251E-E68C-1CD12CC698E8}"/>
              </a:ext>
            </a:extLst>
          </p:cNvPr>
          <p:cNvSpPr txBox="1"/>
          <p:nvPr/>
        </p:nvSpPr>
        <p:spPr>
          <a:xfrm>
            <a:off x="3210164" y="2240111"/>
            <a:ext cx="747320" cy="146304"/>
          </a:xfrm>
          <a:prstGeom prst="rect">
            <a:avLst/>
          </a:prstGeom>
          <a:noFill/>
          <a:ln>
            <a:solidFill>
              <a:schemeClr val="accent1"/>
            </a:solidFill>
          </a:ln>
        </p:spPr>
        <p:txBody>
          <a:bodyPr wrap="none" tIns="0" bIns="0" rtlCol="0">
            <a:spAutoFit/>
          </a:bodyPr>
          <a:lstStyle/>
          <a:p>
            <a:r>
              <a:rPr lang="en-US" sz="1050" dirty="0"/>
              <a:t>Opcode_5</a:t>
            </a:r>
          </a:p>
        </p:txBody>
      </p:sp>
      <p:sp>
        <p:nvSpPr>
          <p:cNvPr id="39" name="TextBox 38">
            <a:hlinkClick r:id="rId7" action="ppaction://hlinksldjump"/>
            <a:extLst>
              <a:ext uri="{FF2B5EF4-FFF2-40B4-BE49-F238E27FC236}">
                <a16:creationId xmlns:a16="http://schemas.microsoft.com/office/drawing/2014/main" id="{F400C003-9C75-89E4-0E7F-ED255EED630F}"/>
              </a:ext>
            </a:extLst>
          </p:cNvPr>
          <p:cNvSpPr txBox="1"/>
          <p:nvPr/>
        </p:nvSpPr>
        <p:spPr>
          <a:xfrm>
            <a:off x="3210164" y="2442928"/>
            <a:ext cx="747320" cy="161583"/>
          </a:xfrm>
          <a:prstGeom prst="rect">
            <a:avLst/>
          </a:prstGeom>
          <a:noFill/>
          <a:ln>
            <a:solidFill>
              <a:schemeClr val="accent1"/>
            </a:solidFill>
          </a:ln>
        </p:spPr>
        <p:txBody>
          <a:bodyPr wrap="none" tIns="0" bIns="0" rtlCol="0">
            <a:spAutoFit/>
          </a:bodyPr>
          <a:lstStyle/>
          <a:p>
            <a:r>
              <a:rPr lang="en-US" sz="1050" dirty="0"/>
              <a:t>Opcode_7</a:t>
            </a:r>
          </a:p>
        </p:txBody>
      </p:sp>
      <p:sp>
        <p:nvSpPr>
          <p:cNvPr id="40" name="TextBox 39">
            <a:hlinkClick r:id="rId7" action="ppaction://hlinksldjump"/>
            <a:extLst>
              <a:ext uri="{FF2B5EF4-FFF2-40B4-BE49-F238E27FC236}">
                <a16:creationId xmlns:a16="http://schemas.microsoft.com/office/drawing/2014/main" id="{436651E1-969F-B23B-438B-251895226AB1}"/>
              </a:ext>
            </a:extLst>
          </p:cNvPr>
          <p:cNvSpPr txBox="1"/>
          <p:nvPr/>
        </p:nvSpPr>
        <p:spPr>
          <a:xfrm>
            <a:off x="3210164" y="2645745"/>
            <a:ext cx="747320" cy="161583"/>
          </a:xfrm>
          <a:prstGeom prst="rect">
            <a:avLst/>
          </a:prstGeom>
          <a:noFill/>
          <a:ln>
            <a:solidFill>
              <a:schemeClr val="accent1"/>
            </a:solidFill>
          </a:ln>
        </p:spPr>
        <p:txBody>
          <a:bodyPr wrap="none" tIns="0" bIns="0" rtlCol="0">
            <a:spAutoFit/>
          </a:bodyPr>
          <a:lstStyle/>
          <a:p>
            <a:r>
              <a:rPr lang="en-US" sz="1050" dirty="0"/>
              <a:t>Opcode_6</a:t>
            </a:r>
          </a:p>
        </p:txBody>
      </p:sp>
      <p:cxnSp>
        <p:nvCxnSpPr>
          <p:cNvPr id="42" name="Connector: Elbow 41">
            <a:extLst>
              <a:ext uri="{FF2B5EF4-FFF2-40B4-BE49-F238E27FC236}">
                <a16:creationId xmlns:a16="http://schemas.microsoft.com/office/drawing/2014/main" id="{B6F56C8F-8B87-8E75-3D1C-12AADC9C8AB5}"/>
              </a:ext>
            </a:extLst>
          </p:cNvPr>
          <p:cNvCxnSpPr>
            <a:stCxn id="38" idx="3"/>
          </p:cNvCxnSpPr>
          <p:nvPr/>
        </p:nvCxnSpPr>
        <p:spPr>
          <a:xfrm flipV="1">
            <a:off x="3957484" y="2304047"/>
            <a:ext cx="1282269" cy="921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C97AF34A-C399-6E2D-FBE4-1BB576843D84}"/>
              </a:ext>
            </a:extLst>
          </p:cNvPr>
          <p:cNvCxnSpPr>
            <a:cxnSpLocks/>
            <a:stCxn id="39" idx="3"/>
          </p:cNvCxnSpPr>
          <p:nvPr/>
        </p:nvCxnSpPr>
        <p:spPr>
          <a:xfrm flipV="1">
            <a:off x="3957484" y="2442928"/>
            <a:ext cx="1282269" cy="8079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79903880-FE73-D715-E47E-B0158B644AAE}"/>
              </a:ext>
            </a:extLst>
          </p:cNvPr>
          <p:cNvCxnSpPr>
            <a:cxnSpLocks/>
            <a:stCxn id="40" idx="3"/>
          </p:cNvCxnSpPr>
          <p:nvPr/>
        </p:nvCxnSpPr>
        <p:spPr>
          <a:xfrm flipV="1">
            <a:off x="3957484" y="2523720"/>
            <a:ext cx="1282269" cy="202817"/>
          </a:xfrm>
          <a:prstGeom prst="bentConnector3">
            <a:avLst>
              <a:gd name="adj1" fmla="val 5469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TextBox 60">
            <a:hlinkClick r:id="rId5" action="ppaction://hlinksldjump"/>
            <a:extLst>
              <a:ext uri="{FF2B5EF4-FFF2-40B4-BE49-F238E27FC236}">
                <a16:creationId xmlns:a16="http://schemas.microsoft.com/office/drawing/2014/main" id="{1E401FED-59F9-9DE0-3DA2-8B5FA59C35BC}"/>
              </a:ext>
            </a:extLst>
          </p:cNvPr>
          <p:cNvSpPr txBox="1"/>
          <p:nvPr/>
        </p:nvSpPr>
        <p:spPr>
          <a:xfrm>
            <a:off x="3141235" y="3367370"/>
            <a:ext cx="816249" cy="161583"/>
          </a:xfrm>
          <a:prstGeom prst="rect">
            <a:avLst/>
          </a:prstGeom>
          <a:noFill/>
          <a:ln>
            <a:solidFill>
              <a:schemeClr val="accent1"/>
            </a:solidFill>
          </a:ln>
        </p:spPr>
        <p:txBody>
          <a:bodyPr wrap="none" tIns="0" bIns="0" rtlCol="0">
            <a:spAutoFit/>
          </a:bodyPr>
          <a:lstStyle/>
          <a:p>
            <a:r>
              <a:rPr lang="en-US" sz="1050" dirty="0"/>
              <a:t>DHPC </a:t>
            </a:r>
            <a:r>
              <a:rPr lang="en-US" sz="1050" dirty="0" err="1"/>
              <a:t>Ld</a:t>
            </a:r>
            <a:r>
              <a:rPr lang="en-US" sz="1050" dirty="0"/>
              <a:t> En</a:t>
            </a:r>
          </a:p>
        </p:txBody>
      </p:sp>
      <p:sp>
        <p:nvSpPr>
          <p:cNvPr id="62" name="TextBox 61">
            <a:hlinkClick r:id="rId8" action="ppaction://hlinksldjump"/>
            <a:extLst>
              <a:ext uri="{FF2B5EF4-FFF2-40B4-BE49-F238E27FC236}">
                <a16:creationId xmlns:a16="http://schemas.microsoft.com/office/drawing/2014/main" id="{2998890D-2F8C-39C9-F19B-44B02966A0B3}"/>
              </a:ext>
            </a:extLst>
          </p:cNvPr>
          <p:cNvSpPr txBox="1"/>
          <p:nvPr/>
        </p:nvSpPr>
        <p:spPr>
          <a:xfrm>
            <a:off x="3157265" y="3591765"/>
            <a:ext cx="800219" cy="161583"/>
          </a:xfrm>
          <a:prstGeom prst="rect">
            <a:avLst/>
          </a:prstGeom>
          <a:noFill/>
          <a:ln>
            <a:solidFill>
              <a:schemeClr val="accent1"/>
            </a:solidFill>
          </a:ln>
        </p:spPr>
        <p:txBody>
          <a:bodyPr wrap="none" tIns="0" bIns="0" rtlCol="0">
            <a:spAutoFit/>
          </a:bodyPr>
          <a:lstStyle/>
          <a:p>
            <a:r>
              <a:rPr lang="en-US" sz="1050" dirty="0"/>
              <a:t>DP[L] </a:t>
            </a:r>
            <a:r>
              <a:rPr lang="en-US" sz="1050" dirty="0" err="1"/>
              <a:t>Ld</a:t>
            </a:r>
            <a:r>
              <a:rPr lang="en-US" sz="1050" dirty="0"/>
              <a:t> En</a:t>
            </a:r>
          </a:p>
        </p:txBody>
      </p:sp>
      <p:cxnSp>
        <p:nvCxnSpPr>
          <p:cNvPr id="64" name="Connector: Elbow 63">
            <a:extLst>
              <a:ext uri="{FF2B5EF4-FFF2-40B4-BE49-F238E27FC236}">
                <a16:creationId xmlns:a16="http://schemas.microsoft.com/office/drawing/2014/main" id="{9A2B8FFD-0875-AB91-8593-0D2CF66401B5}"/>
              </a:ext>
            </a:extLst>
          </p:cNvPr>
          <p:cNvCxnSpPr>
            <a:cxnSpLocks/>
            <a:endCxn id="61" idx="3"/>
          </p:cNvCxnSpPr>
          <p:nvPr/>
        </p:nvCxnSpPr>
        <p:spPr>
          <a:xfrm rot="10800000" flipV="1">
            <a:off x="3957484" y="2771502"/>
            <a:ext cx="1204066" cy="676660"/>
          </a:xfrm>
          <a:prstGeom prst="bentConnector3">
            <a:avLst>
              <a:gd name="adj1" fmla="val 2451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Connector: Elbow 67">
            <a:extLst>
              <a:ext uri="{FF2B5EF4-FFF2-40B4-BE49-F238E27FC236}">
                <a16:creationId xmlns:a16="http://schemas.microsoft.com/office/drawing/2014/main" id="{9E20E8FB-C935-8766-6264-CF3484BEE008}"/>
              </a:ext>
            </a:extLst>
          </p:cNvPr>
          <p:cNvCxnSpPr>
            <a:cxnSpLocks/>
            <a:endCxn id="62" idx="3"/>
          </p:cNvCxnSpPr>
          <p:nvPr/>
        </p:nvCxnSpPr>
        <p:spPr>
          <a:xfrm rot="10800000" flipV="1">
            <a:off x="3957484" y="2899611"/>
            <a:ext cx="1204066" cy="772946"/>
          </a:xfrm>
          <a:prstGeom prst="bentConnector3">
            <a:avLst>
              <a:gd name="adj1" fmla="val 13028"/>
            </a:avLst>
          </a:prstGeom>
          <a:ln>
            <a:tailEnd type="triangle"/>
          </a:ln>
        </p:spPr>
        <p:style>
          <a:lnRef idx="1">
            <a:schemeClr val="accent1"/>
          </a:lnRef>
          <a:fillRef idx="0">
            <a:schemeClr val="accent1"/>
          </a:fillRef>
          <a:effectRef idx="0">
            <a:schemeClr val="accent1"/>
          </a:effectRef>
          <a:fontRef idx="minor">
            <a:schemeClr val="tx1"/>
          </a:fontRef>
        </p:style>
      </p:cxnSp>
      <p:sp>
        <p:nvSpPr>
          <p:cNvPr id="72" name="TextBox 71">
            <a:hlinkClick r:id="rId8" action="ppaction://hlinksldjump"/>
            <a:extLst>
              <a:ext uri="{FF2B5EF4-FFF2-40B4-BE49-F238E27FC236}">
                <a16:creationId xmlns:a16="http://schemas.microsoft.com/office/drawing/2014/main" id="{44C7E367-EBD9-9F0B-5317-1B787C94C96B}"/>
              </a:ext>
            </a:extLst>
          </p:cNvPr>
          <p:cNvSpPr txBox="1"/>
          <p:nvPr/>
        </p:nvSpPr>
        <p:spPr>
          <a:xfrm>
            <a:off x="7268051" y="3104408"/>
            <a:ext cx="827471" cy="161583"/>
          </a:xfrm>
          <a:prstGeom prst="rect">
            <a:avLst/>
          </a:prstGeom>
          <a:noFill/>
          <a:ln>
            <a:solidFill>
              <a:schemeClr val="accent1"/>
            </a:solidFill>
          </a:ln>
        </p:spPr>
        <p:txBody>
          <a:bodyPr wrap="none" tIns="0" bIns="0" rtlCol="0">
            <a:spAutoFit/>
          </a:bodyPr>
          <a:lstStyle/>
          <a:p>
            <a:r>
              <a:rPr lang="en-US" sz="1050" dirty="0"/>
              <a:t>DP[H] </a:t>
            </a:r>
            <a:r>
              <a:rPr lang="en-US" sz="1050" dirty="0" err="1"/>
              <a:t>Ld</a:t>
            </a:r>
            <a:r>
              <a:rPr lang="en-US" sz="1050" dirty="0"/>
              <a:t> En</a:t>
            </a:r>
          </a:p>
        </p:txBody>
      </p:sp>
      <p:cxnSp>
        <p:nvCxnSpPr>
          <p:cNvPr id="74" name="Connector: Elbow 73">
            <a:extLst>
              <a:ext uri="{FF2B5EF4-FFF2-40B4-BE49-F238E27FC236}">
                <a16:creationId xmlns:a16="http://schemas.microsoft.com/office/drawing/2014/main" id="{CB129D48-2E36-723F-038E-FB8355D2404F}"/>
              </a:ext>
            </a:extLst>
          </p:cNvPr>
          <p:cNvCxnSpPr>
            <a:endCxn id="72" idx="1"/>
          </p:cNvCxnSpPr>
          <p:nvPr/>
        </p:nvCxnSpPr>
        <p:spPr>
          <a:xfrm>
            <a:off x="6290512" y="3011540"/>
            <a:ext cx="977539" cy="17366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75" name="TextBox 74">
            <a:hlinkClick r:id="rId9" action="ppaction://hlinksldjump"/>
            <a:extLst>
              <a:ext uri="{FF2B5EF4-FFF2-40B4-BE49-F238E27FC236}">
                <a16:creationId xmlns:a16="http://schemas.microsoft.com/office/drawing/2014/main" id="{3FA378F1-5899-1320-BE2C-E72D0982A25B}"/>
              </a:ext>
            </a:extLst>
          </p:cNvPr>
          <p:cNvSpPr txBox="1"/>
          <p:nvPr/>
        </p:nvSpPr>
        <p:spPr>
          <a:xfrm>
            <a:off x="7268051" y="2868856"/>
            <a:ext cx="806631" cy="161583"/>
          </a:xfrm>
          <a:prstGeom prst="rect">
            <a:avLst/>
          </a:prstGeom>
          <a:noFill/>
          <a:ln>
            <a:solidFill>
              <a:schemeClr val="accent1"/>
            </a:solidFill>
          </a:ln>
        </p:spPr>
        <p:txBody>
          <a:bodyPr wrap="none" tIns="0" bIns="0" rtlCol="0">
            <a:spAutoFit/>
          </a:bodyPr>
          <a:lstStyle/>
          <a:p>
            <a:r>
              <a:rPr lang="en-US" sz="1050" dirty="0"/>
              <a:t>SP[L] </a:t>
            </a:r>
            <a:r>
              <a:rPr lang="en-US" sz="1050" dirty="0" err="1"/>
              <a:t>Ld</a:t>
            </a:r>
            <a:r>
              <a:rPr lang="en-US" sz="1050" dirty="0"/>
              <a:t> En</a:t>
            </a:r>
          </a:p>
        </p:txBody>
      </p:sp>
      <p:sp>
        <p:nvSpPr>
          <p:cNvPr id="76" name="TextBox 75">
            <a:hlinkClick r:id="rId9" action="ppaction://hlinksldjump"/>
            <a:extLst>
              <a:ext uri="{FF2B5EF4-FFF2-40B4-BE49-F238E27FC236}">
                <a16:creationId xmlns:a16="http://schemas.microsoft.com/office/drawing/2014/main" id="{C5676E2E-DBD4-0099-0BD6-3BECDFC9FED4}"/>
              </a:ext>
            </a:extLst>
          </p:cNvPr>
          <p:cNvSpPr txBox="1"/>
          <p:nvPr/>
        </p:nvSpPr>
        <p:spPr>
          <a:xfrm>
            <a:off x="7268051" y="2633303"/>
            <a:ext cx="827471" cy="161583"/>
          </a:xfrm>
          <a:prstGeom prst="rect">
            <a:avLst/>
          </a:prstGeom>
          <a:noFill/>
          <a:ln>
            <a:solidFill>
              <a:schemeClr val="accent1"/>
            </a:solidFill>
          </a:ln>
        </p:spPr>
        <p:txBody>
          <a:bodyPr wrap="none" tIns="0" bIns="0" rtlCol="0">
            <a:spAutoFit/>
          </a:bodyPr>
          <a:lstStyle/>
          <a:p>
            <a:r>
              <a:rPr lang="en-US" sz="1050" dirty="0"/>
              <a:t>SP[H] </a:t>
            </a:r>
            <a:r>
              <a:rPr lang="en-US" sz="1050" dirty="0" err="1"/>
              <a:t>Ld</a:t>
            </a:r>
            <a:r>
              <a:rPr lang="en-US" sz="1050" dirty="0"/>
              <a:t> En</a:t>
            </a:r>
          </a:p>
        </p:txBody>
      </p:sp>
      <p:sp>
        <p:nvSpPr>
          <p:cNvPr id="77" name="TextBox 76">
            <a:hlinkClick r:id="rId10" action="ppaction://hlinksldjump"/>
            <a:extLst>
              <a:ext uri="{FF2B5EF4-FFF2-40B4-BE49-F238E27FC236}">
                <a16:creationId xmlns:a16="http://schemas.microsoft.com/office/drawing/2014/main" id="{264E4CDC-8667-6FEE-BCEB-26AF96053966}"/>
              </a:ext>
            </a:extLst>
          </p:cNvPr>
          <p:cNvSpPr txBox="1"/>
          <p:nvPr/>
        </p:nvSpPr>
        <p:spPr>
          <a:xfrm>
            <a:off x="7268051" y="2397750"/>
            <a:ext cx="790601" cy="161583"/>
          </a:xfrm>
          <a:prstGeom prst="rect">
            <a:avLst/>
          </a:prstGeom>
          <a:noFill/>
          <a:ln>
            <a:solidFill>
              <a:schemeClr val="accent1"/>
            </a:solidFill>
          </a:ln>
        </p:spPr>
        <p:txBody>
          <a:bodyPr wrap="none" tIns="0" bIns="0" rtlCol="0">
            <a:spAutoFit/>
          </a:bodyPr>
          <a:lstStyle/>
          <a:p>
            <a:r>
              <a:rPr lang="en-US" sz="1050" dirty="0"/>
              <a:t>BP[L] </a:t>
            </a:r>
            <a:r>
              <a:rPr lang="en-US" sz="1050" dirty="0" err="1"/>
              <a:t>Ld</a:t>
            </a:r>
            <a:r>
              <a:rPr lang="en-US" sz="1050" dirty="0"/>
              <a:t> En</a:t>
            </a:r>
          </a:p>
        </p:txBody>
      </p:sp>
      <p:sp>
        <p:nvSpPr>
          <p:cNvPr id="78" name="TextBox 77">
            <a:hlinkClick r:id="rId10" action="ppaction://hlinksldjump"/>
            <a:extLst>
              <a:ext uri="{FF2B5EF4-FFF2-40B4-BE49-F238E27FC236}">
                <a16:creationId xmlns:a16="http://schemas.microsoft.com/office/drawing/2014/main" id="{6737AC94-E243-4062-4BD3-B00F3E5B3346}"/>
              </a:ext>
            </a:extLst>
          </p:cNvPr>
          <p:cNvSpPr txBox="1"/>
          <p:nvPr/>
        </p:nvSpPr>
        <p:spPr>
          <a:xfrm>
            <a:off x="7268051" y="2162197"/>
            <a:ext cx="827471" cy="161583"/>
          </a:xfrm>
          <a:prstGeom prst="rect">
            <a:avLst/>
          </a:prstGeom>
          <a:noFill/>
          <a:ln>
            <a:solidFill>
              <a:schemeClr val="accent1"/>
            </a:solidFill>
          </a:ln>
        </p:spPr>
        <p:txBody>
          <a:bodyPr wrap="none" tIns="0" bIns="0" rtlCol="0">
            <a:spAutoFit/>
          </a:bodyPr>
          <a:lstStyle/>
          <a:p>
            <a:r>
              <a:rPr lang="en-US" sz="1050" dirty="0"/>
              <a:t>BP[H] </a:t>
            </a:r>
            <a:r>
              <a:rPr lang="en-US" sz="1050" dirty="0" err="1"/>
              <a:t>Ld</a:t>
            </a:r>
            <a:r>
              <a:rPr lang="en-US" sz="1050" dirty="0"/>
              <a:t> En</a:t>
            </a:r>
          </a:p>
        </p:txBody>
      </p:sp>
      <p:cxnSp>
        <p:nvCxnSpPr>
          <p:cNvPr id="79" name="Connector: Elbow 78">
            <a:extLst>
              <a:ext uri="{FF2B5EF4-FFF2-40B4-BE49-F238E27FC236}">
                <a16:creationId xmlns:a16="http://schemas.microsoft.com/office/drawing/2014/main" id="{D3CC50D9-4B8F-E4CC-8632-F2ABF4FB8573}"/>
              </a:ext>
            </a:extLst>
          </p:cNvPr>
          <p:cNvCxnSpPr>
            <a:cxnSpLocks/>
            <a:endCxn id="75" idx="1"/>
          </p:cNvCxnSpPr>
          <p:nvPr/>
        </p:nvCxnSpPr>
        <p:spPr>
          <a:xfrm>
            <a:off x="6290512" y="2899611"/>
            <a:ext cx="977539" cy="5003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Connector: Elbow 81">
            <a:extLst>
              <a:ext uri="{FF2B5EF4-FFF2-40B4-BE49-F238E27FC236}">
                <a16:creationId xmlns:a16="http://schemas.microsoft.com/office/drawing/2014/main" id="{305D29D5-5D09-DEAF-0E17-43172F263363}"/>
              </a:ext>
            </a:extLst>
          </p:cNvPr>
          <p:cNvCxnSpPr>
            <a:cxnSpLocks/>
            <a:endCxn id="76" idx="1"/>
          </p:cNvCxnSpPr>
          <p:nvPr/>
        </p:nvCxnSpPr>
        <p:spPr>
          <a:xfrm flipV="1">
            <a:off x="6281258" y="2714095"/>
            <a:ext cx="986793" cy="5740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4C4E38E4-FF75-ACB6-2965-A8E2E6229E9B}"/>
              </a:ext>
            </a:extLst>
          </p:cNvPr>
          <p:cNvCxnSpPr>
            <a:cxnSpLocks/>
            <a:endCxn id="77" idx="1"/>
          </p:cNvCxnSpPr>
          <p:nvPr/>
        </p:nvCxnSpPr>
        <p:spPr>
          <a:xfrm flipV="1">
            <a:off x="6276631" y="2478542"/>
            <a:ext cx="991420" cy="18301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Connector: Elbow 87">
            <a:extLst>
              <a:ext uri="{FF2B5EF4-FFF2-40B4-BE49-F238E27FC236}">
                <a16:creationId xmlns:a16="http://schemas.microsoft.com/office/drawing/2014/main" id="{553316CC-B4AA-4D0B-C71D-1C4882CA5911}"/>
              </a:ext>
            </a:extLst>
          </p:cNvPr>
          <p:cNvCxnSpPr>
            <a:cxnSpLocks/>
            <a:endCxn id="78" idx="1"/>
          </p:cNvCxnSpPr>
          <p:nvPr/>
        </p:nvCxnSpPr>
        <p:spPr>
          <a:xfrm flipV="1">
            <a:off x="6276631" y="2242989"/>
            <a:ext cx="991420" cy="300788"/>
          </a:xfrm>
          <a:prstGeom prst="bentConnector3">
            <a:avLst>
              <a:gd name="adj1" fmla="val 39685"/>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BB2B2857-2926-CC6E-F7FE-BBD65A1CCC34}"/>
              </a:ext>
            </a:extLst>
          </p:cNvPr>
          <p:cNvSpPr/>
          <p:nvPr/>
        </p:nvSpPr>
        <p:spPr>
          <a:xfrm>
            <a:off x="4360937" y="3410075"/>
            <a:ext cx="133947" cy="913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Connector: Elbow 15">
            <a:extLst>
              <a:ext uri="{FF2B5EF4-FFF2-40B4-BE49-F238E27FC236}">
                <a16:creationId xmlns:a16="http://schemas.microsoft.com/office/drawing/2014/main" id="{1D639D08-1A00-6E10-3A3A-5A95D8F0C1E2}"/>
              </a:ext>
            </a:extLst>
          </p:cNvPr>
          <p:cNvCxnSpPr>
            <a:cxnSpLocks/>
            <a:stCxn id="22" idx="3"/>
            <a:endCxn id="20" idx="1"/>
          </p:cNvCxnSpPr>
          <p:nvPr/>
        </p:nvCxnSpPr>
        <p:spPr>
          <a:xfrm>
            <a:off x="2397923" y="3540442"/>
            <a:ext cx="472877" cy="34094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pic>
        <p:nvPicPr>
          <p:cNvPr id="20" name="Picture 19" descr="Diagram&#10;&#10;Description automatically generated with low confidence">
            <a:extLst>
              <a:ext uri="{FF2B5EF4-FFF2-40B4-BE49-F238E27FC236}">
                <a16:creationId xmlns:a16="http://schemas.microsoft.com/office/drawing/2014/main" id="{FBDE4927-0C63-3D43-5DAC-4BB9E922074A}"/>
              </a:ext>
            </a:extLst>
          </p:cNvPr>
          <p:cNvPicPr>
            <a:picLocks noChangeAspect="1"/>
          </p:cNvPicPr>
          <p:nvPr/>
        </p:nvPicPr>
        <p:blipFill rotWithShape="1">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rcRect r="58979" b="28024"/>
          <a:stretch/>
        </p:blipFill>
        <p:spPr>
          <a:xfrm>
            <a:off x="2870800" y="3788626"/>
            <a:ext cx="270435" cy="185528"/>
          </a:xfrm>
          <a:prstGeom prst="rect">
            <a:avLst/>
          </a:prstGeom>
          <a:solidFill>
            <a:schemeClr val="bg1"/>
          </a:solidFill>
        </p:spPr>
      </p:pic>
      <p:sp>
        <p:nvSpPr>
          <p:cNvPr id="22" name="TextBox 21">
            <a:hlinkClick r:id="rId13" action="ppaction://hlinksldjump"/>
            <a:extLst>
              <a:ext uri="{FF2B5EF4-FFF2-40B4-BE49-F238E27FC236}">
                <a16:creationId xmlns:a16="http://schemas.microsoft.com/office/drawing/2014/main" id="{2AB670A1-9F3E-A2CC-A3E9-2AA3A3AFCF91}"/>
              </a:ext>
            </a:extLst>
          </p:cNvPr>
          <p:cNvSpPr txBox="1"/>
          <p:nvPr/>
        </p:nvSpPr>
        <p:spPr>
          <a:xfrm>
            <a:off x="1727547" y="3463498"/>
            <a:ext cx="670376" cy="153888"/>
          </a:xfrm>
          <a:prstGeom prst="rect">
            <a:avLst/>
          </a:prstGeom>
          <a:solidFill>
            <a:schemeClr val="bg1"/>
          </a:solidFill>
          <a:ln>
            <a:solidFill>
              <a:schemeClr val="accent1"/>
            </a:solidFill>
          </a:ln>
        </p:spPr>
        <p:txBody>
          <a:bodyPr wrap="none" tIns="0" bIns="0" rtlCol="0">
            <a:spAutoFit/>
          </a:bodyPr>
          <a:lstStyle/>
          <a:p>
            <a:r>
              <a:rPr lang="en-US" sz="1000" dirty="0"/>
              <a:t>Main CLK</a:t>
            </a:r>
          </a:p>
        </p:txBody>
      </p:sp>
      <p:cxnSp>
        <p:nvCxnSpPr>
          <p:cNvPr id="27" name="Connector: Elbow 26">
            <a:extLst>
              <a:ext uri="{FF2B5EF4-FFF2-40B4-BE49-F238E27FC236}">
                <a16:creationId xmlns:a16="http://schemas.microsoft.com/office/drawing/2014/main" id="{F4ACB04A-9221-6841-2D35-F1FDB5650DBF}"/>
              </a:ext>
            </a:extLst>
          </p:cNvPr>
          <p:cNvCxnSpPr>
            <a:cxnSpLocks/>
            <a:stCxn id="20" idx="3"/>
            <a:endCxn id="12" idx="2"/>
          </p:cNvCxnSpPr>
          <p:nvPr/>
        </p:nvCxnSpPr>
        <p:spPr>
          <a:xfrm flipV="1">
            <a:off x="3141235" y="3501428"/>
            <a:ext cx="1286676" cy="379962"/>
          </a:xfrm>
          <a:prstGeom prst="bentConnector2">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30" name="Picture 29" descr="Diagram&#10;&#10;Description automatically generated with low confidence">
            <a:extLst>
              <a:ext uri="{FF2B5EF4-FFF2-40B4-BE49-F238E27FC236}">
                <a16:creationId xmlns:a16="http://schemas.microsoft.com/office/drawing/2014/main" id="{7450099E-0791-8081-C6DE-15AB3CF9F2FF}"/>
              </a:ext>
            </a:extLst>
          </p:cNvPr>
          <p:cNvPicPr>
            <a:picLocks noChangeAspect="1"/>
          </p:cNvPicPr>
          <p:nvPr/>
        </p:nvPicPr>
        <p:blipFill rotWithShape="1">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rcRect l="50000" t="19257" r="4045" b="-1180"/>
          <a:stretch/>
        </p:blipFill>
        <p:spPr>
          <a:xfrm flipH="1">
            <a:off x="4290141" y="3595527"/>
            <a:ext cx="231824" cy="161584"/>
          </a:xfrm>
          <a:prstGeom prst="rect">
            <a:avLst/>
          </a:prstGeom>
        </p:spPr>
      </p:pic>
      <p:pic>
        <p:nvPicPr>
          <p:cNvPr id="31" name="Picture 30" descr="Diagram&#10;&#10;Description automatically generated with low confidence">
            <a:extLst>
              <a:ext uri="{FF2B5EF4-FFF2-40B4-BE49-F238E27FC236}">
                <a16:creationId xmlns:a16="http://schemas.microsoft.com/office/drawing/2014/main" id="{50359120-9A1D-2C00-5978-50CD9380AEB5}"/>
              </a:ext>
            </a:extLst>
          </p:cNvPr>
          <p:cNvPicPr>
            <a:picLocks noChangeAspect="1"/>
          </p:cNvPicPr>
          <p:nvPr/>
        </p:nvPicPr>
        <p:blipFill rotWithShape="1">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rcRect l="50000" t="19257" r="4045" b="-1180"/>
          <a:stretch/>
        </p:blipFill>
        <p:spPr>
          <a:xfrm flipH="1">
            <a:off x="4286680" y="3374223"/>
            <a:ext cx="231824" cy="161584"/>
          </a:xfrm>
          <a:prstGeom prst="rect">
            <a:avLst/>
          </a:prstGeom>
        </p:spPr>
      </p:pic>
      <p:cxnSp>
        <p:nvCxnSpPr>
          <p:cNvPr id="54" name="Connector: Elbow 53">
            <a:extLst>
              <a:ext uri="{FF2B5EF4-FFF2-40B4-BE49-F238E27FC236}">
                <a16:creationId xmlns:a16="http://schemas.microsoft.com/office/drawing/2014/main" id="{80F48B80-73BE-0059-E924-C1B27AD4CD0E}"/>
              </a:ext>
            </a:extLst>
          </p:cNvPr>
          <p:cNvCxnSpPr>
            <a:cxnSpLocks/>
            <a:stCxn id="20" idx="3"/>
            <a:endCxn id="11" idx="2"/>
          </p:cNvCxnSpPr>
          <p:nvPr/>
        </p:nvCxnSpPr>
        <p:spPr>
          <a:xfrm flipV="1">
            <a:off x="3141235" y="2331061"/>
            <a:ext cx="3876551" cy="1550329"/>
          </a:xfrm>
          <a:prstGeom prst="bentConnector2">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28" name="Picture 27" descr="Diagram&#10;&#10;Description automatically generated with low confidence">
            <a:extLst>
              <a:ext uri="{FF2B5EF4-FFF2-40B4-BE49-F238E27FC236}">
                <a16:creationId xmlns:a16="http://schemas.microsoft.com/office/drawing/2014/main" id="{861975FF-E00E-A230-3B5A-7B25233DBD9F}"/>
              </a:ext>
            </a:extLst>
          </p:cNvPr>
          <p:cNvPicPr>
            <a:picLocks noChangeAspect="1"/>
          </p:cNvPicPr>
          <p:nvPr/>
        </p:nvPicPr>
        <p:blipFill rotWithShape="1">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rcRect l="50000" t="19257" r="4045" b="-1180"/>
          <a:stretch/>
        </p:blipFill>
        <p:spPr>
          <a:xfrm>
            <a:off x="6901874" y="3110402"/>
            <a:ext cx="231824" cy="161584"/>
          </a:xfrm>
          <a:prstGeom prst="rect">
            <a:avLst/>
          </a:prstGeom>
        </p:spPr>
      </p:pic>
      <p:pic>
        <p:nvPicPr>
          <p:cNvPr id="11" name="Picture 10" descr="Diagram&#10;&#10;Description automatically generated with low confidence">
            <a:extLst>
              <a:ext uri="{FF2B5EF4-FFF2-40B4-BE49-F238E27FC236}">
                <a16:creationId xmlns:a16="http://schemas.microsoft.com/office/drawing/2014/main" id="{98BE66F4-9A53-63FD-DAA7-2FD23D557073}"/>
              </a:ext>
            </a:extLst>
          </p:cNvPr>
          <p:cNvPicPr>
            <a:picLocks noChangeAspect="1"/>
          </p:cNvPicPr>
          <p:nvPr/>
        </p:nvPicPr>
        <p:blipFill rotWithShape="1">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rcRect l="50000" t="19257" r="4045" b="-1180"/>
          <a:stretch/>
        </p:blipFill>
        <p:spPr>
          <a:xfrm>
            <a:off x="6901874" y="2169477"/>
            <a:ext cx="231824" cy="161584"/>
          </a:xfrm>
          <a:prstGeom prst="rect">
            <a:avLst/>
          </a:prstGeom>
        </p:spPr>
      </p:pic>
      <p:pic>
        <p:nvPicPr>
          <p:cNvPr id="14" name="Picture 13" descr="Diagram&#10;&#10;Description automatically generated with low confidence">
            <a:extLst>
              <a:ext uri="{FF2B5EF4-FFF2-40B4-BE49-F238E27FC236}">
                <a16:creationId xmlns:a16="http://schemas.microsoft.com/office/drawing/2014/main" id="{F404AC7F-E567-09B4-DF8A-E5F2F2416F02}"/>
              </a:ext>
            </a:extLst>
          </p:cNvPr>
          <p:cNvPicPr>
            <a:picLocks noChangeAspect="1"/>
          </p:cNvPicPr>
          <p:nvPr/>
        </p:nvPicPr>
        <p:blipFill rotWithShape="1">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rcRect l="50000" t="19257" r="4045" b="-1180"/>
          <a:stretch/>
        </p:blipFill>
        <p:spPr>
          <a:xfrm>
            <a:off x="6901874" y="2406350"/>
            <a:ext cx="231824" cy="161584"/>
          </a:xfrm>
          <a:prstGeom prst="rect">
            <a:avLst/>
          </a:prstGeom>
        </p:spPr>
      </p:pic>
      <p:pic>
        <p:nvPicPr>
          <p:cNvPr id="15" name="Picture 14" descr="Diagram&#10;&#10;Description automatically generated with low confidence">
            <a:extLst>
              <a:ext uri="{FF2B5EF4-FFF2-40B4-BE49-F238E27FC236}">
                <a16:creationId xmlns:a16="http://schemas.microsoft.com/office/drawing/2014/main" id="{0CDCB733-5CA8-2DB5-E3D9-C6CF8D674E6A}"/>
              </a:ext>
            </a:extLst>
          </p:cNvPr>
          <p:cNvPicPr>
            <a:picLocks noChangeAspect="1"/>
          </p:cNvPicPr>
          <p:nvPr/>
        </p:nvPicPr>
        <p:blipFill rotWithShape="1">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rcRect l="50000" t="19257" r="4045" b="-1180"/>
          <a:stretch/>
        </p:blipFill>
        <p:spPr>
          <a:xfrm>
            <a:off x="6901874" y="2635842"/>
            <a:ext cx="231824" cy="161584"/>
          </a:xfrm>
          <a:prstGeom prst="rect">
            <a:avLst/>
          </a:prstGeom>
        </p:spPr>
      </p:pic>
      <p:pic>
        <p:nvPicPr>
          <p:cNvPr id="9" name="Picture 8" descr="Diagram&#10;&#10;Description automatically generated with low confidence">
            <a:extLst>
              <a:ext uri="{FF2B5EF4-FFF2-40B4-BE49-F238E27FC236}">
                <a16:creationId xmlns:a16="http://schemas.microsoft.com/office/drawing/2014/main" id="{2FC0EA8F-6DB3-4F2F-D0D8-26F34CDC2745}"/>
              </a:ext>
            </a:extLst>
          </p:cNvPr>
          <p:cNvPicPr>
            <a:picLocks noChangeAspect="1"/>
          </p:cNvPicPr>
          <p:nvPr/>
        </p:nvPicPr>
        <p:blipFill rotWithShape="1">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rcRect l="50000" t="19257" r="4045" b="-1180"/>
          <a:stretch/>
        </p:blipFill>
        <p:spPr>
          <a:xfrm>
            <a:off x="6905000" y="2878719"/>
            <a:ext cx="231824" cy="161584"/>
          </a:xfrm>
          <a:prstGeom prst="rect">
            <a:avLst/>
          </a:prstGeom>
        </p:spPr>
      </p:pic>
      <p:sp>
        <p:nvSpPr>
          <p:cNvPr id="23" name="TextBox 22">
            <a:extLst>
              <a:ext uri="{FF2B5EF4-FFF2-40B4-BE49-F238E27FC236}">
                <a16:creationId xmlns:a16="http://schemas.microsoft.com/office/drawing/2014/main" id="{4307654F-C729-49D0-32CA-F2CE966F3238}"/>
              </a:ext>
            </a:extLst>
          </p:cNvPr>
          <p:cNvSpPr txBox="1"/>
          <p:nvPr/>
        </p:nvSpPr>
        <p:spPr>
          <a:xfrm>
            <a:off x="6096000" y="6519648"/>
            <a:ext cx="4583306" cy="230832"/>
          </a:xfrm>
          <a:prstGeom prst="rect">
            <a:avLst/>
          </a:prstGeom>
          <a:noFill/>
        </p:spPr>
        <p:txBody>
          <a:bodyPr wrap="none" rtlCol="0">
            <a:spAutoFit/>
          </a:bodyPr>
          <a:lstStyle/>
          <a:p>
            <a:r>
              <a:rPr lang="en-US" sz="900" dirty="0"/>
              <a:t>* 191 is active low, but to use the AND for clock gating they are Active High that later inverted</a:t>
            </a:r>
          </a:p>
        </p:txBody>
      </p:sp>
    </p:spTree>
    <p:extLst>
      <p:ext uri="{BB962C8B-B14F-4D97-AF65-F5344CB8AC3E}">
        <p14:creationId xmlns:p14="http://schemas.microsoft.com/office/powerpoint/2010/main" val="1768926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70B9D-3675-001F-A57B-39A30D4AADC4}"/>
              </a:ext>
            </a:extLst>
          </p:cNvPr>
          <p:cNvSpPr>
            <a:spLocks noGrp="1"/>
          </p:cNvSpPr>
          <p:nvPr>
            <p:ph type="ctrTitle"/>
          </p:nvPr>
        </p:nvSpPr>
        <p:spPr/>
        <p:txBody>
          <a:bodyPr/>
          <a:lstStyle/>
          <a:p>
            <a:r>
              <a:rPr lang="en-US" dirty="0"/>
              <a:t>Program Counter Design</a:t>
            </a:r>
          </a:p>
        </p:txBody>
      </p:sp>
      <p:sp>
        <p:nvSpPr>
          <p:cNvPr id="3" name="TextBox 2">
            <a:extLst>
              <a:ext uri="{FF2B5EF4-FFF2-40B4-BE49-F238E27FC236}">
                <a16:creationId xmlns:a16="http://schemas.microsoft.com/office/drawing/2014/main" id="{736848C2-7889-38CD-23AF-2C7E00423062}"/>
              </a:ext>
            </a:extLst>
          </p:cNvPr>
          <p:cNvSpPr txBox="1"/>
          <p:nvPr/>
        </p:nvSpPr>
        <p:spPr>
          <a:xfrm>
            <a:off x="787497" y="1128624"/>
            <a:ext cx="6443220" cy="1107996"/>
          </a:xfrm>
          <a:prstGeom prst="rect">
            <a:avLst/>
          </a:prstGeom>
          <a:solidFill>
            <a:srgbClr val="FFFFCC"/>
          </a:solidFill>
          <a:ln>
            <a:solidFill>
              <a:schemeClr val="tx1"/>
            </a:solidFill>
          </a:ln>
        </p:spPr>
        <p:txBody>
          <a:bodyPr wrap="square" rtlCol="0">
            <a:spAutoFit/>
          </a:bodyPr>
          <a:lstStyle/>
          <a:p>
            <a:pPr marL="171450" indent="-171450">
              <a:buFont typeface="Arial" panose="020B0604020202020204" pitchFamily="34" charset="0"/>
              <a:buChar char="•"/>
            </a:pPr>
            <a:r>
              <a:rPr lang="en-US" sz="1100" dirty="0"/>
              <a:t>The Program Counter on Address Bus is a 16b pointer, with granularity of bytes.</a:t>
            </a:r>
          </a:p>
          <a:p>
            <a:pPr marL="171450" indent="-171450">
              <a:buFont typeface="Arial" panose="020B0604020202020204" pitchFamily="34" charset="0"/>
              <a:buChar char="•"/>
            </a:pPr>
            <a:r>
              <a:rPr lang="en-US" sz="1100" dirty="0"/>
              <a:t>However, the actual HW counter is a 15b counter, counting instructions.</a:t>
            </a:r>
          </a:p>
          <a:p>
            <a:pPr marL="171450" indent="-171450">
              <a:buFont typeface="Arial" panose="020B0604020202020204" pitchFamily="34" charset="0"/>
              <a:buChar char="•"/>
            </a:pPr>
            <a:r>
              <a:rPr lang="en-US" sz="1100" dirty="0"/>
              <a:t>So:</a:t>
            </a:r>
          </a:p>
          <a:p>
            <a:pPr marL="628650" lvl="1" indent="-171450">
              <a:buFont typeface="Arial" panose="020B0604020202020204" pitchFamily="34" charset="0"/>
              <a:buChar char="•"/>
            </a:pPr>
            <a:r>
              <a:rPr lang="en-US" sz="1100" dirty="0"/>
              <a:t>When SW writes to the HW counter, the data shift right, dropping the </a:t>
            </a:r>
            <a:r>
              <a:rPr lang="en-US" sz="1100" dirty="0" err="1"/>
              <a:t>lsb</a:t>
            </a:r>
            <a:br>
              <a:rPr lang="en-US" sz="1100" dirty="0"/>
            </a:br>
            <a:r>
              <a:rPr lang="en-US" sz="1100" dirty="0"/>
              <a:t>(PC cannot be odd)</a:t>
            </a:r>
          </a:p>
          <a:p>
            <a:pPr marL="628650" lvl="1" indent="-171450">
              <a:buFont typeface="Arial" panose="020B0604020202020204" pitchFamily="34" charset="0"/>
              <a:buChar char="•"/>
            </a:pPr>
            <a:r>
              <a:rPr lang="en-US" sz="1100" dirty="0"/>
              <a:t>When HW Counter writes to the Address bus, it shift left, </a:t>
            </a:r>
            <a:r>
              <a:rPr lang="en-US" sz="1100" dirty="0" err="1"/>
              <a:t>addith</a:t>
            </a:r>
            <a:r>
              <a:rPr lang="en-US" sz="1100" dirty="0"/>
              <a:t> the </a:t>
            </a:r>
            <a:r>
              <a:rPr lang="en-US" sz="1100" dirty="0" err="1"/>
              <a:t>lsb</a:t>
            </a:r>
            <a:r>
              <a:rPr lang="en-US" sz="1100" dirty="0"/>
              <a:t> from the fetch FSM</a:t>
            </a:r>
          </a:p>
        </p:txBody>
      </p:sp>
      <p:graphicFrame>
        <p:nvGraphicFramePr>
          <p:cNvPr id="4" name="Table 3">
            <a:extLst>
              <a:ext uri="{FF2B5EF4-FFF2-40B4-BE49-F238E27FC236}">
                <a16:creationId xmlns:a16="http://schemas.microsoft.com/office/drawing/2014/main" id="{8D4E74E1-3B0B-84DC-7E1D-2872EFFD0AC5}"/>
              </a:ext>
            </a:extLst>
          </p:cNvPr>
          <p:cNvGraphicFramePr>
            <a:graphicFrameLocks noGrp="1"/>
          </p:cNvGraphicFramePr>
          <p:nvPr>
            <p:extLst>
              <p:ext uri="{D42A27DB-BD31-4B8C-83A1-F6EECF244321}">
                <p14:modId xmlns:p14="http://schemas.microsoft.com/office/powerpoint/2010/main" val="1169655761"/>
              </p:ext>
            </p:extLst>
          </p:nvPr>
        </p:nvGraphicFramePr>
        <p:xfrm>
          <a:off x="2573682" y="3041887"/>
          <a:ext cx="8128000" cy="304800"/>
        </p:xfrm>
        <a:graphic>
          <a:graphicData uri="http://schemas.openxmlformats.org/drawingml/2006/table">
            <a:tbl>
              <a:tblPr bandRow="1">
                <a:tableStyleId>{5C22544A-7EE6-4342-B048-85BDC9FD1C3A}</a:tableStyleId>
              </a:tblPr>
              <a:tblGrid>
                <a:gridCol w="508000">
                  <a:extLst>
                    <a:ext uri="{9D8B030D-6E8A-4147-A177-3AD203B41FA5}">
                      <a16:colId xmlns:a16="http://schemas.microsoft.com/office/drawing/2014/main" val="3316352639"/>
                    </a:ext>
                  </a:extLst>
                </a:gridCol>
                <a:gridCol w="508000">
                  <a:extLst>
                    <a:ext uri="{9D8B030D-6E8A-4147-A177-3AD203B41FA5}">
                      <a16:colId xmlns:a16="http://schemas.microsoft.com/office/drawing/2014/main" val="1650117134"/>
                    </a:ext>
                  </a:extLst>
                </a:gridCol>
                <a:gridCol w="508000">
                  <a:extLst>
                    <a:ext uri="{9D8B030D-6E8A-4147-A177-3AD203B41FA5}">
                      <a16:colId xmlns:a16="http://schemas.microsoft.com/office/drawing/2014/main" val="2686039124"/>
                    </a:ext>
                  </a:extLst>
                </a:gridCol>
                <a:gridCol w="508000">
                  <a:extLst>
                    <a:ext uri="{9D8B030D-6E8A-4147-A177-3AD203B41FA5}">
                      <a16:colId xmlns:a16="http://schemas.microsoft.com/office/drawing/2014/main" val="2344509852"/>
                    </a:ext>
                  </a:extLst>
                </a:gridCol>
                <a:gridCol w="508000">
                  <a:extLst>
                    <a:ext uri="{9D8B030D-6E8A-4147-A177-3AD203B41FA5}">
                      <a16:colId xmlns:a16="http://schemas.microsoft.com/office/drawing/2014/main" val="2160677875"/>
                    </a:ext>
                  </a:extLst>
                </a:gridCol>
                <a:gridCol w="508000">
                  <a:extLst>
                    <a:ext uri="{9D8B030D-6E8A-4147-A177-3AD203B41FA5}">
                      <a16:colId xmlns:a16="http://schemas.microsoft.com/office/drawing/2014/main" val="4009878461"/>
                    </a:ext>
                  </a:extLst>
                </a:gridCol>
                <a:gridCol w="508000">
                  <a:extLst>
                    <a:ext uri="{9D8B030D-6E8A-4147-A177-3AD203B41FA5}">
                      <a16:colId xmlns:a16="http://schemas.microsoft.com/office/drawing/2014/main" val="4233078956"/>
                    </a:ext>
                  </a:extLst>
                </a:gridCol>
                <a:gridCol w="508000">
                  <a:extLst>
                    <a:ext uri="{9D8B030D-6E8A-4147-A177-3AD203B41FA5}">
                      <a16:colId xmlns:a16="http://schemas.microsoft.com/office/drawing/2014/main" val="2670670380"/>
                    </a:ext>
                  </a:extLst>
                </a:gridCol>
                <a:gridCol w="508000">
                  <a:extLst>
                    <a:ext uri="{9D8B030D-6E8A-4147-A177-3AD203B41FA5}">
                      <a16:colId xmlns:a16="http://schemas.microsoft.com/office/drawing/2014/main" val="3069165425"/>
                    </a:ext>
                  </a:extLst>
                </a:gridCol>
                <a:gridCol w="508000">
                  <a:extLst>
                    <a:ext uri="{9D8B030D-6E8A-4147-A177-3AD203B41FA5}">
                      <a16:colId xmlns:a16="http://schemas.microsoft.com/office/drawing/2014/main" val="596003515"/>
                    </a:ext>
                  </a:extLst>
                </a:gridCol>
                <a:gridCol w="508000">
                  <a:extLst>
                    <a:ext uri="{9D8B030D-6E8A-4147-A177-3AD203B41FA5}">
                      <a16:colId xmlns:a16="http://schemas.microsoft.com/office/drawing/2014/main" val="4182992016"/>
                    </a:ext>
                  </a:extLst>
                </a:gridCol>
                <a:gridCol w="508000">
                  <a:extLst>
                    <a:ext uri="{9D8B030D-6E8A-4147-A177-3AD203B41FA5}">
                      <a16:colId xmlns:a16="http://schemas.microsoft.com/office/drawing/2014/main" val="4055321704"/>
                    </a:ext>
                  </a:extLst>
                </a:gridCol>
                <a:gridCol w="508000">
                  <a:extLst>
                    <a:ext uri="{9D8B030D-6E8A-4147-A177-3AD203B41FA5}">
                      <a16:colId xmlns:a16="http://schemas.microsoft.com/office/drawing/2014/main" val="2458012477"/>
                    </a:ext>
                  </a:extLst>
                </a:gridCol>
                <a:gridCol w="508000">
                  <a:extLst>
                    <a:ext uri="{9D8B030D-6E8A-4147-A177-3AD203B41FA5}">
                      <a16:colId xmlns:a16="http://schemas.microsoft.com/office/drawing/2014/main" val="1410084248"/>
                    </a:ext>
                  </a:extLst>
                </a:gridCol>
                <a:gridCol w="508000">
                  <a:extLst>
                    <a:ext uri="{9D8B030D-6E8A-4147-A177-3AD203B41FA5}">
                      <a16:colId xmlns:a16="http://schemas.microsoft.com/office/drawing/2014/main" val="1718121100"/>
                    </a:ext>
                  </a:extLst>
                </a:gridCol>
                <a:gridCol w="508000">
                  <a:extLst>
                    <a:ext uri="{9D8B030D-6E8A-4147-A177-3AD203B41FA5}">
                      <a16:colId xmlns:a16="http://schemas.microsoft.com/office/drawing/2014/main" val="2705057155"/>
                    </a:ext>
                  </a:extLst>
                </a:gridCol>
              </a:tblGrid>
              <a:tr h="275497">
                <a:tc>
                  <a:txBody>
                    <a:bodyPr/>
                    <a:lstStyle/>
                    <a:p>
                      <a:pPr algn="ctr"/>
                      <a:r>
                        <a:rPr lang="en-US" sz="1400" dirty="0"/>
                        <a:t>15</a:t>
                      </a:r>
                    </a:p>
                  </a:txBody>
                  <a:tcPr/>
                </a:tc>
                <a:tc>
                  <a:txBody>
                    <a:bodyPr/>
                    <a:lstStyle/>
                    <a:p>
                      <a:pPr algn="ctr"/>
                      <a:r>
                        <a:rPr lang="en-US" sz="1400" dirty="0"/>
                        <a:t>14</a:t>
                      </a:r>
                    </a:p>
                  </a:txBody>
                  <a:tcPr/>
                </a:tc>
                <a:tc>
                  <a:txBody>
                    <a:bodyPr/>
                    <a:lstStyle/>
                    <a:p>
                      <a:pPr algn="ctr"/>
                      <a:r>
                        <a:rPr lang="en-US" sz="1400" dirty="0"/>
                        <a:t>13</a:t>
                      </a:r>
                    </a:p>
                  </a:txBody>
                  <a:tcPr/>
                </a:tc>
                <a:tc>
                  <a:txBody>
                    <a:bodyPr/>
                    <a:lstStyle/>
                    <a:p>
                      <a:pPr algn="ctr"/>
                      <a:r>
                        <a:rPr lang="en-US" sz="1400" dirty="0"/>
                        <a:t>12</a:t>
                      </a:r>
                    </a:p>
                  </a:txBody>
                  <a:tcPr/>
                </a:tc>
                <a:tc>
                  <a:txBody>
                    <a:bodyPr/>
                    <a:lstStyle/>
                    <a:p>
                      <a:pPr algn="ctr"/>
                      <a:r>
                        <a:rPr lang="en-US" sz="1400" dirty="0"/>
                        <a:t>11</a:t>
                      </a:r>
                    </a:p>
                  </a:txBody>
                  <a:tcPr/>
                </a:tc>
                <a:tc>
                  <a:txBody>
                    <a:bodyPr/>
                    <a:lstStyle/>
                    <a:p>
                      <a:pPr algn="ctr"/>
                      <a:r>
                        <a:rPr lang="en-US" sz="1400" dirty="0"/>
                        <a:t>10</a:t>
                      </a:r>
                    </a:p>
                  </a:txBody>
                  <a:tcPr/>
                </a:tc>
                <a:tc>
                  <a:txBody>
                    <a:bodyPr/>
                    <a:lstStyle/>
                    <a:p>
                      <a:pPr algn="ctr"/>
                      <a:r>
                        <a:rPr lang="en-US" sz="1400" dirty="0"/>
                        <a:t>9</a:t>
                      </a:r>
                    </a:p>
                  </a:txBody>
                  <a:tcPr/>
                </a:tc>
                <a:tc>
                  <a:txBody>
                    <a:bodyPr/>
                    <a:lstStyle/>
                    <a:p>
                      <a:pPr algn="ctr"/>
                      <a:r>
                        <a:rPr lang="en-US" sz="1400" dirty="0"/>
                        <a:t>8</a:t>
                      </a:r>
                    </a:p>
                  </a:txBody>
                  <a:tcPr/>
                </a:tc>
                <a:tc>
                  <a:txBody>
                    <a:bodyPr/>
                    <a:lstStyle/>
                    <a:p>
                      <a:pPr algn="ctr"/>
                      <a:r>
                        <a:rPr lang="en-US" sz="1400" dirty="0"/>
                        <a:t>7</a:t>
                      </a:r>
                    </a:p>
                  </a:txBody>
                  <a:tcPr/>
                </a:tc>
                <a:tc>
                  <a:txBody>
                    <a:bodyPr/>
                    <a:lstStyle/>
                    <a:p>
                      <a:pPr algn="ctr"/>
                      <a:r>
                        <a:rPr lang="en-US" sz="1400" dirty="0"/>
                        <a:t>6</a:t>
                      </a:r>
                    </a:p>
                  </a:txBody>
                  <a:tcPr/>
                </a:tc>
                <a:tc>
                  <a:txBody>
                    <a:bodyPr/>
                    <a:lstStyle/>
                    <a:p>
                      <a:pPr algn="ctr"/>
                      <a:r>
                        <a:rPr lang="en-US" sz="1400" dirty="0"/>
                        <a:t>5</a:t>
                      </a:r>
                    </a:p>
                  </a:txBody>
                  <a:tcPr/>
                </a:tc>
                <a:tc>
                  <a:txBody>
                    <a:bodyPr/>
                    <a:lstStyle/>
                    <a:p>
                      <a:pPr algn="ctr"/>
                      <a:r>
                        <a:rPr lang="en-US" sz="1400" dirty="0"/>
                        <a:t>4</a:t>
                      </a:r>
                    </a:p>
                  </a:txBody>
                  <a:tcPr/>
                </a:tc>
                <a:tc>
                  <a:txBody>
                    <a:bodyPr/>
                    <a:lstStyle/>
                    <a:p>
                      <a:pPr algn="ctr"/>
                      <a:r>
                        <a:rPr lang="en-US" sz="1400" dirty="0"/>
                        <a:t>3</a:t>
                      </a:r>
                    </a:p>
                  </a:txBody>
                  <a:tcPr/>
                </a:tc>
                <a:tc>
                  <a:txBody>
                    <a:bodyPr/>
                    <a:lstStyle/>
                    <a:p>
                      <a:pPr algn="ctr"/>
                      <a:r>
                        <a:rPr lang="en-US" sz="1400" dirty="0"/>
                        <a:t>2</a:t>
                      </a:r>
                    </a:p>
                  </a:txBody>
                  <a:tcPr/>
                </a:tc>
                <a:tc>
                  <a:txBody>
                    <a:bodyPr/>
                    <a:lstStyle/>
                    <a:p>
                      <a:pPr algn="ctr"/>
                      <a:r>
                        <a:rPr lang="en-US" sz="1400" dirty="0"/>
                        <a:t>1</a:t>
                      </a:r>
                    </a:p>
                  </a:txBody>
                  <a:tcPr/>
                </a:tc>
                <a:tc>
                  <a:txBody>
                    <a:bodyPr/>
                    <a:lstStyle/>
                    <a:p>
                      <a:pPr algn="ctr"/>
                      <a:r>
                        <a:rPr lang="en-US" sz="1400" dirty="0"/>
                        <a:t>0</a:t>
                      </a:r>
                    </a:p>
                  </a:txBody>
                  <a:tcPr/>
                </a:tc>
                <a:extLst>
                  <a:ext uri="{0D108BD9-81ED-4DB2-BD59-A6C34878D82A}">
                    <a16:rowId xmlns:a16="http://schemas.microsoft.com/office/drawing/2014/main" val="1920949912"/>
                  </a:ext>
                </a:extLst>
              </a:tr>
            </a:tbl>
          </a:graphicData>
        </a:graphic>
      </p:graphicFrame>
      <p:graphicFrame>
        <p:nvGraphicFramePr>
          <p:cNvPr id="5" name="Table 4">
            <a:extLst>
              <a:ext uri="{FF2B5EF4-FFF2-40B4-BE49-F238E27FC236}">
                <a16:creationId xmlns:a16="http://schemas.microsoft.com/office/drawing/2014/main" id="{E59A453A-D092-B759-A137-94FEB9289000}"/>
              </a:ext>
            </a:extLst>
          </p:cNvPr>
          <p:cNvGraphicFramePr>
            <a:graphicFrameLocks noGrp="1"/>
          </p:cNvGraphicFramePr>
          <p:nvPr>
            <p:extLst>
              <p:ext uri="{D42A27DB-BD31-4B8C-83A1-F6EECF244321}">
                <p14:modId xmlns:p14="http://schemas.microsoft.com/office/powerpoint/2010/main" val="3057702557"/>
              </p:ext>
            </p:extLst>
          </p:nvPr>
        </p:nvGraphicFramePr>
        <p:xfrm>
          <a:off x="2573682" y="4064592"/>
          <a:ext cx="8128000" cy="304800"/>
        </p:xfrm>
        <a:graphic>
          <a:graphicData uri="http://schemas.openxmlformats.org/drawingml/2006/table">
            <a:tbl>
              <a:tblPr bandRow="1">
                <a:tableStyleId>{5C22544A-7EE6-4342-B048-85BDC9FD1C3A}</a:tableStyleId>
              </a:tblPr>
              <a:tblGrid>
                <a:gridCol w="508000">
                  <a:extLst>
                    <a:ext uri="{9D8B030D-6E8A-4147-A177-3AD203B41FA5}">
                      <a16:colId xmlns:a16="http://schemas.microsoft.com/office/drawing/2014/main" val="3316352639"/>
                    </a:ext>
                  </a:extLst>
                </a:gridCol>
                <a:gridCol w="508000">
                  <a:extLst>
                    <a:ext uri="{9D8B030D-6E8A-4147-A177-3AD203B41FA5}">
                      <a16:colId xmlns:a16="http://schemas.microsoft.com/office/drawing/2014/main" val="1650117134"/>
                    </a:ext>
                  </a:extLst>
                </a:gridCol>
                <a:gridCol w="508000">
                  <a:extLst>
                    <a:ext uri="{9D8B030D-6E8A-4147-A177-3AD203B41FA5}">
                      <a16:colId xmlns:a16="http://schemas.microsoft.com/office/drawing/2014/main" val="2686039124"/>
                    </a:ext>
                  </a:extLst>
                </a:gridCol>
                <a:gridCol w="508000">
                  <a:extLst>
                    <a:ext uri="{9D8B030D-6E8A-4147-A177-3AD203B41FA5}">
                      <a16:colId xmlns:a16="http://schemas.microsoft.com/office/drawing/2014/main" val="2344509852"/>
                    </a:ext>
                  </a:extLst>
                </a:gridCol>
                <a:gridCol w="508000">
                  <a:extLst>
                    <a:ext uri="{9D8B030D-6E8A-4147-A177-3AD203B41FA5}">
                      <a16:colId xmlns:a16="http://schemas.microsoft.com/office/drawing/2014/main" val="2160677875"/>
                    </a:ext>
                  </a:extLst>
                </a:gridCol>
                <a:gridCol w="508000">
                  <a:extLst>
                    <a:ext uri="{9D8B030D-6E8A-4147-A177-3AD203B41FA5}">
                      <a16:colId xmlns:a16="http://schemas.microsoft.com/office/drawing/2014/main" val="4009878461"/>
                    </a:ext>
                  </a:extLst>
                </a:gridCol>
                <a:gridCol w="508000">
                  <a:extLst>
                    <a:ext uri="{9D8B030D-6E8A-4147-A177-3AD203B41FA5}">
                      <a16:colId xmlns:a16="http://schemas.microsoft.com/office/drawing/2014/main" val="4233078956"/>
                    </a:ext>
                  </a:extLst>
                </a:gridCol>
                <a:gridCol w="508000">
                  <a:extLst>
                    <a:ext uri="{9D8B030D-6E8A-4147-A177-3AD203B41FA5}">
                      <a16:colId xmlns:a16="http://schemas.microsoft.com/office/drawing/2014/main" val="2670670380"/>
                    </a:ext>
                  </a:extLst>
                </a:gridCol>
                <a:gridCol w="508000">
                  <a:extLst>
                    <a:ext uri="{9D8B030D-6E8A-4147-A177-3AD203B41FA5}">
                      <a16:colId xmlns:a16="http://schemas.microsoft.com/office/drawing/2014/main" val="3069165425"/>
                    </a:ext>
                  </a:extLst>
                </a:gridCol>
                <a:gridCol w="508000">
                  <a:extLst>
                    <a:ext uri="{9D8B030D-6E8A-4147-A177-3AD203B41FA5}">
                      <a16:colId xmlns:a16="http://schemas.microsoft.com/office/drawing/2014/main" val="596003515"/>
                    </a:ext>
                  </a:extLst>
                </a:gridCol>
                <a:gridCol w="508000">
                  <a:extLst>
                    <a:ext uri="{9D8B030D-6E8A-4147-A177-3AD203B41FA5}">
                      <a16:colId xmlns:a16="http://schemas.microsoft.com/office/drawing/2014/main" val="4182992016"/>
                    </a:ext>
                  </a:extLst>
                </a:gridCol>
                <a:gridCol w="508000">
                  <a:extLst>
                    <a:ext uri="{9D8B030D-6E8A-4147-A177-3AD203B41FA5}">
                      <a16:colId xmlns:a16="http://schemas.microsoft.com/office/drawing/2014/main" val="4055321704"/>
                    </a:ext>
                  </a:extLst>
                </a:gridCol>
                <a:gridCol w="508000">
                  <a:extLst>
                    <a:ext uri="{9D8B030D-6E8A-4147-A177-3AD203B41FA5}">
                      <a16:colId xmlns:a16="http://schemas.microsoft.com/office/drawing/2014/main" val="2458012477"/>
                    </a:ext>
                  </a:extLst>
                </a:gridCol>
                <a:gridCol w="508000">
                  <a:extLst>
                    <a:ext uri="{9D8B030D-6E8A-4147-A177-3AD203B41FA5}">
                      <a16:colId xmlns:a16="http://schemas.microsoft.com/office/drawing/2014/main" val="1410084248"/>
                    </a:ext>
                  </a:extLst>
                </a:gridCol>
                <a:gridCol w="508000">
                  <a:extLst>
                    <a:ext uri="{9D8B030D-6E8A-4147-A177-3AD203B41FA5}">
                      <a16:colId xmlns:a16="http://schemas.microsoft.com/office/drawing/2014/main" val="1718121100"/>
                    </a:ext>
                  </a:extLst>
                </a:gridCol>
                <a:gridCol w="508000">
                  <a:extLst>
                    <a:ext uri="{9D8B030D-6E8A-4147-A177-3AD203B41FA5}">
                      <a16:colId xmlns:a16="http://schemas.microsoft.com/office/drawing/2014/main" val="2705057155"/>
                    </a:ext>
                  </a:extLst>
                </a:gridCol>
              </a:tblGrid>
              <a:tr h="275497">
                <a:tc>
                  <a:txBody>
                    <a:bodyPr/>
                    <a:lstStyle/>
                    <a:p>
                      <a:pPr algn="ctr"/>
                      <a:r>
                        <a:rPr lang="en-US" sz="1400" dirty="0"/>
                        <a:t>15</a:t>
                      </a:r>
                    </a:p>
                  </a:txBody>
                  <a:tcPr/>
                </a:tc>
                <a:tc>
                  <a:txBody>
                    <a:bodyPr/>
                    <a:lstStyle/>
                    <a:p>
                      <a:pPr algn="ctr"/>
                      <a:r>
                        <a:rPr lang="en-US" sz="1400" dirty="0"/>
                        <a:t>14</a:t>
                      </a:r>
                    </a:p>
                  </a:txBody>
                  <a:tcPr/>
                </a:tc>
                <a:tc>
                  <a:txBody>
                    <a:bodyPr/>
                    <a:lstStyle/>
                    <a:p>
                      <a:pPr algn="ctr"/>
                      <a:r>
                        <a:rPr lang="en-US" sz="1400" dirty="0"/>
                        <a:t>13</a:t>
                      </a:r>
                    </a:p>
                  </a:txBody>
                  <a:tcPr/>
                </a:tc>
                <a:tc>
                  <a:txBody>
                    <a:bodyPr/>
                    <a:lstStyle/>
                    <a:p>
                      <a:pPr algn="ctr"/>
                      <a:r>
                        <a:rPr lang="en-US" sz="1400" dirty="0"/>
                        <a:t>12</a:t>
                      </a:r>
                    </a:p>
                  </a:txBody>
                  <a:tcPr/>
                </a:tc>
                <a:tc>
                  <a:txBody>
                    <a:bodyPr/>
                    <a:lstStyle/>
                    <a:p>
                      <a:pPr algn="ctr"/>
                      <a:r>
                        <a:rPr lang="en-US" sz="1400" dirty="0"/>
                        <a:t>11</a:t>
                      </a:r>
                    </a:p>
                  </a:txBody>
                  <a:tcPr/>
                </a:tc>
                <a:tc>
                  <a:txBody>
                    <a:bodyPr/>
                    <a:lstStyle/>
                    <a:p>
                      <a:pPr algn="ctr"/>
                      <a:r>
                        <a:rPr lang="en-US" sz="1400" dirty="0"/>
                        <a:t>10</a:t>
                      </a:r>
                    </a:p>
                  </a:txBody>
                  <a:tcPr/>
                </a:tc>
                <a:tc>
                  <a:txBody>
                    <a:bodyPr/>
                    <a:lstStyle/>
                    <a:p>
                      <a:pPr algn="ctr"/>
                      <a:r>
                        <a:rPr lang="en-US" sz="1400" dirty="0"/>
                        <a:t>9</a:t>
                      </a:r>
                    </a:p>
                  </a:txBody>
                  <a:tcPr/>
                </a:tc>
                <a:tc>
                  <a:txBody>
                    <a:bodyPr/>
                    <a:lstStyle/>
                    <a:p>
                      <a:pPr algn="ctr"/>
                      <a:r>
                        <a:rPr lang="en-US" sz="1400" dirty="0"/>
                        <a:t>8</a:t>
                      </a:r>
                    </a:p>
                  </a:txBody>
                  <a:tcPr/>
                </a:tc>
                <a:tc>
                  <a:txBody>
                    <a:bodyPr/>
                    <a:lstStyle/>
                    <a:p>
                      <a:pPr algn="ctr"/>
                      <a:r>
                        <a:rPr lang="en-US" sz="1400" dirty="0"/>
                        <a:t>7</a:t>
                      </a:r>
                    </a:p>
                  </a:txBody>
                  <a:tcPr/>
                </a:tc>
                <a:tc>
                  <a:txBody>
                    <a:bodyPr/>
                    <a:lstStyle/>
                    <a:p>
                      <a:pPr algn="ctr"/>
                      <a:r>
                        <a:rPr lang="en-US" sz="1400" dirty="0"/>
                        <a:t>6</a:t>
                      </a:r>
                    </a:p>
                  </a:txBody>
                  <a:tcPr/>
                </a:tc>
                <a:tc>
                  <a:txBody>
                    <a:bodyPr/>
                    <a:lstStyle/>
                    <a:p>
                      <a:pPr algn="ctr"/>
                      <a:r>
                        <a:rPr lang="en-US" sz="1400" dirty="0"/>
                        <a:t>5</a:t>
                      </a:r>
                    </a:p>
                  </a:txBody>
                  <a:tcPr/>
                </a:tc>
                <a:tc>
                  <a:txBody>
                    <a:bodyPr/>
                    <a:lstStyle/>
                    <a:p>
                      <a:pPr algn="ctr"/>
                      <a:r>
                        <a:rPr lang="en-US" sz="1400" dirty="0"/>
                        <a:t>4</a:t>
                      </a:r>
                    </a:p>
                  </a:txBody>
                  <a:tcPr/>
                </a:tc>
                <a:tc>
                  <a:txBody>
                    <a:bodyPr/>
                    <a:lstStyle/>
                    <a:p>
                      <a:pPr algn="ctr"/>
                      <a:r>
                        <a:rPr lang="en-US" sz="1400" dirty="0"/>
                        <a:t>3</a:t>
                      </a:r>
                    </a:p>
                  </a:txBody>
                  <a:tcPr/>
                </a:tc>
                <a:tc>
                  <a:txBody>
                    <a:bodyPr/>
                    <a:lstStyle/>
                    <a:p>
                      <a:pPr algn="ctr"/>
                      <a:r>
                        <a:rPr lang="en-US" sz="1400" dirty="0"/>
                        <a:t>2</a:t>
                      </a:r>
                    </a:p>
                  </a:txBody>
                  <a:tcPr/>
                </a:tc>
                <a:tc>
                  <a:txBody>
                    <a:bodyPr/>
                    <a:lstStyle/>
                    <a:p>
                      <a:pPr algn="ctr"/>
                      <a:r>
                        <a:rPr lang="en-US" sz="1400" dirty="0"/>
                        <a:t>1</a:t>
                      </a:r>
                    </a:p>
                  </a:txBody>
                  <a:tcPr/>
                </a:tc>
                <a:tc>
                  <a:txBody>
                    <a:bodyPr/>
                    <a:lstStyle/>
                    <a:p>
                      <a:pPr algn="ctr"/>
                      <a:r>
                        <a:rPr lang="en-US" sz="1400" dirty="0"/>
                        <a:t>0</a:t>
                      </a:r>
                    </a:p>
                  </a:txBody>
                  <a:tcPr/>
                </a:tc>
                <a:extLst>
                  <a:ext uri="{0D108BD9-81ED-4DB2-BD59-A6C34878D82A}">
                    <a16:rowId xmlns:a16="http://schemas.microsoft.com/office/drawing/2014/main" val="1920949912"/>
                  </a:ext>
                </a:extLst>
              </a:tr>
            </a:tbl>
          </a:graphicData>
        </a:graphic>
      </p:graphicFrame>
      <p:graphicFrame>
        <p:nvGraphicFramePr>
          <p:cNvPr id="6" name="Table 5">
            <a:extLst>
              <a:ext uri="{FF2B5EF4-FFF2-40B4-BE49-F238E27FC236}">
                <a16:creationId xmlns:a16="http://schemas.microsoft.com/office/drawing/2014/main" id="{E089E0D4-2295-1B71-A19A-B0AEF9907728}"/>
              </a:ext>
            </a:extLst>
          </p:cNvPr>
          <p:cNvGraphicFramePr>
            <a:graphicFrameLocks noGrp="1"/>
          </p:cNvGraphicFramePr>
          <p:nvPr>
            <p:extLst>
              <p:ext uri="{D42A27DB-BD31-4B8C-83A1-F6EECF244321}">
                <p14:modId xmlns:p14="http://schemas.microsoft.com/office/powerpoint/2010/main" val="698979583"/>
              </p:ext>
            </p:extLst>
          </p:nvPr>
        </p:nvGraphicFramePr>
        <p:xfrm>
          <a:off x="2573682" y="5137381"/>
          <a:ext cx="8128000" cy="304800"/>
        </p:xfrm>
        <a:graphic>
          <a:graphicData uri="http://schemas.openxmlformats.org/drawingml/2006/table">
            <a:tbl>
              <a:tblPr bandRow="1">
                <a:tableStyleId>{5C22544A-7EE6-4342-B048-85BDC9FD1C3A}</a:tableStyleId>
              </a:tblPr>
              <a:tblGrid>
                <a:gridCol w="508000">
                  <a:extLst>
                    <a:ext uri="{9D8B030D-6E8A-4147-A177-3AD203B41FA5}">
                      <a16:colId xmlns:a16="http://schemas.microsoft.com/office/drawing/2014/main" val="3316352639"/>
                    </a:ext>
                  </a:extLst>
                </a:gridCol>
                <a:gridCol w="508000">
                  <a:extLst>
                    <a:ext uri="{9D8B030D-6E8A-4147-A177-3AD203B41FA5}">
                      <a16:colId xmlns:a16="http://schemas.microsoft.com/office/drawing/2014/main" val="1650117134"/>
                    </a:ext>
                  </a:extLst>
                </a:gridCol>
                <a:gridCol w="508000">
                  <a:extLst>
                    <a:ext uri="{9D8B030D-6E8A-4147-A177-3AD203B41FA5}">
                      <a16:colId xmlns:a16="http://schemas.microsoft.com/office/drawing/2014/main" val="2686039124"/>
                    </a:ext>
                  </a:extLst>
                </a:gridCol>
                <a:gridCol w="508000">
                  <a:extLst>
                    <a:ext uri="{9D8B030D-6E8A-4147-A177-3AD203B41FA5}">
                      <a16:colId xmlns:a16="http://schemas.microsoft.com/office/drawing/2014/main" val="2344509852"/>
                    </a:ext>
                  </a:extLst>
                </a:gridCol>
                <a:gridCol w="508000">
                  <a:extLst>
                    <a:ext uri="{9D8B030D-6E8A-4147-A177-3AD203B41FA5}">
                      <a16:colId xmlns:a16="http://schemas.microsoft.com/office/drawing/2014/main" val="2160677875"/>
                    </a:ext>
                  </a:extLst>
                </a:gridCol>
                <a:gridCol w="508000">
                  <a:extLst>
                    <a:ext uri="{9D8B030D-6E8A-4147-A177-3AD203B41FA5}">
                      <a16:colId xmlns:a16="http://schemas.microsoft.com/office/drawing/2014/main" val="4009878461"/>
                    </a:ext>
                  </a:extLst>
                </a:gridCol>
                <a:gridCol w="508000">
                  <a:extLst>
                    <a:ext uri="{9D8B030D-6E8A-4147-A177-3AD203B41FA5}">
                      <a16:colId xmlns:a16="http://schemas.microsoft.com/office/drawing/2014/main" val="4233078956"/>
                    </a:ext>
                  </a:extLst>
                </a:gridCol>
                <a:gridCol w="508000">
                  <a:extLst>
                    <a:ext uri="{9D8B030D-6E8A-4147-A177-3AD203B41FA5}">
                      <a16:colId xmlns:a16="http://schemas.microsoft.com/office/drawing/2014/main" val="2670670380"/>
                    </a:ext>
                  </a:extLst>
                </a:gridCol>
                <a:gridCol w="508000">
                  <a:extLst>
                    <a:ext uri="{9D8B030D-6E8A-4147-A177-3AD203B41FA5}">
                      <a16:colId xmlns:a16="http://schemas.microsoft.com/office/drawing/2014/main" val="3069165425"/>
                    </a:ext>
                  </a:extLst>
                </a:gridCol>
                <a:gridCol w="508000">
                  <a:extLst>
                    <a:ext uri="{9D8B030D-6E8A-4147-A177-3AD203B41FA5}">
                      <a16:colId xmlns:a16="http://schemas.microsoft.com/office/drawing/2014/main" val="596003515"/>
                    </a:ext>
                  </a:extLst>
                </a:gridCol>
                <a:gridCol w="508000">
                  <a:extLst>
                    <a:ext uri="{9D8B030D-6E8A-4147-A177-3AD203B41FA5}">
                      <a16:colId xmlns:a16="http://schemas.microsoft.com/office/drawing/2014/main" val="4182992016"/>
                    </a:ext>
                  </a:extLst>
                </a:gridCol>
                <a:gridCol w="508000">
                  <a:extLst>
                    <a:ext uri="{9D8B030D-6E8A-4147-A177-3AD203B41FA5}">
                      <a16:colId xmlns:a16="http://schemas.microsoft.com/office/drawing/2014/main" val="4055321704"/>
                    </a:ext>
                  </a:extLst>
                </a:gridCol>
                <a:gridCol w="508000">
                  <a:extLst>
                    <a:ext uri="{9D8B030D-6E8A-4147-A177-3AD203B41FA5}">
                      <a16:colId xmlns:a16="http://schemas.microsoft.com/office/drawing/2014/main" val="2458012477"/>
                    </a:ext>
                  </a:extLst>
                </a:gridCol>
                <a:gridCol w="508000">
                  <a:extLst>
                    <a:ext uri="{9D8B030D-6E8A-4147-A177-3AD203B41FA5}">
                      <a16:colId xmlns:a16="http://schemas.microsoft.com/office/drawing/2014/main" val="1410084248"/>
                    </a:ext>
                  </a:extLst>
                </a:gridCol>
                <a:gridCol w="508000">
                  <a:extLst>
                    <a:ext uri="{9D8B030D-6E8A-4147-A177-3AD203B41FA5}">
                      <a16:colId xmlns:a16="http://schemas.microsoft.com/office/drawing/2014/main" val="1718121100"/>
                    </a:ext>
                  </a:extLst>
                </a:gridCol>
                <a:gridCol w="508000">
                  <a:extLst>
                    <a:ext uri="{9D8B030D-6E8A-4147-A177-3AD203B41FA5}">
                      <a16:colId xmlns:a16="http://schemas.microsoft.com/office/drawing/2014/main" val="2705057155"/>
                    </a:ext>
                  </a:extLst>
                </a:gridCol>
              </a:tblGrid>
              <a:tr h="275497">
                <a:tc>
                  <a:txBody>
                    <a:bodyPr/>
                    <a:lstStyle/>
                    <a:p>
                      <a:pPr algn="ctr"/>
                      <a:r>
                        <a:rPr lang="en-US" sz="1400" dirty="0"/>
                        <a:t>15</a:t>
                      </a:r>
                    </a:p>
                  </a:txBody>
                  <a:tcPr/>
                </a:tc>
                <a:tc>
                  <a:txBody>
                    <a:bodyPr/>
                    <a:lstStyle/>
                    <a:p>
                      <a:pPr algn="ctr"/>
                      <a:r>
                        <a:rPr lang="en-US" sz="1400" dirty="0"/>
                        <a:t>14</a:t>
                      </a:r>
                    </a:p>
                  </a:txBody>
                  <a:tcPr/>
                </a:tc>
                <a:tc>
                  <a:txBody>
                    <a:bodyPr/>
                    <a:lstStyle/>
                    <a:p>
                      <a:pPr algn="ctr"/>
                      <a:r>
                        <a:rPr lang="en-US" sz="1400" dirty="0"/>
                        <a:t>13</a:t>
                      </a:r>
                    </a:p>
                  </a:txBody>
                  <a:tcPr/>
                </a:tc>
                <a:tc>
                  <a:txBody>
                    <a:bodyPr/>
                    <a:lstStyle/>
                    <a:p>
                      <a:pPr algn="ctr"/>
                      <a:r>
                        <a:rPr lang="en-US" sz="1400" dirty="0"/>
                        <a:t>12</a:t>
                      </a:r>
                    </a:p>
                  </a:txBody>
                  <a:tcPr/>
                </a:tc>
                <a:tc>
                  <a:txBody>
                    <a:bodyPr/>
                    <a:lstStyle/>
                    <a:p>
                      <a:pPr algn="ctr"/>
                      <a:r>
                        <a:rPr lang="en-US" sz="1400" dirty="0"/>
                        <a:t>11</a:t>
                      </a:r>
                    </a:p>
                  </a:txBody>
                  <a:tcPr/>
                </a:tc>
                <a:tc>
                  <a:txBody>
                    <a:bodyPr/>
                    <a:lstStyle/>
                    <a:p>
                      <a:pPr algn="ctr"/>
                      <a:r>
                        <a:rPr lang="en-US" sz="1400" dirty="0"/>
                        <a:t>10</a:t>
                      </a:r>
                    </a:p>
                  </a:txBody>
                  <a:tcPr/>
                </a:tc>
                <a:tc>
                  <a:txBody>
                    <a:bodyPr/>
                    <a:lstStyle/>
                    <a:p>
                      <a:pPr algn="ctr"/>
                      <a:r>
                        <a:rPr lang="en-US" sz="1400" dirty="0"/>
                        <a:t>9</a:t>
                      </a:r>
                    </a:p>
                  </a:txBody>
                  <a:tcPr/>
                </a:tc>
                <a:tc>
                  <a:txBody>
                    <a:bodyPr/>
                    <a:lstStyle/>
                    <a:p>
                      <a:pPr algn="ctr"/>
                      <a:r>
                        <a:rPr lang="en-US" sz="1400" dirty="0"/>
                        <a:t>8</a:t>
                      </a:r>
                    </a:p>
                  </a:txBody>
                  <a:tcPr/>
                </a:tc>
                <a:tc>
                  <a:txBody>
                    <a:bodyPr/>
                    <a:lstStyle/>
                    <a:p>
                      <a:pPr algn="ctr"/>
                      <a:r>
                        <a:rPr lang="en-US" sz="1400" dirty="0"/>
                        <a:t>7</a:t>
                      </a:r>
                    </a:p>
                  </a:txBody>
                  <a:tcPr/>
                </a:tc>
                <a:tc>
                  <a:txBody>
                    <a:bodyPr/>
                    <a:lstStyle/>
                    <a:p>
                      <a:pPr algn="ctr"/>
                      <a:r>
                        <a:rPr lang="en-US" sz="1400" dirty="0"/>
                        <a:t>6</a:t>
                      </a:r>
                    </a:p>
                  </a:txBody>
                  <a:tcPr/>
                </a:tc>
                <a:tc>
                  <a:txBody>
                    <a:bodyPr/>
                    <a:lstStyle/>
                    <a:p>
                      <a:pPr algn="ctr"/>
                      <a:r>
                        <a:rPr lang="en-US" sz="1400" dirty="0"/>
                        <a:t>5</a:t>
                      </a:r>
                    </a:p>
                  </a:txBody>
                  <a:tcPr/>
                </a:tc>
                <a:tc>
                  <a:txBody>
                    <a:bodyPr/>
                    <a:lstStyle/>
                    <a:p>
                      <a:pPr algn="ctr"/>
                      <a:r>
                        <a:rPr lang="en-US" sz="1400" dirty="0"/>
                        <a:t>4</a:t>
                      </a:r>
                    </a:p>
                  </a:txBody>
                  <a:tcPr/>
                </a:tc>
                <a:tc>
                  <a:txBody>
                    <a:bodyPr/>
                    <a:lstStyle/>
                    <a:p>
                      <a:pPr algn="ctr"/>
                      <a:r>
                        <a:rPr lang="en-US" sz="1400" dirty="0"/>
                        <a:t>3</a:t>
                      </a:r>
                    </a:p>
                  </a:txBody>
                  <a:tcPr/>
                </a:tc>
                <a:tc>
                  <a:txBody>
                    <a:bodyPr/>
                    <a:lstStyle/>
                    <a:p>
                      <a:pPr algn="ctr"/>
                      <a:r>
                        <a:rPr lang="en-US" sz="1400" dirty="0"/>
                        <a:t>2</a:t>
                      </a:r>
                    </a:p>
                  </a:txBody>
                  <a:tcPr/>
                </a:tc>
                <a:tc>
                  <a:txBody>
                    <a:bodyPr/>
                    <a:lstStyle/>
                    <a:p>
                      <a:pPr algn="ctr"/>
                      <a:r>
                        <a:rPr lang="en-US" sz="1400" dirty="0"/>
                        <a:t>1</a:t>
                      </a:r>
                    </a:p>
                  </a:txBody>
                  <a:tcPr/>
                </a:tc>
                <a:tc>
                  <a:txBody>
                    <a:bodyPr/>
                    <a:lstStyle/>
                    <a:p>
                      <a:pPr algn="ctr"/>
                      <a:r>
                        <a:rPr lang="en-US" sz="1400" dirty="0"/>
                        <a:t>0</a:t>
                      </a:r>
                    </a:p>
                  </a:txBody>
                  <a:tcPr/>
                </a:tc>
                <a:extLst>
                  <a:ext uri="{0D108BD9-81ED-4DB2-BD59-A6C34878D82A}">
                    <a16:rowId xmlns:a16="http://schemas.microsoft.com/office/drawing/2014/main" val="1920949912"/>
                  </a:ext>
                </a:extLst>
              </a:tr>
            </a:tbl>
          </a:graphicData>
        </a:graphic>
      </p:graphicFrame>
      <p:sp>
        <p:nvSpPr>
          <p:cNvPr id="7" name="TextBox 6">
            <a:extLst>
              <a:ext uri="{FF2B5EF4-FFF2-40B4-BE49-F238E27FC236}">
                <a16:creationId xmlns:a16="http://schemas.microsoft.com/office/drawing/2014/main" id="{69E4245B-7F60-FCE3-F159-7A7B66CE16D3}"/>
              </a:ext>
            </a:extLst>
          </p:cNvPr>
          <p:cNvSpPr txBox="1"/>
          <p:nvPr/>
        </p:nvSpPr>
        <p:spPr>
          <a:xfrm>
            <a:off x="208721" y="3041887"/>
            <a:ext cx="2195986" cy="307777"/>
          </a:xfrm>
          <a:prstGeom prst="rect">
            <a:avLst/>
          </a:prstGeom>
          <a:noFill/>
        </p:spPr>
        <p:txBody>
          <a:bodyPr wrap="none" rtlCol="0">
            <a:spAutoFit/>
          </a:bodyPr>
          <a:lstStyle/>
          <a:p>
            <a:r>
              <a:rPr lang="en-US" sz="1400" dirty="0"/>
              <a:t>Load PC from </a:t>
            </a:r>
            <a:r>
              <a:rPr lang="en-US" sz="1400" dirty="0" err="1"/>
              <a:t>Data+Dummy</a:t>
            </a:r>
            <a:endParaRPr lang="en-US" sz="1400" dirty="0"/>
          </a:p>
        </p:txBody>
      </p:sp>
      <p:sp>
        <p:nvSpPr>
          <p:cNvPr id="8" name="TextBox 7">
            <a:extLst>
              <a:ext uri="{FF2B5EF4-FFF2-40B4-BE49-F238E27FC236}">
                <a16:creationId xmlns:a16="http://schemas.microsoft.com/office/drawing/2014/main" id="{477B9946-6188-F55E-E0BC-C1F948DDE9D1}"/>
              </a:ext>
            </a:extLst>
          </p:cNvPr>
          <p:cNvSpPr txBox="1"/>
          <p:nvPr/>
        </p:nvSpPr>
        <p:spPr>
          <a:xfrm>
            <a:off x="787497" y="4061615"/>
            <a:ext cx="1747081" cy="307777"/>
          </a:xfrm>
          <a:prstGeom prst="rect">
            <a:avLst/>
          </a:prstGeom>
          <a:noFill/>
        </p:spPr>
        <p:txBody>
          <a:bodyPr wrap="none" rtlCol="0">
            <a:spAutoFit/>
          </a:bodyPr>
          <a:lstStyle/>
          <a:p>
            <a:r>
              <a:rPr lang="en-US" sz="1400" dirty="0"/>
              <a:t>HW Program Counter</a:t>
            </a:r>
          </a:p>
        </p:txBody>
      </p:sp>
      <p:sp>
        <p:nvSpPr>
          <p:cNvPr id="9" name="TextBox 8">
            <a:extLst>
              <a:ext uri="{FF2B5EF4-FFF2-40B4-BE49-F238E27FC236}">
                <a16:creationId xmlns:a16="http://schemas.microsoft.com/office/drawing/2014/main" id="{011F3C48-5166-C8F5-95E6-849F6ABB7B67}"/>
              </a:ext>
            </a:extLst>
          </p:cNvPr>
          <p:cNvSpPr txBox="1"/>
          <p:nvPr/>
        </p:nvSpPr>
        <p:spPr>
          <a:xfrm>
            <a:off x="588954" y="5137381"/>
            <a:ext cx="1815753" cy="307777"/>
          </a:xfrm>
          <a:prstGeom prst="rect">
            <a:avLst/>
          </a:prstGeom>
          <a:noFill/>
        </p:spPr>
        <p:txBody>
          <a:bodyPr wrap="none" rtlCol="0">
            <a:spAutoFit/>
          </a:bodyPr>
          <a:lstStyle/>
          <a:p>
            <a:r>
              <a:rPr lang="en-US" sz="1400" dirty="0"/>
              <a:t>PC on the Address Bus</a:t>
            </a:r>
          </a:p>
        </p:txBody>
      </p:sp>
      <p:sp>
        <p:nvSpPr>
          <p:cNvPr id="10" name="Left Brace 9">
            <a:extLst>
              <a:ext uri="{FF2B5EF4-FFF2-40B4-BE49-F238E27FC236}">
                <a16:creationId xmlns:a16="http://schemas.microsoft.com/office/drawing/2014/main" id="{27AD7043-0B8C-2A9C-6F05-9675067E400A}"/>
              </a:ext>
            </a:extLst>
          </p:cNvPr>
          <p:cNvSpPr/>
          <p:nvPr/>
        </p:nvSpPr>
        <p:spPr>
          <a:xfrm rot="5400000">
            <a:off x="4438109" y="877946"/>
            <a:ext cx="304799" cy="403365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Left Brace 10">
            <a:extLst>
              <a:ext uri="{FF2B5EF4-FFF2-40B4-BE49-F238E27FC236}">
                <a16:creationId xmlns:a16="http://schemas.microsoft.com/office/drawing/2014/main" id="{03B7D67A-A844-4754-64D5-7C764F1880BE}"/>
              </a:ext>
            </a:extLst>
          </p:cNvPr>
          <p:cNvSpPr/>
          <p:nvPr/>
        </p:nvSpPr>
        <p:spPr>
          <a:xfrm rot="5400000">
            <a:off x="8506407" y="873641"/>
            <a:ext cx="299513" cy="403365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B6BCCFE0-F4B1-897C-DA0F-4250D7315446}"/>
              </a:ext>
            </a:extLst>
          </p:cNvPr>
          <p:cNvSpPr txBox="1"/>
          <p:nvPr/>
        </p:nvSpPr>
        <p:spPr>
          <a:xfrm>
            <a:off x="3730486" y="2529046"/>
            <a:ext cx="1765420" cy="307777"/>
          </a:xfrm>
          <a:prstGeom prst="rect">
            <a:avLst/>
          </a:prstGeom>
          <a:noFill/>
        </p:spPr>
        <p:txBody>
          <a:bodyPr wrap="none" rtlCol="0">
            <a:spAutoFit/>
          </a:bodyPr>
          <a:lstStyle/>
          <a:p>
            <a:r>
              <a:rPr lang="en-US" sz="1400" dirty="0"/>
              <a:t>Load PC from Dummy</a:t>
            </a:r>
          </a:p>
        </p:txBody>
      </p:sp>
      <p:sp>
        <p:nvSpPr>
          <p:cNvPr id="13" name="TextBox 12">
            <a:extLst>
              <a:ext uri="{FF2B5EF4-FFF2-40B4-BE49-F238E27FC236}">
                <a16:creationId xmlns:a16="http://schemas.microsoft.com/office/drawing/2014/main" id="{C54D1448-0BF2-C09E-2AE2-E2DA4D13BFDE}"/>
              </a:ext>
            </a:extLst>
          </p:cNvPr>
          <p:cNvSpPr txBox="1"/>
          <p:nvPr/>
        </p:nvSpPr>
        <p:spPr>
          <a:xfrm>
            <a:off x="7572517" y="2477690"/>
            <a:ext cx="1840247" cy="307777"/>
          </a:xfrm>
          <a:prstGeom prst="rect">
            <a:avLst/>
          </a:prstGeom>
          <a:noFill/>
        </p:spPr>
        <p:txBody>
          <a:bodyPr wrap="none" rtlCol="0">
            <a:spAutoFit/>
          </a:bodyPr>
          <a:lstStyle/>
          <a:p>
            <a:r>
              <a:rPr lang="en-US" sz="1400" dirty="0"/>
              <a:t>Load PC from Data Bus</a:t>
            </a:r>
          </a:p>
        </p:txBody>
      </p:sp>
      <p:cxnSp>
        <p:nvCxnSpPr>
          <p:cNvPr id="15" name="Connector: Elbow 14">
            <a:extLst>
              <a:ext uri="{FF2B5EF4-FFF2-40B4-BE49-F238E27FC236}">
                <a16:creationId xmlns:a16="http://schemas.microsoft.com/office/drawing/2014/main" id="{05583C4A-B5C7-BAEC-F546-7A5B5557F108}"/>
              </a:ext>
            </a:extLst>
          </p:cNvPr>
          <p:cNvCxnSpPr>
            <a:cxnSpLocks/>
            <a:endCxn id="16" idx="1"/>
          </p:cNvCxnSpPr>
          <p:nvPr/>
        </p:nvCxnSpPr>
        <p:spPr>
          <a:xfrm>
            <a:off x="10427076" y="3324974"/>
            <a:ext cx="471615" cy="144824"/>
          </a:xfrm>
          <a:prstGeom prst="bentConnector3">
            <a:avLst>
              <a:gd name="adj1" fmla="val 1189"/>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9EA205D7-E986-0D66-0D15-40668CA72A6B}"/>
              </a:ext>
            </a:extLst>
          </p:cNvPr>
          <p:cNvSpPr txBox="1"/>
          <p:nvPr/>
        </p:nvSpPr>
        <p:spPr>
          <a:xfrm>
            <a:off x="10898691" y="3346687"/>
            <a:ext cx="1089454" cy="246221"/>
          </a:xfrm>
          <a:prstGeom prst="rect">
            <a:avLst/>
          </a:prstGeom>
          <a:noFill/>
        </p:spPr>
        <p:txBody>
          <a:bodyPr wrap="square" rtlCol="0">
            <a:spAutoFit/>
          </a:bodyPr>
          <a:lstStyle/>
          <a:p>
            <a:r>
              <a:rPr lang="en-US" sz="1000" dirty="0"/>
              <a:t>dangled</a:t>
            </a:r>
          </a:p>
        </p:txBody>
      </p:sp>
      <p:grpSp>
        <p:nvGrpSpPr>
          <p:cNvPr id="54" name="Group 53">
            <a:extLst>
              <a:ext uri="{FF2B5EF4-FFF2-40B4-BE49-F238E27FC236}">
                <a16:creationId xmlns:a16="http://schemas.microsoft.com/office/drawing/2014/main" id="{BC0B0BEA-462E-A04C-4394-0E8FAB323B39}"/>
              </a:ext>
            </a:extLst>
          </p:cNvPr>
          <p:cNvGrpSpPr/>
          <p:nvPr/>
        </p:nvGrpSpPr>
        <p:grpSpPr>
          <a:xfrm>
            <a:off x="3084018" y="3350177"/>
            <a:ext cx="7114430" cy="714928"/>
            <a:chOff x="3084018" y="3350177"/>
            <a:chExt cx="7114430" cy="714928"/>
          </a:xfrm>
        </p:grpSpPr>
        <p:cxnSp>
          <p:nvCxnSpPr>
            <p:cNvPr id="19" name="Straight Arrow Connector 18">
              <a:extLst>
                <a:ext uri="{FF2B5EF4-FFF2-40B4-BE49-F238E27FC236}">
                  <a16:creationId xmlns:a16="http://schemas.microsoft.com/office/drawing/2014/main" id="{92B6F0B0-162E-2C8F-AF30-33ECBFA8B3E3}"/>
                </a:ext>
              </a:extLst>
            </p:cNvPr>
            <p:cNvCxnSpPr>
              <a:cxnSpLocks/>
            </p:cNvCxnSpPr>
            <p:nvPr/>
          </p:nvCxnSpPr>
          <p:spPr>
            <a:xfrm rot="-2280000">
              <a:off x="10198448"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0C7B4F4-11B9-3AD5-3FB9-3B2B0615E5E1}"/>
                </a:ext>
              </a:extLst>
            </p:cNvPr>
            <p:cNvCxnSpPr>
              <a:cxnSpLocks/>
            </p:cNvCxnSpPr>
            <p:nvPr/>
          </p:nvCxnSpPr>
          <p:spPr>
            <a:xfrm rot="-2280000">
              <a:off x="7149410"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D72CD42-7516-73DF-930F-0B4662DDCCB3}"/>
                </a:ext>
              </a:extLst>
            </p:cNvPr>
            <p:cNvCxnSpPr>
              <a:cxnSpLocks/>
            </p:cNvCxnSpPr>
            <p:nvPr/>
          </p:nvCxnSpPr>
          <p:spPr>
            <a:xfrm rot="-2280000">
              <a:off x="6641236"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D994D63-2745-456A-7969-CB7F77B739E4}"/>
                </a:ext>
              </a:extLst>
            </p:cNvPr>
            <p:cNvCxnSpPr>
              <a:cxnSpLocks/>
            </p:cNvCxnSpPr>
            <p:nvPr/>
          </p:nvCxnSpPr>
          <p:spPr>
            <a:xfrm rot="-2280000">
              <a:off x="7657584"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285336E7-93EE-079E-E72D-6509916C76F9}"/>
                </a:ext>
              </a:extLst>
            </p:cNvPr>
            <p:cNvCxnSpPr>
              <a:cxnSpLocks/>
            </p:cNvCxnSpPr>
            <p:nvPr/>
          </p:nvCxnSpPr>
          <p:spPr>
            <a:xfrm rot="-2280000">
              <a:off x="8673932"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85354EBC-D363-E27F-D941-D8F91818AD21}"/>
                </a:ext>
              </a:extLst>
            </p:cNvPr>
            <p:cNvCxnSpPr>
              <a:cxnSpLocks/>
            </p:cNvCxnSpPr>
            <p:nvPr/>
          </p:nvCxnSpPr>
          <p:spPr>
            <a:xfrm rot="-2280000">
              <a:off x="3084018"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A770B43-1B5D-CBB5-1F3A-A16F998AD9F3}"/>
                </a:ext>
              </a:extLst>
            </p:cNvPr>
            <p:cNvCxnSpPr>
              <a:cxnSpLocks/>
            </p:cNvCxnSpPr>
            <p:nvPr/>
          </p:nvCxnSpPr>
          <p:spPr>
            <a:xfrm rot="-2280000">
              <a:off x="3592192"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282658F8-269B-FAA9-6F54-271C84473438}"/>
                </a:ext>
              </a:extLst>
            </p:cNvPr>
            <p:cNvCxnSpPr>
              <a:cxnSpLocks/>
            </p:cNvCxnSpPr>
            <p:nvPr/>
          </p:nvCxnSpPr>
          <p:spPr>
            <a:xfrm rot="-2280000">
              <a:off x="4100366"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982C85C2-059F-50E9-B5BE-AF1ACBFC6F16}"/>
                </a:ext>
              </a:extLst>
            </p:cNvPr>
            <p:cNvCxnSpPr>
              <a:cxnSpLocks/>
            </p:cNvCxnSpPr>
            <p:nvPr/>
          </p:nvCxnSpPr>
          <p:spPr>
            <a:xfrm rot="-2280000">
              <a:off x="8165758"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E85CB14-153D-E881-7CB3-9EFBDFBFEFC8}"/>
                </a:ext>
              </a:extLst>
            </p:cNvPr>
            <p:cNvCxnSpPr>
              <a:cxnSpLocks/>
            </p:cNvCxnSpPr>
            <p:nvPr/>
          </p:nvCxnSpPr>
          <p:spPr>
            <a:xfrm rot="-2280000">
              <a:off x="9690280"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B9A1C15-2F63-8AD5-B9C6-20E3ED1D88B1}"/>
                </a:ext>
              </a:extLst>
            </p:cNvPr>
            <p:cNvCxnSpPr>
              <a:cxnSpLocks/>
            </p:cNvCxnSpPr>
            <p:nvPr/>
          </p:nvCxnSpPr>
          <p:spPr>
            <a:xfrm rot="-2280000">
              <a:off x="9182106"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BA9A6F0-28C1-483E-ECC8-0E3ECACCBA95}"/>
                </a:ext>
              </a:extLst>
            </p:cNvPr>
            <p:cNvCxnSpPr>
              <a:cxnSpLocks/>
            </p:cNvCxnSpPr>
            <p:nvPr/>
          </p:nvCxnSpPr>
          <p:spPr>
            <a:xfrm rot="-2280000">
              <a:off x="6133062"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1B67B14-8196-5AFB-2C2B-4C6876BA4E4B}"/>
                </a:ext>
              </a:extLst>
            </p:cNvPr>
            <p:cNvCxnSpPr>
              <a:cxnSpLocks/>
            </p:cNvCxnSpPr>
            <p:nvPr/>
          </p:nvCxnSpPr>
          <p:spPr>
            <a:xfrm rot="-2280000">
              <a:off x="5624888"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03049ED4-4332-1DD8-B131-6FFD52F87877}"/>
                </a:ext>
              </a:extLst>
            </p:cNvPr>
            <p:cNvCxnSpPr>
              <a:cxnSpLocks/>
            </p:cNvCxnSpPr>
            <p:nvPr/>
          </p:nvCxnSpPr>
          <p:spPr>
            <a:xfrm rot="-2280000">
              <a:off x="4608540"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B4265792-0686-684B-8EE8-BB677ABB0723}"/>
                </a:ext>
              </a:extLst>
            </p:cNvPr>
            <p:cNvCxnSpPr>
              <a:cxnSpLocks/>
            </p:cNvCxnSpPr>
            <p:nvPr/>
          </p:nvCxnSpPr>
          <p:spPr>
            <a:xfrm rot="-2280000">
              <a:off x="5116714"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51" name="Connector: Elbow 50">
            <a:extLst>
              <a:ext uri="{FF2B5EF4-FFF2-40B4-BE49-F238E27FC236}">
                <a16:creationId xmlns:a16="http://schemas.microsoft.com/office/drawing/2014/main" id="{59F002BC-4C36-7959-1D04-CB467BB7B49B}"/>
              </a:ext>
            </a:extLst>
          </p:cNvPr>
          <p:cNvCxnSpPr>
            <a:cxnSpLocks/>
            <a:stCxn id="53" idx="1"/>
          </p:cNvCxnSpPr>
          <p:nvPr/>
        </p:nvCxnSpPr>
        <p:spPr>
          <a:xfrm rot="10800000" flipV="1">
            <a:off x="10427076" y="4937325"/>
            <a:ext cx="549212" cy="200055"/>
          </a:xfrm>
          <a:prstGeom prst="bentConnector3">
            <a:avLst>
              <a:gd name="adj1" fmla="val 100064"/>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6CF5F29E-9AF4-7554-A5DF-EE7BCA132381}"/>
              </a:ext>
            </a:extLst>
          </p:cNvPr>
          <p:cNvSpPr txBox="1"/>
          <p:nvPr/>
        </p:nvSpPr>
        <p:spPr>
          <a:xfrm>
            <a:off x="10976288" y="4737271"/>
            <a:ext cx="1089454" cy="400110"/>
          </a:xfrm>
          <a:prstGeom prst="rect">
            <a:avLst/>
          </a:prstGeom>
          <a:noFill/>
        </p:spPr>
        <p:txBody>
          <a:bodyPr wrap="square" rtlCol="0">
            <a:spAutoFit/>
          </a:bodyPr>
          <a:lstStyle/>
          <a:p>
            <a:r>
              <a:rPr lang="en-US" sz="1000" dirty="0"/>
              <a:t>Bit[0] from </a:t>
            </a:r>
          </a:p>
          <a:p>
            <a:r>
              <a:rPr lang="en-US" sz="1000" dirty="0"/>
              <a:t>Fetch FSM</a:t>
            </a:r>
          </a:p>
        </p:txBody>
      </p:sp>
      <p:cxnSp>
        <p:nvCxnSpPr>
          <p:cNvPr id="55" name="Connector: Elbow 54">
            <a:extLst>
              <a:ext uri="{FF2B5EF4-FFF2-40B4-BE49-F238E27FC236}">
                <a16:creationId xmlns:a16="http://schemas.microsoft.com/office/drawing/2014/main" id="{8152404E-C1D9-558C-AA7B-0F5A9572726B}"/>
              </a:ext>
            </a:extLst>
          </p:cNvPr>
          <p:cNvCxnSpPr>
            <a:cxnSpLocks/>
            <a:stCxn id="56" idx="3"/>
          </p:cNvCxnSpPr>
          <p:nvPr/>
        </p:nvCxnSpPr>
        <p:spPr>
          <a:xfrm>
            <a:off x="2375946" y="3698122"/>
            <a:ext cx="264867" cy="37301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4698B93D-C654-077F-34A5-0698FB42A649}"/>
              </a:ext>
            </a:extLst>
          </p:cNvPr>
          <p:cNvSpPr txBox="1"/>
          <p:nvPr/>
        </p:nvSpPr>
        <p:spPr>
          <a:xfrm>
            <a:off x="2148365" y="3575011"/>
            <a:ext cx="227581" cy="246221"/>
          </a:xfrm>
          <a:prstGeom prst="rect">
            <a:avLst/>
          </a:prstGeom>
          <a:noFill/>
        </p:spPr>
        <p:txBody>
          <a:bodyPr wrap="square" rtlCol="0">
            <a:spAutoFit/>
          </a:bodyPr>
          <a:lstStyle/>
          <a:p>
            <a:r>
              <a:rPr lang="en-US" sz="1000" dirty="0"/>
              <a:t>0</a:t>
            </a:r>
          </a:p>
        </p:txBody>
      </p:sp>
      <p:cxnSp>
        <p:nvCxnSpPr>
          <p:cNvPr id="58" name="Connector: Elbow 57">
            <a:extLst>
              <a:ext uri="{FF2B5EF4-FFF2-40B4-BE49-F238E27FC236}">
                <a16:creationId xmlns:a16="http://schemas.microsoft.com/office/drawing/2014/main" id="{4B1B38C7-0C71-52DC-3E46-9645F6F4CD66}"/>
              </a:ext>
            </a:extLst>
          </p:cNvPr>
          <p:cNvCxnSpPr>
            <a:cxnSpLocks/>
          </p:cNvCxnSpPr>
          <p:nvPr/>
        </p:nvCxnSpPr>
        <p:spPr>
          <a:xfrm rot="5400000">
            <a:off x="2360699" y="4393112"/>
            <a:ext cx="306143" cy="25408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212B778D-C55B-B761-7016-94254B168578}"/>
              </a:ext>
            </a:extLst>
          </p:cNvPr>
          <p:cNvSpPr txBox="1"/>
          <p:nvPr/>
        </p:nvSpPr>
        <p:spPr>
          <a:xfrm>
            <a:off x="1774537" y="4542702"/>
            <a:ext cx="630170" cy="246221"/>
          </a:xfrm>
          <a:prstGeom prst="rect">
            <a:avLst/>
          </a:prstGeom>
          <a:noFill/>
        </p:spPr>
        <p:txBody>
          <a:bodyPr wrap="square" rtlCol="0">
            <a:spAutoFit/>
          </a:bodyPr>
          <a:lstStyle/>
          <a:p>
            <a:pPr algn="r"/>
            <a:r>
              <a:rPr lang="en-US" sz="1000" dirty="0"/>
              <a:t>dangled</a:t>
            </a:r>
          </a:p>
        </p:txBody>
      </p:sp>
      <p:grpSp>
        <p:nvGrpSpPr>
          <p:cNvPr id="57" name="Group 56">
            <a:extLst>
              <a:ext uri="{FF2B5EF4-FFF2-40B4-BE49-F238E27FC236}">
                <a16:creationId xmlns:a16="http://schemas.microsoft.com/office/drawing/2014/main" id="{7A4F23CC-D151-4D5D-CF2A-C3D13C6397E3}"/>
              </a:ext>
            </a:extLst>
          </p:cNvPr>
          <p:cNvGrpSpPr/>
          <p:nvPr/>
        </p:nvGrpSpPr>
        <p:grpSpPr>
          <a:xfrm flipH="1">
            <a:off x="3082956" y="4404189"/>
            <a:ext cx="7114430" cy="714928"/>
            <a:chOff x="3084018" y="3350177"/>
            <a:chExt cx="7114430" cy="714928"/>
          </a:xfrm>
        </p:grpSpPr>
        <p:cxnSp>
          <p:nvCxnSpPr>
            <p:cNvPr id="60" name="Straight Arrow Connector 59">
              <a:extLst>
                <a:ext uri="{FF2B5EF4-FFF2-40B4-BE49-F238E27FC236}">
                  <a16:creationId xmlns:a16="http://schemas.microsoft.com/office/drawing/2014/main" id="{542180B2-FB9B-5C3C-9B63-8020F64009F9}"/>
                </a:ext>
              </a:extLst>
            </p:cNvPr>
            <p:cNvCxnSpPr>
              <a:cxnSpLocks/>
            </p:cNvCxnSpPr>
            <p:nvPr/>
          </p:nvCxnSpPr>
          <p:spPr>
            <a:xfrm rot="-2280000">
              <a:off x="10198448"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8749489E-E369-4E12-A823-1ACBFF5B4A1B}"/>
                </a:ext>
              </a:extLst>
            </p:cNvPr>
            <p:cNvCxnSpPr>
              <a:cxnSpLocks/>
            </p:cNvCxnSpPr>
            <p:nvPr/>
          </p:nvCxnSpPr>
          <p:spPr>
            <a:xfrm rot="-2280000">
              <a:off x="7149410"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83C0CB96-9F20-FA55-7A13-C20F3EEC71A4}"/>
                </a:ext>
              </a:extLst>
            </p:cNvPr>
            <p:cNvCxnSpPr>
              <a:cxnSpLocks/>
            </p:cNvCxnSpPr>
            <p:nvPr/>
          </p:nvCxnSpPr>
          <p:spPr>
            <a:xfrm rot="-2280000">
              <a:off x="6641236"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633B7D35-812C-A65F-3E1F-12CEA32F4707}"/>
                </a:ext>
              </a:extLst>
            </p:cNvPr>
            <p:cNvCxnSpPr>
              <a:cxnSpLocks/>
            </p:cNvCxnSpPr>
            <p:nvPr/>
          </p:nvCxnSpPr>
          <p:spPr>
            <a:xfrm rot="-2280000">
              <a:off x="7657584"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2BBA5C83-A8C5-A5E6-CAF2-56A3AC90CBC8}"/>
                </a:ext>
              </a:extLst>
            </p:cNvPr>
            <p:cNvCxnSpPr>
              <a:cxnSpLocks/>
            </p:cNvCxnSpPr>
            <p:nvPr/>
          </p:nvCxnSpPr>
          <p:spPr>
            <a:xfrm rot="-2280000">
              <a:off x="8673932"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9D6CD28A-0DE7-A991-899A-B8EC17553D86}"/>
                </a:ext>
              </a:extLst>
            </p:cNvPr>
            <p:cNvCxnSpPr>
              <a:cxnSpLocks/>
            </p:cNvCxnSpPr>
            <p:nvPr/>
          </p:nvCxnSpPr>
          <p:spPr>
            <a:xfrm rot="-2280000">
              <a:off x="3084018"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73D8DEFD-989C-72C3-500D-AA30B10A2E75}"/>
                </a:ext>
              </a:extLst>
            </p:cNvPr>
            <p:cNvCxnSpPr>
              <a:cxnSpLocks/>
            </p:cNvCxnSpPr>
            <p:nvPr/>
          </p:nvCxnSpPr>
          <p:spPr>
            <a:xfrm rot="-2280000">
              <a:off x="3592192"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1BAFE74-3E0B-F542-0D13-7B20A85B72BF}"/>
                </a:ext>
              </a:extLst>
            </p:cNvPr>
            <p:cNvCxnSpPr>
              <a:cxnSpLocks/>
            </p:cNvCxnSpPr>
            <p:nvPr/>
          </p:nvCxnSpPr>
          <p:spPr>
            <a:xfrm rot="-2280000">
              <a:off x="4100366"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9BBC2711-F904-EE4E-90DB-285199AF620D}"/>
                </a:ext>
              </a:extLst>
            </p:cNvPr>
            <p:cNvCxnSpPr>
              <a:cxnSpLocks/>
            </p:cNvCxnSpPr>
            <p:nvPr/>
          </p:nvCxnSpPr>
          <p:spPr>
            <a:xfrm rot="-2280000">
              <a:off x="8165758"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9D864917-B683-C8E5-4E59-EBC1086B120C}"/>
                </a:ext>
              </a:extLst>
            </p:cNvPr>
            <p:cNvCxnSpPr>
              <a:cxnSpLocks/>
            </p:cNvCxnSpPr>
            <p:nvPr/>
          </p:nvCxnSpPr>
          <p:spPr>
            <a:xfrm rot="-2280000">
              <a:off x="9690280"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9F0EC60F-7A8D-FEF6-D2B6-C3544CE0F436}"/>
                </a:ext>
              </a:extLst>
            </p:cNvPr>
            <p:cNvCxnSpPr>
              <a:cxnSpLocks/>
            </p:cNvCxnSpPr>
            <p:nvPr/>
          </p:nvCxnSpPr>
          <p:spPr>
            <a:xfrm rot="-2280000">
              <a:off x="9182106"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5DB21647-9B4C-EF5D-4F10-AB72CAC5E254}"/>
                </a:ext>
              </a:extLst>
            </p:cNvPr>
            <p:cNvCxnSpPr>
              <a:cxnSpLocks/>
            </p:cNvCxnSpPr>
            <p:nvPr/>
          </p:nvCxnSpPr>
          <p:spPr>
            <a:xfrm rot="-2280000">
              <a:off x="6133062"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64732D1E-4FE1-F0FC-5801-0F25815F7762}"/>
                </a:ext>
              </a:extLst>
            </p:cNvPr>
            <p:cNvCxnSpPr>
              <a:cxnSpLocks/>
            </p:cNvCxnSpPr>
            <p:nvPr/>
          </p:nvCxnSpPr>
          <p:spPr>
            <a:xfrm rot="-2280000">
              <a:off x="5624888"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2F6A1E7B-D31C-C809-2BD9-2BE84D8C1509}"/>
                </a:ext>
              </a:extLst>
            </p:cNvPr>
            <p:cNvCxnSpPr>
              <a:cxnSpLocks/>
            </p:cNvCxnSpPr>
            <p:nvPr/>
          </p:nvCxnSpPr>
          <p:spPr>
            <a:xfrm rot="-2280000">
              <a:off x="4608540"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B8D06E59-A37D-2A85-5148-953310718507}"/>
                </a:ext>
              </a:extLst>
            </p:cNvPr>
            <p:cNvCxnSpPr>
              <a:cxnSpLocks/>
            </p:cNvCxnSpPr>
            <p:nvPr/>
          </p:nvCxnSpPr>
          <p:spPr>
            <a:xfrm rot="-2280000">
              <a:off x="5116714" y="3350177"/>
              <a:ext cx="0" cy="71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881241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BF7335DD-0D34-2390-5E49-B60918017F4A}"/>
              </a:ext>
            </a:extLst>
          </p:cNvPr>
          <p:cNvSpPr/>
          <p:nvPr/>
        </p:nvSpPr>
        <p:spPr>
          <a:xfrm>
            <a:off x="6791566" y="2350235"/>
            <a:ext cx="160897" cy="1090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A40E1B0B-3CB6-29F8-29E4-71AF7EF70BB3}"/>
              </a:ext>
            </a:extLst>
          </p:cNvPr>
          <p:cNvSpPr/>
          <p:nvPr/>
        </p:nvSpPr>
        <p:spPr>
          <a:xfrm>
            <a:off x="8230107" y="2836750"/>
            <a:ext cx="159472" cy="96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1C306325-928C-ADD8-D888-E6C0F2FB6DE9}"/>
              </a:ext>
            </a:extLst>
          </p:cNvPr>
          <p:cNvSpPr/>
          <p:nvPr/>
        </p:nvSpPr>
        <p:spPr>
          <a:xfrm>
            <a:off x="7540295" y="3828293"/>
            <a:ext cx="159472" cy="96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5EAF6F86-CB24-A572-4B88-D7164CF3B3DE}"/>
              </a:ext>
            </a:extLst>
          </p:cNvPr>
          <p:cNvGrpSpPr/>
          <p:nvPr/>
        </p:nvGrpSpPr>
        <p:grpSpPr>
          <a:xfrm>
            <a:off x="6546674" y="3774385"/>
            <a:ext cx="1508861" cy="2350579"/>
            <a:chOff x="6520847" y="4291893"/>
            <a:chExt cx="1508861" cy="2350578"/>
          </a:xfrm>
        </p:grpSpPr>
        <p:pic>
          <p:nvPicPr>
            <p:cNvPr id="27" name="Picture 2" descr="74HC245 Octal Bus Transceiver Pinout, Examples, Datasheet, Applications">
              <a:extLst>
                <a:ext uri="{FF2B5EF4-FFF2-40B4-BE49-F238E27FC236}">
                  <a16:creationId xmlns:a16="http://schemas.microsoft.com/office/drawing/2014/main" id="{F1B6EEB3-2365-1C40-A682-D827816A834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14" t="-1060" r="12831" b="11087"/>
            <a:stretch/>
          </p:blipFill>
          <p:spPr bwMode="auto">
            <a:xfrm rot="16200000">
              <a:off x="6099989" y="4712751"/>
              <a:ext cx="2350578" cy="1508861"/>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8DE0D714-BF89-1158-AC30-C76599990A58}"/>
                </a:ext>
              </a:extLst>
            </p:cNvPr>
            <p:cNvSpPr txBox="1"/>
            <p:nvPr/>
          </p:nvSpPr>
          <p:spPr>
            <a:xfrm>
              <a:off x="6583636" y="4956427"/>
              <a:ext cx="849913" cy="307777"/>
            </a:xfrm>
            <a:prstGeom prst="rect">
              <a:avLst/>
            </a:prstGeom>
            <a:noFill/>
          </p:spPr>
          <p:txBody>
            <a:bodyPr wrap="none" rtlCol="0">
              <a:spAutoFit/>
            </a:bodyPr>
            <a:lstStyle/>
            <a:p>
              <a:r>
                <a:rPr lang="en-US" sz="1400">
                  <a:hlinkClick r:id="rId4" action="ppaction://hlinksldjump"/>
                </a:rPr>
                <a:t>74HC245</a:t>
              </a:r>
              <a:endParaRPr lang="en-US" sz="1400"/>
            </a:p>
          </p:txBody>
        </p:sp>
      </p:grpSp>
      <p:sp>
        <p:nvSpPr>
          <p:cNvPr id="49" name="Rectangle 48">
            <a:extLst>
              <a:ext uri="{FF2B5EF4-FFF2-40B4-BE49-F238E27FC236}">
                <a16:creationId xmlns:a16="http://schemas.microsoft.com/office/drawing/2014/main" id="{CE2D8C3E-0C94-C958-BA77-4AB1C4D467D6}"/>
              </a:ext>
            </a:extLst>
          </p:cNvPr>
          <p:cNvSpPr/>
          <p:nvPr/>
        </p:nvSpPr>
        <p:spPr>
          <a:xfrm>
            <a:off x="7550721" y="3026246"/>
            <a:ext cx="159472" cy="96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346AADE6-53CB-4453-3A37-A5306EEFD35E}"/>
              </a:ext>
            </a:extLst>
          </p:cNvPr>
          <p:cNvSpPr/>
          <p:nvPr/>
        </p:nvSpPr>
        <p:spPr>
          <a:xfrm>
            <a:off x="6484588" y="2853815"/>
            <a:ext cx="159472" cy="96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E9B7DEAE-DDB0-321F-8106-CA40B47660B7}"/>
              </a:ext>
            </a:extLst>
          </p:cNvPr>
          <p:cNvSpPr/>
          <p:nvPr/>
        </p:nvSpPr>
        <p:spPr>
          <a:xfrm>
            <a:off x="8405523" y="2876546"/>
            <a:ext cx="159472" cy="96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D6D1A523-1FE6-E194-D08C-D44E8333E6F8}"/>
              </a:ext>
            </a:extLst>
          </p:cNvPr>
          <p:cNvSpPr/>
          <p:nvPr/>
        </p:nvSpPr>
        <p:spPr>
          <a:xfrm>
            <a:off x="9270416" y="2920577"/>
            <a:ext cx="212437" cy="2210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E5D09178-72F6-56C7-5582-627AA23BBE47}"/>
              </a:ext>
            </a:extLst>
          </p:cNvPr>
          <p:cNvSpPr/>
          <p:nvPr/>
        </p:nvSpPr>
        <p:spPr>
          <a:xfrm>
            <a:off x="6624471" y="2929271"/>
            <a:ext cx="212437" cy="2210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92FEEDC0-B82D-1797-053C-7FC3E7144346}"/>
              </a:ext>
            </a:extLst>
          </p:cNvPr>
          <p:cNvSpPr/>
          <p:nvPr/>
        </p:nvSpPr>
        <p:spPr>
          <a:xfrm>
            <a:off x="3561283" y="3026246"/>
            <a:ext cx="159472" cy="96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8968B8BA-0E0A-C3BD-0633-CB0D1BA736A5}"/>
              </a:ext>
            </a:extLst>
          </p:cNvPr>
          <p:cNvSpPr/>
          <p:nvPr/>
        </p:nvSpPr>
        <p:spPr>
          <a:xfrm>
            <a:off x="1638483" y="2853815"/>
            <a:ext cx="159472" cy="96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150FB2B4-212D-96AD-F380-A7353CFF3400}"/>
              </a:ext>
            </a:extLst>
          </p:cNvPr>
          <p:cNvSpPr/>
          <p:nvPr/>
        </p:nvSpPr>
        <p:spPr>
          <a:xfrm>
            <a:off x="3387568" y="2853815"/>
            <a:ext cx="159472" cy="96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FCCC70E6-7C94-828C-C788-C107CBE53303}"/>
              </a:ext>
            </a:extLst>
          </p:cNvPr>
          <p:cNvGrpSpPr/>
          <p:nvPr/>
        </p:nvGrpSpPr>
        <p:grpSpPr>
          <a:xfrm>
            <a:off x="1604717" y="2110061"/>
            <a:ext cx="3222366" cy="1143913"/>
            <a:chOff x="6159098" y="1379058"/>
            <a:chExt cx="4902278" cy="2049942"/>
          </a:xfrm>
        </p:grpSpPr>
        <p:pic>
          <p:nvPicPr>
            <p:cNvPr id="19" name="Picture 18">
              <a:extLst>
                <a:ext uri="{FF2B5EF4-FFF2-40B4-BE49-F238E27FC236}">
                  <a16:creationId xmlns:a16="http://schemas.microsoft.com/office/drawing/2014/main" id="{2EFD09FA-01E8-5AD6-2BFA-1CA751DF75C7}"/>
                </a:ext>
              </a:extLst>
            </p:cNvPr>
            <p:cNvPicPr>
              <a:picLocks noChangeAspect="1"/>
            </p:cNvPicPr>
            <p:nvPr/>
          </p:nvPicPr>
          <p:blipFill>
            <a:blip r:embed="rId5"/>
            <a:stretch>
              <a:fillRect/>
            </a:stretch>
          </p:blipFill>
          <p:spPr>
            <a:xfrm rot="5400000">
              <a:off x="6260672" y="1277485"/>
              <a:ext cx="2049941" cy="2253089"/>
            </a:xfrm>
            <a:prstGeom prst="rect">
              <a:avLst/>
            </a:prstGeom>
          </p:spPr>
        </p:pic>
        <p:pic>
          <p:nvPicPr>
            <p:cNvPr id="20" name="Picture 19">
              <a:extLst>
                <a:ext uri="{FF2B5EF4-FFF2-40B4-BE49-F238E27FC236}">
                  <a16:creationId xmlns:a16="http://schemas.microsoft.com/office/drawing/2014/main" id="{2D8ECCCB-1F40-571E-100E-1EFA11A81032}"/>
                </a:ext>
              </a:extLst>
            </p:cNvPr>
            <p:cNvPicPr>
              <a:picLocks noChangeAspect="1"/>
            </p:cNvPicPr>
            <p:nvPr/>
          </p:nvPicPr>
          <p:blipFill>
            <a:blip r:embed="rId5"/>
            <a:stretch>
              <a:fillRect/>
            </a:stretch>
          </p:blipFill>
          <p:spPr>
            <a:xfrm rot="5400000">
              <a:off x="8909861" y="1277484"/>
              <a:ext cx="2049941" cy="2253089"/>
            </a:xfrm>
            <a:prstGeom prst="rect">
              <a:avLst/>
            </a:prstGeom>
          </p:spPr>
        </p:pic>
        <p:sp>
          <p:nvSpPr>
            <p:cNvPr id="21" name="TextBox 20">
              <a:extLst>
                <a:ext uri="{FF2B5EF4-FFF2-40B4-BE49-F238E27FC236}">
                  <a16:creationId xmlns:a16="http://schemas.microsoft.com/office/drawing/2014/main" id="{AA85EEBD-E871-3271-3864-FA94C7E67FB0}"/>
                </a:ext>
              </a:extLst>
            </p:cNvPr>
            <p:cNvSpPr txBox="1"/>
            <p:nvPr/>
          </p:nvSpPr>
          <p:spPr>
            <a:xfrm>
              <a:off x="6484311" y="2167011"/>
              <a:ext cx="1980708" cy="468817"/>
            </a:xfrm>
            <a:prstGeom prst="rect">
              <a:avLst/>
            </a:prstGeom>
            <a:noFill/>
          </p:spPr>
          <p:txBody>
            <a:bodyPr wrap="none" rtlCol="0">
              <a:spAutoFit/>
            </a:bodyPr>
            <a:lstStyle/>
            <a:p>
              <a:r>
                <a:rPr lang="en-US" sz="1100" dirty="0">
                  <a:hlinkClick r:id="rId6" action="ppaction://hlinksldjump"/>
                </a:rPr>
                <a:t>74HC161</a:t>
              </a:r>
              <a:r>
                <a:rPr lang="en-US" sz="1100" dirty="0"/>
                <a:t> PC[15:13]</a:t>
              </a:r>
            </a:p>
          </p:txBody>
        </p:sp>
        <p:sp>
          <p:nvSpPr>
            <p:cNvPr id="22" name="TextBox 21">
              <a:extLst>
                <a:ext uri="{FF2B5EF4-FFF2-40B4-BE49-F238E27FC236}">
                  <a16:creationId xmlns:a16="http://schemas.microsoft.com/office/drawing/2014/main" id="{26C6D4A5-A7E8-B32A-51D7-0CB1A167A5DC}"/>
                </a:ext>
              </a:extLst>
            </p:cNvPr>
            <p:cNvSpPr txBox="1"/>
            <p:nvPr/>
          </p:nvSpPr>
          <p:spPr>
            <a:xfrm>
              <a:off x="8923346" y="2200970"/>
              <a:ext cx="1870967" cy="468817"/>
            </a:xfrm>
            <a:prstGeom prst="rect">
              <a:avLst/>
            </a:prstGeom>
            <a:noFill/>
          </p:spPr>
          <p:txBody>
            <a:bodyPr wrap="none" rtlCol="0">
              <a:spAutoFit/>
            </a:bodyPr>
            <a:lstStyle/>
            <a:p>
              <a:r>
                <a:rPr lang="en-US" sz="1100" dirty="0">
                  <a:hlinkClick r:id="rId6" action="ppaction://hlinksldjump"/>
                </a:rPr>
                <a:t>74HC161</a:t>
              </a:r>
              <a:r>
                <a:rPr lang="en-US" sz="1100" dirty="0"/>
                <a:t> PC[12:9]</a:t>
              </a:r>
            </a:p>
          </p:txBody>
        </p:sp>
      </p:grpSp>
      <p:grpSp>
        <p:nvGrpSpPr>
          <p:cNvPr id="24" name="Group 23">
            <a:extLst>
              <a:ext uri="{FF2B5EF4-FFF2-40B4-BE49-F238E27FC236}">
                <a16:creationId xmlns:a16="http://schemas.microsoft.com/office/drawing/2014/main" id="{FE7A7B17-26A4-531C-5250-8AB35C0CD5DF}"/>
              </a:ext>
            </a:extLst>
          </p:cNvPr>
          <p:cNvGrpSpPr/>
          <p:nvPr/>
        </p:nvGrpSpPr>
        <p:grpSpPr>
          <a:xfrm>
            <a:off x="6446734" y="2116157"/>
            <a:ext cx="3222366" cy="1143913"/>
            <a:chOff x="6159098" y="1379058"/>
            <a:chExt cx="4902278" cy="2049942"/>
          </a:xfrm>
        </p:grpSpPr>
        <p:pic>
          <p:nvPicPr>
            <p:cNvPr id="5" name="Picture 4">
              <a:extLst>
                <a:ext uri="{FF2B5EF4-FFF2-40B4-BE49-F238E27FC236}">
                  <a16:creationId xmlns:a16="http://schemas.microsoft.com/office/drawing/2014/main" id="{E7D4843D-8190-FA59-761B-59515A42A2D7}"/>
                </a:ext>
              </a:extLst>
            </p:cNvPr>
            <p:cNvPicPr>
              <a:picLocks noChangeAspect="1"/>
            </p:cNvPicPr>
            <p:nvPr/>
          </p:nvPicPr>
          <p:blipFill>
            <a:blip r:embed="rId5"/>
            <a:stretch>
              <a:fillRect/>
            </a:stretch>
          </p:blipFill>
          <p:spPr>
            <a:xfrm rot="5400000">
              <a:off x="6260672" y="1277485"/>
              <a:ext cx="2049941" cy="2253089"/>
            </a:xfrm>
            <a:prstGeom prst="rect">
              <a:avLst/>
            </a:prstGeom>
          </p:spPr>
        </p:pic>
        <p:pic>
          <p:nvPicPr>
            <p:cNvPr id="6" name="Picture 5">
              <a:extLst>
                <a:ext uri="{FF2B5EF4-FFF2-40B4-BE49-F238E27FC236}">
                  <a16:creationId xmlns:a16="http://schemas.microsoft.com/office/drawing/2014/main" id="{BE480FFD-009B-2FFE-6C3E-5D1A16CD22F3}"/>
                </a:ext>
              </a:extLst>
            </p:cNvPr>
            <p:cNvPicPr>
              <a:picLocks noChangeAspect="1"/>
            </p:cNvPicPr>
            <p:nvPr/>
          </p:nvPicPr>
          <p:blipFill>
            <a:blip r:embed="rId5"/>
            <a:stretch>
              <a:fillRect/>
            </a:stretch>
          </p:blipFill>
          <p:spPr>
            <a:xfrm rot="5400000">
              <a:off x="8909861" y="1277484"/>
              <a:ext cx="2049941" cy="2253089"/>
            </a:xfrm>
            <a:prstGeom prst="rect">
              <a:avLst/>
            </a:prstGeom>
          </p:spPr>
        </p:pic>
        <p:sp>
          <p:nvSpPr>
            <p:cNvPr id="7" name="TextBox 6">
              <a:extLst>
                <a:ext uri="{FF2B5EF4-FFF2-40B4-BE49-F238E27FC236}">
                  <a16:creationId xmlns:a16="http://schemas.microsoft.com/office/drawing/2014/main" id="{D09BB234-656E-FF4A-41F8-702396809F05}"/>
                </a:ext>
              </a:extLst>
            </p:cNvPr>
            <p:cNvSpPr txBox="1"/>
            <p:nvPr/>
          </p:nvSpPr>
          <p:spPr>
            <a:xfrm>
              <a:off x="6484311" y="2167011"/>
              <a:ext cx="1761226" cy="468817"/>
            </a:xfrm>
            <a:prstGeom prst="rect">
              <a:avLst/>
            </a:prstGeom>
            <a:noFill/>
          </p:spPr>
          <p:txBody>
            <a:bodyPr wrap="none" rtlCol="0">
              <a:spAutoFit/>
            </a:bodyPr>
            <a:lstStyle/>
            <a:p>
              <a:r>
                <a:rPr lang="en-US" sz="1100" dirty="0">
                  <a:hlinkClick r:id="rId6" action="ppaction://hlinksldjump"/>
                </a:rPr>
                <a:t>74HC161</a:t>
              </a:r>
              <a:r>
                <a:rPr lang="en-US" sz="1100" dirty="0"/>
                <a:t> PC[8:5]</a:t>
              </a:r>
            </a:p>
          </p:txBody>
        </p:sp>
        <p:sp>
          <p:nvSpPr>
            <p:cNvPr id="8" name="TextBox 7">
              <a:extLst>
                <a:ext uri="{FF2B5EF4-FFF2-40B4-BE49-F238E27FC236}">
                  <a16:creationId xmlns:a16="http://schemas.microsoft.com/office/drawing/2014/main" id="{1D2EE4F3-D9AF-1621-8F6C-F66CADB8B5D2}"/>
                </a:ext>
              </a:extLst>
            </p:cNvPr>
            <p:cNvSpPr txBox="1"/>
            <p:nvPr/>
          </p:nvSpPr>
          <p:spPr>
            <a:xfrm>
              <a:off x="8923346" y="2200970"/>
              <a:ext cx="1761226" cy="468817"/>
            </a:xfrm>
            <a:prstGeom prst="rect">
              <a:avLst/>
            </a:prstGeom>
            <a:noFill/>
          </p:spPr>
          <p:txBody>
            <a:bodyPr wrap="none" rtlCol="0">
              <a:spAutoFit/>
            </a:bodyPr>
            <a:lstStyle/>
            <a:p>
              <a:r>
                <a:rPr lang="en-US" sz="1100" dirty="0">
                  <a:hlinkClick r:id="rId6" action="ppaction://hlinksldjump"/>
                </a:rPr>
                <a:t>74HC161</a:t>
              </a:r>
              <a:r>
                <a:rPr lang="en-US" sz="1100" dirty="0"/>
                <a:t> PC[4:1]</a:t>
              </a:r>
            </a:p>
          </p:txBody>
        </p:sp>
      </p:grpSp>
      <p:sp>
        <p:nvSpPr>
          <p:cNvPr id="25" name="Callout: Down Arrow 24">
            <a:extLst>
              <a:ext uri="{FF2B5EF4-FFF2-40B4-BE49-F238E27FC236}">
                <a16:creationId xmlns:a16="http://schemas.microsoft.com/office/drawing/2014/main" id="{BB50E15C-1CBC-3DD2-E502-32E1E332EE1C}"/>
              </a:ext>
            </a:extLst>
          </p:cNvPr>
          <p:cNvSpPr/>
          <p:nvPr/>
        </p:nvSpPr>
        <p:spPr>
          <a:xfrm>
            <a:off x="4958160" y="3431273"/>
            <a:ext cx="4324653" cy="474713"/>
          </a:xfrm>
          <a:prstGeom prst="downArrowCallout">
            <a:avLst>
              <a:gd name="adj1" fmla="val 27752"/>
              <a:gd name="adj2" fmla="val 23624"/>
              <a:gd name="adj3" fmla="val 30503"/>
              <a:gd name="adj4" fmla="val 34708"/>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900" dirty="0"/>
              <a:t>                                               PC Low[8:1]</a:t>
            </a:r>
          </a:p>
        </p:txBody>
      </p:sp>
      <p:sp>
        <p:nvSpPr>
          <p:cNvPr id="2" name="Title 1">
            <a:extLst>
              <a:ext uri="{FF2B5EF4-FFF2-40B4-BE49-F238E27FC236}">
                <a16:creationId xmlns:a16="http://schemas.microsoft.com/office/drawing/2014/main" id="{15FFFF2E-7605-4905-B239-2F1537E1D807}"/>
              </a:ext>
            </a:extLst>
          </p:cNvPr>
          <p:cNvSpPr>
            <a:spLocks noGrp="1"/>
          </p:cNvSpPr>
          <p:nvPr>
            <p:ph type="ctrTitle"/>
          </p:nvPr>
        </p:nvSpPr>
        <p:spPr>
          <a:xfrm>
            <a:off x="914400" y="124693"/>
            <a:ext cx="3840480" cy="457200"/>
          </a:xfrm>
          <a:prstGeom prst="rect">
            <a:avLst/>
          </a:prstGeom>
        </p:spPr>
        <p:txBody>
          <a:bodyPr/>
          <a:lstStyle/>
          <a:p>
            <a:r>
              <a:rPr lang="en-US"/>
              <a:t>Program Counter (v2.0)</a:t>
            </a:r>
          </a:p>
        </p:txBody>
      </p:sp>
      <p:sp>
        <p:nvSpPr>
          <p:cNvPr id="52" name="TextBox 51">
            <a:hlinkClick r:id="rId7" action="ppaction://hlinksldjump"/>
            <a:extLst>
              <a:ext uri="{FF2B5EF4-FFF2-40B4-BE49-F238E27FC236}">
                <a16:creationId xmlns:a16="http://schemas.microsoft.com/office/drawing/2014/main" id="{84D4E892-BC18-14C3-F5BB-E9B7EC20FB94}"/>
              </a:ext>
            </a:extLst>
          </p:cNvPr>
          <p:cNvSpPr txBox="1"/>
          <p:nvPr/>
        </p:nvSpPr>
        <p:spPr>
          <a:xfrm>
            <a:off x="10147005" y="1959452"/>
            <a:ext cx="963405" cy="184666"/>
          </a:xfrm>
          <a:prstGeom prst="rect">
            <a:avLst/>
          </a:prstGeom>
          <a:solidFill>
            <a:schemeClr val="bg1"/>
          </a:solidFill>
          <a:ln>
            <a:solidFill>
              <a:schemeClr val="accent1"/>
            </a:solidFill>
          </a:ln>
        </p:spPr>
        <p:txBody>
          <a:bodyPr wrap="none" tIns="0" bIns="0" rtlCol="0">
            <a:spAutoFit/>
          </a:bodyPr>
          <a:lstStyle/>
          <a:p>
            <a:r>
              <a:rPr lang="en-US" sz="1200"/>
              <a:t>~Main Reset</a:t>
            </a:r>
          </a:p>
        </p:txBody>
      </p:sp>
      <p:sp>
        <p:nvSpPr>
          <p:cNvPr id="54" name="TextBox 53">
            <a:hlinkClick r:id="rId7" action="ppaction://hlinksldjump"/>
            <a:extLst>
              <a:ext uri="{FF2B5EF4-FFF2-40B4-BE49-F238E27FC236}">
                <a16:creationId xmlns:a16="http://schemas.microsoft.com/office/drawing/2014/main" id="{A503E156-98C3-E670-3BCE-8B758F75C67C}"/>
              </a:ext>
            </a:extLst>
          </p:cNvPr>
          <p:cNvSpPr txBox="1"/>
          <p:nvPr/>
        </p:nvSpPr>
        <p:spPr>
          <a:xfrm>
            <a:off x="10147005" y="1634738"/>
            <a:ext cx="766557" cy="184666"/>
          </a:xfrm>
          <a:prstGeom prst="rect">
            <a:avLst/>
          </a:prstGeom>
          <a:solidFill>
            <a:schemeClr val="bg1"/>
          </a:solidFill>
          <a:ln>
            <a:solidFill>
              <a:schemeClr val="accent1"/>
            </a:solidFill>
          </a:ln>
        </p:spPr>
        <p:txBody>
          <a:bodyPr wrap="none" tIns="0" bIns="0" rtlCol="0">
            <a:spAutoFit/>
          </a:bodyPr>
          <a:lstStyle/>
          <a:p>
            <a:r>
              <a:rPr lang="en-US" sz="1200"/>
              <a:t>Main CLK</a:t>
            </a:r>
          </a:p>
        </p:txBody>
      </p:sp>
      <p:cxnSp>
        <p:nvCxnSpPr>
          <p:cNvPr id="56" name="Connector: Elbow 55">
            <a:extLst>
              <a:ext uri="{FF2B5EF4-FFF2-40B4-BE49-F238E27FC236}">
                <a16:creationId xmlns:a16="http://schemas.microsoft.com/office/drawing/2014/main" id="{6A36E147-1150-8E64-D517-D0F0FB653E8A}"/>
              </a:ext>
            </a:extLst>
          </p:cNvPr>
          <p:cNvCxnSpPr>
            <a:cxnSpLocks/>
            <a:stCxn id="52" idx="1"/>
          </p:cNvCxnSpPr>
          <p:nvPr/>
        </p:nvCxnSpPr>
        <p:spPr>
          <a:xfrm rot="10800000" flipV="1">
            <a:off x="9579603" y="2051785"/>
            <a:ext cx="567403" cy="117782"/>
          </a:xfrm>
          <a:prstGeom prst="bentConnector3">
            <a:avLst>
              <a:gd name="adj1" fmla="val 100269"/>
            </a:avLst>
          </a:prstGeom>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498C85E5-8571-2544-E491-28C361A7C184}"/>
              </a:ext>
            </a:extLst>
          </p:cNvPr>
          <p:cNvCxnSpPr>
            <a:cxnSpLocks/>
            <a:stCxn id="54" idx="1"/>
          </p:cNvCxnSpPr>
          <p:nvPr/>
        </p:nvCxnSpPr>
        <p:spPr>
          <a:xfrm rot="10800000" flipV="1">
            <a:off x="9370625" y="1727071"/>
            <a:ext cx="776381" cy="442500"/>
          </a:xfrm>
          <a:prstGeom prst="bentConnector3">
            <a:avLst>
              <a:gd name="adj1" fmla="val 98624"/>
            </a:avLst>
          </a:prstGeom>
        </p:spPr>
        <p:style>
          <a:lnRef idx="1">
            <a:schemeClr val="accent1"/>
          </a:lnRef>
          <a:fillRef idx="0">
            <a:schemeClr val="accent1"/>
          </a:fillRef>
          <a:effectRef idx="0">
            <a:schemeClr val="accent1"/>
          </a:effectRef>
          <a:fontRef idx="minor">
            <a:schemeClr val="tx1"/>
          </a:fontRef>
        </p:style>
      </p:cxnSp>
      <p:cxnSp>
        <p:nvCxnSpPr>
          <p:cNvPr id="61" name="Connector: Elbow 60">
            <a:extLst>
              <a:ext uri="{FF2B5EF4-FFF2-40B4-BE49-F238E27FC236}">
                <a16:creationId xmlns:a16="http://schemas.microsoft.com/office/drawing/2014/main" id="{FB142A9D-BFE9-592C-C879-A7EB70E628C6}"/>
              </a:ext>
            </a:extLst>
          </p:cNvPr>
          <p:cNvCxnSpPr>
            <a:cxnSpLocks/>
            <a:stCxn id="59" idx="1"/>
            <a:endCxn id="62" idx="2"/>
          </p:cNvCxnSpPr>
          <p:nvPr/>
        </p:nvCxnSpPr>
        <p:spPr>
          <a:xfrm rot="10800000">
            <a:off x="8309844" y="2933469"/>
            <a:ext cx="1804503" cy="412058"/>
          </a:xfrm>
          <a:prstGeom prst="bentConnector2">
            <a:avLst/>
          </a:prstGeom>
          <a:ln>
            <a:solidFill>
              <a:srgbClr val="00B050"/>
            </a:solidFill>
          </a:ln>
        </p:spPr>
        <p:style>
          <a:lnRef idx="1">
            <a:schemeClr val="accent1"/>
          </a:lnRef>
          <a:fillRef idx="0">
            <a:schemeClr val="accent1"/>
          </a:fillRef>
          <a:effectRef idx="0">
            <a:schemeClr val="accent1"/>
          </a:effectRef>
          <a:fontRef idx="minor">
            <a:schemeClr val="tx1"/>
          </a:fontRef>
        </p:style>
      </p:cxnSp>
      <p:sp>
        <p:nvSpPr>
          <p:cNvPr id="73" name="TextBox 72">
            <a:hlinkClick r:id="rId8" action="ppaction://hlinksldjump"/>
            <a:extLst>
              <a:ext uri="{FF2B5EF4-FFF2-40B4-BE49-F238E27FC236}">
                <a16:creationId xmlns:a16="http://schemas.microsoft.com/office/drawing/2014/main" id="{AA871DC1-A528-0C23-34F0-61B8E9E03A7D}"/>
              </a:ext>
            </a:extLst>
          </p:cNvPr>
          <p:cNvSpPr txBox="1"/>
          <p:nvPr/>
        </p:nvSpPr>
        <p:spPr>
          <a:xfrm>
            <a:off x="10114136" y="3550001"/>
            <a:ext cx="1302443" cy="184666"/>
          </a:xfrm>
          <a:prstGeom prst="rect">
            <a:avLst/>
          </a:prstGeom>
          <a:noFill/>
          <a:ln w="12700">
            <a:solidFill>
              <a:schemeClr val="accent6">
                <a:lumMod val="75000"/>
              </a:schemeClr>
            </a:solidFill>
          </a:ln>
        </p:spPr>
        <p:txBody>
          <a:bodyPr wrap="square" tIns="0" bIns="0" rtlCol="0">
            <a:spAutoFit/>
          </a:bodyPr>
          <a:lstStyle/>
          <a:p>
            <a:r>
              <a:rPr lang="en-US" sz="1200"/>
              <a:t>INC Prog Counter</a:t>
            </a:r>
          </a:p>
        </p:txBody>
      </p:sp>
      <p:cxnSp>
        <p:nvCxnSpPr>
          <p:cNvPr id="75" name="Connector: Elbow 74">
            <a:extLst>
              <a:ext uri="{FF2B5EF4-FFF2-40B4-BE49-F238E27FC236}">
                <a16:creationId xmlns:a16="http://schemas.microsoft.com/office/drawing/2014/main" id="{70369A5F-C67E-DE83-5CA2-7079C2354743}"/>
              </a:ext>
            </a:extLst>
          </p:cNvPr>
          <p:cNvCxnSpPr>
            <a:cxnSpLocks/>
            <a:stCxn id="73" idx="1"/>
            <a:endCxn id="41" idx="2"/>
          </p:cNvCxnSpPr>
          <p:nvPr/>
        </p:nvCxnSpPr>
        <p:spPr>
          <a:xfrm rot="10800000">
            <a:off x="8485260" y="2973266"/>
            <a:ext cx="1628877" cy="669069"/>
          </a:xfrm>
          <a:prstGeom prst="bentConnector2">
            <a:avLst/>
          </a:prstGeom>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E7A23D3E-A94F-F404-C2F7-15719D5519A4}"/>
              </a:ext>
            </a:extLst>
          </p:cNvPr>
          <p:cNvGrpSpPr/>
          <p:nvPr/>
        </p:nvGrpSpPr>
        <p:grpSpPr>
          <a:xfrm>
            <a:off x="2684764" y="3771297"/>
            <a:ext cx="1456163" cy="2381375"/>
            <a:chOff x="6475597" y="4224916"/>
            <a:chExt cx="1456162" cy="2381375"/>
          </a:xfrm>
        </p:grpSpPr>
        <p:pic>
          <p:nvPicPr>
            <p:cNvPr id="40" name="Picture 2" descr="74HC245 Octal Bus Transceiver Pinout, Examples, Datasheet, Applications">
              <a:extLst>
                <a:ext uri="{FF2B5EF4-FFF2-40B4-BE49-F238E27FC236}">
                  <a16:creationId xmlns:a16="http://schemas.microsoft.com/office/drawing/2014/main" id="{16D98857-910C-171B-DE75-A5A297E1EAF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2714" b="13169"/>
            <a:stretch/>
          </p:blipFill>
          <p:spPr bwMode="auto">
            <a:xfrm rot="16200000">
              <a:off x="6012990" y="4687523"/>
              <a:ext cx="2381375" cy="1456162"/>
            </a:xfrm>
            <a:prstGeom prst="rect">
              <a:avLst/>
            </a:prstGeom>
            <a:noFill/>
            <a:extLst>
              <a:ext uri="{909E8E84-426E-40DD-AFC4-6F175D3DCCD1}">
                <a14:hiddenFill xmlns:a14="http://schemas.microsoft.com/office/drawing/2010/main">
                  <a:solidFill>
                    <a:srgbClr val="FFFFFF"/>
                  </a:solidFill>
                </a14:hiddenFill>
              </a:ext>
            </a:extLst>
          </p:spPr>
        </p:pic>
        <p:sp>
          <p:nvSpPr>
            <p:cNvPr id="110" name="TextBox 109">
              <a:extLst>
                <a:ext uri="{FF2B5EF4-FFF2-40B4-BE49-F238E27FC236}">
                  <a16:creationId xmlns:a16="http://schemas.microsoft.com/office/drawing/2014/main" id="{78EF332B-CEFA-93ED-B25E-15D8C926B6DA}"/>
                </a:ext>
              </a:extLst>
            </p:cNvPr>
            <p:cNvSpPr txBox="1"/>
            <p:nvPr/>
          </p:nvSpPr>
          <p:spPr>
            <a:xfrm>
              <a:off x="6583636" y="4956428"/>
              <a:ext cx="849912" cy="307777"/>
            </a:xfrm>
            <a:prstGeom prst="rect">
              <a:avLst/>
            </a:prstGeom>
            <a:noFill/>
          </p:spPr>
          <p:txBody>
            <a:bodyPr wrap="none" rtlCol="0">
              <a:spAutoFit/>
            </a:bodyPr>
            <a:lstStyle/>
            <a:p>
              <a:r>
                <a:rPr lang="en-US" sz="1400">
                  <a:hlinkClick r:id="rId4" action="ppaction://hlinksldjump"/>
                </a:rPr>
                <a:t>74HC245</a:t>
              </a:r>
              <a:endParaRPr lang="en-US" sz="1400"/>
            </a:p>
          </p:txBody>
        </p:sp>
      </p:grpSp>
      <p:pic>
        <p:nvPicPr>
          <p:cNvPr id="10" name="Picture 9">
            <a:hlinkClick r:id="rId9" action="ppaction://hlinksldjump"/>
            <a:extLst>
              <a:ext uri="{FF2B5EF4-FFF2-40B4-BE49-F238E27FC236}">
                <a16:creationId xmlns:a16="http://schemas.microsoft.com/office/drawing/2014/main" id="{56F6A782-03FE-4D7E-9864-713BE457AEB6}"/>
              </a:ext>
            </a:extLst>
          </p:cNvPr>
          <p:cNvPicPr>
            <a:picLocks noChangeAspect="1"/>
          </p:cNvPicPr>
          <p:nvPr/>
        </p:nvPicPr>
        <p:blipFill>
          <a:blip r:embed="rId10"/>
          <a:stretch>
            <a:fillRect/>
          </a:stretch>
        </p:blipFill>
        <p:spPr>
          <a:xfrm>
            <a:off x="11038384" y="6440603"/>
            <a:ext cx="1076851" cy="222744"/>
          </a:xfrm>
          <a:prstGeom prst="rect">
            <a:avLst/>
          </a:prstGeom>
        </p:spPr>
      </p:pic>
      <p:sp>
        <p:nvSpPr>
          <p:cNvPr id="3" name="Slide Number Placeholder 4">
            <a:extLst>
              <a:ext uri="{FF2B5EF4-FFF2-40B4-BE49-F238E27FC236}">
                <a16:creationId xmlns:a16="http://schemas.microsoft.com/office/drawing/2014/main" id="{D24E716E-EEA0-D2BE-D470-844DBB6812CF}"/>
              </a:ext>
            </a:extLst>
          </p:cNvPr>
          <p:cNvSpPr txBox="1">
            <a:spLocks/>
          </p:cNvSpPr>
          <p:nvPr/>
        </p:nvSpPr>
        <p:spPr>
          <a:xfrm>
            <a:off x="10880905" y="6379072"/>
            <a:ext cx="1223345"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20</a:t>
            </a:fld>
            <a:endParaRPr lang="en-US" b="1">
              <a:solidFill>
                <a:schemeClr val="bg1"/>
              </a:solidFill>
            </a:endParaRPr>
          </a:p>
        </p:txBody>
      </p:sp>
      <p:sp>
        <p:nvSpPr>
          <p:cNvPr id="15" name="Arrow: Right 14">
            <a:extLst>
              <a:ext uri="{FF2B5EF4-FFF2-40B4-BE49-F238E27FC236}">
                <a16:creationId xmlns:a16="http://schemas.microsoft.com/office/drawing/2014/main" id="{A2DC34DC-31F6-AAE8-570F-83F68DC2DE99}"/>
              </a:ext>
            </a:extLst>
          </p:cNvPr>
          <p:cNvSpPr/>
          <p:nvPr/>
        </p:nvSpPr>
        <p:spPr>
          <a:xfrm rot="5400000">
            <a:off x="8314083" y="1349393"/>
            <a:ext cx="914400" cy="731520"/>
          </a:xfrm>
          <a:prstGeom prst="rightArrow">
            <a:avLst/>
          </a:prstGeom>
        </p:spPr>
        <p:style>
          <a:lnRef idx="1">
            <a:schemeClr val="accent6"/>
          </a:lnRef>
          <a:fillRef idx="2">
            <a:schemeClr val="accent6"/>
          </a:fillRef>
          <a:effectRef idx="1">
            <a:schemeClr val="accent6"/>
          </a:effectRef>
          <a:fontRef idx="minor">
            <a:schemeClr val="dk1"/>
          </a:fontRef>
        </p:style>
        <p:txBody>
          <a:bodyPr vert="vert270" wrap="none" rtlCol="0" anchor="ctr"/>
          <a:lstStyle/>
          <a:p>
            <a:pPr algn="ctr"/>
            <a:r>
              <a:rPr lang="en-US" sz="1100" dirty="0"/>
              <a:t>Data</a:t>
            </a:r>
          </a:p>
          <a:p>
            <a:pPr algn="ctr"/>
            <a:r>
              <a:rPr lang="en-US" sz="1100" dirty="0"/>
              <a:t>[4:1]</a:t>
            </a:r>
          </a:p>
        </p:txBody>
      </p:sp>
      <p:sp>
        <p:nvSpPr>
          <p:cNvPr id="16" name="Arrow: Right 15">
            <a:extLst>
              <a:ext uri="{FF2B5EF4-FFF2-40B4-BE49-F238E27FC236}">
                <a16:creationId xmlns:a16="http://schemas.microsoft.com/office/drawing/2014/main" id="{401B2E0A-18DA-4881-6340-9190B5D9FFDD}"/>
              </a:ext>
            </a:extLst>
          </p:cNvPr>
          <p:cNvSpPr/>
          <p:nvPr/>
        </p:nvSpPr>
        <p:spPr>
          <a:xfrm rot="5400000">
            <a:off x="6746628" y="1342628"/>
            <a:ext cx="914400" cy="731520"/>
          </a:xfrm>
          <a:prstGeom prst="rightArrow">
            <a:avLst/>
          </a:prstGeom>
        </p:spPr>
        <p:style>
          <a:lnRef idx="1">
            <a:schemeClr val="accent6"/>
          </a:lnRef>
          <a:fillRef idx="2">
            <a:schemeClr val="accent6"/>
          </a:fillRef>
          <a:effectRef idx="1">
            <a:schemeClr val="accent6"/>
          </a:effectRef>
          <a:fontRef idx="minor">
            <a:schemeClr val="dk1"/>
          </a:fontRef>
        </p:style>
        <p:txBody>
          <a:bodyPr vert="vert270" wrap="none" rtlCol="0" anchor="ctr"/>
          <a:lstStyle/>
          <a:p>
            <a:pPr algn="ctr"/>
            <a:r>
              <a:rPr lang="en-US" sz="1100" dirty="0"/>
              <a:t>Data</a:t>
            </a:r>
          </a:p>
          <a:p>
            <a:pPr algn="ctr"/>
            <a:r>
              <a:rPr lang="en-US" sz="1100" dirty="0"/>
              <a:t>[7:5]</a:t>
            </a:r>
          </a:p>
        </p:txBody>
      </p:sp>
      <p:sp>
        <p:nvSpPr>
          <p:cNvPr id="30" name="Rectangle 29">
            <a:extLst>
              <a:ext uri="{FF2B5EF4-FFF2-40B4-BE49-F238E27FC236}">
                <a16:creationId xmlns:a16="http://schemas.microsoft.com/office/drawing/2014/main" id="{155E19D7-4E85-AB30-83F3-B552F54F56C7}"/>
              </a:ext>
            </a:extLst>
          </p:cNvPr>
          <p:cNvSpPr/>
          <p:nvPr/>
        </p:nvSpPr>
        <p:spPr>
          <a:xfrm rot="16200000">
            <a:off x="5816863" y="2746667"/>
            <a:ext cx="282975" cy="7242496"/>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vert="vert" rtlCol="0" anchor="ctr"/>
          <a:lstStyle/>
          <a:p>
            <a:pPr algn="ctr"/>
            <a:r>
              <a:rPr lang="en-US"/>
              <a:t>Address  Bus   </a:t>
            </a:r>
          </a:p>
        </p:txBody>
      </p:sp>
      <p:sp>
        <p:nvSpPr>
          <p:cNvPr id="70" name="Arrow: Right 69">
            <a:extLst>
              <a:ext uri="{FF2B5EF4-FFF2-40B4-BE49-F238E27FC236}">
                <a16:creationId xmlns:a16="http://schemas.microsoft.com/office/drawing/2014/main" id="{1F3C1477-4F97-3589-E969-8097D89BD3F6}"/>
              </a:ext>
            </a:extLst>
          </p:cNvPr>
          <p:cNvSpPr/>
          <p:nvPr/>
        </p:nvSpPr>
        <p:spPr>
          <a:xfrm rot="5400000">
            <a:off x="6904741" y="5414632"/>
            <a:ext cx="493847" cy="988109"/>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vert="vert270" wrap="none" rtlCol="0" anchor="ctr"/>
          <a:lstStyle/>
          <a:p>
            <a:pPr algn="ctr"/>
            <a:r>
              <a:rPr lang="en-US" sz="1100" err="1"/>
              <a:t>Addr</a:t>
            </a:r>
            <a:r>
              <a:rPr lang="en-US" sz="1100"/>
              <a:t> Low</a:t>
            </a:r>
          </a:p>
          <a:p>
            <a:pPr algn="ctr"/>
            <a:r>
              <a:rPr lang="en-US" sz="1100"/>
              <a:t>[8:1]</a:t>
            </a:r>
          </a:p>
        </p:txBody>
      </p:sp>
      <p:sp>
        <p:nvSpPr>
          <p:cNvPr id="71" name="Arrow: Right 70">
            <a:extLst>
              <a:ext uri="{FF2B5EF4-FFF2-40B4-BE49-F238E27FC236}">
                <a16:creationId xmlns:a16="http://schemas.microsoft.com/office/drawing/2014/main" id="{0CB1A22A-B8FF-0212-B101-5F72A675CD71}"/>
              </a:ext>
            </a:extLst>
          </p:cNvPr>
          <p:cNvSpPr/>
          <p:nvPr/>
        </p:nvSpPr>
        <p:spPr>
          <a:xfrm rot="5400000">
            <a:off x="3026873" y="5414632"/>
            <a:ext cx="493847" cy="988109"/>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vert="vert270" wrap="none" rtlCol="0" anchor="ctr"/>
          <a:lstStyle/>
          <a:p>
            <a:pPr algn="ctr"/>
            <a:r>
              <a:rPr lang="en-US" sz="1100" err="1"/>
              <a:t>Addr</a:t>
            </a:r>
            <a:r>
              <a:rPr lang="en-US" sz="1100"/>
              <a:t> Hi</a:t>
            </a:r>
          </a:p>
          <a:p>
            <a:pPr algn="ctr"/>
            <a:r>
              <a:rPr lang="en-US" sz="1100"/>
              <a:t>[15:9, 0]</a:t>
            </a:r>
          </a:p>
        </p:txBody>
      </p:sp>
      <p:sp>
        <p:nvSpPr>
          <p:cNvPr id="72" name="TextBox 71">
            <a:hlinkClick r:id="rId11" action="ppaction://hlinksldjump"/>
            <a:extLst>
              <a:ext uri="{FF2B5EF4-FFF2-40B4-BE49-F238E27FC236}">
                <a16:creationId xmlns:a16="http://schemas.microsoft.com/office/drawing/2014/main" id="{86D2308A-67BD-A67D-64F3-83D6326E9734}"/>
              </a:ext>
            </a:extLst>
          </p:cNvPr>
          <p:cNvSpPr txBox="1"/>
          <p:nvPr/>
        </p:nvSpPr>
        <p:spPr>
          <a:xfrm>
            <a:off x="10114348" y="5354896"/>
            <a:ext cx="1681358" cy="215444"/>
          </a:xfrm>
          <a:prstGeom prst="rect">
            <a:avLst/>
          </a:prstGeom>
          <a:solidFill>
            <a:schemeClr val="bg1"/>
          </a:solidFill>
          <a:ln>
            <a:solidFill>
              <a:schemeClr val="accent1"/>
            </a:solidFill>
          </a:ln>
        </p:spPr>
        <p:txBody>
          <a:bodyPr wrap="none" tIns="0" bIns="0" rtlCol="0">
            <a:spAutoFit/>
          </a:bodyPr>
          <a:lstStyle/>
          <a:p>
            <a:r>
              <a:rPr lang="en-US" sz="1400" dirty="0"/>
              <a:t>Program Counter OE</a:t>
            </a:r>
          </a:p>
        </p:txBody>
      </p:sp>
      <p:cxnSp>
        <p:nvCxnSpPr>
          <p:cNvPr id="102" name="Connector: Elbow 101">
            <a:extLst>
              <a:ext uri="{FF2B5EF4-FFF2-40B4-BE49-F238E27FC236}">
                <a16:creationId xmlns:a16="http://schemas.microsoft.com/office/drawing/2014/main" id="{AB6C421A-93CE-DA1E-CB34-E13617BC2ABF}"/>
              </a:ext>
            </a:extLst>
          </p:cNvPr>
          <p:cNvCxnSpPr>
            <a:cxnSpLocks/>
            <a:endCxn id="68" idx="2"/>
          </p:cNvCxnSpPr>
          <p:nvPr/>
        </p:nvCxnSpPr>
        <p:spPr>
          <a:xfrm rot="10800000">
            <a:off x="3467305" y="2950533"/>
            <a:ext cx="5669063" cy="398067"/>
          </a:xfrm>
          <a:prstGeom prst="bentConnector2">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4" name="Connector: Elbow 123">
            <a:extLst>
              <a:ext uri="{FF2B5EF4-FFF2-40B4-BE49-F238E27FC236}">
                <a16:creationId xmlns:a16="http://schemas.microsoft.com/office/drawing/2014/main" id="{5265A3C7-6D35-B4B2-0CD3-59DAFF0D589A}"/>
              </a:ext>
            </a:extLst>
          </p:cNvPr>
          <p:cNvCxnSpPr>
            <a:cxnSpLocks/>
            <a:stCxn id="129" idx="0"/>
            <a:endCxn id="128" idx="0"/>
          </p:cNvCxnSpPr>
          <p:nvPr/>
        </p:nvCxnSpPr>
        <p:spPr>
          <a:xfrm rot="16200000" flipH="1" flipV="1">
            <a:off x="8049315" y="1601952"/>
            <a:ext cx="8695" cy="2645945"/>
          </a:xfrm>
          <a:prstGeom prst="bentConnector3">
            <a:avLst>
              <a:gd name="adj1" fmla="val -676133"/>
            </a:avLst>
          </a:prstGeom>
        </p:spPr>
        <p:style>
          <a:lnRef idx="1">
            <a:schemeClr val="accent1"/>
          </a:lnRef>
          <a:fillRef idx="0">
            <a:schemeClr val="accent1"/>
          </a:fillRef>
          <a:effectRef idx="0">
            <a:schemeClr val="accent1"/>
          </a:effectRef>
          <a:fontRef idx="minor">
            <a:schemeClr val="tx1"/>
          </a:fontRef>
        </p:style>
      </p:cxnSp>
      <p:cxnSp>
        <p:nvCxnSpPr>
          <p:cNvPr id="135" name="Connector: Elbow 134">
            <a:extLst>
              <a:ext uri="{FF2B5EF4-FFF2-40B4-BE49-F238E27FC236}">
                <a16:creationId xmlns:a16="http://schemas.microsoft.com/office/drawing/2014/main" id="{17A7ED3B-DCDD-999D-81BC-A4C85E4182D0}"/>
              </a:ext>
            </a:extLst>
          </p:cNvPr>
          <p:cNvCxnSpPr>
            <a:cxnSpLocks/>
            <a:stCxn id="49" idx="2"/>
            <a:endCxn id="47" idx="2"/>
          </p:cNvCxnSpPr>
          <p:nvPr/>
        </p:nvCxnSpPr>
        <p:spPr>
          <a:xfrm rot="5400000">
            <a:off x="5635739" y="1128246"/>
            <a:ext cx="12700" cy="3989439"/>
          </a:xfrm>
          <a:prstGeom prst="bentConnector3">
            <a:avLst>
              <a:gd name="adj1" fmla="val 977142"/>
            </a:avLst>
          </a:prstGeom>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BB1EFF8-C094-4552-F7EE-4CC5B7A8781C}"/>
              </a:ext>
            </a:extLst>
          </p:cNvPr>
          <p:cNvSpPr txBox="1"/>
          <p:nvPr/>
        </p:nvSpPr>
        <p:spPr>
          <a:xfrm>
            <a:off x="6677130" y="4777080"/>
            <a:ext cx="947375" cy="138499"/>
          </a:xfrm>
          <a:prstGeom prst="rect">
            <a:avLst/>
          </a:prstGeom>
          <a:solidFill>
            <a:srgbClr val="92D050"/>
          </a:solidFill>
        </p:spPr>
        <p:txBody>
          <a:bodyPr wrap="none" lIns="0" tIns="0" rIns="0" bIns="0" rtlCol="0" anchor="ctr">
            <a:spAutoFit/>
          </a:bodyPr>
          <a:lstStyle/>
          <a:p>
            <a:r>
              <a:rPr lang="en-US" sz="900"/>
              <a:t>PC[7:0 ]</a:t>
            </a:r>
            <a:r>
              <a:rPr lang="en-US" sz="900">
                <a:sym typeface="Wingdings" panose="05000000000000000000" pitchFamily="2" charset="2"/>
              </a:rPr>
              <a:t> </a:t>
            </a:r>
            <a:r>
              <a:rPr lang="en-US" sz="900" err="1">
                <a:sym typeface="Wingdings" panose="05000000000000000000" pitchFamily="2" charset="2"/>
              </a:rPr>
              <a:t>Addr</a:t>
            </a:r>
            <a:r>
              <a:rPr lang="en-US" sz="900">
                <a:sym typeface="Wingdings" panose="05000000000000000000" pitchFamily="2" charset="2"/>
              </a:rPr>
              <a:t>[8:1]</a:t>
            </a:r>
            <a:endParaRPr lang="en-US" sz="900"/>
          </a:p>
        </p:txBody>
      </p:sp>
      <p:sp>
        <p:nvSpPr>
          <p:cNvPr id="9" name="TextBox 8">
            <a:extLst>
              <a:ext uri="{FF2B5EF4-FFF2-40B4-BE49-F238E27FC236}">
                <a16:creationId xmlns:a16="http://schemas.microsoft.com/office/drawing/2014/main" id="{E4AE628D-1FFC-FDB1-6570-208743574AEF}"/>
              </a:ext>
            </a:extLst>
          </p:cNvPr>
          <p:cNvSpPr txBox="1"/>
          <p:nvPr/>
        </p:nvSpPr>
        <p:spPr>
          <a:xfrm>
            <a:off x="2736928" y="4739914"/>
            <a:ext cx="1062791" cy="276999"/>
          </a:xfrm>
          <a:prstGeom prst="rect">
            <a:avLst/>
          </a:prstGeom>
          <a:solidFill>
            <a:srgbClr val="92D050"/>
          </a:solidFill>
        </p:spPr>
        <p:txBody>
          <a:bodyPr wrap="none" lIns="0" tIns="0" rIns="0" bIns="0" rtlCol="0" anchor="ctr">
            <a:spAutoFit/>
          </a:bodyPr>
          <a:lstStyle/>
          <a:p>
            <a:r>
              <a:rPr lang="en-US" sz="900"/>
              <a:t>PC[14:8] </a:t>
            </a:r>
            <a:r>
              <a:rPr lang="en-US" sz="900">
                <a:sym typeface="Wingdings" panose="05000000000000000000" pitchFamily="2" charset="2"/>
              </a:rPr>
              <a:t> </a:t>
            </a:r>
            <a:r>
              <a:rPr lang="en-US" sz="900" err="1">
                <a:sym typeface="Wingdings" panose="05000000000000000000" pitchFamily="2" charset="2"/>
              </a:rPr>
              <a:t>Addr</a:t>
            </a:r>
            <a:r>
              <a:rPr lang="en-US" sz="900">
                <a:sym typeface="Wingdings" panose="05000000000000000000" pitchFamily="2" charset="2"/>
              </a:rPr>
              <a:t>[15:9]</a:t>
            </a:r>
          </a:p>
          <a:p>
            <a:r>
              <a:rPr lang="en-US" sz="900"/>
              <a:t>INC </a:t>
            </a:r>
            <a:r>
              <a:rPr lang="en-US" sz="900">
                <a:sym typeface="Wingdings" panose="05000000000000000000" pitchFamily="2" charset="2"/>
              </a:rPr>
              <a:t> </a:t>
            </a:r>
            <a:r>
              <a:rPr lang="en-US" sz="900" err="1">
                <a:sym typeface="Wingdings" panose="05000000000000000000" pitchFamily="2" charset="2"/>
              </a:rPr>
              <a:t>Addr</a:t>
            </a:r>
            <a:r>
              <a:rPr lang="en-US" sz="900">
                <a:sym typeface="Wingdings" panose="05000000000000000000" pitchFamily="2" charset="2"/>
              </a:rPr>
              <a:t>[0]</a:t>
            </a:r>
            <a:endParaRPr lang="en-US" sz="900"/>
          </a:p>
        </p:txBody>
      </p:sp>
      <p:cxnSp>
        <p:nvCxnSpPr>
          <p:cNvPr id="11" name="Connector: Elbow 10">
            <a:extLst>
              <a:ext uri="{FF2B5EF4-FFF2-40B4-BE49-F238E27FC236}">
                <a16:creationId xmlns:a16="http://schemas.microsoft.com/office/drawing/2014/main" id="{A24A2167-CE49-E7FF-8A84-14BD74649DDD}"/>
              </a:ext>
            </a:extLst>
          </p:cNvPr>
          <p:cNvCxnSpPr>
            <a:cxnSpLocks/>
            <a:stCxn id="73" idx="1"/>
          </p:cNvCxnSpPr>
          <p:nvPr/>
        </p:nvCxnSpPr>
        <p:spPr>
          <a:xfrm rot="10800000" flipV="1">
            <a:off x="3767854" y="3642334"/>
            <a:ext cx="6346282" cy="328768"/>
          </a:xfrm>
          <a:prstGeom prst="bentConnector3">
            <a:avLst>
              <a:gd name="adj1" fmla="val 81401"/>
            </a:avLst>
          </a:prstGeom>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666C8D65-06AD-A4CF-D817-927C9FCC6EF7}"/>
              </a:ext>
            </a:extLst>
          </p:cNvPr>
          <p:cNvSpPr/>
          <p:nvPr/>
        </p:nvSpPr>
        <p:spPr>
          <a:xfrm>
            <a:off x="8444221" y="3601119"/>
            <a:ext cx="91440" cy="91440"/>
          </a:xfrm>
          <a:prstGeom prst="ellips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BF7852B2-F692-3F3B-DC0A-D4688D97F62A}"/>
              </a:ext>
            </a:extLst>
          </p:cNvPr>
          <p:cNvSpPr/>
          <p:nvPr/>
        </p:nvSpPr>
        <p:spPr>
          <a:xfrm>
            <a:off x="8262743" y="3298962"/>
            <a:ext cx="91440" cy="9144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4A5878AF-1B31-E295-3CC7-0F8833D0705E}"/>
              </a:ext>
            </a:extLst>
          </p:cNvPr>
          <p:cNvSpPr/>
          <p:nvPr/>
        </p:nvSpPr>
        <p:spPr>
          <a:xfrm>
            <a:off x="3429237" y="3302688"/>
            <a:ext cx="91440" cy="9144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B64BC39D-5071-7EF9-E3E0-264CB6F247F5}"/>
              </a:ext>
            </a:extLst>
          </p:cNvPr>
          <p:cNvGrpSpPr/>
          <p:nvPr/>
        </p:nvGrpSpPr>
        <p:grpSpPr>
          <a:xfrm rot="5400000">
            <a:off x="2565860" y="954593"/>
            <a:ext cx="945355" cy="1374439"/>
            <a:chOff x="6864202" y="1033443"/>
            <a:chExt cx="1143490" cy="1604540"/>
          </a:xfrm>
        </p:grpSpPr>
        <p:pic>
          <p:nvPicPr>
            <p:cNvPr id="14" name="Picture 13">
              <a:extLst>
                <a:ext uri="{FF2B5EF4-FFF2-40B4-BE49-F238E27FC236}">
                  <a16:creationId xmlns:a16="http://schemas.microsoft.com/office/drawing/2014/main" id="{5193F188-8CBD-CD28-6FD9-D3D124468565}"/>
                </a:ext>
              </a:extLst>
            </p:cNvPr>
            <p:cNvPicPr>
              <a:picLocks noChangeAspect="1"/>
            </p:cNvPicPr>
            <p:nvPr/>
          </p:nvPicPr>
          <p:blipFill rotWithShape="1">
            <a:blip r:embed="rId12"/>
            <a:srcRect l="35121" t="8997" r="30643" b="9104"/>
            <a:stretch/>
          </p:blipFill>
          <p:spPr>
            <a:xfrm>
              <a:off x="6864202" y="1033443"/>
              <a:ext cx="1143490" cy="1604540"/>
            </a:xfrm>
            <a:prstGeom prst="rect">
              <a:avLst/>
            </a:prstGeom>
          </p:spPr>
        </p:pic>
        <p:sp>
          <p:nvSpPr>
            <p:cNvPr id="29" name="TextBox 28">
              <a:extLst>
                <a:ext uri="{FF2B5EF4-FFF2-40B4-BE49-F238E27FC236}">
                  <a16:creationId xmlns:a16="http://schemas.microsoft.com/office/drawing/2014/main" id="{1F74F0B6-7771-FB5F-8B6D-796E3A94033F}"/>
                </a:ext>
              </a:extLst>
            </p:cNvPr>
            <p:cNvSpPr txBox="1"/>
            <p:nvPr/>
          </p:nvSpPr>
          <p:spPr>
            <a:xfrm rot="16200000">
              <a:off x="6922943" y="1551782"/>
              <a:ext cx="1093254" cy="521196"/>
            </a:xfrm>
            <a:prstGeom prst="rect">
              <a:avLst/>
            </a:prstGeom>
            <a:noFill/>
          </p:spPr>
          <p:txBody>
            <a:bodyPr wrap="none" rtlCol="0">
              <a:spAutoFit/>
            </a:bodyPr>
            <a:lstStyle/>
            <a:p>
              <a:pPr algn="ctr"/>
              <a:r>
                <a:rPr lang="en-US" sz="1100" dirty="0">
                  <a:hlinkClick r:id="rId13" action="ppaction://hlinksldjump"/>
                </a:rPr>
                <a:t>574</a:t>
              </a:r>
              <a:r>
                <a:rPr lang="en-US" sz="1100" dirty="0"/>
                <a:t>: Prog Ctr</a:t>
              </a:r>
            </a:p>
            <a:p>
              <a:pPr algn="ctr"/>
              <a:r>
                <a:rPr lang="en-US" sz="1100" dirty="0"/>
                <a:t>Dummy</a:t>
              </a:r>
            </a:p>
          </p:txBody>
        </p:sp>
      </p:grpSp>
      <p:sp>
        <p:nvSpPr>
          <p:cNvPr id="39" name="Rectangle 38">
            <a:extLst>
              <a:ext uri="{FF2B5EF4-FFF2-40B4-BE49-F238E27FC236}">
                <a16:creationId xmlns:a16="http://schemas.microsoft.com/office/drawing/2014/main" id="{21BFEEB5-A39E-B284-4B24-202C8C74E161}"/>
              </a:ext>
            </a:extLst>
          </p:cNvPr>
          <p:cNvSpPr/>
          <p:nvPr/>
        </p:nvSpPr>
        <p:spPr>
          <a:xfrm>
            <a:off x="2639387" y="983888"/>
            <a:ext cx="6631029" cy="235389"/>
          </a:xfrm>
          <a:prstGeom prst="rect">
            <a:avLst/>
          </a:prstGeom>
        </p:spPr>
        <p:style>
          <a:lnRef idx="1">
            <a:schemeClr val="accent6"/>
          </a:lnRef>
          <a:fillRef idx="2">
            <a:schemeClr val="accent6"/>
          </a:fillRef>
          <a:effectRef idx="1">
            <a:schemeClr val="accent6"/>
          </a:effectRef>
          <a:fontRef idx="minor">
            <a:schemeClr val="dk1"/>
          </a:fontRef>
        </p:style>
        <p:txBody>
          <a:bodyPr vert="horz" rtlCol="0" anchor="ctr"/>
          <a:lstStyle/>
          <a:p>
            <a:pPr algn="ctr"/>
            <a:r>
              <a:rPr lang="en-US" sz="1600"/>
              <a:t>Data  Bus </a:t>
            </a:r>
          </a:p>
        </p:txBody>
      </p:sp>
      <p:cxnSp>
        <p:nvCxnSpPr>
          <p:cNvPr id="55" name="Connector: Elbow 54">
            <a:extLst>
              <a:ext uri="{FF2B5EF4-FFF2-40B4-BE49-F238E27FC236}">
                <a16:creationId xmlns:a16="http://schemas.microsoft.com/office/drawing/2014/main" id="{2B64C728-40AF-C834-04D2-589B286A6481}"/>
              </a:ext>
            </a:extLst>
          </p:cNvPr>
          <p:cNvCxnSpPr>
            <a:cxnSpLocks/>
          </p:cNvCxnSpPr>
          <p:nvPr/>
        </p:nvCxnSpPr>
        <p:spPr>
          <a:xfrm rot="16200000" flipH="1" flipV="1">
            <a:off x="3218258" y="1584537"/>
            <a:ext cx="8695" cy="2645945"/>
          </a:xfrm>
          <a:prstGeom prst="bentConnector3">
            <a:avLst>
              <a:gd name="adj1" fmla="val -676133"/>
            </a:avLst>
          </a:prstGeom>
        </p:spPr>
        <p:style>
          <a:lnRef idx="1">
            <a:schemeClr val="accent1"/>
          </a:lnRef>
          <a:fillRef idx="0">
            <a:schemeClr val="accent1"/>
          </a:fillRef>
          <a:effectRef idx="0">
            <a:schemeClr val="accent1"/>
          </a:effectRef>
          <a:fontRef idx="minor">
            <a:schemeClr val="tx1"/>
          </a:fontRef>
        </p:style>
      </p:cxnSp>
      <p:sp>
        <p:nvSpPr>
          <p:cNvPr id="65" name="Rectangle 64">
            <a:hlinkClick r:id="rId14" action="ppaction://hlinksldjump"/>
            <a:extLst>
              <a:ext uri="{FF2B5EF4-FFF2-40B4-BE49-F238E27FC236}">
                <a16:creationId xmlns:a16="http://schemas.microsoft.com/office/drawing/2014/main" id="{0B9FEA3E-6FC5-DB8C-1678-52608052F4EA}"/>
              </a:ext>
            </a:extLst>
          </p:cNvPr>
          <p:cNvSpPr/>
          <p:nvPr/>
        </p:nvSpPr>
        <p:spPr>
          <a:xfrm>
            <a:off x="1249991" y="980437"/>
            <a:ext cx="919261"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100" dirty="0"/>
              <a:t>DHPC </a:t>
            </a:r>
            <a:r>
              <a:rPr lang="en-US" sz="1100" dirty="0" err="1"/>
              <a:t>Ld</a:t>
            </a:r>
            <a:r>
              <a:rPr lang="en-US" sz="1100" dirty="0"/>
              <a:t> En</a:t>
            </a:r>
          </a:p>
        </p:txBody>
      </p:sp>
      <p:sp>
        <p:nvSpPr>
          <p:cNvPr id="77" name="Oval 76">
            <a:extLst>
              <a:ext uri="{FF2B5EF4-FFF2-40B4-BE49-F238E27FC236}">
                <a16:creationId xmlns:a16="http://schemas.microsoft.com/office/drawing/2014/main" id="{E20D5B59-2E3C-0F17-B4A2-1C43EF93E125}"/>
              </a:ext>
            </a:extLst>
          </p:cNvPr>
          <p:cNvSpPr/>
          <p:nvPr/>
        </p:nvSpPr>
        <p:spPr>
          <a:xfrm>
            <a:off x="7964095" y="5425039"/>
            <a:ext cx="91440" cy="91440"/>
          </a:xfrm>
          <a:prstGeom prst="ellips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EAB3E5EA-4EB6-0552-42C6-74B7941D4D23}"/>
              </a:ext>
            </a:extLst>
          </p:cNvPr>
          <p:cNvSpPr/>
          <p:nvPr/>
        </p:nvSpPr>
        <p:spPr>
          <a:xfrm>
            <a:off x="3882676" y="4656697"/>
            <a:ext cx="147405" cy="131303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B5CD7C62-8DB7-A206-F8BA-B19E919E3A10}"/>
              </a:ext>
            </a:extLst>
          </p:cNvPr>
          <p:cNvSpPr/>
          <p:nvPr/>
        </p:nvSpPr>
        <p:spPr>
          <a:xfrm>
            <a:off x="7769828" y="4698381"/>
            <a:ext cx="147405" cy="131303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4" name="Connector: Elbow 83">
            <a:extLst>
              <a:ext uri="{FF2B5EF4-FFF2-40B4-BE49-F238E27FC236}">
                <a16:creationId xmlns:a16="http://schemas.microsoft.com/office/drawing/2014/main" id="{61F0A266-009F-7FC5-C3CB-5B66A2DF5074}"/>
              </a:ext>
            </a:extLst>
          </p:cNvPr>
          <p:cNvCxnSpPr>
            <a:cxnSpLocks/>
            <a:stCxn id="72" idx="1"/>
          </p:cNvCxnSpPr>
          <p:nvPr/>
        </p:nvCxnSpPr>
        <p:spPr>
          <a:xfrm rot="10800000">
            <a:off x="4127872" y="5425044"/>
            <a:ext cx="5986476" cy="37574"/>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81" name="Connector: Elbow 80">
            <a:extLst>
              <a:ext uri="{FF2B5EF4-FFF2-40B4-BE49-F238E27FC236}">
                <a16:creationId xmlns:a16="http://schemas.microsoft.com/office/drawing/2014/main" id="{594C964A-3F59-79D9-8490-F29A89AD8C31}"/>
              </a:ext>
            </a:extLst>
          </p:cNvPr>
          <p:cNvCxnSpPr>
            <a:cxnSpLocks/>
            <a:stCxn id="65" idx="3"/>
          </p:cNvCxnSpPr>
          <p:nvPr/>
        </p:nvCxnSpPr>
        <p:spPr>
          <a:xfrm>
            <a:off x="2169252" y="1071877"/>
            <a:ext cx="288070" cy="34029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00" name="Group 99">
            <a:extLst>
              <a:ext uri="{FF2B5EF4-FFF2-40B4-BE49-F238E27FC236}">
                <a16:creationId xmlns:a16="http://schemas.microsoft.com/office/drawing/2014/main" id="{B610B26A-C55D-A365-2A83-F9843DFD3265}"/>
              </a:ext>
            </a:extLst>
          </p:cNvPr>
          <p:cNvGrpSpPr/>
          <p:nvPr/>
        </p:nvGrpSpPr>
        <p:grpSpPr>
          <a:xfrm>
            <a:off x="10114346" y="3253194"/>
            <a:ext cx="716863" cy="184666"/>
            <a:chOff x="10114348" y="3078736"/>
            <a:chExt cx="716864" cy="184667"/>
          </a:xfrm>
        </p:grpSpPr>
        <p:sp>
          <p:nvSpPr>
            <p:cNvPr id="59" name="TextBox 58">
              <a:hlinkClick r:id="rId14" action="ppaction://hlinksldjump"/>
              <a:extLst>
                <a:ext uri="{FF2B5EF4-FFF2-40B4-BE49-F238E27FC236}">
                  <a16:creationId xmlns:a16="http://schemas.microsoft.com/office/drawing/2014/main" id="{0C87DE54-9A70-8BDE-413E-553CF377CD5F}"/>
                </a:ext>
              </a:extLst>
            </p:cNvPr>
            <p:cNvSpPr txBox="1"/>
            <p:nvPr/>
          </p:nvSpPr>
          <p:spPr>
            <a:xfrm>
              <a:off x="10114348" y="3078736"/>
              <a:ext cx="716864" cy="184667"/>
            </a:xfrm>
            <a:prstGeom prst="rect">
              <a:avLst/>
            </a:prstGeom>
            <a:solidFill>
              <a:schemeClr val="bg1"/>
            </a:solidFill>
            <a:ln>
              <a:solidFill>
                <a:schemeClr val="accent1"/>
              </a:solidFill>
            </a:ln>
          </p:spPr>
          <p:txBody>
            <a:bodyPr wrap="none" tIns="0" bIns="0" rtlCol="0">
              <a:spAutoFit/>
            </a:bodyPr>
            <a:lstStyle/>
            <a:p>
              <a:r>
                <a:rPr lang="en-US" sz="1200" dirty="0"/>
                <a:t>PC </a:t>
              </a:r>
              <a:r>
                <a:rPr lang="en-US" sz="1200" dirty="0" err="1"/>
                <a:t>Ld</a:t>
              </a:r>
              <a:r>
                <a:rPr lang="en-US" sz="1200" dirty="0"/>
                <a:t> En</a:t>
              </a:r>
            </a:p>
          </p:txBody>
        </p:sp>
        <p:cxnSp>
          <p:nvCxnSpPr>
            <p:cNvPr id="99" name="Straight Connector 98">
              <a:extLst>
                <a:ext uri="{FF2B5EF4-FFF2-40B4-BE49-F238E27FC236}">
                  <a16:creationId xmlns:a16="http://schemas.microsoft.com/office/drawing/2014/main" id="{F8CF70B5-E838-93E5-2BE6-E74433F33F87}"/>
                </a:ext>
              </a:extLst>
            </p:cNvPr>
            <p:cNvCxnSpPr>
              <a:cxnSpLocks/>
            </p:cNvCxnSpPr>
            <p:nvPr/>
          </p:nvCxnSpPr>
          <p:spPr>
            <a:xfrm>
              <a:off x="10214082" y="3105035"/>
              <a:ext cx="546457"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93" name="Arrow: Right 92">
            <a:extLst>
              <a:ext uri="{FF2B5EF4-FFF2-40B4-BE49-F238E27FC236}">
                <a16:creationId xmlns:a16="http://schemas.microsoft.com/office/drawing/2014/main" id="{347BBA4F-3F3F-01AB-810F-E86F8460BD3D}"/>
              </a:ext>
            </a:extLst>
          </p:cNvPr>
          <p:cNvSpPr/>
          <p:nvPr/>
        </p:nvSpPr>
        <p:spPr>
          <a:xfrm rot="5400000">
            <a:off x="2884854" y="1634214"/>
            <a:ext cx="493193" cy="1039121"/>
          </a:xfrm>
          <a:prstGeom prst="rightArrow">
            <a:avLst/>
          </a:prstGeom>
        </p:spPr>
        <p:style>
          <a:lnRef idx="1">
            <a:schemeClr val="accent3"/>
          </a:lnRef>
          <a:fillRef idx="2">
            <a:schemeClr val="accent3"/>
          </a:fillRef>
          <a:effectRef idx="1">
            <a:schemeClr val="accent3"/>
          </a:effectRef>
          <a:fontRef idx="minor">
            <a:schemeClr val="dk1"/>
          </a:fontRef>
        </p:style>
        <p:txBody>
          <a:bodyPr vert="vert270" wrap="none" rtlCol="0" anchor="ctr"/>
          <a:lstStyle/>
          <a:p>
            <a:pPr algn="ctr"/>
            <a:r>
              <a:rPr lang="en-US" sz="900" dirty="0">
                <a:solidFill>
                  <a:schemeClr val="dk1"/>
                </a:solidFill>
                <a:sym typeface="Wingdings" panose="05000000000000000000" pitchFamily="2" charset="2"/>
              </a:rPr>
              <a:t>0,[15:9]</a:t>
            </a:r>
            <a:endParaRPr lang="en-US" sz="900" dirty="0">
              <a:solidFill>
                <a:schemeClr val="dk1"/>
              </a:solidFill>
            </a:endParaRPr>
          </a:p>
        </p:txBody>
      </p:sp>
      <p:sp>
        <p:nvSpPr>
          <p:cNvPr id="94" name="Cross 93">
            <a:extLst>
              <a:ext uri="{FF2B5EF4-FFF2-40B4-BE49-F238E27FC236}">
                <a16:creationId xmlns:a16="http://schemas.microsoft.com/office/drawing/2014/main" id="{C00262D8-1FE1-DB63-6ED3-A1C6F028B2EE}"/>
              </a:ext>
            </a:extLst>
          </p:cNvPr>
          <p:cNvSpPr/>
          <p:nvPr/>
        </p:nvSpPr>
        <p:spPr>
          <a:xfrm rot="3137304">
            <a:off x="2018947" y="3164769"/>
            <a:ext cx="115323" cy="100921"/>
          </a:xfrm>
          <a:prstGeom prst="plus">
            <a:avLst>
              <a:gd name="adj" fmla="val 45292"/>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TextBox 103">
            <a:extLst>
              <a:ext uri="{FF2B5EF4-FFF2-40B4-BE49-F238E27FC236}">
                <a16:creationId xmlns:a16="http://schemas.microsoft.com/office/drawing/2014/main" id="{F1645B4F-E515-335A-806F-3F4606BEF625}"/>
              </a:ext>
            </a:extLst>
          </p:cNvPr>
          <p:cNvSpPr txBox="1"/>
          <p:nvPr/>
        </p:nvSpPr>
        <p:spPr>
          <a:xfrm>
            <a:off x="3709194" y="3614105"/>
            <a:ext cx="431733" cy="254044"/>
          </a:xfrm>
          <a:prstGeom prst="rect">
            <a:avLst/>
          </a:prstGeom>
          <a:noFill/>
        </p:spPr>
        <p:txBody>
          <a:bodyPr wrap="square" rtlCol="0">
            <a:spAutoFit/>
          </a:bodyPr>
          <a:lstStyle/>
          <a:p>
            <a:r>
              <a:rPr lang="en-US" sz="1051"/>
              <a:t>[0]</a:t>
            </a:r>
          </a:p>
        </p:txBody>
      </p:sp>
      <p:cxnSp>
        <p:nvCxnSpPr>
          <p:cNvPr id="111" name="Connector: Elbow 110">
            <a:extLst>
              <a:ext uri="{FF2B5EF4-FFF2-40B4-BE49-F238E27FC236}">
                <a16:creationId xmlns:a16="http://schemas.microsoft.com/office/drawing/2014/main" id="{458015BF-F9BC-0A49-3164-40F5037984BC}"/>
              </a:ext>
            </a:extLst>
          </p:cNvPr>
          <p:cNvCxnSpPr>
            <a:cxnSpLocks/>
            <a:endCxn id="69" idx="2"/>
          </p:cNvCxnSpPr>
          <p:nvPr/>
        </p:nvCxnSpPr>
        <p:spPr>
          <a:xfrm rot="10800000">
            <a:off x="1718221" y="2950533"/>
            <a:ext cx="7418147" cy="398067"/>
          </a:xfrm>
          <a:prstGeom prst="bentConnector2">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66" name="Connector: Elbow 65">
            <a:extLst>
              <a:ext uri="{FF2B5EF4-FFF2-40B4-BE49-F238E27FC236}">
                <a16:creationId xmlns:a16="http://schemas.microsoft.com/office/drawing/2014/main" id="{45B25EE8-8FC0-2BD3-5D4B-7907616A4BCF}"/>
              </a:ext>
            </a:extLst>
          </p:cNvPr>
          <p:cNvCxnSpPr>
            <a:cxnSpLocks/>
            <a:stCxn id="59" idx="1"/>
            <a:endCxn id="63" idx="2"/>
          </p:cNvCxnSpPr>
          <p:nvPr/>
        </p:nvCxnSpPr>
        <p:spPr>
          <a:xfrm rot="10800000">
            <a:off x="6564324" y="2950535"/>
            <a:ext cx="3550022" cy="394993"/>
          </a:xfrm>
          <a:prstGeom prst="bentConnector2">
            <a:avLst/>
          </a:prstGeom>
          <a:ln>
            <a:solidFill>
              <a:srgbClr val="00B050"/>
            </a:solidFill>
          </a:ln>
        </p:spPr>
        <p:style>
          <a:lnRef idx="1">
            <a:schemeClr val="accent1"/>
          </a:lnRef>
          <a:fillRef idx="0">
            <a:schemeClr val="accent1"/>
          </a:fillRef>
          <a:effectRef idx="0">
            <a:schemeClr val="accent1"/>
          </a:effectRef>
          <a:fontRef idx="minor">
            <a:schemeClr val="tx1"/>
          </a:fontRef>
        </p:style>
      </p:cxnSp>
      <p:sp>
        <p:nvSpPr>
          <p:cNvPr id="23" name="Callout: Down Arrow 22">
            <a:extLst>
              <a:ext uri="{FF2B5EF4-FFF2-40B4-BE49-F238E27FC236}">
                <a16:creationId xmlns:a16="http://schemas.microsoft.com/office/drawing/2014/main" id="{E4770040-9536-E906-39C0-AFBC86464A84}"/>
              </a:ext>
            </a:extLst>
          </p:cNvPr>
          <p:cNvSpPr/>
          <p:nvPr/>
        </p:nvSpPr>
        <p:spPr>
          <a:xfrm>
            <a:off x="2202929" y="3427170"/>
            <a:ext cx="2212322" cy="560291"/>
          </a:xfrm>
          <a:prstGeom prst="downArrowCallout">
            <a:avLst>
              <a:gd name="adj1" fmla="val 27752"/>
              <a:gd name="adj2" fmla="val 23624"/>
              <a:gd name="adj3" fmla="val 30503"/>
              <a:gd name="adj4" fmla="val 34708"/>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900" dirty="0"/>
              <a:t>PC High[15:9]</a:t>
            </a:r>
          </a:p>
        </p:txBody>
      </p:sp>
      <p:sp>
        <p:nvSpPr>
          <p:cNvPr id="38" name="Oval 37">
            <a:extLst>
              <a:ext uri="{FF2B5EF4-FFF2-40B4-BE49-F238E27FC236}">
                <a16:creationId xmlns:a16="http://schemas.microsoft.com/office/drawing/2014/main" id="{A481B274-5DF4-926F-386C-880CF97D8DC6}"/>
              </a:ext>
            </a:extLst>
          </p:cNvPr>
          <p:cNvSpPr/>
          <p:nvPr/>
        </p:nvSpPr>
        <p:spPr>
          <a:xfrm>
            <a:off x="6520167" y="3300966"/>
            <a:ext cx="91440" cy="9144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57C0347D-66A4-DB1F-08F1-CE254A829FE1}"/>
              </a:ext>
            </a:extLst>
          </p:cNvPr>
          <p:cNvSpPr txBox="1"/>
          <p:nvPr/>
        </p:nvSpPr>
        <p:spPr>
          <a:xfrm>
            <a:off x="9136367" y="75076"/>
            <a:ext cx="3004375" cy="1277273"/>
          </a:xfrm>
          <a:prstGeom prst="rect">
            <a:avLst/>
          </a:prstGeom>
          <a:solidFill>
            <a:srgbClr val="FFFFCC"/>
          </a:solidFill>
          <a:ln>
            <a:solidFill>
              <a:schemeClr val="tx1"/>
            </a:solidFill>
          </a:ln>
        </p:spPr>
        <p:txBody>
          <a:bodyPr wrap="square" rtlCol="0">
            <a:spAutoFit/>
          </a:bodyPr>
          <a:lstStyle/>
          <a:p>
            <a:r>
              <a:rPr lang="en-US" sz="1100" dirty="0"/>
              <a:t>Notes:</a:t>
            </a:r>
          </a:p>
          <a:p>
            <a:pPr marL="171446" indent="-171446">
              <a:buFont typeface="Arial" panose="020B0604020202020204" pitchFamily="34" charset="0"/>
              <a:buChar char="•"/>
            </a:pPr>
            <a:r>
              <a:rPr lang="en-US" sz="1100" dirty="0"/>
              <a:t>In SW view, PC points to Address, </a:t>
            </a:r>
          </a:p>
          <a:p>
            <a:pPr marL="171446" indent="-171446">
              <a:buFont typeface="Arial" panose="020B0604020202020204" pitchFamily="34" charset="0"/>
              <a:buChar char="•"/>
            </a:pPr>
            <a:r>
              <a:rPr lang="en-US" sz="1100" dirty="0"/>
              <a:t>In HW view, PC points to instruction (div by 2)  </a:t>
            </a:r>
          </a:p>
          <a:p>
            <a:pPr marL="171446" indent="-171446">
              <a:buFont typeface="Arial" panose="020B0604020202020204" pitchFamily="34" charset="0"/>
              <a:buChar char="•"/>
            </a:pPr>
            <a:r>
              <a:rPr lang="en-US" sz="1100" dirty="0"/>
              <a:t>Read PC : PC shifts left</a:t>
            </a:r>
          </a:p>
          <a:p>
            <a:pPr marL="628646" lvl="1" indent="-171446">
              <a:buFont typeface="Arial" panose="020B0604020202020204" pitchFamily="34" charset="0"/>
              <a:buChar char="•"/>
            </a:pPr>
            <a:r>
              <a:rPr lang="en-US" sz="1100" dirty="0"/>
              <a:t>“INC Prog Counter” provides bit 0  </a:t>
            </a:r>
          </a:p>
          <a:p>
            <a:pPr marL="171446" indent="-171446">
              <a:buFont typeface="Arial" panose="020B0604020202020204" pitchFamily="34" charset="0"/>
              <a:buChar char="•"/>
            </a:pPr>
            <a:r>
              <a:rPr lang="en-US" sz="1100" dirty="0"/>
              <a:t>Write PC: (Absolute Branch, JSR, RTS)</a:t>
            </a:r>
            <a:br>
              <a:rPr lang="en-US" sz="1100" dirty="0"/>
            </a:br>
            <a:r>
              <a:rPr lang="en-US" sz="1100" dirty="0"/>
              <a:t>Dummy and Data shifted right (</a:t>
            </a:r>
            <a:r>
              <a:rPr lang="en-US" sz="1100" dirty="0" err="1"/>
              <a:t>ignoee</a:t>
            </a:r>
            <a:r>
              <a:rPr lang="en-US" sz="1100" dirty="0"/>
              <a:t> </a:t>
            </a:r>
            <a:r>
              <a:rPr lang="en-US" sz="1100" dirty="0" err="1"/>
              <a:t>lsb</a:t>
            </a:r>
            <a:r>
              <a:rPr lang="en-US" sz="1100" dirty="0"/>
              <a:t>)</a:t>
            </a:r>
          </a:p>
        </p:txBody>
      </p:sp>
      <p:cxnSp>
        <p:nvCxnSpPr>
          <p:cNvPr id="43" name="Connector: Elbow 42">
            <a:extLst>
              <a:ext uri="{FF2B5EF4-FFF2-40B4-BE49-F238E27FC236}">
                <a16:creationId xmlns:a16="http://schemas.microsoft.com/office/drawing/2014/main" id="{FB7193B7-C755-A42F-E761-23F27B3CECDE}"/>
              </a:ext>
            </a:extLst>
          </p:cNvPr>
          <p:cNvCxnSpPr>
            <a:cxnSpLocks/>
            <a:endCxn id="46" idx="0"/>
          </p:cNvCxnSpPr>
          <p:nvPr/>
        </p:nvCxnSpPr>
        <p:spPr>
          <a:xfrm>
            <a:off x="3625420" y="2085773"/>
            <a:ext cx="3246595" cy="264462"/>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7A042C87-E7A8-A8CC-0385-3BADA5E81B43}"/>
              </a:ext>
            </a:extLst>
          </p:cNvPr>
          <p:cNvSpPr txBox="1"/>
          <p:nvPr/>
        </p:nvSpPr>
        <p:spPr>
          <a:xfrm>
            <a:off x="1908185" y="1810073"/>
            <a:ext cx="364516" cy="246221"/>
          </a:xfrm>
          <a:prstGeom prst="rect">
            <a:avLst/>
          </a:prstGeom>
          <a:noFill/>
        </p:spPr>
        <p:txBody>
          <a:bodyPr wrap="square" rtlCol="0">
            <a:spAutoFit/>
          </a:bodyPr>
          <a:lstStyle/>
          <a:p>
            <a:r>
              <a:rPr lang="en-US" sz="1000" dirty="0"/>
              <a:t>‘0’</a:t>
            </a:r>
          </a:p>
        </p:txBody>
      </p:sp>
      <p:cxnSp>
        <p:nvCxnSpPr>
          <p:cNvPr id="53" name="Straight Connector 52">
            <a:extLst>
              <a:ext uri="{FF2B5EF4-FFF2-40B4-BE49-F238E27FC236}">
                <a16:creationId xmlns:a16="http://schemas.microsoft.com/office/drawing/2014/main" id="{7522CDE7-D9E0-DF4D-5A3A-E89D80922E12}"/>
              </a:ext>
            </a:extLst>
          </p:cNvPr>
          <p:cNvCxnSpPr>
            <a:cxnSpLocks/>
          </p:cNvCxnSpPr>
          <p:nvPr/>
        </p:nvCxnSpPr>
        <p:spPr>
          <a:xfrm flipH="1">
            <a:off x="2053529" y="1992961"/>
            <a:ext cx="0" cy="218679"/>
          </a:xfrm>
          <a:prstGeom prst="line">
            <a:avLst/>
          </a:prstGeom>
        </p:spPr>
        <p:style>
          <a:lnRef idx="1">
            <a:schemeClr val="accent1"/>
          </a:lnRef>
          <a:fillRef idx="0">
            <a:schemeClr val="accent1"/>
          </a:fillRef>
          <a:effectRef idx="0">
            <a:schemeClr val="accent1"/>
          </a:effectRef>
          <a:fontRef idx="minor">
            <a:schemeClr val="tx1"/>
          </a:fontRef>
        </p:style>
      </p:cxnSp>
      <p:sp>
        <p:nvSpPr>
          <p:cNvPr id="31" name="Arrow: Right 30">
            <a:extLst>
              <a:ext uri="{FF2B5EF4-FFF2-40B4-BE49-F238E27FC236}">
                <a16:creationId xmlns:a16="http://schemas.microsoft.com/office/drawing/2014/main" id="{3BABB253-AB3C-3B21-703F-B455C7962E20}"/>
              </a:ext>
            </a:extLst>
          </p:cNvPr>
          <p:cNvSpPr/>
          <p:nvPr/>
        </p:nvSpPr>
        <p:spPr>
          <a:xfrm rot="5400000">
            <a:off x="8633317" y="3043905"/>
            <a:ext cx="433428" cy="627346"/>
          </a:xfrm>
          <a:prstGeom prst="rightArrow">
            <a:avLst>
              <a:gd name="adj1" fmla="val 50000"/>
              <a:gd name="adj2" fmla="val 59845"/>
            </a:avLst>
          </a:prstGeom>
          <a:solidFill>
            <a:srgbClr val="CECECE"/>
          </a:solidFill>
          <a:ln>
            <a:noFill/>
          </a:ln>
        </p:spPr>
        <p:style>
          <a:lnRef idx="2">
            <a:schemeClr val="accent1"/>
          </a:lnRef>
          <a:fillRef idx="1">
            <a:schemeClr val="lt1"/>
          </a:fillRef>
          <a:effectRef idx="0">
            <a:schemeClr val="accent1"/>
          </a:effectRef>
          <a:fontRef idx="minor">
            <a:schemeClr val="dk1"/>
          </a:fontRef>
        </p:style>
        <p:txBody>
          <a:bodyPr vert="vert270" wrap="none" rtlCol="0" anchor="ctr"/>
          <a:lstStyle/>
          <a:p>
            <a:pPr algn="ctr"/>
            <a:r>
              <a:rPr lang="en-US" sz="900" dirty="0"/>
              <a:t>PC</a:t>
            </a:r>
          </a:p>
          <a:p>
            <a:pPr algn="ctr"/>
            <a:r>
              <a:rPr lang="en-US" sz="900" dirty="0"/>
              <a:t>[4:1]</a:t>
            </a:r>
          </a:p>
        </p:txBody>
      </p:sp>
      <p:sp>
        <p:nvSpPr>
          <p:cNvPr id="13" name="Arrow: Right 12">
            <a:extLst>
              <a:ext uri="{FF2B5EF4-FFF2-40B4-BE49-F238E27FC236}">
                <a16:creationId xmlns:a16="http://schemas.microsoft.com/office/drawing/2014/main" id="{43F8A112-5012-62D4-D45A-1040755D545A}"/>
              </a:ext>
            </a:extLst>
          </p:cNvPr>
          <p:cNvSpPr/>
          <p:nvPr/>
        </p:nvSpPr>
        <p:spPr>
          <a:xfrm rot="5400000">
            <a:off x="7004906" y="3043905"/>
            <a:ext cx="433428" cy="627346"/>
          </a:xfrm>
          <a:prstGeom prst="rightArrow">
            <a:avLst>
              <a:gd name="adj1" fmla="val 50000"/>
              <a:gd name="adj2" fmla="val 59845"/>
            </a:avLst>
          </a:prstGeom>
          <a:solidFill>
            <a:srgbClr val="CECECE"/>
          </a:solidFill>
          <a:ln>
            <a:noFill/>
          </a:ln>
        </p:spPr>
        <p:style>
          <a:lnRef idx="2">
            <a:schemeClr val="accent1"/>
          </a:lnRef>
          <a:fillRef idx="1">
            <a:schemeClr val="lt1"/>
          </a:fillRef>
          <a:effectRef idx="0">
            <a:schemeClr val="accent1"/>
          </a:effectRef>
          <a:fontRef idx="minor">
            <a:schemeClr val="dk1"/>
          </a:fontRef>
        </p:style>
        <p:txBody>
          <a:bodyPr vert="vert270" wrap="none" rtlCol="0" anchor="ctr"/>
          <a:lstStyle/>
          <a:p>
            <a:pPr algn="ctr"/>
            <a:r>
              <a:rPr lang="en-US" sz="900" dirty="0"/>
              <a:t>PC</a:t>
            </a:r>
          </a:p>
          <a:p>
            <a:pPr algn="ctr"/>
            <a:r>
              <a:rPr lang="en-US" sz="900" dirty="0"/>
              <a:t>[8:5]</a:t>
            </a:r>
          </a:p>
        </p:txBody>
      </p:sp>
      <p:sp>
        <p:nvSpPr>
          <p:cNvPr id="35" name="TextBox 34">
            <a:extLst>
              <a:ext uri="{FF2B5EF4-FFF2-40B4-BE49-F238E27FC236}">
                <a16:creationId xmlns:a16="http://schemas.microsoft.com/office/drawing/2014/main" id="{BDC7ED8D-C635-B04E-492B-8773A442EFEC}"/>
              </a:ext>
            </a:extLst>
          </p:cNvPr>
          <p:cNvSpPr txBox="1"/>
          <p:nvPr/>
        </p:nvSpPr>
        <p:spPr>
          <a:xfrm>
            <a:off x="5851483" y="1879990"/>
            <a:ext cx="628437" cy="246221"/>
          </a:xfrm>
          <a:prstGeom prst="rect">
            <a:avLst/>
          </a:prstGeom>
          <a:noFill/>
        </p:spPr>
        <p:txBody>
          <a:bodyPr wrap="square" rtlCol="0">
            <a:spAutoFit/>
          </a:bodyPr>
          <a:lstStyle/>
          <a:p>
            <a:r>
              <a:rPr lang="en-US" sz="1000" dirty="0"/>
              <a:t>PC[8]</a:t>
            </a:r>
          </a:p>
        </p:txBody>
      </p:sp>
      <p:cxnSp>
        <p:nvCxnSpPr>
          <p:cNvPr id="44" name="Connector: Elbow 43">
            <a:extLst>
              <a:ext uri="{FF2B5EF4-FFF2-40B4-BE49-F238E27FC236}">
                <a16:creationId xmlns:a16="http://schemas.microsoft.com/office/drawing/2014/main" id="{41EC618B-4D66-F3A7-F9FD-57EF800620EC}"/>
              </a:ext>
            </a:extLst>
          </p:cNvPr>
          <p:cNvCxnSpPr>
            <a:cxnSpLocks/>
          </p:cNvCxnSpPr>
          <p:nvPr/>
        </p:nvCxnSpPr>
        <p:spPr>
          <a:xfrm>
            <a:off x="9004852" y="1205833"/>
            <a:ext cx="521805" cy="304915"/>
          </a:xfrm>
          <a:prstGeom prst="bentConnector3">
            <a:avLst>
              <a:gd name="adj1" fmla="val 5238"/>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9BADE0AA-1191-1A5A-01E1-DB3A4F0576E5}"/>
              </a:ext>
            </a:extLst>
          </p:cNvPr>
          <p:cNvSpPr txBox="1"/>
          <p:nvPr/>
        </p:nvSpPr>
        <p:spPr>
          <a:xfrm>
            <a:off x="9482853" y="1396214"/>
            <a:ext cx="1089454" cy="246221"/>
          </a:xfrm>
          <a:prstGeom prst="rect">
            <a:avLst/>
          </a:prstGeom>
          <a:noFill/>
        </p:spPr>
        <p:txBody>
          <a:bodyPr wrap="square" rtlCol="0">
            <a:spAutoFit/>
          </a:bodyPr>
          <a:lstStyle/>
          <a:p>
            <a:r>
              <a:rPr lang="en-US" sz="1000" dirty="0"/>
              <a:t>Data[0] dangled</a:t>
            </a:r>
          </a:p>
        </p:txBody>
      </p:sp>
    </p:spTree>
    <p:extLst>
      <p:ext uri="{BB962C8B-B14F-4D97-AF65-F5344CB8AC3E}">
        <p14:creationId xmlns:p14="http://schemas.microsoft.com/office/powerpoint/2010/main" val="3086040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Rectangle 89">
            <a:extLst>
              <a:ext uri="{FF2B5EF4-FFF2-40B4-BE49-F238E27FC236}">
                <a16:creationId xmlns:a16="http://schemas.microsoft.com/office/drawing/2014/main" id="{163C2A2D-055A-464A-865B-600933103B3B}"/>
              </a:ext>
            </a:extLst>
          </p:cNvPr>
          <p:cNvSpPr/>
          <p:nvPr/>
        </p:nvSpPr>
        <p:spPr>
          <a:xfrm>
            <a:off x="6612853" y="4330551"/>
            <a:ext cx="263979" cy="1926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9BE396E5-0BAD-297C-B1A0-7FBBA301D6C3}"/>
              </a:ext>
            </a:extLst>
          </p:cNvPr>
          <p:cNvSpPr>
            <a:spLocks noGrp="1"/>
          </p:cNvSpPr>
          <p:nvPr>
            <p:ph type="ctrTitle"/>
          </p:nvPr>
        </p:nvSpPr>
        <p:spPr/>
        <p:txBody>
          <a:bodyPr/>
          <a:lstStyle/>
          <a:p>
            <a:r>
              <a:rPr lang="en-US" dirty="0"/>
              <a:t>Data Pointer (v2.0)</a:t>
            </a:r>
          </a:p>
        </p:txBody>
      </p:sp>
      <p:cxnSp>
        <p:nvCxnSpPr>
          <p:cNvPr id="89" name="Connector: Elbow 88">
            <a:extLst>
              <a:ext uri="{FF2B5EF4-FFF2-40B4-BE49-F238E27FC236}">
                <a16:creationId xmlns:a16="http://schemas.microsoft.com/office/drawing/2014/main" id="{07095E3F-5859-4F3C-A8B5-66E088445F5E}"/>
              </a:ext>
            </a:extLst>
          </p:cNvPr>
          <p:cNvCxnSpPr>
            <a:cxnSpLocks/>
            <a:stCxn id="6" idx="3"/>
            <a:endCxn id="90" idx="1"/>
          </p:cNvCxnSpPr>
          <p:nvPr/>
        </p:nvCxnSpPr>
        <p:spPr>
          <a:xfrm>
            <a:off x="5530409" y="4424035"/>
            <a:ext cx="1082444" cy="2834"/>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147" name="Oval 146">
            <a:extLst>
              <a:ext uri="{FF2B5EF4-FFF2-40B4-BE49-F238E27FC236}">
                <a16:creationId xmlns:a16="http://schemas.microsoft.com/office/drawing/2014/main" id="{393A2400-6B06-4EAC-BB38-70DC1F1924B8}"/>
              </a:ext>
            </a:extLst>
          </p:cNvPr>
          <p:cNvSpPr/>
          <p:nvPr/>
        </p:nvSpPr>
        <p:spPr>
          <a:xfrm>
            <a:off x="1139745" y="6403192"/>
            <a:ext cx="80156" cy="425017"/>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graphicFrame>
        <p:nvGraphicFramePr>
          <p:cNvPr id="150" name="Table 110">
            <a:extLst>
              <a:ext uri="{FF2B5EF4-FFF2-40B4-BE49-F238E27FC236}">
                <a16:creationId xmlns:a16="http://schemas.microsoft.com/office/drawing/2014/main" id="{8C931008-E723-41E8-95E0-270FA5E6C1E8}"/>
              </a:ext>
            </a:extLst>
          </p:cNvPr>
          <p:cNvGraphicFramePr>
            <a:graphicFrameLocks noGrp="1"/>
          </p:cNvGraphicFramePr>
          <p:nvPr>
            <p:extLst>
              <p:ext uri="{D42A27DB-BD31-4B8C-83A1-F6EECF244321}">
                <p14:modId xmlns:p14="http://schemas.microsoft.com/office/powerpoint/2010/main" val="3191198612"/>
              </p:ext>
            </p:extLst>
          </p:nvPr>
        </p:nvGraphicFramePr>
        <p:xfrm>
          <a:off x="479923" y="5843545"/>
          <a:ext cx="1378332" cy="247176"/>
        </p:xfrm>
        <a:graphic>
          <a:graphicData uri="http://schemas.openxmlformats.org/drawingml/2006/table">
            <a:tbl>
              <a:tblPr bandRow="1">
                <a:tableStyleId>{5C22544A-7EE6-4342-B048-85BDC9FD1C3A}</a:tableStyleId>
              </a:tblPr>
              <a:tblGrid>
                <a:gridCol w="344583">
                  <a:extLst>
                    <a:ext uri="{9D8B030D-6E8A-4147-A177-3AD203B41FA5}">
                      <a16:colId xmlns:a16="http://schemas.microsoft.com/office/drawing/2014/main" val="866373483"/>
                    </a:ext>
                  </a:extLst>
                </a:gridCol>
                <a:gridCol w="344583">
                  <a:extLst>
                    <a:ext uri="{9D8B030D-6E8A-4147-A177-3AD203B41FA5}">
                      <a16:colId xmlns:a16="http://schemas.microsoft.com/office/drawing/2014/main" val="2024381536"/>
                    </a:ext>
                  </a:extLst>
                </a:gridCol>
                <a:gridCol w="344583">
                  <a:extLst>
                    <a:ext uri="{9D8B030D-6E8A-4147-A177-3AD203B41FA5}">
                      <a16:colId xmlns:a16="http://schemas.microsoft.com/office/drawing/2014/main" val="158804817"/>
                    </a:ext>
                  </a:extLst>
                </a:gridCol>
                <a:gridCol w="344583">
                  <a:extLst>
                    <a:ext uri="{9D8B030D-6E8A-4147-A177-3AD203B41FA5}">
                      <a16:colId xmlns:a16="http://schemas.microsoft.com/office/drawing/2014/main" val="1655900654"/>
                    </a:ext>
                  </a:extLst>
                </a:gridCol>
              </a:tblGrid>
              <a:tr h="247176">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91770497"/>
                  </a:ext>
                </a:extLst>
              </a:tr>
            </a:tbl>
          </a:graphicData>
        </a:graphic>
      </p:graphicFrame>
      <p:graphicFrame>
        <p:nvGraphicFramePr>
          <p:cNvPr id="151" name="Table 110">
            <a:extLst>
              <a:ext uri="{FF2B5EF4-FFF2-40B4-BE49-F238E27FC236}">
                <a16:creationId xmlns:a16="http://schemas.microsoft.com/office/drawing/2014/main" id="{E38ACCC2-F299-46E3-8DCD-DB30CD53AB6A}"/>
              </a:ext>
            </a:extLst>
          </p:cNvPr>
          <p:cNvGraphicFramePr>
            <a:graphicFrameLocks noGrp="1"/>
          </p:cNvGraphicFramePr>
          <p:nvPr>
            <p:extLst>
              <p:ext uri="{D42A27DB-BD31-4B8C-83A1-F6EECF244321}">
                <p14:modId xmlns:p14="http://schemas.microsoft.com/office/powerpoint/2010/main" val="437542594"/>
              </p:ext>
            </p:extLst>
          </p:nvPr>
        </p:nvGraphicFramePr>
        <p:xfrm>
          <a:off x="616506" y="6162703"/>
          <a:ext cx="1378332" cy="247176"/>
        </p:xfrm>
        <a:graphic>
          <a:graphicData uri="http://schemas.openxmlformats.org/drawingml/2006/table">
            <a:tbl>
              <a:tblPr bandRow="1">
                <a:tableStyleId>{5C22544A-7EE6-4342-B048-85BDC9FD1C3A}</a:tableStyleId>
              </a:tblPr>
              <a:tblGrid>
                <a:gridCol w="344583">
                  <a:extLst>
                    <a:ext uri="{9D8B030D-6E8A-4147-A177-3AD203B41FA5}">
                      <a16:colId xmlns:a16="http://schemas.microsoft.com/office/drawing/2014/main" val="866373483"/>
                    </a:ext>
                  </a:extLst>
                </a:gridCol>
                <a:gridCol w="344583">
                  <a:extLst>
                    <a:ext uri="{9D8B030D-6E8A-4147-A177-3AD203B41FA5}">
                      <a16:colId xmlns:a16="http://schemas.microsoft.com/office/drawing/2014/main" val="2024381536"/>
                    </a:ext>
                  </a:extLst>
                </a:gridCol>
                <a:gridCol w="344583">
                  <a:extLst>
                    <a:ext uri="{9D8B030D-6E8A-4147-A177-3AD203B41FA5}">
                      <a16:colId xmlns:a16="http://schemas.microsoft.com/office/drawing/2014/main" val="158804817"/>
                    </a:ext>
                  </a:extLst>
                </a:gridCol>
                <a:gridCol w="344583">
                  <a:extLst>
                    <a:ext uri="{9D8B030D-6E8A-4147-A177-3AD203B41FA5}">
                      <a16:colId xmlns:a16="http://schemas.microsoft.com/office/drawing/2014/main" val="1655900654"/>
                    </a:ext>
                  </a:extLst>
                </a:gridCol>
              </a:tblGrid>
              <a:tr h="247176">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1770497"/>
                  </a:ext>
                </a:extLst>
              </a:tr>
            </a:tbl>
          </a:graphicData>
        </a:graphic>
      </p:graphicFrame>
      <p:sp>
        <p:nvSpPr>
          <p:cNvPr id="152" name="TextBox 151">
            <a:extLst>
              <a:ext uri="{FF2B5EF4-FFF2-40B4-BE49-F238E27FC236}">
                <a16:creationId xmlns:a16="http://schemas.microsoft.com/office/drawing/2014/main" id="{13450B07-1690-4C24-A8DA-D301A55E263B}"/>
              </a:ext>
            </a:extLst>
          </p:cNvPr>
          <p:cNvSpPr txBox="1"/>
          <p:nvPr/>
        </p:nvSpPr>
        <p:spPr>
          <a:xfrm>
            <a:off x="155919" y="5825074"/>
            <a:ext cx="381836" cy="246221"/>
          </a:xfrm>
          <a:prstGeom prst="rect">
            <a:avLst/>
          </a:prstGeom>
          <a:noFill/>
        </p:spPr>
        <p:txBody>
          <a:bodyPr wrap="none" rtlCol="0">
            <a:spAutoFit/>
          </a:bodyPr>
          <a:lstStyle/>
          <a:p>
            <a:r>
              <a:rPr lang="en-US" sz="1000"/>
              <a:t>!Clk</a:t>
            </a:r>
          </a:p>
        </p:txBody>
      </p:sp>
      <p:sp>
        <p:nvSpPr>
          <p:cNvPr id="153" name="TextBox 152">
            <a:extLst>
              <a:ext uri="{FF2B5EF4-FFF2-40B4-BE49-F238E27FC236}">
                <a16:creationId xmlns:a16="http://schemas.microsoft.com/office/drawing/2014/main" id="{6AE97E37-BACA-4161-B24E-EDE22DD81C29}"/>
              </a:ext>
            </a:extLst>
          </p:cNvPr>
          <p:cNvSpPr txBox="1"/>
          <p:nvPr/>
        </p:nvSpPr>
        <p:spPr>
          <a:xfrm>
            <a:off x="-1098" y="6126708"/>
            <a:ext cx="572593" cy="246221"/>
          </a:xfrm>
          <a:prstGeom prst="rect">
            <a:avLst/>
          </a:prstGeom>
          <a:noFill/>
        </p:spPr>
        <p:txBody>
          <a:bodyPr wrap="none" rtlCol="0">
            <a:spAutoFit/>
          </a:bodyPr>
          <a:lstStyle/>
          <a:p>
            <a:r>
              <a:rPr lang="en-US" sz="1000"/>
              <a:t>Control</a:t>
            </a:r>
          </a:p>
        </p:txBody>
      </p:sp>
      <p:sp>
        <p:nvSpPr>
          <p:cNvPr id="156" name="TextBox 155">
            <a:extLst>
              <a:ext uri="{FF2B5EF4-FFF2-40B4-BE49-F238E27FC236}">
                <a16:creationId xmlns:a16="http://schemas.microsoft.com/office/drawing/2014/main" id="{5FE0A1B6-C95C-4F84-8009-9D01EF99978B}"/>
              </a:ext>
            </a:extLst>
          </p:cNvPr>
          <p:cNvSpPr txBox="1"/>
          <p:nvPr/>
        </p:nvSpPr>
        <p:spPr>
          <a:xfrm>
            <a:off x="215959" y="6491546"/>
            <a:ext cx="420308" cy="246221"/>
          </a:xfrm>
          <a:prstGeom prst="rect">
            <a:avLst/>
          </a:prstGeom>
          <a:noFill/>
        </p:spPr>
        <p:txBody>
          <a:bodyPr wrap="none" rtlCol="0">
            <a:spAutoFit/>
          </a:bodyPr>
          <a:lstStyle/>
          <a:p>
            <a:r>
              <a:rPr lang="en-US" sz="1000"/>
              <a:t>AND</a:t>
            </a:r>
          </a:p>
        </p:txBody>
      </p:sp>
      <p:graphicFrame>
        <p:nvGraphicFramePr>
          <p:cNvPr id="158" name="Table 110">
            <a:extLst>
              <a:ext uri="{FF2B5EF4-FFF2-40B4-BE49-F238E27FC236}">
                <a16:creationId xmlns:a16="http://schemas.microsoft.com/office/drawing/2014/main" id="{B2C243E6-2AC5-413F-A4E7-1C8E8188053A}"/>
              </a:ext>
            </a:extLst>
          </p:cNvPr>
          <p:cNvGraphicFramePr>
            <a:graphicFrameLocks noGrp="1"/>
          </p:cNvGraphicFramePr>
          <p:nvPr>
            <p:extLst>
              <p:ext uri="{D42A27DB-BD31-4B8C-83A1-F6EECF244321}">
                <p14:modId xmlns:p14="http://schemas.microsoft.com/office/powerpoint/2010/main" val="1811497284"/>
              </p:ext>
            </p:extLst>
          </p:nvPr>
        </p:nvGraphicFramePr>
        <p:xfrm>
          <a:off x="475307" y="5450995"/>
          <a:ext cx="1378332" cy="247176"/>
        </p:xfrm>
        <a:graphic>
          <a:graphicData uri="http://schemas.openxmlformats.org/drawingml/2006/table">
            <a:tbl>
              <a:tblPr bandRow="1">
                <a:tableStyleId>{5C22544A-7EE6-4342-B048-85BDC9FD1C3A}</a:tableStyleId>
              </a:tblPr>
              <a:tblGrid>
                <a:gridCol w="344583">
                  <a:extLst>
                    <a:ext uri="{9D8B030D-6E8A-4147-A177-3AD203B41FA5}">
                      <a16:colId xmlns:a16="http://schemas.microsoft.com/office/drawing/2014/main" val="866373483"/>
                    </a:ext>
                  </a:extLst>
                </a:gridCol>
                <a:gridCol w="344583">
                  <a:extLst>
                    <a:ext uri="{9D8B030D-6E8A-4147-A177-3AD203B41FA5}">
                      <a16:colId xmlns:a16="http://schemas.microsoft.com/office/drawing/2014/main" val="2024381536"/>
                    </a:ext>
                  </a:extLst>
                </a:gridCol>
                <a:gridCol w="344583">
                  <a:extLst>
                    <a:ext uri="{9D8B030D-6E8A-4147-A177-3AD203B41FA5}">
                      <a16:colId xmlns:a16="http://schemas.microsoft.com/office/drawing/2014/main" val="158804817"/>
                    </a:ext>
                  </a:extLst>
                </a:gridCol>
                <a:gridCol w="344583">
                  <a:extLst>
                    <a:ext uri="{9D8B030D-6E8A-4147-A177-3AD203B41FA5}">
                      <a16:colId xmlns:a16="http://schemas.microsoft.com/office/drawing/2014/main" val="1655900654"/>
                    </a:ext>
                  </a:extLst>
                </a:gridCol>
              </a:tblGrid>
              <a:tr h="247176">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891770497"/>
                  </a:ext>
                </a:extLst>
              </a:tr>
            </a:tbl>
          </a:graphicData>
        </a:graphic>
      </p:graphicFrame>
      <p:sp>
        <p:nvSpPr>
          <p:cNvPr id="160" name="TextBox 159">
            <a:extLst>
              <a:ext uri="{FF2B5EF4-FFF2-40B4-BE49-F238E27FC236}">
                <a16:creationId xmlns:a16="http://schemas.microsoft.com/office/drawing/2014/main" id="{AA3BED15-7952-464B-87AD-6F376583B5E2}"/>
              </a:ext>
            </a:extLst>
          </p:cNvPr>
          <p:cNvSpPr txBox="1"/>
          <p:nvPr/>
        </p:nvSpPr>
        <p:spPr>
          <a:xfrm>
            <a:off x="151304" y="5450995"/>
            <a:ext cx="340158" cy="246221"/>
          </a:xfrm>
          <a:prstGeom prst="rect">
            <a:avLst/>
          </a:prstGeom>
          <a:noFill/>
        </p:spPr>
        <p:txBody>
          <a:bodyPr wrap="none" rtlCol="0">
            <a:spAutoFit/>
          </a:bodyPr>
          <a:lstStyle/>
          <a:p>
            <a:r>
              <a:rPr lang="en-US" sz="1000"/>
              <a:t>Clk</a:t>
            </a:r>
          </a:p>
        </p:txBody>
      </p:sp>
      <p:graphicFrame>
        <p:nvGraphicFramePr>
          <p:cNvPr id="164" name="Table 110">
            <a:extLst>
              <a:ext uri="{FF2B5EF4-FFF2-40B4-BE49-F238E27FC236}">
                <a16:creationId xmlns:a16="http://schemas.microsoft.com/office/drawing/2014/main" id="{E4085745-FEFD-41A5-BF9C-59B2D4C7CE6A}"/>
              </a:ext>
            </a:extLst>
          </p:cNvPr>
          <p:cNvGraphicFramePr>
            <a:graphicFrameLocks noGrp="1"/>
          </p:cNvGraphicFramePr>
          <p:nvPr>
            <p:extLst>
              <p:ext uri="{D42A27DB-BD31-4B8C-83A1-F6EECF244321}">
                <p14:modId xmlns:p14="http://schemas.microsoft.com/office/powerpoint/2010/main" val="2409663318"/>
              </p:ext>
            </p:extLst>
          </p:nvPr>
        </p:nvGraphicFramePr>
        <p:xfrm>
          <a:off x="491819" y="6472124"/>
          <a:ext cx="1378332" cy="247176"/>
        </p:xfrm>
        <a:graphic>
          <a:graphicData uri="http://schemas.openxmlformats.org/drawingml/2006/table">
            <a:tbl>
              <a:tblPr bandRow="1">
                <a:tableStyleId>{5C22544A-7EE6-4342-B048-85BDC9FD1C3A}</a:tableStyleId>
              </a:tblPr>
              <a:tblGrid>
                <a:gridCol w="344583">
                  <a:extLst>
                    <a:ext uri="{9D8B030D-6E8A-4147-A177-3AD203B41FA5}">
                      <a16:colId xmlns:a16="http://schemas.microsoft.com/office/drawing/2014/main" val="866373483"/>
                    </a:ext>
                  </a:extLst>
                </a:gridCol>
                <a:gridCol w="344583">
                  <a:extLst>
                    <a:ext uri="{9D8B030D-6E8A-4147-A177-3AD203B41FA5}">
                      <a16:colId xmlns:a16="http://schemas.microsoft.com/office/drawing/2014/main" val="2024381536"/>
                    </a:ext>
                  </a:extLst>
                </a:gridCol>
                <a:gridCol w="304971">
                  <a:extLst>
                    <a:ext uri="{9D8B030D-6E8A-4147-A177-3AD203B41FA5}">
                      <a16:colId xmlns:a16="http://schemas.microsoft.com/office/drawing/2014/main" val="158804817"/>
                    </a:ext>
                  </a:extLst>
                </a:gridCol>
                <a:gridCol w="384195">
                  <a:extLst>
                    <a:ext uri="{9D8B030D-6E8A-4147-A177-3AD203B41FA5}">
                      <a16:colId xmlns:a16="http://schemas.microsoft.com/office/drawing/2014/main" val="1655900654"/>
                    </a:ext>
                  </a:extLst>
                </a:gridCol>
              </a:tblGrid>
              <a:tr h="247176">
                <a:tc>
                  <a:txBody>
                    <a:bodyPr/>
                    <a:lstStyle/>
                    <a:p>
                      <a:endParaRPr lang="en-US" sz="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1770497"/>
                  </a:ext>
                </a:extLst>
              </a:tr>
            </a:tbl>
          </a:graphicData>
        </a:graphic>
      </p:graphicFrame>
      <p:pic>
        <p:nvPicPr>
          <p:cNvPr id="7" name="Picture 6">
            <a:hlinkClick r:id="rId3" action="ppaction://hlinksldjump"/>
            <a:extLst>
              <a:ext uri="{FF2B5EF4-FFF2-40B4-BE49-F238E27FC236}">
                <a16:creationId xmlns:a16="http://schemas.microsoft.com/office/drawing/2014/main" id="{CE0A0B2E-B32C-3E12-8443-DEC701D2042F}"/>
              </a:ext>
            </a:extLst>
          </p:cNvPr>
          <p:cNvPicPr>
            <a:picLocks noChangeAspect="1"/>
          </p:cNvPicPr>
          <p:nvPr/>
        </p:nvPicPr>
        <p:blipFill>
          <a:blip r:embed="rId4"/>
          <a:stretch>
            <a:fillRect/>
          </a:stretch>
        </p:blipFill>
        <p:spPr>
          <a:xfrm>
            <a:off x="11038384" y="6427540"/>
            <a:ext cx="1076851" cy="222744"/>
          </a:xfrm>
          <a:prstGeom prst="rect">
            <a:avLst/>
          </a:prstGeom>
        </p:spPr>
      </p:pic>
      <p:sp>
        <p:nvSpPr>
          <p:cNvPr id="10" name="Slide Number Placeholder 4">
            <a:extLst>
              <a:ext uri="{FF2B5EF4-FFF2-40B4-BE49-F238E27FC236}">
                <a16:creationId xmlns:a16="http://schemas.microsoft.com/office/drawing/2014/main" id="{55BC07DB-924C-0058-602E-334FEC8F3C87}"/>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21</a:t>
            </a:fld>
            <a:endParaRPr lang="en-US" b="1">
              <a:solidFill>
                <a:schemeClr val="bg1"/>
              </a:solidFill>
            </a:endParaRPr>
          </a:p>
        </p:txBody>
      </p:sp>
      <p:sp>
        <p:nvSpPr>
          <p:cNvPr id="11" name="Rectangle 10">
            <a:extLst>
              <a:ext uri="{FF2B5EF4-FFF2-40B4-BE49-F238E27FC236}">
                <a16:creationId xmlns:a16="http://schemas.microsoft.com/office/drawing/2014/main" id="{6D4AB38D-A119-2ED2-B5FB-9794F8D7AB25}"/>
              </a:ext>
            </a:extLst>
          </p:cNvPr>
          <p:cNvSpPr/>
          <p:nvPr/>
        </p:nvSpPr>
        <p:spPr>
          <a:xfrm>
            <a:off x="10295434" y="903067"/>
            <a:ext cx="282975" cy="370675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vert="vert" rtlCol="0" anchor="ctr"/>
          <a:lstStyle/>
          <a:p>
            <a:pPr algn="ctr"/>
            <a:r>
              <a:rPr lang="en-US"/>
              <a:t>Address  Bus  +  Read/Write </a:t>
            </a:r>
          </a:p>
        </p:txBody>
      </p:sp>
      <p:grpSp>
        <p:nvGrpSpPr>
          <p:cNvPr id="24" name="Group 23">
            <a:extLst>
              <a:ext uri="{FF2B5EF4-FFF2-40B4-BE49-F238E27FC236}">
                <a16:creationId xmlns:a16="http://schemas.microsoft.com/office/drawing/2014/main" id="{4EF54B28-C3EE-988E-C04A-3F0AC2AB031E}"/>
              </a:ext>
            </a:extLst>
          </p:cNvPr>
          <p:cNvGrpSpPr/>
          <p:nvPr/>
        </p:nvGrpSpPr>
        <p:grpSpPr>
          <a:xfrm>
            <a:off x="6476273" y="2979222"/>
            <a:ext cx="1649961" cy="1759001"/>
            <a:chOff x="6509659" y="1033443"/>
            <a:chExt cx="1649961" cy="1759001"/>
          </a:xfrm>
        </p:grpSpPr>
        <p:pic>
          <p:nvPicPr>
            <p:cNvPr id="25" name="Picture 24">
              <a:extLst>
                <a:ext uri="{FF2B5EF4-FFF2-40B4-BE49-F238E27FC236}">
                  <a16:creationId xmlns:a16="http://schemas.microsoft.com/office/drawing/2014/main" id="{87F276FC-8DFB-7A13-1D04-2C7A2BB35FD2}"/>
                </a:ext>
              </a:extLst>
            </p:cNvPr>
            <p:cNvPicPr>
              <a:picLocks noChangeAspect="1"/>
            </p:cNvPicPr>
            <p:nvPr/>
          </p:nvPicPr>
          <p:blipFill rotWithShape="1">
            <a:blip r:embed="rId5"/>
            <a:srcRect l="24506" t="8997" r="26094" b="1220"/>
            <a:stretch/>
          </p:blipFill>
          <p:spPr>
            <a:xfrm>
              <a:off x="6509659" y="1033443"/>
              <a:ext cx="1649961" cy="1759001"/>
            </a:xfrm>
            <a:prstGeom prst="rect">
              <a:avLst/>
            </a:prstGeom>
          </p:spPr>
        </p:pic>
        <p:sp>
          <p:nvSpPr>
            <p:cNvPr id="26" name="TextBox 25">
              <a:extLst>
                <a:ext uri="{FF2B5EF4-FFF2-40B4-BE49-F238E27FC236}">
                  <a16:creationId xmlns:a16="http://schemas.microsoft.com/office/drawing/2014/main" id="{4E159ABD-CDD3-2F95-0E2C-915873DC533D}"/>
                </a:ext>
              </a:extLst>
            </p:cNvPr>
            <p:cNvSpPr txBox="1"/>
            <p:nvPr/>
          </p:nvSpPr>
          <p:spPr>
            <a:xfrm rot="16200000">
              <a:off x="6837842" y="1619573"/>
              <a:ext cx="1201867" cy="276999"/>
            </a:xfrm>
            <a:prstGeom prst="rect">
              <a:avLst/>
            </a:prstGeom>
            <a:noFill/>
          </p:spPr>
          <p:txBody>
            <a:bodyPr wrap="none" rtlCol="0">
              <a:spAutoFit/>
            </a:bodyPr>
            <a:lstStyle/>
            <a:p>
              <a:r>
                <a:rPr lang="en-US" sz="1200" dirty="0">
                  <a:hlinkClick r:id="rId6" action="ppaction://hlinksldjump"/>
                </a:rPr>
                <a:t>574</a:t>
              </a:r>
              <a:r>
                <a:rPr lang="en-US" sz="1200" dirty="0"/>
                <a:t>: </a:t>
              </a:r>
              <a:r>
                <a:rPr lang="en-US" sz="1200" dirty="0" err="1"/>
                <a:t>Addr</a:t>
              </a:r>
              <a:r>
                <a:rPr lang="en-US" sz="1200" dirty="0"/>
                <a:t> </a:t>
              </a:r>
              <a:r>
                <a:rPr lang="en-US" sz="1200" dirty="0" err="1"/>
                <a:t>Ptr</a:t>
              </a:r>
              <a:r>
                <a:rPr lang="en-US" sz="1200" dirty="0"/>
                <a:t> Lo</a:t>
              </a:r>
            </a:p>
          </p:txBody>
        </p:sp>
      </p:grpSp>
      <p:sp>
        <p:nvSpPr>
          <p:cNvPr id="28" name="Arrow: Right 27">
            <a:extLst>
              <a:ext uri="{FF2B5EF4-FFF2-40B4-BE49-F238E27FC236}">
                <a16:creationId xmlns:a16="http://schemas.microsoft.com/office/drawing/2014/main" id="{F31D0B1D-31E9-48B3-DA38-97D3D273D062}"/>
              </a:ext>
            </a:extLst>
          </p:cNvPr>
          <p:cNvSpPr/>
          <p:nvPr/>
        </p:nvSpPr>
        <p:spPr>
          <a:xfrm>
            <a:off x="8266525" y="3535967"/>
            <a:ext cx="2028908"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a:t>A7..A0</a:t>
            </a:r>
          </a:p>
        </p:txBody>
      </p:sp>
      <p:sp>
        <p:nvSpPr>
          <p:cNvPr id="30" name="Arrow: Right 29">
            <a:extLst>
              <a:ext uri="{FF2B5EF4-FFF2-40B4-BE49-F238E27FC236}">
                <a16:creationId xmlns:a16="http://schemas.microsoft.com/office/drawing/2014/main" id="{D50203F6-29B9-AE77-9320-F781793FE249}"/>
              </a:ext>
            </a:extLst>
          </p:cNvPr>
          <p:cNvSpPr/>
          <p:nvPr/>
        </p:nvSpPr>
        <p:spPr>
          <a:xfrm>
            <a:off x="8262141" y="1457762"/>
            <a:ext cx="2028908"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a:t>A15..A8</a:t>
            </a:r>
          </a:p>
        </p:txBody>
      </p:sp>
      <p:grpSp>
        <p:nvGrpSpPr>
          <p:cNvPr id="23" name="Group 22">
            <a:extLst>
              <a:ext uri="{FF2B5EF4-FFF2-40B4-BE49-F238E27FC236}">
                <a16:creationId xmlns:a16="http://schemas.microsoft.com/office/drawing/2014/main" id="{C993480E-6A53-B5CA-ECEA-D36A32D1D69C}"/>
              </a:ext>
            </a:extLst>
          </p:cNvPr>
          <p:cNvGrpSpPr/>
          <p:nvPr/>
        </p:nvGrpSpPr>
        <p:grpSpPr>
          <a:xfrm>
            <a:off x="6509661" y="1033444"/>
            <a:ext cx="1649961" cy="1759002"/>
            <a:chOff x="6509659" y="1033443"/>
            <a:chExt cx="1649961" cy="1759001"/>
          </a:xfrm>
        </p:grpSpPr>
        <p:pic>
          <p:nvPicPr>
            <p:cNvPr id="21" name="Picture 20">
              <a:extLst>
                <a:ext uri="{FF2B5EF4-FFF2-40B4-BE49-F238E27FC236}">
                  <a16:creationId xmlns:a16="http://schemas.microsoft.com/office/drawing/2014/main" id="{A014713B-EA4F-6856-5E8A-03C16E585ADE}"/>
                </a:ext>
              </a:extLst>
            </p:cNvPr>
            <p:cNvPicPr>
              <a:picLocks noChangeAspect="1"/>
            </p:cNvPicPr>
            <p:nvPr/>
          </p:nvPicPr>
          <p:blipFill rotWithShape="1">
            <a:blip r:embed="rId5"/>
            <a:srcRect l="24506" t="8997" r="26094" b="1220"/>
            <a:stretch/>
          </p:blipFill>
          <p:spPr>
            <a:xfrm>
              <a:off x="6509659" y="1033443"/>
              <a:ext cx="1649961" cy="1759001"/>
            </a:xfrm>
            <a:prstGeom prst="rect">
              <a:avLst/>
            </a:prstGeom>
          </p:spPr>
        </p:pic>
        <p:sp>
          <p:nvSpPr>
            <p:cNvPr id="22" name="TextBox 21">
              <a:extLst>
                <a:ext uri="{FF2B5EF4-FFF2-40B4-BE49-F238E27FC236}">
                  <a16:creationId xmlns:a16="http://schemas.microsoft.com/office/drawing/2014/main" id="{FF6FACC6-7CBD-6FF3-2BE6-DAF2F59CD9B4}"/>
                </a:ext>
              </a:extLst>
            </p:cNvPr>
            <p:cNvSpPr txBox="1"/>
            <p:nvPr/>
          </p:nvSpPr>
          <p:spPr>
            <a:xfrm rot="16200000">
              <a:off x="6845055" y="1619573"/>
              <a:ext cx="1187440" cy="276999"/>
            </a:xfrm>
            <a:prstGeom prst="rect">
              <a:avLst/>
            </a:prstGeom>
            <a:noFill/>
          </p:spPr>
          <p:txBody>
            <a:bodyPr wrap="none" rtlCol="0">
              <a:spAutoFit/>
            </a:bodyPr>
            <a:lstStyle/>
            <a:p>
              <a:r>
                <a:rPr lang="en-US" sz="1200" dirty="0">
                  <a:hlinkClick r:id="rId6" action="ppaction://hlinksldjump"/>
                </a:rPr>
                <a:t>574</a:t>
              </a:r>
              <a:r>
                <a:rPr lang="en-US" sz="1200" dirty="0"/>
                <a:t>: </a:t>
              </a:r>
              <a:r>
                <a:rPr lang="en-US" sz="1200" dirty="0" err="1"/>
                <a:t>Addr</a:t>
              </a:r>
              <a:r>
                <a:rPr lang="en-US" sz="1200" dirty="0"/>
                <a:t> </a:t>
              </a:r>
              <a:r>
                <a:rPr lang="en-US" sz="1200" dirty="0" err="1"/>
                <a:t>Ptr</a:t>
              </a:r>
              <a:r>
                <a:rPr lang="en-US" sz="1200" dirty="0"/>
                <a:t> Hi</a:t>
              </a:r>
            </a:p>
          </p:txBody>
        </p:sp>
      </p:grpSp>
      <p:sp>
        <p:nvSpPr>
          <p:cNvPr id="85" name="TextBox 84">
            <a:hlinkClick r:id="rId7" action="ppaction://hlinksldjump"/>
            <a:extLst>
              <a:ext uri="{FF2B5EF4-FFF2-40B4-BE49-F238E27FC236}">
                <a16:creationId xmlns:a16="http://schemas.microsoft.com/office/drawing/2014/main" id="{509B1A5B-02BA-4B08-F0CD-6575EB9CF6BC}"/>
              </a:ext>
            </a:extLst>
          </p:cNvPr>
          <p:cNvSpPr txBox="1"/>
          <p:nvPr/>
        </p:nvSpPr>
        <p:spPr>
          <a:xfrm>
            <a:off x="727367" y="4580408"/>
            <a:ext cx="1175515" cy="184666"/>
          </a:xfrm>
          <a:prstGeom prst="rect">
            <a:avLst/>
          </a:prstGeom>
          <a:solidFill>
            <a:schemeClr val="bg1"/>
          </a:solidFill>
          <a:ln>
            <a:solidFill>
              <a:schemeClr val="accent1"/>
            </a:solidFill>
          </a:ln>
        </p:spPr>
        <p:txBody>
          <a:bodyPr wrap="none" tIns="0" bIns="0" rtlCol="0">
            <a:spAutoFit/>
          </a:bodyPr>
          <a:lstStyle/>
          <a:p>
            <a:r>
              <a:rPr lang="en-US" sz="1200"/>
              <a:t>Data Pointer OE</a:t>
            </a:r>
          </a:p>
        </p:txBody>
      </p:sp>
      <p:cxnSp>
        <p:nvCxnSpPr>
          <p:cNvPr id="86" name="Connector: Elbow 85">
            <a:extLst>
              <a:ext uri="{FF2B5EF4-FFF2-40B4-BE49-F238E27FC236}">
                <a16:creationId xmlns:a16="http://schemas.microsoft.com/office/drawing/2014/main" id="{78BDEFD8-3EF6-5B1A-2E4B-728240D2DEAD}"/>
              </a:ext>
            </a:extLst>
          </p:cNvPr>
          <p:cNvCxnSpPr>
            <a:cxnSpLocks/>
            <a:stCxn id="85" idx="3"/>
          </p:cNvCxnSpPr>
          <p:nvPr/>
        </p:nvCxnSpPr>
        <p:spPr>
          <a:xfrm>
            <a:off x="1902882" y="4672741"/>
            <a:ext cx="4606777" cy="1111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E8697800-467F-87C4-D19E-327F71668730}"/>
              </a:ext>
            </a:extLst>
          </p:cNvPr>
          <p:cNvCxnSpPr>
            <a:cxnSpLocks/>
            <a:stCxn id="85" idx="3"/>
          </p:cNvCxnSpPr>
          <p:nvPr/>
        </p:nvCxnSpPr>
        <p:spPr>
          <a:xfrm flipV="1">
            <a:off x="1902882" y="2717074"/>
            <a:ext cx="4573389" cy="1955667"/>
          </a:xfrm>
          <a:prstGeom prst="bentConnector3">
            <a:avLst>
              <a:gd name="adj1" fmla="val 11591"/>
            </a:avLst>
          </a:prstGeom>
        </p:spPr>
        <p:style>
          <a:lnRef idx="1">
            <a:schemeClr val="accent1"/>
          </a:lnRef>
          <a:fillRef idx="0">
            <a:schemeClr val="accent1"/>
          </a:fillRef>
          <a:effectRef idx="0">
            <a:schemeClr val="accent1"/>
          </a:effectRef>
          <a:fontRef idx="minor">
            <a:schemeClr val="tx1"/>
          </a:fontRef>
        </p:style>
      </p:cxnSp>
      <p:sp>
        <p:nvSpPr>
          <p:cNvPr id="97" name="Rectangle 96">
            <a:extLst>
              <a:ext uri="{FF2B5EF4-FFF2-40B4-BE49-F238E27FC236}">
                <a16:creationId xmlns:a16="http://schemas.microsoft.com/office/drawing/2014/main" id="{EF9D8074-0514-B9FA-29B8-113116CB807D}"/>
              </a:ext>
            </a:extLst>
          </p:cNvPr>
          <p:cNvSpPr/>
          <p:nvPr/>
        </p:nvSpPr>
        <p:spPr>
          <a:xfrm>
            <a:off x="5738618" y="1232132"/>
            <a:ext cx="282975" cy="2557013"/>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t>Data </a:t>
            </a:r>
          </a:p>
          <a:p>
            <a:pPr algn="ctr"/>
            <a:endParaRPr lang="en-US"/>
          </a:p>
          <a:p>
            <a:pPr algn="ctr"/>
            <a:r>
              <a:rPr lang="en-US"/>
              <a:t>  Bus </a:t>
            </a:r>
          </a:p>
        </p:txBody>
      </p:sp>
      <p:sp>
        <p:nvSpPr>
          <p:cNvPr id="100" name="Rectangle 99">
            <a:extLst>
              <a:ext uri="{FF2B5EF4-FFF2-40B4-BE49-F238E27FC236}">
                <a16:creationId xmlns:a16="http://schemas.microsoft.com/office/drawing/2014/main" id="{D307072F-EAFD-4824-29C2-74F27888DEA6}"/>
              </a:ext>
            </a:extLst>
          </p:cNvPr>
          <p:cNvSpPr/>
          <p:nvPr/>
        </p:nvSpPr>
        <p:spPr>
          <a:xfrm>
            <a:off x="6418027" y="3552171"/>
            <a:ext cx="149879" cy="2462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F90F8FC1-BBEE-9596-16A6-509020D57983}"/>
              </a:ext>
            </a:extLst>
          </p:cNvPr>
          <p:cNvSpPr/>
          <p:nvPr/>
        </p:nvSpPr>
        <p:spPr>
          <a:xfrm>
            <a:off x="6409854" y="1570746"/>
            <a:ext cx="149879" cy="2462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Arrow: Right 97">
            <a:extLst>
              <a:ext uri="{FF2B5EF4-FFF2-40B4-BE49-F238E27FC236}">
                <a16:creationId xmlns:a16="http://schemas.microsoft.com/office/drawing/2014/main" id="{FDEB2C20-7AD5-98B7-652A-4F1A1C9C03CD}"/>
              </a:ext>
            </a:extLst>
          </p:cNvPr>
          <p:cNvSpPr/>
          <p:nvPr/>
        </p:nvSpPr>
        <p:spPr>
          <a:xfrm>
            <a:off x="5965992" y="3491558"/>
            <a:ext cx="693547" cy="369332"/>
          </a:xfrm>
          <a:prstGeom prst="rightArrow">
            <a:avLst/>
          </a:prstGeom>
          <a:solidFill>
            <a:schemeClr val="accent6">
              <a:lumMod val="60000"/>
              <a:lumOff val="4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a:solidFill>
                  <a:schemeClr val="tx1"/>
                </a:solidFill>
              </a:rPr>
              <a:t>A7..A0</a:t>
            </a:r>
          </a:p>
        </p:txBody>
      </p:sp>
      <p:sp>
        <p:nvSpPr>
          <p:cNvPr id="99" name="Arrow: Right 98">
            <a:extLst>
              <a:ext uri="{FF2B5EF4-FFF2-40B4-BE49-F238E27FC236}">
                <a16:creationId xmlns:a16="http://schemas.microsoft.com/office/drawing/2014/main" id="{E9089D09-3319-67C0-E1D9-CECA3F4F15BA}"/>
              </a:ext>
            </a:extLst>
          </p:cNvPr>
          <p:cNvSpPr/>
          <p:nvPr/>
        </p:nvSpPr>
        <p:spPr>
          <a:xfrm>
            <a:off x="6024385" y="1545699"/>
            <a:ext cx="693547" cy="369332"/>
          </a:xfrm>
          <a:prstGeom prst="rightArrow">
            <a:avLst/>
          </a:prstGeom>
          <a:solidFill>
            <a:schemeClr val="accent6">
              <a:lumMod val="60000"/>
              <a:lumOff val="40000"/>
              <a:alpha val="50000"/>
            </a:schemeClr>
          </a:solidFill>
          <a:ln>
            <a:noFill/>
          </a:ln>
        </p:spPr>
        <p:style>
          <a:lnRef idx="0">
            <a:scrgbClr r="0" g="0" b="0"/>
          </a:lnRef>
          <a:fillRef idx="0">
            <a:scrgbClr r="0" g="0" b="0"/>
          </a:fillRef>
          <a:effectRef idx="0">
            <a:scrgbClr r="0" g="0" b="0"/>
          </a:effectRef>
          <a:fontRef idx="minor">
            <a:schemeClr val="lt1"/>
          </a:fontRef>
        </p:style>
        <p:txBody>
          <a:bodyPr wrap="none" rtlCol="0" anchor="ctr"/>
          <a:lstStyle/>
          <a:p>
            <a:pPr algn="ctr"/>
            <a:r>
              <a:rPr lang="en-US" sz="1200">
                <a:solidFill>
                  <a:schemeClr val="tx1"/>
                </a:solidFill>
              </a:rPr>
              <a:t>A15..A8</a:t>
            </a:r>
          </a:p>
        </p:txBody>
      </p:sp>
      <p:cxnSp>
        <p:nvCxnSpPr>
          <p:cNvPr id="58" name="Connector: Elbow 57">
            <a:extLst>
              <a:ext uri="{FF2B5EF4-FFF2-40B4-BE49-F238E27FC236}">
                <a16:creationId xmlns:a16="http://schemas.microsoft.com/office/drawing/2014/main" id="{00ABEEC7-C22B-9220-4C52-D9924CD99B25}"/>
              </a:ext>
            </a:extLst>
          </p:cNvPr>
          <p:cNvCxnSpPr>
            <a:cxnSpLocks/>
            <a:stCxn id="12" idx="3"/>
          </p:cNvCxnSpPr>
          <p:nvPr/>
        </p:nvCxnSpPr>
        <p:spPr>
          <a:xfrm>
            <a:off x="5544035" y="2481351"/>
            <a:ext cx="932236" cy="1270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6" name="TextBox 5">
            <a:hlinkClick r:id="rId8" action="ppaction://hlinksldjump"/>
            <a:extLst>
              <a:ext uri="{FF2B5EF4-FFF2-40B4-BE49-F238E27FC236}">
                <a16:creationId xmlns:a16="http://schemas.microsoft.com/office/drawing/2014/main" id="{BB8470FB-3FCF-1916-ED00-A6A6F913A731}"/>
              </a:ext>
            </a:extLst>
          </p:cNvPr>
          <p:cNvSpPr txBox="1"/>
          <p:nvPr/>
        </p:nvSpPr>
        <p:spPr>
          <a:xfrm>
            <a:off x="4730190" y="4343243"/>
            <a:ext cx="800219" cy="161583"/>
          </a:xfrm>
          <a:prstGeom prst="rect">
            <a:avLst/>
          </a:prstGeom>
          <a:noFill/>
          <a:ln>
            <a:solidFill>
              <a:schemeClr val="accent1"/>
            </a:solidFill>
          </a:ln>
        </p:spPr>
        <p:txBody>
          <a:bodyPr wrap="none" tIns="0" bIns="0" rtlCol="0">
            <a:spAutoFit/>
          </a:bodyPr>
          <a:lstStyle/>
          <a:p>
            <a:r>
              <a:rPr lang="en-US" sz="1050" dirty="0"/>
              <a:t>DP[L] </a:t>
            </a:r>
            <a:r>
              <a:rPr lang="en-US" sz="1050" dirty="0" err="1"/>
              <a:t>Ld</a:t>
            </a:r>
            <a:r>
              <a:rPr lang="en-US" sz="1050" dirty="0"/>
              <a:t> En</a:t>
            </a:r>
          </a:p>
        </p:txBody>
      </p:sp>
      <p:sp>
        <p:nvSpPr>
          <p:cNvPr id="12" name="TextBox 11">
            <a:hlinkClick r:id="rId8" action="ppaction://hlinksldjump"/>
            <a:extLst>
              <a:ext uri="{FF2B5EF4-FFF2-40B4-BE49-F238E27FC236}">
                <a16:creationId xmlns:a16="http://schemas.microsoft.com/office/drawing/2014/main" id="{C3ABDDFD-2C95-B576-E4EA-D6FE7AF43F60}"/>
              </a:ext>
            </a:extLst>
          </p:cNvPr>
          <p:cNvSpPr txBox="1"/>
          <p:nvPr/>
        </p:nvSpPr>
        <p:spPr>
          <a:xfrm>
            <a:off x="4716564" y="2400559"/>
            <a:ext cx="827471" cy="161583"/>
          </a:xfrm>
          <a:prstGeom prst="rect">
            <a:avLst/>
          </a:prstGeom>
          <a:noFill/>
          <a:ln>
            <a:solidFill>
              <a:schemeClr val="accent1"/>
            </a:solidFill>
          </a:ln>
        </p:spPr>
        <p:txBody>
          <a:bodyPr wrap="none" tIns="0" bIns="0" rtlCol="0">
            <a:spAutoFit/>
          </a:bodyPr>
          <a:lstStyle/>
          <a:p>
            <a:r>
              <a:rPr lang="en-US" sz="1050" dirty="0"/>
              <a:t>DP[H] </a:t>
            </a:r>
            <a:r>
              <a:rPr lang="en-US" sz="1050" dirty="0" err="1"/>
              <a:t>Ld</a:t>
            </a:r>
            <a:r>
              <a:rPr lang="en-US" sz="1050" dirty="0"/>
              <a:t> En</a:t>
            </a:r>
          </a:p>
        </p:txBody>
      </p:sp>
      <p:sp>
        <p:nvSpPr>
          <p:cNvPr id="8" name="TextBox 7">
            <a:extLst>
              <a:ext uri="{FF2B5EF4-FFF2-40B4-BE49-F238E27FC236}">
                <a16:creationId xmlns:a16="http://schemas.microsoft.com/office/drawing/2014/main" id="{46305155-B1EE-94D5-1F13-DF7690F2EC6B}"/>
              </a:ext>
            </a:extLst>
          </p:cNvPr>
          <p:cNvSpPr txBox="1"/>
          <p:nvPr/>
        </p:nvSpPr>
        <p:spPr>
          <a:xfrm>
            <a:off x="1994838" y="6538912"/>
            <a:ext cx="3488455" cy="261610"/>
          </a:xfrm>
          <a:prstGeom prst="rect">
            <a:avLst/>
          </a:prstGeom>
          <a:noFill/>
        </p:spPr>
        <p:txBody>
          <a:bodyPr wrap="none" rtlCol="0">
            <a:spAutoFit/>
          </a:bodyPr>
          <a:lstStyle/>
          <a:p>
            <a:r>
              <a:rPr lang="en-US" sz="1100" dirty="0"/>
              <a:t>Data is sampled in the middle of the clock (negative edge)</a:t>
            </a:r>
          </a:p>
        </p:txBody>
      </p:sp>
    </p:spTree>
    <p:extLst>
      <p:ext uri="{BB962C8B-B14F-4D97-AF65-F5344CB8AC3E}">
        <p14:creationId xmlns:p14="http://schemas.microsoft.com/office/powerpoint/2010/main" val="2618883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1DABE-F0D7-24DD-9444-4D0F73356F96}"/>
            </a:ext>
          </a:extLst>
        </p:cNvPr>
        <p:cNvGrpSpPr/>
        <p:nvPr/>
      </p:nvGrpSpPr>
      <p:grpSpPr>
        <a:xfrm>
          <a:off x="0" y="0"/>
          <a:ext cx="0" cy="0"/>
          <a:chOff x="0" y="0"/>
          <a:chExt cx="0" cy="0"/>
        </a:xfrm>
      </p:grpSpPr>
      <p:sp>
        <p:nvSpPr>
          <p:cNvPr id="90" name="Rectangle 89">
            <a:extLst>
              <a:ext uri="{FF2B5EF4-FFF2-40B4-BE49-F238E27FC236}">
                <a16:creationId xmlns:a16="http://schemas.microsoft.com/office/drawing/2014/main" id="{D65A295B-3BCF-DB94-E6B0-462E8FE9056B}"/>
              </a:ext>
            </a:extLst>
          </p:cNvPr>
          <p:cNvSpPr/>
          <p:nvPr/>
        </p:nvSpPr>
        <p:spPr>
          <a:xfrm>
            <a:off x="6612853" y="4330551"/>
            <a:ext cx="263979" cy="1926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7C480221-F442-7874-9A13-1C6B184CEA21}"/>
              </a:ext>
            </a:extLst>
          </p:cNvPr>
          <p:cNvSpPr>
            <a:spLocks noGrp="1"/>
          </p:cNvSpPr>
          <p:nvPr>
            <p:ph type="ctrTitle"/>
          </p:nvPr>
        </p:nvSpPr>
        <p:spPr/>
        <p:txBody>
          <a:bodyPr/>
          <a:lstStyle/>
          <a:p>
            <a:r>
              <a:rPr lang="en-US" dirty="0"/>
              <a:t>Base Pointer (v2.0)</a:t>
            </a:r>
          </a:p>
        </p:txBody>
      </p:sp>
      <p:cxnSp>
        <p:nvCxnSpPr>
          <p:cNvPr id="89" name="Connector: Elbow 88">
            <a:extLst>
              <a:ext uri="{FF2B5EF4-FFF2-40B4-BE49-F238E27FC236}">
                <a16:creationId xmlns:a16="http://schemas.microsoft.com/office/drawing/2014/main" id="{43A48B27-D79F-0048-4DF1-CE81E0FDCEF9}"/>
              </a:ext>
            </a:extLst>
          </p:cNvPr>
          <p:cNvCxnSpPr>
            <a:cxnSpLocks/>
            <a:stCxn id="6" idx="3"/>
            <a:endCxn id="90" idx="1"/>
          </p:cNvCxnSpPr>
          <p:nvPr/>
        </p:nvCxnSpPr>
        <p:spPr>
          <a:xfrm>
            <a:off x="5520791" y="4424035"/>
            <a:ext cx="1092062" cy="2834"/>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147" name="Oval 146">
            <a:extLst>
              <a:ext uri="{FF2B5EF4-FFF2-40B4-BE49-F238E27FC236}">
                <a16:creationId xmlns:a16="http://schemas.microsoft.com/office/drawing/2014/main" id="{3458D87A-3B4E-97DE-BC42-45DC8F5DA371}"/>
              </a:ext>
            </a:extLst>
          </p:cNvPr>
          <p:cNvSpPr/>
          <p:nvPr/>
        </p:nvSpPr>
        <p:spPr>
          <a:xfrm>
            <a:off x="1139745" y="6403192"/>
            <a:ext cx="80156" cy="425017"/>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graphicFrame>
        <p:nvGraphicFramePr>
          <p:cNvPr id="150" name="Table 110">
            <a:extLst>
              <a:ext uri="{FF2B5EF4-FFF2-40B4-BE49-F238E27FC236}">
                <a16:creationId xmlns:a16="http://schemas.microsoft.com/office/drawing/2014/main" id="{E1D87693-C944-A3CC-EEF6-DDE3992FE7B4}"/>
              </a:ext>
            </a:extLst>
          </p:cNvPr>
          <p:cNvGraphicFramePr>
            <a:graphicFrameLocks noGrp="1"/>
          </p:cNvGraphicFramePr>
          <p:nvPr/>
        </p:nvGraphicFramePr>
        <p:xfrm>
          <a:off x="479923" y="5843545"/>
          <a:ext cx="1378332" cy="247176"/>
        </p:xfrm>
        <a:graphic>
          <a:graphicData uri="http://schemas.openxmlformats.org/drawingml/2006/table">
            <a:tbl>
              <a:tblPr bandRow="1">
                <a:tableStyleId>{5C22544A-7EE6-4342-B048-85BDC9FD1C3A}</a:tableStyleId>
              </a:tblPr>
              <a:tblGrid>
                <a:gridCol w="344583">
                  <a:extLst>
                    <a:ext uri="{9D8B030D-6E8A-4147-A177-3AD203B41FA5}">
                      <a16:colId xmlns:a16="http://schemas.microsoft.com/office/drawing/2014/main" val="866373483"/>
                    </a:ext>
                  </a:extLst>
                </a:gridCol>
                <a:gridCol w="344583">
                  <a:extLst>
                    <a:ext uri="{9D8B030D-6E8A-4147-A177-3AD203B41FA5}">
                      <a16:colId xmlns:a16="http://schemas.microsoft.com/office/drawing/2014/main" val="2024381536"/>
                    </a:ext>
                  </a:extLst>
                </a:gridCol>
                <a:gridCol w="344583">
                  <a:extLst>
                    <a:ext uri="{9D8B030D-6E8A-4147-A177-3AD203B41FA5}">
                      <a16:colId xmlns:a16="http://schemas.microsoft.com/office/drawing/2014/main" val="158804817"/>
                    </a:ext>
                  </a:extLst>
                </a:gridCol>
                <a:gridCol w="344583">
                  <a:extLst>
                    <a:ext uri="{9D8B030D-6E8A-4147-A177-3AD203B41FA5}">
                      <a16:colId xmlns:a16="http://schemas.microsoft.com/office/drawing/2014/main" val="1655900654"/>
                    </a:ext>
                  </a:extLst>
                </a:gridCol>
              </a:tblGrid>
              <a:tr h="247176">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91770497"/>
                  </a:ext>
                </a:extLst>
              </a:tr>
            </a:tbl>
          </a:graphicData>
        </a:graphic>
      </p:graphicFrame>
      <p:graphicFrame>
        <p:nvGraphicFramePr>
          <p:cNvPr id="151" name="Table 110">
            <a:extLst>
              <a:ext uri="{FF2B5EF4-FFF2-40B4-BE49-F238E27FC236}">
                <a16:creationId xmlns:a16="http://schemas.microsoft.com/office/drawing/2014/main" id="{31A3B6E7-1B13-64BE-4D8B-8B8739E4FE56}"/>
              </a:ext>
            </a:extLst>
          </p:cNvPr>
          <p:cNvGraphicFramePr>
            <a:graphicFrameLocks noGrp="1"/>
          </p:cNvGraphicFramePr>
          <p:nvPr/>
        </p:nvGraphicFramePr>
        <p:xfrm>
          <a:off x="616506" y="6162703"/>
          <a:ext cx="1378332" cy="247176"/>
        </p:xfrm>
        <a:graphic>
          <a:graphicData uri="http://schemas.openxmlformats.org/drawingml/2006/table">
            <a:tbl>
              <a:tblPr bandRow="1">
                <a:tableStyleId>{5C22544A-7EE6-4342-B048-85BDC9FD1C3A}</a:tableStyleId>
              </a:tblPr>
              <a:tblGrid>
                <a:gridCol w="344583">
                  <a:extLst>
                    <a:ext uri="{9D8B030D-6E8A-4147-A177-3AD203B41FA5}">
                      <a16:colId xmlns:a16="http://schemas.microsoft.com/office/drawing/2014/main" val="866373483"/>
                    </a:ext>
                  </a:extLst>
                </a:gridCol>
                <a:gridCol w="344583">
                  <a:extLst>
                    <a:ext uri="{9D8B030D-6E8A-4147-A177-3AD203B41FA5}">
                      <a16:colId xmlns:a16="http://schemas.microsoft.com/office/drawing/2014/main" val="2024381536"/>
                    </a:ext>
                  </a:extLst>
                </a:gridCol>
                <a:gridCol w="344583">
                  <a:extLst>
                    <a:ext uri="{9D8B030D-6E8A-4147-A177-3AD203B41FA5}">
                      <a16:colId xmlns:a16="http://schemas.microsoft.com/office/drawing/2014/main" val="158804817"/>
                    </a:ext>
                  </a:extLst>
                </a:gridCol>
                <a:gridCol w="344583">
                  <a:extLst>
                    <a:ext uri="{9D8B030D-6E8A-4147-A177-3AD203B41FA5}">
                      <a16:colId xmlns:a16="http://schemas.microsoft.com/office/drawing/2014/main" val="1655900654"/>
                    </a:ext>
                  </a:extLst>
                </a:gridCol>
              </a:tblGrid>
              <a:tr h="247176">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1770497"/>
                  </a:ext>
                </a:extLst>
              </a:tr>
            </a:tbl>
          </a:graphicData>
        </a:graphic>
      </p:graphicFrame>
      <p:sp>
        <p:nvSpPr>
          <p:cNvPr id="152" name="TextBox 151">
            <a:extLst>
              <a:ext uri="{FF2B5EF4-FFF2-40B4-BE49-F238E27FC236}">
                <a16:creationId xmlns:a16="http://schemas.microsoft.com/office/drawing/2014/main" id="{C1595E64-A382-841E-FD96-89A5DC414CB9}"/>
              </a:ext>
            </a:extLst>
          </p:cNvPr>
          <p:cNvSpPr txBox="1"/>
          <p:nvPr/>
        </p:nvSpPr>
        <p:spPr>
          <a:xfrm>
            <a:off x="155919" y="5825074"/>
            <a:ext cx="381836" cy="246221"/>
          </a:xfrm>
          <a:prstGeom prst="rect">
            <a:avLst/>
          </a:prstGeom>
          <a:noFill/>
        </p:spPr>
        <p:txBody>
          <a:bodyPr wrap="none" rtlCol="0">
            <a:spAutoFit/>
          </a:bodyPr>
          <a:lstStyle/>
          <a:p>
            <a:r>
              <a:rPr lang="en-US" sz="1000"/>
              <a:t>!Clk</a:t>
            </a:r>
          </a:p>
        </p:txBody>
      </p:sp>
      <p:sp>
        <p:nvSpPr>
          <p:cNvPr id="153" name="TextBox 152">
            <a:extLst>
              <a:ext uri="{FF2B5EF4-FFF2-40B4-BE49-F238E27FC236}">
                <a16:creationId xmlns:a16="http://schemas.microsoft.com/office/drawing/2014/main" id="{C6AD07EE-C321-55AB-A8B3-774A91751263}"/>
              </a:ext>
            </a:extLst>
          </p:cNvPr>
          <p:cNvSpPr txBox="1"/>
          <p:nvPr/>
        </p:nvSpPr>
        <p:spPr>
          <a:xfrm>
            <a:off x="-1098" y="6126708"/>
            <a:ext cx="572593" cy="246221"/>
          </a:xfrm>
          <a:prstGeom prst="rect">
            <a:avLst/>
          </a:prstGeom>
          <a:noFill/>
        </p:spPr>
        <p:txBody>
          <a:bodyPr wrap="none" rtlCol="0">
            <a:spAutoFit/>
          </a:bodyPr>
          <a:lstStyle/>
          <a:p>
            <a:r>
              <a:rPr lang="en-US" sz="1000"/>
              <a:t>Control</a:t>
            </a:r>
          </a:p>
        </p:txBody>
      </p:sp>
      <p:sp>
        <p:nvSpPr>
          <p:cNvPr id="156" name="TextBox 155">
            <a:extLst>
              <a:ext uri="{FF2B5EF4-FFF2-40B4-BE49-F238E27FC236}">
                <a16:creationId xmlns:a16="http://schemas.microsoft.com/office/drawing/2014/main" id="{5149F5E7-247C-E87B-FEDA-76F214FA4ECC}"/>
              </a:ext>
            </a:extLst>
          </p:cNvPr>
          <p:cNvSpPr txBox="1"/>
          <p:nvPr/>
        </p:nvSpPr>
        <p:spPr>
          <a:xfrm>
            <a:off x="215959" y="6491546"/>
            <a:ext cx="420308" cy="246221"/>
          </a:xfrm>
          <a:prstGeom prst="rect">
            <a:avLst/>
          </a:prstGeom>
          <a:noFill/>
        </p:spPr>
        <p:txBody>
          <a:bodyPr wrap="none" rtlCol="0">
            <a:spAutoFit/>
          </a:bodyPr>
          <a:lstStyle/>
          <a:p>
            <a:r>
              <a:rPr lang="en-US" sz="1000"/>
              <a:t>AND</a:t>
            </a:r>
          </a:p>
        </p:txBody>
      </p:sp>
      <p:graphicFrame>
        <p:nvGraphicFramePr>
          <p:cNvPr id="158" name="Table 110">
            <a:extLst>
              <a:ext uri="{FF2B5EF4-FFF2-40B4-BE49-F238E27FC236}">
                <a16:creationId xmlns:a16="http://schemas.microsoft.com/office/drawing/2014/main" id="{8B74C607-3DDD-883B-7E54-40AEB87142E7}"/>
              </a:ext>
            </a:extLst>
          </p:cNvPr>
          <p:cNvGraphicFramePr>
            <a:graphicFrameLocks noGrp="1"/>
          </p:cNvGraphicFramePr>
          <p:nvPr/>
        </p:nvGraphicFramePr>
        <p:xfrm>
          <a:off x="475307" y="5450995"/>
          <a:ext cx="1378332" cy="247176"/>
        </p:xfrm>
        <a:graphic>
          <a:graphicData uri="http://schemas.openxmlformats.org/drawingml/2006/table">
            <a:tbl>
              <a:tblPr bandRow="1">
                <a:tableStyleId>{5C22544A-7EE6-4342-B048-85BDC9FD1C3A}</a:tableStyleId>
              </a:tblPr>
              <a:tblGrid>
                <a:gridCol w="344583">
                  <a:extLst>
                    <a:ext uri="{9D8B030D-6E8A-4147-A177-3AD203B41FA5}">
                      <a16:colId xmlns:a16="http://schemas.microsoft.com/office/drawing/2014/main" val="866373483"/>
                    </a:ext>
                  </a:extLst>
                </a:gridCol>
                <a:gridCol w="344583">
                  <a:extLst>
                    <a:ext uri="{9D8B030D-6E8A-4147-A177-3AD203B41FA5}">
                      <a16:colId xmlns:a16="http://schemas.microsoft.com/office/drawing/2014/main" val="2024381536"/>
                    </a:ext>
                  </a:extLst>
                </a:gridCol>
                <a:gridCol w="344583">
                  <a:extLst>
                    <a:ext uri="{9D8B030D-6E8A-4147-A177-3AD203B41FA5}">
                      <a16:colId xmlns:a16="http://schemas.microsoft.com/office/drawing/2014/main" val="158804817"/>
                    </a:ext>
                  </a:extLst>
                </a:gridCol>
                <a:gridCol w="344583">
                  <a:extLst>
                    <a:ext uri="{9D8B030D-6E8A-4147-A177-3AD203B41FA5}">
                      <a16:colId xmlns:a16="http://schemas.microsoft.com/office/drawing/2014/main" val="1655900654"/>
                    </a:ext>
                  </a:extLst>
                </a:gridCol>
              </a:tblGrid>
              <a:tr h="247176">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891770497"/>
                  </a:ext>
                </a:extLst>
              </a:tr>
            </a:tbl>
          </a:graphicData>
        </a:graphic>
      </p:graphicFrame>
      <p:sp>
        <p:nvSpPr>
          <p:cNvPr id="160" name="TextBox 159">
            <a:extLst>
              <a:ext uri="{FF2B5EF4-FFF2-40B4-BE49-F238E27FC236}">
                <a16:creationId xmlns:a16="http://schemas.microsoft.com/office/drawing/2014/main" id="{01006992-02D5-321C-FE59-3E84296DA14A}"/>
              </a:ext>
            </a:extLst>
          </p:cNvPr>
          <p:cNvSpPr txBox="1"/>
          <p:nvPr/>
        </p:nvSpPr>
        <p:spPr>
          <a:xfrm>
            <a:off x="151304" y="5450995"/>
            <a:ext cx="340158" cy="246221"/>
          </a:xfrm>
          <a:prstGeom prst="rect">
            <a:avLst/>
          </a:prstGeom>
          <a:noFill/>
        </p:spPr>
        <p:txBody>
          <a:bodyPr wrap="none" rtlCol="0">
            <a:spAutoFit/>
          </a:bodyPr>
          <a:lstStyle/>
          <a:p>
            <a:r>
              <a:rPr lang="en-US" sz="1000"/>
              <a:t>Clk</a:t>
            </a:r>
          </a:p>
        </p:txBody>
      </p:sp>
      <p:graphicFrame>
        <p:nvGraphicFramePr>
          <p:cNvPr id="164" name="Table 110">
            <a:extLst>
              <a:ext uri="{FF2B5EF4-FFF2-40B4-BE49-F238E27FC236}">
                <a16:creationId xmlns:a16="http://schemas.microsoft.com/office/drawing/2014/main" id="{71155126-120A-DFFE-5810-C1C867664986}"/>
              </a:ext>
            </a:extLst>
          </p:cNvPr>
          <p:cNvGraphicFramePr>
            <a:graphicFrameLocks noGrp="1"/>
          </p:cNvGraphicFramePr>
          <p:nvPr/>
        </p:nvGraphicFramePr>
        <p:xfrm>
          <a:off x="491819" y="6472124"/>
          <a:ext cx="1378332" cy="247176"/>
        </p:xfrm>
        <a:graphic>
          <a:graphicData uri="http://schemas.openxmlformats.org/drawingml/2006/table">
            <a:tbl>
              <a:tblPr bandRow="1">
                <a:tableStyleId>{5C22544A-7EE6-4342-B048-85BDC9FD1C3A}</a:tableStyleId>
              </a:tblPr>
              <a:tblGrid>
                <a:gridCol w="344583">
                  <a:extLst>
                    <a:ext uri="{9D8B030D-6E8A-4147-A177-3AD203B41FA5}">
                      <a16:colId xmlns:a16="http://schemas.microsoft.com/office/drawing/2014/main" val="866373483"/>
                    </a:ext>
                  </a:extLst>
                </a:gridCol>
                <a:gridCol w="344583">
                  <a:extLst>
                    <a:ext uri="{9D8B030D-6E8A-4147-A177-3AD203B41FA5}">
                      <a16:colId xmlns:a16="http://schemas.microsoft.com/office/drawing/2014/main" val="2024381536"/>
                    </a:ext>
                  </a:extLst>
                </a:gridCol>
                <a:gridCol w="304971">
                  <a:extLst>
                    <a:ext uri="{9D8B030D-6E8A-4147-A177-3AD203B41FA5}">
                      <a16:colId xmlns:a16="http://schemas.microsoft.com/office/drawing/2014/main" val="158804817"/>
                    </a:ext>
                  </a:extLst>
                </a:gridCol>
                <a:gridCol w="384195">
                  <a:extLst>
                    <a:ext uri="{9D8B030D-6E8A-4147-A177-3AD203B41FA5}">
                      <a16:colId xmlns:a16="http://schemas.microsoft.com/office/drawing/2014/main" val="1655900654"/>
                    </a:ext>
                  </a:extLst>
                </a:gridCol>
              </a:tblGrid>
              <a:tr h="247176">
                <a:tc>
                  <a:txBody>
                    <a:bodyPr/>
                    <a:lstStyle/>
                    <a:p>
                      <a:endParaRPr lang="en-US" sz="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1770497"/>
                  </a:ext>
                </a:extLst>
              </a:tr>
            </a:tbl>
          </a:graphicData>
        </a:graphic>
      </p:graphicFrame>
      <p:pic>
        <p:nvPicPr>
          <p:cNvPr id="7" name="Picture 6">
            <a:hlinkClick r:id="rId3" action="ppaction://hlinksldjump"/>
            <a:extLst>
              <a:ext uri="{FF2B5EF4-FFF2-40B4-BE49-F238E27FC236}">
                <a16:creationId xmlns:a16="http://schemas.microsoft.com/office/drawing/2014/main" id="{92E0FAF0-D6B5-EBED-A6C8-4D1FD7B247ED}"/>
              </a:ext>
            </a:extLst>
          </p:cNvPr>
          <p:cNvPicPr>
            <a:picLocks noChangeAspect="1"/>
          </p:cNvPicPr>
          <p:nvPr/>
        </p:nvPicPr>
        <p:blipFill>
          <a:blip r:embed="rId4"/>
          <a:stretch>
            <a:fillRect/>
          </a:stretch>
        </p:blipFill>
        <p:spPr>
          <a:xfrm>
            <a:off x="11038384" y="6427540"/>
            <a:ext cx="1076851" cy="222744"/>
          </a:xfrm>
          <a:prstGeom prst="rect">
            <a:avLst/>
          </a:prstGeom>
        </p:spPr>
      </p:pic>
      <p:sp>
        <p:nvSpPr>
          <p:cNvPr id="10" name="Slide Number Placeholder 4">
            <a:extLst>
              <a:ext uri="{FF2B5EF4-FFF2-40B4-BE49-F238E27FC236}">
                <a16:creationId xmlns:a16="http://schemas.microsoft.com/office/drawing/2014/main" id="{B24421BF-9408-A1F2-897B-5DEA5FA2CE4C}"/>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22</a:t>
            </a:fld>
            <a:endParaRPr lang="en-US" b="1">
              <a:solidFill>
                <a:schemeClr val="bg1"/>
              </a:solidFill>
            </a:endParaRPr>
          </a:p>
        </p:txBody>
      </p:sp>
      <p:sp>
        <p:nvSpPr>
          <p:cNvPr id="11" name="Rectangle 10">
            <a:extLst>
              <a:ext uri="{FF2B5EF4-FFF2-40B4-BE49-F238E27FC236}">
                <a16:creationId xmlns:a16="http://schemas.microsoft.com/office/drawing/2014/main" id="{A7CB09BB-D1D8-8C96-A53C-FA003668C32A}"/>
              </a:ext>
            </a:extLst>
          </p:cNvPr>
          <p:cNvSpPr/>
          <p:nvPr/>
        </p:nvSpPr>
        <p:spPr>
          <a:xfrm>
            <a:off x="10295434" y="903067"/>
            <a:ext cx="282975" cy="370675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vert="vert" rtlCol="0" anchor="ctr"/>
          <a:lstStyle/>
          <a:p>
            <a:pPr algn="ctr"/>
            <a:r>
              <a:rPr lang="en-US"/>
              <a:t>Address  Bus  +  Read/Write </a:t>
            </a:r>
          </a:p>
        </p:txBody>
      </p:sp>
      <p:grpSp>
        <p:nvGrpSpPr>
          <p:cNvPr id="24" name="Group 23">
            <a:extLst>
              <a:ext uri="{FF2B5EF4-FFF2-40B4-BE49-F238E27FC236}">
                <a16:creationId xmlns:a16="http://schemas.microsoft.com/office/drawing/2014/main" id="{7C3D6E4F-594B-AA66-0E55-FFC639A80FCD}"/>
              </a:ext>
            </a:extLst>
          </p:cNvPr>
          <p:cNvGrpSpPr/>
          <p:nvPr/>
        </p:nvGrpSpPr>
        <p:grpSpPr>
          <a:xfrm>
            <a:off x="6476273" y="2979222"/>
            <a:ext cx="1649961" cy="1759001"/>
            <a:chOff x="6509659" y="1033443"/>
            <a:chExt cx="1649961" cy="1759001"/>
          </a:xfrm>
        </p:grpSpPr>
        <p:pic>
          <p:nvPicPr>
            <p:cNvPr id="25" name="Picture 24">
              <a:extLst>
                <a:ext uri="{FF2B5EF4-FFF2-40B4-BE49-F238E27FC236}">
                  <a16:creationId xmlns:a16="http://schemas.microsoft.com/office/drawing/2014/main" id="{4C6C09B3-2822-A069-19BB-574AA54D631D}"/>
                </a:ext>
              </a:extLst>
            </p:cNvPr>
            <p:cNvPicPr>
              <a:picLocks noChangeAspect="1"/>
            </p:cNvPicPr>
            <p:nvPr/>
          </p:nvPicPr>
          <p:blipFill rotWithShape="1">
            <a:blip r:embed="rId5"/>
            <a:srcRect l="24506" t="8997" r="26094" b="1220"/>
            <a:stretch/>
          </p:blipFill>
          <p:spPr>
            <a:xfrm>
              <a:off x="6509659" y="1033443"/>
              <a:ext cx="1649961" cy="1759001"/>
            </a:xfrm>
            <a:prstGeom prst="rect">
              <a:avLst/>
            </a:prstGeom>
          </p:spPr>
        </p:pic>
        <p:sp>
          <p:nvSpPr>
            <p:cNvPr id="26" name="TextBox 25">
              <a:extLst>
                <a:ext uri="{FF2B5EF4-FFF2-40B4-BE49-F238E27FC236}">
                  <a16:creationId xmlns:a16="http://schemas.microsoft.com/office/drawing/2014/main" id="{D16FA34B-814C-96C4-AA72-FEED7C0913E1}"/>
                </a:ext>
              </a:extLst>
            </p:cNvPr>
            <p:cNvSpPr txBox="1"/>
            <p:nvPr/>
          </p:nvSpPr>
          <p:spPr>
            <a:xfrm rot="16200000">
              <a:off x="6837842" y="1619573"/>
              <a:ext cx="1201867" cy="276999"/>
            </a:xfrm>
            <a:prstGeom prst="rect">
              <a:avLst/>
            </a:prstGeom>
            <a:noFill/>
          </p:spPr>
          <p:txBody>
            <a:bodyPr wrap="none" rtlCol="0">
              <a:spAutoFit/>
            </a:bodyPr>
            <a:lstStyle/>
            <a:p>
              <a:r>
                <a:rPr lang="en-US" sz="1200" dirty="0">
                  <a:hlinkClick r:id="rId6" action="ppaction://hlinksldjump"/>
                </a:rPr>
                <a:t>574</a:t>
              </a:r>
              <a:r>
                <a:rPr lang="en-US" sz="1200" dirty="0"/>
                <a:t>: </a:t>
              </a:r>
              <a:r>
                <a:rPr lang="en-US" sz="1200" dirty="0" err="1"/>
                <a:t>Addr</a:t>
              </a:r>
              <a:r>
                <a:rPr lang="en-US" sz="1200" dirty="0"/>
                <a:t> </a:t>
              </a:r>
              <a:r>
                <a:rPr lang="en-US" sz="1200" dirty="0" err="1"/>
                <a:t>Ptr</a:t>
              </a:r>
              <a:r>
                <a:rPr lang="en-US" sz="1200" dirty="0"/>
                <a:t> Lo</a:t>
              </a:r>
            </a:p>
          </p:txBody>
        </p:sp>
      </p:grpSp>
      <p:sp>
        <p:nvSpPr>
          <p:cNvPr id="28" name="Arrow: Right 27">
            <a:extLst>
              <a:ext uri="{FF2B5EF4-FFF2-40B4-BE49-F238E27FC236}">
                <a16:creationId xmlns:a16="http://schemas.microsoft.com/office/drawing/2014/main" id="{0F40656A-6786-9E96-84C2-93E70B9794F8}"/>
              </a:ext>
            </a:extLst>
          </p:cNvPr>
          <p:cNvSpPr/>
          <p:nvPr/>
        </p:nvSpPr>
        <p:spPr>
          <a:xfrm>
            <a:off x="8266525" y="3535967"/>
            <a:ext cx="2028908"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a:t>A7..A0</a:t>
            </a:r>
          </a:p>
        </p:txBody>
      </p:sp>
      <p:sp>
        <p:nvSpPr>
          <p:cNvPr id="30" name="Arrow: Right 29">
            <a:extLst>
              <a:ext uri="{FF2B5EF4-FFF2-40B4-BE49-F238E27FC236}">
                <a16:creationId xmlns:a16="http://schemas.microsoft.com/office/drawing/2014/main" id="{148B5297-4517-7D45-73A5-0DA99261052B}"/>
              </a:ext>
            </a:extLst>
          </p:cNvPr>
          <p:cNvSpPr/>
          <p:nvPr/>
        </p:nvSpPr>
        <p:spPr>
          <a:xfrm>
            <a:off x="8262141" y="1457762"/>
            <a:ext cx="2028908"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a:t>A15..A8</a:t>
            </a:r>
          </a:p>
        </p:txBody>
      </p:sp>
      <p:grpSp>
        <p:nvGrpSpPr>
          <p:cNvPr id="23" name="Group 22">
            <a:extLst>
              <a:ext uri="{FF2B5EF4-FFF2-40B4-BE49-F238E27FC236}">
                <a16:creationId xmlns:a16="http://schemas.microsoft.com/office/drawing/2014/main" id="{A285A60C-E6FD-27DF-D90E-D43C3DCB10E8}"/>
              </a:ext>
            </a:extLst>
          </p:cNvPr>
          <p:cNvGrpSpPr/>
          <p:nvPr/>
        </p:nvGrpSpPr>
        <p:grpSpPr>
          <a:xfrm>
            <a:off x="6509661" y="1033444"/>
            <a:ext cx="1649961" cy="1759002"/>
            <a:chOff x="6509659" y="1033443"/>
            <a:chExt cx="1649961" cy="1759001"/>
          </a:xfrm>
        </p:grpSpPr>
        <p:pic>
          <p:nvPicPr>
            <p:cNvPr id="21" name="Picture 20">
              <a:extLst>
                <a:ext uri="{FF2B5EF4-FFF2-40B4-BE49-F238E27FC236}">
                  <a16:creationId xmlns:a16="http://schemas.microsoft.com/office/drawing/2014/main" id="{8B093EA0-0562-7288-3D7B-76E05DAC5627}"/>
                </a:ext>
              </a:extLst>
            </p:cNvPr>
            <p:cNvPicPr>
              <a:picLocks noChangeAspect="1"/>
            </p:cNvPicPr>
            <p:nvPr/>
          </p:nvPicPr>
          <p:blipFill rotWithShape="1">
            <a:blip r:embed="rId5"/>
            <a:srcRect l="24506" t="8997" r="26094" b="1220"/>
            <a:stretch/>
          </p:blipFill>
          <p:spPr>
            <a:xfrm>
              <a:off x="6509659" y="1033443"/>
              <a:ext cx="1649961" cy="1759001"/>
            </a:xfrm>
            <a:prstGeom prst="rect">
              <a:avLst/>
            </a:prstGeom>
          </p:spPr>
        </p:pic>
        <p:sp>
          <p:nvSpPr>
            <p:cNvPr id="22" name="TextBox 21">
              <a:extLst>
                <a:ext uri="{FF2B5EF4-FFF2-40B4-BE49-F238E27FC236}">
                  <a16:creationId xmlns:a16="http://schemas.microsoft.com/office/drawing/2014/main" id="{5A04A879-9212-4CAC-4463-F3EE532C28C5}"/>
                </a:ext>
              </a:extLst>
            </p:cNvPr>
            <p:cNvSpPr txBox="1"/>
            <p:nvPr/>
          </p:nvSpPr>
          <p:spPr>
            <a:xfrm rot="16200000">
              <a:off x="6845055" y="1619573"/>
              <a:ext cx="1187440" cy="276999"/>
            </a:xfrm>
            <a:prstGeom prst="rect">
              <a:avLst/>
            </a:prstGeom>
            <a:noFill/>
          </p:spPr>
          <p:txBody>
            <a:bodyPr wrap="none" rtlCol="0">
              <a:spAutoFit/>
            </a:bodyPr>
            <a:lstStyle/>
            <a:p>
              <a:r>
                <a:rPr lang="en-US" sz="1200" dirty="0">
                  <a:hlinkClick r:id="rId6" action="ppaction://hlinksldjump"/>
                </a:rPr>
                <a:t>574</a:t>
              </a:r>
              <a:r>
                <a:rPr lang="en-US" sz="1200" dirty="0"/>
                <a:t>: </a:t>
              </a:r>
              <a:r>
                <a:rPr lang="en-US" sz="1200" dirty="0" err="1"/>
                <a:t>Addr</a:t>
              </a:r>
              <a:r>
                <a:rPr lang="en-US" sz="1200" dirty="0"/>
                <a:t> </a:t>
              </a:r>
              <a:r>
                <a:rPr lang="en-US" sz="1200" dirty="0" err="1"/>
                <a:t>Ptr</a:t>
              </a:r>
              <a:r>
                <a:rPr lang="en-US" sz="1200" dirty="0"/>
                <a:t> Hi</a:t>
              </a:r>
            </a:p>
          </p:txBody>
        </p:sp>
      </p:grpSp>
      <p:cxnSp>
        <p:nvCxnSpPr>
          <p:cNvPr id="86" name="Connector: Elbow 85">
            <a:extLst>
              <a:ext uri="{FF2B5EF4-FFF2-40B4-BE49-F238E27FC236}">
                <a16:creationId xmlns:a16="http://schemas.microsoft.com/office/drawing/2014/main" id="{AE8AD03D-94C6-C052-79BC-2E66B36563B8}"/>
              </a:ext>
            </a:extLst>
          </p:cNvPr>
          <p:cNvCxnSpPr>
            <a:cxnSpLocks/>
          </p:cNvCxnSpPr>
          <p:nvPr/>
        </p:nvCxnSpPr>
        <p:spPr>
          <a:xfrm>
            <a:off x="1902882" y="4672741"/>
            <a:ext cx="4606777" cy="1111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B246A619-ECCB-DE5D-B232-99DE291CBEBA}"/>
              </a:ext>
            </a:extLst>
          </p:cNvPr>
          <p:cNvCxnSpPr>
            <a:cxnSpLocks/>
          </p:cNvCxnSpPr>
          <p:nvPr/>
        </p:nvCxnSpPr>
        <p:spPr>
          <a:xfrm flipV="1">
            <a:off x="1902882" y="2717074"/>
            <a:ext cx="4573389" cy="1955667"/>
          </a:xfrm>
          <a:prstGeom prst="bentConnector3">
            <a:avLst>
              <a:gd name="adj1" fmla="val 11591"/>
            </a:avLst>
          </a:prstGeom>
        </p:spPr>
        <p:style>
          <a:lnRef idx="1">
            <a:schemeClr val="accent1"/>
          </a:lnRef>
          <a:fillRef idx="0">
            <a:schemeClr val="accent1"/>
          </a:fillRef>
          <a:effectRef idx="0">
            <a:schemeClr val="accent1"/>
          </a:effectRef>
          <a:fontRef idx="minor">
            <a:schemeClr val="tx1"/>
          </a:fontRef>
        </p:style>
      </p:cxnSp>
      <p:sp>
        <p:nvSpPr>
          <p:cNvPr id="97" name="Rectangle 96">
            <a:extLst>
              <a:ext uri="{FF2B5EF4-FFF2-40B4-BE49-F238E27FC236}">
                <a16:creationId xmlns:a16="http://schemas.microsoft.com/office/drawing/2014/main" id="{7594EA7A-048C-C97C-0D59-C826FD2465D3}"/>
              </a:ext>
            </a:extLst>
          </p:cNvPr>
          <p:cNvSpPr/>
          <p:nvPr/>
        </p:nvSpPr>
        <p:spPr>
          <a:xfrm>
            <a:off x="5738618" y="1232132"/>
            <a:ext cx="282975" cy="2557013"/>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t>Data </a:t>
            </a:r>
          </a:p>
          <a:p>
            <a:pPr algn="ctr"/>
            <a:endParaRPr lang="en-US"/>
          </a:p>
          <a:p>
            <a:pPr algn="ctr"/>
            <a:r>
              <a:rPr lang="en-US"/>
              <a:t>  Bus </a:t>
            </a:r>
          </a:p>
        </p:txBody>
      </p:sp>
      <p:sp>
        <p:nvSpPr>
          <p:cNvPr id="100" name="Rectangle 99">
            <a:extLst>
              <a:ext uri="{FF2B5EF4-FFF2-40B4-BE49-F238E27FC236}">
                <a16:creationId xmlns:a16="http://schemas.microsoft.com/office/drawing/2014/main" id="{BF9A30F4-FDD7-5E1B-9944-C0EE8C652801}"/>
              </a:ext>
            </a:extLst>
          </p:cNvPr>
          <p:cNvSpPr/>
          <p:nvPr/>
        </p:nvSpPr>
        <p:spPr>
          <a:xfrm>
            <a:off x="6418027" y="3552171"/>
            <a:ext cx="149879" cy="2462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112950AA-A510-CD05-C8FA-741262D3DDB2}"/>
              </a:ext>
            </a:extLst>
          </p:cNvPr>
          <p:cNvSpPr/>
          <p:nvPr/>
        </p:nvSpPr>
        <p:spPr>
          <a:xfrm>
            <a:off x="6409854" y="1570746"/>
            <a:ext cx="149879" cy="2462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Arrow: Right 97">
            <a:extLst>
              <a:ext uri="{FF2B5EF4-FFF2-40B4-BE49-F238E27FC236}">
                <a16:creationId xmlns:a16="http://schemas.microsoft.com/office/drawing/2014/main" id="{1AD4872A-74BC-B2FE-B663-7C03E8CEBA1B}"/>
              </a:ext>
            </a:extLst>
          </p:cNvPr>
          <p:cNvSpPr/>
          <p:nvPr/>
        </p:nvSpPr>
        <p:spPr>
          <a:xfrm>
            <a:off x="5965992" y="3491558"/>
            <a:ext cx="693547" cy="369332"/>
          </a:xfrm>
          <a:prstGeom prst="rightArrow">
            <a:avLst/>
          </a:prstGeom>
          <a:solidFill>
            <a:schemeClr val="accent6">
              <a:lumMod val="60000"/>
              <a:lumOff val="4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a:solidFill>
                  <a:schemeClr val="tx1"/>
                </a:solidFill>
              </a:rPr>
              <a:t>A7..A0</a:t>
            </a:r>
          </a:p>
        </p:txBody>
      </p:sp>
      <p:sp>
        <p:nvSpPr>
          <p:cNvPr id="99" name="Arrow: Right 98">
            <a:extLst>
              <a:ext uri="{FF2B5EF4-FFF2-40B4-BE49-F238E27FC236}">
                <a16:creationId xmlns:a16="http://schemas.microsoft.com/office/drawing/2014/main" id="{477FF5E3-8DCE-F621-C840-39E1BD3679E3}"/>
              </a:ext>
            </a:extLst>
          </p:cNvPr>
          <p:cNvSpPr/>
          <p:nvPr/>
        </p:nvSpPr>
        <p:spPr>
          <a:xfrm>
            <a:off x="6024385" y="1545699"/>
            <a:ext cx="693547" cy="369332"/>
          </a:xfrm>
          <a:prstGeom prst="rightArrow">
            <a:avLst/>
          </a:prstGeom>
          <a:solidFill>
            <a:schemeClr val="accent6">
              <a:lumMod val="60000"/>
              <a:lumOff val="40000"/>
              <a:alpha val="50000"/>
            </a:schemeClr>
          </a:solidFill>
          <a:ln>
            <a:noFill/>
          </a:ln>
        </p:spPr>
        <p:style>
          <a:lnRef idx="0">
            <a:scrgbClr r="0" g="0" b="0"/>
          </a:lnRef>
          <a:fillRef idx="0">
            <a:scrgbClr r="0" g="0" b="0"/>
          </a:fillRef>
          <a:effectRef idx="0">
            <a:scrgbClr r="0" g="0" b="0"/>
          </a:effectRef>
          <a:fontRef idx="minor">
            <a:schemeClr val="lt1"/>
          </a:fontRef>
        </p:style>
        <p:txBody>
          <a:bodyPr wrap="none" rtlCol="0" anchor="ctr"/>
          <a:lstStyle/>
          <a:p>
            <a:pPr algn="ctr"/>
            <a:r>
              <a:rPr lang="en-US" sz="1200">
                <a:solidFill>
                  <a:schemeClr val="tx1"/>
                </a:solidFill>
              </a:rPr>
              <a:t>A15..A8</a:t>
            </a:r>
          </a:p>
        </p:txBody>
      </p:sp>
      <p:cxnSp>
        <p:nvCxnSpPr>
          <p:cNvPr id="58" name="Connector: Elbow 57">
            <a:extLst>
              <a:ext uri="{FF2B5EF4-FFF2-40B4-BE49-F238E27FC236}">
                <a16:creationId xmlns:a16="http://schemas.microsoft.com/office/drawing/2014/main" id="{5B7F1B08-45C3-007B-B45A-DCFFB719202C}"/>
              </a:ext>
            </a:extLst>
          </p:cNvPr>
          <p:cNvCxnSpPr>
            <a:cxnSpLocks/>
            <a:stCxn id="12" idx="3"/>
          </p:cNvCxnSpPr>
          <p:nvPr/>
        </p:nvCxnSpPr>
        <p:spPr>
          <a:xfrm>
            <a:off x="5534417" y="2481351"/>
            <a:ext cx="941854" cy="1270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6" name="TextBox 5">
            <a:hlinkClick r:id="rId7" action="ppaction://hlinksldjump"/>
            <a:extLst>
              <a:ext uri="{FF2B5EF4-FFF2-40B4-BE49-F238E27FC236}">
                <a16:creationId xmlns:a16="http://schemas.microsoft.com/office/drawing/2014/main" id="{64329695-34BC-2954-98F8-B2F86B1F634A}"/>
              </a:ext>
            </a:extLst>
          </p:cNvPr>
          <p:cNvSpPr txBox="1"/>
          <p:nvPr/>
        </p:nvSpPr>
        <p:spPr>
          <a:xfrm>
            <a:off x="4730190" y="4343243"/>
            <a:ext cx="790601" cy="161583"/>
          </a:xfrm>
          <a:prstGeom prst="rect">
            <a:avLst/>
          </a:prstGeom>
          <a:noFill/>
          <a:ln>
            <a:solidFill>
              <a:schemeClr val="accent1"/>
            </a:solidFill>
          </a:ln>
        </p:spPr>
        <p:txBody>
          <a:bodyPr wrap="none" tIns="0" bIns="0" rtlCol="0">
            <a:spAutoFit/>
          </a:bodyPr>
          <a:lstStyle/>
          <a:p>
            <a:r>
              <a:rPr lang="en-US" sz="1050" dirty="0"/>
              <a:t>BP[L] </a:t>
            </a:r>
            <a:r>
              <a:rPr lang="en-US" sz="1050" dirty="0" err="1"/>
              <a:t>Ld</a:t>
            </a:r>
            <a:r>
              <a:rPr lang="en-US" sz="1050" dirty="0"/>
              <a:t> En</a:t>
            </a:r>
          </a:p>
        </p:txBody>
      </p:sp>
      <p:sp>
        <p:nvSpPr>
          <p:cNvPr id="12" name="TextBox 11">
            <a:hlinkClick r:id="rId7" action="ppaction://hlinksldjump"/>
            <a:extLst>
              <a:ext uri="{FF2B5EF4-FFF2-40B4-BE49-F238E27FC236}">
                <a16:creationId xmlns:a16="http://schemas.microsoft.com/office/drawing/2014/main" id="{24DD6993-1931-085C-2FCA-50CEC0C4ED40}"/>
              </a:ext>
            </a:extLst>
          </p:cNvPr>
          <p:cNvSpPr txBox="1"/>
          <p:nvPr/>
        </p:nvSpPr>
        <p:spPr>
          <a:xfrm>
            <a:off x="4716564" y="2400559"/>
            <a:ext cx="817853" cy="161583"/>
          </a:xfrm>
          <a:prstGeom prst="rect">
            <a:avLst/>
          </a:prstGeom>
          <a:noFill/>
          <a:ln>
            <a:solidFill>
              <a:schemeClr val="accent1"/>
            </a:solidFill>
          </a:ln>
        </p:spPr>
        <p:txBody>
          <a:bodyPr wrap="none" tIns="0" bIns="0" rtlCol="0">
            <a:spAutoFit/>
          </a:bodyPr>
          <a:lstStyle/>
          <a:p>
            <a:r>
              <a:rPr lang="en-US" sz="1050" dirty="0"/>
              <a:t>BP[H] </a:t>
            </a:r>
            <a:r>
              <a:rPr lang="en-US" sz="1050" dirty="0" err="1"/>
              <a:t>Ld</a:t>
            </a:r>
            <a:r>
              <a:rPr lang="en-US" sz="1050" dirty="0"/>
              <a:t> En</a:t>
            </a:r>
          </a:p>
        </p:txBody>
      </p:sp>
      <p:sp>
        <p:nvSpPr>
          <p:cNvPr id="8" name="TextBox 7">
            <a:hlinkClick r:id="rId8" action="ppaction://hlinksldjump"/>
            <a:extLst>
              <a:ext uri="{FF2B5EF4-FFF2-40B4-BE49-F238E27FC236}">
                <a16:creationId xmlns:a16="http://schemas.microsoft.com/office/drawing/2014/main" id="{64412302-4030-C929-7121-D9CDF113D428}"/>
              </a:ext>
            </a:extLst>
          </p:cNvPr>
          <p:cNvSpPr txBox="1"/>
          <p:nvPr/>
        </p:nvSpPr>
        <p:spPr>
          <a:xfrm>
            <a:off x="896460" y="4599212"/>
            <a:ext cx="1098378" cy="169277"/>
          </a:xfrm>
          <a:prstGeom prst="rect">
            <a:avLst/>
          </a:prstGeom>
          <a:solidFill>
            <a:schemeClr val="bg1"/>
          </a:solidFill>
          <a:ln>
            <a:solidFill>
              <a:schemeClr val="accent1"/>
            </a:solidFill>
          </a:ln>
        </p:spPr>
        <p:txBody>
          <a:bodyPr wrap="none" tIns="0" bIns="0" rtlCol="0">
            <a:spAutoFit/>
          </a:bodyPr>
          <a:lstStyle/>
          <a:p>
            <a:r>
              <a:rPr lang="en-US" sz="1100" dirty="0"/>
              <a:t>Base Pointer OE</a:t>
            </a:r>
          </a:p>
        </p:txBody>
      </p:sp>
      <p:sp>
        <p:nvSpPr>
          <p:cNvPr id="9" name="TextBox 8">
            <a:extLst>
              <a:ext uri="{FF2B5EF4-FFF2-40B4-BE49-F238E27FC236}">
                <a16:creationId xmlns:a16="http://schemas.microsoft.com/office/drawing/2014/main" id="{395C4B4E-BEC2-BF5C-44DA-59952DC17A36}"/>
              </a:ext>
            </a:extLst>
          </p:cNvPr>
          <p:cNvSpPr txBox="1"/>
          <p:nvPr/>
        </p:nvSpPr>
        <p:spPr>
          <a:xfrm>
            <a:off x="1994838" y="6538912"/>
            <a:ext cx="3488455" cy="261610"/>
          </a:xfrm>
          <a:prstGeom prst="rect">
            <a:avLst/>
          </a:prstGeom>
          <a:noFill/>
        </p:spPr>
        <p:txBody>
          <a:bodyPr wrap="none" rtlCol="0">
            <a:spAutoFit/>
          </a:bodyPr>
          <a:lstStyle/>
          <a:p>
            <a:r>
              <a:rPr lang="en-US" sz="1100" dirty="0"/>
              <a:t>Data is sampled in the middle of the clock (negative edge)</a:t>
            </a:r>
          </a:p>
        </p:txBody>
      </p:sp>
    </p:spTree>
    <p:extLst>
      <p:ext uri="{BB962C8B-B14F-4D97-AF65-F5344CB8AC3E}">
        <p14:creationId xmlns:p14="http://schemas.microsoft.com/office/powerpoint/2010/main" val="2319510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1C8DB-3650-E4DB-C228-30DF31FC036C}"/>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01580499-7A75-915B-6DBF-4A71C5476097}"/>
              </a:ext>
            </a:extLst>
          </p:cNvPr>
          <p:cNvSpPr/>
          <p:nvPr/>
        </p:nvSpPr>
        <p:spPr>
          <a:xfrm>
            <a:off x="3869807" y="2088081"/>
            <a:ext cx="282975" cy="4065371"/>
          </a:xfrm>
          <a:prstGeom prst="rect">
            <a:avLst/>
          </a:prstGeom>
          <a:solidFill>
            <a:schemeClr val="accent6">
              <a:lumMod val="60000"/>
              <a:lumOff val="4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solidFill>
                  <a:schemeClr val="tx1"/>
                </a:solidFill>
              </a:rPr>
              <a:t>Data </a:t>
            </a:r>
          </a:p>
          <a:p>
            <a:pPr algn="ctr"/>
            <a:endParaRPr lang="en-US" sz="1200" dirty="0">
              <a:solidFill>
                <a:schemeClr val="tx1"/>
              </a:solidFill>
            </a:endParaRPr>
          </a:p>
          <a:p>
            <a:pPr algn="ctr"/>
            <a:r>
              <a:rPr lang="en-US" sz="1200" dirty="0">
                <a:solidFill>
                  <a:schemeClr val="tx1"/>
                </a:solidFill>
              </a:rPr>
              <a:t>  Bus </a:t>
            </a:r>
          </a:p>
        </p:txBody>
      </p:sp>
      <p:grpSp>
        <p:nvGrpSpPr>
          <p:cNvPr id="14" name="Group 13">
            <a:extLst>
              <a:ext uri="{FF2B5EF4-FFF2-40B4-BE49-F238E27FC236}">
                <a16:creationId xmlns:a16="http://schemas.microsoft.com/office/drawing/2014/main" id="{0CA792AC-D1A1-7321-F4E6-6F3C193B12EF}"/>
              </a:ext>
            </a:extLst>
          </p:cNvPr>
          <p:cNvGrpSpPr/>
          <p:nvPr/>
        </p:nvGrpSpPr>
        <p:grpSpPr>
          <a:xfrm>
            <a:off x="8151297" y="1223543"/>
            <a:ext cx="1649961" cy="1759002"/>
            <a:chOff x="6509659" y="1033443"/>
            <a:chExt cx="1649961" cy="1759001"/>
          </a:xfrm>
        </p:grpSpPr>
        <p:pic>
          <p:nvPicPr>
            <p:cNvPr id="17" name="Picture 16">
              <a:extLst>
                <a:ext uri="{FF2B5EF4-FFF2-40B4-BE49-F238E27FC236}">
                  <a16:creationId xmlns:a16="http://schemas.microsoft.com/office/drawing/2014/main" id="{E638FFC9-84CB-B15B-4FF3-5EE261AD837F}"/>
                </a:ext>
              </a:extLst>
            </p:cNvPr>
            <p:cNvPicPr>
              <a:picLocks noChangeAspect="1"/>
            </p:cNvPicPr>
            <p:nvPr/>
          </p:nvPicPr>
          <p:blipFill rotWithShape="1">
            <a:blip r:embed="rId3"/>
            <a:srcRect l="24506" t="8997" r="26094" b="1220"/>
            <a:stretch/>
          </p:blipFill>
          <p:spPr>
            <a:xfrm>
              <a:off x="6509659" y="1033443"/>
              <a:ext cx="1649961" cy="1759001"/>
            </a:xfrm>
            <a:prstGeom prst="rect">
              <a:avLst/>
            </a:prstGeom>
          </p:spPr>
        </p:pic>
        <p:sp>
          <p:nvSpPr>
            <p:cNvPr id="19" name="TextBox 18">
              <a:extLst>
                <a:ext uri="{FF2B5EF4-FFF2-40B4-BE49-F238E27FC236}">
                  <a16:creationId xmlns:a16="http://schemas.microsoft.com/office/drawing/2014/main" id="{34054AE7-C4D2-7637-3D2B-B55A2F578F2F}"/>
                </a:ext>
              </a:extLst>
            </p:cNvPr>
            <p:cNvSpPr txBox="1"/>
            <p:nvPr/>
          </p:nvSpPr>
          <p:spPr>
            <a:xfrm rot="16200000">
              <a:off x="6730475" y="1619573"/>
              <a:ext cx="1416605" cy="276999"/>
            </a:xfrm>
            <a:prstGeom prst="rect">
              <a:avLst/>
            </a:prstGeom>
            <a:noFill/>
          </p:spPr>
          <p:txBody>
            <a:bodyPr wrap="none" rtlCol="0">
              <a:spAutoFit/>
            </a:bodyPr>
            <a:lstStyle/>
            <a:p>
              <a:r>
                <a:rPr lang="en-US" sz="1200" dirty="0">
                  <a:hlinkClick r:id="rId4" action="ppaction://hlinksldjump"/>
                </a:rPr>
                <a:t>574: Stack  </a:t>
              </a:r>
              <a:r>
                <a:rPr lang="en-US" sz="1200" dirty="0" err="1">
                  <a:hlinkClick r:id="rId4" action="ppaction://hlinksldjump"/>
                </a:rPr>
                <a:t>Ptr</a:t>
              </a:r>
              <a:r>
                <a:rPr lang="en-US" sz="1200" dirty="0">
                  <a:hlinkClick r:id="rId4" action="ppaction://hlinksldjump"/>
                </a:rPr>
                <a:t> Page</a:t>
              </a:r>
              <a:endParaRPr lang="en-US" sz="1200" dirty="0"/>
            </a:p>
          </p:txBody>
        </p:sp>
      </p:grpSp>
      <p:sp>
        <p:nvSpPr>
          <p:cNvPr id="5" name="Title 4">
            <a:extLst>
              <a:ext uri="{FF2B5EF4-FFF2-40B4-BE49-F238E27FC236}">
                <a16:creationId xmlns:a16="http://schemas.microsoft.com/office/drawing/2014/main" id="{A3F4B440-FB20-DD5E-7AC1-C9AA83165E31}"/>
              </a:ext>
            </a:extLst>
          </p:cNvPr>
          <p:cNvSpPr>
            <a:spLocks noGrp="1"/>
          </p:cNvSpPr>
          <p:nvPr>
            <p:ph type="ctrTitle"/>
          </p:nvPr>
        </p:nvSpPr>
        <p:spPr>
          <a:xfrm>
            <a:off x="210442" y="207715"/>
            <a:ext cx="3840480" cy="457200"/>
          </a:xfrm>
        </p:spPr>
        <p:txBody>
          <a:bodyPr/>
          <a:lstStyle/>
          <a:p>
            <a:r>
              <a:rPr lang="en-US"/>
              <a:t>Stack Pointer (v2.0)</a:t>
            </a:r>
          </a:p>
        </p:txBody>
      </p:sp>
      <p:sp>
        <p:nvSpPr>
          <p:cNvPr id="54" name="Rectangle 53">
            <a:hlinkClick r:id="rId5" action="ppaction://hlinksldjump"/>
            <a:extLst>
              <a:ext uri="{FF2B5EF4-FFF2-40B4-BE49-F238E27FC236}">
                <a16:creationId xmlns:a16="http://schemas.microsoft.com/office/drawing/2014/main" id="{A4CFA50D-97C4-DD63-7EC1-F75F9B802C9A}"/>
              </a:ext>
            </a:extLst>
          </p:cNvPr>
          <p:cNvSpPr/>
          <p:nvPr/>
        </p:nvSpPr>
        <p:spPr>
          <a:xfrm>
            <a:off x="2500754" y="993807"/>
            <a:ext cx="1090026"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r"/>
            <a:r>
              <a:rPr lang="en-US" sz="1050" dirty="0"/>
              <a:t>µC 15: SP Count</a:t>
            </a:r>
          </a:p>
        </p:txBody>
      </p:sp>
      <p:sp>
        <p:nvSpPr>
          <p:cNvPr id="56" name="Rectangle 55">
            <a:hlinkClick r:id="rId5" action="ppaction://hlinksldjump"/>
            <a:extLst>
              <a:ext uri="{FF2B5EF4-FFF2-40B4-BE49-F238E27FC236}">
                <a16:creationId xmlns:a16="http://schemas.microsoft.com/office/drawing/2014/main" id="{AD821455-89C5-AAF2-A6B3-EA70BF1E73CF}"/>
              </a:ext>
            </a:extLst>
          </p:cNvPr>
          <p:cNvSpPr/>
          <p:nvPr/>
        </p:nvSpPr>
        <p:spPr>
          <a:xfrm>
            <a:off x="2288386" y="720814"/>
            <a:ext cx="1302394"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r"/>
            <a:r>
              <a:rPr lang="en-US" sz="1050"/>
              <a:t>µC 16: SP Up/Down</a:t>
            </a:r>
          </a:p>
        </p:txBody>
      </p:sp>
      <p:pic>
        <p:nvPicPr>
          <p:cNvPr id="7" name="Picture 6">
            <a:hlinkClick r:id="rId6" action="ppaction://hlinksldjump"/>
            <a:extLst>
              <a:ext uri="{FF2B5EF4-FFF2-40B4-BE49-F238E27FC236}">
                <a16:creationId xmlns:a16="http://schemas.microsoft.com/office/drawing/2014/main" id="{A51A36B9-ADB7-B745-4956-8E954A69A9CE}"/>
              </a:ext>
            </a:extLst>
          </p:cNvPr>
          <p:cNvPicPr>
            <a:picLocks noChangeAspect="1"/>
          </p:cNvPicPr>
          <p:nvPr/>
        </p:nvPicPr>
        <p:blipFill>
          <a:blip r:embed="rId7"/>
          <a:stretch>
            <a:fillRect/>
          </a:stretch>
        </p:blipFill>
        <p:spPr>
          <a:xfrm>
            <a:off x="11038384" y="6427540"/>
            <a:ext cx="1076851" cy="222744"/>
          </a:xfrm>
          <a:prstGeom prst="rect">
            <a:avLst/>
          </a:prstGeom>
        </p:spPr>
      </p:pic>
      <p:sp>
        <p:nvSpPr>
          <p:cNvPr id="10" name="Slide Number Placeholder 4">
            <a:extLst>
              <a:ext uri="{FF2B5EF4-FFF2-40B4-BE49-F238E27FC236}">
                <a16:creationId xmlns:a16="http://schemas.microsoft.com/office/drawing/2014/main" id="{9DAE5045-64D1-2F5F-5FA2-6C2E8183C5EF}"/>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23</a:t>
            </a:fld>
            <a:endParaRPr lang="en-US" b="1">
              <a:solidFill>
                <a:schemeClr val="bg1"/>
              </a:solidFill>
            </a:endParaRPr>
          </a:p>
        </p:txBody>
      </p:sp>
      <p:sp>
        <p:nvSpPr>
          <p:cNvPr id="3" name="Rectangle 2">
            <a:extLst>
              <a:ext uri="{FF2B5EF4-FFF2-40B4-BE49-F238E27FC236}">
                <a16:creationId xmlns:a16="http://schemas.microsoft.com/office/drawing/2014/main" id="{C0E456F6-682D-2A67-2DC5-8B41ADA6FD8E}"/>
              </a:ext>
            </a:extLst>
          </p:cNvPr>
          <p:cNvSpPr/>
          <p:nvPr/>
        </p:nvSpPr>
        <p:spPr>
          <a:xfrm>
            <a:off x="11428984" y="1250689"/>
            <a:ext cx="282975" cy="370675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vert="vert" rtlCol="0" anchor="ctr"/>
          <a:lstStyle/>
          <a:p>
            <a:pPr algn="ctr"/>
            <a:r>
              <a:rPr lang="en-US"/>
              <a:t>Address  Bus  +  Read/Write </a:t>
            </a:r>
          </a:p>
        </p:txBody>
      </p:sp>
      <p:sp>
        <p:nvSpPr>
          <p:cNvPr id="11" name="Arrow: Right 10">
            <a:extLst>
              <a:ext uri="{FF2B5EF4-FFF2-40B4-BE49-F238E27FC236}">
                <a16:creationId xmlns:a16="http://schemas.microsoft.com/office/drawing/2014/main" id="{3E5C45CB-1260-4C85-B61D-511A2FF5E491}"/>
              </a:ext>
            </a:extLst>
          </p:cNvPr>
          <p:cNvSpPr/>
          <p:nvPr/>
        </p:nvSpPr>
        <p:spPr>
          <a:xfrm>
            <a:off x="9954893" y="1790897"/>
            <a:ext cx="1458876"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a:t>A7..A0</a:t>
            </a:r>
          </a:p>
        </p:txBody>
      </p:sp>
      <p:sp>
        <p:nvSpPr>
          <p:cNvPr id="12" name="Arrow: Right 11">
            <a:extLst>
              <a:ext uri="{FF2B5EF4-FFF2-40B4-BE49-F238E27FC236}">
                <a16:creationId xmlns:a16="http://schemas.microsoft.com/office/drawing/2014/main" id="{2CB03303-C847-3998-CDD4-788DC3688D34}"/>
              </a:ext>
            </a:extLst>
          </p:cNvPr>
          <p:cNvSpPr/>
          <p:nvPr/>
        </p:nvSpPr>
        <p:spPr>
          <a:xfrm>
            <a:off x="9940776" y="4419183"/>
            <a:ext cx="1487111"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a:t>A15..A8</a:t>
            </a:r>
          </a:p>
        </p:txBody>
      </p:sp>
      <p:sp>
        <p:nvSpPr>
          <p:cNvPr id="32" name="Arrow: Right 31">
            <a:extLst>
              <a:ext uri="{FF2B5EF4-FFF2-40B4-BE49-F238E27FC236}">
                <a16:creationId xmlns:a16="http://schemas.microsoft.com/office/drawing/2014/main" id="{EC0B3DA6-4773-3BE3-0F24-064CF42868BC}"/>
              </a:ext>
            </a:extLst>
          </p:cNvPr>
          <p:cNvSpPr/>
          <p:nvPr/>
        </p:nvSpPr>
        <p:spPr>
          <a:xfrm>
            <a:off x="6849999" y="3078418"/>
            <a:ext cx="618666"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100" dirty="0"/>
              <a:t>A7..A4</a:t>
            </a:r>
          </a:p>
        </p:txBody>
      </p:sp>
      <p:sp>
        <p:nvSpPr>
          <p:cNvPr id="40" name="TextBox 39">
            <a:hlinkClick r:id="rId8" action="ppaction://hlinksldjump"/>
            <a:extLst>
              <a:ext uri="{FF2B5EF4-FFF2-40B4-BE49-F238E27FC236}">
                <a16:creationId xmlns:a16="http://schemas.microsoft.com/office/drawing/2014/main" id="{3F9483FF-AA75-7E3F-BBFB-897B7C0C23F4}"/>
              </a:ext>
            </a:extLst>
          </p:cNvPr>
          <p:cNvSpPr txBox="1"/>
          <p:nvPr/>
        </p:nvSpPr>
        <p:spPr>
          <a:xfrm>
            <a:off x="8941916" y="6283202"/>
            <a:ext cx="1130438" cy="169277"/>
          </a:xfrm>
          <a:prstGeom prst="rect">
            <a:avLst/>
          </a:prstGeom>
          <a:solidFill>
            <a:schemeClr val="bg1"/>
          </a:solidFill>
          <a:ln>
            <a:solidFill>
              <a:schemeClr val="accent1"/>
            </a:solidFill>
          </a:ln>
        </p:spPr>
        <p:txBody>
          <a:bodyPr wrap="none" tIns="0" bIns="0" rtlCol="0">
            <a:spAutoFit/>
          </a:bodyPr>
          <a:lstStyle/>
          <a:p>
            <a:r>
              <a:rPr lang="en-US" sz="1100" dirty="0"/>
              <a:t>Stack Pointer OE</a:t>
            </a:r>
          </a:p>
        </p:txBody>
      </p:sp>
      <p:sp>
        <p:nvSpPr>
          <p:cNvPr id="59" name="Rectangle 58">
            <a:extLst>
              <a:ext uri="{FF2B5EF4-FFF2-40B4-BE49-F238E27FC236}">
                <a16:creationId xmlns:a16="http://schemas.microsoft.com/office/drawing/2014/main" id="{59EE7EB0-01B0-1B7B-5D35-00FD8C4ACF8A}"/>
              </a:ext>
            </a:extLst>
          </p:cNvPr>
          <p:cNvSpPr/>
          <p:nvPr/>
        </p:nvSpPr>
        <p:spPr>
          <a:xfrm>
            <a:off x="6863754" y="4817582"/>
            <a:ext cx="1222804" cy="2018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Arrow: Right 71">
            <a:extLst>
              <a:ext uri="{FF2B5EF4-FFF2-40B4-BE49-F238E27FC236}">
                <a16:creationId xmlns:a16="http://schemas.microsoft.com/office/drawing/2014/main" id="{B1CD8B88-9A72-1CA6-4D79-3C4B394A0672}"/>
              </a:ext>
            </a:extLst>
          </p:cNvPr>
          <p:cNvSpPr/>
          <p:nvPr/>
        </p:nvSpPr>
        <p:spPr>
          <a:xfrm>
            <a:off x="6849999" y="1790897"/>
            <a:ext cx="627556"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100" dirty="0"/>
              <a:t>A3..A0</a:t>
            </a:r>
          </a:p>
        </p:txBody>
      </p:sp>
      <p:sp>
        <p:nvSpPr>
          <p:cNvPr id="2" name="Rectangle 1">
            <a:hlinkClick r:id="rId9" action="ppaction://hlinksldjump"/>
            <a:extLst>
              <a:ext uri="{FF2B5EF4-FFF2-40B4-BE49-F238E27FC236}">
                <a16:creationId xmlns:a16="http://schemas.microsoft.com/office/drawing/2014/main" id="{9B05334C-DE37-EF7F-DC9C-1497A804CD4B}"/>
              </a:ext>
            </a:extLst>
          </p:cNvPr>
          <p:cNvSpPr/>
          <p:nvPr/>
        </p:nvSpPr>
        <p:spPr>
          <a:xfrm>
            <a:off x="3255906" y="1839555"/>
            <a:ext cx="956413"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dirty="0"/>
              <a:t>SP[H] </a:t>
            </a:r>
            <a:r>
              <a:rPr lang="en-US" sz="1200" dirty="0" err="1"/>
              <a:t>Ld</a:t>
            </a:r>
            <a:r>
              <a:rPr lang="en-US" sz="1200" dirty="0"/>
              <a:t> En</a:t>
            </a:r>
          </a:p>
        </p:txBody>
      </p:sp>
      <p:cxnSp>
        <p:nvCxnSpPr>
          <p:cNvPr id="4" name="Connector: Elbow 3">
            <a:extLst>
              <a:ext uri="{FF2B5EF4-FFF2-40B4-BE49-F238E27FC236}">
                <a16:creationId xmlns:a16="http://schemas.microsoft.com/office/drawing/2014/main" id="{D9794895-A5A8-5D9E-DA03-8086A6A6382D}"/>
              </a:ext>
            </a:extLst>
          </p:cNvPr>
          <p:cNvCxnSpPr>
            <a:cxnSpLocks/>
            <a:stCxn id="40" idx="1"/>
          </p:cNvCxnSpPr>
          <p:nvPr/>
        </p:nvCxnSpPr>
        <p:spPr>
          <a:xfrm rot="10800000">
            <a:off x="8546006" y="2890303"/>
            <a:ext cx="395910" cy="3477539"/>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13" name="TextBox 12">
            <a:hlinkClick r:id="rId9" action="ppaction://hlinksldjump"/>
            <a:extLst>
              <a:ext uri="{FF2B5EF4-FFF2-40B4-BE49-F238E27FC236}">
                <a16:creationId xmlns:a16="http://schemas.microsoft.com/office/drawing/2014/main" id="{601B3710-AF71-1C0B-47D2-82BFF70EAD82}"/>
              </a:ext>
            </a:extLst>
          </p:cNvPr>
          <p:cNvSpPr txBox="1"/>
          <p:nvPr/>
        </p:nvSpPr>
        <p:spPr>
          <a:xfrm>
            <a:off x="3486360" y="6346748"/>
            <a:ext cx="806631" cy="161583"/>
          </a:xfrm>
          <a:prstGeom prst="rect">
            <a:avLst/>
          </a:prstGeom>
          <a:noFill/>
          <a:ln>
            <a:solidFill>
              <a:schemeClr val="accent1"/>
            </a:solidFill>
          </a:ln>
        </p:spPr>
        <p:txBody>
          <a:bodyPr wrap="none" tIns="0" bIns="0" rtlCol="0">
            <a:spAutoFit/>
          </a:bodyPr>
          <a:lstStyle/>
          <a:p>
            <a:r>
              <a:rPr lang="en-US" sz="1050" dirty="0"/>
              <a:t>SP[L] </a:t>
            </a:r>
            <a:r>
              <a:rPr lang="en-US" sz="1050" dirty="0" err="1"/>
              <a:t>Ld</a:t>
            </a:r>
            <a:r>
              <a:rPr lang="en-US" sz="1050" dirty="0"/>
              <a:t> En</a:t>
            </a:r>
          </a:p>
        </p:txBody>
      </p:sp>
      <p:sp>
        <p:nvSpPr>
          <p:cNvPr id="44" name="Arrow: Right 43">
            <a:extLst>
              <a:ext uri="{FF2B5EF4-FFF2-40B4-BE49-F238E27FC236}">
                <a16:creationId xmlns:a16="http://schemas.microsoft.com/office/drawing/2014/main" id="{F965EC50-7776-DA91-1646-9AB8B1B71517}"/>
              </a:ext>
            </a:extLst>
          </p:cNvPr>
          <p:cNvSpPr/>
          <p:nvPr/>
        </p:nvSpPr>
        <p:spPr>
          <a:xfrm>
            <a:off x="4155574" y="3048990"/>
            <a:ext cx="334519" cy="369332"/>
          </a:xfrm>
          <a:prstGeom prst="rightArrow">
            <a:avLst/>
          </a:prstGeom>
          <a:solidFill>
            <a:schemeClr val="accent6">
              <a:lumMod val="60000"/>
              <a:lumOff val="40000"/>
              <a:alpha val="50000"/>
            </a:schemeClr>
          </a:solidFill>
          <a:ln>
            <a:noFill/>
          </a:ln>
        </p:spPr>
        <p:style>
          <a:lnRef idx="0">
            <a:scrgbClr r="0" g="0" b="0"/>
          </a:lnRef>
          <a:fillRef idx="0">
            <a:scrgbClr r="0" g="0" b="0"/>
          </a:fillRef>
          <a:effectRef idx="0">
            <a:scrgbClr r="0" g="0" b="0"/>
          </a:effectRef>
          <a:fontRef idx="minor">
            <a:schemeClr val="lt1"/>
          </a:fontRef>
        </p:style>
        <p:txBody>
          <a:bodyPr wrap="none" rtlCol="0" anchor="ctr"/>
          <a:lstStyle/>
          <a:p>
            <a:pPr algn="ctr"/>
            <a:r>
              <a:rPr lang="en-US" sz="800" dirty="0">
                <a:solidFill>
                  <a:schemeClr val="tx1"/>
                </a:solidFill>
              </a:rPr>
              <a:t>SP 7:4</a:t>
            </a:r>
          </a:p>
        </p:txBody>
      </p:sp>
      <p:sp>
        <p:nvSpPr>
          <p:cNvPr id="45" name="Arrow: Right 44">
            <a:extLst>
              <a:ext uri="{FF2B5EF4-FFF2-40B4-BE49-F238E27FC236}">
                <a16:creationId xmlns:a16="http://schemas.microsoft.com/office/drawing/2014/main" id="{A8755468-62E3-D2CD-0D67-3335408F9D6D}"/>
              </a:ext>
            </a:extLst>
          </p:cNvPr>
          <p:cNvSpPr/>
          <p:nvPr/>
        </p:nvSpPr>
        <p:spPr>
          <a:xfrm>
            <a:off x="4164785" y="2128567"/>
            <a:ext cx="334519" cy="369332"/>
          </a:xfrm>
          <a:prstGeom prst="rightArrow">
            <a:avLst/>
          </a:prstGeom>
          <a:solidFill>
            <a:schemeClr val="accent6">
              <a:lumMod val="60000"/>
              <a:lumOff val="40000"/>
              <a:alpha val="50000"/>
            </a:schemeClr>
          </a:solidFill>
          <a:ln>
            <a:noFill/>
          </a:ln>
        </p:spPr>
        <p:style>
          <a:lnRef idx="0">
            <a:scrgbClr r="0" g="0" b="0"/>
          </a:lnRef>
          <a:fillRef idx="0">
            <a:scrgbClr r="0" g="0" b="0"/>
          </a:fillRef>
          <a:effectRef idx="0">
            <a:scrgbClr r="0" g="0" b="0"/>
          </a:effectRef>
          <a:fontRef idx="minor">
            <a:schemeClr val="lt1"/>
          </a:fontRef>
        </p:style>
        <p:txBody>
          <a:bodyPr wrap="none" rtlCol="0" anchor="ctr"/>
          <a:lstStyle/>
          <a:p>
            <a:pPr algn="ctr"/>
            <a:r>
              <a:rPr lang="en-US" sz="800" dirty="0">
                <a:solidFill>
                  <a:schemeClr val="tx1"/>
                </a:solidFill>
              </a:rPr>
              <a:t>SP 3:0</a:t>
            </a:r>
          </a:p>
        </p:txBody>
      </p:sp>
      <p:sp>
        <p:nvSpPr>
          <p:cNvPr id="6" name="TextBox 5">
            <a:hlinkClick r:id="rId10" action="ppaction://hlinksldjump"/>
            <a:extLst>
              <a:ext uri="{FF2B5EF4-FFF2-40B4-BE49-F238E27FC236}">
                <a16:creationId xmlns:a16="http://schemas.microsoft.com/office/drawing/2014/main" id="{AB509AA6-9955-B7AE-91B2-722FB9F13BC7}"/>
              </a:ext>
            </a:extLst>
          </p:cNvPr>
          <p:cNvSpPr txBox="1"/>
          <p:nvPr/>
        </p:nvSpPr>
        <p:spPr>
          <a:xfrm>
            <a:off x="2897807" y="1313916"/>
            <a:ext cx="694421" cy="161583"/>
          </a:xfrm>
          <a:prstGeom prst="rect">
            <a:avLst/>
          </a:prstGeom>
          <a:solidFill>
            <a:schemeClr val="bg1"/>
          </a:solidFill>
          <a:ln>
            <a:solidFill>
              <a:schemeClr val="accent1"/>
            </a:solidFill>
          </a:ln>
        </p:spPr>
        <p:txBody>
          <a:bodyPr wrap="none" tIns="0" bIns="0" rtlCol="0">
            <a:spAutoFit/>
          </a:bodyPr>
          <a:lstStyle/>
          <a:p>
            <a:pPr algn="r"/>
            <a:r>
              <a:rPr lang="en-US" sz="1050" dirty="0"/>
              <a:t>Main CLK</a:t>
            </a:r>
          </a:p>
        </p:txBody>
      </p:sp>
      <p:pic>
        <p:nvPicPr>
          <p:cNvPr id="9" name="Picture 8">
            <a:extLst>
              <a:ext uri="{FF2B5EF4-FFF2-40B4-BE49-F238E27FC236}">
                <a16:creationId xmlns:a16="http://schemas.microsoft.com/office/drawing/2014/main" id="{46743DE9-41ED-92D7-1711-A64918BD2E02}"/>
              </a:ext>
            </a:extLst>
          </p:cNvPr>
          <p:cNvPicPr>
            <a:picLocks noChangeAspect="1"/>
          </p:cNvPicPr>
          <p:nvPr/>
        </p:nvPicPr>
        <p:blipFill>
          <a:blip r:embed="rId11"/>
          <a:stretch>
            <a:fillRect/>
          </a:stretch>
        </p:blipFill>
        <p:spPr>
          <a:xfrm rot="5400000">
            <a:off x="3187491" y="2278874"/>
            <a:ext cx="5214490" cy="1534680"/>
          </a:xfrm>
          <a:prstGeom prst="rect">
            <a:avLst/>
          </a:prstGeom>
        </p:spPr>
      </p:pic>
      <p:pic>
        <p:nvPicPr>
          <p:cNvPr id="18" name="Picture 17">
            <a:extLst>
              <a:ext uri="{FF2B5EF4-FFF2-40B4-BE49-F238E27FC236}">
                <a16:creationId xmlns:a16="http://schemas.microsoft.com/office/drawing/2014/main" id="{33BBEB8C-A0AF-2A2B-289A-25F139F9A90D}"/>
              </a:ext>
            </a:extLst>
          </p:cNvPr>
          <p:cNvPicPr>
            <a:picLocks noChangeAspect="1"/>
          </p:cNvPicPr>
          <p:nvPr/>
        </p:nvPicPr>
        <p:blipFill>
          <a:blip r:embed="rId12"/>
          <a:stretch>
            <a:fillRect/>
          </a:stretch>
        </p:blipFill>
        <p:spPr>
          <a:xfrm>
            <a:off x="4871914" y="4898635"/>
            <a:ext cx="1836295" cy="1301963"/>
          </a:xfrm>
          <a:prstGeom prst="rect">
            <a:avLst/>
          </a:prstGeom>
        </p:spPr>
      </p:pic>
      <p:sp>
        <p:nvSpPr>
          <p:cNvPr id="23" name="TextBox 22">
            <a:extLst>
              <a:ext uri="{FF2B5EF4-FFF2-40B4-BE49-F238E27FC236}">
                <a16:creationId xmlns:a16="http://schemas.microsoft.com/office/drawing/2014/main" id="{4C135BDD-CBA8-AB6F-8D41-78BB8EE7A68D}"/>
              </a:ext>
            </a:extLst>
          </p:cNvPr>
          <p:cNvSpPr txBox="1"/>
          <p:nvPr/>
        </p:nvSpPr>
        <p:spPr>
          <a:xfrm>
            <a:off x="5361669" y="1903415"/>
            <a:ext cx="606256" cy="369332"/>
          </a:xfrm>
          <a:prstGeom prst="rect">
            <a:avLst/>
          </a:prstGeom>
          <a:noFill/>
        </p:spPr>
        <p:txBody>
          <a:bodyPr wrap="none" rtlCol="0">
            <a:spAutoFit/>
          </a:bodyPr>
          <a:lstStyle/>
          <a:p>
            <a:r>
              <a:rPr lang="en-US" sz="900" dirty="0">
                <a:solidFill>
                  <a:srgbClr val="0070C0"/>
                </a:solidFill>
              </a:rPr>
              <a:t>74HC191</a:t>
            </a:r>
          </a:p>
          <a:p>
            <a:r>
              <a:rPr lang="en-US" sz="900" dirty="0">
                <a:solidFill>
                  <a:srgbClr val="0070C0"/>
                </a:solidFill>
              </a:rPr>
              <a:t>A3:A0</a:t>
            </a:r>
          </a:p>
        </p:txBody>
      </p:sp>
      <p:sp>
        <p:nvSpPr>
          <p:cNvPr id="24" name="TextBox 23">
            <a:extLst>
              <a:ext uri="{FF2B5EF4-FFF2-40B4-BE49-F238E27FC236}">
                <a16:creationId xmlns:a16="http://schemas.microsoft.com/office/drawing/2014/main" id="{40BB5318-6243-B5C1-74C8-110240BB9288}"/>
              </a:ext>
            </a:extLst>
          </p:cNvPr>
          <p:cNvSpPr txBox="1"/>
          <p:nvPr/>
        </p:nvSpPr>
        <p:spPr>
          <a:xfrm>
            <a:off x="5361669" y="3207661"/>
            <a:ext cx="606256" cy="369332"/>
          </a:xfrm>
          <a:prstGeom prst="rect">
            <a:avLst/>
          </a:prstGeom>
          <a:noFill/>
        </p:spPr>
        <p:txBody>
          <a:bodyPr wrap="none" rtlCol="0">
            <a:spAutoFit/>
          </a:bodyPr>
          <a:lstStyle/>
          <a:p>
            <a:r>
              <a:rPr lang="en-US" sz="900" dirty="0">
                <a:solidFill>
                  <a:srgbClr val="0070C0"/>
                </a:solidFill>
              </a:rPr>
              <a:t>74HC191</a:t>
            </a:r>
          </a:p>
          <a:p>
            <a:r>
              <a:rPr lang="en-US" sz="900" dirty="0">
                <a:solidFill>
                  <a:srgbClr val="0070C0"/>
                </a:solidFill>
              </a:rPr>
              <a:t>A7:A4</a:t>
            </a:r>
          </a:p>
        </p:txBody>
      </p:sp>
      <p:sp>
        <p:nvSpPr>
          <p:cNvPr id="25" name="TextBox 24">
            <a:extLst>
              <a:ext uri="{FF2B5EF4-FFF2-40B4-BE49-F238E27FC236}">
                <a16:creationId xmlns:a16="http://schemas.microsoft.com/office/drawing/2014/main" id="{F529A7FF-C862-0524-8E59-DFC8CA765170}"/>
              </a:ext>
            </a:extLst>
          </p:cNvPr>
          <p:cNvSpPr txBox="1"/>
          <p:nvPr/>
        </p:nvSpPr>
        <p:spPr>
          <a:xfrm>
            <a:off x="5361669" y="4511907"/>
            <a:ext cx="606256" cy="369332"/>
          </a:xfrm>
          <a:prstGeom prst="rect">
            <a:avLst/>
          </a:prstGeom>
          <a:noFill/>
        </p:spPr>
        <p:txBody>
          <a:bodyPr wrap="none" rtlCol="0">
            <a:spAutoFit/>
          </a:bodyPr>
          <a:lstStyle/>
          <a:p>
            <a:r>
              <a:rPr lang="en-US" sz="900" dirty="0">
                <a:solidFill>
                  <a:srgbClr val="0070C0"/>
                </a:solidFill>
              </a:rPr>
              <a:t>74HC191</a:t>
            </a:r>
          </a:p>
          <a:p>
            <a:r>
              <a:rPr lang="en-US" sz="900" dirty="0">
                <a:solidFill>
                  <a:srgbClr val="0070C0"/>
                </a:solidFill>
              </a:rPr>
              <a:t>A11:A8</a:t>
            </a:r>
          </a:p>
        </p:txBody>
      </p:sp>
      <p:sp>
        <p:nvSpPr>
          <p:cNvPr id="26" name="TextBox 25">
            <a:extLst>
              <a:ext uri="{FF2B5EF4-FFF2-40B4-BE49-F238E27FC236}">
                <a16:creationId xmlns:a16="http://schemas.microsoft.com/office/drawing/2014/main" id="{520D7FE1-04BB-8E2A-16A4-79173D3D5C73}"/>
              </a:ext>
            </a:extLst>
          </p:cNvPr>
          <p:cNvSpPr txBox="1"/>
          <p:nvPr/>
        </p:nvSpPr>
        <p:spPr>
          <a:xfrm>
            <a:off x="5361669" y="5816152"/>
            <a:ext cx="606256" cy="369332"/>
          </a:xfrm>
          <a:prstGeom prst="rect">
            <a:avLst/>
          </a:prstGeom>
          <a:noFill/>
        </p:spPr>
        <p:txBody>
          <a:bodyPr wrap="none" rtlCol="0">
            <a:spAutoFit/>
          </a:bodyPr>
          <a:lstStyle/>
          <a:p>
            <a:r>
              <a:rPr lang="en-US" sz="900" dirty="0">
                <a:solidFill>
                  <a:srgbClr val="0070C0"/>
                </a:solidFill>
              </a:rPr>
              <a:t>74HC191</a:t>
            </a:r>
          </a:p>
          <a:p>
            <a:r>
              <a:rPr lang="en-US" sz="900" dirty="0">
                <a:solidFill>
                  <a:srgbClr val="0070C0"/>
                </a:solidFill>
              </a:rPr>
              <a:t>A15:A12</a:t>
            </a:r>
          </a:p>
        </p:txBody>
      </p:sp>
      <p:grpSp>
        <p:nvGrpSpPr>
          <p:cNvPr id="27" name="Group 26">
            <a:extLst>
              <a:ext uri="{FF2B5EF4-FFF2-40B4-BE49-F238E27FC236}">
                <a16:creationId xmlns:a16="http://schemas.microsoft.com/office/drawing/2014/main" id="{0F7CCEC9-3635-3F91-E87E-348C3BC18570}"/>
              </a:ext>
            </a:extLst>
          </p:cNvPr>
          <p:cNvGrpSpPr/>
          <p:nvPr/>
        </p:nvGrpSpPr>
        <p:grpSpPr>
          <a:xfrm>
            <a:off x="8151297" y="4001738"/>
            <a:ext cx="1649961" cy="1759002"/>
            <a:chOff x="6509659" y="1033443"/>
            <a:chExt cx="1649961" cy="1759001"/>
          </a:xfrm>
        </p:grpSpPr>
        <p:pic>
          <p:nvPicPr>
            <p:cNvPr id="28" name="Picture 27">
              <a:extLst>
                <a:ext uri="{FF2B5EF4-FFF2-40B4-BE49-F238E27FC236}">
                  <a16:creationId xmlns:a16="http://schemas.microsoft.com/office/drawing/2014/main" id="{E3576D90-730B-73AF-6047-EB5DF45C0EB3}"/>
                </a:ext>
              </a:extLst>
            </p:cNvPr>
            <p:cNvPicPr>
              <a:picLocks noChangeAspect="1"/>
            </p:cNvPicPr>
            <p:nvPr/>
          </p:nvPicPr>
          <p:blipFill rotWithShape="1">
            <a:blip r:embed="rId3"/>
            <a:srcRect l="24506" t="8997" r="26094" b="1220"/>
            <a:stretch/>
          </p:blipFill>
          <p:spPr>
            <a:xfrm>
              <a:off x="6509659" y="1033443"/>
              <a:ext cx="1649961" cy="1759001"/>
            </a:xfrm>
            <a:prstGeom prst="rect">
              <a:avLst/>
            </a:prstGeom>
          </p:spPr>
        </p:pic>
        <p:sp>
          <p:nvSpPr>
            <p:cNvPr id="29" name="TextBox 28">
              <a:extLst>
                <a:ext uri="{FF2B5EF4-FFF2-40B4-BE49-F238E27FC236}">
                  <a16:creationId xmlns:a16="http://schemas.microsoft.com/office/drawing/2014/main" id="{86505B00-BAB8-7A36-7A74-DB96A19BBBE5}"/>
                </a:ext>
              </a:extLst>
            </p:cNvPr>
            <p:cNvSpPr txBox="1"/>
            <p:nvPr/>
          </p:nvSpPr>
          <p:spPr>
            <a:xfrm rot="16200000">
              <a:off x="6730475" y="1619573"/>
              <a:ext cx="1416605" cy="276999"/>
            </a:xfrm>
            <a:prstGeom prst="rect">
              <a:avLst/>
            </a:prstGeom>
            <a:noFill/>
          </p:spPr>
          <p:txBody>
            <a:bodyPr wrap="none" rtlCol="0">
              <a:spAutoFit/>
            </a:bodyPr>
            <a:lstStyle/>
            <a:p>
              <a:r>
                <a:rPr lang="en-US" sz="1200" dirty="0">
                  <a:hlinkClick r:id="rId4" action="ppaction://hlinksldjump"/>
                </a:rPr>
                <a:t>574: Stack  </a:t>
              </a:r>
              <a:r>
                <a:rPr lang="en-US" sz="1200" dirty="0" err="1">
                  <a:hlinkClick r:id="rId4" action="ppaction://hlinksldjump"/>
                </a:rPr>
                <a:t>Ptr</a:t>
              </a:r>
              <a:r>
                <a:rPr lang="en-US" sz="1200" dirty="0">
                  <a:hlinkClick r:id="rId4" action="ppaction://hlinksldjump"/>
                </a:rPr>
                <a:t> Page</a:t>
              </a:r>
              <a:endParaRPr lang="en-US" sz="1200" dirty="0"/>
            </a:p>
          </p:txBody>
        </p:sp>
      </p:grpSp>
      <p:sp>
        <p:nvSpPr>
          <p:cNvPr id="39" name="Arrow: Right 38">
            <a:extLst>
              <a:ext uri="{FF2B5EF4-FFF2-40B4-BE49-F238E27FC236}">
                <a16:creationId xmlns:a16="http://schemas.microsoft.com/office/drawing/2014/main" id="{93AE019C-1FA1-9266-97F1-F14397ACC3C3}"/>
              </a:ext>
            </a:extLst>
          </p:cNvPr>
          <p:cNvSpPr/>
          <p:nvPr/>
        </p:nvSpPr>
        <p:spPr>
          <a:xfrm>
            <a:off x="6849999" y="5653459"/>
            <a:ext cx="618666"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100" dirty="0"/>
              <a:t>A15..A12</a:t>
            </a:r>
          </a:p>
        </p:txBody>
      </p:sp>
      <p:sp>
        <p:nvSpPr>
          <p:cNvPr id="43" name="Arrow: Right 42">
            <a:extLst>
              <a:ext uri="{FF2B5EF4-FFF2-40B4-BE49-F238E27FC236}">
                <a16:creationId xmlns:a16="http://schemas.microsoft.com/office/drawing/2014/main" id="{9D8A4068-A1AB-94C9-056C-F199E14AD0A2}"/>
              </a:ext>
            </a:extLst>
          </p:cNvPr>
          <p:cNvSpPr/>
          <p:nvPr/>
        </p:nvSpPr>
        <p:spPr>
          <a:xfrm>
            <a:off x="6849999" y="4365939"/>
            <a:ext cx="627556"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100" dirty="0"/>
              <a:t>A11..A8</a:t>
            </a:r>
          </a:p>
        </p:txBody>
      </p:sp>
      <p:pic>
        <p:nvPicPr>
          <p:cNvPr id="46" name="Picture 45" descr="Diagram&#10;&#10;Description automatically generated with low confidence">
            <a:extLst>
              <a:ext uri="{FF2B5EF4-FFF2-40B4-BE49-F238E27FC236}">
                <a16:creationId xmlns:a16="http://schemas.microsoft.com/office/drawing/2014/main" id="{5EA05BF8-0F0D-01EA-1FCA-8FF98EA9B101}"/>
              </a:ext>
            </a:extLst>
          </p:cNvPr>
          <p:cNvPicPr>
            <a:picLocks noChangeAspect="1"/>
          </p:cNvPicPr>
          <p:nvPr/>
        </p:nvPicPr>
        <p:blipFill rotWithShape="1">
          <a:blip r:embed="rId13">
            <a:extLst>
              <a:ext uri="{28A0092B-C50C-407E-A947-70E740481C1C}">
                <a14:useLocalDpi xmlns:a14="http://schemas.microsoft.com/office/drawing/2010/main" val="0"/>
              </a:ext>
              <a:ext uri="{837473B0-CC2E-450A-ABE3-18F120FF3D39}">
                <a1611:picAttrSrcUrl xmlns:a1611="http://schemas.microsoft.com/office/drawing/2016/11/main" r:id="rId14"/>
              </a:ext>
            </a:extLst>
          </a:blip>
          <a:srcRect t="-3588" r="58979" b="29396"/>
          <a:stretch/>
        </p:blipFill>
        <p:spPr>
          <a:xfrm>
            <a:off x="4084712" y="1250689"/>
            <a:ext cx="440821" cy="311727"/>
          </a:xfrm>
          <a:prstGeom prst="rect">
            <a:avLst/>
          </a:prstGeom>
          <a:solidFill>
            <a:schemeClr val="bg1"/>
          </a:solidFill>
        </p:spPr>
      </p:pic>
      <p:pic>
        <p:nvPicPr>
          <p:cNvPr id="47" name="Picture 46" descr="Diagram&#10;&#10;Description automatically generated with low confidence">
            <a:extLst>
              <a:ext uri="{FF2B5EF4-FFF2-40B4-BE49-F238E27FC236}">
                <a16:creationId xmlns:a16="http://schemas.microsoft.com/office/drawing/2014/main" id="{1FB96769-6FF3-1662-7004-F6C5EE5E8CDB}"/>
              </a:ext>
            </a:extLst>
          </p:cNvPr>
          <p:cNvPicPr>
            <a:picLocks noChangeAspect="1"/>
          </p:cNvPicPr>
          <p:nvPr/>
        </p:nvPicPr>
        <p:blipFill rotWithShape="1">
          <a:blip r:embed="rId13">
            <a:extLst>
              <a:ext uri="{28A0092B-C50C-407E-A947-70E740481C1C}">
                <a14:useLocalDpi xmlns:a14="http://schemas.microsoft.com/office/drawing/2010/main" val="0"/>
              </a:ext>
              <a:ext uri="{837473B0-CC2E-450A-ABE3-18F120FF3D39}">
                <a1611:picAttrSrcUrl xmlns:a1611="http://schemas.microsoft.com/office/drawing/2016/11/main" r:id="rId14"/>
              </a:ext>
            </a:extLst>
          </a:blip>
          <a:srcRect t="-3588" r="58979" b="29396"/>
          <a:stretch/>
        </p:blipFill>
        <p:spPr>
          <a:xfrm>
            <a:off x="4084712" y="899686"/>
            <a:ext cx="440821" cy="311727"/>
          </a:xfrm>
          <a:prstGeom prst="rect">
            <a:avLst/>
          </a:prstGeom>
          <a:solidFill>
            <a:schemeClr val="bg1"/>
          </a:solidFill>
        </p:spPr>
      </p:pic>
      <p:pic>
        <p:nvPicPr>
          <p:cNvPr id="48" name="Picture 47" descr="Diagram&#10;&#10;Description automatically generated with low confidence">
            <a:extLst>
              <a:ext uri="{FF2B5EF4-FFF2-40B4-BE49-F238E27FC236}">
                <a16:creationId xmlns:a16="http://schemas.microsoft.com/office/drawing/2014/main" id="{C9480225-1EA3-81CE-3CA6-BFF80FDF14DD}"/>
              </a:ext>
            </a:extLst>
          </p:cNvPr>
          <p:cNvPicPr>
            <a:picLocks noChangeAspect="1"/>
          </p:cNvPicPr>
          <p:nvPr/>
        </p:nvPicPr>
        <p:blipFill rotWithShape="1">
          <a:blip r:embed="rId13">
            <a:extLst>
              <a:ext uri="{28A0092B-C50C-407E-A947-70E740481C1C}">
                <a14:useLocalDpi xmlns:a14="http://schemas.microsoft.com/office/drawing/2010/main" val="0"/>
              </a:ext>
              <a:ext uri="{837473B0-CC2E-450A-ABE3-18F120FF3D39}">
                <a1611:picAttrSrcUrl xmlns:a1611="http://schemas.microsoft.com/office/drawing/2016/11/main" r:id="rId14"/>
              </a:ext>
            </a:extLst>
          </a:blip>
          <a:srcRect t="-3588" r="58979" b="29396"/>
          <a:stretch/>
        </p:blipFill>
        <p:spPr>
          <a:xfrm>
            <a:off x="4084712" y="548684"/>
            <a:ext cx="440821" cy="311727"/>
          </a:xfrm>
          <a:prstGeom prst="rect">
            <a:avLst/>
          </a:prstGeom>
          <a:solidFill>
            <a:schemeClr val="bg1"/>
          </a:solidFill>
        </p:spPr>
      </p:pic>
      <p:cxnSp>
        <p:nvCxnSpPr>
          <p:cNvPr id="50" name="Connector: Elbow 49">
            <a:extLst>
              <a:ext uri="{FF2B5EF4-FFF2-40B4-BE49-F238E27FC236}">
                <a16:creationId xmlns:a16="http://schemas.microsoft.com/office/drawing/2014/main" id="{E788B17A-D900-AD0F-DA25-26792B08128C}"/>
              </a:ext>
            </a:extLst>
          </p:cNvPr>
          <p:cNvCxnSpPr>
            <a:stCxn id="48" idx="3"/>
          </p:cNvCxnSpPr>
          <p:nvPr/>
        </p:nvCxnSpPr>
        <p:spPr>
          <a:xfrm>
            <a:off x="4525533" y="704548"/>
            <a:ext cx="1875267" cy="633045"/>
          </a:xfrm>
          <a:prstGeom prst="bentConnector3">
            <a:avLst>
              <a:gd name="adj1" fmla="val 99567"/>
            </a:avLst>
          </a:prstGeom>
        </p:spPr>
        <p:style>
          <a:lnRef idx="1">
            <a:schemeClr val="accent1"/>
          </a:lnRef>
          <a:fillRef idx="0">
            <a:schemeClr val="accent1"/>
          </a:fillRef>
          <a:effectRef idx="0">
            <a:schemeClr val="accent1"/>
          </a:effectRef>
          <a:fontRef idx="minor">
            <a:schemeClr val="tx1"/>
          </a:fontRef>
        </p:style>
      </p:cxnSp>
      <p:cxnSp>
        <p:nvCxnSpPr>
          <p:cNvPr id="55" name="Connector: Elbow 54">
            <a:extLst>
              <a:ext uri="{FF2B5EF4-FFF2-40B4-BE49-F238E27FC236}">
                <a16:creationId xmlns:a16="http://schemas.microsoft.com/office/drawing/2014/main" id="{3A317F77-FC59-730C-4075-25E13E67D14A}"/>
              </a:ext>
            </a:extLst>
          </p:cNvPr>
          <p:cNvCxnSpPr>
            <a:stCxn id="56" idx="3"/>
            <a:endCxn id="48" idx="1"/>
          </p:cNvCxnSpPr>
          <p:nvPr/>
        </p:nvCxnSpPr>
        <p:spPr>
          <a:xfrm flipV="1">
            <a:off x="3590780" y="704548"/>
            <a:ext cx="493932" cy="107706"/>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57" name="Connector: Elbow 56">
            <a:extLst>
              <a:ext uri="{FF2B5EF4-FFF2-40B4-BE49-F238E27FC236}">
                <a16:creationId xmlns:a16="http://schemas.microsoft.com/office/drawing/2014/main" id="{F85232ED-5AA5-0659-1C65-1FD9E1427B3D}"/>
              </a:ext>
            </a:extLst>
          </p:cNvPr>
          <p:cNvCxnSpPr>
            <a:cxnSpLocks/>
            <a:stCxn id="47" idx="3"/>
          </p:cNvCxnSpPr>
          <p:nvPr/>
        </p:nvCxnSpPr>
        <p:spPr>
          <a:xfrm>
            <a:off x="4525533" y="1055550"/>
            <a:ext cx="1236229" cy="12113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61" name="Connector: Elbow 60">
            <a:extLst>
              <a:ext uri="{FF2B5EF4-FFF2-40B4-BE49-F238E27FC236}">
                <a16:creationId xmlns:a16="http://schemas.microsoft.com/office/drawing/2014/main" id="{71BD0C3A-7CE5-F551-03E1-6419CDC09DC8}"/>
              </a:ext>
            </a:extLst>
          </p:cNvPr>
          <p:cNvCxnSpPr>
            <a:cxnSpLocks/>
            <a:stCxn id="54" idx="3"/>
            <a:endCxn id="47" idx="1"/>
          </p:cNvCxnSpPr>
          <p:nvPr/>
        </p:nvCxnSpPr>
        <p:spPr>
          <a:xfrm flipV="1">
            <a:off x="3590780" y="1055550"/>
            <a:ext cx="493932" cy="29697"/>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B24E38BE-6C38-E33D-D6BC-BC1BAE4A77B9}"/>
              </a:ext>
            </a:extLst>
          </p:cNvPr>
          <p:cNvCxnSpPr>
            <a:cxnSpLocks/>
            <a:stCxn id="46" idx="3"/>
          </p:cNvCxnSpPr>
          <p:nvPr/>
        </p:nvCxnSpPr>
        <p:spPr>
          <a:xfrm>
            <a:off x="4525533" y="1406553"/>
            <a:ext cx="551523" cy="19562"/>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68" name="Connector: Elbow 67">
            <a:extLst>
              <a:ext uri="{FF2B5EF4-FFF2-40B4-BE49-F238E27FC236}">
                <a16:creationId xmlns:a16="http://schemas.microsoft.com/office/drawing/2014/main" id="{59B5B451-4BEA-45C2-11A9-4379676AE22F}"/>
              </a:ext>
            </a:extLst>
          </p:cNvPr>
          <p:cNvCxnSpPr>
            <a:cxnSpLocks/>
            <a:stCxn id="6" idx="3"/>
            <a:endCxn id="46" idx="1"/>
          </p:cNvCxnSpPr>
          <p:nvPr/>
        </p:nvCxnSpPr>
        <p:spPr>
          <a:xfrm>
            <a:off x="3592228" y="1394708"/>
            <a:ext cx="492484" cy="11845"/>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81" name="Connector: Elbow 80">
            <a:extLst>
              <a:ext uri="{FF2B5EF4-FFF2-40B4-BE49-F238E27FC236}">
                <a16:creationId xmlns:a16="http://schemas.microsoft.com/office/drawing/2014/main" id="{C46D2E14-94B6-7818-BA96-955F7151B0B3}"/>
              </a:ext>
            </a:extLst>
          </p:cNvPr>
          <p:cNvCxnSpPr>
            <a:cxnSpLocks/>
            <a:stCxn id="23" idx="1"/>
            <a:endCxn id="2" idx="3"/>
          </p:cNvCxnSpPr>
          <p:nvPr/>
        </p:nvCxnSpPr>
        <p:spPr>
          <a:xfrm rot="10800000">
            <a:off x="4212319" y="1930995"/>
            <a:ext cx="1149350" cy="157086"/>
          </a:xfrm>
          <a:prstGeom prst="bentConnector3">
            <a:avLst>
              <a:gd name="adj1" fmla="val 50000"/>
            </a:avLst>
          </a:prstGeom>
        </p:spPr>
        <p:style>
          <a:lnRef idx="1">
            <a:schemeClr val="accent6"/>
          </a:lnRef>
          <a:fillRef idx="0">
            <a:schemeClr val="accent6"/>
          </a:fillRef>
          <a:effectRef idx="0">
            <a:schemeClr val="accent6"/>
          </a:effectRef>
          <a:fontRef idx="minor">
            <a:schemeClr val="tx1"/>
          </a:fontRef>
        </p:style>
      </p:cxnSp>
      <p:cxnSp>
        <p:nvCxnSpPr>
          <p:cNvPr id="88" name="Connector: Elbow 87">
            <a:extLst>
              <a:ext uri="{FF2B5EF4-FFF2-40B4-BE49-F238E27FC236}">
                <a16:creationId xmlns:a16="http://schemas.microsoft.com/office/drawing/2014/main" id="{272DA0E9-66D9-4BD2-2E8D-6B1673F61F20}"/>
              </a:ext>
            </a:extLst>
          </p:cNvPr>
          <p:cNvCxnSpPr>
            <a:cxnSpLocks/>
            <a:stCxn id="24" idx="1"/>
            <a:endCxn id="2" idx="3"/>
          </p:cNvCxnSpPr>
          <p:nvPr/>
        </p:nvCxnSpPr>
        <p:spPr>
          <a:xfrm rot="10800000">
            <a:off x="4212319" y="1930995"/>
            <a:ext cx="1149350" cy="1461332"/>
          </a:xfrm>
          <a:prstGeom prst="bentConnector3">
            <a:avLst>
              <a:gd name="adj1" fmla="val 50000"/>
            </a:avLst>
          </a:prstGeom>
        </p:spPr>
        <p:style>
          <a:lnRef idx="1">
            <a:schemeClr val="accent6"/>
          </a:lnRef>
          <a:fillRef idx="0">
            <a:schemeClr val="accent6"/>
          </a:fillRef>
          <a:effectRef idx="0">
            <a:schemeClr val="accent6"/>
          </a:effectRef>
          <a:fontRef idx="minor">
            <a:schemeClr val="tx1"/>
          </a:fontRef>
        </p:style>
      </p:cxnSp>
      <p:cxnSp>
        <p:nvCxnSpPr>
          <p:cNvPr id="21" name="Connector: Elbow 20">
            <a:extLst>
              <a:ext uri="{FF2B5EF4-FFF2-40B4-BE49-F238E27FC236}">
                <a16:creationId xmlns:a16="http://schemas.microsoft.com/office/drawing/2014/main" id="{5D8F97B8-FC59-07A9-8BE7-0AED49F65303}"/>
              </a:ext>
            </a:extLst>
          </p:cNvPr>
          <p:cNvCxnSpPr>
            <a:cxnSpLocks/>
            <a:stCxn id="25" idx="1"/>
            <a:endCxn id="13" idx="3"/>
          </p:cNvCxnSpPr>
          <p:nvPr/>
        </p:nvCxnSpPr>
        <p:spPr>
          <a:xfrm rot="10800000" flipV="1">
            <a:off x="4292991" y="4696572"/>
            <a:ext cx="1068678" cy="1730967"/>
          </a:xfrm>
          <a:prstGeom prst="bentConnector3">
            <a:avLst>
              <a:gd name="adj1" fmla="val 50000"/>
            </a:avLst>
          </a:prstGeom>
        </p:spPr>
        <p:style>
          <a:lnRef idx="1">
            <a:schemeClr val="accent6"/>
          </a:lnRef>
          <a:fillRef idx="0">
            <a:schemeClr val="accent6"/>
          </a:fillRef>
          <a:effectRef idx="0">
            <a:schemeClr val="accent6"/>
          </a:effectRef>
          <a:fontRef idx="minor">
            <a:schemeClr val="tx1"/>
          </a:fontRef>
        </p:style>
      </p:cxnSp>
      <p:cxnSp>
        <p:nvCxnSpPr>
          <p:cNvPr id="20" name="Connector: Elbow 19">
            <a:extLst>
              <a:ext uri="{FF2B5EF4-FFF2-40B4-BE49-F238E27FC236}">
                <a16:creationId xmlns:a16="http://schemas.microsoft.com/office/drawing/2014/main" id="{3D8CCA32-3976-7C14-C107-A1A22EFE22E0}"/>
              </a:ext>
            </a:extLst>
          </p:cNvPr>
          <p:cNvCxnSpPr>
            <a:cxnSpLocks/>
            <a:stCxn id="26" idx="1"/>
            <a:endCxn id="13" idx="3"/>
          </p:cNvCxnSpPr>
          <p:nvPr/>
        </p:nvCxnSpPr>
        <p:spPr>
          <a:xfrm rot="10800000" flipV="1">
            <a:off x="4292991" y="6000818"/>
            <a:ext cx="1068678" cy="426722"/>
          </a:xfrm>
          <a:prstGeom prst="bentConnector3">
            <a:avLst>
              <a:gd name="adj1" fmla="val 50000"/>
            </a:avLst>
          </a:prstGeom>
        </p:spPr>
        <p:style>
          <a:lnRef idx="1">
            <a:schemeClr val="accent6"/>
          </a:lnRef>
          <a:fillRef idx="0">
            <a:schemeClr val="accent6"/>
          </a:fillRef>
          <a:effectRef idx="0">
            <a:schemeClr val="accent6"/>
          </a:effectRef>
          <a:fontRef idx="minor">
            <a:schemeClr val="tx1"/>
          </a:fontRef>
        </p:style>
      </p:cxnSp>
      <p:sp>
        <p:nvSpPr>
          <p:cNvPr id="97" name="Arrow: Right 96">
            <a:extLst>
              <a:ext uri="{FF2B5EF4-FFF2-40B4-BE49-F238E27FC236}">
                <a16:creationId xmlns:a16="http://schemas.microsoft.com/office/drawing/2014/main" id="{857B0A46-F305-9439-979E-4C345A9DAA30}"/>
              </a:ext>
            </a:extLst>
          </p:cNvPr>
          <p:cNvSpPr/>
          <p:nvPr/>
        </p:nvSpPr>
        <p:spPr>
          <a:xfrm>
            <a:off x="4149277" y="5438262"/>
            <a:ext cx="334519" cy="369332"/>
          </a:xfrm>
          <a:prstGeom prst="rightArrow">
            <a:avLst/>
          </a:prstGeom>
          <a:solidFill>
            <a:schemeClr val="accent6">
              <a:lumMod val="60000"/>
              <a:lumOff val="40000"/>
              <a:alpha val="50000"/>
            </a:schemeClr>
          </a:solidFill>
          <a:ln>
            <a:noFill/>
          </a:ln>
        </p:spPr>
        <p:style>
          <a:lnRef idx="0">
            <a:scrgbClr r="0" g="0" b="0"/>
          </a:lnRef>
          <a:fillRef idx="0">
            <a:scrgbClr r="0" g="0" b="0"/>
          </a:fillRef>
          <a:effectRef idx="0">
            <a:scrgbClr r="0" g="0" b="0"/>
          </a:effectRef>
          <a:fontRef idx="minor">
            <a:schemeClr val="lt1"/>
          </a:fontRef>
        </p:style>
        <p:txBody>
          <a:bodyPr wrap="none" rtlCol="0" anchor="ctr"/>
          <a:lstStyle/>
          <a:p>
            <a:pPr algn="ctr"/>
            <a:r>
              <a:rPr lang="en-US" sz="800" dirty="0">
                <a:solidFill>
                  <a:schemeClr val="tx1"/>
                </a:solidFill>
              </a:rPr>
              <a:t>SP 7:4</a:t>
            </a:r>
          </a:p>
        </p:txBody>
      </p:sp>
      <p:sp>
        <p:nvSpPr>
          <p:cNvPr id="98" name="Arrow: Right 97">
            <a:extLst>
              <a:ext uri="{FF2B5EF4-FFF2-40B4-BE49-F238E27FC236}">
                <a16:creationId xmlns:a16="http://schemas.microsoft.com/office/drawing/2014/main" id="{F9E9B329-47B7-DC7B-3D7D-7AF35FD5F02B}"/>
              </a:ext>
            </a:extLst>
          </p:cNvPr>
          <p:cNvSpPr/>
          <p:nvPr/>
        </p:nvSpPr>
        <p:spPr>
          <a:xfrm>
            <a:off x="4158488" y="4517839"/>
            <a:ext cx="334519" cy="369332"/>
          </a:xfrm>
          <a:prstGeom prst="rightArrow">
            <a:avLst/>
          </a:prstGeom>
          <a:solidFill>
            <a:schemeClr val="accent6">
              <a:lumMod val="60000"/>
              <a:lumOff val="40000"/>
              <a:alpha val="50000"/>
            </a:schemeClr>
          </a:solidFill>
          <a:ln>
            <a:noFill/>
          </a:ln>
        </p:spPr>
        <p:style>
          <a:lnRef idx="0">
            <a:scrgbClr r="0" g="0" b="0"/>
          </a:lnRef>
          <a:fillRef idx="0">
            <a:scrgbClr r="0" g="0" b="0"/>
          </a:fillRef>
          <a:effectRef idx="0">
            <a:scrgbClr r="0" g="0" b="0"/>
          </a:effectRef>
          <a:fontRef idx="minor">
            <a:schemeClr val="lt1"/>
          </a:fontRef>
        </p:style>
        <p:txBody>
          <a:bodyPr wrap="none" rtlCol="0" anchor="ctr"/>
          <a:lstStyle/>
          <a:p>
            <a:pPr algn="ctr"/>
            <a:r>
              <a:rPr lang="en-US" sz="800" dirty="0">
                <a:solidFill>
                  <a:schemeClr val="tx1"/>
                </a:solidFill>
              </a:rPr>
              <a:t>SP 3:0</a:t>
            </a:r>
          </a:p>
        </p:txBody>
      </p:sp>
      <p:pic>
        <p:nvPicPr>
          <p:cNvPr id="99" name="Picture 98" descr="Diagram&#10;&#10;Description automatically generated with low confidence">
            <a:extLst>
              <a:ext uri="{FF2B5EF4-FFF2-40B4-BE49-F238E27FC236}">
                <a16:creationId xmlns:a16="http://schemas.microsoft.com/office/drawing/2014/main" id="{E05475C4-16CA-EC9A-19F5-83F981954A75}"/>
              </a:ext>
            </a:extLst>
          </p:cNvPr>
          <p:cNvPicPr>
            <a:picLocks noChangeAspect="1"/>
          </p:cNvPicPr>
          <p:nvPr/>
        </p:nvPicPr>
        <p:blipFill rotWithShape="1">
          <a:blip r:embed="rId13">
            <a:extLst>
              <a:ext uri="{28A0092B-C50C-407E-A947-70E740481C1C}">
                <a14:useLocalDpi xmlns:a14="http://schemas.microsoft.com/office/drawing/2010/main" val="0"/>
              </a:ext>
              <a:ext uri="{837473B0-CC2E-450A-ABE3-18F120FF3D39}">
                <a1611:picAttrSrcUrl xmlns:a1611="http://schemas.microsoft.com/office/drawing/2016/11/main" r:id="rId14"/>
              </a:ext>
            </a:extLst>
          </a:blip>
          <a:srcRect t="-3588" r="58979" b="29396"/>
          <a:stretch/>
        </p:blipFill>
        <p:spPr>
          <a:xfrm>
            <a:off x="4247106" y="1781104"/>
            <a:ext cx="440821" cy="311727"/>
          </a:xfrm>
          <a:prstGeom prst="rect">
            <a:avLst/>
          </a:prstGeom>
          <a:solidFill>
            <a:schemeClr val="bg1"/>
          </a:solidFill>
        </p:spPr>
      </p:pic>
      <p:pic>
        <p:nvPicPr>
          <p:cNvPr id="100" name="Picture 99" descr="Diagram&#10;&#10;Description automatically generated with low confidence">
            <a:extLst>
              <a:ext uri="{FF2B5EF4-FFF2-40B4-BE49-F238E27FC236}">
                <a16:creationId xmlns:a16="http://schemas.microsoft.com/office/drawing/2014/main" id="{B499DF80-49C4-372B-CAB8-86A757AB282A}"/>
              </a:ext>
            </a:extLst>
          </p:cNvPr>
          <p:cNvPicPr>
            <a:picLocks noChangeAspect="1"/>
          </p:cNvPicPr>
          <p:nvPr/>
        </p:nvPicPr>
        <p:blipFill rotWithShape="1">
          <a:blip r:embed="rId13">
            <a:extLst>
              <a:ext uri="{28A0092B-C50C-407E-A947-70E740481C1C}">
                <a14:useLocalDpi xmlns:a14="http://schemas.microsoft.com/office/drawing/2010/main" val="0"/>
              </a:ext>
              <a:ext uri="{837473B0-CC2E-450A-ABE3-18F120FF3D39}">
                <a1611:picAttrSrcUrl xmlns:a1611="http://schemas.microsoft.com/office/drawing/2016/11/main" r:id="rId14"/>
              </a:ext>
            </a:extLst>
          </a:blip>
          <a:srcRect t="-3588" r="58979" b="29396"/>
          <a:stretch/>
        </p:blipFill>
        <p:spPr>
          <a:xfrm>
            <a:off x="4346173" y="6273627"/>
            <a:ext cx="440821" cy="311727"/>
          </a:xfrm>
          <a:prstGeom prst="rect">
            <a:avLst/>
          </a:prstGeom>
          <a:solidFill>
            <a:schemeClr val="bg1"/>
          </a:solidFill>
        </p:spPr>
      </p:pic>
    </p:spTree>
    <p:extLst>
      <p:ext uri="{BB962C8B-B14F-4D97-AF65-F5344CB8AC3E}">
        <p14:creationId xmlns:p14="http://schemas.microsoft.com/office/powerpoint/2010/main" val="408663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1026">
            <a:extLst>
              <a:ext uri="{FF2B5EF4-FFF2-40B4-BE49-F238E27FC236}">
                <a16:creationId xmlns:a16="http://schemas.microsoft.com/office/drawing/2014/main" id="{D9829A52-DAB5-4D13-3908-27E54321D262}"/>
              </a:ext>
            </a:extLst>
          </p:cNvPr>
          <p:cNvSpPr/>
          <p:nvPr/>
        </p:nvSpPr>
        <p:spPr>
          <a:xfrm>
            <a:off x="10440793" y="4847260"/>
            <a:ext cx="124073" cy="1274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8" name="Rectangle 1027">
            <a:extLst>
              <a:ext uri="{FF2B5EF4-FFF2-40B4-BE49-F238E27FC236}">
                <a16:creationId xmlns:a16="http://schemas.microsoft.com/office/drawing/2014/main" id="{ECD86B91-57A1-9975-53C3-132FF250C149}"/>
              </a:ext>
            </a:extLst>
          </p:cNvPr>
          <p:cNvSpPr/>
          <p:nvPr/>
        </p:nvSpPr>
        <p:spPr>
          <a:xfrm>
            <a:off x="10440793" y="5138376"/>
            <a:ext cx="124073" cy="1274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9" name="Rectangle 1028">
            <a:extLst>
              <a:ext uri="{FF2B5EF4-FFF2-40B4-BE49-F238E27FC236}">
                <a16:creationId xmlns:a16="http://schemas.microsoft.com/office/drawing/2014/main" id="{4242E08E-5C65-BA2D-07FA-EAB98A83B985}"/>
              </a:ext>
            </a:extLst>
          </p:cNvPr>
          <p:cNvSpPr/>
          <p:nvPr/>
        </p:nvSpPr>
        <p:spPr>
          <a:xfrm>
            <a:off x="11484876" y="3700202"/>
            <a:ext cx="124073" cy="1274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F79FF971-A6F8-9316-35B6-0955954C96F8}"/>
              </a:ext>
            </a:extLst>
          </p:cNvPr>
          <p:cNvSpPr/>
          <p:nvPr/>
        </p:nvSpPr>
        <p:spPr>
          <a:xfrm>
            <a:off x="2614598" y="2573410"/>
            <a:ext cx="124073" cy="1274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8D37BB76-9B16-59F2-7B88-B25FC16784FD}"/>
              </a:ext>
            </a:extLst>
          </p:cNvPr>
          <p:cNvSpPr/>
          <p:nvPr/>
        </p:nvSpPr>
        <p:spPr>
          <a:xfrm>
            <a:off x="5042029" y="2601550"/>
            <a:ext cx="124073" cy="1274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2D0C9EC9-BCA8-99CE-A56E-9FF46AC4E81B}"/>
              </a:ext>
            </a:extLst>
          </p:cNvPr>
          <p:cNvSpPr/>
          <p:nvPr/>
        </p:nvSpPr>
        <p:spPr>
          <a:xfrm>
            <a:off x="3602707" y="2341582"/>
            <a:ext cx="124073" cy="1274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B6BCEAFC-E809-0551-BE3E-AA6CA99B0BD4}"/>
              </a:ext>
            </a:extLst>
          </p:cNvPr>
          <p:cNvSpPr/>
          <p:nvPr/>
        </p:nvSpPr>
        <p:spPr>
          <a:xfrm>
            <a:off x="6001434" y="2329973"/>
            <a:ext cx="124073" cy="1274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EA8DD3-F49B-54E3-0A09-374C6350A8CE}"/>
              </a:ext>
            </a:extLst>
          </p:cNvPr>
          <p:cNvSpPr>
            <a:spLocks noGrp="1"/>
          </p:cNvSpPr>
          <p:nvPr>
            <p:ph type="ctrTitle"/>
          </p:nvPr>
        </p:nvSpPr>
        <p:spPr/>
        <p:txBody>
          <a:bodyPr/>
          <a:lstStyle/>
          <a:p>
            <a:r>
              <a:rPr lang="en-US" dirty="0"/>
              <a:t>Address to Data Bus</a:t>
            </a:r>
          </a:p>
        </p:txBody>
      </p:sp>
      <p:grpSp>
        <p:nvGrpSpPr>
          <p:cNvPr id="4" name="Group 3">
            <a:extLst>
              <a:ext uri="{FF2B5EF4-FFF2-40B4-BE49-F238E27FC236}">
                <a16:creationId xmlns:a16="http://schemas.microsoft.com/office/drawing/2014/main" id="{53843E60-DE9D-E21D-23B0-BD039BD01695}"/>
              </a:ext>
            </a:extLst>
          </p:cNvPr>
          <p:cNvGrpSpPr/>
          <p:nvPr/>
        </p:nvGrpSpPr>
        <p:grpSpPr>
          <a:xfrm>
            <a:off x="2531697" y="2117306"/>
            <a:ext cx="1214068" cy="872289"/>
            <a:chOff x="2688112" y="2556710"/>
            <a:chExt cx="1214068" cy="872289"/>
          </a:xfrm>
        </p:grpSpPr>
        <p:pic>
          <p:nvPicPr>
            <p:cNvPr id="5" name="Picture 4">
              <a:extLst>
                <a:ext uri="{FF2B5EF4-FFF2-40B4-BE49-F238E27FC236}">
                  <a16:creationId xmlns:a16="http://schemas.microsoft.com/office/drawing/2014/main" id="{94BD3669-6DAF-D661-A083-CE6578825B4A}"/>
                </a:ext>
              </a:extLst>
            </p:cNvPr>
            <p:cNvPicPr>
              <a:picLocks noChangeAspect="1"/>
            </p:cNvPicPr>
            <p:nvPr/>
          </p:nvPicPr>
          <p:blipFill>
            <a:blip r:embed="rId2"/>
            <a:srcRect l="14721" r="20492"/>
            <a:stretch>
              <a:fillRect/>
            </a:stretch>
          </p:blipFill>
          <p:spPr>
            <a:xfrm rot="16200000">
              <a:off x="2859001" y="2385821"/>
              <a:ext cx="872289" cy="1214068"/>
            </a:xfrm>
            <a:prstGeom prst="rect">
              <a:avLst/>
            </a:prstGeom>
          </p:spPr>
        </p:pic>
        <p:sp>
          <p:nvSpPr>
            <p:cNvPr id="6" name="TextBox 5">
              <a:extLst>
                <a:ext uri="{FF2B5EF4-FFF2-40B4-BE49-F238E27FC236}">
                  <a16:creationId xmlns:a16="http://schemas.microsoft.com/office/drawing/2014/main" id="{0FB9BAE8-109D-C0E2-266C-B459FB4DEDE8}"/>
                </a:ext>
              </a:extLst>
            </p:cNvPr>
            <p:cNvSpPr txBox="1"/>
            <p:nvPr/>
          </p:nvSpPr>
          <p:spPr>
            <a:xfrm>
              <a:off x="2843741" y="2823201"/>
              <a:ext cx="902812" cy="261610"/>
            </a:xfrm>
            <a:prstGeom prst="rect">
              <a:avLst/>
            </a:prstGeom>
            <a:noFill/>
          </p:spPr>
          <p:txBody>
            <a:bodyPr wrap="none" rtlCol="0">
              <a:spAutoFit/>
            </a:bodyPr>
            <a:lstStyle/>
            <a:p>
              <a:pPr algn="ctr"/>
              <a:r>
                <a:rPr lang="en-US" sz="1100" dirty="0">
                  <a:hlinkClick r:id="rId3" action="ppaction://hlinksldjump"/>
                </a:rPr>
                <a:t>574</a:t>
              </a:r>
              <a:r>
                <a:rPr lang="en-US" sz="1100" dirty="0"/>
                <a:t>: </a:t>
              </a:r>
              <a:r>
                <a:rPr lang="en-US" sz="1100" dirty="0" err="1"/>
                <a:t>Addr</a:t>
              </a:r>
              <a:r>
                <a:rPr lang="en-US" sz="1100" dirty="0"/>
                <a:t> Hi</a:t>
              </a:r>
            </a:p>
          </p:txBody>
        </p:sp>
      </p:grpSp>
      <p:grpSp>
        <p:nvGrpSpPr>
          <p:cNvPr id="7" name="Group 6">
            <a:extLst>
              <a:ext uri="{FF2B5EF4-FFF2-40B4-BE49-F238E27FC236}">
                <a16:creationId xmlns:a16="http://schemas.microsoft.com/office/drawing/2014/main" id="{9F7F6551-DE42-5B23-416C-44CC68881076}"/>
              </a:ext>
            </a:extLst>
          </p:cNvPr>
          <p:cNvGrpSpPr/>
          <p:nvPr/>
        </p:nvGrpSpPr>
        <p:grpSpPr>
          <a:xfrm>
            <a:off x="4954849" y="2117306"/>
            <a:ext cx="1214068" cy="872289"/>
            <a:chOff x="2688112" y="2556710"/>
            <a:chExt cx="1214068" cy="872289"/>
          </a:xfrm>
        </p:grpSpPr>
        <p:pic>
          <p:nvPicPr>
            <p:cNvPr id="8" name="Picture 7">
              <a:extLst>
                <a:ext uri="{FF2B5EF4-FFF2-40B4-BE49-F238E27FC236}">
                  <a16:creationId xmlns:a16="http://schemas.microsoft.com/office/drawing/2014/main" id="{A9A39573-A0D8-20C6-6037-CC194BA5E72C}"/>
                </a:ext>
              </a:extLst>
            </p:cNvPr>
            <p:cNvPicPr>
              <a:picLocks noChangeAspect="1"/>
            </p:cNvPicPr>
            <p:nvPr/>
          </p:nvPicPr>
          <p:blipFill>
            <a:blip r:embed="rId2"/>
            <a:srcRect l="14721" r="20492"/>
            <a:stretch>
              <a:fillRect/>
            </a:stretch>
          </p:blipFill>
          <p:spPr>
            <a:xfrm rot="16200000">
              <a:off x="2859001" y="2385821"/>
              <a:ext cx="872289" cy="1214068"/>
            </a:xfrm>
            <a:prstGeom prst="rect">
              <a:avLst/>
            </a:prstGeom>
          </p:spPr>
        </p:pic>
        <p:sp>
          <p:nvSpPr>
            <p:cNvPr id="9" name="TextBox 8">
              <a:extLst>
                <a:ext uri="{FF2B5EF4-FFF2-40B4-BE49-F238E27FC236}">
                  <a16:creationId xmlns:a16="http://schemas.microsoft.com/office/drawing/2014/main" id="{AB1973E7-791E-86A5-6A5F-696B224D71B6}"/>
                </a:ext>
              </a:extLst>
            </p:cNvPr>
            <p:cNvSpPr txBox="1"/>
            <p:nvPr/>
          </p:nvSpPr>
          <p:spPr>
            <a:xfrm>
              <a:off x="2837329" y="2823201"/>
              <a:ext cx="915636" cy="261610"/>
            </a:xfrm>
            <a:prstGeom prst="rect">
              <a:avLst/>
            </a:prstGeom>
            <a:noFill/>
          </p:spPr>
          <p:txBody>
            <a:bodyPr wrap="none" rtlCol="0">
              <a:spAutoFit/>
            </a:bodyPr>
            <a:lstStyle/>
            <a:p>
              <a:pPr algn="ctr"/>
              <a:r>
                <a:rPr lang="en-US" sz="1100" dirty="0">
                  <a:hlinkClick r:id="rId3" action="ppaction://hlinksldjump"/>
                </a:rPr>
                <a:t>574</a:t>
              </a:r>
              <a:r>
                <a:rPr lang="en-US" sz="1100" dirty="0"/>
                <a:t>: </a:t>
              </a:r>
              <a:r>
                <a:rPr lang="en-US" sz="1100" dirty="0" err="1"/>
                <a:t>Addr</a:t>
              </a:r>
              <a:r>
                <a:rPr lang="en-US" sz="1100" dirty="0"/>
                <a:t> Lo</a:t>
              </a:r>
            </a:p>
          </p:txBody>
        </p:sp>
      </p:grpSp>
      <p:sp>
        <p:nvSpPr>
          <p:cNvPr id="10" name="Rectangle 9">
            <a:extLst>
              <a:ext uri="{FF2B5EF4-FFF2-40B4-BE49-F238E27FC236}">
                <a16:creationId xmlns:a16="http://schemas.microsoft.com/office/drawing/2014/main" id="{9D79CC58-0EBF-5FEA-667B-51F72C1131A6}"/>
              </a:ext>
            </a:extLst>
          </p:cNvPr>
          <p:cNvSpPr/>
          <p:nvPr/>
        </p:nvSpPr>
        <p:spPr>
          <a:xfrm rot="16200000">
            <a:off x="4469438" y="1462409"/>
            <a:ext cx="224983" cy="3972636"/>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vert="vert" rtlCol="0" anchor="ctr"/>
          <a:lstStyle/>
          <a:p>
            <a:pPr algn="ctr"/>
            <a:r>
              <a:rPr lang="en-US" sz="1600" dirty="0"/>
              <a:t>Address  Bus   </a:t>
            </a:r>
          </a:p>
        </p:txBody>
      </p:sp>
      <p:sp>
        <p:nvSpPr>
          <p:cNvPr id="11" name="Arrow: Right 10">
            <a:extLst>
              <a:ext uri="{FF2B5EF4-FFF2-40B4-BE49-F238E27FC236}">
                <a16:creationId xmlns:a16="http://schemas.microsoft.com/office/drawing/2014/main" id="{185AD33F-05AF-FE8A-9F8F-3F5DAA778705}"/>
              </a:ext>
            </a:extLst>
          </p:cNvPr>
          <p:cNvSpPr/>
          <p:nvPr/>
        </p:nvSpPr>
        <p:spPr>
          <a:xfrm rot="16200000">
            <a:off x="5319867" y="1461263"/>
            <a:ext cx="493847" cy="988109"/>
          </a:xfrm>
          <a:prstGeom prst="rightArrow">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vert="vert" wrap="none" rtlCol="0" anchor="ctr"/>
          <a:lstStyle/>
          <a:p>
            <a:pPr algn="ctr"/>
            <a:r>
              <a:rPr lang="en-US" sz="1050" dirty="0"/>
              <a:t>Data </a:t>
            </a:r>
          </a:p>
          <a:p>
            <a:pPr algn="ctr"/>
            <a:r>
              <a:rPr lang="en-US" sz="1050" dirty="0"/>
              <a:t>[7:0]</a:t>
            </a:r>
          </a:p>
        </p:txBody>
      </p:sp>
      <p:sp>
        <p:nvSpPr>
          <p:cNvPr id="12" name="Arrow: Right 11">
            <a:extLst>
              <a:ext uri="{FF2B5EF4-FFF2-40B4-BE49-F238E27FC236}">
                <a16:creationId xmlns:a16="http://schemas.microsoft.com/office/drawing/2014/main" id="{30FC811F-79DD-8085-3C64-627D7CB3D76E}"/>
              </a:ext>
            </a:extLst>
          </p:cNvPr>
          <p:cNvSpPr/>
          <p:nvPr/>
        </p:nvSpPr>
        <p:spPr>
          <a:xfrm rot="16200000">
            <a:off x="2861729" y="1461263"/>
            <a:ext cx="493847" cy="988109"/>
          </a:xfrm>
          <a:prstGeom prst="rightArrow">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vert="vert" wrap="none" rtlCol="0" anchor="ctr"/>
          <a:lstStyle/>
          <a:p>
            <a:pPr algn="ctr"/>
            <a:r>
              <a:rPr lang="en-US" sz="1050" dirty="0"/>
              <a:t>Data </a:t>
            </a:r>
          </a:p>
          <a:p>
            <a:pPr algn="ctr"/>
            <a:r>
              <a:rPr lang="en-US" sz="1050" dirty="0"/>
              <a:t>[7:0]</a:t>
            </a:r>
          </a:p>
        </p:txBody>
      </p:sp>
      <p:cxnSp>
        <p:nvCxnSpPr>
          <p:cNvPr id="13" name="Connector: Elbow 12">
            <a:extLst>
              <a:ext uri="{FF2B5EF4-FFF2-40B4-BE49-F238E27FC236}">
                <a16:creationId xmlns:a16="http://schemas.microsoft.com/office/drawing/2014/main" id="{F27FE289-15A9-4E42-2AB6-56FC388F40DA}"/>
              </a:ext>
            </a:extLst>
          </p:cNvPr>
          <p:cNvCxnSpPr>
            <a:cxnSpLocks/>
            <a:stCxn id="118" idx="2"/>
            <a:endCxn id="32" idx="3"/>
          </p:cNvCxnSpPr>
          <p:nvPr/>
        </p:nvCxnSpPr>
        <p:spPr>
          <a:xfrm rot="16200000" flipH="1">
            <a:off x="3704908" y="4128124"/>
            <a:ext cx="3134153" cy="335837"/>
          </a:xfrm>
          <a:prstGeom prst="bentConnector4">
            <a:avLst>
              <a:gd name="adj1" fmla="val 36619"/>
              <a:gd name="adj2" fmla="val 225390"/>
            </a:avLst>
          </a:prstGeom>
        </p:spPr>
        <p:style>
          <a:lnRef idx="1">
            <a:schemeClr val="accent6"/>
          </a:lnRef>
          <a:fillRef idx="0">
            <a:schemeClr val="accent6"/>
          </a:fillRef>
          <a:effectRef idx="0">
            <a:schemeClr val="accent6"/>
          </a:effectRef>
          <a:fontRef idx="minor">
            <a:schemeClr val="tx1"/>
          </a:fontRef>
        </p:style>
      </p:cxnSp>
      <p:cxnSp>
        <p:nvCxnSpPr>
          <p:cNvPr id="14" name="Connector: Elbow 13">
            <a:extLst>
              <a:ext uri="{FF2B5EF4-FFF2-40B4-BE49-F238E27FC236}">
                <a16:creationId xmlns:a16="http://schemas.microsoft.com/office/drawing/2014/main" id="{E18B2ADA-6FBB-FCEA-9C2D-3AA3D97C11FE}"/>
              </a:ext>
            </a:extLst>
          </p:cNvPr>
          <p:cNvCxnSpPr>
            <a:cxnSpLocks/>
            <a:stCxn id="119" idx="2"/>
            <a:endCxn id="25" idx="3"/>
          </p:cNvCxnSpPr>
          <p:nvPr/>
        </p:nvCxnSpPr>
        <p:spPr>
          <a:xfrm rot="16200000" flipH="1">
            <a:off x="3025776" y="2351686"/>
            <a:ext cx="2064986" cy="2763268"/>
          </a:xfrm>
          <a:prstGeom prst="bentConnector4">
            <a:avLst>
              <a:gd name="adj1" fmla="val 64941"/>
              <a:gd name="adj2" fmla="val 108273"/>
            </a:avLst>
          </a:prstGeom>
        </p:spPr>
        <p:style>
          <a:lnRef idx="1">
            <a:schemeClr val="accent6"/>
          </a:lnRef>
          <a:fillRef idx="0">
            <a:schemeClr val="accent6"/>
          </a:fillRef>
          <a:effectRef idx="0">
            <a:schemeClr val="accent6"/>
          </a:effectRef>
          <a:fontRef idx="minor">
            <a:schemeClr val="tx1"/>
          </a:fontRef>
        </p:style>
      </p:cxnSp>
      <p:sp>
        <p:nvSpPr>
          <p:cNvPr id="15" name="TextBox 14">
            <a:hlinkClick r:id="rId4" action="ppaction://hlinksldjump"/>
            <a:extLst>
              <a:ext uri="{FF2B5EF4-FFF2-40B4-BE49-F238E27FC236}">
                <a16:creationId xmlns:a16="http://schemas.microsoft.com/office/drawing/2014/main" id="{4949EC14-131A-BB08-4954-8042E42BA372}"/>
              </a:ext>
            </a:extLst>
          </p:cNvPr>
          <p:cNvSpPr txBox="1"/>
          <p:nvPr/>
        </p:nvSpPr>
        <p:spPr>
          <a:xfrm>
            <a:off x="693269" y="1626931"/>
            <a:ext cx="694421" cy="161583"/>
          </a:xfrm>
          <a:prstGeom prst="rect">
            <a:avLst/>
          </a:prstGeom>
          <a:solidFill>
            <a:schemeClr val="bg1"/>
          </a:solidFill>
          <a:ln>
            <a:solidFill>
              <a:schemeClr val="accent1"/>
            </a:solidFill>
          </a:ln>
        </p:spPr>
        <p:txBody>
          <a:bodyPr wrap="none" tIns="0" bIns="0" rtlCol="0">
            <a:spAutoFit/>
          </a:bodyPr>
          <a:lstStyle/>
          <a:p>
            <a:r>
              <a:rPr lang="en-US" sz="1050" dirty="0"/>
              <a:t>Main CLK</a:t>
            </a:r>
          </a:p>
        </p:txBody>
      </p:sp>
      <p:cxnSp>
        <p:nvCxnSpPr>
          <p:cNvPr id="16" name="Connector: Elbow 15">
            <a:extLst>
              <a:ext uri="{FF2B5EF4-FFF2-40B4-BE49-F238E27FC236}">
                <a16:creationId xmlns:a16="http://schemas.microsoft.com/office/drawing/2014/main" id="{68289DBA-A676-17B8-3272-1B8AA5708CBD}"/>
              </a:ext>
            </a:extLst>
          </p:cNvPr>
          <p:cNvCxnSpPr>
            <a:cxnSpLocks/>
            <a:stCxn id="109" idx="0"/>
            <a:endCxn id="51" idx="0"/>
          </p:cNvCxnSpPr>
          <p:nvPr/>
        </p:nvCxnSpPr>
        <p:spPr>
          <a:xfrm rot="16200000" flipV="1">
            <a:off x="2876932" y="1553770"/>
            <a:ext cx="299785" cy="1275840"/>
          </a:xfrm>
          <a:prstGeom prst="bentConnector2">
            <a:avLst/>
          </a:prstGeom>
        </p:spPr>
        <p:style>
          <a:lnRef idx="1">
            <a:schemeClr val="accent6"/>
          </a:lnRef>
          <a:fillRef idx="0">
            <a:schemeClr val="accent6"/>
          </a:fillRef>
          <a:effectRef idx="0">
            <a:schemeClr val="accent6"/>
          </a:effectRef>
          <a:fontRef idx="minor">
            <a:schemeClr val="tx1"/>
          </a:fontRef>
        </p:style>
      </p:cxnSp>
      <p:cxnSp>
        <p:nvCxnSpPr>
          <p:cNvPr id="17" name="Connector: Elbow 16">
            <a:extLst>
              <a:ext uri="{FF2B5EF4-FFF2-40B4-BE49-F238E27FC236}">
                <a16:creationId xmlns:a16="http://schemas.microsoft.com/office/drawing/2014/main" id="{33FA5FF9-2133-ED53-7B8F-6B16EDC981A0}"/>
              </a:ext>
            </a:extLst>
          </p:cNvPr>
          <p:cNvCxnSpPr>
            <a:cxnSpLocks/>
            <a:stCxn id="108" idx="0"/>
            <a:endCxn id="51" idx="0"/>
          </p:cNvCxnSpPr>
          <p:nvPr/>
        </p:nvCxnSpPr>
        <p:spPr>
          <a:xfrm rot="16200000" flipV="1">
            <a:off x="4082100" y="348601"/>
            <a:ext cx="288176" cy="3674567"/>
          </a:xfrm>
          <a:prstGeom prst="bentConnector2">
            <a:avLst/>
          </a:prstGeom>
        </p:spPr>
        <p:style>
          <a:lnRef idx="1">
            <a:schemeClr val="accent6"/>
          </a:lnRef>
          <a:fillRef idx="0">
            <a:schemeClr val="accent6"/>
          </a:fillRef>
          <a:effectRef idx="0">
            <a:schemeClr val="accent6"/>
          </a:effectRef>
          <a:fontRef idx="minor">
            <a:schemeClr val="tx1"/>
          </a:fontRef>
        </p:style>
      </p:cxnSp>
      <p:sp>
        <p:nvSpPr>
          <p:cNvPr id="18" name="Arrow: Right 17">
            <a:extLst>
              <a:ext uri="{FF2B5EF4-FFF2-40B4-BE49-F238E27FC236}">
                <a16:creationId xmlns:a16="http://schemas.microsoft.com/office/drawing/2014/main" id="{0621A23D-9AB9-09E4-85D3-AD7356DCE19A}"/>
              </a:ext>
            </a:extLst>
          </p:cNvPr>
          <p:cNvSpPr/>
          <p:nvPr/>
        </p:nvSpPr>
        <p:spPr>
          <a:xfrm rot="16200000">
            <a:off x="2916486" y="2534488"/>
            <a:ext cx="493847" cy="988109"/>
          </a:xfrm>
          <a:prstGeom prst="rightArrow">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vert" wrap="none" rtlCol="0" anchor="ctr"/>
          <a:lstStyle/>
          <a:p>
            <a:pPr algn="ctr"/>
            <a:r>
              <a:rPr lang="en-US" sz="1050" dirty="0" err="1"/>
              <a:t>Addr</a:t>
            </a:r>
            <a:r>
              <a:rPr lang="en-US" sz="1050" dirty="0"/>
              <a:t> Hi</a:t>
            </a:r>
          </a:p>
          <a:p>
            <a:pPr algn="ctr"/>
            <a:r>
              <a:rPr lang="en-US" sz="1050" dirty="0"/>
              <a:t>[15:8]</a:t>
            </a:r>
          </a:p>
        </p:txBody>
      </p:sp>
      <p:sp>
        <p:nvSpPr>
          <p:cNvPr id="19" name="Arrow: Right 18">
            <a:extLst>
              <a:ext uri="{FF2B5EF4-FFF2-40B4-BE49-F238E27FC236}">
                <a16:creationId xmlns:a16="http://schemas.microsoft.com/office/drawing/2014/main" id="{EF68D965-9E47-689F-1F37-265501406313}"/>
              </a:ext>
            </a:extLst>
          </p:cNvPr>
          <p:cNvSpPr/>
          <p:nvPr/>
        </p:nvSpPr>
        <p:spPr>
          <a:xfrm rot="16200000">
            <a:off x="5402797" y="2534489"/>
            <a:ext cx="493847" cy="988109"/>
          </a:xfrm>
          <a:prstGeom prst="rightArrow">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vert" wrap="none" rtlCol="0" anchor="ctr"/>
          <a:lstStyle/>
          <a:p>
            <a:pPr algn="ctr"/>
            <a:r>
              <a:rPr lang="en-US" sz="1050" dirty="0" err="1"/>
              <a:t>Addr</a:t>
            </a:r>
            <a:r>
              <a:rPr lang="en-US" sz="1050" dirty="0"/>
              <a:t> Hi</a:t>
            </a:r>
          </a:p>
          <a:p>
            <a:pPr algn="ctr"/>
            <a:r>
              <a:rPr lang="en-US" sz="1050" dirty="0"/>
              <a:t>[15:8]</a:t>
            </a:r>
          </a:p>
        </p:txBody>
      </p:sp>
      <p:sp>
        <p:nvSpPr>
          <p:cNvPr id="20" name="Rectangle 19">
            <a:extLst>
              <a:ext uri="{FF2B5EF4-FFF2-40B4-BE49-F238E27FC236}">
                <a16:creationId xmlns:a16="http://schemas.microsoft.com/office/drawing/2014/main" id="{81F23C1E-9BC7-462E-10B0-158B5205504F}"/>
              </a:ext>
            </a:extLst>
          </p:cNvPr>
          <p:cNvSpPr/>
          <p:nvPr/>
        </p:nvSpPr>
        <p:spPr>
          <a:xfrm>
            <a:off x="2595610" y="1448614"/>
            <a:ext cx="3972637" cy="235389"/>
          </a:xfrm>
          <a:prstGeom prst="rect">
            <a:avLst/>
          </a:prstGeom>
        </p:spPr>
        <p:style>
          <a:lnRef idx="1">
            <a:schemeClr val="accent6"/>
          </a:lnRef>
          <a:fillRef idx="2">
            <a:schemeClr val="accent6"/>
          </a:fillRef>
          <a:effectRef idx="1">
            <a:schemeClr val="accent6"/>
          </a:effectRef>
          <a:fontRef idx="minor">
            <a:schemeClr val="dk1"/>
          </a:fontRef>
        </p:style>
        <p:txBody>
          <a:bodyPr vert="horz" rtlCol="0" anchor="ctr"/>
          <a:lstStyle/>
          <a:p>
            <a:pPr algn="ctr"/>
            <a:r>
              <a:rPr lang="en-US" sz="1600" dirty="0"/>
              <a:t>Data  Bus </a:t>
            </a:r>
          </a:p>
        </p:txBody>
      </p:sp>
      <p:sp>
        <p:nvSpPr>
          <p:cNvPr id="22" name="Trapezoid 21">
            <a:extLst>
              <a:ext uri="{FF2B5EF4-FFF2-40B4-BE49-F238E27FC236}">
                <a16:creationId xmlns:a16="http://schemas.microsoft.com/office/drawing/2014/main" id="{BFE989F5-91E9-9E21-5F15-9356769E516E}"/>
              </a:ext>
            </a:extLst>
          </p:cNvPr>
          <p:cNvSpPr/>
          <p:nvPr/>
        </p:nvSpPr>
        <p:spPr>
          <a:xfrm rot="5400000">
            <a:off x="2292683" y="5122287"/>
            <a:ext cx="836729" cy="366417"/>
          </a:xfrm>
          <a:prstGeom prst="trapezoid">
            <a:avLst/>
          </a:prstGeom>
        </p:spPr>
        <p:style>
          <a:lnRef idx="2">
            <a:schemeClr val="accent6">
              <a:shade val="50000"/>
            </a:schemeClr>
          </a:lnRef>
          <a:fillRef idx="1">
            <a:schemeClr val="accent6"/>
          </a:fillRef>
          <a:effectRef idx="0">
            <a:schemeClr val="accent6"/>
          </a:effectRef>
          <a:fontRef idx="minor">
            <a:schemeClr val="lt1"/>
          </a:fontRef>
        </p:style>
        <p:txBody>
          <a:bodyPr wrap="none" rtlCol="0" anchor="ctr"/>
          <a:lstStyle/>
          <a:p>
            <a:pPr algn="ctr"/>
            <a:r>
              <a:rPr lang="en-US" sz="1200" dirty="0"/>
              <a:t>CD4053 A</a:t>
            </a:r>
          </a:p>
        </p:txBody>
      </p:sp>
      <p:sp>
        <p:nvSpPr>
          <p:cNvPr id="23" name="TextBox 22">
            <a:extLst>
              <a:ext uri="{FF2B5EF4-FFF2-40B4-BE49-F238E27FC236}">
                <a16:creationId xmlns:a16="http://schemas.microsoft.com/office/drawing/2014/main" id="{FA22E6B8-166C-A3EA-12BC-1BAE33873DE0}"/>
              </a:ext>
            </a:extLst>
          </p:cNvPr>
          <p:cNvSpPr txBox="1"/>
          <p:nvPr/>
        </p:nvSpPr>
        <p:spPr>
          <a:xfrm>
            <a:off x="2527598" y="4947146"/>
            <a:ext cx="68930" cy="254044"/>
          </a:xfrm>
          <a:prstGeom prst="rect">
            <a:avLst/>
          </a:prstGeom>
          <a:noFill/>
        </p:spPr>
        <p:txBody>
          <a:bodyPr wrap="none" lIns="0" rIns="0" rtlCol="0">
            <a:spAutoFit/>
          </a:bodyPr>
          <a:lstStyle/>
          <a:p>
            <a:r>
              <a:rPr lang="en-US" sz="1051" dirty="0"/>
              <a:t>0</a:t>
            </a:r>
          </a:p>
        </p:txBody>
      </p:sp>
      <p:sp>
        <p:nvSpPr>
          <p:cNvPr id="24" name="TextBox 23">
            <a:extLst>
              <a:ext uri="{FF2B5EF4-FFF2-40B4-BE49-F238E27FC236}">
                <a16:creationId xmlns:a16="http://schemas.microsoft.com/office/drawing/2014/main" id="{EE4C1784-6736-A121-2086-27E18BAD5E90}"/>
              </a:ext>
            </a:extLst>
          </p:cNvPr>
          <p:cNvSpPr txBox="1"/>
          <p:nvPr/>
        </p:nvSpPr>
        <p:spPr>
          <a:xfrm>
            <a:off x="2527598" y="5348930"/>
            <a:ext cx="68930" cy="254044"/>
          </a:xfrm>
          <a:prstGeom prst="rect">
            <a:avLst/>
          </a:prstGeom>
          <a:noFill/>
        </p:spPr>
        <p:txBody>
          <a:bodyPr wrap="none" lIns="0" rIns="0" rtlCol="0">
            <a:spAutoFit/>
          </a:bodyPr>
          <a:lstStyle/>
          <a:p>
            <a:r>
              <a:rPr lang="en-US" sz="1051"/>
              <a:t>1</a:t>
            </a:r>
          </a:p>
        </p:txBody>
      </p:sp>
      <p:sp>
        <p:nvSpPr>
          <p:cNvPr id="26" name="Trapezoid 25">
            <a:extLst>
              <a:ext uri="{FF2B5EF4-FFF2-40B4-BE49-F238E27FC236}">
                <a16:creationId xmlns:a16="http://schemas.microsoft.com/office/drawing/2014/main" id="{D31EF695-FC1B-083F-BB0A-427EABC64967}"/>
              </a:ext>
            </a:extLst>
          </p:cNvPr>
          <p:cNvSpPr/>
          <p:nvPr/>
        </p:nvSpPr>
        <p:spPr>
          <a:xfrm rot="5400000">
            <a:off x="3677598" y="5683758"/>
            <a:ext cx="836729" cy="366417"/>
          </a:xfrm>
          <a:prstGeom prst="trapezoid">
            <a:avLst/>
          </a:prstGeom>
        </p:spPr>
        <p:style>
          <a:lnRef idx="2">
            <a:schemeClr val="accent6">
              <a:shade val="50000"/>
            </a:schemeClr>
          </a:lnRef>
          <a:fillRef idx="1">
            <a:schemeClr val="accent6"/>
          </a:fillRef>
          <a:effectRef idx="0">
            <a:schemeClr val="accent6"/>
          </a:effectRef>
          <a:fontRef idx="minor">
            <a:schemeClr val="lt1"/>
          </a:fontRef>
        </p:style>
        <p:txBody>
          <a:bodyPr wrap="none" rtlCol="0" anchor="ctr"/>
          <a:lstStyle/>
          <a:p>
            <a:pPr algn="ctr"/>
            <a:r>
              <a:rPr lang="en-US" sz="1200" dirty="0"/>
              <a:t>CD4053 B</a:t>
            </a:r>
          </a:p>
        </p:txBody>
      </p:sp>
      <p:sp>
        <p:nvSpPr>
          <p:cNvPr id="27" name="TextBox 26">
            <a:extLst>
              <a:ext uri="{FF2B5EF4-FFF2-40B4-BE49-F238E27FC236}">
                <a16:creationId xmlns:a16="http://schemas.microsoft.com/office/drawing/2014/main" id="{F3F5E965-D61C-123D-4B21-BE8C00E00B02}"/>
              </a:ext>
            </a:extLst>
          </p:cNvPr>
          <p:cNvSpPr txBox="1"/>
          <p:nvPr/>
        </p:nvSpPr>
        <p:spPr>
          <a:xfrm>
            <a:off x="3918529" y="5508617"/>
            <a:ext cx="68930" cy="254044"/>
          </a:xfrm>
          <a:prstGeom prst="rect">
            <a:avLst/>
          </a:prstGeom>
          <a:noFill/>
        </p:spPr>
        <p:txBody>
          <a:bodyPr wrap="none" lIns="0" rIns="0" rtlCol="0">
            <a:spAutoFit/>
          </a:bodyPr>
          <a:lstStyle/>
          <a:p>
            <a:r>
              <a:rPr lang="en-US" sz="1051"/>
              <a:t>0</a:t>
            </a:r>
          </a:p>
        </p:txBody>
      </p:sp>
      <p:sp>
        <p:nvSpPr>
          <p:cNvPr id="28" name="TextBox 27">
            <a:extLst>
              <a:ext uri="{FF2B5EF4-FFF2-40B4-BE49-F238E27FC236}">
                <a16:creationId xmlns:a16="http://schemas.microsoft.com/office/drawing/2014/main" id="{83B1BF4A-9F4D-2C83-BA85-791C6392340D}"/>
              </a:ext>
            </a:extLst>
          </p:cNvPr>
          <p:cNvSpPr txBox="1"/>
          <p:nvPr/>
        </p:nvSpPr>
        <p:spPr>
          <a:xfrm>
            <a:off x="3918529" y="5910401"/>
            <a:ext cx="68930" cy="254044"/>
          </a:xfrm>
          <a:prstGeom prst="rect">
            <a:avLst/>
          </a:prstGeom>
          <a:noFill/>
        </p:spPr>
        <p:txBody>
          <a:bodyPr wrap="none" lIns="0" rIns="0" rtlCol="0">
            <a:spAutoFit/>
          </a:bodyPr>
          <a:lstStyle/>
          <a:p>
            <a:r>
              <a:rPr lang="en-US" sz="1051"/>
              <a:t>1</a:t>
            </a:r>
          </a:p>
        </p:txBody>
      </p:sp>
      <p:sp>
        <p:nvSpPr>
          <p:cNvPr id="29" name="Trapezoid 28">
            <a:extLst>
              <a:ext uri="{FF2B5EF4-FFF2-40B4-BE49-F238E27FC236}">
                <a16:creationId xmlns:a16="http://schemas.microsoft.com/office/drawing/2014/main" id="{370D7E18-523F-F4B4-B6D4-0342808648C5}"/>
              </a:ext>
            </a:extLst>
          </p:cNvPr>
          <p:cNvSpPr/>
          <p:nvPr/>
        </p:nvSpPr>
        <p:spPr>
          <a:xfrm rot="5400000">
            <a:off x="3677598" y="4586451"/>
            <a:ext cx="836729" cy="366417"/>
          </a:xfrm>
          <a:prstGeom prst="trapezoid">
            <a:avLst/>
          </a:prstGeom>
        </p:spPr>
        <p:style>
          <a:lnRef idx="2">
            <a:schemeClr val="accent6">
              <a:shade val="50000"/>
            </a:schemeClr>
          </a:lnRef>
          <a:fillRef idx="1">
            <a:schemeClr val="accent6"/>
          </a:fillRef>
          <a:effectRef idx="0">
            <a:schemeClr val="accent6"/>
          </a:effectRef>
          <a:fontRef idx="minor">
            <a:schemeClr val="lt1"/>
          </a:fontRef>
        </p:style>
        <p:txBody>
          <a:bodyPr wrap="none" rtlCol="0" anchor="ctr"/>
          <a:lstStyle/>
          <a:p>
            <a:pPr algn="ctr"/>
            <a:r>
              <a:rPr lang="en-US" sz="1200" dirty="0"/>
              <a:t>CD4053 C</a:t>
            </a:r>
          </a:p>
        </p:txBody>
      </p:sp>
      <p:sp>
        <p:nvSpPr>
          <p:cNvPr id="30" name="TextBox 29">
            <a:extLst>
              <a:ext uri="{FF2B5EF4-FFF2-40B4-BE49-F238E27FC236}">
                <a16:creationId xmlns:a16="http://schemas.microsoft.com/office/drawing/2014/main" id="{9A5CD7CA-D643-89CB-44D2-116AB3847A4F}"/>
              </a:ext>
            </a:extLst>
          </p:cNvPr>
          <p:cNvSpPr txBox="1"/>
          <p:nvPr/>
        </p:nvSpPr>
        <p:spPr>
          <a:xfrm>
            <a:off x="3918529" y="4411310"/>
            <a:ext cx="187179" cy="254044"/>
          </a:xfrm>
          <a:prstGeom prst="rect">
            <a:avLst/>
          </a:prstGeom>
          <a:noFill/>
        </p:spPr>
        <p:txBody>
          <a:bodyPr wrap="square" lIns="0" rIns="0" rtlCol="0">
            <a:spAutoFit/>
          </a:bodyPr>
          <a:lstStyle/>
          <a:p>
            <a:r>
              <a:rPr lang="en-US" sz="1051" dirty="0"/>
              <a:t>0</a:t>
            </a:r>
          </a:p>
        </p:txBody>
      </p:sp>
      <p:sp>
        <p:nvSpPr>
          <p:cNvPr id="31" name="TextBox 30">
            <a:extLst>
              <a:ext uri="{FF2B5EF4-FFF2-40B4-BE49-F238E27FC236}">
                <a16:creationId xmlns:a16="http://schemas.microsoft.com/office/drawing/2014/main" id="{8C3C1E78-D024-90E2-B756-119E84F17CA0}"/>
              </a:ext>
            </a:extLst>
          </p:cNvPr>
          <p:cNvSpPr txBox="1"/>
          <p:nvPr/>
        </p:nvSpPr>
        <p:spPr>
          <a:xfrm>
            <a:off x="3918529" y="4813094"/>
            <a:ext cx="68930" cy="254044"/>
          </a:xfrm>
          <a:prstGeom prst="rect">
            <a:avLst/>
          </a:prstGeom>
          <a:noFill/>
        </p:spPr>
        <p:txBody>
          <a:bodyPr wrap="none" lIns="0" rIns="0" rtlCol="0">
            <a:spAutoFit/>
          </a:bodyPr>
          <a:lstStyle/>
          <a:p>
            <a:r>
              <a:rPr lang="en-US" sz="1051" dirty="0"/>
              <a:t>1</a:t>
            </a:r>
          </a:p>
        </p:txBody>
      </p:sp>
      <p:cxnSp>
        <p:nvCxnSpPr>
          <p:cNvPr id="34" name="Straight Arrow Connector 33">
            <a:extLst>
              <a:ext uri="{FF2B5EF4-FFF2-40B4-BE49-F238E27FC236}">
                <a16:creationId xmlns:a16="http://schemas.microsoft.com/office/drawing/2014/main" id="{03C0D65C-D631-4EB0-D80B-F11544659646}"/>
              </a:ext>
            </a:extLst>
          </p:cNvPr>
          <p:cNvCxnSpPr>
            <a:stCxn id="29" idx="0"/>
            <a:endCxn id="25" idx="1"/>
          </p:cNvCxnSpPr>
          <p:nvPr/>
        </p:nvCxnSpPr>
        <p:spPr>
          <a:xfrm flipV="1">
            <a:off x="4279171" y="4765813"/>
            <a:ext cx="379749" cy="38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DAF933EB-425A-5976-1D75-6D1329E581AF}"/>
              </a:ext>
            </a:extLst>
          </p:cNvPr>
          <p:cNvCxnSpPr>
            <a:cxnSpLocks/>
            <a:stCxn id="26" idx="0"/>
            <a:endCxn id="32" idx="1"/>
          </p:cNvCxnSpPr>
          <p:nvPr/>
        </p:nvCxnSpPr>
        <p:spPr>
          <a:xfrm flipV="1">
            <a:off x="4279171" y="5863120"/>
            <a:ext cx="366925" cy="38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9D06FD7D-1C8C-2D3E-9F65-7A2DE67100C0}"/>
              </a:ext>
            </a:extLst>
          </p:cNvPr>
          <p:cNvCxnSpPr>
            <a:stCxn id="22" idx="0"/>
            <a:endCxn id="29" idx="3"/>
          </p:cNvCxnSpPr>
          <p:nvPr/>
        </p:nvCxnSpPr>
        <p:spPr>
          <a:xfrm flipV="1">
            <a:off x="2894256" y="5142222"/>
            <a:ext cx="1201706" cy="16327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384E6C3F-C80C-00FD-EE8D-46793A596256}"/>
              </a:ext>
            </a:extLst>
          </p:cNvPr>
          <p:cNvCxnSpPr>
            <a:cxnSpLocks/>
            <a:stCxn id="22" idx="0"/>
            <a:endCxn id="26" idx="1"/>
          </p:cNvCxnSpPr>
          <p:nvPr/>
        </p:nvCxnSpPr>
        <p:spPr>
          <a:xfrm>
            <a:off x="2894256" y="5305496"/>
            <a:ext cx="1201706" cy="18890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Rectangle 43">
            <a:hlinkClick r:id="rId5" action="ppaction://hlinksldjump"/>
            <a:extLst>
              <a:ext uri="{FF2B5EF4-FFF2-40B4-BE49-F238E27FC236}">
                <a16:creationId xmlns:a16="http://schemas.microsoft.com/office/drawing/2014/main" id="{94D6D547-770D-4CC7-698F-CDF661ACDAF8}"/>
              </a:ext>
            </a:extLst>
          </p:cNvPr>
          <p:cNvSpPr/>
          <p:nvPr/>
        </p:nvSpPr>
        <p:spPr>
          <a:xfrm>
            <a:off x="693269" y="4983925"/>
            <a:ext cx="1190285"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050" dirty="0"/>
              <a:t>µC 22: AB2DB H/L</a:t>
            </a:r>
          </a:p>
        </p:txBody>
      </p:sp>
      <p:sp>
        <p:nvSpPr>
          <p:cNvPr id="45" name="Rectangle 44">
            <a:hlinkClick r:id="rId5" action="ppaction://hlinksldjump"/>
            <a:extLst>
              <a:ext uri="{FF2B5EF4-FFF2-40B4-BE49-F238E27FC236}">
                <a16:creationId xmlns:a16="http://schemas.microsoft.com/office/drawing/2014/main" id="{93632A89-B5E1-7583-D91C-5344339D091C}"/>
              </a:ext>
            </a:extLst>
          </p:cNvPr>
          <p:cNvSpPr/>
          <p:nvPr/>
        </p:nvSpPr>
        <p:spPr>
          <a:xfrm>
            <a:off x="188211" y="2665258"/>
            <a:ext cx="1190285"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050" dirty="0"/>
              <a:t>µC 21: AB2DB</a:t>
            </a:r>
          </a:p>
        </p:txBody>
      </p:sp>
      <p:cxnSp>
        <p:nvCxnSpPr>
          <p:cNvPr id="47" name="Connector: Elbow 46">
            <a:extLst>
              <a:ext uri="{FF2B5EF4-FFF2-40B4-BE49-F238E27FC236}">
                <a16:creationId xmlns:a16="http://schemas.microsoft.com/office/drawing/2014/main" id="{0BB6C749-6B1D-5A05-3A59-C416C9ACAFBA}"/>
              </a:ext>
            </a:extLst>
          </p:cNvPr>
          <p:cNvCxnSpPr>
            <a:cxnSpLocks/>
            <a:stCxn id="52" idx="0"/>
            <a:endCxn id="27" idx="1"/>
          </p:cNvCxnSpPr>
          <p:nvPr/>
        </p:nvCxnSpPr>
        <p:spPr>
          <a:xfrm>
            <a:off x="2325886" y="4190602"/>
            <a:ext cx="1592643" cy="144503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847AE2EC-6373-771C-16B1-4FA0E44C1E53}"/>
              </a:ext>
            </a:extLst>
          </p:cNvPr>
          <p:cNvCxnSpPr>
            <a:cxnSpLocks/>
            <a:stCxn id="52" idx="0"/>
            <a:endCxn id="31" idx="1"/>
          </p:cNvCxnSpPr>
          <p:nvPr/>
        </p:nvCxnSpPr>
        <p:spPr>
          <a:xfrm>
            <a:off x="2325886" y="4190602"/>
            <a:ext cx="1592643" cy="74951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3AF7A036-F1A3-14FD-9E23-F4F9608A8600}"/>
              </a:ext>
            </a:extLst>
          </p:cNvPr>
          <p:cNvSpPr txBox="1"/>
          <p:nvPr/>
        </p:nvSpPr>
        <p:spPr>
          <a:xfrm>
            <a:off x="3644343" y="4412520"/>
            <a:ext cx="91711" cy="254044"/>
          </a:xfrm>
          <a:prstGeom prst="rect">
            <a:avLst/>
          </a:prstGeom>
          <a:noFill/>
        </p:spPr>
        <p:txBody>
          <a:bodyPr wrap="square" lIns="0" rIns="0" rtlCol="0">
            <a:spAutoFit/>
          </a:bodyPr>
          <a:lstStyle/>
          <a:p>
            <a:r>
              <a:rPr lang="en-US" sz="1051" dirty="0"/>
              <a:t>1</a:t>
            </a:r>
          </a:p>
        </p:txBody>
      </p:sp>
      <p:cxnSp>
        <p:nvCxnSpPr>
          <p:cNvPr id="55" name="Straight Arrow Connector 54">
            <a:extLst>
              <a:ext uri="{FF2B5EF4-FFF2-40B4-BE49-F238E27FC236}">
                <a16:creationId xmlns:a16="http://schemas.microsoft.com/office/drawing/2014/main" id="{53E81D82-3402-BA8F-45A9-9A0DF2890157}"/>
              </a:ext>
            </a:extLst>
          </p:cNvPr>
          <p:cNvCxnSpPr>
            <a:cxnSpLocks/>
            <a:stCxn id="53" idx="3"/>
            <a:endCxn id="30" idx="1"/>
          </p:cNvCxnSpPr>
          <p:nvPr/>
        </p:nvCxnSpPr>
        <p:spPr>
          <a:xfrm flipV="1">
            <a:off x="3736054" y="4538332"/>
            <a:ext cx="182475" cy="12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EFD77180-E056-7AEC-78AE-344D219DE339}"/>
              </a:ext>
            </a:extLst>
          </p:cNvPr>
          <p:cNvSpPr txBox="1"/>
          <p:nvPr/>
        </p:nvSpPr>
        <p:spPr>
          <a:xfrm>
            <a:off x="3595402" y="5919649"/>
            <a:ext cx="91711" cy="254044"/>
          </a:xfrm>
          <a:prstGeom prst="rect">
            <a:avLst/>
          </a:prstGeom>
          <a:noFill/>
        </p:spPr>
        <p:txBody>
          <a:bodyPr wrap="square" lIns="0" rIns="0" rtlCol="0">
            <a:spAutoFit/>
          </a:bodyPr>
          <a:lstStyle/>
          <a:p>
            <a:r>
              <a:rPr lang="en-US" sz="1051" dirty="0"/>
              <a:t>1</a:t>
            </a:r>
          </a:p>
        </p:txBody>
      </p:sp>
      <p:cxnSp>
        <p:nvCxnSpPr>
          <p:cNvPr id="63" name="Straight Arrow Connector 62">
            <a:extLst>
              <a:ext uri="{FF2B5EF4-FFF2-40B4-BE49-F238E27FC236}">
                <a16:creationId xmlns:a16="http://schemas.microsoft.com/office/drawing/2014/main" id="{EDE6A07B-9D7A-6D59-3D0C-FAADCB992D47}"/>
              </a:ext>
            </a:extLst>
          </p:cNvPr>
          <p:cNvCxnSpPr>
            <a:cxnSpLocks/>
            <a:stCxn id="62" idx="3"/>
          </p:cNvCxnSpPr>
          <p:nvPr/>
        </p:nvCxnSpPr>
        <p:spPr>
          <a:xfrm flipV="1">
            <a:off x="3687113" y="6043391"/>
            <a:ext cx="205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D4F68959-0AB2-2557-108A-AF0DE2836439}"/>
              </a:ext>
            </a:extLst>
          </p:cNvPr>
          <p:cNvCxnSpPr>
            <a:cxnSpLocks/>
            <a:stCxn id="44" idx="3"/>
            <a:endCxn id="23" idx="1"/>
          </p:cNvCxnSpPr>
          <p:nvPr/>
        </p:nvCxnSpPr>
        <p:spPr>
          <a:xfrm flipV="1">
            <a:off x="1883554" y="5074168"/>
            <a:ext cx="644044" cy="11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7" name="Group 66">
            <a:extLst>
              <a:ext uri="{FF2B5EF4-FFF2-40B4-BE49-F238E27FC236}">
                <a16:creationId xmlns:a16="http://schemas.microsoft.com/office/drawing/2014/main" id="{4851CB85-3B56-73E1-3354-A5D891101FBB}"/>
              </a:ext>
            </a:extLst>
          </p:cNvPr>
          <p:cNvGrpSpPr/>
          <p:nvPr/>
        </p:nvGrpSpPr>
        <p:grpSpPr>
          <a:xfrm>
            <a:off x="559152" y="4460099"/>
            <a:ext cx="1197764" cy="161583"/>
            <a:chOff x="5292243" y="4304787"/>
            <a:chExt cx="1197764" cy="161584"/>
          </a:xfrm>
        </p:grpSpPr>
        <p:sp>
          <p:nvSpPr>
            <p:cNvPr id="68" name="TextBox 67">
              <a:hlinkClick r:id="rId6" action="ppaction://hlinksldjump"/>
              <a:extLst>
                <a:ext uri="{FF2B5EF4-FFF2-40B4-BE49-F238E27FC236}">
                  <a16:creationId xmlns:a16="http://schemas.microsoft.com/office/drawing/2014/main" id="{CDDB246B-E091-4727-6146-93A0904115A7}"/>
                </a:ext>
              </a:extLst>
            </p:cNvPr>
            <p:cNvSpPr txBox="1"/>
            <p:nvPr/>
          </p:nvSpPr>
          <p:spPr>
            <a:xfrm>
              <a:off x="5292243" y="4304787"/>
              <a:ext cx="1197764" cy="161584"/>
            </a:xfrm>
            <a:prstGeom prst="rect">
              <a:avLst/>
            </a:prstGeom>
            <a:noFill/>
            <a:ln>
              <a:solidFill>
                <a:schemeClr val="accent1"/>
              </a:solidFill>
            </a:ln>
          </p:spPr>
          <p:txBody>
            <a:bodyPr wrap="none" tIns="0" bIns="0" rtlCol="0">
              <a:spAutoFit/>
            </a:bodyPr>
            <a:lstStyle/>
            <a:p>
              <a:r>
                <a:rPr lang="en-US" sz="1050" dirty="0" err="1"/>
                <a:t>Opcode_MAA_JSR</a:t>
              </a:r>
              <a:endParaRPr lang="en-US" sz="1050" dirty="0"/>
            </a:p>
          </p:txBody>
        </p:sp>
        <p:cxnSp>
          <p:nvCxnSpPr>
            <p:cNvPr id="69" name="Straight Connector 68">
              <a:extLst>
                <a:ext uri="{FF2B5EF4-FFF2-40B4-BE49-F238E27FC236}">
                  <a16:creationId xmlns:a16="http://schemas.microsoft.com/office/drawing/2014/main" id="{E2C40801-3CA3-EBCA-D32F-0F89FF82649E}"/>
                </a:ext>
              </a:extLst>
            </p:cNvPr>
            <p:cNvCxnSpPr>
              <a:cxnSpLocks/>
            </p:cNvCxnSpPr>
            <p:nvPr/>
          </p:nvCxnSpPr>
          <p:spPr>
            <a:xfrm>
              <a:off x="5355775" y="4337825"/>
              <a:ext cx="546457"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72" name="Connector: Elbow 71">
            <a:extLst>
              <a:ext uri="{FF2B5EF4-FFF2-40B4-BE49-F238E27FC236}">
                <a16:creationId xmlns:a16="http://schemas.microsoft.com/office/drawing/2014/main" id="{ED6A3C3B-C884-D340-D1DE-835943FBAFEE}"/>
              </a:ext>
            </a:extLst>
          </p:cNvPr>
          <p:cNvCxnSpPr>
            <a:cxnSpLocks/>
            <a:stCxn id="68" idx="3"/>
            <a:endCxn id="22" idx="1"/>
          </p:cNvCxnSpPr>
          <p:nvPr/>
        </p:nvCxnSpPr>
        <p:spPr>
          <a:xfrm>
            <a:off x="1756916" y="4540891"/>
            <a:ext cx="954131" cy="39204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75" name="TextBox 74">
            <a:hlinkClick r:id="rId7" action="ppaction://hlinksldjump"/>
            <a:extLst>
              <a:ext uri="{FF2B5EF4-FFF2-40B4-BE49-F238E27FC236}">
                <a16:creationId xmlns:a16="http://schemas.microsoft.com/office/drawing/2014/main" id="{6DB00B6C-38F7-9AA6-A048-8242F26BBBF9}"/>
              </a:ext>
            </a:extLst>
          </p:cNvPr>
          <p:cNvSpPr txBox="1"/>
          <p:nvPr/>
        </p:nvSpPr>
        <p:spPr>
          <a:xfrm>
            <a:off x="812283" y="5397620"/>
            <a:ext cx="1069524" cy="161583"/>
          </a:xfrm>
          <a:prstGeom prst="rect">
            <a:avLst/>
          </a:prstGeom>
          <a:noFill/>
          <a:ln>
            <a:solidFill>
              <a:schemeClr val="accent1"/>
            </a:solidFill>
          </a:ln>
        </p:spPr>
        <p:txBody>
          <a:bodyPr wrap="none" tIns="0" bIns="0" rtlCol="0">
            <a:spAutoFit/>
          </a:bodyPr>
          <a:lstStyle/>
          <a:p>
            <a:r>
              <a:rPr lang="en-US" sz="1050" dirty="0"/>
              <a:t>AR H/L (</a:t>
            </a:r>
            <a:r>
              <a:rPr lang="en-US" sz="1050" dirty="0" err="1"/>
              <a:t>Instr</a:t>
            </a:r>
            <a:r>
              <a:rPr lang="en-US" sz="1050" dirty="0"/>
              <a:t>[5])</a:t>
            </a:r>
          </a:p>
        </p:txBody>
      </p:sp>
      <p:cxnSp>
        <p:nvCxnSpPr>
          <p:cNvPr id="76" name="Straight Arrow Connector 75">
            <a:extLst>
              <a:ext uri="{FF2B5EF4-FFF2-40B4-BE49-F238E27FC236}">
                <a16:creationId xmlns:a16="http://schemas.microsoft.com/office/drawing/2014/main" id="{39D77BB2-1DF4-B46C-CA61-03463483C508}"/>
              </a:ext>
            </a:extLst>
          </p:cNvPr>
          <p:cNvCxnSpPr>
            <a:cxnSpLocks/>
            <a:stCxn id="75" idx="3"/>
            <a:endCxn id="24" idx="1"/>
          </p:cNvCxnSpPr>
          <p:nvPr/>
        </p:nvCxnSpPr>
        <p:spPr>
          <a:xfrm flipV="1">
            <a:off x="1881807" y="5475952"/>
            <a:ext cx="645791" cy="24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2" name="Picture 81" descr="A circuit board with numbers and letters&#10;&#10;AI-generated content may be incorrect.">
            <a:extLst>
              <a:ext uri="{FF2B5EF4-FFF2-40B4-BE49-F238E27FC236}">
                <a16:creationId xmlns:a16="http://schemas.microsoft.com/office/drawing/2014/main" id="{5822723D-3E79-869F-9A92-D35BB11FEC8D}"/>
              </a:ext>
            </a:extLst>
          </p:cNvPr>
          <p:cNvPicPr>
            <a:picLocks noChangeAspect="1"/>
          </p:cNvPicPr>
          <p:nvPr/>
        </p:nvPicPr>
        <p:blipFill>
          <a:blip r:embed="rId8"/>
          <a:srcRect r="7826"/>
          <a:stretch>
            <a:fillRect/>
          </a:stretch>
        </p:blipFill>
        <p:spPr>
          <a:xfrm>
            <a:off x="7379877" y="2728965"/>
            <a:ext cx="4285536" cy="2793608"/>
          </a:xfrm>
          <a:prstGeom prst="rect">
            <a:avLst/>
          </a:prstGeom>
        </p:spPr>
      </p:pic>
      <p:pic>
        <p:nvPicPr>
          <p:cNvPr id="1026" name="Picture 2">
            <a:extLst>
              <a:ext uri="{FF2B5EF4-FFF2-40B4-BE49-F238E27FC236}">
                <a16:creationId xmlns:a16="http://schemas.microsoft.com/office/drawing/2014/main" id="{B14E073F-6F20-61C1-D989-69C393FBC7B3}"/>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9236" r="27172"/>
          <a:stretch>
            <a:fillRect/>
          </a:stretch>
        </p:blipFill>
        <p:spPr bwMode="auto">
          <a:xfrm>
            <a:off x="9084736" y="3827619"/>
            <a:ext cx="1077905" cy="1195293"/>
          </a:xfrm>
          <a:prstGeom prst="rect">
            <a:avLst/>
          </a:prstGeom>
          <a:noFill/>
          <a:extLst>
            <a:ext uri="{909E8E84-426E-40DD-AFC4-6F175D3DCCD1}">
              <a14:hiddenFill xmlns:a14="http://schemas.microsoft.com/office/drawing/2010/main">
                <a:solidFill>
                  <a:srgbClr val="FFFFFF"/>
                </a:solidFill>
              </a14:hiddenFill>
            </a:ext>
          </a:extLst>
        </p:spPr>
      </p:pic>
      <p:grpSp>
        <p:nvGrpSpPr>
          <p:cNvPr id="94" name="Group 93">
            <a:extLst>
              <a:ext uri="{FF2B5EF4-FFF2-40B4-BE49-F238E27FC236}">
                <a16:creationId xmlns:a16="http://schemas.microsoft.com/office/drawing/2014/main" id="{313A5BE8-05A5-713B-0FB2-297D913F40B9}"/>
              </a:ext>
            </a:extLst>
          </p:cNvPr>
          <p:cNvGrpSpPr/>
          <p:nvPr/>
        </p:nvGrpSpPr>
        <p:grpSpPr>
          <a:xfrm>
            <a:off x="8042776" y="5081988"/>
            <a:ext cx="447814" cy="261610"/>
            <a:chOff x="8473855" y="5940429"/>
            <a:chExt cx="447814" cy="261610"/>
          </a:xfrm>
        </p:grpSpPr>
        <p:sp>
          <p:nvSpPr>
            <p:cNvPr id="92" name="TextBox 91">
              <a:extLst>
                <a:ext uri="{FF2B5EF4-FFF2-40B4-BE49-F238E27FC236}">
                  <a16:creationId xmlns:a16="http://schemas.microsoft.com/office/drawing/2014/main" id="{3A6541E0-E3B9-DCA7-EB5B-5C273CA26413}"/>
                </a:ext>
              </a:extLst>
            </p:cNvPr>
            <p:cNvSpPr txBox="1"/>
            <p:nvPr/>
          </p:nvSpPr>
          <p:spPr>
            <a:xfrm>
              <a:off x="8473855" y="5940429"/>
              <a:ext cx="320922" cy="261610"/>
            </a:xfrm>
            <a:prstGeom prst="rect">
              <a:avLst/>
            </a:prstGeom>
            <a:noFill/>
          </p:spPr>
          <p:txBody>
            <a:bodyPr wrap="none" rtlCol="0">
              <a:spAutoFit/>
            </a:bodyPr>
            <a:lstStyle/>
            <a:p>
              <a:r>
                <a:rPr lang="en-US" sz="1050" dirty="0">
                  <a:solidFill>
                    <a:srgbClr val="0070C0"/>
                  </a:solidFill>
                </a:rPr>
                <a:t>0v</a:t>
              </a:r>
            </a:p>
          </p:txBody>
        </p:sp>
        <p:cxnSp>
          <p:nvCxnSpPr>
            <p:cNvPr id="93" name="Straight Arrow Connector 92">
              <a:extLst>
                <a:ext uri="{FF2B5EF4-FFF2-40B4-BE49-F238E27FC236}">
                  <a16:creationId xmlns:a16="http://schemas.microsoft.com/office/drawing/2014/main" id="{C803C204-D21A-17F6-D725-349254961BA7}"/>
                </a:ext>
              </a:extLst>
            </p:cNvPr>
            <p:cNvCxnSpPr>
              <a:cxnSpLocks/>
            </p:cNvCxnSpPr>
            <p:nvPr/>
          </p:nvCxnSpPr>
          <p:spPr>
            <a:xfrm flipV="1">
              <a:off x="8715893" y="6069086"/>
              <a:ext cx="205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97" name="Group 96">
            <a:extLst>
              <a:ext uri="{FF2B5EF4-FFF2-40B4-BE49-F238E27FC236}">
                <a16:creationId xmlns:a16="http://schemas.microsoft.com/office/drawing/2014/main" id="{D6546CA9-A5A3-5D7D-E792-9B8F2AA39C17}"/>
              </a:ext>
            </a:extLst>
          </p:cNvPr>
          <p:cNvGrpSpPr/>
          <p:nvPr/>
        </p:nvGrpSpPr>
        <p:grpSpPr>
          <a:xfrm>
            <a:off x="8042776" y="4782312"/>
            <a:ext cx="447814" cy="261610"/>
            <a:chOff x="8473855" y="5940429"/>
            <a:chExt cx="447814" cy="261610"/>
          </a:xfrm>
        </p:grpSpPr>
        <p:sp>
          <p:nvSpPr>
            <p:cNvPr id="98" name="TextBox 97">
              <a:extLst>
                <a:ext uri="{FF2B5EF4-FFF2-40B4-BE49-F238E27FC236}">
                  <a16:creationId xmlns:a16="http://schemas.microsoft.com/office/drawing/2014/main" id="{AFFA9D9D-2B3F-4B0C-32C5-FE19852D6012}"/>
                </a:ext>
              </a:extLst>
            </p:cNvPr>
            <p:cNvSpPr txBox="1"/>
            <p:nvPr/>
          </p:nvSpPr>
          <p:spPr>
            <a:xfrm>
              <a:off x="8473855" y="5940429"/>
              <a:ext cx="320922" cy="261610"/>
            </a:xfrm>
            <a:prstGeom prst="rect">
              <a:avLst/>
            </a:prstGeom>
            <a:noFill/>
          </p:spPr>
          <p:txBody>
            <a:bodyPr wrap="none" rtlCol="0">
              <a:spAutoFit/>
            </a:bodyPr>
            <a:lstStyle/>
            <a:p>
              <a:r>
                <a:rPr lang="en-US" sz="1050" dirty="0">
                  <a:solidFill>
                    <a:srgbClr val="0070C0"/>
                  </a:solidFill>
                </a:rPr>
                <a:t>0v</a:t>
              </a:r>
            </a:p>
          </p:txBody>
        </p:sp>
        <p:cxnSp>
          <p:nvCxnSpPr>
            <p:cNvPr id="99" name="Straight Arrow Connector 98">
              <a:extLst>
                <a:ext uri="{FF2B5EF4-FFF2-40B4-BE49-F238E27FC236}">
                  <a16:creationId xmlns:a16="http://schemas.microsoft.com/office/drawing/2014/main" id="{CCAC79C5-7422-E350-8892-9C3C27BE2A4D}"/>
                </a:ext>
              </a:extLst>
            </p:cNvPr>
            <p:cNvCxnSpPr>
              <a:cxnSpLocks/>
            </p:cNvCxnSpPr>
            <p:nvPr/>
          </p:nvCxnSpPr>
          <p:spPr>
            <a:xfrm flipV="1">
              <a:off x="8715893" y="6069086"/>
              <a:ext cx="205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00" name="Group 99">
            <a:extLst>
              <a:ext uri="{FF2B5EF4-FFF2-40B4-BE49-F238E27FC236}">
                <a16:creationId xmlns:a16="http://schemas.microsoft.com/office/drawing/2014/main" id="{08955794-6BEA-2D85-85B1-4BC4CEE7F02B}"/>
              </a:ext>
            </a:extLst>
          </p:cNvPr>
          <p:cNvGrpSpPr/>
          <p:nvPr/>
        </p:nvGrpSpPr>
        <p:grpSpPr>
          <a:xfrm>
            <a:off x="8042776" y="4482637"/>
            <a:ext cx="447814" cy="261610"/>
            <a:chOff x="8473855" y="5940429"/>
            <a:chExt cx="447814" cy="261610"/>
          </a:xfrm>
        </p:grpSpPr>
        <p:sp>
          <p:nvSpPr>
            <p:cNvPr id="101" name="TextBox 100">
              <a:extLst>
                <a:ext uri="{FF2B5EF4-FFF2-40B4-BE49-F238E27FC236}">
                  <a16:creationId xmlns:a16="http://schemas.microsoft.com/office/drawing/2014/main" id="{E0C75CDC-63FE-1B81-811D-69A42BA9C2C7}"/>
                </a:ext>
              </a:extLst>
            </p:cNvPr>
            <p:cNvSpPr txBox="1"/>
            <p:nvPr/>
          </p:nvSpPr>
          <p:spPr>
            <a:xfrm>
              <a:off x="8473855" y="5940429"/>
              <a:ext cx="320922" cy="261610"/>
            </a:xfrm>
            <a:prstGeom prst="rect">
              <a:avLst/>
            </a:prstGeom>
            <a:noFill/>
          </p:spPr>
          <p:txBody>
            <a:bodyPr wrap="none" rtlCol="0">
              <a:spAutoFit/>
            </a:bodyPr>
            <a:lstStyle/>
            <a:p>
              <a:r>
                <a:rPr lang="en-US" sz="1050" dirty="0">
                  <a:solidFill>
                    <a:srgbClr val="0070C0"/>
                  </a:solidFill>
                </a:rPr>
                <a:t>0v</a:t>
              </a:r>
            </a:p>
          </p:txBody>
        </p:sp>
        <p:cxnSp>
          <p:nvCxnSpPr>
            <p:cNvPr id="102" name="Straight Arrow Connector 101">
              <a:extLst>
                <a:ext uri="{FF2B5EF4-FFF2-40B4-BE49-F238E27FC236}">
                  <a16:creationId xmlns:a16="http://schemas.microsoft.com/office/drawing/2014/main" id="{F63CF329-7CB2-C9A3-F741-E4DBB711C7F3}"/>
                </a:ext>
              </a:extLst>
            </p:cNvPr>
            <p:cNvCxnSpPr>
              <a:cxnSpLocks/>
            </p:cNvCxnSpPr>
            <p:nvPr/>
          </p:nvCxnSpPr>
          <p:spPr>
            <a:xfrm flipV="1">
              <a:off x="8715893" y="6069086"/>
              <a:ext cx="205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03" name="Group 102">
            <a:extLst>
              <a:ext uri="{FF2B5EF4-FFF2-40B4-BE49-F238E27FC236}">
                <a16:creationId xmlns:a16="http://schemas.microsoft.com/office/drawing/2014/main" id="{0DE45023-7764-A5B4-216F-E5F2E03E5EBE}"/>
              </a:ext>
            </a:extLst>
          </p:cNvPr>
          <p:cNvGrpSpPr/>
          <p:nvPr/>
        </p:nvGrpSpPr>
        <p:grpSpPr>
          <a:xfrm flipH="1">
            <a:off x="10828357" y="3043278"/>
            <a:ext cx="447814" cy="261610"/>
            <a:chOff x="8473855" y="5940429"/>
            <a:chExt cx="447814" cy="261610"/>
          </a:xfrm>
        </p:grpSpPr>
        <p:sp>
          <p:nvSpPr>
            <p:cNvPr id="104" name="TextBox 103">
              <a:extLst>
                <a:ext uri="{FF2B5EF4-FFF2-40B4-BE49-F238E27FC236}">
                  <a16:creationId xmlns:a16="http://schemas.microsoft.com/office/drawing/2014/main" id="{5FD10B74-71BB-237C-4440-5CBAEAF662C5}"/>
                </a:ext>
              </a:extLst>
            </p:cNvPr>
            <p:cNvSpPr txBox="1"/>
            <p:nvPr/>
          </p:nvSpPr>
          <p:spPr>
            <a:xfrm>
              <a:off x="8473855" y="5940429"/>
              <a:ext cx="320922" cy="261610"/>
            </a:xfrm>
            <a:prstGeom prst="rect">
              <a:avLst/>
            </a:prstGeom>
            <a:noFill/>
          </p:spPr>
          <p:txBody>
            <a:bodyPr wrap="none" rtlCol="0">
              <a:spAutoFit/>
            </a:bodyPr>
            <a:lstStyle/>
            <a:p>
              <a:r>
                <a:rPr lang="en-US" sz="1050" dirty="0">
                  <a:solidFill>
                    <a:srgbClr val="0070C0"/>
                  </a:solidFill>
                </a:rPr>
                <a:t>5v</a:t>
              </a:r>
            </a:p>
          </p:txBody>
        </p:sp>
        <p:cxnSp>
          <p:nvCxnSpPr>
            <p:cNvPr id="105" name="Straight Arrow Connector 104">
              <a:extLst>
                <a:ext uri="{FF2B5EF4-FFF2-40B4-BE49-F238E27FC236}">
                  <a16:creationId xmlns:a16="http://schemas.microsoft.com/office/drawing/2014/main" id="{56F7278D-C0F9-204A-3DE5-BCDA4E3A6F04}"/>
                </a:ext>
              </a:extLst>
            </p:cNvPr>
            <p:cNvCxnSpPr>
              <a:cxnSpLocks/>
            </p:cNvCxnSpPr>
            <p:nvPr/>
          </p:nvCxnSpPr>
          <p:spPr>
            <a:xfrm flipV="1">
              <a:off x="8715893" y="6069086"/>
              <a:ext cx="205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27" name="Group 126">
            <a:extLst>
              <a:ext uri="{FF2B5EF4-FFF2-40B4-BE49-F238E27FC236}">
                <a16:creationId xmlns:a16="http://schemas.microsoft.com/office/drawing/2014/main" id="{32FE7324-D148-91D4-B076-397E69C69CF5}"/>
              </a:ext>
            </a:extLst>
          </p:cNvPr>
          <p:cNvGrpSpPr/>
          <p:nvPr/>
        </p:nvGrpSpPr>
        <p:grpSpPr>
          <a:xfrm>
            <a:off x="10740824" y="4538328"/>
            <a:ext cx="924086" cy="138499"/>
            <a:chOff x="5355775" y="4302229"/>
            <a:chExt cx="1073871" cy="138500"/>
          </a:xfrm>
        </p:grpSpPr>
        <p:sp>
          <p:nvSpPr>
            <p:cNvPr id="1024" name="TextBox 1023">
              <a:hlinkClick r:id="rId6" action="ppaction://hlinksldjump"/>
              <a:extLst>
                <a:ext uri="{FF2B5EF4-FFF2-40B4-BE49-F238E27FC236}">
                  <a16:creationId xmlns:a16="http://schemas.microsoft.com/office/drawing/2014/main" id="{ADBF0D84-71AA-A6FE-D56B-E20F34E6F73C}"/>
                </a:ext>
              </a:extLst>
            </p:cNvPr>
            <p:cNvSpPr txBox="1"/>
            <p:nvPr/>
          </p:nvSpPr>
          <p:spPr>
            <a:xfrm>
              <a:off x="5363720" y="4302229"/>
              <a:ext cx="1065926" cy="138500"/>
            </a:xfrm>
            <a:prstGeom prst="rect">
              <a:avLst/>
            </a:prstGeom>
            <a:noFill/>
            <a:ln>
              <a:solidFill>
                <a:schemeClr val="accent1"/>
              </a:solidFill>
            </a:ln>
          </p:spPr>
          <p:txBody>
            <a:bodyPr wrap="square" lIns="0" tIns="0" rIns="0" bIns="0" rtlCol="0">
              <a:spAutoFit/>
            </a:bodyPr>
            <a:lstStyle/>
            <a:p>
              <a:pPr algn="ctr"/>
              <a:r>
                <a:rPr lang="en-US" sz="900" dirty="0" err="1"/>
                <a:t>Opcode_MAA_JSR</a:t>
              </a:r>
              <a:endParaRPr lang="en-US" sz="900" dirty="0"/>
            </a:p>
          </p:txBody>
        </p:sp>
        <p:cxnSp>
          <p:nvCxnSpPr>
            <p:cNvPr id="1025" name="Straight Connector 1024">
              <a:extLst>
                <a:ext uri="{FF2B5EF4-FFF2-40B4-BE49-F238E27FC236}">
                  <a16:creationId xmlns:a16="http://schemas.microsoft.com/office/drawing/2014/main" id="{B38B3ACD-02D4-FB82-7A52-2F528BBFFCCF}"/>
                </a:ext>
              </a:extLst>
            </p:cNvPr>
            <p:cNvCxnSpPr>
              <a:cxnSpLocks/>
            </p:cNvCxnSpPr>
            <p:nvPr/>
          </p:nvCxnSpPr>
          <p:spPr>
            <a:xfrm>
              <a:off x="5355775" y="4337825"/>
              <a:ext cx="546457"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1030" name="Straight Arrow Connector 1029">
            <a:extLst>
              <a:ext uri="{FF2B5EF4-FFF2-40B4-BE49-F238E27FC236}">
                <a16:creationId xmlns:a16="http://schemas.microsoft.com/office/drawing/2014/main" id="{7394840B-03C8-9481-3D44-66218EE250E7}"/>
              </a:ext>
            </a:extLst>
          </p:cNvPr>
          <p:cNvCxnSpPr>
            <a:cxnSpLocks/>
          </p:cNvCxnSpPr>
          <p:nvPr/>
        </p:nvCxnSpPr>
        <p:spPr>
          <a:xfrm flipH="1" flipV="1">
            <a:off x="10533549" y="4621681"/>
            <a:ext cx="205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2" name="Connector: Elbow 1031">
            <a:extLst>
              <a:ext uri="{FF2B5EF4-FFF2-40B4-BE49-F238E27FC236}">
                <a16:creationId xmlns:a16="http://schemas.microsoft.com/office/drawing/2014/main" id="{90D8887B-03EB-F19E-5A9D-908D302075D9}"/>
              </a:ext>
            </a:extLst>
          </p:cNvPr>
          <p:cNvCxnSpPr>
            <a:stCxn id="1029" idx="3"/>
            <a:endCxn id="1027" idx="3"/>
          </p:cNvCxnSpPr>
          <p:nvPr/>
        </p:nvCxnSpPr>
        <p:spPr>
          <a:xfrm flipH="1">
            <a:off x="10564866" y="3763911"/>
            <a:ext cx="1044083" cy="1147058"/>
          </a:xfrm>
          <a:prstGeom prst="bentConnector3">
            <a:avLst>
              <a:gd name="adj1" fmla="val -2189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3" name="Connector: Elbow 1032">
            <a:extLst>
              <a:ext uri="{FF2B5EF4-FFF2-40B4-BE49-F238E27FC236}">
                <a16:creationId xmlns:a16="http://schemas.microsoft.com/office/drawing/2014/main" id="{2DD119B2-A7D0-D9DB-2180-F0B5DA61DE10}"/>
              </a:ext>
            </a:extLst>
          </p:cNvPr>
          <p:cNvCxnSpPr>
            <a:cxnSpLocks/>
            <a:stCxn id="1029" idx="3"/>
            <a:endCxn id="1028" idx="3"/>
          </p:cNvCxnSpPr>
          <p:nvPr/>
        </p:nvCxnSpPr>
        <p:spPr>
          <a:xfrm flipH="1">
            <a:off x="10564866" y="3763911"/>
            <a:ext cx="1044083" cy="1438174"/>
          </a:xfrm>
          <a:prstGeom prst="bentConnector3">
            <a:avLst>
              <a:gd name="adj1" fmla="val -2189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9" name="Straight Arrow Connector 1038">
            <a:extLst>
              <a:ext uri="{FF2B5EF4-FFF2-40B4-BE49-F238E27FC236}">
                <a16:creationId xmlns:a16="http://schemas.microsoft.com/office/drawing/2014/main" id="{30E46897-1FF3-B31E-546B-E97112B71CB0}"/>
              </a:ext>
            </a:extLst>
          </p:cNvPr>
          <p:cNvCxnSpPr>
            <a:cxnSpLocks/>
          </p:cNvCxnSpPr>
          <p:nvPr/>
        </p:nvCxnSpPr>
        <p:spPr>
          <a:xfrm flipH="1" flipV="1">
            <a:off x="10593660" y="4095736"/>
            <a:ext cx="205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0" name="Straight Arrow Connector 1039">
            <a:extLst>
              <a:ext uri="{FF2B5EF4-FFF2-40B4-BE49-F238E27FC236}">
                <a16:creationId xmlns:a16="http://schemas.microsoft.com/office/drawing/2014/main" id="{4C6CC033-CF2F-FEAA-A16C-F3A8CBE7E18C}"/>
              </a:ext>
            </a:extLst>
          </p:cNvPr>
          <p:cNvCxnSpPr>
            <a:cxnSpLocks/>
          </p:cNvCxnSpPr>
          <p:nvPr/>
        </p:nvCxnSpPr>
        <p:spPr>
          <a:xfrm flipH="1" flipV="1">
            <a:off x="10616906" y="4351295"/>
            <a:ext cx="205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38" name="Rectangle 1037">
            <a:hlinkClick r:id="rId5" action="ppaction://hlinksldjump"/>
            <a:extLst>
              <a:ext uri="{FF2B5EF4-FFF2-40B4-BE49-F238E27FC236}">
                <a16:creationId xmlns:a16="http://schemas.microsoft.com/office/drawing/2014/main" id="{AA434D35-3DB3-F57F-DA72-DFE5EED9A720}"/>
              </a:ext>
            </a:extLst>
          </p:cNvPr>
          <p:cNvSpPr/>
          <p:nvPr/>
        </p:nvSpPr>
        <p:spPr>
          <a:xfrm>
            <a:off x="10740824" y="4286689"/>
            <a:ext cx="917249" cy="138498"/>
          </a:xfrm>
          <a:prstGeom prst="rect">
            <a:avLst/>
          </a:prstGeom>
        </p:spPr>
        <p:style>
          <a:lnRef idx="2">
            <a:schemeClr val="accent5"/>
          </a:lnRef>
          <a:fillRef idx="1">
            <a:schemeClr val="lt1"/>
          </a:fillRef>
          <a:effectRef idx="0">
            <a:schemeClr val="accent5"/>
          </a:effectRef>
          <a:fontRef idx="minor">
            <a:schemeClr val="dk1"/>
          </a:fontRef>
        </p:style>
        <p:txBody>
          <a:bodyPr lIns="0" rIns="0" rtlCol="0" anchor="ctr"/>
          <a:lstStyle/>
          <a:p>
            <a:pPr algn="ctr"/>
            <a:r>
              <a:rPr lang="en-US" sz="900" dirty="0"/>
              <a:t>µC 22: AB2DB H/L</a:t>
            </a:r>
          </a:p>
        </p:txBody>
      </p:sp>
      <p:sp>
        <p:nvSpPr>
          <p:cNvPr id="1041" name="TextBox 1040">
            <a:hlinkClick r:id="rId7" action="ppaction://hlinksldjump"/>
            <a:extLst>
              <a:ext uri="{FF2B5EF4-FFF2-40B4-BE49-F238E27FC236}">
                <a16:creationId xmlns:a16="http://schemas.microsoft.com/office/drawing/2014/main" id="{26170D41-AF0F-EA39-8307-80D1B538BCB6}"/>
              </a:ext>
            </a:extLst>
          </p:cNvPr>
          <p:cNvSpPr txBox="1"/>
          <p:nvPr/>
        </p:nvSpPr>
        <p:spPr>
          <a:xfrm>
            <a:off x="10740824" y="4019660"/>
            <a:ext cx="844783" cy="153888"/>
          </a:xfrm>
          <a:prstGeom prst="rect">
            <a:avLst/>
          </a:prstGeom>
          <a:solidFill>
            <a:schemeClr val="bg1"/>
          </a:solidFill>
          <a:ln>
            <a:solidFill>
              <a:schemeClr val="accent1"/>
            </a:solidFill>
          </a:ln>
        </p:spPr>
        <p:txBody>
          <a:bodyPr wrap="none" lIns="0" tIns="0" rIns="0" bIns="0" rtlCol="0">
            <a:spAutoFit/>
          </a:bodyPr>
          <a:lstStyle/>
          <a:p>
            <a:pPr algn="ctr"/>
            <a:r>
              <a:rPr lang="en-US" sz="1000" dirty="0"/>
              <a:t>AR H/L (</a:t>
            </a:r>
            <a:r>
              <a:rPr lang="en-US" sz="1000" dirty="0" err="1"/>
              <a:t>Instr</a:t>
            </a:r>
            <a:r>
              <a:rPr lang="en-US" sz="1000" dirty="0"/>
              <a:t>[5])</a:t>
            </a:r>
          </a:p>
        </p:txBody>
      </p:sp>
      <p:grpSp>
        <p:nvGrpSpPr>
          <p:cNvPr id="1042" name="Group 1041">
            <a:extLst>
              <a:ext uri="{FF2B5EF4-FFF2-40B4-BE49-F238E27FC236}">
                <a16:creationId xmlns:a16="http://schemas.microsoft.com/office/drawing/2014/main" id="{C20B7190-6479-D4B8-64E5-127E894148A4}"/>
              </a:ext>
            </a:extLst>
          </p:cNvPr>
          <p:cNvGrpSpPr/>
          <p:nvPr/>
        </p:nvGrpSpPr>
        <p:grpSpPr>
          <a:xfrm>
            <a:off x="8042776" y="3351445"/>
            <a:ext cx="447814" cy="261610"/>
            <a:chOff x="8473855" y="5940429"/>
            <a:chExt cx="447814" cy="261610"/>
          </a:xfrm>
        </p:grpSpPr>
        <p:sp>
          <p:nvSpPr>
            <p:cNvPr id="1043" name="TextBox 1042">
              <a:extLst>
                <a:ext uri="{FF2B5EF4-FFF2-40B4-BE49-F238E27FC236}">
                  <a16:creationId xmlns:a16="http://schemas.microsoft.com/office/drawing/2014/main" id="{59B58DB2-A545-FF27-73D0-48893AF7FE11}"/>
                </a:ext>
              </a:extLst>
            </p:cNvPr>
            <p:cNvSpPr txBox="1"/>
            <p:nvPr/>
          </p:nvSpPr>
          <p:spPr>
            <a:xfrm>
              <a:off x="8473855" y="5940429"/>
              <a:ext cx="320922" cy="261610"/>
            </a:xfrm>
            <a:prstGeom prst="rect">
              <a:avLst/>
            </a:prstGeom>
            <a:noFill/>
          </p:spPr>
          <p:txBody>
            <a:bodyPr wrap="none" rtlCol="0">
              <a:spAutoFit/>
            </a:bodyPr>
            <a:lstStyle/>
            <a:p>
              <a:r>
                <a:rPr lang="en-US" sz="1050" dirty="0">
                  <a:solidFill>
                    <a:srgbClr val="0070C0"/>
                  </a:solidFill>
                </a:rPr>
                <a:t>1v</a:t>
              </a:r>
            </a:p>
          </p:txBody>
        </p:sp>
        <p:cxnSp>
          <p:nvCxnSpPr>
            <p:cNvPr id="1044" name="Straight Arrow Connector 1043">
              <a:extLst>
                <a:ext uri="{FF2B5EF4-FFF2-40B4-BE49-F238E27FC236}">
                  <a16:creationId xmlns:a16="http://schemas.microsoft.com/office/drawing/2014/main" id="{0CADCAA3-A541-F163-F45B-9564E9AFAE9D}"/>
                </a:ext>
              </a:extLst>
            </p:cNvPr>
            <p:cNvCxnSpPr>
              <a:cxnSpLocks/>
            </p:cNvCxnSpPr>
            <p:nvPr/>
          </p:nvCxnSpPr>
          <p:spPr>
            <a:xfrm flipV="1">
              <a:off x="8715893" y="6069086"/>
              <a:ext cx="205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pic>
        <p:nvPicPr>
          <p:cNvPr id="1046" name="Picture 1045" descr="A table with numbers and letters&#10;&#10;AI-generated content may be incorrect.">
            <a:extLst>
              <a:ext uri="{FF2B5EF4-FFF2-40B4-BE49-F238E27FC236}">
                <a16:creationId xmlns:a16="http://schemas.microsoft.com/office/drawing/2014/main" id="{336314E4-BB43-999A-0209-E3D758C4D6AA}"/>
              </a:ext>
            </a:extLst>
          </p:cNvPr>
          <p:cNvPicPr>
            <a:picLocks noChangeAspect="1"/>
          </p:cNvPicPr>
          <p:nvPr/>
        </p:nvPicPr>
        <p:blipFill>
          <a:blip r:embed="rId10"/>
          <a:stretch>
            <a:fillRect/>
          </a:stretch>
        </p:blipFill>
        <p:spPr>
          <a:xfrm>
            <a:off x="7668351" y="121859"/>
            <a:ext cx="4329612" cy="997162"/>
          </a:xfrm>
          <a:prstGeom prst="rect">
            <a:avLst/>
          </a:prstGeom>
        </p:spPr>
      </p:pic>
      <p:grpSp>
        <p:nvGrpSpPr>
          <p:cNvPr id="1047" name="Group 1046">
            <a:extLst>
              <a:ext uri="{FF2B5EF4-FFF2-40B4-BE49-F238E27FC236}">
                <a16:creationId xmlns:a16="http://schemas.microsoft.com/office/drawing/2014/main" id="{EF6ECE32-470C-887D-699A-91F019732C55}"/>
              </a:ext>
            </a:extLst>
          </p:cNvPr>
          <p:cNvGrpSpPr/>
          <p:nvPr/>
        </p:nvGrpSpPr>
        <p:grpSpPr>
          <a:xfrm>
            <a:off x="8042776" y="3630178"/>
            <a:ext cx="447814" cy="261610"/>
            <a:chOff x="8473855" y="5940429"/>
            <a:chExt cx="447814" cy="261610"/>
          </a:xfrm>
        </p:grpSpPr>
        <p:sp>
          <p:nvSpPr>
            <p:cNvPr id="1048" name="TextBox 1047">
              <a:extLst>
                <a:ext uri="{FF2B5EF4-FFF2-40B4-BE49-F238E27FC236}">
                  <a16:creationId xmlns:a16="http://schemas.microsoft.com/office/drawing/2014/main" id="{AF1F01D3-F605-2DCC-DD73-8A5867F1B9AA}"/>
                </a:ext>
              </a:extLst>
            </p:cNvPr>
            <p:cNvSpPr txBox="1"/>
            <p:nvPr/>
          </p:nvSpPr>
          <p:spPr>
            <a:xfrm>
              <a:off x="8473855" y="5940429"/>
              <a:ext cx="320922" cy="261610"/>
            </a:xfrm>
            <a:prstGeom prst="rect">
              <a:avLst/>
            </a:prstGeom>
            <a:noFill/>
          </p:spPr>
          <p:txBody>
            <a:bodyPr wrap="none" rtlCol="0">
              <a:spAutoFit/>
            </a:bodyPr>
            <a:lstStyle/>
            <a:p>
              <a:r>
                <a:rPr lang="en-US" sz="1050" dirty="0">
                  <a:solidFill>
                    <a:srgbClr val="0070C0"/>
                  </a:solidFill>
                </a:rPr>
                <a:t>1v</a:t>
              </a:r>
            </a:p>
          </p:txBody>
        </p:sp>
        <p:cxnSp>
          <p:nvCxnSpPr>
            <p:cNvPr id="1049" name="Straight Arrow Connector 1048">
              <a:extLst>
                <a:ext uri="{FF2B5EF4-FFF2-40B4-BE49-F238E27FC236}">
                  <a16:creationId xmlns:a16="http://schemas.microsoft.com/office/drawing/2014/main" id="{EF840258-F433-0BD0-A80E-F267F9C0BED5}"/>
                </a:ext>
              </a:extLst>
            </p:cNvPr>
            <p:cNvCxnSpPr>
              <a:cxnSpLocks/>
            </p:cNvCxnSpPr>
            <p:nvPr/>
          </p:nvCxnSpPr>
          <p:spPr>
            <a:xfrm flipV="1">
              <a:off x="8715893" y="6069086"/>
              <a:ext cx="205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050" name="TextBox 1049">
            <a:hlinkClick r:id="rId11" action="ppaction://hlinksldjump"/>
            <a:extLst>
              <a:ext uri="{FF2B5EF4-FFF2-40B4-BE49-F238E27FC236}">
                <a16:creationId xmlns:a16="http://schemas.microsoft.com/office/drawing/2014/main" id="{EE15BA3C-5B83-D887-5BC8-EC2A75183AF6}"/>
              </a:ext>
            </a:extLst>
          </p:cNvPr>
          <p:cNvSpPr txBox="1"/>
          <p:nvPr/>
        </p:nvSpPr>
        <p:spPr>
          <a:xfrm>
            <a:off x="8191388" y="3971881"/>
            <a:ext cx="615196" cy="153888"/>
          </a:xfrm>
          <a:prstGeom prst="rect">
            <a:avLst/>
          </a:prstGeom>
          <a:solidFill>
            <a:schemeClr val="bg1"/>
          </a:solidFill>
          <a:ln>
            <a:solidFill>
              <a:schemeClr val="accent1"/>
            </a:solidFill>
          </a:ln>
        </p:spPr>
        <p:txBody>
          <a:bodyPr wrap="square" lIns="0" tIns="0" rIns="0" bIns="0" rtlCol="0">
            <a:spAutoFit/>
          </a:bodyPr>
          <a:lstStyle/>
          <a:p>
            <a:pPr algn="ctr"/>
            <a:r>
              <a:rPr lang="en-US" sz="1000" dirty="0" err="1"/>
              <a:t>Addr</a:t>
            </a:r>
            <a:r>
              <a:rPr lang="en-US" sz="1000" dirty="0"/>
              <a:t> Hi OE</a:t>
            </a:r>
          </a:p>
        </p:txBody>
      </p:sp>
      <p:sp>
        <p:nvSpPr>
          <p:cNvPr id="1051" name="TextBox 1050">
            <a:hlinkClick r:id="rId11" action="ppaction://hlinksldjump"/>
            <a:extLst>
              <a:ext uri="{FF2B5EF4-FFF2-40B4-BE49-F238E27FC236}">
                <a16:creationId xmlns:a16="http://schemas.microsoft.com/office/drawing/2014/main" id="{496E20D0-7F0C-74D8-0D39-5F6DD827DAE8}"/>
              </a:ext>
            </a:extLst>
          </p:cNvPr>
          <p:cNvSpPr txBox="1"/>
          <p:nvPr/>
        </p:nvSpPr>
        <p:spPr>
          <a:xfrm>
            <a:off x="11075926" y="3389828"/>
            <a:ext cx="580287" cy="153888"/>
          </a:xfrm>
          <a:prstGeom prst="rect">
            <a:avLst/>
          </a:prstGeom>
          <a:solidFill>
            <a:schemeClr val="bg1"/>
          </a:solidFill>
          <a:ln>
            <a:solidFill>
              <a:schemeClr val="accent1"/>
            </a:solidFill>
          </a:ln>
        </p:spPr>
        <p:txBody>
          <a:bodyPr wrap="none" lIns="0" tIns="0" rIns="0" bIns="0" rtlCol="0">
            <a:spAutoFit/>
          </a:bodyPr>
          <a:lstStyle/>
          <a:p>
            <a:pPr algn="r"/>
            <a:r>
              <a:rPr lang="en-US" sz="1000" dirty="0" err="1"/>
              <a:t>Addr</a:t>
            </a:r>
            <a:r>
              <a:rPr lang="en-US" sz="1000" dirty="0"/>
              <a:t> Lo OE</a:t>
            </a:r>
          </a:p>
        </p:txBody>
      </p:sp>
      <p:sp>
        <p:nvSpPr>
          <p:cNvPr id="1052" name="Rectangle 1051">
            <a:hlinkClick r:id="rId5" action="ppaction://hlinksldjump"/>
            <a:extLst>
              <a:ext uri="{FF2B5EF4-FFF2-40B4-BE49-F238E27FC236}">
                <a16:creationId xmlns:a16="http://schemas.microsoft.com/office/drawing/2014/main" id="{3B500137-1A0A-FE98-8941-F4072094815E}"/>
              </a:ext>
            </a:extLst>
          </p:cNvPr>
          <p:cNvSpPr/>
          <p:nvPr/>
        </p:nvSpPr>
        <p:spPr>
          <a:xfrm>
            <a:off x="7747846" y="4232821"/>
            <a:ext cx="798543" cy="182880"/>
          </a:xfrm>
          <a:prstGeom prst="rect">
            <a:avLst/>
          </a:prstGeom>
        </p:spPr>
        <p:style>
          <a:lnRef idx="2">
            <a:schemeClr val="accent5"/>
          </a:lnRef>
          <a:fillRef idx="1">
            <a:schemeClr val="lt1"/>
          </a:fillRef>
          <a:effectRef idx="0">
            <a:schemeClr val="accent5"/>
          </a:effectRef>
          <a:fontRef idx="minor">
            <a:schemeClr val="dk1"/>
          </a:fontRef>
        </p:style>
        <p:txBody>
          <a:bodyPr lIns="0" rIns="0" rtlCol="0" anchor="ctr"/>
          <a:lstStyle/>
          <a:p>
            <a:pPr algn="ctr"/>
            <a:r>
              <a:rPr lang="en-US" sz="1000" dirty="0"/>
              <a:t>µC 21: AB2DB</a:t>
            </a:r>
          </a:p>
        </p:txBody>
      </p:sp>
      <p:sp>
        <p:nvSpPr>
          <p:cNvPr id="1053" name="Rectangle 1052">
            <a:hlinkClick r:id="rId5" action="ppaction://hlinksldjump"/>
            <a:extLst>
              <a:ext uri="{FF2B5EF4-FFF2-40B4-BE49-F238E27FC236}">
                <a16:creationId xmlns:a16="http://schemas.microsoft.com/office/drawing/2014/main" id="{F7176BAC-6098-8B92-3F6D-58D44BF70B50}"/>
              </a:ext>
            </a:extLst>
          </p:cNvPr>
          <p:cNvSpPr/>
          <p:nvPr/>
        </p:nvSpPr>
        <p:spPr>
          <a:xfrm>
            <a:off x="7792116" y="3092586"/>
            <a:ext cx="798543" cy="182880"/>
          </a:xfrm>
          <a:prstGeom prst="rect">
            <a:avLst/>
          </a:prstGeom>
        </p:spPr>
        <p:style>
          <a:lnRef idx="2">
            <a:schemeClr val="accent5"/>
          </a:lnRef>
          <a:fillRef idx="1">
            <a:schemeClr val="lt1"/>
          </a:fillRef>
          <a:effectRef idx="0">
            <a:schemeClr val="accent5"/>
          </a:effectRef>
          <a:fontRef idx="minor">
            <a:schemeClr val="dk1"/>
          </a:fontRef>
        </p:style>
        <p:txBody>
          <a:bodyPr lIns="0" rIns="0" rtlCol="0" anchor="ctr"/>
          <a:lstStyle/>
          <a:p>
            <a:pPr algn="ctr"/>
            <a:r>
              <a:rPr lang="en-US" sz="1000" dirty="0"/>
              <a:t>µC 21: AB2DB</a:t>
            </a:r>
          </a:p>
        </p:txBody>
      </p:sp>
      <p:grpSp>
        <p:nvGrpSpPr>
          <p:cNvPr id="33" name="Group 32">
            <a:extLst>
              <a:ext uri="{FF2B5EF4-FFF2-40B4-BE49-F238E27FC236}">
                <a16:creationId xmlns:a16="http://schemas.microsoft.com/office/drawing/2014/main" id="{89F881CA-1BC0-26EC-A9B8-68776904CE03}"/>
              </a:ext>
            </a:extLst>
          </p:cNvPr>
          <p:cNvGrpSpPr/>
          <p:nvPr/>
        </p:nvGrpSpPr>
        <p:grpSpPr>
          <a:xfrm>
            <a:off x="4658920" y="4685021"/>
            <a:ext cx="780983" cy="161583"/>
            <a:chOff x="4658920" y="4685021"/>
            <a:chExt cx="780983" cy="161583"/>
          </a:xfrm>
        </p:grpSpPr>
        <p:sp>
          <p:nvSpPr>
            <p:cNvPr id="25" name="TextBox 24">
              <a:hlinkClick r:id="rId11" action="ppaction://hlinksldjump"/>
              <a:extLst>
                <a:ext uri="{FF2B5EF4-FFF2-40B4-BE49-F238E27FC236}">
                  <a16:creationId xmlns:a16="http://schemas.microsoft.com/office/drawing/2014/main" id="{E1E7213D-698D-ED24-5668-6634E5B4B141}"/>
                </a:ext>
              </a:extLst>
            </p:cNvPr>
            <p:cNvSpPr txBox="1"/>
            <p:nvPr/>
          </p:nvSpPr>
          <p:spPr>
            <a:xfrm>
              <a:off x="4658920" y="4685021"/>
              <a:ext cx="780983" cy="161583"/>
            </a:xfrm>
            <a:prstGeom prst="rect">
              <a:avLst/>
            </a:prstGeom>
            <a:solidFill>
              <a:schemeClr val="bg1"/>
            </a:solidFill>
            <a:ln>
              <a:solidFill>
                <a:schemeClr val="accent1"/>
              </a:solidFill>
            </a:ln>
          </p:spPr>
          <p:txBody>
            <a:bodyPr wrap="none" tIns="0" bIns="0" rtlCol="0">
              <a:spAutoFit/>
            </a:bodyPr>
            <a:lstStyle/>
            <a:p>
              <a:pPr algn="r"/>
              <a:r>
                <a:rPr lang="en-US" sz="1050" dirty="0" err="1"/>
                <a:t>Addr</a:t>
              </a:r>
              <a:r>
                <a:rPr lang="en-US" sz="1050" dirty="0"/>
                <a:t> Hi OE</a:t>
              </a:r>
            </a:p>
          </p:txBody>
        </p:sp>
        <p:cxnSp>
          <p:nvCxnSpPr>
            <p:cNvPr id="3" name="Straight Connector 2">
              <a:extLst>
                <a:ext uri="{FF2B5EF4-FFF2-40B4-BE49-F238E27FC236}">
                  <a16:creationId xmlns:a16="http://schemas.microsoft.com/office/drawing/2014/main" id="{3D41386E-AEF6-FA90-50D7-317C538880B8}"/>
                </a:ext>
              </a:extLst>
            </p:cNvPr>
            <p:cNvCxnSpPr>
              <a:cxnSpLocks/>
            </p:cNvCxnSpPr>
            <p:nvPr/>
          </p:nvCxnSpPr>
          <p:spPr>
            <a:xfrm>
              <a:off x="4676500" y="4706494"/>
              <a:ext cx="546457"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972A9308-8A6B-6F65-997B-7CEC0D544A80}"/>
              </a:ext>
            </a:extLst>
          </p:cNvPr>
          <p:cNvGrpSpPr/>
          <p:nvPr/>
        </p:nvGrpSpPr>
        <p:grpSpPr>
          <a:xfrm>
            <a:off x="4646096" y="5782328"/>
            <a:ext cx="793807" cy="161583"/>
            <a:chOff x="4646096" y="5782328"/>
            <a:chExt cx="793807" cy="161583"/>
          </a:xfrm>
        </p:grpSpPr>
        <p:sp>
          <p:nvSpPr>
            <p:cNvPr id="32" name="TextBox 31">
              <a:hlinkClick r:id="rId11" action="ppaction://hlinksldjump"/>
              <a:extLst>
                <a:ext uri="{FF2B5EF4-FFF2-40B4-BE49-F238E27FC236}">
                  <a16:creationId xmlns:a16="http://schemas.microsoft.com/office/drawing/2014/main" id="{C3373A84-721D-F1A4-049E-AEE3C0C6087A}"/>
                </a:ext>
              </a:extLst>
            </p:cNvPr>
            <p:cNvSpPr txBox="1"/>
            <p:nvPr/>
          </p:nvSpPr>
          <p:spPr>
            <a:xfrm>
              <a:off x="4646096" y="5782328"/>
              <a:ext cx="793807" cy="161583"/>
            </a:xfrm>
            <a:prstGeom prst="rect">
              <a:avLst/>
            </a:prstGeom>
            <a:solidFill>
              <a:schemeClr val="bg1"/>
            </a:solidFill>
            <a:ln>
              <a:solidFill>
                <a:schemeClr val="accent1"/>
              </a:solidFill>
            </a:ln>
          </p:spPr>
          <p:txBody>
            <a:bodyPr wrap="none" tIns="0" bIns="0" rtlCol="0">
              <a:spAutoFit/>
            </a:bodyPr>
            <a:lstStyle/>
            <a:p>
              <a:pPr algn="r"/>
              <a:r>
                <a:rPr lang="en-US" sz="1050" dirty="0" err="1"/>
                <a:t>Addr</a:t>
              </a:r>
              <a:r>
                <a:rPr lang="en-US" sz="1050" dirty="0"/>
                <a:t> Lo OE</a:t>
              </a:r>
            </a:p>
          </p:txBody>
        </p:sp>
        <p:cxnSp>
          <p:nvCxnSpPr>
            <p:cNvPr id="21" name="Straight Connector 20">
              <a:extLst>
                <a:ext uri="{FF2B5EF4-FFF2-40B4-BE49-F238E27FC236}">
                  <a16:creationId xmlns:a16="http://schemas.microsoft.com/office/drawing/2014/main" id="{B1BED341-89DE-CA32-4F0C-1AF0CA6D5BBE}"/>
                </a:ext>
              </a:extLst>
            </p:cNvPr>
            <p:cNvCxnSpPr>
              <a:cxnSpLocks/>
            </p:cNvCxnSpPr>
            <p:nvPr/>
          </p:nvCxnSpPr>
          <p:spPr>
            <a:xfrm>
              <a:off x="4697604" y="5806112"/>
              <a:ext cx="546457"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37" name="Oval 36">
            <a:extLst>
              <a:ext uri="{FF2B5EF4-FFF2-40B4-BE49-F238E27FC236}">
                <a16:creationId xmlns:a16="http://schemas.microsoft.com/office/drawing/2014/main" id="{8D6E506F-8DFB-6982-109F-19B2BB1E615B}"/>
              </a:ext>
            </a:extLst>
          </p:cNvPr>
          <p:cNvSpPr/>
          <p:nvPr/>
        </p:nvSpPr>
        <p:spPr>
          <a:xfrm>
            <a:off x="3286496" y="5627823"/>
            <a:ext cx="27432" cy="274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Connector: Elbow 49">
            <a:extLst>
              <a:ext uri="{FF2B5EF4-FFF2-40B4-BE49-F238E27FC236}">
                <a16:creationId xmlns:a16="http://schemas.microsoft.com/office/drawing/2014/main" id="{FC02FE57-F926-1D91-5862-4AC18509E58F}"/>
              </a:ext>
            </a:extLst>
          </p:cNvPr>
          <p:cNvCxnSpPr>
            <a:cxnSpLocks/>
            <a:stCxn id="45" idx="3"/>
            <a:endCxn id="52" idx="2"/>
          </p:cNvCxnSpPr>
          <p:nvPr/>
        </p:nvCxnSpPr>
        <p:spPr>
          <a:xfrm>
            <a:off x="1378496" y="2756698"/>
            <a:ext cx="557043" cy="1433904"/>
          </a:xfrm>
          <a:prstGeom prst="bentConnector3">
            <a:avLst/>
          </a:prstGeom>
        </p:spPr>
        <p:style>
          <a:lnRef idx="1">
            <a:schemeClr val="accent1"/>
          </a:lnRef>
          <a:fillRef idx="0">
            <a:schemeClr val="accent1"/>
          </a:fillRef>
          <a:effectRef idx="0">
            <a:schemeClr val="accent1"/>
          </a:effectRef>
          <a:fontRef idx="minor">
            <a:schemeClr val="tx1"/>
          </a:fontRef>
        </p:style>
      </p:cxnSp>
      <p:pic>
        <p:nvPicPr>
          <p:cNvPr id="51" name="Picture 50" descr="A picture containing silhouette, clipart&#10;&#10;Description automatically generated">
            <a:extLst>
              <a:ext uri="{FF2B5EF4-FFF2-40B4-BE49-F238E27FC236}">
                <a16:creationId xmlns:a16="http://schemas.microsoft.com/office/drawing/2014/main" id="{FE491B58-DA0E-8561-A03D-34B6A6D03B1B}"/>
              </a:ext>
            </a:extLst>
          </p:cNvPr>
          <p:cNvPicPr>
            <a:picLocks noChangeAspect="1"/>
          </p:cNvPicPr>
          <p:nvPr/>
        </p:nvPicPr>
        <p:blipFill>
          <a:blip r:embed="rId12">
            <a:extLst>
              <a:ext uri="{28A0092B-C50C-407E-A947-70E740481C1C}">
                <a14:useLocalDpi xmlns:a14="http://schemas.microsoft.com/office/drawing/2010/main" val="0"/>
              </a:ext>
              <a:ext uri="{837473B0-CC2E-450A-ABE3-18F120FF3D39}">
                <a1611:picAttrSrcUrl xmlns:a1611="http://schemas.microsoft.com/office/drawing/2016/11/main" r:id="rId13"/>
              </a:ext>
            </a:extLst>
          </a:blip>
          <a:srcRect t="12746"/>
          <a:stretch>
            <a:fillRect/>
          </a:stretch>
        </p:blipFill>
        <p:spPr>
          <a:xfrm rot="5400000">
            <a:off x="2012500" y="1826086"/>
            <a:ext cx="321386" cy="431421"/>
          </a:xfrm>
          <a:prstGeom prst="rect">
            <a:avLst/>
          </a:prstGeom>
        </p:spPr>
      </p:pic>
      <p:pic>
        <p:nvPicPr>
          <p:cNvPr id="52" name="Picture 51" descr="A picture containing silhouette, clipart&#10;&#10;Description automatically generated">
            <a:extLst>
              <a:ext uri="{FF2B5EF4-FFF2-40B4-BE49-F238E27FC236}">
                <a16:creationId xmlns:a16="http://schemas.microsoft.com/office/drawing/2014/main" id="{43A03F21-1966-F4BE-28F0-857456AB121F}"/>
              </a:ext>
            </a:extLst>
          </p:cNvPr>
          <p:cNvPicPr>
            <a:picLocks noChangeAspect="1"/>
          </p:cNvPicPr>
          <p:nvPr/>
        </p:nvPicPr>
        <p:blipFill>
          <a:blip r:embed="rId12">
            <a:extLst>
              <a:ext uri="{28A0092B-C50C-407E-A947-70E740481C1C}">
                <a14:useLocalDpi xmlns:a14="http://schemas.microsoft.com/office/drawing/2010/main" val="0"/>
              </a:ext>
              <a:ext uri="{837473B0-CC2E-450A-ABE3-18F120FF3D39}">
                <a1611:picAttrSrcUrl xmlns:a1611="http://schemas.microsoft.com/office/drawing/2016/11/main" r:id="rId13"/>
              </a:ext>
            </a:extLst>
          </a:blip>
          <a:srcRect t="12746" b="8307"/>
          <a:stretch>
            <a:fillRect/>
          </a:stretch>
        </p:blipFill>
        <p:spPr>
          <a:xfrm rot="5400000">
            <a:off x="1970019" y="3995428"/>
            <a:ext cx="321386" cy="390347"/>
          </a:xfrm>
          <a:prstGeom prst="rect">
            <a:avLst/>
          </a:prstGeom>
        </p:spPr>
      </p:pic>
      <p:cxnSp>
        <p:nvCxnSpPr>
          <p:cNvPr id="65" name="Connector: Elbow 64">
            <a:extLst>
              <a:ext uri="{FF2B5EF4-FFF2-40B4-BE49-F238E27FC236}">
                <a16:creationId xmlns:a16="http://schemas.microsoft.com/office/drawing/2014/main" id="{AAD0A24E-AEF7-C6E8-CD2F-C08C9FB2FC4A}"/>
              </a:ext>
            </a:extLst>
          </p:cNvPr>
          <p:cNvCxnSpPr>
            <a:cxnSpLocks/>
            <a:stCxn id="15" idx="3"/>
          </p:cNvCxnSpPr>
          <p:nvPr/>
        </p:nvCxnSpPr>
        <p:spPr>
          <a:xfrm>
            <a:off x="1387690" y="1707723"/>
            <a:ext cx="734469" cy="27038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71" name="Connector: Elbow 70">
            <a:extLst>
              <a:ext uri="{FF2B5EF4-FFF2-40B4-BE49-F238E27FC236}">
                <a16:creationId xmlns:a16="http://schemas.microsoft.com/office/drawing/2014/main" id="{A5590E9F-7A28-C853-3ECB-ABEE2EA6EAE5}"/>
              </a:ext>
            </a:extLst>
          </p:cNvPr>
          <p:cNvCxnSpPr>
            <a:cxnSpLocks/>
            <a:stCxn id="45" idx="3"/>
          </p:cNvCxnSpPr>
          <p:nvPr/>
        </p:nvCxnSpPr>
        <p:spPr>
          <a:xfrm flipV="1">
            <a:off x="1378496" y="2097661"/>
            <a:ext cx="743663" cy="65903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0E6995AC-9D7B-99F9-8614-03FD4C48954B}"/>
              </a:ext>
            </a:extLst>
          </p:cNvPr>
          <p:cNvCxnSpPr>
            <a:stCxn id="52" idx="2"/>
            <a:endCxn id="52" idx="2"/>
          </p:cNvCxnSpPr>
          <p:nvPr/>
        </p:nvCxnSpPr>
        <p:spPr>
          <a:xfrm>
            <a:off x="1935539" y="4190602"/>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585CAAA0-5AA8-5CAA-DE12-DBC71CD3AB07}"/>
              </a:ext>
            </a:extLst>
          </p:cNvPr>
          <p:cNvCxnSpPr>
            <a:stCxn id="52" idx="2"/>
            <a:endCxn id="52" idx="2"/>
          </p:cNvCxnSpPr>
          <p:nvPr/>
        </p:nvCxnSpPr>
        <p:spPr>
          <a:xfrm>
            <a:off x="1935539" y="4190602"/>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D93C1814-4B39-23D2-E45E-52A757625996}"/>
              </a:ext>
            </a:extLst>
          </p:cNvPr>
          <p:cNvCxnSpPr>
            <a:cxnSpLocks/>
          </p:cNvCxnSpPr>
          <p:nvPr/>
        </p:nvCxnSpPr>
        <p:spPr>
          <a:xfrm>
            <a:off x="1935539" y="4125769"/>
            <a:ext cx="0" cy="107052"/>
          </a:xfrm>
          <a:prstGeom prst="line">
            <a:avLst/>
          </a:prstGeom>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CA87F2B4-12BF-BE02-E06E-3893764F0CAD}"/>
              </a:ext>
            </a:extLst>
          </p:cNvPr>
          <p:cNvSpPr txBox="1"/>
          <p:nvPr/>
        </p:nvSpPr>
        <p:spPr>
          <a:xfrm>
            <a:off x="1801093" y="3984807"/>
            <a:ext cx="261610" cy="184666"/>
          </a:xfrm>
          <a:prstGeom prst="rect">
            <a:avLst/>
          </a:prstGeom>
          <a:noFill/>
        </p:spPr>
        <p:txBody>
          <a:bodyPr wrap="none" rtlCol="0">
            <a:spAutoFit/>
          </a:bodyPr>
          <a:lstStyle/>
          <a:p>
            <a:r>
              <a:rPr lang="en-US" sz="600" dirty="0"/>
              <a:t>11</a:t>
            </a:r>
          </a:p>
        </p:txBody>
      </p:sp>
      <p:sp>
        <p:nvSpPr>
          <p:cNvPr id="95" name="TextBox 94">
            <a:extLst>
              <a:ext uri="{FF2B5EF4-FFF2-40B4-BE49-F238E27FC236}">
                <a16:creationId xmlns:a16="http://schemas.microsoft.com/office/drawing/2014/main" id="{31F143F9-6555-1AC4-BEC0-4E1F0B7F1B8C}"/>
              </a:ext>
            </a:extLst>
          </p:cNvPr>
          <p:cNvSpPr txBox="1"/>
          <p:nvPr/>
        </p:nvSpPr>
        <p:spPr>
          <a:xfrm>
            <a:off x="2254266" y="4047971"/>
            <a:ext cx="261610" cy="184666"/>
          </a:xfrm>
          <a:prstGeom prst="rect">
            <a:avLst/>
          </a:prstGeom>
          <a:noFill/>
        </p:spPr>
        <p:txBody>
          <a:bodyPr wrap="none" rtlCol="0">
            <a:spAutoFit/>
          </a:bodyPr>
          <a:lstStyle/>
          <a:p>
            <a:r>
              <a:rPr lang="en-US" sz="600" dirty="0"/>
              <a:t>13</a:t>
            </a:r>
          </a:p>
        </p:txBody>
      </p:sp>
      <p:sp>
        <p:nvSpPr>
          <p:cNvPr id="96" name="TextBox 95">
            <a:extLst>
              <a:ext uri="{FF2B5EF4-FFF2-40B4-BE49-F238E27FC236}">
                <a16:creationId xmlns:a16="http://schemas.microsoft.com/office/drawing/2014/main" id="{1A0EF08C-C405-02BC-776E-3BA01CE90FE1}"/>
              </a:ext>
            </a:extLst>
          </p:cNvPr>
          <p:cNvSpPr txBox="1"/>
          <p:nvPr/>
        </p:nvSpPr>
        <p:spPr>
          <a:xfrm>
            <a:off x="1801093" y="4196866"/>
            <a:ext cx="261610" cy="184666"/>
          </a:xfrm>
          <a:prstGeom prst="rect">
            <a:avLst/>
          </a:prstGeom>
          <a:noFill/>
        </p:spPr>
        <p:txBody>
          <a:bodyPr wrap="none" rtlCol="0">
            <a:spAutoFit/>
          </a:bodyPr>
          <a:lstStyle/>
          <a:p>
            <a:r>
              <a:rPr lang="en-US" sz="600" dirty="0"/>
              <a:t>12</a:t>
            </a:r>
          </a:p>
        </p:txBody>
      </p:sp>
      <p:sp>
        <p:nvSpPr>
          <p:cNvPr id="106" name="TextBox 105">
            <a:extLst>
              <a:ext uri="{FF2B5EF4-FFF2-40B4-BE49-F238E27FC236}">
                <a16:creationId xmlns:a16="http://schemas.microsoft.com/office/drawing/2014/main" id="{FFDD2DFE-1DD7-1B6A-3825-EF63066F5074}"/>
              </a:ext>
            </a:extLst>
          </p:cNvPr>
          <p:cNvSpPr txBox="1"/>
          <p:nvPr/>
        </p:nvSpPr>
        <p:spPr>
          <a:xfrm>
            <a:off x="1925738" y="2073971"/>
            <a:ext cx="223138" cy="184666"/>
          </a:xfrm>
          <a:prstGeom prst="rect">
            <a:avLst/>
          </a:prstGeom>
          <a:noFill/>
        </p:spPr>
        <p:txBody>
          <a:bodyPr wrap="none" rtlCol="0">
            <a:spAutoFit/>
          </a:bodyPr>
          <a:lstStyle/>
          <a:p>
            <a:r>
              <a:rPr lang="en-US" sz="600" dirty="0"/>
              <a:t>8</a:t>
            </a:r>
          </a:p>
        </p:txBody>
      </p:sp>
      <p:sp>
        <p:nvSpPr>
          <p:cNvPr id="107" name="TextBox 106">
            <a:extLst>
              <a:ext uri="{FF2B5EF4-FFF2-40B4-BE49-F238E27FC236}">
                <a16:creationId xmlns:a16="http://schemas.microsoft.com/office/drawing/2014/main" id="{323A36EA-5C4D-AAF0-4C55-E8211649C588}"/>
              </a:ext>
            </a:extLst>
          </p:cNvPr>
          <p:cNvSpPr txBox="1"/>
          <p:nvPr/>
        </p:nvSpPr>
        <p:spPr>
          <a:xfrm>
            <a:off x="2281818" y="1894056"/>
            <a:ext cx="261610" cy="184666"/>
          </a:xfrm>
          <a:prstGeom prst="rect">
            <a:avLst/>
          </a:prstGeom>
          <a:noFill/>
        </p:spPr>
        <p:txBody>
          <a:bodyPr wrap="none" rtlCol="0">
            <a:spAutoFit/>
          </a:bodyPr>
          <a:lstStyle/>
          <a:p>
            <a:r>
              <a:rPr lang="en-US" sz="600" dirty="0"/>
              <a:t>10</a:t>
            </a:r>
          </a:p>
        </p:txBody>
      </p:sp>
      <p:sp>
        <p:nvSpPr>
          <p:cNvPr id="110" name="TextBox 109">
            <a:extLst>
              <a:ext uri="{FF2B5EF4-FFF2-40B4-BE49-F238E27FC236}">
                <a16:creationId xmlns:a16="http://schemas.microsoft.com/office/drawing/2014/main" id="{71ADDA60-CC52-0344-ABCF-FCD526570D98}"/>
              </a:ext>
            </a:extLst>
          </p:cNvPr>
          <p:cNvSpPr txBox="1"/>
          <p:nvPr/>
        </p:nvSpPr>
        <p:spPr>
          <a:xfrm>
            <a:off x="1931898" y="1822273"/>
            <a:ext cx="223138" cy="184666"/>
          </a:xfrm>
          <a:prstGeom prst="rect">
            <a:avLst/>
          </a:prstGeom>
          <a:noFill/>
        </p:spPr>
        <p:txBody>
          <a:bodyPr wrap="none" rtlCol="0">
            <a:spAutoFit/>
          </a:bodyPr>
          <a:lstStyle/>
          <a:p>
            <a:r>
              <a:rPr lang="en-US" sz="600" dirty="0"/>
              <a:t>9</a:t>
            </a:r>
          </a:p>
        </p:txBody>
      </p:sp>
      <p:sp>
        <p:nvSpPr>
          <p:cNvPr id="111" name="TextBox 110">
            <a:extLst>
              <a:ext uri="{FF2B5EF4-FFF2-40B4-BE49-F238E27FC236}">
                <a16:creationId xmlns:a16="http://schemas.microsoft.com/office/drawing/2014/main" id="{6C2BE8DB-5FFA-314A-2774-86BB9232532C}"/>
              </a:ext>
            </a:extLst>
          </p:cNvPr>
          <p:cNvSpPr txBox="1"/>
          <p:nvPr/>
        </p:nvSpPr>
        <p:spPr>
          <a:xfrm>
            <a:off x="2715300" y="4745520"/>
            <a:ext cx="261610" cy="184666"/>
          </a:xfrm>
          <a:prstGeom prst="rect">
            <a:avLst/>
          </a:prstGeom>
          <a:noFill/>
        </p:spPr>
        <p:txBody>
          <a:bodyPr wrap="none" rtlCol="0">
            <a:spAutoFit/>
          </a:bodyPr>
          <a:lstStyle/>
          <a:p>
            <a:r>
              <a:rPr lang="en-US" sz="600" dirty="0"/>
              <a:t>11</a:t>
            </a:r>
          </a:p>
        </p:txBody>
      </p:sp>
      <p:sp>
        <p:nvSpPr>
          <p:cNvPr id="112" name="TextBox 111">
            <a:extLst>
              <a:ext uri="{FF2B5EF4-FFF2-40B4-BE49-F238E27FC236}">
                <a16:creationId xmlns:a16="http://schemas.microsoft.com/office/drawing/2014/main" id="{8D171E3C-8F48-446E-2598-1C94C41CA6E3}"/>
              </a:ext>
            </a:extLst>
          </p:cNvPr>
          <p:cNvSpPr txBox="1"/>
          <p:nvPr/>
        </p:nvSpPr>
        <p:spPr>
          <a:xfrm>
            <a:off x="4105708" y="5100050"/>
            <a:ext cx="223138" cy="184666"/>
          </a:xfrm>
          <a:prstGeom prst="rect">
            <a:avLst/>
          </a:prstGeom>
          <a:noFill/>
        </p:spPr>
        <p:txBody>
          <a:bodyPr wrap="none" rtlCol="0">
            <a:spAutoFit/>
          </a:bodyPr>
          <a:lstStyle/>
          <a:p>
            <a:r>
              <a:rPr lang="en-US" sz="600" dirty="0"/>
              <a:t>9</a:t>
            </a:r>
          </a:p>
        </p:txBody>
      </p:sp>
      <p:sp>
        <p:nvSpPr>
          <p:cNvPr id="113" name="TextBox 112">
            <a:extLst>
              <a:ext uri="{FF2B5EF4-FFF2-40B4-BE49-F238E27FC236}">
                <a16:creationId xmlns:a16="http://schemas.microsoft.com/office/drawing/2014/main" id="{515CE57F-96D5-ED1D-C238-9BDD703AD40D}"/>
              </a:ext>
            </a:extLst>
          </p:cNvPr>
          <p:cNvSpPr txBox="1"/>
          <p:nvPr/>
        </p:nvSpPr>
        <p:spPr>
          <a:xfrm>
            <a:off x="4077785" y="5338257"/>
            <a:ext cx="261610" cy="184666"/>
          </a:xfrm>
          <a:prstGeom prst="rect">
            <a:avLst/>
          </a:prstGeom>
          <a:noFill/>
        </p:spPr>
        <p:txBody>
          <a:bodyPr wrap="none" rtlCol="0">
            <a:spAutoFit/>
          </a:bodyPr>
          <a:lstStyle/>
          <a:p>
            <a:r>
              <a:rPr lang="en-US" sz="600" dirty="0"/>
              <a:t>10</a:t>
            </a:r>
          </a:p>
        </p:txBody>
      </p:sp>
      <p:sp>
        <p:nvSpPr>
          <p:cNvPr id="114" name="TextBox 113">
            <a:extLst>
              <a:ext uri="{FF2B5EF4-FFF2-40B4-BE49-F238E27FC236}">
                <a16:creationId xmlns:a16="http://schemas.microsoft.com/office/drawing/2014/main" id="{0D062CD6-48CF-C98F-07D1-3FE4535E412E}"/>
              </a:ext>
            </a:extLst>
          </p:cNvPr>
          <p:cNvSpPr txBox="1"/>
          <p:nvPr/>
        </p:nvSpPr>
        <p:spPr>
          <a:xfrm>
            <a:off x="2272511" y="4904026"/>
            <a:ext cx="261610" cy="184666"/>
          </a:xfrm>
          <a:prstGeom prst="rect">
            <a:avLst/>
          </a:prstGeom>
          <a:noFill/>
        </p:spPr>
        <p:txBody>
          <a:bodyPr wrap="none" rtlCol="0">
            <a:spAutoFit/>
          </a:bodyPr>
          <a:lstStyle/>
          <a:p>
            <a:r>
              <a:rPr lang="en-US" sz="600" dirty="0"/>
              <a:t>12</a:t>
            </a:r>
          </a:p>
        </p:txBody>
      </p:sp>
      <p:sp>
        <p:nvSpPr>
          <p:cNvPr id="115" name="TextBox 114">
            <a:extLst>
              <a:ext uri="{FF2B5EF4-FFF2-40B4-BE49-F238E27FC236}">
                <a16:creationId xmlns:a16="http://schemas.microsoft.com/office/drawing/2014/main" id="{6172E257-520A-1CC9-DB12-49BFEC5535BD}"/>
              </a:ext>
            </a:extLst>
          </p:cNvPr>
          <p:cNvSpPr txBox="1"/>
          <p:nvPr/>
        </p:nvSpPr>
        <p:spPr>
          <a:xfrm>
            <a:off x="2266146" y="5326332"/>
            <a:ext cx="261610" cy="184666"/>
          </a:xfrm>
          <a:prstGeom prst="rect">
            <a:avLst/>
          </a:prstGeom>
          <a:noFill/>
        </p:spPr>
        <p:txBody>
          <a:bodyPr wrap="none" rtlCol="0">
            <a:spAutoFit/>
          </a:bodyPr>
          <a:lstStyle/>
          <a:p>
            <a:r>
              <a:rPr lang="en-US" sz="600" dirty="0"/>
              <a:t>13</a:t>
            </a:r>
          </a:p>
        </p:txBody>
      </p:sp>
      <p:sp>
        <p:nvSpPr>
          <p:cNvPr id="116" name="TextBox 115">
            <a:extLst>
              <a:ext uri="{FF2B5EF4-FFF2-40B4-BE49-F238E27FC236}">
                <a16:creationId xmlns:a16="http://schemas.microsoft.com/office/drawing/2014/main" id="{93E784E8-5094-6159-B1E2-5AC2F273C95D}"/>
              </a:ext>
            </a:extLst>
          </p:cNvPr>
          <p:cNvSpPr txBox="1"/>
          <p:nvPr/>
        </p:nvSpPr>
        <p:spPr>
          <a:xfrm>
            <a:off x="2849285" y="5162699"/>
            <a:ext cx="261610" cy="184666"/>
          </a:xfrm>
          <a:prstGeom prst="rect">
            <a:avLst/>
          </a:prstGeom>
          <a:noFill/>
        </p:spPr>
        <p:txBody>
          <a:bodyPr wrap="none" rtlCol="0">
            <a:spAutoFit/>
          </a:bodyPr>
          <a:lstStyle/>
          <a:p>
            <a:r>
              <a:rPr lang="en-US" sz="600" dirty="0"/>
              <a:t>14</a:t>
            </a:r>
          </a:p>
        </p:txBody>
      </p:sp>
      <p:sp>
        <p:nvSpPr>
          <p:cNvPr id="117" name="TextBox 116">
            <a:extLst>
              <a:ext uri="{FF2B5EF4-FFF2-40B4-BE49-F238E27FC236}">
                <a16:creationId xmlns:a16="http://schemas.microsoft.com/office/drawing/2014/main" id="{9FEBF96D-1907-155B-72A9-CDBF97E4596E}"/>
              </a:ext>
            </a:extLst>
          </p:cNvPr>
          <p:cNvSpPr txBox="1"/>
          <p:nvPr/>
        </p:nvSpPr>
        <p:spPr>
          <a:xfrm>
            <a:off x="3699061" y="4400197"/>
            <a:ext cx="223138" cy="184666"/>
          </a:xfrm>
          <a:prstGeom prst="rect">
            <a:avLst/>
          </a:prstGeom>
          <a:noFill/>
        </p:spPr>
        <p:txBody>
          <a:bodyPr wrap="none" rtlCol="0">
            <a:spAutoFit/>
          </a:bodyPr>
          <a:lstStyle/>
          <a:p>
            <a:r>
              <a:rPr lang="en-US" sz="600" dirty="0"/>
              <a:t>3</a:t>
            </a:r>
          </a:p>
        </p:txBody>
      </p:sp>
      <p:sp>
        <p:nvSpPr>
          <p:cNvPr id="120" name="TextBox 119">
            <a:extLst>
              <a:ext uri="{FF2B5EF4-FFF2-40B4-BE49-F238E27FC236}">
                <a16:creationId xmlns:a16="http://schemas.microsoft.com/office/drawing/2014/main" id="{62D203AD-CA63-0068-07CA-1BA2C40056A9}"/>
              </a:ext>
            </a:extLst>
          </p:cNvPr>
          <p:cNvSpPr txBox="1"/>
          <p:nvPr/>
        </p:nvSpPr>
        <p:spPr>
          <a:xfrm>
            <a:off x="3679222" y="4799292"/>
            <a:ext cx="223138" cy="184666"/>
          </a:xfrm>
          <a:prstGeom prst="rect">
            <a:avLst/>
          </a:prstGeom>
          <a:noFill/>
        </p:spPr>
        <p:txBody>
          <a:bodyPr wrap="none" rtlCol="0">
            <a:spAutoFit/>
          </a:bodyPr>
          <a:lstStyle/>
          <a:p>
            <a:r>
              <a:rPr lang="en-US" sz="600" dirty="0"/>
              <a:t>5</a:t>
            </a:r>
          </a:p>
        </p:txBody>
      </p:sp>
      <p:sp>
        <p:nvSpPr>
          <p:cNvPr id="121" name="TextBox 120">
            <a:extLst>
              <a:ext uri="{FF2B5EF4-FFF2-40B4-BE49-F238E27FC236}">
                <a16:creationId xmlns:a16="http://schemas.microsoft.com/office/drawing/2014/main" id="{275004CA-34E9-0DA1-DB21-EFBD5275BF13}"/>
              </a:ext>
            </a:extLst>
          </p:cNvPr>
          <p:cNvSpPr txBox="1"/>
          <p:nvPr/>
        </p:nvSpPr>
        <p:spPr>
          <a:xfrm>
            <a:off x="4226639" y="4619220"/>
            <a:ext cx="223138" cy="184666"/>
          </a:xfrm>
          <a:prstGeom prst="rect">
            <a:avLst/>
          </a:prstGeom>
          <a:noFill/>
        </p:spPr>
        <p:txBody>
          <a:bodyPr wrap="none" rtlCol="0">
            <a:spAutoFit/>
          </a:bodyPr>
          <a:lstStyle/>
          <a:p>
            <a:r>
              <a:rPr lang="en-US" sz="600" dirty="0"/>
              <a:t>4</a:t>
            </a:r>
          </a:p>
        </p:txBody>
      </p:sp>
      <p:sp>
        <p:nvSpPr>
          <p:cNvPr id="122" name="TextBox 121">
            <a:extLst>
              <a:ext uri="{FF2B5EF4-FFF2-40B4-BE49-F238E27FC236}">
                <a16:creationId xmlns:a16="http://schemas.microsoft.com/office/drawing/2014/main" id="{6B487864-8AFD-42CC-1288-5D1E53E8E94B}"/>
              </a:ext>
            </a:extLst>
          </p:cNvPr>
          <p:cNvSpPr txBox="1"/>
          <p:nvPr/>
        </p:nvSpPr>
        <p:spPr>
          <a:xfrm>
            <a:off x="3672967" y="5480752"/>
            <a:ext cx="223138" cy="184666"/>
          </a:xfrm>
          <a:prstGeom prst="rect">
            <a:avLst/>
          </a:prstGeom>
          <a:noFill/>
        </p:spPr>
        <p:txBody>
          <a:bodyPr wrap="none" rtlCol="0">
            <a:spAutoFit/>
          </a:bodyPr>
          <a:lstStyle/>
          <a:p>
            <a:r>
              <a:rPr lang="en-US" sz="600" dirty="0"/>
              <a:t>1</a:t>
            </a:r>
          </a:p>
        </p:txBody>
      </p:sp>
      <p:sp>
        <p:nvSpPr>
          <p:cNvPr id="123" name="TextBox 122">
            <a:extLst>
              <a:ext uri="{FF2B5EF4-FFF2-40B4-BE49-F238E27FC236}">
                <a16:creationId xmlns:a16="http://schemas.microsoft.com/office/drawing/2014/main" id="{21711B64-B2E8-7B6E-F120-FA5E45A5A2BC}"/>
              </a:ext>
            </a:extLst>
          </p:cNvPr>
          <p:cNvSpPr txBox="1"/>
          <p:nvPr/>
        </p:nvSpPr>
        <p:spPr>
          <a:xfrm>
            <a:off x="3672389" y="5910401"/>
            <a:ext cx="223138" cy="184666"/>
          </a:xfrm>
          <a:prstGeom prst="rect">
            <a:avLst/>
          </a:prstGeom>
          <a:noFill/>
        </p:spPr>
        <p:txBody>
          <a:bodyPr wrap="none" rtlCol="0">
            <a:spAutoFit/>
          </a:bodyPr>
          <a:lstStyle/>
          <a:p>
            <a:r>
              <a:rPr lang="en-US" sz="600" dirty="0"/>
              <a:t>2</a:t>
            </a:r>
          </a:p>
        </p:txBody>
      </p:sp>
      <p:sp>
        <p:nvSpPr>
          <p:cNvPr id="124" name="TextBox 123">
            <a:extLst>
              <a:ext uri="{FF2B5EF4-FFF2-40B4-BE49-F238E27FC236}">
                <a16:creationId xmlns:a16="http://schemas.microsoft.com/office/drawing/2014/main" id="{85E1C3E7-44F1-DB9E-4DDC-F43FBB5802E5}"/>
              </a:ext>
            </a:extLst>
          </p:cNvPr>
          <p:cNvSpPr txBox="1"/>
          <p:nvPr/>
        </p:nvSpPr>
        <p:spPr>
          <a:xfrm>
            <a:off x="4238692" y="5719461"/>
            <a:ext cx="261610" cy="184666"/>
          </a:xfrm>
          <a:prstGeom prst="rect">
            <a:avLst/>
          </a:prstGeom>
          <a:noFill/>
        </p:spPr>
        <p:txBody>
          <a:bodyPr wrap="none" rtlCol="0">
            <a:spAutoFit/>
          </a:bodyPr>
          <a:lstStyle/>
          <a:p>
            <a:r>
              <a:rPr lang="en-US" sz="600" dirty="0"/>
              <a:t>15</a:t>
            </a:r>
          </a:p>
        </p:txBody>
      </p:sp>
      <p:sp>
        <p:nvSpPr>
          <p:cNvPr id="125" name="TextBox 124">
            <a:extLst>
              <a:ext uri="{FF2B5EF4-FFF2-40B4-BE49-F238E27FC236}">
                <a16:creationId xmlns:a16="http://schemas.microsoft.com/office/drawing/2014/main" id="{C961BF5C-0AA3-4DEB-BA9A-D9CD80E9E0C9}"/>
              </a:ext>
            </a:extLst>
          </p:cNvPr>
          <p:cNvSpPr txBox="1"/>
          <p:nvPr/>
        </p:nvSpPr>
        <p:spPr>
          <a:xfrm>
            <a:off x="726029" y="2233428"/>
            <a:ext cx="1064907" cy="369332"/>
          </a:xfrm>
          <a:prstGeom prst="rect">
            <a:avLst/>
          </a:prstGeom>
          <a:noFill/>
        </p:spPr>
        <p:txBody>
          <a:bodyPr wrap="square" rtlCol="0">
            <a:spAutoFit/>
          </a:bodyPr>
          <a:lstStyle/>
          <a:p>
            <a:pPr algn="r"/>
            <a:r>
              <a:rPr lang="en-US" sz="900" dirty="0"/>
              <a:t>Bock clock during Output Enable</a:t>
            </a:r>
          </a:p>
        </p:txBody>
      </p:sp>
    </p:spTree>
    <p:extLst>
      <p:ext uri="{BB962C8B-B14F-4D97-AF65-F5344CB8AC3E}">
        <p14:creationId xmlns:p14="http://schemas.microsoft.com/office/powerpoint/2010/main" val="24156542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Arrow: Right 58">
            <a:extLst>
              <a:ext uri="{FF2B5EF4-FFF2-40B4-BE49-F238E27FC236}">
                <a16:creationId xmlns:a16="http://schemas.microsoft.com/office/drawing/2014/main" id="{A766586E-3B59-4F92-AF47-77C3C18C73DF}"/>
              </a:ext>
            </a:extLst>
          </p:cNvPr>
          <p:cNvSpPr/>
          <p:nvPr/>
        </p:nvSpPr>
        <p:spPr>
          <a:xfrm rot="16200000">
            <a:off x="6241555" y="4905232"/>
            <a:ext cx="1004400" cy="988109"/>
          </a:xfrm>
          <a:prstGeom prst="rightArrow">
            <a:avLst>
              <a:gd name="adj1" fmla="val 50000"/>
              <a:gd name="adj2" fmla="val 38432"/>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vert" wrap="none" lIns="914400" rtlCol="0" anchor="t"/>
          <a:lstStyle/>
          <a:p>
            <a:pPr algn="ctr"/>
            <a:r>
              <a:rPr lang="en-US" sz="1050" dirty="0" err="1"/>
              <a:t>Addr</a:t>
            </a:r>
            <a:r>
              <a:rPr lang="en-US" sz="1050" dirty="0"/>
              <a:t> Lo</a:t>
            </a:r>
          </a:p>
          <a:p>
            <a:pPr algn="ctr"/>
            <a:r>
              <a:rPr lang="en-US" sz="1050" dirty="0"/>
              <a:t>[7:0]</a:t>
            </a:r>
          </a:p>
        </p:txBody>
      </p:sp>
      <p:sp>
        <p:nvSpPr>
          <p:cNvPr id="2" name="Title 1">
            <a:extLst>
              <a:ext uri="{FF2B5EF4-FFF2-40B4-BE49-F238E27FC236}">
                <a16:creationId xmlns:a16="http://schemas.microsoft.com/office/drawing/2014/main" id="{838F4E84-ECF0-F66F-DDB6-6360B8D6BF7A}"/>
              </a:ext>
            </a:extLst>
          </p:cNvPr>
          <p:cNvSpPr>
            <a:spLocks noGrp="1"/>
          </p:cNvSpPr>
          <p:nvPr>
            <p:ph type="ctrTitle"/>
          </p:nvPr>
        </p:nvSpPr>
        <p:spPr>
          <a:xfrm>
            <a:off x="914399" y="457200"/>
            <a:ext cx="5456321" cy="457200"/>
          </a:xfrm>
        </p:spPr>
        <p:txBody>
          <a:bodyPr/>
          <a:lstStyle/>
          <a:p>
            <a:r>
              <a:rPr lang="en-US" dirty="0" err="1"/>
              <a:t>TmpAR</a:t>
            </a:r>
            <a:r>
              <a:rPr lang="en-US" dirty="0"/>
              <a:t> (Address Offset Adder) v2.0</a:t>
            </a:r>
          </a:p>
        </p:txBody>
      </p:sp>
      <p:sp>
        <p:nvSpPr>
          <p:cNvPr id="3" name="TextBox 2">
            <a:hlinkClick r:id="rId2" action="ppaction://hlinksldjump"/>
            <a:extLst>
              <a:ext uri="{FF2B5EF4-FFF2-40B4-BE49-F238E27FC236}">
                <a16:creationId xmlns:a16="http://schemas.microsoft.com/office/drawing/2014/main" id="{93C98E03-D841-5A70-2754-7B938F35C971}"/>
              </a:ext>
            </a:extLst>
          </p:cNvPr>
          <p:cNvSpPr txBox="1"/>
          <p:nvPr/>
        </p:nvSpPr>
        <p:spPr>
          <a:xfrm>
            <a:off x="9687560" y="3961518"/>
            <a:ext cx="792205" cy="169277"/>
          </a:xfrm>
          <a:prstGeom prst="rect">
            <a:avLst/>
          </a:prstGeom>
          <a:solidFill>
            <a:schemeClr val="bg1"/>
          </a:solidFill>
          <a:ln>
            <a:solidFill>
              <a:schemeClr val="accent1"/>
            </a:solidFill>
          </a:ln>
        </p:spPr>
        <p:txBody>
          <a:bodyPr wrap="none" tIns="0" bIns="0" rtlCol="0">
            <a:spAutoFit/>
          </a:bodyPr>
          <a:lstStyle/>
          <a:p>
            <a:pPr algn="r"/>
            <a:r>
              <a:rPr lang="en-US" sz="1100" dirty="0" err="1"/>
              <a:t>TmpAR</a:t>
            </a:r>
            <a:r>
              <a:rPr lang="en-US" sz="1100" dirty="0"/>
              <a:t> OE</a:t>
            </a:r>
          </a:p>
        </p:txBody>
      </p:sp>
      <p:grpSp>
        <p:nvGrpSpPr>
          <p:cNvPr id="11" name="Group 10">
            <a:extLst>
              <a:ext uri="{FF2B5EF4-FFF2-40B4-BE49-F238E27FC236}">
                <a16:creationId xmlns:a16="http://schemas.microsoft.com/office/drawing/2014/main" id="{71AD7D88-8C09-7F71-C9A5-CBB110FDFA64}"/>
              </a:ext>
            </a:extLst>
          </p:cNvPr>
          <p:cNvGrpSpPr/>
          <p:nvPr/>
        </p:nvGrpSpPr>
        <p:grpSpPr>
          <a:xfrm>
            <a:off x="4170327" y="2803358"/>
            <a:ext cx="1214068" cy="872289"/>
            <a:chOff x="2688112" y="2556710"/>
            <a:chExt cx="1214068" cy="872289"/>
          </a:xfrm>
        </p:grpSpPr>
        <p:pic>
          <p:nvPicPr>
            <p:cNvPr id="10" name="Picture 9">
              <a:extLst>
                <a:ext uri="{FF2B5EF4-FFF2-40B4-BE49-F238E27FC236}">
                  <a16:creationId xmlns:a16="http://schemas.microsoft.com/office/drawing/2014/main" id="{06274CC1-E36C-5077-A277-FFB85BF16957}"/>
                </a:ext>
              </a:extLst>
            </p:cNvPr>
            <p:cNvPicPr>
              <a:picLocks noChangeAspect="1"/>
            </p:cNvPicPr>
            <p:nvPr/>
          </p:nvPicPr>
          <p:blipFill>
            <a:blip r:embed="rId3"/>
            <a:srcRect l="14721" r="20492"/>
            <a:stretch>
              <a:fillRect/>
            </a:stretch>
          </p:blipFill>
          <p:spPr>
            <a:xfrm rot="16200000">
              <a:off x="2859001" y="2385821"/>
              <a:ext cx="872289" cy="1214068"/>
            </a:xfrm>
            <a:prstGeom prst="rect">
              <a:avLst/>
            </a:prstGeom>
          </p:spPr>
        </p:pic>
        <p:sp>
          <p:nvSpPr>
            <p:cNvPr id="9" name="TextBox 8">
              <a:extLst>
                <a:ext uri="{FF2B5EF4-FFF2-40B4-BE49-F238E27FC236}">
                  <a16:creationId xmlns:a16="http://schemas.microsoft.com/office/drawing/2014/main" id="{9761C4DE-899C-2974-8D22-AEE2305B0355}"/>
                </a:ext>
              </a:extLst>
            </p:cNvPr>
            <p:cNvSpPr txBox="1"/>
            <p:nvPr/>
          </p:nvSpPr>
          <p:spPr>
            <a:xfrm>
              <a:off x="2776414" y="2823201"/>
              <a:ext cx="1037465" cy="261610"/>
            </a:xfrm>
            <a:prstGeom prst="rect">
              <a:avLst/>
            </a:prstGeom>
            <a:noFill/>
          </p:spPr>
          <p:txBody>
            <a:bodyPr wrap="none" rtlCol="0">
              <a:spAutoFit/>
            </a:bodyPr>
            <a:lstStyle/>
            <a:p>
              <a:pPr algn="ctr"/>
              <a:r>
                <a:rPr lang="en-US" sz="1100" dirty="0">
                  <a:hlinkClick r:id="rId4" action="ppaction://hlinksldjump"/>
                </a:rPr>
                <a:t>574</a:t>
              </a:r>
              <a:r>
                <a:rPr lang="en-US" sz="1100" dirty="0"/>
                <a:t>: </a:t>
              </a:r>
              <a:r>
                <a:rPr lang="en-US" sz="1100" dirty="0" err="1"/>
                <a:t>TmpAR</a:t>
              </a:r>
              <a:r>
                <a:rPr lang="en-US" sz="1100" dirty="0"/>
                <a:t> Hi</a:t>
              </a:r>
            </a:p>
          </p:txBody>
        </p:sp>
      </p:grpSp>
      <p:grpSp>
        <p:nvGrpSpPr>
          <p:cNvPr id="12" name="Group 11">
            <a:extLst>
              <a:ext uri="{FF2B5EF4-FFF2-40B4-BE49-F238E27FC236}">
                <a16:creationId xmlns:a16="http://schemas.microsoft.com/office/drawing/2014/main" id="{09192B69-75B8-4508-1333-0ECA774C124B}"/>
              </a:ext>
            </a:extLst>
          </p:cNvPr>
          <p:cNvGrpSpPr/>
          <p:nvPr/>
        </p:nvGrpSpPr>
        <p:grpSpPr>
          <a:xfrm>
            <a:off x="6593479" y="2803358"/>
            <a:ext cx="1214068" cy="872289"/>
            <a:chOff x="2688112" y="2556710"/>
            <a:chExt cx="1214068" cy="872289"/>
          </a:xfrm>
        </p:grpSpPr>
        <p:pic>
          <p:nvPicPr>
            <p:cNvPr id="13" name="Picture 12">
              <a:extLst>
                <a:ext uri="{FF2B5EF4-FFF2-40B4-BE49-F238E27FC236}">
                  <a16:creationId xmlns:a16="http://schemas.microsoft.com/office/drawing/2014/main" id="{B20BEE77-82F6-1FC5-E64A-EC1949E16878}"/>
                </a:ext>
              </a:extLst>
            </p:cNvPr>
            <p:cNvPicPr>
              <a:picLocks noChangeAspect="1"/>
            </p:cNvPicPr>
            <p:nvPr/>
          </p:nvPicPr>
          <p:blipFill>
            <a:blip r:embed="rId3"/>
            <a:srcRect l="14721" r="20492"/>
            <a:stretch>
              <a:fillRect/>
            </a:stretch>
          </p:blipFill>
          <p:spPr>
            <a:xfrm rot="16200000">
              <a:off x="2859001" y="2385821"/>
              <a:ext cx="872289" cy="1214068"/>
            </a:xfrm>
            <a:prstGeom prst="rect">
              <a:avLst/>
            </a:prstGeom>
          </p:spPr>
        </p:pic>
        <p:sp>
          <p:nvSpPr>
            <p:cNvPr id="14" name="TextBox 13">
              <a:extLst>
                <a:ext uri="{FF2B5EF4-FFF2-40B4-BE49-F238E27FC236}">
                  <a16:creationId xmlns:a16="http://schemas.microsoft.com/office/drawing/2014/main" id="{4144E244-5644-CB2B-02C4-6771350B24ED}"/>
                </a:ext>
              </a:extLst>
            </p:cNvPr>
            <p:cNvSpPr txBox="1"/>
            <p:nvPr/>
          </p:nvSpPr>
          <p:spPr>
            <a:xfrm>
              <a:off x="2753972" y="2823201"/>
              <a:ext cx="1082349" cy="261610"/>
            </a:xfrm>
            <a:prstGeom prst="rect">
              <a:avLst/>
            </a:prstGeom>
            <a:noFill/>
          </p:spPr>
          <p:txBody>
            <a:bodyPr wrap="none" rtlCol="0">
              <a:spAutoFit/>
            </a:bodyPr>
            <a:lstStyle/>
            <a:p>
              <a:pPr algn="ctr"/>
              <a:r>
                <a:rPr lang="en-US" sz="1100" dirty="0">
                  <a:hlinkClick r:id="rId4" action="ppaction://hlinksldjump"/>
                </a:rPr>
                <a:t>574</a:t>
              </a:r>
              <a:r>
                <a:rPr lang="en-US" sz="1100" dirty="0"/>
                <a:t>: </a:t>
              </a:r>
              <a:r>
                <a:rPr lang="en-US" sz="1100" dirty="0" err="1"/>
                <a:t>TmpAR</a:t>
              </a:r>
              <a:r>
                <a:rPr lang="en-US" sz="1100" dirty="0"/>
                <a:t> Lo</a:t>
              </a:r>
            </a:p>
          </p:txBody>
        </p:sp>
      </p:grpSp>
      <p:sp>
        <p:nvSpPr>
          <p:cNvPr id="15" name="Rectangle 14">
            <a:extLst>
              <a:ext uri="{FF2B5EF4-FFF2-40B4-BE49-F238E27FC236}">
                <a16:creationId xmlns:a16="http://schemas.microsoft.com/office/drawing/2014/main" id="{BCE71CBB-3AD5-1AE7-4C45-3E687337C425}"/>
              </a:ext>
            </a:extLst>
          </p:cNvPr>
          <p:cNvSpPr/>
          <p:nvPr/>
        </p:nvSpPr>
        <p:spPr>
          <a:xfrm rot="16200000">
            <a:off x="6127108" y="223286"/>
            <a:ext cx="224983" cy="3972636"/>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vert="vert" rtlCol="0" anchor="ctr"/>
          <a:lstStyle/>
          <a:p>
            <a:pPr algn="ctr"/>
            <a:r>
              <a:rPr lang="en-US" sz="1600" dirty="0"/>
              <a:t>Address  Bus   </a:t>
            </a:r>
          </a:p>
        </p:txBody>
      </p:sp>
      <p:sp>
        <p:nvSpPr>
          <p:cNvPr id="16" name="Arrow: Right 15">
            <a:extLst>
              <a:ext uri="{FF2B5EF4-FFF2-40B4-BE49-F238E27FC236}">
                <a16:creationId xmlns:a16="http://schemas.microsoft.com/office/drawing/2014/main" id="{EF4DFCEF-3079-E682-13C8-33BF14E06AF2}"/>
              </a:ext>
            </a:extLst>
          </p:cNvPr>
          <p:cNvSpPr/>
          <p:nvPr/>
        </p:nvSpPr>
        <p:spPr>
          <a:xfrm rot="16200000">
            <a:off x="6958497" y="2147315"/>
            <a:ext cx="493847" cy="988109"/>
          </a:xfrm>
          <a:prstGeom prst="rightArrow">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vert" wrap="none" rtlCol="0" anchor="ctr"/>
          <a:lstStyle/>
          <a:p>
            <a:pPr algn="ctr"/>
            <a:r>
              <a:rPr lang="en-US" sz="1050" dirty="0" err="1"/>
              <a:t>Addr</a:t>
            </a:r>
            <a:r>
              <a:rPr lang="en-US" sz="1050" dirty="0"/>
              <a:t> Low</a:t>
            </a:r>
          </a:p>
          <a:p>
            <a:pPr algn="ctr"/>
            <a:r>
              <a:rPr lang="en-US" sz="1050" dirty="0"/>
              <a:t>[7:0]</a:t>
            </a:r>
          </a:p>
        </p:txBody>
      </p:sp>
      <p:sp>
        <p:nvSpPr>
          <p:cNvPr id="17" name="Arrow: Right 16">
            <a:extLst>
              <a:ext uri="{FF2B5EF4-FFF2-40B4-BE49-F238E27FC236}">
                <a16:creationId xmlns:a16="http://schemas.microsoft.com/office/drawing/2014/main" id="{22F4E654-7FA2-8D88-FD54-B68F046501E0}"/>
              </a:ext>
            </a:extLst>
          </p:cNvPr>
          <p:cNvSpPr/>
          <p:nvPr/>
        </p:nvSpPr>
        <p:spPr>
          <a:xfrm rot="16200000">
            <a:off x="4500359" y="2147315"/>
            <a:ext cx="493847" cy="988109"/>
          </a:xfrm>
          <a:prstGeom prst="rightArrow">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vert" wrap="none" rtlCol="0" anchor="ctr"/>
          <a:lstStyle/>
          <a:p>
            <a:pPr algn="ctr"/>
            <a:r>
              <a:rPr lang="en-US" sz="1050" dirty="0" err="1"/>
              <a:t>Addr</a:t>
            </a:r>
            <a:r>
              <a:rPr lang="en-US" sz="1050" dirty="0"/>
              <a:t> Hi</a:t>
            </a:r>
          </a:p>
          <a:p>
            <a:pPr algn="ctr"/>
            <a:r>
              <a:rPr lang="en-US" sz="1050" dirty="0"/>
              <a:t>[15:8]</a:t>
            </a:r>
          </a:p>
        </p:txBody>
      </p:sp>
      <p:cxnSp>
        <p:nvCxnSpPr>
          <p:cNvPr id="19" name="Connector: Elbow 18">
            <a:extLst>
              <a:ext uri="{FF2B5EF4-FFF2-40B4-BE49-F238E27FC236}">
                <a16:creationId xmlns:a16="http://schemas.microsoft.com/office/drawing/2014/main" id="{4DA90732-8D39-3F24-6133-DEB22D20DB40}"/>
              </a:ext>
            </a:extLst>
          </p:cNvPr>
          <p:cNvCxnSpPr>
            <a:endCxn id="3" idx="1"/>
          </p:cNvCxnSpPr>
          <p:nvPr/>
        </p:nvCxnSpPr>
        <p:spPr>
          <a:xfrm>
            <a:off x="6696536" y="3666744"/>
            <a:ext cx="2991024" cy="379413"/>
          </a:xfrm>
          <a:prstGeom prst="bentConnector3">
            <a:avLst>
              <a:gd name="adj1" fmla="val 925"/>
            </a:avLst>
          </a:prstGeom>
        </p:spPr>
        <p:style>
          <a:lnRef idx="1">
            <a:schemeClr val="accent6"/>
          </a:lnRef>
          <a:fillRef idx="0">
            <a:schemeClr val="accent6"/>
          </a:fillRef>
          <a:effectRef idx="0">
            <a:schemeClr val="accent6"/>
          </a:effectRef>
          <a:fontRef idx="minor">
            <a:schemeClr val="tx1"/>
          </a:fontRef>
        </p:style>
      </p:cxnSp>
      <p:cxnSp>
        <p:nvCxnSpPr>
          <p:cNvPr id="21" name="Connector: Elbow 20">
            <a:extLst>
              <a:ext uri="{FF2B5EF4-FFF2-40B4-BE49-F238E27FC236}">
                <a16:creationId xmlns:a16="http://schemas.microsoft.com/office/drawing/2014/main" id="{97085F72-A617-F30D-40B9-C7D635572938}"/>
              </a:ext>
            </a:extLst>
          </p:cNvPr>
          <p:cNvCxnSpPr>
            <a:cxnSpLocks/>
            <a:endCxn id="3" idx="1"/>
          </p:cNvCxnSpPr>
          <p:nvPr/>
        </p:nvCxnSpPr>
        <p:spPr>
          <a:xfrm>
            <a:off x="4307985" y="3692770"/>
            <a:ext cx="5379575" cy="353387"/>
          </a:xfrm>
          <a:prstGeom prst="bentConnector3">
            <a:avLst>
              <a:gd name="adj1" fmla="val 14"/>
            </a:avLst>
          </a:prstGeom>
        </p:spPr>
        <p:style>
          <a:lnRef idx="1">
            <a:schemeClr val="accent6"/>
          </a:lnRef>
          <a:fillRef idx="0">
            <a:schemeClr val="accent6"/>
          </a:fillRef>
          <a:effectRef idx="0">
            <a:schemeClr val="accent6"/>
          </a:effectRef>
          <a:fontRef idx="minor">
            <a:schemeClr val="tx1"/>
          </a:fontRef>
        </p:style>
      </p:cxnSp>
      <p:sp>
        <p:nvSpPr>
          <p:cNvPr id="27" name="TextBox 26">
            <a:hlinkClick r:id="rId5" action="ppaction://hlinksldjump"/>
            <a:extLst>
              <a:ext uri="{FF2B5EF4-FFF2-40B4-BE49-F238E27FC236}">
                <a16:creationId xmlns:a16="http://schemas.microsoft.com/office/drawing/2014/main" id="{80A2627B-1648-9A99-9EAC-0F52EDCAD1A4}"/>
              </a:ext>
            </a:extLst>
          </p:cNvPr>
          <p:cNvSpPr txBox="1"/>
          <p:nvPr/>
        </p:nvSpPr>
        <p:spPr>
          <a:xfrm>
            <a:off x="657679" y="1956533"/>
            <a:ext cx="718466" cy="169277"/>
          </a:xfrm>
          <a:prstGeom prst="rect">
            <a:avLst/>
          </a:prstGeom>
          <a:solidFill>
            <a:schemeClr val="bg1"/>
          </a:solidFill>
          <a:ln>
            <a:solidFill>
              <a:schemeClr val="accent1"/>
            </a:solidFill>
          </a:ln>
        </p:spPr>
        <p:txBody>
          <a:bodyPr wrap="none" tIns="0" bIns="0" rtlCol="0">
            <a:spAutoFit/>
          </a:bodyPr>
          <a:lstStyle/>
          <a:p>
            <a:r>
              <a:rPr lang="en-US" sz="1100"/>
              <a:t>Main CLK</a:t>
            </a:r>
          </a:p>
        </p:txBody>
      </p:sp>
      <p:cxnSp>
        <p:nvCxnSpPr>
          <p:cNvPr id="28" name="Connector: Elbow 27">
            <a:extLst>
              <a:ext uri="{FF2B5EF4-FFF2-40B4-BE49-F238E27FC236}">
                <a16:creationId xmlns:a16="http://schemas.microsoft.com/office/drawing/2014/main" id="{0C611DBF-7EEA-BB32-6863-FC457B1113E1}"/>
              </a:ext>
            </a:extLst>
          </p:cNvPr>
          <p:cNvCxnSpPr>
            <a:cxnSpLocks/>
            <a:endCxn id="5" idx="3"/>
          </p:cNvCxnSpPr>
          <p:nvPr/>
        </p:nvCxnSpPr>
        <p:spPr>
          <a:xfrm rot="10800000">
            <a:off x="3045834" y="2718719"/>
            <a:ext cx="2250260" cy="205358"/>
          </a:xfrm>
          <a:prstGeom prst="bentConnector3">
            <a:avLst>
              <a:gd name="adj1" fmla="val 297"/>
            </a:avLst>
          </a:prstGeom>
        </p:spPr>
        <p:style>
          <a:lnRef idx="1">
            <a:schemeClr val="accent6"/>
          </a:lnRef>
          <a:fillRef idx="0">
            <a:schemeClr val="accent6"/>
          </a:fillRef>
          <a:effectRef idx="0">
            <a:schemeClr val="accent6"/>
          </a:effectRef>
          <a:fontRef idx="minor">
            <a:schemeClr val="tx1"/>
          </a:fontRef>
        </p:style>
      </p:cxnSp>
      <p:cxnSp>
        <p:nvCxnSpPr>
          <p:cNvPr id="32" name="Connector: Elbow 31">
            <a:extLst>
              <a:ext uri="{FF2B5EF4-FFF2-40B4-BE49-F238E27FC236}">
                <a16:creationId xmlns:a16="http://schemas.microsoft.com/office/drawing/2014/main" id="{4449EEC9-D4FA-9DFF-4429-045B84E771F8}"/>
              </a:ext>
            </a:extLst>
          </p:cNvPr>
          <p:cNvCxnSpPr>
            <a:cxnSpLocks/>
            <a:stCxn id="5" idx="3"/>
          </p:cNvCxnSpPr>
          <p:nvPr/>
        </p:nvCxnSpPr>
        <p:spPr>
          <a:xfrm>
            <a:off x="3045834" y="2718719"/>
            <a:ext cx="4653641" cy="205358"/>
          </a:xfrm>
          <a:prstGeom prst="bentConnector3">
            <a:avLst>
              <a:gd name="adj1" fmla="val 100341"/>
            </a:avLst>
          </a:prstGeom>
        </p:spPr>
        <p:style>
          <a:lnRef idx="1">
            <a:schemeClr val="accent6"/>
          </a:lnRef>
          <a:fillRef idx="0">
            <a:schemeClr val="accent6"/>
          </a:fillRef>
          <a:effectRef idx="0">
            <a:schemeClr val="accent6"/>
          </a:effectRef>
          <a:fontRef idx="minor">
            <a:schemeClr val="tx1"/>
          </a:fontRef>
        </p:style>
      </p:cxnSp>
      <p:grpSp>
        <p:nvGrpSpPr>
          <p:cNvPr id="39" name="Group 38">
            <a:extLst>
              <a:ext uri="{FF2B5EF4-FFF2-40B4-BE49-F238E27FC236}">
                <a16:creationId xmlns:a16="http://schemas.microsoft.com/office/drawing/2014/main" id="{3429444A-DDA5-8A4E-FDDE-15C3DCBB41F4}"/>
              </a:ext>
            </a:extLst>
          </p:cNvPr>
          <p:cNvGrpSpPr/>
          <p:nvPr/>
        </p:nvGrpSpPr>
        <p:grpSpPr>
          <a:xfrm>
            <a:off x="7231154" y="4068964"/>
            <a:ext cx="994764" cy="828970"/>
            <a:chOff x="4900713" y="4966554"/>
            <a:chExt cx="994764" cy="828970"/>
          </a:xfrm>
        </p:grpSpPr>
        <p:pic>
          <p:nvPicPr>
            <p:cNvPr id="37" name="Picture 36" descr="A diagram of a number&#10;&#10;AI-generated content may be incorrect.">
              <a:extLst>
                <a:ext uri="{FF2B5EF4-FFF2-40B4-BE49-F238E27FC236}">
                  <a16:creationId xmlns:a16="http://schemas.microsoft.com/office/drawing/2014/main" id="{88E7B2CD-E680-47A6-DA0A-F4177945E2AE}"/>
                </a:ext>
              </a:extLst>
            </p:cNvPr>
            <p:cNvPicPr>
              <a:picLocks noChangeAspect="1"/>
            </p:cNvPicPr>
            <p:nvPr/>
          </p:nvPicPr>
          <p:blipFill>
            <a:blip r:embed="rId6"/>
            <a:stretch>
              <a:fillRect/>
            </a:stretch>
          </p:blipFill>
          <p:spPr>
            <a:xfrm rot="16200000">
              <a:off x="4983610" y="4883657"/>
              <a:ext cx="828970" cy="994764"/>
            </a:xfrm>
            <a:prstGeom prst="rect">
              <a:avLst/>
            </a:prstGeom>
          </p:spPr>
        </p:pic>
        <p:sp>
          <p:nvSpPr>
            <p:cNvPr id="38" name="TextBox 37">
              <a:extLst>
                <a:ext uri="{FF2B5EF4-FFF2-40B4-BE49-F238E27FC236}">
                  <a16:creationId xmlns:a16="http://schemas.microsoft.com/office/drawing/2014/main" id="{39FAD5C7-3BD6-B429-38E5-A4C836BEB1EC}"/>
                </a:ext>
              </a:extLst>
            </p:cNvPr>
            <p:cNvSpPr txBox="1"/>
            <p:nvPr/>
          </p:nvSpPr>
          <p:spPr>
            <a:xfrm>
              <a:off x="4957910" y="5254080"/>
              <a:ext cx="880369" cy="253916"/>
            </a:xfrm>
            <a:prstGeom prst="rect">
              <a:avLst/>
            </a:prstGeom>
            <a:noFill/>
          </p:spPr>
          <p:txBody>
            <a:bodyPr wrap="none" rtlCol="0">
              <a:spAutoFit/>
            </a:bodyPr>
            <a:lstStyle/>
            <a:p>
              <a:r>
                <a:rPr lang="en-US" sz="1000" dirty="0"/>
                <a:t>283: Add 3:0</a:t>
              </a:r>
            </a:p>
          </p:txBody>
        </p:sp>
      </p:grpSp>
      <p:grpSp>
        <p:nvGrpSpPr>
          <p:cNvPr id="40" name="Group 39">
            <a:extLst>
              <a:ext uri="{FF2B5EF4-FFF2-40B4-BE49-F238E27FC236}">
                <a16:creationId xmlns:a16="http://schemas.microsoft.com/office/drawing/2014/main" id="{5AA9805E-58A1-6B91-E040-89C589F5680B}"/>
              </a:ext>
            </a:extLst>
          </p:cNvPr>
          <p:cNvGrpSpPr/>
          <p:nvPr/>
        </p:nvGrpSpPr>
        <p:grpSpPr>
          <a:xfrm>
            <a:off x="6161957" y="4068964"/>
            <a:ext cx="994764" cy="828970"/>
            <a:chOff x="4900713" y="4966554"/>
            <a:chExt cx="994764" cy="828970"/>
          </a:xfrm>
        </p:grpSpPr>
        <p:pic>
          <p:nvPicPr>
            <p:cNvPr id="41" name="Picture 40" descr="A diagram of a number&#10;&#10;AI-generated content may be incorrect.">
              <a:extLst>
                <a:ext uri="{FF2B5EF4-FFF2-40B4-BE49-F238E27FC236}">
                  <a16:creationId xmlns:a16="http://schemas.microsoft.com/office/drawing/2014/main" id="{14DF7F4C-2905-D621-DC73-DF9E7653872D}"/>
                </a:ext>
              </a:extLst>
            </p:cNvPr>
            <p:cNvPicPr>
              <a:picLocks noChangeAspect="1"/>
            </p:cNvPicPr>
            <p:nvPr/>
          </p:nvPicPr>
          <p:blipFill>
            <a:blip r:embed="rId6"/>
            <a:stretch>
              <a:fillRect/>
            </a:stretch>
          </p:blipFill>
          <p:spPr>
            <a:xfrm rot="16200000">
              <a:off x="4983610" y="4883657"/>
              <a:ext cx="828970" cy="994764"/>
            </a:xfrm>
            <a:prstGeom prst="rect">
              <a:avLst/>
            </a:prstGeom>
          </p:spPr>
        </p:pic>
        <p:sp>
          <p:nvSpPr>
            <p:cNvPr id="42" name="TextBox 41">
              <a:extLst>
                <a:ext uri="{FF2B5EF4-FFF2-40B4-BE49-F238E27FC236}">
                  <a16:creationId xmlns:a16="http://schemas.microsoft.com/office/drawing/2014/main" id="{DA8FCC64-B1AB-F288-7BAD-B162DB64F932}"/>
                </a:ext>
              </a:extLst>
            </p:cNvPr>
            <p:cNvSpPr txBox="1"/>
            <p:nvPr/>
          </p:nvSpPr>
          <p:spPr>
            <a:xfrm>
              <a:off x="4957910" y="5254080"/>
              <a:ext cx="880369" cy="253916"/>
            </a:xfrm>
            <a:prstGeom prst="rect">
              <a:avLst/>
            </a:prstGeom>
            <a:noFill/>
          </p:spPr>
          <p:txBody>
            <a:bodyPr wrap="none" rtlCol="0">
              <a:spAutoFit/>
            </a:bodyPr>
            <a:lstStyle/>
            <a:p>
              <a:r>
                <a:rPr lang="en-US" sz="1000" dirty="0"/>
                <a:t>283: Add 3:0</a:t>
              </a:r>
            </a:p>
          </p:txBody>
        </p:sp>
      </p:grpSp>
      <p:grpSp>
        <p:nvGrpSpPr>
          <p:cNvPr id="43" name="Group 42">
            <a:extLst>
              <a:ext uri="{FF2B5EF4-FFF2-40B4-BE49-F238E27FC236}">
                <a16:creationId xmlns:a16="http://schemas.microsoft.com/office/drawing/2014/main" id="{65770187-80CC-7123-B2DC-DEE9117A53A9}"/>
              </a:ext>
            </a:extLst>
          </p:cNvPr>
          <p:cNvGrpSpPr/>
          <p:nvPr/>
        </p:nvGrpSpPr>
        <p:grpSpPr>
          <a:xfrm>
            <a:off x="4894631" y="4068964"/>
            <a:ext cx="994764" cy="828970"/>
            <a:chOff x="4900713" y="4966554"/>
            <a:chExt cx="994764" cy="828970"/>
          </a:xfrm>
        </p:grpSpPr>
        <p:pic>
          <p:nvPicPr>
            <p:cNvPr id="44" name="Picture 43" descr="A diagram of a number&#10;&#10;AI-generated content may be incorrect.">
              <a:extLst>
                <a:ext uri="{FF2B5EF4-FFF2-40B4-BE49-F238E27FC236}">
                  <a16:creationId xmlns:a16="http://schemas.microsoft.com/office/drawing/2014/main" id="{D047C64E-DF7C-8B19-FCE2-F8E45954EF08}"/>
                </a:ext>
              </a:extLst>
            </p:cNvPr>
            <p:cNvPicPr>
              <a:picLocks noChangeAspect="1"/>
            </p:cNvPicPr>
            <p:nvPr/>
          </p:nvPicPr>
          <p:blipFill>
            <a:blip r:embed="rId6"/>
            <a:stretch>
              <a:fillRect/>
            </a:stretch>
          </p:blipFill>
          <p:spPr>
            <a:xfrm rot="16200000">
              <a:off x="4983610" y="4883657"/>
              <a:ext cx="828970" cy="994764"/>
            </a:xfrm>
            <a:prstGeom prst="rect">
              <a:avLst/>
            </a:prstGeom>
          </p:spPr>
        </p:pic>
        <p:sp>
          <p:nvSpPr>
            <p:cNvPr id="45" name="TextBox 44">
              <a:extLst>
                <a:ext uri="{FF2B5EF4-FFF2-40B4-BE49-F238E27FC236}">
                  <a16:creationId xmlns:a16="http://schemas.microsoft.com/office/drawing/2014/main" id="{98DF61C2-99CA-88C5-AE4E-E0C089B2EDA6}"/>
                </a:ext>
              </a:extLst>
            </p:cNvPr>
            <p:cNvSpPr txBox="1"/>
            <p:nvPr/>
          </p:nvSpPr>
          <p:spPr>
            <a:xfrm>
              <a:off x="4957910" y="5254080"/>
              <a:ext cx="880369" cy="253916"/>
            </a:xfrm>
            <a:prstGeom prst="rect">
              <a:avLst/>
            </a:prstGeom>
            <a:noFill/>
          </p:spPr>
          <p:txBody>
            <a:bodyPr wrap="none" rtlCol="0">
              <a:spAutoFit/>
            </a:bodyPr>
            <a:lstStyle/>
            <a:p>
              <a:r>
                <a:rPr lang="en-US" sz="1000" dirty="0"/>
                <a:t>283: Add 3:0</a:t>
              </a:r>
            </a:p>
          </p:txBody>
        </p:sp>
      </p:grpSp>
      <p:grpSp>
        <p:nvGrpSpPr>
          <p:cNvPr id="46" name="Group 45">
            <a:extLst>
              <a:ext uri="{FF2B5EF4-FFF2-40B4-BE49-F238E27FC236}">
                <a16:creationId xmlns:a16="http://schemas.microsoft.com/office/drawing/2014/main" id="{8F8B85A0-3CDD-EC9B-18DA-AE16CE5C8920}"/>
              </a:ext>
            </a:extLst>
          </p:cNvPr>
          <p:cNvGrpSpPr/>
          <p:nvPr/>
        </p:nvGrpSpPr>
        <p:grpSpPr>
          <a:xfrm>
            <a:off x="3825434" y="4068964"/>
            <a:ext cx="994764" cy="828970"/>
            <a:chOff x="4900713" y="4966554"/>
            <a:chExt cx="994764" cy="828970"/>
          </a:xfrm>
        </p:grpSpPr>
        <p:pic>
          <p:nvPicPr>
            <p:cNvPr id="47" name="Picture 46" descr="A diagram of a number&#10;&#10;AI-generated content may be incorrect.">
              <a:extLst>
                <a:ext uri="{FF2B5EF4-FFF2-40B4-BE49-F238E27FC236}">
                  <a16:creationId xmlns:a16="http://schemas.microsoft.com/office/drawing/2014/main" id="{174640BD-74B1-13A5-0E9A-A53EF3FCF2CD}"/>
                </a:ext>
              </a:extLst>
            </p:cNvPr>
            <p:cNvPicPr>
              <a:picLocks noChangeAspect="1"/>
            </p:cNvPicPr>
            <p:nvPr/>
          </p:nvPicPr>
          <p:blipFill>
            <a:blip r:embed="rId6"/>
            <a:stretch>
              <a:fillRect/>
            </a:stretch>
          </p:blipFill>
          <p:spPr>
            <a:xfrm rot="16200000">
              <a:off x="4983610" y="4883657"/>
              <a:ext cx="828970" cy="994764"/>
            </a:xfrm>
            <a:prstGeom prst="rect">
              <a:avLst/>
            </a:prstGeom>
          </p:spPr>
        </p:pic>
        <p:sp>
          <p:nvSpPr>
            <p:cNvPr id="48" name="TextBox 47">
              <a:extLst>
                <a:ext uri="{FF2B5EF4-FFF2-40B4-BE49-F238E27FC236}">
                  <a16:creationId xmlns:a16="http://schemas.microsoft.com/office/drawing/2014/main" id="{B07639B2-2EA7-737E-F29E-077D7E266B49}"/>
                </a:ext>
              </a:extLst>
            </p:cNvPr>
            <p:cNvSpPr txBox="1"/>
            <p:nvPr/>
          </p:nvSpPr>
          <p:spPr>
            <a:xfrm>
              <a:off x="4957910" y="5254080"/>
              <a:ext cx="880369" cy="253916"/>
            </a:xfrm>
            <a:prstGeom prst="rect">
              <a:avLst/>
            </a:prstGeom>
            <a:noFill/>
          </p:spPr>
          <p:txBody>
            <a:bodyPr wrap="none" rtlCol="0">
              <a:spAutoFit/>
            </a:bodyPr>
            <a:lstStyle/>
            <a:p>
              <a:r>
                <a:rPr lang="en-US" sz="1000" dirty="0"/>
                <a:t>283: Add 3:0</a:t>
              </a:r>
            </a:p>
          </p:txBody>
        </p:sp>
      </p:grpSp>
      <p:sp>
        <p:nvSpPr>
          <p:cNvPr id="53" name="Arrow: Right 52">
            <a:extLst>
              <a:ext uri="{FF2B5EF4-FFF2-40B4-BE49-F238E27FC236}">
                <a16:creationId xmlns:a16="http://schemas.microsoft.com/office/drawing/2014/main" id="{F86DC27D-FADE-9A80-CE31-7190C6932032}"/>
              </a:ext>
            </a:extLst>
          </p:cNvPr>
          <p:cNvSpPr/>
          <p:nvPr/>
        </p:nvSpPr>
        <p:spPr>
          <a:xfrm rot="16200000">
            <a:off x="4555116" y="3220540"/>
            <a:ext cx="493847" cy="988109"/>
          </a:xfrm>
          <a:prstGeom prst="rightArrow">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vert" wrap="none" rtlCol="0" anchor="ctr"/>
          <a:lstStyle/>
          <a:p>
            <a:pPr algn="ctr"/>
            <a:r>
              <a:rPr lang="en-US" sz="1050" dirty="0" err="1"/>
              <a:t>Addr</a:t>
            </a:r>
            <a:r>
              <a:rPr lang="en-US" sz="1050" dirty="0"/>
              <a:t> Hi</a:t>
            </a:r>
          </a:p>
          <a:p>
            <a:pPr algn="ctr"/>
            <a:r>
              <a:rPr lang="en-US" sz="1050" dirty="0"/>
              <a:t>[15:8]</a:t>
            </a:r>
          </a:p>
        </p:txBody>
      </p:sp>
      <p:sp>
        <p:nvSpPr>
          <p:cNvPr id="54" name="Arrow: Right 53">
            <a:extLst>
              <a:ext uri="{FF2B5EF4-FFF2-40B4-BE49-F238E27FC236}">
                <a16:creationId xmlns:a16="http://schemas.microsoft.com/office/drawing/2014/main" id="{1D32F2DC-EF10-0676-A01B-6D1174FF899D}"/>
              </a:ext>
            </a:extLst>
          </p:cNvPr>
          <p:cNvSpPr/>
          <p:nvPr/>
        </p:nvSpPr>
        <p:spPr>
          <a:xfrm rot="16200000">
            <a:off x="7041427" y="3220541"/>
            <a:ext cx="493847" cy="988109"/>
          </a:xfrm>
          <a:prstGeom prst="rightArrow">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vert" wrap="none" rtlCol="0" anchor="ctr"/>
          <a:lstStyle/>
          <a:p>
            <a:pPr algn="ctr"/>
            <a:r>
              <a:rPr lang="en-US" sz="1050" dirty="0" err="1"/>
              <a:t>Addr</a:t>
            </a:r>
            <a:r>
              <a:rPr lang="en-US" sz="1050" dirty="0"/>
              <a:t> Hi</a:t>
            </a:r>
          </a:p>
          <a:p>
            <a:pPr algn="ctr"/>
            <a:r>
              <a:rPr lang="en-US" sz="1050" dirty="0"/>
              <a:t>[15:8]</a:t>
            </a:r>
          </a:p>
        </p:txBody>
      </p:sp>
      <p:sp>
        <p:nvSpPr>
          <p:cNvPr id="55" name="Rectangle 54">
            <a:extLst>
              <a:ext uri="{FF2B5EF4-FFF2-40B4-BE49-F238E27FC236}">
                <a16:creationId xmlns:a16="http://schemas.microsoft.com/office/drawing/2014/main" id="{57EA994C-ABD6-9AC3-3DEA-2F25A4D39598}"/>
              </a:ext>
            </a:extLst>
          </p:cNvPr>
          <p:cNvSpPr/>
          <p:nvPr/>
        </p:nvSpPr>
        <p:spPr>
          <a:xfrm rot="16200000">
            <a:off x="6080426" y="4071943"/>
            <a:ext cx="235391" cy="405559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vert="vert" rtlCol="0" anchor="ctr"/>
          <a:lstStyle/>
          <a:p>
            <a:pPr algn="ctr"/>
            <a:r>
              <a:rPr lang="en-US" sz="1600" dirty="0"/>
              <a:t>Address  Bus   </a:t>
            </a:r>
          </a:p>
        </p:txBody>
      </p:sp>
      <p:sp>
        <p:nvSpPr>
          <p:cNvPr id="56" name="Rectangle 55">
            <a:extLst>
              <a:ext uri="{FF2B5EF4-FFF2-40B4-BE49-F238E27FC236}">
                <a16:creationId xmlns:a16="http://schemas.microsoft.com/office/drawing/2014/main" id="{FC8E7F29-002D-5383-50D9-8EAEF447CDF3}"/>
              </a:ext>
            </a:extLst>
          </p:cNvPr>
          <p:cNvSpPr/>
          <p:nvPr/>
        </p:nvSpPr>
        <p:spPr>
          <a:xfrm>
            <a:off x="5560921" y="5529238"/>
            <a:ext cx="2627780" cy="235389"/>
          </a:xfrm>
          <a:prstGeom prst="rect">
            <a:avLst/>
          </a:prstGeom>
        </p:spPr>
        <p:style>
          <a:lnRef idx="1">
            <a:schemeClr val="accent6"/>
          </a:lnRef>
          <a:fillRef idx="2">
            <a:schemeClr val="accent6"/>
          </a:fillRef>
          <a:effectRef idx="1">
            <a:schemeClr val="accent6"/>
          </a:effectRef>
          <a:fontRef idx="minor">
            <a:schemeClr val="dk1"/>
          </a:fontRef>
        </p:style>
        <p:txBody>
          <a:bodyPr vert="horz" rtlCol="0" anchor="ctr"/>
          <a:lstStyle/>
          <a:p>
            <a:pPr algn="ctr"/>
            <a:r>
              <a:rPr lang="en-US" sz="1600" dirty="0"/>
              <a:t>Data  Bus </a:t>
            </a:r>
          </a:p>
        </p:txBody>
      </p:sp>
      <p:sp>
        <p:nvSpPr>
          <p:cNvPr id="57" name="Arrow: Right 56">
            <a:extLst>
              <a:ext uri="{FF2B5EF4-FFF2-40B4-BE49-F238E27FC236}">
                <a16:creationId xmlns:a16="http://schemas.microsoft.com/office/drawing/2014/main" id="{C7CEEFEC-AFD7-12E8-C42E-88C13A2F728E}"/>
              </a:ext>
            </a:extLst>
          </p:cNvPr>
          <p:cNvSpPr/>
          <p:nvPr/>
        </p:nvSpPr>
        <p:spPr>
          <a:xfrm rot="16200000">
            <a:off x="3974540" y="4879004"/>
            <a:ext cx="1056859" cy="988109"/>
          </a:xfrm>
          <a:prstGeom prst="rightArrow">
            <a:avLst>
              <a:gd name="adj1" fmla="val 50000"/>
              <a:gd name="adj2" fmla="val 41476"/>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vert" wrap="none" rtlCol="0" anchor="ctr"/>
          <a:lstStyle/>
          <a:p>
            <a:pPr algn="ctr"/>
            <a:r>
              <a:rPr lang="en-US" sz="1050" dirty="0" err="1"/>
              <a:t>Addr</a:t>
            </a:r>
            <a:r>
              <a:rPr lang="en-US" sz="1050" dirty="0"/>
              <a:t> Hi</a:t>
            </a:r>
          </a:p>
          <a:p>
            <a:pPr algn="ctr"/>
            <a:r>
              <a:rPr lang="en-US" sz="1050" dirty="0"/>
              <a:t>[15:8]</a:t>
            </a:r>
          </a:p>
        </p:txBody>
      </p:sp>
      <p:sp>
        <p:nvSpPr>
          <p:cNvPr id="58" name="Arrow: Right 57">
            <a:extLst>
              <a:ext uri="{FF2B5EF4-FFF2-40B4-BE49-F238E27FC236}">
                <a16:creationId xmlns:a16="http://schemas.microsoft.com/office/drawing/2014/main" id="{0F24D027-D25D-6BC2-E7A8-0109431621C7}"/>
              </a:ext>
            </a:extLst>
          </p:cNvPr>
          <p:cNvSpPr/>
          <p:nvPr/>
        </p:nvSpPr>
        <p:spPr>
          <a:xfrm rot="16200000">
            <a:off x="5242110" y="4666738"/>
            <a:ext cx="579023" cy="988109"/>
          </a:xfrm>
          <a:prstGeom prst="rightArrow">
            <a:avLst>
              <a:gd name="adj1" fmla="val 50000"/>
              <a:gd name="adj2" fmla="val 68272"/>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vert="vert" wrap="none" lIns="137160" tIns="0" rIns="0" bIns="0" rtlCol="0" anchor="ctr"/>
          <a:lstStyle/>
          <a:p>
            <a:pPr algn="ctr"/>
            <a:r>
              <a:rPr lang="en-US" sz="1000" dirty="0"/>
              <a:t>Data </a:t>
            </a:r>
          </a:p>
          <a:p>
            <a:pPr algn="ctr"/>
            <a:r>
              <a:rPr lang="en-US" sz="1000" dirty="0"/>
              <a:t>Sign Extended</a:t>
            </a:r>
          </a:p>
          <a:p>
            <a:pPr algn="ctr"/>
            <a:r>
              <a:rPr lang="en-US" sz="1000" dirty="0"/>
              <a:t>[15:8]</a:t>
            </a:r>
          </a:p>
        </p:txBody>
      </p:sp>
      <p:sp>
        <p:nvSpPr>
          <p:cNvPr id="60" name="Arrow: Right 59">
            <a:extLst>
              <a:ext uri="{FF2B5EF4-FFF2-40B4-BE49-F238E27FC236}">
                <a16:creationId xmlns:a16="http://schemas.microsoft.com/office/drawing/2014/main" id="{57D1715F-E634-9D94-7BAD-5D177D54504A}"/>
              </a:ext>
            </a:extLst>
          </p:cNvPr>
          <p:cNvSpPr/>
          <p:nvPr/>
        </p:nvSpPr>
        <p:spPr>
          <a:xfrm rot="16200000">
            <a:off x="7563271" y="4705000"/>
            <a:ext cx="418274" cy="988109"/>
          </a:xfrm>
          <a:prstGeom prst="rightArrow">
            <a:avLst>
              <a:gd name="adj1" fmla="val 50000"/>
              <a:gd name="adj2" fmla="val 68272"/>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vert="vert" wrap="none" lIns="137160" tIns="0" rIns="0" bIns="0" rtlCol="0" anchor="ctr"/>
          <a:lstStyle/>
          <a:p>
            <a:pPr algn="ctr"/>
            <a:r>
              <a:rPr lang="en-US" sz="1000" dirty="0"/>
              <a:t>Data </a:t>
            </a:r>
          </a:p>
          <a:p>
            <a:pPr algn="ctr"/>
            <a:r>
              <a:rPr lang="en-US" sz="1000" dirty="0"/>
              <a:t>[7:0]</a:t>
            </a:r>
          </a:p>
        </p:txBody>
      </p:sp>
      <p:sp>
        <p:nvSpPr>
          <p:cNvPr id="4" name="TextBox 3">
            <a:extLst>
              <a:ext uri="{FF2B5EF4-FFF2-40B4-BE49-F238E27FC236}">
                <a16:creationId xmlns:a16="http://schemas.microsoft.com/office/drawing/2014/main" id="{05468145-8673-3FF3-E7A5-53367D371FF1}"/>
              </a:ext>
            </a:extLst>
          </p:cNvPr>
          <p:cNvSpPr txBox="1"/>
          <p:nvPr/>
        </p:nvSpPr>
        <p:spPr>
          <a:xfrm>
            <a:off x="2984327" y="2540250"/>
            <a:ext cx="223138" cy="184666"/>
          </a:xfrm>
          <a:prstGeom prst="rect">
            <a:avLst/>
          </a:prstGeom>
          <a:noFill/>
        </p:spPr>
        <p:txBody>
          <a:bodyPr wrap="none" rtlCol="0">
            <a:spAutoFit/>
          </a:bodyPr>
          <a:lstStyle/>
          <a:p>
            <a:r>
              <a:rPr lang="en-US" sz="600" dirty="0"/>
              <a:t>3</a:t>
            </a:r>
          </a:p>
        </p:txBody>
      </p:sp>
      <p:pic>
        <p:nvPicPr>
          <p:cNvPr id="6" name="Picture 5" descr="Diagram&#10;&#10;Description automatically generated with low confidence">
            <a:extLst>
              <a:ext uri="{FF2B5EF4-FFF2-40B4-BE49-F238E27FC236}">
                <a16:creationId xmlns:a16="http://schemas.microsoft.com/office/drawing/2014/main" id="{594BA5F8-4110-7018-AD8B-5FA62AC19758}"/>
              </a:ext>
            </a:extLst>
          </p:cNvPr>
          <p:cNvPicPr>
            <a:picLocks noChangeAspect="1"/>
          </p:cNvPicPr>
          <p:nvPr/>
        </p:nvPicPr>
        <p:blipFill rotWithShape="1">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t="-3588" r="58979" b="29396"/>
          <a:stretch/>
        </p:blipFill>
        <p:spPr>
          <a:xfrm>
            <a:off x="1492886" y="1867755"/>
            <a:ext cx="490460" cy="346831"/>
          </a:xfrm>
          <a:prstGeom prst="rect">
            <a:avLst/>
          </a:prstGeom>
          <a:solidFill>
            <a:schemeClr val="bg1"/>
          </a:solidFill>
        </p:spPr>
      </p:pic>
      <p:cxnSp>
        <p:nvCxnSpPr>
          <p:cNvPr id="20" name="Straight Connector 19">
            <a:extLst>
              <a:ext uri="{FF2B5EF4-FFF2-40B4-BE49-F238E27FC236}">
                <a16:creationId xmlns:a16="http://schemas.microsoft.com/office/drawing/2014/main" id="{DE9574D1-DF94-9A1A-3E04-8438CFFA800F}"/>
              </a:ext>
            </a:extLst>
          </p:cNvPr>
          <p:cNvCxnSpPr>
            <a:cxnSpLocks/>
            <a:stCxn id="27" idx="3"/>
            <a:endCxn id="6" idx="1"/>
          </p:cNvCxnSpPr>
          <p:nvPr/>
        </p:nvCxnSpPr>
        <p:spPr>
          <a:xfrm flipV="1">
            <a:off x="1376145" y="2041171"/>
            <a:ext cx="116741" cy="1"/>
          </a:xfrm>
          <a:prstGeom prst="line">
            <a:avLst/>
          </a:prstGeom>
        </p:spPr>
        <p:style>
          <a:lnRef idx="1">
            <a:schemeClr val="accent1"/>
          </a:lnRef>
          <a:fillRef idx="0">
            <a:schemeClr val="accent1"/>
          </a:fillRef>
          <a:effectRef idx="0">
            <a:schemeClr val="accent1"/>
          </a:effectRef>
          <a:fontRef idx="minor">
            <a:schemeClr val="tx1"/>
          </a:fontRef>
        </p:style>
      </p:cxnSp>
      <p:sp>
        <p:nvSpPr>
          <p:cNvPr id="25" name="Rectangle 24">
            <a:hlinkClick r:id="rId9" action="ppaction://hlinksldjump"/>
            <a:extLst>
              <a:ext uri="{FF2B5EF4-FFF2-40B4-BE49-F238E27FC236}">
                <a16:creationId xmlns:a16="http://schemas.microsoft.com/office/drawing/2014/main" id="{887B9A98-8AE2-19FC-B653-58AE06ADB740}"/>
              </a:ext>
            </a:extLst>
          </p:cNvPr>
          <p:cNvSpPr/>
          <p:nvPr/>
        </p:nvSpPr>
        <p:spPr>
          <a:xfrm>
            <a:off x="334765" y="3483864"/>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dirty="0"/>
              <a:t>µC 19: </a:t>
            </a:r>
            <a:r>
              <a:rPr lang="en-US" sz="1200" dirty="0" err="1"/>
              <a:t>TmpARRead</a:t>
            </a:r>
            <a:endParaRPr lang="en-US" sz="1200" dirty="0"/>
          </a:p>
        </p:txBody>
      </p:sp>
      <p:cxnSp>
        <p:nvCxnSpPr>
          <p:cNvPr id="51" name="Connector: Elbow 50">
            <a:extLst>
              <a:ext uri="{FF2B5EF4-FFF2-40B4-BE49-F238E27FC236}">
                <a16:creationId xmlns:a16="http://schemas.microsoft.com/office/drawing/2014/main" id="{733A863F-0EC2-EAF7-C7E0-C773E315B9D2}"/>
              </a:ext>
            </a:extLst>
          </p:cNvPr>
          <p:cNvCxnSpPr>
            <a:cxnSpLocks/>
            <a:stCxn id="6" idx="3"/>
          </p:cNvCxnSpPr>
          <p:nvPr/>
        </p:nvCxnSpPr>
        <p:spPr>
          <a:xfrm>
            <a:off x="1983346" y="2041171"/>
            <a:ext cx="600193" cy="549036"/>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63" name="Connector: Elbow 62">
            <a:extLst>
              <a:ext uri="{FF2B5EF4-FFF2-40B4-BE49-F238E27FC236}">
                <a16:creationId xmlns:a16="http://schemas.microsoft.com/office/drawing/2014/main" id="{D41C590A-3386-BC42-696D-57A3B52505F9}"/>
              </a:ext>
            </a:extLst>
          </p:cNvPr>
          <p:cNvCxnSpPr>
            <a:cxnSpLocks/>
            <a:stCxn id="25" idx="3"/>
          </p:cNvCxnSpPr>
          <p:nvPr/>
        </p:nvCxnSpPr>
        <p:spPr>
          <a:xfrm flipV="1">
            <a:off x="1797805" y="2846381"/>
            <a:ext cx="793393" cy="728923"/>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pic>
        <p:nvPicPr>
          <p:cNvPr id="5" name="Picture 4" descr="Diagram&#10;&#10;Description automatically generated with low confidence">
            <a:extLst>
              <a:ext uri="{FF2B5EF4-FFF2-40B4-BE49-F238E27FC236}">
                <a16:creationId xmlns:a16="http://schemas.microsoft.com/office/drawing/2014/main" id="{9A38954A-21CD-7788-7AD4-A7B9C901AC2F}"/>
              </a:ext>
            </a:extLst>
          </p:cNvPr>
          <p:cNvPicPr>
            <a:picLocks noChangeAspect="1"/>
          </p:cNvPicPr>
          <p:nvPr/>
        </p:nvPicPr>
        <p:blipFill rotWithShape="1">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l="50000" t="19257" r="4045" b="-1180"/>
          <a:stretch/>
        </p:blipFill>
        <p:spPr>
          <a:xfrm>
            <a:off x="2456582" y="2513361"/>
            <a:ext cx="589252" cy="410716"/>
          </a:xfrm>
          <a:prstGeom prst="rect">
            <a:avLst/>
          </a:prstGeom>
        </p:spPr>
      </p:pic>
      <p:sp>
        <p:nvSpPr>
          <p:cNvPr id="68" name="TextBox 67">
            <a:extLst>
              <a:ext uri="{FF2B5EF4-FFF2-40B4-BE49-F238E27FC236}">
                <a16:creationId xmlns:a16="http://schemas.microsoft.com/office/drawing/2014/main" id="{6AD8661D-AF35-C0E5-E2C8-7E6F72C186EB}"/>
              </a:ext>
            </a:extLst>
          </p:cNvPr>
          <p:cNvSpPr txBox="1"/>
          <p:nvPr/>
        </p:nvSpPr>
        <p:spPr>
          <a:xfrm>
            <a:off x="2406318" y="2923227"/>
            <a:ext cx="1279031" cy="430887"/>
          </a:xfrm>
          <a:prstGeom prst="rect">
            <a:avLst/>
          </a:prstGeom>
          <a:noFill/>
        </p:spPr>
        <p:txBody>
          <a:bodyPr wrap="square" rtlCol="0">
            <a:spAutoFit/>
          </a:bodyPr>
          <a:lstStyle/>
          <a:p>
            <a:r>
              <a:rPr lang="en-US" sz="1100" dirty="0"/>
              <a:t>Read in the middle of the cycle</a:t>
            </a:r>
          </a:p>
        </p:txBody>
      </p:sp>
      <p:sp>
        <p:nvSpPr>
          <p:cNvPr id="69" name="TextBox 68">
            <a:extLst>
              <a:ext uri="{FF2B5EF4-FFF2-40B4-BE49-F238E27FC236}">
                <a16:creationId xmlns:a16="http://schemas.microsoft.com/office/drawing/2014/main" id="{18FDD231-785F-B259-BC64-8625A5B528D0}"/>
              </a:ext>
            </a:extLst>
          </p:cNvPr>
          <p:cNvSpPr txBox="1"/>
          <p:nvPr/>
        </p:nvSpPr>
        <p:spPr>
          <a:xfrm>
            <a:off x="2271020" y="2421027"/>
            <a:ext cx="223138" cy="184666"/>
          </a:xfrm>
          <a:prstGeom prst="rect">
            <a:avLst/>
          </a:prstGeom>
          <a:noFill/>
        </p:spPr>
        <p:txBody>
          <a:bodyPr wrap="none" rtlCol="0">
            <a:spAutoFit/>
          </a:bodyPr>
          <a:lstStyle/>
          <a:p>
            <a:r>
              <a:rPr lang="en-US" sz="600" dirty="0"/>
              <a:t>1</a:t>
            </a:r>
          </a:p>
        </p:txBody>
      </p:sp>
      <p:sp>
        <p:nvSpPr>
          <p:cNvPr id="70" name="TextBox 69">
            <a:extLst>
              <a:ext uri="{FF2B5EF4-FFF2-40B4-BE49-F238E27FC236}">
                <a16:creationId xmlns:a16="http://schemas.microsoft.com/office/drawing/2014/main" id="{AFBFD618-C060-1341-6004-4FD4864D52D6}"/>
              </a:ext>
            </a:extLst>
          </p:cNvPr>
          <p:cNvSpPr txBox="1"/>
          <p:nvPr/>
        </p:nvSpPr>
        <p:spPr>
          <a:xfrm>
            <a:off x="2268217" y="2692798"/>
            <a:ext cx="223138" cy="184666"/>
          </a:xfrm>
          <a:prstGeom prst="rect">
            <a:avLst/>
          </a:prstGeom>
          <a:noFill/>
        </p:spPr>
        <p:txBody>
          <a:bodyPr wrap="none" rtlCol="0">
            <a:spAutoFit/>
          </a:bodyPr>
          <a:lstStyle/>
          <a:p>
            <a:r>
              <a:rPr lang="en-US" sz="600" dirty="0"/>
              <a:t>2</a:t>
            </a:r>
          </a:p>
        </p:txBody>
      </p:sp>
      <p:sp>
        <p:nvSpPr>
          <p:cNvPr id="71" name="TextBox 70">
            <a:extLst>
              <a:ext uri="{FF2B5EF4-FFF2-40B4-BE49-F238E27FC236}">
                <a16:creationId xmlns:a16="http://schemas.microsoft.com/office/drawing/2014/main" id="{2563921B-98A6-41AA-FA68-97AF678F8971}"/>
              </a:ext>
            </a:extLst>
          </p:cNvPr>
          <p:cNvSpPr txBox="1"/>
          <p:nvPr/>
        </p:nvSpPr>
        <p:spPr>
          <a:xfrm>
            <a:off x="1797805" y="1846247"/>
            <a:ext cx="223138" cy="184666"/>
          </a:xfrm>
          <a:prstGeom prst="rect">
            <a:avLst/>
          </a:prstGeom>
          <a:noFill/>
        </p:spPr>
        <p:txBody>
          <a:bodyPr wrap="none" rtlCol="0">
            <a:spAutoFit/>
          </a:bodyPr>
          <a:lstStyle/>
          <a:p>
            <a:r>
              <a:rPr lang="en-US" sz="600" dirty="0"/>
              <a:t>6</a:t>
            </a:r>
          </a:p>
        </p:txBody>
      </p:sp>
      <p:sp>
        <p:nvSpPr>
          <p:cNvPr id="72" name="TextBox 71">
            <a:extLst>
              <a:ext uri="{FF2B5EF4-FFF2-40B4-BE49-F238E27FC236}">
                <a16:creationId xmlns:a16="http://schemas.microsoft.com/office/drawing/2014/main" id="{1FECCEC5-A644-F2B7-B9DB-14215DB54C17}"/>
              </a:ext>
            </a:extLst>
          </p:cNvPr>
          <p:cNvSpPr txBox="1"/>
          <p:nvPr/>
        </p:nvSpPr>
        <p:spPr>
          <a:xfrm>
            <a:off x="1422208" y="1846247"/>
            <a:ext cx="223138" cy="184666"/>
          </a:xfrm>
          <a:prstGeom prst="rect">
            <a:avLst/>
          </a:prstGeom>
          <a:noFill/>
        </p:spPr>
        <p:txBody>
          <a:bodyPr wrap="none" rtlCol="0">
            <a:spAutoFit/>
          </a:bodyPr>
          <a:lstStyle/>
          <a:p>
            <a:r>
              <a:rPr lang="en-US" sz="600" dirty="0"/>
              <a:t>5</a:t>
            </a:r>
          </a:p>
        </p:txBody>
      </p:sp>
    </p:spTree>
    <p:extLst>
      <p:ext uri="{BB962C8B-B14F-4D97-AF65-F5344CB8AC3E}">
        <p14:creationId xmlns:p14="http://schemas.microsoft.com/office/powerpoint/2010/main" val="39949986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D7ED2-3458-F180-41F1-5F9180E04F1D}"/>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29101B4-5A5D-F8A6-3EB5-E405CC3AA2F8}"/>
              </a:ext>
            </a:extLst>
          </p:cNvPr>
          <p:cNvSpPr/>
          <p:nvPr/>
        </p:nvSpPr>
        <p:spPr>
          <a:xfrm>
            <a:off x="6474495" y="4484506"/>
            <a:ext cx="122180" cy="140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EDC09F3-5F68-C09B-6131-7E602459EDD1}"/>
              </a:ext>
            </a:extLst>
          </p:cNvPr>
          <p:cNvSpPr/>
          <p:nvPr/>
        </p:nvSpPr>
        <p:spPr>
          <a:xfrm>
            <a:off x="6474495" y="4671969"/>
            <a:ext cx="122180" cy="140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595E179-1041-D350-B3D2-64A61DBED0BD}"/>
              </a:ext>
            </a:extLst>
          </p:cNvPr>
          <p:cNvSpPr/>
          <p:nvPr/>
        </p:nvSpPr>
        <p:spPr>
          <a:xfrm>
            <a:off x="6474495" y="4859432"/>
            <a:ext cx="122180" cy="140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49678EF-476F-7EF5-8AF3-FA55FA71D40F}"/>
              </a:ext>
            </a:extLst>
          </p:cNvPr>
          <p:cNvSpPr/>
          <p:nvPr/>
        </p:nvSpPr>
        <p:spPr>
          <a:xfrm>
            <a:off x="6474495" y="5046894"/>
            <a:ext cx="122180" cy="140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B39404D8-63DE-9ED2-6E73-6C7AA2C6456F}"/>
              </a:ext>
            </a:extLst>
          </p:cNvPr>
          <p:cNvSpPr>
            <a:spLocks noGrp="1"/>
          </p:cNvSpPr>
          <p:nvPr>
            <p:ph type="ctrTitle"/>
          </p:nvPr>
        </p:nvSpPr>
        <p:spPr>
          <a:xfrm>
            <a:off x="914400" y="457200"/>
            <a:ext cx="4883812" cy="457200"/>
          </a:xfrm>
        </p:spPr>
        <p:txBody>
          <a:bodyPr/>
          <a:lstStyle/>
          <a:p>
            <a:r>
              <a:rPr lang="en-US" dirty="0"/>
              <a:t>Output H Register to Data Bus (v2.0)</a:t>
            </a:r>
          </a:p>
        </p:txBody>
      </p:sp>
      <p:pic>
        <p:nvPicPr>
          <p:cNvPr id="6" name="Picture 5" descr="Shape&#10;&#10;Description automatically generated with medium confidence">
            <a:extLst>
              <a:ext uri="{FF2B5EF4-FFF2-40B4-BE49-F238E27FC236}">
                <a16:creationId xmlns:a16="http://schemas.microsoft.com/office/drawing/2014/main" id="{4EEB5188-AABE-0BF6-0129-74A182FD0F1E}"/>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45226" r="11520"/>
          <a:stretch/>
        </p:blipFill>
        <p:spPr>
          <a:xfrm>
            <a:off x="3698505" y="5467143"/>
            <a:ext cx="904875" cy="522996"/>
          </a:xfrm>
          <a:prstGeom prst="rect">
            <a:avLst/>
          </a:prstGeom>
        </p:spPr>
      </p:pic>
      <p:grpSp>
        <p:nvGrpSpPr>
          <p:cNvPr id="11" name="Group 10">
            <a:extLst>
              <a:ext uri="{FF2B5EF4-FFF2-40B4-BE49-F238E27FC236}">
                <a16:creationId xmlns:a16="http://schemas.microsoft.com/office/drawing/2014/main" id="{9EF12222-812C-49F8-BC90-0887F0DDA6E1}"/>
              </a:ext>
            </a:extLst>
          </p:cNvPr>
          <p:cNvGrpSpPr/>
          <p:nvPr/>
        </p:nvGrpSpPr>
        <p:grpSpPr>
          <a:xfrm>
            <a:off x="5626727" y="1036278"/>
            <a:ext cx="3749888" cy="4917351"/>
            <a:chOff x="5626727" y="1036277"/>
            <a:chExt cx="3749888" cy="4917351"/>
          </a:xfrm>
        </p:grpSpPr>
        <p:pic>
          <p:nvPicPr>
            <p:cNvPr id="10" name="Picture 2" descr="74HC245 Octal Bus Transceiver Pinout, Examples, Datasheet, Applications">
              <a:extLst>
                <a:ext uri="{FF2B5EF4-FFF2-40B4-BE49-F238E27FC236}">
                  <a16:creationId xmlns:a16="http://schemas.microsoft.com/office/drawing/2014/main" id="{F2A89523-5313-86D3-CBCD-2680E386FB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6728" y="3648652"/>
              <a:ext cx="3749887" cy="230497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74HC245 Octal Bus Transceiver Pinout, Examples, Datasheet, Applications">
              <a:extLst>
                <a:ext uri="{FF2B5EF4-FFF2-40B4-BE49-F238E27FC236}">
                  <a16:creationId xmlns:a16="http://schemas.microsoft.com/office/drawing/2014/main" id="{7ACE41B8-B3E4-64AF-9BA2-5C1F8D2263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6727" y="1036277"/>
              <a:ext cx="3749887" cy="230497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757B524-0873-BD1F-F94F-C193B6A71005}"/>
                </a:ext>
              </a:extLst>
            </p:cNvPr>
            <p:cNvSpPr txBox="1"/>
            <p:nvPr/>
          </p:nvSpPr>
          <p:spPr>
            <a:xfrm>
              <a:off x="7184571" y="1621310"/>
              <a:ext cx="997388" cy="646331"/>
            </a:xfrm>
            <a:prstGeom prst="rect">
              <a:avLst/>
            </a:prstGeom>
            <a:noFill/>
          </p:spPr>
          <p:txBody>
            <a:bodyPr wrap="none" rtlCol="0">
              <a:spAutoFit/>
            </a:bodyPr>
            <a:lstStyle/>
            <a:p>
              <a:pPr algn="ctr"/>
              <a:r>
                <a:rPr lang="en-US">
                  <a:solidFill>
                    <a:srgbClr val="0070C0"/>
                  </a:solidFill>
                </a:rPr>
                <a:t>HC245</a:t>
              </a:r>
            </a:p>
            <a:p>
              <a:pPr algn="ctr"/>
              <a:r>
                <a:rPr lang="en-US">
                  <a:solidFill>
                    <a:srgbClr val="0070C0"/>
                  </a:solidFill>
                </a:rPr>
                <a:t>H </a:t>
              </a:r>
              <a:r>
                <a:rPr lang="en-US">
                  <a:solidFill>
                    <a:srgbClr val="0070C0"/>
                  </a:solidFill>
                  <a:sym typeface="Wingdings" panose="05000000000000000000" pitchFamily="2" charset="2"/>
                </a:rPr>
                <a:t> Bus</a:t>
              </a:r>
              <a:endParaRPr lang="en-US">
                <a:solidFill>
                  <a:srgbClr val="0070C0"/>
                </a:solidFill>
              </a:endParaRPr>
            </a:p>
          </p:txBody>
        </p:sp>
        <p:sp>
          <p:nvSpPr>
            <p:cNvPr id="12" name="TextBox 11">
              <a:extLst>
                <a:ext uri="{FF2B5EF4-FFF2-40B4-BE49-F238E27FC236}">
                  <a16:creationId xmlns:a16="http://schemas.microsoft.com/office/drawing/2014/main" id="{11D69C58-AF0F-B149-E498-6335B1FBB1AE}"/>
                </a:ext>
              </a:extLst>
            </p:cNvPr>
            <p:cNvSpPr txBox="1"/>
            <p:nvPr/>
          </p:nvSpPr>
          <p:spPr>
            <a:xfrm>
              <a:off x="7102513" y="4243373"/>
              <a:ext cx="1114408" cy="646331"/>
            </a:xfrm>
            <a:prstGeom prst="rect">
              <a:avLst/>
            </a:prstGeom>
            <a:noFill/>
          </p:spPr>
          <p:txBody>
            <a:bodyPr wrap="none" rtlCol="0">
              <a:spAutoFit/>
            </a:bodyPr>
            <a:lstStyle/>
            <a:p>
              <a:pPr algn="ctr"/>
              <a:r>
                <a:rPr lang="en-US" dirty="0">
                  <a:solidFill>
                    <a:srgbClr val="0070C0"/>
                  </a:solidFill>
                </a:rPr>
                <a:t>HC245</a:t>
              </a:r>
            </a:p>
            <a:p>
              <a:pPr algn="ctr"/>
              <a:r>
                <a:rPr lang="en-US" dirty="0">
                  <a:solidFill>
                    <a:srgbClr val="0070C0"/>
                  </a:solidFill>
                </a:rPr>
                <a:t>H4 </a:t>
              </a:r>
              <a:r>
                <a:rPr lang="en-US" dirty="0">
                  <a:solidFill>
                    <a:srgbClr val="0070C0"/>
                  </a:solidFill>
                  <a:sym typeface="Wingdings" panose="05000000000000000000" pitchFamily="2" charset="2"/>
                </a:rPr>
                <a:t> Bus</a:t>
              </a:r>
              <a:endParaRPr lang="en-US" dirty="0">
                <a:solidFill>
                  <a:srgbClr val="0070C0"/>
                </a:solidFill>
              </a:endParaRPr>
            </a:p>
          </p:txBody>
        </p:sp>
      </p:grpSp>
      <p:pic>
        <p:nvPicPr>
          <p:cNvPr id="24" name="Picture 23" descr="Shape&#10;&#10;Description automatically generated with medium confidence">
            <a:extLst>
              <a:ext uri="{FF2B5EF4-FFF2-40B4-BE49-F238E27FC236}">
                <a16:creationId xmlns:a16="http://schemas.microsoft.com/office/drawing/2014/main" id="{39300030-5D4C-E801-FDB8-CDCE43A5DD1A}"/>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0289" r="54774"/>
          <a:stretch/>
        </p:blipFill>
        <p:spPr>
          <a:xfrm>
            <a:off x="4551764" y="5364047"/>
            <a:ext cx="730861" cy="522996"/>
          </a:xfrm>
          <a:prstGeom prst="rect">
            <a:avLst/>
          </a:prstGeom>
        </p:spPr>
      </p:pic>
      <p:cxnSp>
        <p:nvCxnSpPr>
          <p:cNvPr id="25" name="Straight Connector 24">
            <a:extLst>
              <a:ext uri="{FF2B5EF4-FFF2-40B4-BE49-F238E27FC236}">
                <a16:creationId xmlns:a16="http://schemas.microsoft.com/office/drawing/2014/main" id="{82ACE6E4-48C4-A92B-1055-C24018355995}"/>
              </a:ext>
            </a:extLst>
          </p:cNvPr>
          <p:cNvCxnSpPr>
            <a:cxnSpLocks/>
          </p:cNvCxnSpPr>
          <p:nvPr/>
        </p:nvCxnSpPr>
        <p:spPr>
          <a:xfrm flipV="1">
            <a:off x="5177111" y="5619260"/>
            <a:ext cx="1848916" cy="0"/>
          </a:xfrm>
          <a:prstGeom prst="line">
            <a:avLst/>
          </a:prstGeom>
        </p:spPr>
        <p:style>
          <a:lnRef idx="1">
            <a:schemeClr val="accent1"/>
          </a:lnRef>
          <a:fillRef idx="0">
            <a:schemeClr val="accent1"/>
          </a:fillRef>
          <a:effectRef idx="0">
            <a:schemeClr val="accent1"/>
          </a:effectRef>
          <a:fontRef idx="minor">
            <a:schemeClr val="tx1"/>
          </a:fontRef>
        </p:style>
      </p:cxnSp>
      <p:pic>
        <p:nvPicPr>
          <p:cNvPr id="27" name="Picture 26" descr="Shape&#10;&#10;Description automatically generated with medium confidence">
            <a:extLst>
              <a:ext uri="{FF2B5EF4-FFF2-40B4-BE49-F238E27FC236}">
                <a16:creationId xmlns:a16="http://schemas.microsoft.com/office/drawing/2014/main" id="{64EB354C-C9DB-5CE6-0617-961E56A82ACB}"/>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0289" r="54774"/>
          <a:stretch/>
        </p:blipFill>
        <p:spPr>
          <a:xfrm>
            <a:off x="4551764" y="2765427"/>
            <a:ext cx="730861" cy="522996"/>
          </a:xfrm>
          <a:prstGeom prst="rect">
            <a:avLst/>
          </a:prstGeom>
        </p:spPr>
      </p:pic>
      <p:cxnSp>
        <p:nvCxnSpPr>
          <p:cNvPr id="28" name="Straight Connector 27">
            <a:extLst>
              <a:ext uri="{FF2B5EF4-FFF2-40B4-BE49-F238E27FC236}">
                <a16:creationId xmlns:a16="http://schemas.microsoft.com/office/drawing/2014/main" id="{D8554075-85E7-54D0-F272-D81CEBE09C98}"/>
              </a:ext>
            </a:extLst>
          </p:cNvPr>
          <p:cNvCxnSpPr>
            <a:cxnSpLocks/>
          </p:cNvCxnSpPr>
          <p:nvPr/>
        </p:nvCxnSpPr>
        <p:spPr>
          <a:xfrm flipV="1">
            <a:off x="5181019" y="3020640"/>
            <a:ext cx="18489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DE4FDDA9-B287-8428-FEDA-416C9FB00AE0}"/>
              </a:ext>
            </a:extLst>
          </p:cNvPr>
          <p:cNvCxnSpPr>
            <a:cxnSpLocks/>
          </p:cNvCxnSpPr>
          <p:nvPr/>
        </p:nvCxnSpPr>
        <p:spPr>
          <a:xfrm>
            <a:off x="2610089" y="2559119"/>
            <a:ext cx="2026564" cy="354700"/>
          </a:xfrm>
          <a:prstGeom prst="bentConnector3">
            <a:avLst>
              <a:gd name="adj1" fmla="val 89828"/>
            </a:avLst>
          </a:prstGeom>
        </p:spPr>
        <p:style>
          <a:lnRef idx="3">
            <a:schemeClr val="accent1"/>
          </a:lnRef>
          <a:fillRef idx="0">
            <a:schemeClr val="accent1"/>
          </a:fillRef>
          <a:effectRef idx="2">
            <a:schemeClr val="accent1"/>
          </a:effectRef>
          <a:fontRef idx="minor">
            <a:schemeClr val="tx1"/>
          </a:fontRef>
        </p:style>
      </p:cxnSp>
      <p:cxnSp>
        <p:nvCxnSpPr>
          <p:cNvPr id="1025" name="Connector: Elbow 1024">
            <a:extLst>
              <a:ext uri="{FF2B5EF4-FFF2-40B4-BE49-F238E27FC236}">
                <a16:creationId xmlns:a16="http://schemas.microsoft.com/office/drawing/2014/main" id="{DB584952-20AD-3640-8A8E-9763A2A6091B}"/>
              </a:ext>
            </a:extLst>
          </p:cNvPr>
          <p:cNvCxnSpPr>
            <a:cxnSpLocks/>
          </p:cNvCxnSpPr>
          <p:nvPr/>
        </p:nvCxnSpPr>
        <p:spPr>
          <a:xfrm rot="16200000" flipH="1">
            <a:off x="3185825" y="4158007"/>
            <a:ext cx="2610127" cy="121755"/>
          </a:xfrm>
          <a:prstGeom prst="bentConnector3">
            <a:avLst>
              <a:gd name="adj1" fmla="val 99711"/>
            </a:avLst>
          </a:prstGeom>
        </p:spPr>
        <p:style>
          <a:lnRef idx="3">
            <a:schemeClr val="accent1"/>
          </a:lnRef>
          <a:fillRef idx="0">
            <a:schemeClr val="accent1"/>
          </a:fillRef>
          <a:effectRef idx="2">
            <a:schemeClr val="accent1"/>
          </a:effectRef>
          <a:fontRef idx="minor">
            <a:schemeClr val="tx1"/>
          </a:fontRef>
        </p:style>
      </p:cxnSp>
      <p:cxnSp>
        <p:nvCxnSpPr>
          <p:cNvPr id="1028" name="Connector: Elbow 1027">
            <a:extLst>
              <a:ext uri="{FF2B5EF4-FFF2-40B4-BE49-F238E27FC236}">
                <a16:creationId xmlns:a16="http://schemas.microsoft.com/office/drawing/2014/main" id="{22D6AE6C-9A5C-366C-C077-6626BB7ADA1F}"/>
              </a:ext>
            </a:extLst>
          </p:cNvPr>
          <p:cNvCxnSpPr>
            <a:cxnSpLocks/>
            <a:stCxn id="48" idx="3"/>
            <a:endCxn id="6" idx="1"/>
          </p:cNvCxnSpPr>
          <p:nvPr/>
        </p:nvCxnSpPr>
        <p:spPr>
          <a:xfrm>
            <a:off x="2746546" y="3518189"/>
            <a:ext cx="951959" cy="2210452"/>
          </a:xfrm>
          <a:prstGeom prst="bentConnector3">
            <a:avLst>
              <a:gd name="adj1" fmla="val 50000"/>
            </a:avLst>
          </a:prstGeom>
        </p:spPr>
        <p:style>
          <a:lnRef idx="3">
            <a:schemeClr val="accent1"/>
          </a:lnRef>
          <a:fillRef idx="0">
            <a:schemeClr val="accent1"/>
          </a:fillRef>
          <a:effectRef idx="2">
            <a:schemeClr val="accent1"/>
          </a:effectRef>
          <a:fontRef idx="minor">
            <a:schemeClr val="tx1"/>
          </a:fontRef>
        </p:style>
      </p:cxnSp>
      <p:cxnSp>
        <p:nvCxnSpPr>
          <p:cNvPr id="50" name="Connector: Elbow 49">
            <a:extLst>
              <a:ext uri="{FF2B5EF4-FFF2-40B4-BE49-F238E27FC236}">
                <a16:creationId xmlns:a16="http://schemas.microsoft.com/office/drawing/2014/main" id="{29BEA2FB-6E86-96A5-CCF0-6E182B73DF70}"/>
              </a:ext>
            </a:extLst>
          </p:cNvPr>
          <p:cNvCxnSpPr>
            <a:cxnSpLocks/>
            <a:stCxn id="14" idx="3"/>
          </p:cNvCxnSpPr>
          <p:nvPr/>
        </p:nvCxnSpPr>
        <p:spPr>
          <a:xfrm flipV="1">
            <a:off x="1818964" y="3648653"/>
            <a:ext cx="314854" cy="44084"/>
          </a:xfrm>
          <a:prstGeom prst="bentConnector3">
            <a:avLst>
              <a:gd name="adj1" fmla="val 50000"/>
            </a:avLst>
          </a:prstGeom>
        </p:spPr>
        <p:style>
          <a:lnRef idx="3">
            <a:schemeClr val="accent1"/>
          </a:lnRef>
          <a:fillRef idx="0">
            <a:schemeClr val="accent1"/>
          </a:fillRef>
          <a:effectRef idx="2">
            <a:schemeClr val="accent1"/>
          </a:effectRef>
          <a:fontRef idx="minor">
            <a:schemeClr val="tx1"/>
          </a:fontRef>
        </p:style>
      </p:cxnSp>
      <p:sp>
        <p:nvSpPr>
          <p:cNvPr id="1040" name="Rectangle 1039">
            <a:extLst>
              <a:ext uri="{FF2B5EF4-FFF2-40B4-BE49-F238E27FC236}">
                <a16:creationId xmlns:a16="http://schemas.microsoft.com/office/drawing/2014/main" id="{2841A85E-F5CF-E8B7-570D-44B487218B81}"/>
              </a:ext>
            </a:extLst>
          </p:cNvPr>
          <p:cNvSpPr/>
          <p:nvPr/>
        </p:nvSpPr>
        <p:spPr>
          <a:xfrm>
            <a:off x="9720718" y="1034541"/>
            <a:ext cx="282975" cy="5624169"/>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t>Data </a:t>
            </a:r>
          </a:p>
          <a:p>
            <a:pPr algn="ctr"/>
            <a:endParaRPr lang="en-US"/>
          </a:p>
          <a:p>
            <a:pPr algn="ctr"/>
            <a:r>
              <a:rPr lang="en-US"/>
              <a:t>  Bus </a:t>
            </a:r>
          </a:p>
        </p:txBody>
      </p:sp>
      <p:sp>
        <p:nvSpPr>
          <p:cNvPr id="1041" name="Arrow: Right 1040">
            <a:extLst>
              <a:ext uri="{FF2B5EF4-FFF2-40B4-BE49-F238E27FC236}">
                <a16:creationId xmlns:a16="http://schemas.microsoft.com/office/drawing/2014/main" id="{C04458A3-C60F-447A-76B5-6854263588A9}"/>
              </a:ext>
            </a:extLst>
          </p:cNvPr>
          <p:cNvSpPr/>
          <p:nvPr/>
        </p:nvSpPr>
        <p:spPr>
          <a:xfrm>
            <a:off x="9175262" y="1742831"/>
            <a:ext cx="545455" cy="369332"/>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5" name="Arrow: Right 54">
            <a:extLst>
              <a:ext uri="{FF2B5EF4-FFF2-40B4-BE49-F238E27FC236}">
                <a16:creationId xmlns:a16="http://schemas.microsoft.com/office/drawing/2014/main" id="{AE79A488-0B4F-FC1B-4A7D-E1D7F59C3FB8}"/>
              </a:ext>
            </a:extLst>
          </p:cNvPr>
          <p:cNvSpPr/>
          <p:nvPr/>
        </p:nvSpPr>
        <p:spPr>
          <a:xfrm>
            <a:off x="9171355" y="4286741"/>
            <a:ext cx="545455" cy="369332"/>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042" name="TextBox 1041">
            <a:extLst>
              <a:ext uri="{FF2B5EF4-FFF2-40B4-BE49-F238E27FC236}">
                <a16:creationId xmlns:a16="http://schemas.microsoft.com/office/drawing/2014/main" id="{306EC84F-1758-B484-9AA9-B4A5360E37CD}"/>
              </a:ext>
            </a:extLst>
          </p:cNvPr>
          <p:cNvSpPr txBox="1"/>
          <p:nvPr/>
        </p:nvSpPr>
        <p:spPr>
          <a:xfrm>
            <a:off x="2024647" y="5957291"/>
            <a:ext cx="6160148" cy="738664"/>
          </a:xfrm>
          <a:prstGeom prst="rect">
            <a:avLst/>
          </a:prstGeom>
          <a:solidFill>
            <a:srgbClr val="FFFFCC"/>
          </a:solidFill>
        </p:spPr>
        <p:txBody>
          <a:bodyPr wrap="none" rtlCol="0">
            <a:spAutoFit/>
          </a:bodyPr>
          <a:lstStyle/>
          <a:p>
            <a:r>
              <a:rPr lang="en-US" sz="1400" dirty="0"/>
              <a:t>If opcode is 00110 or 10011, then 4-bit immediate from high instruction register</a:t>
            </a:r>
          </a:p>
          <a:p>
            <a:r>
              <a:rPr lang="en-US" sz="1400" dirty="0"/>
              <a:t>is written to the bus; otherwise, the full 8-bit high instruction register is written to</a:t>
            </a:r>
          </a:p>
          <a:p>
            <a:r>
              <a:rPr lang="en-US" sz="1400" dirty="0"/>
              <a:t>bus as an 8-bit immediate</a:t>
            </a:r>
          </a:p>
        </p:txBody>
      </p:sp>
      <p:grpSp>
        <p:nvGrpSpPr>
          <p:cNvPr id="2" name="Group 1">
            <a:extLst>
              <a:ext uri="{FF2B5EF4-FFF2-40B4-BE49-F238E27FC236}">
                <a16:creationId xmlns:a16="http://schemas.microsoft.com/office/drawing/2014/main" id="{8D9C5066-A309-4A9D-AE27-4BBFA92A4E3B}"/>
              </a:ext>
            </a:extLst>
          </p:cNvPr>
          <p:cNvGrpSpPr/>
          <p:nvPr/>
        </p:nvGrpSpPr>
        <p:grpSpPr>
          <a:xfrm>
            <a:off x="773485" y="3538848"/>
            <a:ext cx="1045479" cy="307777"/>
            <a:chOff x="1992327" y="3559447"/>
            <a:chExt cx="1045479" cy="307778"/>
          </a:xfrm>
        </p:grpSpPr>
        <p:sp>
          <p:nvSpPr>
            <p:cNvPr id="14" name="TextBox 13">
              <a:hlinkClick r:id="rId5" action="ppaction://hlinksldjump"/>
              <a:extLst>
                <a:ext uri="{FF2B5EF4-FFF2-40B4-BE49-F238E27FC236}">
                  <a16:creationId xmlns:a16="http://schemas.microsoft.com/office/drawing/2014/main" id="{E688FCDF-F808-5C9D-ED46-82FEEB398184}"/>
                </a:ext>
              </a:extLst>
            </p:cNvPr>
            <p:cNvSpPr txBox="1"/>
            <p:nvPr/>
          </p:nvSpPr>
          <p:spPr>
            <a:xfrm>
              <a:off x="1992327" y="3559447"/>
              <a:ext cx="1045479" cy="307778"/>
            </a:xfrm>
            <a:prstGeom prst="rect">
              <a:avLst/>
            </a:prstGeom>
            <a:noFill/>
            <a:ln>
              <a:solidFill>
                <a:schemeClr val="accent1"/>
              </a:solidFill>
            </a:ln>
          </p:spPr>
          <p:txBody>
            <a:bodyPr wrap="none" rtlCol="0">
              <a:spAutoFit/>
            </a:bodyPr>
            <a:lstStyle/>
            <a:p>
              <a:r>
                <a:rPr lang="en-US" sz="1400" dirty="0"/>
                <a:t>OpCode_13</a:t>
              </a:r>
            </a:p>
          </p:txBody>
        </p:sp>
        <p:cxnSp>
          <p:nvCxnSpPr>
            <p:cNvPr id="5" name="Straight Connector 4">
              <a:extLst>
                <a:ext uri="{FF2B5EF4-FFF2-40B4-BE49-F238E27FC236}">
                  <a16:creationId xmlns:a16="http://schemas.microsoft.com/office/drawing/2014/main" id="{CD5A8595-7328-D1BC-8D1E-56439D322C40}"/>
                </a:ext>
              </a:extLst>
            </p:cNvPr>
            <p:cNvCxnSpPr>
              <a:cxnSpLocks/>
            </p:cNvCxnSpPr>
            <p:nvPr/>
          </p:nvCxnSpPr>
          <p:spPr>
            <a:xfrm>
              <a:off x="2133242" y="3628301"/>
              <a:ext cx="731520"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31" name="Straight Connector 30">
            <a:extLst>
              <a:ext uri="{FF2B5EF4-FFF2-40B4-BE49-F238E27FC236}">
                <a16:creationId xmlns:a16="http://schemas.microsoft.com/office/drawing/2014/main" id="{E9584C77-FEDC-DFDA-48E7-0ACB275E4D73}"/>
              </a:ext>
            </a:extLst>
          </p:cNvPr>
          <p:cNvCxnSpPr>
            <a:cxnSpLocks/>
          </p:cNvCxnSpPr>
          <p:nvPr/>
        </p:nvCxnSpPr>
        <p:spPr>
          <a:xfrm>
            <a:off x="5676032" y="2928567"/>
            <a:ext cx="84767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468E2A3C-7AFB-B256-71D6-FD2988C2CD4B}"/>
              </a:ext>
            </a:extLst>
          </p:cNvPr>
          <p:cNvCxnSpPr>
            <a:cxnSpLocks/>
          </p:cNvCxnSpPr>
          <p:nvPr/>
        </p:nvCxnSpPr>
        <p:spPr>
          <a:xfrm>
            <a:off x="5705528" y="5556915"/>
            <a:ext cx="847673" cy="0"/>
          </a:xfrm>
          <a:prstGeom prst="line">
            <a:avLst/>
          </a:prstGeom>
        </p:spPr>
        <p:style>
          <a:lnRef idx="1">
            <a:schemeClr val="accent1"/>
          </a:lnRef>
          <a:fillRef idx="0">
            <a:schemeClr val="accent1"/>
          </a:fillRef>
          <a:effectRef idx="0">
            <a:schemeClr val="accent1"/>
          </a:effectRef>
          <a:fontRef idx="minor">
            <a:schemeClr val="tx1"/>
          </a:fontRef>
        </p:style>
      </p:cxnSp>
      <p:sp>
        <p:nvSpPr>
          <p:cNvPr id="30" name="Rectangle 29">
            <a:hlinkClick r:id="rId6" action="ppaction://hlinksldjump"/>
            <a:extLst>
              <a:ext uri="{FF2B5EF4-FFF2-40B4-BE49-F238E27FC236}">
                <a16:creationId xmlns:a16="http://schemas.microsoft.com/office/drawing/2014/main" id="{C7F759C1-C6C3-9B26-DA5C-81EBACC6428A}"/>
              </a:ext>
            </a:extLst>
          </p:cNvPr>
          <p:cNvSpPr/>
          <p:nvPr/>
        </p:nvSpPr>
        <p:spPr>
          <a:xfrm>
            <a:off x="1344813" y="245937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400"/>
              <a:t>µC 6: Out Reg H</a:t>
            </a:r>
          </a:p>
        </p:txBody>
      </p:sp>
      <p:sp>
        <p:nvSpPr>
          <p:cNvPr id="32" name="Arrow: Right 31">
            <a:hlinkClick r:id="rId7" action="ppaction://hlinksldjump"/>
            <a:extLst>
              <a:ext uri="{FF2B5EF4-FFF2-40B4-BE49-F238E27FC236}">
                <a16:creationId xmlns:a16="http://schemas.microsoft.com/office/drawing/2014/main" id="{EE277231-E5E1-7EC6-242B-79F5AB4DE23E}"/>
              </a:ext>
            </a:extLst>
          </p:cNvPr>
          <p:cNvSpPr/>
          <p:nvPr/>
        </p:nvSpPr>
        <p:spPr>
          <a:xfrm>
            <a:off x="5066692" y="1499132"/>
            <a:ext cx="731520" cy="731520"/>
          </a:xfrm>
          <a:prstGeom prst="rightArrow">
            <a:avLst/>
          </a:prstGeom>
          <a:solidFill>
            <a:schemeClr val="accent2">
              <a:lumMod val="60000"/>
              <a:lumOff val="4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400"/>
              <a:t>H Reg</a:t>
            </a:r>
          </a:p>
          <a:p>
            <a:pPr algn="ctr"/>
            <a:r>
              <a:rPr lang="en-US" sz="1400"/>
              <a:t>8 bits</a:t>
            </a:r>
          </a:p>
        </p:txBody>
      </p:sp>
      <p:pic>
        <p:nvPicPr>
          <p:cNvPr id="4" name="Picture 3">
            <a:hlinkClick r:id="rId8" action="ppaction://hlinksldjump"/>
            <a:extLst>
              <a:ext uri="{FF2B5EF4-FFF2-40B4-BE49-F238E27FC236}">
                <a16:creationId xmlns:a16="http://schemas.microsoft.com/office/drawing/2014/main" id="{4E66E9E3-5558-8F04-F09A-E42EC2C36ECB}"/>
              </a:ext>
            </a:extLst>
          </p:cNvPr>
          <p:cNvPicPr>
            <a:picLocks noChangeAspect="1"/>
          </p:cNvPicPr>
          <p:nvPr/>
        </p:nvPicPr>
        <p:blipFill>
          <a:blip r:embed="rId9"/>
          <a:stretch>
            <a:fillRect/>
          </a:stretch>
        </p:blipFill>
        <p:spPr>
          <a:xfrm>
            <a:off x="11038384" y="6427540"/>
            <a:ext cx="1076851" cy="222744"/>
          </a:xfrm>
          <a:prstGeom prst="rect">
            <a:avLst/>
          </a:prstGeom>
        </p:spPr>
      </p:pic>
      <p:sp>
        <p:nvSpPr>
          <p:cNvPr id="13" name="Slide Number Placeholder 4">
            <a:extLst>
              <a:ext uri="{FF2B5EF4-FFF2-40B4-BE49-F238E27FC236}">
                <a16:creationId xmlns:a16="http://schemas.microsoft.com/office/drawing/2014/main" id="{28D7A97B-FE32-E4F0-B183-1A9486B2D623}"/>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26</a:t>
            </a:fld>
            <a:endParaRPr lang="en-US" b="1">
              <a:solidFill>
                <a:schemeClr val="bg1"/>
              </a:solidFill>
            </a:endParaRPr>
          </a:p>
        </p:txBody>
      </p:sp>
      <p:sp>
        <p:nvSpPr>
          <p:cNvPr id="3" name="Rectangle 2">
            <a:extLst>
              <a:ext uri="{FF2B5EF4-FFF2-40B4-BE49-F238E27FC236}">
                <a16:creationId xmlns:a16="http://schemas.microsoft.com/office/drawing/2014/main" id="{CEFBE42E-3C67-6001-D45A-352DFB288C11}"/>
              </a:ext>
            </a:extLst>
          </p:cNvPr>
          <p:cNvSpPr/>
          <p:nvPr/>
        </p:nvSpPr>
        <p:spPr>
          <a:xfrm rot="10800000">
            <a:off x="5107166" y="4485056"/>
            <a:ext cx="122180" cy="14035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0</a:t>
            </a:r>
          </a:p>
        </p:txBody>
      </p:sp>
      <p:cxnSp>
        <p:nvCxnSpPr>
          <p:cNvPr id="19" name="Connector: Elbow 18">
            <a:extLst>
              <a:ext uri="{FF2B5EF4-FFF2-40B4-BE49-F238E27FC236}">
                <a16:creationId xmlns:a16="http://schemas.microsoft.com/office/drawing/2014/main" id="{5F41CAFA-0C14-4202-E9E6-0FA599BFBC0A}"/>
              </a:ext>
            </a:extLst>
          </p:cNvPr>
          <p:cNvCxnSpPr>
            <a:cxnSpLocks/>
            <a:stCxn id="3" idx="1"/>
            <a:endCxn id="17" idx="1"/>
          </p:cNvCxnSpPr>
          <p:nvPr/>
        </p:nvCxnSpPr>
        <p:spPr>
          <a:xfrm>
            <a:off x="5229346" y="4555232"/>
            <a:ext cx="1245149" cy="56183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D8674894-5C5A-6CB9-BD83-AB0D3A7C09FE}"/>
              </a:ext>
            </a:extLst>
          </p:cNvPr>
          <p:cNvCxnSpPr>
            <a:cxnSpLocks/>
            <a:stCxn id="3" idx="1"/>
            <a:endCxn id="16" idx="1"/>
          </p:cNvCxnSpPr>
          <p:nvPr/>
        </p:nvCxnSpPr>
        <p:spPr>
          <a:xfrm>
            <a:off x="5229346" y="4555232"/>
            <a:ext cx="1245149" cy="37437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6CA1DD52-0D46-23D1-CE8F-7799FF2C4069}"/>
              </a:ext>
            </a:extLst>
          </p:cNvPr>
          <p:cNvCxnSpPr>
            <a:cxnSpLocks/>
            <a:stCxn id="3" idx="1"/>
            <a:endCxn id="15" idx="1"/>
          </p:cNvCxnSpPr>
          <p:nvPr/>
        </p:nvCxnSpPr>
        <p:spPr>
          <a:xfrm>
            <a:off x="5229346" y="4555232"/>
            <a:ext cx="1245149" cy="18691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3AA0DB77-CB95-8D64-F198-15DA6EB1EE7C}"/>
              </a:ext>
            </a:extLst>
          </p:cNvPr>
          <p:cNvCxnSpPr>
            <a:cxnSpLocks/>
            <a:stCxn id="3" idx="1"/>
            <a:endCxn id="7" idx="1"/>
          </p:cNvCxnSpPr>
          <p:nvPr/>
        </p:nvCxnSpPr>
        <p:spPr>
          <a:xfrm flipV="1">
            <a:off x="5229346" y="4554682"/>
            <a:ext cx="1245149" cy="55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195AB398-0737-B080-D8C6-40B8294EFB77}"/>
              </a:ext>
            </a:extLst>
          </p:cNvPr>
          <p:cNvGrpSpPr/>
          <p:nvPr/>
        </p:nvGrpSpPr>
        <p:grpSpPr>
          <a:xfrm>
            <a:off x="864857" y="3114372"/>
            <a:ext cx="954107" cy="307777"/>
            <a:chOff x="1992327" y="3559447"/>
            <a:chExt cx="954107" cy="307778"/>
          </a:xfrm>
        </p:grpSpPr>
        <p:sp>
          <p:nvSpPr>
            <p:cNvPr id="46" name="TextBox 45">
              <a:hlinkClick r:id="rId5" action="ppaction://hlinksldjump"/>
              <a:extLst>
                <a:ext uri="{FF2B5EF4-FFF2-40B4-BE49-F238E27FC236}">
                  <a16:creationId xmlns:a16="http://schemas.microsoft.com/office/drawing/2014/main" id="{6C1C011B-1E69-BEC3-DF1E-9E82916F002D}"/>
                </a:ext>
              </a:extLst>
            </p:cNvPr>
            <p:cNvSpPr txBox="1"/>
            <p:nvPr/>
          </p:nvSpPr>
          <p:spPr>
            <a:xfrm>
              <a:off x="1992327" y="3559447"/>
              <a:ext cx="954107" cy="307778"/>
            </a:xfrm>
            <a:prstGeom prst="rect">
              <a:avLst/>
            </a:prstGeom>
            <a:noFill/>
            <a:ln>
              <a:solidFill>
                <a:schemeClr val="accent1"/>
              </a:solidFill>
            </a:ln>
          </p:spPr>
          <p:txBody>
            <a:bodyPr wrap="none" rtlCol="0">
              <a:spAutoFit/>
            </a:bodyPr>
            <a:lstStyle/>
            <a:p>
              <a:r>
                <a:rPr lang="en-US" sz="1400" dirty="0"/>
                <a:t>OpCode_6</a:t>
              </a:r>
            </a:p>
          </p:txBody>
        </p:sp>
        <p:cxnSp>
          <p:nvCxnSpPr>
            <p:cNvPr id="47" name="Straight Connector 46">
              <a:extLst>
                <a:ext uri="{FF2B5EF4-FFF2-40B4-BE49-F238E27FC236}">
                  <a16:creationId xmlns:a16="http://schemas.microsoft.com/office/drawing/2014/main" id="{70235F82-F87C-AE57-6E9D-A03756857F50}"/>
                </a:ext>
              </a:extLst>
            </p:cNvPr>
            <p:cNvCxnSpPr>
              <a:cxnSpLocks/>
            </p:cNvCxnSpPr>
            <p:nvPr/>
          </p:nvCxnSpPr>
          <p:spPr>
            <a:xfrm>
              <a:off x="2080151" y="3626824"/>
              <a:ext cx="73152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48" name="Picture 47" descr="Diagram&#10;&#10;Description automatically generated with low confidence">
            <a:extLst>
              <a:ext uri="{FF2B5EF4-FFF2-40B4-BE49-F238E27FC236}">
                <a16:creationId xmlns:a16="http://schemas.microsoft.com/office/drawing/2014/main" id="{BF0A0D93-81B2-EBC4-73AE-8842D11E0DE8}"/>
              </a:ext>
            </a:extLst>
          </p:cNvPr>
          <p:cNvPicPr>
            <a:picLocks noChangeAspect="1"/>
          </p:cNvPicPr>
          <p:nvPr/>
        </p:nvPicPr>
        <p:blipFill rotWithShape="1">
          <a:blip r:embed="rId10">
            <a:extLst>
              <a:ext uri="{28A0092B-C50C-407E-A947-70E740481C1C}">
                <a14:useLocalDpi xmlns:a14="http://schemas.microsoft.com/office/drawing/2010/main" val="0"/>
              </a:ext>
              <a:ext uri="{837473B0-CC2E-450A-ABE3-18F120FF3D39}">
                <a1611:picAttrSrcUrl xmlns:a1611="http://schemas.microsoft.com/office/drawing/2016/11/main" r:id="rId11"/>
              </a:ext>
            </a:extLst>
          </a:blip>
          <a:srcRect l="50000" t="19257" r="4045" b="-1180"/>
          <a:stretch/>
        </p:blipFill>
        <p:spPr>
          <a:xfrm>
            <a:off x="2087259" y="3288423"/>
            <a:ext cx="659287" cy="459531"/>
          </a:xfrm>
          <a:prstGeom prst="rect">
            <a:avLst/>
          </a:prstGeom>
        </p:spPr>
      </p:pic>
      <p:cxnSp>
        <p:nvCxnSpPr>
          <p:cNvPr id="51" name="Connector: Elbow 50">
            <a:extLst>
              <a:ext uri="{FF2B5EF4-FFF2-40B4-BE49-F238E27FC236}">
                <a16:creationId xmlns:a16="http://schemas.microsoft.com/office/drawing/2014/main" id="{F546B39D-19B4-93CB-DBFE-A6C17B0626A0}"/>
              </a:ext>
            </a:extLst>
          </p:cNvPr>
          <p:cNvCxnSpPr>
            <a:cxnSpLocks/>
            <a:stCxn id="46" idx="3"/>
          </p:cNvCxnSpPr>
          <p:nvPr/>
        </p:nvCxnSpPr>
        <p:spPr>
          <a:xfrm>
            <a:off x="1818964" y="3268261"/>
            <a:ext cx="303853" cy="122956"/>
          </a:xfrm>
          <a:prstGeom prst="bentConnector3">
            <a:avLst>
              <a:gd name="adj1" fmla="val 50000"/>
            </a:avLst>
          </a:prstGeom>
        </p:spPr>
        <p:style>
          <a:lnRef idx="3">
            <a:schemeClr val="accent1"/>
          </a:lnRef>
          <a:fillRef idx="0">
            <a:schemeClr val="accent1"/>
          </a:fillRef>
          <a:effectRef idx="2">
            <a:schemeClr val="accent1"/>
          </a:effectRef>
          <a:fontRef idx="minor">
            <a:schemeClr val="tx1"/>
          </a:fontRef>
        </p:style>
      </p:cxnSp>
      <p:cxnSp>
        <p:nvCxnSpPr>
          <p:cNvPr id="57" name="Connector: Elbow 56">
            <a:extLst>
              <a:ext uri="{FF2B5EF4-FFF2-40B4-BE49-F238E27FC236}">
                <a16:creationId xmlns:a16="http://schemas.microsoft.com/office/drawing/2014/main" id="{DAB6B395-466B-3EEF-06BA-6B1A5D668386}"/>
              </a:ext>
            </a:extLst>
          </p:cNvPr>
          <p:cNvCxnSpPr>
            <a:cxnSpLocks/>
            <a:stCxn id="48" idx="3"/>
          </p:cNvCxnSpPr>
          <p:nvPr/>
        </p:nvCxnSpPr>
        <p:spPr>
          <a:xfrm flipV="1">
            <a:off x="2746546" y="3123737"/>
            <a:ext cx="1924291" cy="394452"/>
          </a:xfrm>
          <a:prstGeom prst="bentConnector3">
            <a:avLst>
              <a:gd name="adj1" fmla="val 50000"/>
            </a:avLst>
          </a:prstGeom>
        </p:spPr>
        <p:style>
          <a:lnRef idx="3">
            <a:schemeClr val="accent1"/>
          </a:lnRef>
          <a:fillRef idx="0">
            <a:schemeClr val="accent1"/>
          </a:fillRef>
          <a:effectRef idx="2">
            <a:schemeClr val="accent1"/>
          </a:effectRef>
          <a:fontRef idx="minor">
            <a:schemeClr val="tx1"/>
          </a:fontRef>
        </p:style>
      </p:cxnSp>
      <p:sp>
        <p:nvSpPr>
          <p:cNvPr id="18" name="Arrow: Right 17">
            <a:hlinkClick r:id="rId6" action="ppaction://hlinksldjump"/>
            <a:extLst>
              <a:ext uri="{FF2B5EF4-FFF2-40B4-BE49-F238E27FC236}">
                <a16:creationId xmlns:a16="http://schemas.microsoft.com/office/drawing/2014/main" id="{3DB861AF-931E-2126-0FF7-CE86FE075C63}"/>
              </a:ext>
            </a:extLst>
          </p:cNvPr>
          <p:cNvSpPr/>
          <p:nvPr/>
        </p:nvSpPr>
        <p:spPr>
          <a:xfrm>
            <a:off x="5299056" y="3662958"/>
            <a:ext cx="731520" cy="755881"/>
          </a:xfrm>
          <a:prstGeom prst="rightArrow">
            <a:avLst/>
          </a:prstGeom>
          <a:solidFill>
            <a:srgbClr val="92D050"/>
          </a:solidFill>
        </p:spPr>
        <p:style>
          <a:lnRef idx="1">
            <a:schemeClr val="accent5"/>
          </a:lnRef>
          <a:fillRef idx="2">
            <a:schemeClr val="accent5"/>
          </a:fillRef>
          <a:effectRef idx="1">
            <a:schemeClr val="accent5"/>
          </a:effectRef>
          <a:fontRef idx="minor">
            <a:schemeClr val="dk1"/>
          </a:fontRef>
        </p:style>
        <p:txBody>
          <a:bodyPr wrap="none" lIns="0" tIns="0" rIns="0" bIns="0" rtlCol="0" anchor="ctr"/>
          <a:lstStyle/>
          <a:p>
            <a:pPr algn="ctr"/>
            <a:r>
              <a:rPr lang="en-US" sz="1200" dirty="0"/>
              <a:t>Short H</a:t>
            </a:r>
          </a:p>
          <a:p>
            <a:pPr algn="ctr"/>
            <a:r>
              <a:rPr lang="en-US" sz="1200" dirty="0"/>
              <a:t>[15:12]</a:t>
            </a:r>
          </a:p>
        </p:txBody>
      </p:sp>
      <p:sp>
        <p:nvSpPr>
          <p:cNvPr id="20" name="TextBox 19">
            <a:extLst>
              <a:ext uri="{FF2B5EF4-FFF2-40B4-BE49-F238E27FC236}">
                <a16:creationId xmlns:a16="http://schemas.microsoft.com/office/drawing/2014/main" id="{27758552-1CB8-75DE-D52E-A20D25744463}"/>
              </a:ext>
            </a:extLst>
          </p:cNvPr>
          <p:cNvSpPr txBox="1"/>
          <p:nvPr/>
        </p:nvSpPr>
        <p:spPr>
          <a:xfrm>
            <a:off x="115102" y="3137455"/>
            <a:ext cx="707245" cy="261610"/>
          </a:xfrm>
          <a:prstGeom prst="rect">
            <a:avLst/>
          </a:prstGeom>
          <a:noFill/>
        </p:spPr>
        <p:txBody>
          <a:bodyPr wrap="none" rtlCol="0">
            <a:spAutoFit/>
          </a:bodyPr>
          <a:lstStyle/>
          <a:p>
            <a:r>
              <a:rPr lang="en-US" sz="1100" dirty="0"/>
              <a:t>ALU Imm</a:t>
            </a:r>
          </a:p>
        </p:txBody>
      </p:sp>
      <p:sp>
        <p:nvSpPr>
          <p:cNvPr id="21" name="TextBox 20">
            <a:extLst>
              <a:ext uri="{FF2B5EF4-FFF2-40B4-BE49-F238E27FC236}">
                <a16:creationId xmlns:a16="http://schemas.microsoft.com/office/drawing/2014/main" id="{B6442126-EF02-9311-F34E-E11C2BA7C96E}"/>
              </a:ext>
            </a:extLst>
          </p:cNvPr>
          <p:cNvSpPr txBox="1"/>
          <p:nvPr/>
        </p:nvSpPr>
        <p:spPr>
          <a:xfrm>
            <a:off x="115102" y="3561931"/>
            <a:ext cx="678391" cy="261610"/>
          </a:xfrm>
          <a:prstGeom prst="rect">
            <a:avLst/>
          </a:prstGeom>
          <a:noFill/>
        </p:spPr>
        <p:txBody>
          <a:bodyPr wrap="none" rtlCol="0">
            <a:spAutoFit/>
          </a:bodyPr>
          <a:lstStyle/>
          <a:p>
            <a:r>
              <a:rPr lang="en-US" sz="1100" dirty="0"/>
              <a:t>TST Imm</a:t>
            </a:r>
          </a:p>
        </p:txBody>
      </p:sp>
    </p:spTree>
    <p:extLst>
      <p:ext uri="{BB962C8B-B14F-4D97-AF65-F5344CB8AC3E}">
        <p14:creationId xmlns:p14="http://schemas.microsoft.com/office/powerpoint/2010/main" val="3914632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left)">
                                      <p:cBhvr>
                                        <p:cTn id="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8" name="Connector: Elbow 97">
            <a:extLst>
              <a:ext uri="{FF2B5EF4-FFF2-40B4-BE49-F238E27FC236}">
                <a16:creationId xmlns:a16="http://schemas.microsoft.com/office/drawing/2014/main" id="{49A6F4D9-E210-F9F5-2239-283D66590506}"/>
              </a:ext>
            </a:extLst>
          </p:cNvPr>
          <p:cNvCxnSpPr>
            <a:cxnSpLocks/>
            <a:stCxn id="35" idx="3"/>
          </p:cNvCxnSpPr>
          <p:nvPr/>
        </p:nvCxnSpPr>
        <p:spPr>
          <a:xfrm>
            <a:off x="6822610" y="3940122"/>
            <a:ext cx="576865" cy="15943"/>
          </a:xfrm>
          <a:prstGeom prst="bentConnector3">
            <a:avLst>
              <a:gd name="adj1" fmla="val 50000"/>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Connector: Elbow 4">
            <a:extLst>
              <a:ext uri="{FF2B5EF4-FFF2-40B4-BE49-F238E27FC236}">
                <a16:creationId xmlns:a16="http://schemas.microsoft.com/office/drawing/2014/main" id="{5D66508F-0450-49A5-A1CD-13B85C94B0CE}"/>
              </a:ext>
            </a:extLst>
          </p:cNvPr>
          <p:cNvCxnSpPr>
            <a:cxnSpLocks/>
            <a:stCxn id="69" idx="0"/>
          </p:cNvCxnSpPr>
          <p:nvPr/>
        </p:nvCxnSpPr>
        <p:spPr>
          <a:xfrm rot="5400000" flipH="1" flipV="1">
            <a:off x="5025141" y="2614518"/>
            <a:ext cx="2655243" cy="1394180"/>
          </a:xfrm>
          <a:prstGeom prst="bentConnector3">
            <a:avLst>
              <a:gd name="adj1" fmla="val 99934"/>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8" name="Connector: Elbow 127">
            <a:extLst>
              <a:ext uri="{FF2B5EF4-FFF2-40B4-BE49-F238E27FC236}">
                <a16:creationId xmlns:a16="http://schemas.microsoft.com/office/drawing/2014/main" id="{2E5886D8-F4EB-4C92-7EF8-F1391A54ECC7}"/>
              </a:ext>
            </a:extLst>
          </p:cNvPr>
          <p:cNvCxnSpPr>
            <a:cxnSpLocks/>
            <a:stCxn id="89" idx="6"/>
          </p:cNvCxnSpPr>
          <p:nvPr/>
        </p:nvCxnSpPr>
        <p:spPr>
          <a:xfrm flipV="1">
            <a:off x="4660325" y="1250604"/>
            <a:ext cx="2610428" cy="389493"/>
          </a:xfrm>
          <a:prstGeom prst="bentConnector3">
            <a:avLst>
              <a:gd name="adj1" fmla="val 82276"/>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pSp>
        <p:nvGrpSpPr>
          <p:cNvPr id="55" name="Group 54">
            <a:extLst>
              <a:ext uri="{FF2B5EF4-FFF2-40B4-BE49-F238E27FC236}">
                <a16:creationId xmlns:a16="http://schemas.microsoft.com/office/drawing/2014/main" id="{7F6C51E5-B691-49B9-BA2C-94B7C5B2DB83}"/>
              </a:ext>
            </a:extLst>
          </p:cNvPr>
          <p:cNvGrpSpPr/>
          <p:nvPr/>
        </p:nvGrpSpPr>
        <p:grpSpPr>
          <a:xfrm>
            <a:off x="7049853" y="3354754"/>
            <a:ext cx="4445079" cy="1559225"/>
            <a:chOff x="6995145" y="1748637"/>
            <a:chExt cx="4445078" cy="1559224"/>
          </a:xfrm>
        </p:grpSpPr>
        <p:pic>
          <p:nvPicPr>
            <p:cNvPr id="53" name="Picture 52">
              <a:extLst>
                <a:ext uri="{FF2B5EF4-FFF2-40B4-BE49-F238E27FC236}">
                  <a16:creationId xmlns:a16="http://schemas.microsoft.com/office/drawing/2014/main" id="{57BCA37C-DB94-41EE-BABE-0942DB78F998}"/>
                </a:ext>
              </a:extLst>
            </p:cNvPr>
            <p:cNvPicPr>
              <a:picLocks noChangeAspect="1"/>
            </p:cNvPicPr>
            <p:nvPr/>
          </p:nvPicPr>
          <p:blipFill>
            <a:blip r:embed="rId2"/>
            <a:stretch>
              <a:fillRect/>
            </a:stretch>
          </p:blipFill>
          <p:spPr>
            <a:xfrm>
              <a:off x="6995145" y="2117968"/>
              <a:ext cx="4445078" cy="1189893"/>
            </a:xfrm>
            <a:prstGeom prst="rect">
              <a:avLst/>
            </a:prstGeom>
            <a:ln>
              <a:solidFill>
                <a:schemeClr val="accent1">
                  <a:lumMod val="75000"/>
                </a:schemeClr>
              </a:solidFill>
            </a:ln>
          </p:spPr>
        </p:pic>
        <p:sp>
          <p:nvSpPr>
            <p:cNvPr id="54" name="TextBox 53">
              <a:extLst>
                <a:ext uri="{FF2B5EF4-FFF2-40B4-BE49-F238E27FC236}">
                  <a16:creationId xmlns:a16="http://schemas.microsoft.com/office/drawing/2014/main" id="{C07BA71F-85A8-4830-A22B-F45F427BB719}"/>
                </a:ext>
              </a:extLst>
            </p:cNvPr>
            <p:cNvSpPr txBox="1"/>
            <p:nvPr/>
          </p:nvSpPr>
          <p:spPr>
            <a:xfrm>
              <a:off x="6995148" y="1748637"/>
              <a:ext cx="785793" cy="369332"/>
            </a:xfrm>
            <a:prstGeom prst="rect">
              <a:avLst/>
            </a:prstGeom>
            <a:noFill/>
            <a:ln>
              <a:solidFill>
                <a:schemeClr val="accent1">
                  <a:lumMod val="75000"/>
                </a:schemeClr>
              </a:solidFill>
            </a:ln>
          </p:spPr>
          <p:txBody>
            <a:bodyPr wrap="none" rtlCol="0">
              <a:spAutoFit/>
            </a:bodyPr>
            <a:lstStyle/>
            <a:p>
              <a:r>
                <a:rPr lang="en-US">
                  <a:hlinkClick r:id="rId3" action="ppaction://hlinksldjump"/>
                </a:rPr>
                <a:t>273</a:t>
              </a:r>
              <a:r>
                <a:rPr lang="en-US"/>
                <a:t> Hi</a:t>
              </a:r>
            </a:p>
          </p:txBody>
        </p:sp>
      </p:grpSp>
      <p:sp>
        <p:nvSpPr>
          <p:cNvPr id="23" name="Rectangle 22">
            <a:extLst>
              <a:ext uri="{FF2B5EF4-FFF2-40B4-BE49-F238E27FC236}">
                <a16:creationId xmlns:a16="http://schemas.microsoft.com/office/drawing/2014/main" id="{8EB16C57-1DFB-BBD6-CF9F-A53310A8140E}"/>
              </a:ext>
            </a:extLst>
          </p:cNvPr>
          <p:cNvSpPr/>
          <p:nvPr/>
        </p:nvSpPr>
        <p:spPr>
          <a:xfrm>
            <a:off x="2708774" y="4828489"/>
            <a:ext cx="149452" cy="714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3EF4AB0-0B4A-838A-1454-914F908BBF95}"/>
              </a:ext>
            </a:extLst>
          </p:cNvPr>
          <p:cNvSpPr/>
          <p:nvPr/>
        </p:nvSpPr>
        <p:spPr>
          <a:xfrm>
            <a:off x="5530347" y="5243067"/>
            <a:ext cx="93951" cy="822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129F5C1D-4520-1869-3228-AFD79CAD6847}"/>
              </a:ext>
            </a:extLst>
          </p:cNvPr>
          <p:cNvSpPr/>
          <p:nvPr/>
        </p:nvSpPr>
        <p:spPr>
          <a:xfrm>
            <a:off x="5458349" y="5513327"/>
            <a:ext cx="93951" cy="822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FB55C838-96DF-0ED3-83DA-F2F6F55A9768}"/>
              </a:ext>
            </a:extLst>
          </p:cNvPr>
          <p:cNvSpPr/>
          <p:nvPr/>
        </p:nvSpPr>
        <p:spPr>
          <a:xfrm>
            <a:off x="4243002" y="4032323"/>
            <a:ext cx="93951" cy="822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9135D822-BB61-4C7F-8E37-CE80447677AA}"/>
              </a:ext>
            </a:extLst>
          </p:cNvPr>
          <p:cNvSpPr txBox="1"/>
          <p:nvPr/>
        </p:nvSpPr>
        <p:spPr>
          <a:xfrm>
            <a:off x="7108477" y="4592746"/>
            <a:ext cx="276417" cy="161711"/>
          </a:xfrm>
          <a:prstGeom prst="rect">
            <a:avLst/>
          </a:prstGeom>
          <a:solidFill>
            <a:srgbClr val="FFC000"/>
          </a:solidFill>
        </p:spPr>
        <p:txBody>
          <a:bodyPr wrap="square" lIns="0" tIns="0" rIns="0" bIns="0" rtlCol="0" anchor="ctr">
            <a:spAutoFit/>
          </a:bodyPr>
          <a:lstStyle/>
          <a:p>
            <a:pPr algn="ctr"/>
            <a:r>
              <a:rPr lang="en-US" sz="1051"/>
              <a:t>MR</a:t>
            </a:r>
          </a:p>
        </p:txBody>
      </p:sp>
      <p:sp>
        <p:nvSpPr>
          <p:cNvPr id="36" name="Rectangle 35">
            <a:extLst>
              <a:ext uri="{FF2B5EF4-FFF2-40B4-BE49-F238E27FC236}">
                <a16:creationId xmlns:a16="http://schemas.microsoft.com/office/drawing/2014/main" id="{905B78EB-56F1-4B68-BBBA-1B14ECFC2A66}"/>
              </a:ext>
            </a:extLst>
          </p:cNvPr>
          <p:cNvSpPr/>
          <p:nvPr/>
        </p:nvSpPr>
        <p:spPr>
          <a:xfrm>
            <a:off x="2677713" y="4375055"/>
            <a:ext cx="226647" cy="2422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CD85AC69-D8DB-4EE0-A5C4-D039034BCB15}"/>
              </a:ext>
            </a:extLst>
          </p:cNvPr>
          <p:cNvSpPr/>
          <p:nvPr/>
        </p:nvSpPr>
        <p:spPr>
          <a:xfrm>
            <a:off x="4226362" y="3883271"/>
            <a:ext cx="116639" cy="1077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AEB599AA-6ABC-3701-59BA-41C6C3BBC800}"/>
              </a:ext>
            </a:extLst>
          </p:cNvPr>
          <p:cNvSpPr>
            <a:spLocks noGrp="1"/>
          </p:cNvSpPr>
          <p:nvPr>
            <p:ph type="ctrTitle"/>
          </p:nvPr>
        </p:nvSpPr>
        <p:spPr/>
        <p:txBody>
          <a:bodyPr/>
          <a:lstStyle/>
          <a:p>
            <a:r>
              <a:rPr lang="en-US" dirty="0"/>
              <a:t>Fetch State Machine (v2.0)</a:t>
            </a:r>
          </a:p>
        </p:txBody>
      </p:sp>
      <p:cxnSp>
        <p:nvCxnSpPr>
          <p:cNvPr id="10" name="Connector: Elbow 9">
            <a:extLst>
              <a:ext uri="{FF2B5EF4-FFF2-40B4-BE49-F238E27FC236}">
                <a16:creationId xmlns:a16="http://schemas.microsoft.com/office/drawing/2014/main" id="{16B1F165-F355-4A71-BA1F-898D42F42EBA}"/>
              </a:ext>
            </a:extLst>
          </p:cNvPr>
          <p:cNvCxnSpPr>
            <a:cxnSpLocks/>
            <a:stCxn id="82" idx="3"/>
          </p:cNvCxnSpPr>
          <p:nvPr/>
        </p:nvCxnSpPr>
        <p:spPr>
          <a:xfrm>
            <a:off x="1485998" y="2913267"/>
            <a:ext cx="1767294" cy="1758424"/>
          </a:xfrm>
          <a:prstGeom prst="bentConnector3">
            <a:avLst>
              <a:gd name="adj1" fmla="val 50000"/>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0B41C618-B050-4A00-A3CE-E6762019411F}"/>
              </a:ext>
            </a:extLst>
          </p:cNvPr>
          <p:cNvCxnSpPr>
            <a:cxnSpLocks/>
            <a:stCxn id="45" idx="3"/>
            <a:endCxn id="15" idx="1"/>
          </p:cNvCxnSpPr>
          <p:nvPr/>
        </p:nvCxnSpPr>
        <p:spPr>
          <a:xfrm>
            <a:off x="1834237" y="1708763"/>
            <a:ext cx="823555" cy="2792351"/>
          </a:xfrm>
          <a:prstGeom prst="bentConnector3">
            <a:avLst>
              <a:gd name="adj1" fmla="val 50000"/>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pSp>
        <p:nvGrpSpPr>
          <p:cNvPr id="46" name="Group 45">
            <a:extLst>
              <a:ext uri="{FF2B5EF4-FFF2-40B4-BE49-F238E27FC236}">
                <a16:creationId xmlns:a16="http://schemas.microsoft.com/office/drawing/2014/main" id="{EBE5FBBF-6BA3-47B5-BDD5-7573FD0B7EEE}"/>
              </a:ext>
            </a:extLst>
          </p:cNvPr>
          <p:cNvGrpSpPr/>
          <p:nvPr/>
        </p:nvGrpSpPr>
        <p:grpSpPr>
          <a:xfrm>
            <a:off x="2665050" y="3417313"/>
            <a:ext cx="1684215" cy="1595307"/>
            <a:chOff x="2665048" y="3417314"/>
            <a:chExt cx="1684215" cy="1595306"/>
          </a:xfrm>
        </p:grpSpPr>
        <p:pic>
          <p:nvPicPr>
            <p:cNvPr id="7" name="Picture 6">
              <a:extLst>
                <a:ext uri="{FF2B5EF4-FFF2-40B4-BE49-F238E27FC236}">
                  <a16:creationId xmlns:a16="http://schemas.microsoft.com/office/drawing/2014/main" id="{C8145C21-A75C-4D44-9C63-F4F339A05D86}"/>
                </a:ext>
              </a:extLst>
            </p:cNvPr>
            <p:cNvPicPr>
              <a:picLocks noChangeAspect="1"/>
            </p:cNvPicPr>
            <p:nvPr/>
          </p:nvPicPr>
          <p:blipFill>
            <a:blip r:embed="rId4"/>
            <a:srcRect r="66292"/>
            <a:stretch/>
          </p:blipFill>
          <p:spPr>
            <a:xfrm rot="16200000">
              <a:off x="2901785" y="3565141"/>
              <a:ext cx="1210744" cy="1684213"/>
            </a:xfrm>
            <a:prstGeom prst="rect">
              <a:avLst/>
            </a:prstGeom>
            <a:ln>
              <a:solidFill>
                <a:schemeClr val="accent1">
                  <a:lumMod val="75000"/>
                </a:schemeClr>
              </a:solidFill>
            </a:ln>
          </p:spPr>
        </p:pic>
        <p:sp>
          <p:nvSpPr>
            <p:cNvPr id="16" name="TextBox 15">
              <a:extLst>
                <a:ext uri="{FF2B5EF4-FFF2-40B4-BE49-F238E27FC236}">
                  <a16:creationId xmlns:a16="http://schemas.microsoft.com/office/drawing/2014/main" id="{A2BC48DD-7F98-46A6-AAA1-689970F92C6E}"/>
                </a:ext>
              </a:extLst>
            </p:cNvPr>
            <p:cNvSpPr txBox="1"/>
            <p:nvPr/>
          </p:nvSpPr>
          <p:spPr>
            <a:xfrm>
              <a:off x="2665048" y="3417314"/>
              <a:ext cx="535724" cy="369332"/>
            </a:xfrm>
            <a:prstGeom prst="rect">
              <a:avLst/>
            </a:prstGeom>
            <a:noFill/>
            <a:ln>
              <a:solidFill>
                <a:schemeClr val="accent1">
                  <a:lumMod val="75000"/>
                </a:schemeClr>
              </a:solidFill>
            </a:ln>
          </p:spPr>
          <p:txBody>
            <a:bodyPr wrap="none" rtlCol="0">
              <a:spAutoFit/>
            </a:bodyPr>
            <a:lstStyle/>
            <a:p>
              <a:r>
                <a:rPr lang="en-US">
                  <a:hlinkClick r:id="rId5" action="ppaction://hlinksldjump"/>
                </a:rPr>
                <a:t>175</a:t>
              </a:r>
              <a:endParaRPr lang="en-US"/>
            </a:p>
          </p:txBody>
        </p:sp>
      </p:grpSp>
      <p:cxnSp>
        <p:nvCxnSpPr>
          <p:cNvPr id="51" name="Connector: Elbow 50">
            <a:extLst>
              <a:ext uri="{FF2B5EF4-FFF2-40B4-BE49-F238E27FC236}">
                <a16:creationId xmlns:a16="http://schemas.microsoft.com/office/drawing/2014/main" id="{6B7475D9-4225-421F-B9BF-C06D80B879D5}"/>
              </a:ext>
            </a:extLst>
          </p:cNvPr>
          <p:cNvCxnSpPr>
            <a:cxnSpLocks/>
          </p:cNvCxnSpPr>
          <p:nvPr/>
        </p:nvCxnSpPr>
        <p:spPr>
          <a:xfrm flipV="1">
            <a:off x="4933649" y="4004930"/>
            <a:ext cx="1481923" cy="73617"/>
          </a:xfrm>
          <a:prstGeom prst="bentConnector3">
            <a:avLst>
              <a:gd name="adj1" fmla="val 20030"/>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pSp>
        <p:nvGrpSpPr>
          <p:cNvPr id="56" name="Group 55">
            <a:extLst>
              <a:ext uri="{FF2B5EF4-FFF2-40B4-BE49-F238E27FC236}">
                <a16:creationId xmlns:a16="http://schemas.microsoft.com/office/drawing/2014/main" id="{D8DD5DC5-C802-416C-887C-747F1F2008DA}"/>
              </a:ext>
            </a:extLst>
          </p:cNvPr>
          <p:cNvGrpSpPr/>
          <p:nvPr/>
        </p:nvGrpSpPr>
        <p:grpSpPr>
          <a:xfrm>
            <a:off x="7049853" y="675912"/>
            <a:ext cx="4445079" cy="1559227"/>
            <a:chOff x="6995145" y="1748635"/>
            <a:chExt cx="4445078" cy="1559226"/>
          </a:xfrm>
        </p:grpSpPr>
        <p:sp>
          <p:nvSpPr>
            <p:cNvPr id="58" name="TextBox 57">
              <a:extLst>
                <a:ext uri="{FF2B5EF4-FFF2-40B4-BE49-F238E27FC236}">
                  <a16:creationId xmlns:a16="http://schemas.microsoft.com/office/drawing/2014/main" id="{33622354-5CAC-456B-B1FC-209F04CFC8B1}"/>
                </a:ext>
              </a:extLst>
            </p:cNvPr>
            <p:cNvSpPr txBox="1"/>
            <p:nvPr/>
          </p:nvSpPr>
          <p:spPr>
            <a:xfrm>
              <a:off x="6995146" y="1748635"/>
              <a:ext cx="808235" cy="369332"/>
            </a:xfrm>
            <a:prstGeom prst="rect">
              <a:avLst/>
            </a:prstGeom>
            <a:noFill/>
            <a:ln>
              <a:solidFill>
                <a:schemeClr val="accent1">
                  <a:lumMod val="75000"/>
                </a:schemeClr>
              </a:solidFill>
            </a:ln>
          </p:spPr>
          <p:txBody>
            <a:bodyPr wrap="none" rtlCol="0">
              <a:spAutoFit/>
            </a:bodyPr>
            <a:lstStyle/>
            <a:p>
              <a:r>
                <a:rPr lang="en-US">
                  <a:hlinkClick r:id="rId3" action="ppaction://hlinksldjump"/>
                </a:rPr>
                <a:t>273</a:t>
              </a:r>
              <a:r>
                <a:rPr lang="en-US"/>
                <a:t> Lo</a:t>
              </a:r>
            </a:p>
          </p:txBody>
        </p:sp>
        <p:pic>
          <p:nvPicPr>
            <p:cNvPr id="57" name="Picture 56">
              <a:extLst>
                <a:ext uri="{FF2B5EF4-FFF2-40B4-BE49-F238E27FC236}">
                  <a16:creationId xmlns:a16="http://schemas.microsoft.com/office/drawing/2014/main" id="{2EB65DE5-9E2D-4B97-80E2-6D11F0819892}"/>
                </a:ext>
              </a:extLst>
            </p:cNvPr>
            <p:cNvPicPr>
              <a:picLocks noChangeAspect="1"/>
            </p:cNvPicPr>
            <p:nvPr/>
          </p:nvPicPr>
          <p:blipFill>
            <a:blip r:embed="rId2"/>
            <a:stretch>
              <a:fillRect/>
            </a:stretch>
          </p:blipFill>
          <p:spPr>
            <a:xfrm>
              <a:off x="6995145" y="2117968"/>
              <a:ext cx="4445078" cy="1189893"/>
            </a:xfrm>
            <a:prstGeom prst="rect">
              <a:avLst/>
            </a:prstGeom>
            <a:ln>
              <a:solidFill>
                <a:schemeClr val="accent1">
                  <a:lumMod val="75000"/>
                </a:schemeClr>
              </a:solidFill>
            </a:ln>
          </p:spPr>
        </p:pic>
      </p:grpSp>
      <p:cxnSp>
        <p:nvCxnSpPr>
          <p:cNvPr id="62" name="Connector: Elbow 61">
            <a:extLst>
              <a:ext uri="{FF2B5EF4-FFF2-40B4-BE49-F238E27FC236}">
                <a16:creationId xmlns:a16="http://schemas.microsoft.com/office/drawing/2014/main" id="{82730843-85ED-4ADF-B868-4C3B2747A5FB}"/>
              </a:ext>
            </a:extLst>
          </p:cNvPr>
          <p:cNvCxnSpPr>
            <a:cxnSpLocks/>
            <a:stCxn id="52" idx="3"/>
            <a:endCxn id="14" idx="1"/>
          </p:cNvCxnSpPr>
          <p:nvPr/>
        </p:nvCxnSpPr>
        <p:spPr>
          <a:xfrm>
            <a:off x="4336951" y="4073428"/>
            <a:ext cx="1193396" cy="1210744"/>
          </a:xfrm>
          <a:prstGeom prst="bentConnector3">
            <a:avLst>
              <a:gd name="adj1" fmla="val 50000"/>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63" name="TextBox 62">
            <a:hlinkClick r:id="rId6" action="ppaction://hlinksldjump"/>
            <a:extLst>
              <a:ext uri="{FF2B5EF4-FFF2-40B4-BE49-F238E27FC236}">
                <a16:creationId xmlns:a16="http://schemas.microsoft.com/office/drawing/2014/main" id="{449FC878-ED29-4BC2-86E9-3936B25D1CC2}"/>
              </a:ext>
            </a:extLst>
          </p:cNvPr>
          <p:cNvSpPr txBox="1"/>
          <p:nvPr/>
        </p:nvSpPr>
        <p:spPr>
          <a:xfrm>
            <a:off x="7722684" y="5446980"/>
            <a:ext cx="1151277" cy="182880"/>
          </a:xfrm>
          <a:prstGeom prst="rect">
            <a:avLst/>
          </a:prstGeom>
          <a:noFill/>
          <a:ln w="12700">
            <a:solidFill>
              <a:srgbClr val="FF0000"/>
            </a:solidFill>
          </a:ln>
        </p:spPr>
        <p:txBody>
          <a:bodyPr wrap="none" rtlCol="0" anchor="ctr">
            <a:spAutoFit/>
          </a:bodyPr>
          <a:lstStyle/>
          <a:p>
            <a:r>
              <a:rPr lang="en-US" sz="1100"/>
              <a:t># </a:t>
            </a:r>
            <a:r>
              <a:rPr lang="en-US" sz="1100" err="1"/>
              <a:t>Reset_microPC</a:t>
            </a:r>
            <a:endParaRPr lang="en-US" sz="1100"/>
          </a:p>
        </p:txBody>
      </p:sp>
      <p:cxnSp>
        <p:nvCxnSpPr>
          <p:cNvPr id="9" name="Connector: Elbow 8">
            <a:extLst>
              <a:ext uri="{FF2B5EF4-FFF2-40B4-BE49-F238E27FC236}">
                <a16:creationId xmlns:a16="http://schemas.microsoft.com/office/drawing/2014/main" id="{546BC183-0F6A-4D4E-9FE9-4E1A816D4D99}"/>
              </a:ext>
            </a:extLst>
          </p:cNvPr>
          <p:cNvCxnSpPr>
            <a:cxnSpLocks/>
            <a:stCxn id="69" idx="6"/>
            <a:endCxn id="34" idx="1"/>
          </p:cNvCxnSpPr>
          <p:nvPr/>
        </p:nvCxnSpPr>
        <p:spPr>
          <a:xfrm flipV="1">
            <a:off x="5701391" y="4673602"/>
            <a:ext cx="1407086" cy="11346"/>
          </a:xfrm>
          <a:prstGeom prst="bentConnector3">
            <a:avLst>
              <a:gd name="adj1" fmla="val 50000"/>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39" name="TextBox 38">
            <a:hlinkClick r:id="rId7" action="ppaction://hlinksldjump"/>
            <a:extLst>
              <a:ext uri="{FF2B5EF4-FFF2-40B4-BE49-F238E27FC236}">
                <a16:creationId xmlns:a16="http://schemas.microsoft.com/office/drawing/2014/main" id="{C35015B7-343D-D2C3-FEA9-500FAF0F81E5}"/>
              </a:ext>
            </a:extLst>
          </p:cNvPr>
          <p:cNvSpPr txBox="1"/>
          <p:nvPr/>
        </p:nvSpPr>
        <p:spPr>
          <a:xfrm>
            <a:off x="558548" y="5681297"/>
            <a:ext cx="998671" cy="182880"/>
          </a:xfrm>
          <a:prstGeom prst="rect">
            <a:avLst/>
          </a:prstGeom>
          <a:solidFill>
            <a:schemeClr val="bg1"/>
          </a:solidFill>
          <a:ln>
            <a:solidFill>
              <a:schemeClr val="accent1"/>
            </a:solidFill>
          </a:ln>
        </p:spPr>
        <p:txBody>
          <a:bodyPr wrap="none" rtlCol="0" anchor="ctr">
            <a:spAutoFit/>
          </a:bodyPr>
          <a:lstStyle/>
          <a:p>
            <a:r>
              <a:rPr lang="en-US" sz="1200"/>
              <a:t># Main Reset</a:t>
            </a:r>
          </a:p>
        </p:txBody>
      </p:sp>
      <p:pic>
        <p:nvPicPr>
          <p:cNvPr id="42" name="Picture 41" descr="Diagram&#10;&#10;Description automatically generated with low confidence">
            <a:extLst>
              <a:ext uri="{FF2B5EF4-FFF2-40B4-BE49-F238E27FC236}">
                <a16:creationId xmlns:a16="http://schemas.microsoft.com/office/drawing/2014/main" id="{5C991C3C-005E-9099-A19A-8BD52E91B8F3}"/>
              </a:ext>
            </a:extLst>
          </p:cNvPr>
          <p:cNvPicPr>
            <a:picLocks noChangeAspect="1"/>
          </p:cNvPicPr>
          <p:nvPr/>
        </p:nvPicPr>
        <p:blipFill rotWithShape="1">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rcRect l="50000" t="19257" r="4045" b="-1180"/>
          <a:stretch/>
        </p:blipFill>
        <p:spPr>
          <a:xfrm>
            <a:off x="5350647" y="5189265"/>
            <a:ext cx="659287" cy="459531"/>
          </a:xfrm>
          <a:prstGeom prst="rect">
            <a:avLst/>
          </a:prstGeom>
        </p:spPr>
      </p:pic>
      <p:cxnSp>
        <p:nvCxnSpPr>
          <p:cNvPr id="44" name="Connector: Elbow 43">
            <a:extLst>
              <a:ext uri="{FF2B5EF4-FFF2-40B4-BE49-F238E27FC236}">
                <a16:creationId xmlns:a16="http://schemas.microsoft.com/office/drawing/2014/main" id="{52E879E8-32FD-26CC-828B-EBBA231C84F9}"/>
              </a:ext>
            </a:extLst>
          </p:cNvPr>
          <p:cNvCxnSpPr>
            <a:cxnSpLocks/>
            <a:stCxn id="39" idx="3"/>
            <a:endCxn id="43" idx="1"/>
          </p:cNvCxnSpPr>
          <p:nvPr/>
        </p:nvCxnSpPr>
        <p:spPr>
          <a:xfrm flipV="1">
            <a:off x="1557219" y="5554433"/>
            <a:ext cx="3901130" cy="218304"/>
          </a:xfrm>
          <a:prstGeom prst="bentConnector3">
            <a:avLst>
              <a:gd name="adj1" fmla="val 50000"/>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45" name="Rectangle 44">
            <a:hlinkClick r:id="rId6" action="ppaction://hlinksldjump"/>
            <a:extLst>
              <a:ext uri="{FF2B5EF4-FFF2-40B4-BE49-F238E27FC236}">
                <a16:creationId xmlns:a16="http://schemas.microsoft.com/office/drawing/2014/main" id="{07399F58-7E1C-1D64-C02E-3D11A62E319B}"/>
              </a:ext>
            </a:extLst>
          </p:cNvPr>
          <p:cNvSpPr/>
          <p:nvPr/>
        </p:nvSpPr>
        <p:spPr>
          <a:xfrm>
            <a:off x="371197" y="1617323"/>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a:t>
            </a:r>
            <a:r>
              <a:rPr lang="en-US" sz="1200">
                <a:hlinkClick r:id="rId10" action="ppaction://hlinksldjump"/>
              </a:rPr>
              <a:t>7</a:t>
            </a:r>
            <a:r>
              <a:rPr lang="en-US" sz="1200"/>
              <a:t>: PC Advance</a:t>
            </a:r>
          </a:p>
        </p:txBody>
      </p:sp>
      <p:cxnSp>
        <p:nvCxnSpPr>
          <p:cNvPr id="17" name="Connector: Elbow 16">
            <a:extLst>
              <a:ext uri="{FF2B5EF4-FFF2-40B4-BE49-F238E27FC236}">
                <a16:creationId xmlns:a16="http://schemas.microsoft.com/office/drawing/2014/main" id="{AD8B1E28-5867-3F16-A26B-930EC2A2B14D}"/>
              </a:ext>
            </a:extLst>
          </p:cNvPr>
          <p:cNvCxnSpPr>
            <a:cxnSpLocks/>
            <a:stCxn id="39" idx="3"/>
            <a:endCxn id="23" idx="1"/>
          </p:cNvCxnSpPr>
          <p:nvPr/>
        </p:nvCxnSpPr>
        <p:spPr>
          <a:xfrm flipV="1">
            <a:off x="1557219" y="4864203"/>
            <a:ext cx="1151555" cy="908534"/>
          </a:xfrm>
          <a:prstGeom prst="bentConnector3">
            <a:avLst>
              <a:gd name="adj1" fmla="val 50000"/>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18D64C66-408C-6DA7-C622-34EA504D52FB}"/>
              </a:ext>
            </a:extLst>
          </p:cNvPr>
          <p:cNvSpPr/>
          <p:nvPr/>
        </p:nvSpPr>
        <p:spPr>
          <a:xfrm>
            <a:off x="5121707" y="5492712"/>
            <a:ext cx="91440" cy="9144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2F2E86C8-CE44-04A1-FFDE-0545775921CF}"/>
              </a:ext>
            </a:extLst>
          </p:cNvPr>
          <p:cNvSpPr/>
          <p:nvPr/>
        </p:nvSpPr>
        <p:spPr>
          <a:xfrm>
            <a:off x="5609951" y="4639228"/>
            <a:ext cx="91440" cy="9144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5" name="Connector: Elbow 64">
            <a:extLst>
              <a:ext uri="{FF2B5EF4-FFF2-40B4-BE49-F238E27FC236}">
                <a16:creationId xmlns:a16="http://schemas.microsoft.com/office/drawing/2014/main" id="{097B7CDF-0704-80DC-53C9-545E8612862D}"/>
              </a:ext>
            </a:extLst>
          </p:cNvPr>
          <p:cNvCxnSpPr>
            <a:cxnSpLocks/>
            <a:stCxn id="69" idx="2"/>
            <a:endCxn id="33" idx="0"/>
          </p:cNvCxnSpPr>
          <p:nvPr/>
        </p:nvCxnSpPr>
        <p:spPr>
          <a:xfrm rot="10800000" flipV="1">
            <a:off x="5167427" y="4684949"/>
            <a:ext cx="442524" cy="807764"/>
          </a:xfrm>
          <a:prstGeom prst="bentConnector2">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79" name="Oval 78">
            <a:extLst>
              <a:ext uri="{FF2B5EF4-FFF2-40B4-BE49-F238E27FC236}">
                <a16:creationId xmlns:a16="http://schemas.microsoft.com/office/drawing/2014/main" id="{D301555F-92F0-514E-3819-9070B7C94092}"/>
              </a:ext>
            </a:extLst>
          </p:cNvPr>
          <p:cNvSpPr/>
          <p:nvPr/>
        </p:nvSpPr>
        <p:spPr>
          <a:xfrm>
            <a:off x="2087276" y="5717011"/>
            <a:ext cx="91440" cy="9144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TextBox 81">
            <a:hlinkClick r:id="rId7" action="ppaction://hlinksldjump"/>
            <a:extLst>
              <a:ext uri="{FF2B5EF4-FFF2-40B4-BE49-F238E27FC236}">
                <a16:creationId xmlns:a16="http://schemas.microsoft.com/office/drawing/2014/main" id="{0D6E23AF-52E3-FC3E-7E30-AE3C17128290}"/>
              </a:ext>
            </a:extLst>
          </p:cNvPr>
          <p:cNvSpPr txBox="1"/>
          <p:nvPr/>
        </p:nvSpPr>
        <p:spPr>
          <a:xfrm>
            <a:off x="719441" y="2821827"/>
            <a:ext cx="766557" cy="182880"/>
          </a:xfrm>
          <a:prstGeom prst="rect">
            <a:avLst/>
          </a:prstGeom>
          <a:solidFill>
            <a:schemeClr val="bg1"/>
          </a:solidFill>
          <a:ln>
            <a:solidFill>
              <a:schemeClr val="accent1"/>
            </a:solidFill>
          </a:ln>
        </p:spPr>
        <p:txBody>
          <a:bodyPr wrap="none" rtlCol="0" anchor="ctr">
            <a:spAutoFit/>
          </a:bodyPr>
          <a:lstStyle/>
          <a:p>
            <a:r>
              <a:rPr lang="en-US" sz="1200"/>
              <a:t>Main CLK</a:t>
            </a:r>
          </a:p>
        </p:txBody>
      </p:sp>
      <p:sp>
        <p:nvSpPr>
          <p:cNvPr id="2" name="Arrow: Right 1">
            <a:hlinkClick r:id="rId10" action="ppaction://hlinksldjump"/>
            <a:extLst>
              <a:ext uri="{FF2B5EF4-FFF2-40B4-BE49-F238E27FC236}">
                <a16:creationId xmlns:a16="http://schemas.microsoft.com/office/drawing/2014/main" id="{7FB00DFC-180F-02BA-EFEA-38A06E1A7FCA}"/>
              </a:ext>
            </a:extLst>
          </p:cNvPr>
          <p:cNvSpPr/>
          <p:nvPr/>
        </p:nvSpPr>
        <p:spPr>
          <a:xfrm rot="5400000">
            <a:off x="8946467" y="321011"/>
            <a:ext cx="731520" cy="731520"/>
          </a:xfrm>
          <a:prstGeom prst="rightArrow">
            <a:avLst/>
          </a:prstGeom>
          <a:solidFill>
            <a:schemeClr val="accent4">
              <a:lumMod val="20000"/>
              <a:lumOff val="80000"/>
            </a:schemeClr>
          </a:solidFill>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sz="1200"/>
              <a:t>Prog </a:t>
            </a:r>
          </a:p>
          <a:p>
            <a:pPr algn="ctr"/>
            <a:r>
              <a:rPr lang="en-US" sz="1200"/>
              <a:t>Data[7:0]</a:t>
            </a:r>
          </a:p>
        </p:txBody>
      </p:sp>
      <p:sp>
        <p:nvSpPr>
          <p:cNvPr id="49" name="Arrow: Right 48">
            <a:hlinkClick r:id="rId10" action="ppaction://hlinksldjump"/>
            <a:extLst>
              <a:ext uri="{FF2B5EF4-FFF2-40B4-BE49-F238E27FC236}">
                <a16:creationId xmlns:a16="http://schemas.microsoft.com/office/drawing/2014/main" id="{E7332A40-91A7-EED3-22D5-5B2909ECBE46}"/>
              </a:ext>
            </a:extLst>
          </p:cNvPr>
          <p:cNvSpPr/>
          <p:nvPr/>
        </p:nvSpPr>
        <p:spPr>
          <a:xfrm rot="5400000">
            <a:off x="8946467" y="3037751"/>
            <a:ext cx="731520" cy="731520"/>
          </a:xfrm>
          <a:prstGeom prst="rightArrow">
            <a:avLst/>
          </a:prstGeom>
          <a:solidFill>
            <a:schemeClr val="accent4">
              <a:lumMod val="20000"/>
              <a:lumOff val="80000"/>
            </a:schemeClr>
          </a:solidFill>
        </p:spPr>
        <p:style>
          <a:lnRef idx="1">
            <a:schemeClr val="accent5"/>
          </a:lnRef>
          <a:fillRef idx="2">
            <a:schemeClr val="accent5"/>
          </a:fillRef>
          <a:effectRef idx="1">
            <a:schemeClr val="accent5"/>
          </a:effectRef>
          <a:fontRef idx="minor">
            <a:schemeClr val="dk1"/>
          </a:fontRef>
        </p:style>
        <p:txBody>
          <a:bodyPr wrap="none" lIns="0" tIns="0" rIns="0" bIns="0" rtlCol="0" anchor="ctr"/>
          <a:lstStyle/>
          <a:p>
            <a:pPr algn="ctr"/>
            <a:r>
              <a:rPr lang="en-US" sz="1200"/>
              <a:t>Prog </a:t>
            </a:r>
          </a:p>
          <a:p>
            <a:pPr algn="ctr"/>
            <a:r>
              <a:rPr lang="en-US" sz="1200"/>
              <a:t>Data[7:0]</a:t>
            </a:r>
          </a:p>
        </p:txBody>
      </p:sp>
      <p:sp>
        <p:nvSpPr>
          <p:cNvPr id="66" name="Arrow: Right 65">
            <a:hlinkClick r:id="rId11" action="ppaction://hlinksldjump"/>
            <a:extLst>
              <a:ext uri="{FF2B5EF4-FFF2-40B4-BE49-F238E27FC236}">
                <a16:creationId xmlns:a16="http://schemas.microsoft.com/office/drawing/2014/main" id="{63CB97D8-E031-2125-2CAB-9BF73DE1AB8A}"/>
              </a:ext>
            </a:extLst>
          </p:cNvPr>
          <p:cNvSpPr/>
          <p:nvPr/>
        </p:nvSpPr>
        <p:spPr>
          <a:xfrm rot="5400000">
            <a:off x="8852742" y="2321399"/>
            <a:ext cx="612591" cy="731520"/>
          </a:xfrm>
          <a:prstGeom prst="rightArrow">
            <a:avLst/>
          </a:prstGeom>
        </p:spPr>
        <p:style>
          <a:lnRef idx="1">
            <a:schemeClr val="accent5"/>
          </a:lnRef>
          <a:fillRef idx="2">
            <a:schemeClr val="accent5"/>
          </a:fillRef>
          <a:effectRef idx="1">
            <a:schemeClr val="accent5"/>
          </a:effectRef>
          <a:fontRef idx="minor">
            <a:schemeClr val="dk1"/>
          </a:fontRef>
        </p:style>
        <p:txBody>
          <a:bodyPr wrap="none" lIns="0" tIns="0" rIns="0" bIns="0" rtlCol="0" anchor="ctr"/>
          <a:lstStyle/>
          <a:p>
            <a:pPr algn="ctr"/>
            <a:r>
              <a:rPr lang="en-US" sz="1200"/>
              <a:t>OpCode</a:t>
            </a:r>
          </a:p>
          <a:p>
            <a:pPr algn="ctr"/>
            <a:r>
              <a:rPr lang="en-US" sz="1200"/>
              <a:t>[4:0]</a:t>
            </a:r>
          </a:p>
        </p:txBody>
      </p:sp>
      <p:sp>
        <p:nvSpPr>
          <p:cNvPr id="67" name="Arrow: Right 66">
            <a:hlinkClick r:id="rId12" action="ppaction://hlinksldjump"/>
            <a:extLst>
              <a:ext uri="{FF2B5EF4-FFF2-40B4-BE49-F238E27FC236}">
                <a16:creationId xmlns:a16="http://schemas.microsoft.com/office/drawing/2014/main" id="{A25FE31F-BBF9-DC35-9E3C-AF1116AB41B8}"/>
              </a:ext>
            </a:extLst>
          </p:cNvPr>
          <p:cNvSpPr/>
          <p:nvPr/>
        </p:nvSpPr>
        <p:spPr>
          <a:xfrm rot="5400000">
            <a:off x="8946467" y="4960683"/>
            <a:ext cx="731520" cy="731520"/>
          </a:xfrm>
          <a:prstGeom prst="rightArrow">
            <a:avLst/>
          </a:prstGeom>
          <a:solidFill>
            <a:schemeClr val="accent2">
              <a:lumMod val="60000"/>
              <a:lumOff val="4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400"/>
              <a:t>H Reg</a:t>
            </a:r>
          </a:p>
          <a:p>
            <a:pPr algn="ctr"/>
            <a:r>
              <a:rPr lang="en-US" sz="1400"/>
              <a:t>8 bits</a:t>
            </a:r>
          </a:p>
        </p:txBody>
      </p:sp>
      <p:sp>
        <p:nvSpPr>
          <p:cNvPr id="72" name="Arrow: Right 71">
            <a:hlinkClick r:id="rId13" action="ppaction://hlinksldjump"/>
            <a:extLst>
              <a:ext uri="{FF2B5EF4-FFF2-40B4-BE49-F238E27FC236}">
                <a16:creationId xmlns:a16="http://schemas.microsoft.com/office/drawing/2014/main" id="{A521F755-DB05-5F58-72E2-1AA3E5D99187}"/>
              </a:ext>
            </a:extLst>
          </p:cNvPr>
          <p:cNvSpPr/>
          <p:nvPr/>
        </p:nvSpPr>
        <p:spPr>
          <a:xfrm rot="5400000">
            <a:off x="10507187" y="2249753"/>
            <a:ext cx="731520" cy="755881"/>
          </a:xfrm>
          <a:prstGeom prst="rightArrow">
            <a:avLst/>
          </a:prstGeom>
        </p:spPr>
        <p:style>
          <a:lnRef idx="1">
            <a:schemeClr val="accent5"/>
          </a:lnRef>
          <a:fillRef idx="2">
            <a:schemeClr val="accent5"/>
          </a:fillRef>
          <a:effectRef idx="1">
            <a:schemeClr val="accent5"/>
          </a:effectRef>
          <a:fontRef idx="minor">
            <a:schemeClr val="dk1"/>
          </a:fontRef>
        </p:style>
        <p:txBody>
          <a:bodyPr wrap="none" lIns="0" tIns="0" rIns="0" bIns="0" rtlCol="0" anchor="ctr"/>
          <a:lstStyle/>
          <a:p>
            <a:pPr algn="ctr"/>
            <a:r>
              <a:rPr lang="en-US" sz="1200"/>
              <a:t>OpCode</a:t>
            </a:r>
          </a:p>
          <a:p>
            <a:pPr algn="ctr"/>
            <a:r>
              <a:rPr lang="en-US" sz="1200"/>
              <a:t>[7:5] Flags</a:t>
            </a:r>
          </a:p>
        </p:txBody>
      </p:sp>
      <p:sp>
        <p:nvSpPr>
          <p:cNvPr id="59" name="Arrow: Right 58">
            <a:hlinkClick r:id="rId14" action="ppaction://hlinksldjump"/>
            <a:extLst>
              <a:ext uri="{FF2B5EF4-FFF2-40B4-BE49-F238E27FC236}">
                <a16:creationId xmlns:a16="http://schemas.microsoft.com/office/drawing/2014/main" id="{6E604279-8B3A-A5AD-DE6B-B5C1DD355DB8}"/>
              </a:ext>
            </a:extLst>
          </p:cNvPr>
          <p:cNvSpPr/>
          <p:nvPr/>
        </p:nvSpPr>
        <p:spPr>
          <a:xfrm rot="5400000">
            <a:off x="11129169" y="2251741"/>
            <a:ext cx="731520" cy="755881"/>
          </a:xfrm>
          <a:prstGeom prst="rightArrow">
            <a:avLst/>
          </a:prstGeom>
          <a:solidFill>
            <a:srgbClr val="92D050"/>
          </a:solidFill>
        </p:spPr>
        <p:style>
          <a:lnRef idx="1">
            <a:schemeClr val="accent5"/>
          </a:lnRef>
          <a:fillRef idx="2">
            <a:schemeClr val="accent5"/>
          </a:fillRef>
          <a:effectRef idx="1">
            <a:schemeClr val="accent5"/>
          </a:effectRef>
          <a:fontRef idx="minor">
            <a:schemeClr val="dk1"/>
          </a:fontRef>
        </p:style>
        <p:txBody>
          <a:bodyPr wrap="none" lIns="0" tIns="0" rIns="0" bIns="0" rtlCol="0" anchor="ctr"/>
          <a:lstStyle/>
          <a:p>
            <a:pPr algn="ctr"/>
            <a:r>
              <a:rPr lang="en-US" sz="1200"/>
              <a:t>OpCode</a:t>
            </a:r>
          </a:p>
          <a:p>
            <a:pPr algn="ctr"/>
            <a:r>
              <a:rPr lang="en-US" sz="1200"/>
              <a:t>[7:6] Rd RO</a:t>
            </a:r>
          </a:p>
        </p:txBody>
      </p:sp>
      <p:sp>
        <p:nvSpPr>
          <p:cNvPr id="60" name="Arrow: Right 59">
            <a:hlinkClick r:id="rId12" action="ppaction://hlinksldjump"/>
            <a:extLst>
              <a:ext uri="{FF2B5EF4-FFF2-40B4-BE49-F238E27FC236}">
                <a16:creationId xmlns:a16="http://schemas.microsoft.com/office/drawing/2014/main" id="{DA57BCE9-47E3-AEFE-9B87-33FFD871F1DF}"/>
              </a:ext>
            </a:extLst>
          </p:cNvPr>
          <p:cNvSpPr/>
          <p:nvPr/>
        </p:nvSpPr>
        <p:spPr>
          <a:xfrm rot="5400000">
            <a:off x="10350759" y="5005717"/>
            <a:ext cx="731520" cy="755881"/>
          </a:xfrm>
          <a:prstGeom prst="rightArrow">
            <a:avLst/>
          </a:prstGeom>
          <a:solidFill>
            <a:srgbClr val="92D050"/>
          </a:solidFill>
        </p:spPr>
        <p:style>
          <a:lnRef idx="1">
            <a:schemeClr val="accent5"/>
          </a:lnRef>
          <a:fillRef idx="2">
            <a:schemeClr val="accent5"/>
          </a:fillRef>
          <a:effectRef idx="1">
            <a:schemeClr val="accent5"/>
          </a:effectRef>
          <a:fontRef idx="minor">
            <a:schemeClr val="dk1"/>
          </a:fontRef>
        </p:style>
        <p:txBody>
          <a:bodyPr wrap="none" lIns="0" tIns="0" rIns="0" bIns="0" rtlCol="0" anchor="ctr"/>
          <a:lstStyle/>
          <a:p>
            <a:pPr algn="ctr"/>
            <a:r>
              <a:rPr lang="en-US" sz="1200" dirty="0"/>
              <a:t>Short H</a:t>
            </a:r>
          </a:p>
          <a:p>
            <a:pPr algn="ctr"/>
            <a:r>
              <a:rPr lang="en-US" sz="1200" dirty="0"/>
              <a:t>[15:12]</a:t>
            </a:r>
          </a:p>
        </p:txBody>
      </p:sp>
      <p:sp>
        <p:nvSpPr>
          <p:cNvPr id="73" name="Arrow: Right 72">
            <a:hlinkClick r:id="rId15" action="ppaction://hlinksldjump"/>
            <a:extLst>
              <a:ext uri="{FF2B5EF4-FFF2-40B4-BE49-F238E27FC236}">
                <a16:creationId xmlns:a16="http://schemas.microsoft.com/office/drawing/2014/main" id="{9FAC357E-A986-7196-3EE2-3C42F3254150}"/>
              </a:ext>
            </a:extLst>
          </p:cNvPr>
          <p:cNvSpPr/>
          <p:nvPr/>
        </p:nvSpPr>
        <p:spPr>
          <a:xfrm rot="5400000">
            <a:off x="10818177" y="2903966"/>
            <a:ext cx="731520" cy="755881"/>
          </a:xfrm>
          <a:prstGeom prst="rightArrow">
            <a:avLst/>
          </a:prstGeom>
          <a:solidFill>
            <a:schemeClr val="accent6">
              <a:lumMod val="50000"/>
            </a:schemeClr>
          </a:solidFill>
        </p:spPr>
        <p:style>
          <a:lnRef idx="1">
            <a:schemeClr val="accent5"/>
          </a:lnRef>
          <a:fillRef idx="2">
            <a:schemeClr val="accent5"/>
          </a:fillRef>
          <a:effectRef idx="1">
            <a:schemeClr val="accent5"/>
          </a:effectRef>
          <a:fontRef idx="minor">
            <a:schemeClr val="dk1"/>
          </a:fontRef>
        </p:style>
        <p:txBody>
          <a:bodyPr wrap="none" lIns="0" tIns="0" rIns="0" bIns="0" rtlCol="0" anchor="ctr"/>
          <a:lstStyle/>
          <a:p>
            <a:pPr algn="ctr"/>
            <a:r>
              <a:rPr lang="en-US" sz="1200">
                <a:solidFill>
                  <a:schemeClr val="bg1"/>
                </a:solidFill>
              </a:rPr>
              <a:t>OpCode</a:t>
            </a:r>
          </a:p>
          <a:p>
            <a:pPr algn="ctr"/>
            <a:r>
              <a:rPr lang="en-US" sz="1200">
                <a:solidFill>
                  <a:schemeClr val="bg1"/>
                </a:solidFill>
              </a:rPr>
              <a:t>[7:6] Rd RI</a:t>
            </a:r>
          </a:p>
        </p:txBody>
      </p:sp>
      <p:sp>
        <p:nvSpPr>
          <p:cNvPr id="74" name="Arrow: Right 73">
            <a:hlinkClick r:id="rId16" action="ppaction://hlinksldjump"/>
            <a:extLst>
              <a:ext uri="{FF2B5EF4-FFF2-40B4-BE49-F238E27FC236}">
                <a16:creationId xmlns:a16="http://schemas.microsoft.com/office/drawing/2014/main" id="{FEC17707-EF22-EDD9-43D8-313CB5580BB4}"/>
              </a:ext>
            </a:extLst>
          </p:cNvPr>
          <p:cNvSpPr/>
          <p:nvPr/>
        </p:nvSpPr>
        <p:spPr>
          <a:xfrm rot="5400000">
            <a:off x="9884937" y="2540231"/>
            <a:ext cx="1053793" cy="394164"/>
          </a:xfrm>
          <a:prstGeom prst="rightArrow">
            <a:avLst/>
          </a:prstGeom>
          <a:solidFill>
            <a:schemeClr val="accent5">
              <a:lumMod val="75000"/>
            </a:schemeClr>
          </a:solidFill>
        </p:spPr>
        <p:style>
          <a:lnRef idx="1">
            <a:schemeClr val="accent5"/>
          </a:lnRef>
          <a:fillRef idx="2">
            <a:schemeClr val="accent5"/>
          </a:fillRef>
          <a:effectRef idx="1">
            <a:schemeClr val="accent5"/>
          </a:effectRef>
          <a:fontRef idx="minor">
            <a:schemeClr val="dk1"/>
          </a:fontRef>
        </p:style>
        <p:txBody>
          <a:bodyPr wrap="none" lIns="0" tIns="0" rIns="0" bIns="0" rtlCol="0" anchor="ctr"/>
          <a:lstStyle/>
          <a:p>
            <a:pPr algn="ctr"/>
            <a:r>
              <a:rPr lang="en-US" sz="1200">
                <a:solidFill>
                  <a:schemeClr val="bg1"/>
                </a:solidFill>
              </a:rPr>
              <a:t>OpCode [5] A/I</a:t>
            </a:r>
          </a:p>
        </p:txBody>
      </p:sp>
      <p:sp>
        <p:nvSpPr>
          <p:cNvPr id="83" name="Oval 82">
            <a:extLst>
              <a:ext uri="{FF2B5EF4-FFF2-40B4-BE49-F238E27FC236}">
                <a16:creationId xmlns:a16="http://schemas.microsoft.com/office/drawing/2014/main" id="{85CAAF5D-EE5B-1636-1526-DB81EA3C1152}"/>
              </a:ext>
            </a:extLst>
          </p:cNvPr>
          <p:cNvSpPr/>
          <p:nvPr/>
        </p:nvSpPr>
        <p:spPr>
          <a:xfrm>
            <a:off x="4568884" y="3903583"/>
            <a:ext cx="91440" cy="9144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hlinkClick r:id="rId17" action="ppaction://hlinksldjump"/>
            <a:extLst>
              <a:ext uri="{FF2B5EF4-FFF2-40B4-BE49-F238E27FC236}">
                <a16:creationId xmlns:a16="http://schemas.microsoft.com/office/drawing/2014/main" id="{0D2B038A-F201-330E-659E-B3EEDE6EE098}"/>
              </a:ext>
            </a:extLst>
          </p:cNvPr>
          <p:cNvPicPr>
            <a:picLocks noChangeAspect="1"/>
          </p:cNvPicPr>
          <p:nvPr/>
        </p:nvPicPr>
        <p:blipFill>
          <a:blip r:embed="rId18"/>
          <a:stretch>
            <a:fillRect/>
          </a:stretch>
        </p:blipFill>
        <p:spPr>
          <a:xfrm>
            <a:off x="11038384" y="6427540"/>
            <a:ext cx="1076851" cy="222744"/>
          </a:xfrm>
          <a:prstGeom prst="rect">
            <a:avLst/>
          </a:prstGeom>
        </p:spPr>
      </p:pic>
      <p:sp>
        <p:nvSpPr>
          <p:cNvPr id="18" name="Slide Number Placeholder 4">
            <a:extLst>
              <a:ext uri="{FF2B5EF4-FFF2-40B4-BE49-F238E27FC236}">
                <a16:creationId xmlns:a16="http://schemas.microsoft.com/office/drawing/2014/main" id="{CB9DB98D-A4BA-94AB-6726-34182C861ACE}"/>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27</a:t>
            </a:fld>
            <a:endParaRPr lang="en-US" b="1">
              <a:solidFill>
                <a:schemeClr val="bg1"/>
              </a:solidFill>
            </a:endParaRPr>
          </a:p>
        </p:txBody>
      </p:sp>
      <p:cxnSp>
        <p:nvCxnSpPr>
          <p:cNvPr id="32" name="Connector: Elbow 31">
            <a:extLst>
              <a:ext uri="{FF2B5EF4-FFF2-40B4-BE49-F238E27FC236}">
                <a16:creationId xmlns:a16="http://schemas.microsoft.com/office/drawing/2014/main" id="{291A6374-D63D-9DD9-24B2-C872591A5164}"/>
              </a:ext>
            </a:extLst>
          </p:cNvPr>
          <p:cNvCxnSpPr>
            <a:cxnSpLocks/>
            <a:stCxn id="20" idx="0"/>
            <a:endCxn id="40" idx="3"/>
          </p:cNvCxnSpPr>
          <p:nvPr/>
        </p:nvCxnSpPr>
        <p:spPr>
          <a:xfrm rot="16200000" flipV="1">
            <a:off x="3540633" y="4739509"/>
            <a:ext cx="1878169" cy="273435"/>
          </a:xfrm>
          <a:prstGeom prst="bentConnector2">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a:hlinkClick r:id="rId19" action="ppaction://hlinksldjump"/>
            <a:extLst>
              <a:ext uri="{FF2B5EF4-FFF2-40B4-BE49-F238E27FC236}">
                <a16:creationId xmlns:a16="http://schemas.microsoft.com/office/drawing/2014/main" id="{821D2C4C-745D-E4ED-2A1B-C23EBD68B041}"/>
              </a:ext>
            </a:extLst>
          </p:cNvPr>
          <p:cNvSpPr txBox="1"/>
          <p:nvPr/>
        </p:nvSpPr>
        <p:spPr>
          <a:xfrm>
            <a:off x="6013697" y="5813564"/>
            <a:ext cx="1146785" cy="182880"/>
          </a:xfrm>
          <a:prstGeom prst="rect">
            <a:avLst/>
          </a:prstGeom>
          <a:noFill/>
          <a:ln w="12700">
            <a:solidFill>
              <a:schemeClr val="accent6">
                <a:lumMod val="75000"/>
              </a:schemeClr>
            </a:solidFill>
          </a:ln>
        </p:spPr>
        <p:txBody>
          <a:bodyPr wrap="square" rtlCol="0" anchor="ctr">
            <a:spAutoFit/>
          </a:bodyPr>
          <a:lstStyle/>
          <a:p>
            <a:r>
              <a:rPr lang="en-US" sz="1050"/>
              <a:t>INC Prog Counter</a:t>
            </a:r>
          </a:p>
        </p:txBody>
      </p:sp>
      <p:cxnSp>
        <p:nvCxnSpPr>
          <p:cNvPr id="12" name="Connector: Elbow 11">
            <a:extLst>
              <a:ext uri="{FF2B5EF4-FFF2-40B4-BE49-F238E27FC236}">
                <a16:creationId xmlns:a16="http://schemas.microsoft.com/office/drawing/2014/main" id="{91AB5479-29C1-076A-73AF-88363CC708D8}"/>
              </a:ext>
            </a:extLst>
          </p:cNvPr>
          <p:cNvCxnSpPr>
            <a:cxnSpLocks/>
            <a:stCxn id="20" idx="6"/>
            <a:endCxn id="3" idx="1"/>
          </p:cNvCxnSpPr>
          <p:nvPr/>
        </p:nvCxnSpPr>
        <p:spPr>
          <a:xfrm>
            <a:off x="4662153" y="5861031"/>
            <a:ext cx="1351544" cy="43973"/>
          </a:xfrm>
          <a:prstGeom prst="bentConnector3">
            <a:avLst>
              <a:gd name="adj1" fmla="val 50000"/>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EF61154E-BDE9-EC16-3BA7-00EA7FAF898D}"/>
              </a:ext>
            </a:extLst>
          </p:cNvPr>
          <p:cNvSpPr/>
          <p:nvPr/>
        </p:nvSpPr>
        <p:spPr>
          <a:xfrm>
            <a:off x="4570713" y="5815311"/>
            <a:ext cx="91440" cy="9144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hlinkClick r:id="rId20" action="ppaction://hlinksldjump"/>
            <a:extLst>
              <a:ext uri="{FF2B5EF4-FFF2-40B4-BE49-F238E27FC236}">
                <a16:creationId xmlns:a16="http://schemas.microsoft.com/office/drawing/2014/main" id="{F3E52523-8665-92FF-081A-6FF9E5A42A70}"/>
              </a:ext>
            </a:extLst>
          </p:cNvPr>
          <p:cNvSpPr txBox="1"/>
          <p:nvPr/>
        </p:nvSpPr>
        <p:spPr>
          <a:xfrm>
            <a:off x="6013696" y="6108940"/>
            <a:ext cx="853797" cy="182880"/>
          </a:xfrm>
          <a:prstGeom prst="rect">
            <a:avLst/>
          </a:prstGeom>
          <a:noFill/>
          <a:ln w="12700">
            <a:solidFill>
              <a:schemeClr val="accent6">
                <a:lumMod val="75000"/>
              </a:schemeClr>
            </a:solidFill>
          </a:ln>
        </p:spPr>
        <p:txBody>
          <a:bodyPr wrap="square" rtlCol="0" anchor="ctr">
            <a:spAutoFit/>
          </a:bodyPr>
          <a:lstStyle/>
          <a:p>
            <a:r>
              <a:rPr lang="en-US" sz="1050" dirty="0"/>
              <a:t>Quiesce</a:t>
            </a:r>
          </a:p>
        </p:txBody>
      </p:sp>
      <p:cxnSp>
        <p:nvCxnSpPr>
          <p:cNvPr id="21" name="Connector: Elbow 20">
            <a:extLst>
              <a:ext uri="{FF2B5EF4-FFF2-40B4-BE49-F238E27FC236}">
                <a16:creationId xmlns:a16="http://schemas.microsoft.com/office/drawing/2014/main" id="{A91E07A5-BEBA-060A-50D7-CD770EA00D99}"/>
              </a:ext>
            </a:extLst>
          </p:cNvPr>
          <p:cNvCxnSpPr>
            <a:cxnSpLocks/>
            <a:stCxn id="20" idx="4"/>
            <a:endCxn id="4" idx="1"/>
          </p:cNvCxnSpPr>
          <p:nvPr/>
        </p:nvCxnSpPr>
        <p:spPr>
          <a:xfrm rot="16200000" flipH="1">
            <a:off x="5168250" y="5354933"/>
            <a:ext cx="293629" cy="1397263"/>
          </a:xfrm>
          <a:prstGeom prst="bentConnector2">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hlinkClick r:id="rId21" action="ppaction://hlinksldjump"/>
            <a:extLst>
              <a:ext uri="{FF2B5EF4-FFF2-40B4-BE49-F238E27FC236}">
                <a16:creationId xmlns:a16="http://schemas.microsoft.com/office/drawing/2014/main" id="{AE3417E2-0112-0ED2-3DE6-5B53BE3744B9}"/>
              </a:ext>
            </a:extLst>
          </p:cNvPr>
          <p:cNvSpPr txBox="1"/>
          <p:nvPr/>
        </p:nvSpPr>
        <p:spPr>
          <a:xfrm>
            <a:off x="5506387" y="1132714"/>
            <a:ext cx="851067" cy="184666"/>
          </a:xfrm>
          <a:prstGeom prst="rect">
            <a:avLst/>
          </a:prstGeom>
          <a:solidFill>
            <a:schemeClr val="bg1"/>
          </a:solidFill>
          <a:ln>
            <a:solidFill>
              <a:schemeClr val="accent1"/>
            </a:solidFill>
          </a:ln>
        </p:spPr>
        <p:txBody>
          <a:bodyPr wrap="none" tIns="0" bIns="0" rtlCol="0">
            <a:spAutoFit/>
          </a:bodyPr>
          <a:lstStyle/>
          <a:p>
            <a:r>
              <a:rPr lang="en-US" sz="1200" dirty="0" err="1"/>
              <a:t>FetchCycle</a:t>
            </a:r>
            <a:endParaRPr lang="en-US" sz="1200" dirty="0"/>
          </a:p>
        </p:txBody>
      </p:sp>
      <p:cxnSp>
        <p:nvCxnSpPr>
          <p:cNvPr id="22" name="Connector: Elbow 21">
            <a:extLst>
              <a:ext uri="{FF2B5EF4-FFF2-40B4-BE49-F238E27FC236}">
                <a16:creationId xmlns:a16="http://schemas.microsoft.com/office/drawing/2014/main" id="{12A74509-D4AC-3FB8-5DE2-EB680A9E4C30}"/>
              </a:ext>
            </a:extLst>
          </p:cNvPr>
          <p:cNvCxnSpPr>
            <a:cxnSpLocks/>
            <a:endCxn id="19" idx="1"/>
          </p:cNvCxnSpPr>
          <p:nvPr/>
        </p:nvCxnSpPr>
        <p:spPr>
          <a:xfrm flipV="1">
            <a:off x="5213149" y="1225047"/>
            <a:ext cx="293238" cy="1"/>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61" name="Connector: Elbow 60">
            <a:extLst>
              <a:ext uri="{FF2B5EF4-FFF2-40B4-BE49-F238E27FC236}">
                <a16:creationId xmlns:a16="http://schemas.microsoft.com/office/drawing/2014/main" id="{7F8A0D03-3902-2EBA-4A99-BDC7E7E87D40}"/>
              </a:ext>
            </a:extLst>
          </p:cNvPr>
          <p:cNvCxnSpPr>
            <a:cxnSpLocks/>
            <a:stCxn id="83" idx="0"/>
          </p:cNvCxnSpPr>
          <p:nvPr/>
        </p:nvCxnSpPr>
        <p:spPr>
          <a:xfrm rot="5400000" flipH="1" flipV="1">
            <a:off x="3482599" y="2451299"/>
            <a:ext cx="2584291" cy="320279"/>
          </a:xfrm>
          <a:prstGeom prst="bentConnector3">
            <a:avLst>
              <a:gd name="adj1" fmla="val 100547"/>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78" name="Connector: Elbow 77">
            <a:extLst>
              <a:ext uri="{FF2B5EF4-FFF2-40B4-BE49-F238E27FC236}">
                <a16:creationId xmlns:a16="http://schemas.microsoft.com/office/drawing/2014/main" id="{42DAC9AA-7181-42CC-D645-C04432C978F8}"/>
              </a:ext>
            </a:extLst>
          </p:cNvPr>
          <p:cNvCxnSpPr>
            <a:cxnSpLocks/>
            <a:stCxn id="45" idx="3"/>
          </p:cNvCxnSpPr>
          <p:nvPr/>
        </p:nvCxnSpPr>
        <p:spPr>
          <a:xfrm flipV="1">
            <a:off x="1834238" y="1184661"/>
            <a:ext cx="3087013" cy="524103"/>
          </a:xfrm>
          <a:prstGeom prst="bentConnector3">
            <a:avLst>
              <a:gd name="adj1" fmla="val 62496"/>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29" name="Picture 28">
            <a:extLst>
              <a:ext uri="{FF2B5EF4-FFF2-40B4-BE49-F238E27FC236}">
                <a16:creationId xmlns:a16="http://schemas.microsoft.com/office/drawing/2014/main" id="{249039FF-702A-D477-57EE-E900EEFD5043}"/>
              </a:ext>
            </a:extLst>
          </p:cNvPr>
          <p:cNvPicPr>
            <a:picLocks noChangeAspect="1"/>
          </p:cNvPicPr>
          <p:nvPr/>
        </p:nvPicPr>
        <p:blipFill rotWithShape="1">
          <a:blip r:embed="rId22">
            <a:extLst>
              <a:ext uri="{28A0092B-C50C-407E-A947-70E740481C1C}">
                <a14:useLocalDpi xmlns:a14="http://schemas.microsoft.com/office/drawing/2010/main" val="0"/>
              </a:ext>
              <a:ext uri="{837473B0-CC2E-450A-ABE3-18F120FF3D39}">
                <a1611:picAttrSrcUrl xmlns:a1611="http://schemas.microsoft.com/office/drawing/2016/11/main" r:id="rId23"/>
              </a:ext>
            </a:extLst>
          </a:blip>
          <a:srcRect l="65790" t="23028" r="7330" b="48750"/>
          <a:stretch/>
        </p:blipFill>
        <p:spPr>
          <a:xfrm>
            <a:off x="4796063" y="1036657"/>
            <a:ext cx="559863" cy="434580"/>
          </a:xfrm>
          <a:prstGeom prst="rect">
            <a:avLst/>
          </a:prstGeom>
        </p:spPr>
      </p:pic>
      <p:cxnSp>
        <p:nvCxnSpPr>
          <p:cNvPr id="91" name="Connector: Elbow 90">
            <a:extLst>
              <a:ext uri="{FF2B5EF4-FFF2-40B4-BE49-F238E27FC236}">
                <a16:creationId xmlns:a16="http://schemas.microsoft.com/office/drawing/2014/main" id="{6F83FF02-5EA1-D054-A255-10B56826394D}"/>
              </a:ext>
            </a:extLst>
          </p:cNvPr>
          <p:cNvCxnSpPr>
            <a:cxnSpLocks/>
            <a:stCxn id="82" idx="3"/>
          </p:cNvCxnSpPr>
          <p:nvPr/>
        </p:nvCxnSpPr>
        <p:spPr>
          <a:xfrm flipV="1">
            <a:off x="1485998" y="2246792"/>
            <a:ext cx="1134862" cy="666475"/>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95" name="Connector: Elbow 94">
            <a:extLst>
              <a:ext uri="{FF2B5EF4-FFF2-40B4-BE49-F238E27FC236}">
                <a16:creationId xmlns:a16="http://schemas.microsoft.com/office/drawing/2014/main" id="{2B43FAF0-83AA-6DCF-F63B-C25A91986A4C}"/>
              </a:ext>
            </a:extLst>
          </p:cNvPr>
          <p:cNvCxnSpPr>
            <a:cxnSpLocks/>
          </p:cNvCxnSpPr>
          <p:nvPr/>
        </p:nvCxnSpPr>
        <p:spPr>
          <a:xfrm>
            <a:off x="2620860" y="2248199"/>
            <a:ext cx="3694429" cy="1612571"/>
          </a:xfrm>
          <a:prstGeom prst="bentConnector3">
            <a:avLst>
              <a:gd name="adj1" fmla="val 69977"/>
            </a:avLst>
          </a:prstGeom>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9965345A-8924-8BDB-0254-B8A67360DD6C}"/>
              </a:ext>
            </a:extLst>
          </p:cNvPr>
          <p:cNvSpPr/>
          <p:nvPr/>
        </p:nvSpPr>
        <p:spPr>
          <a:xfrm>
            <a:off x="2657791" y="4395325"/>
            <a:ext cx="218492" cy="21157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A24073D7-8B6D-9717-F9AF-3551CC7AEA66}"/>
              </a:ext>
            </a:extLst>
          </p:cNvPr>
          <p:cNvSpPr/>
          <p:nvPr/>
        </p:nvSpPr>
        <p:spPr>
          <a:xfrm>
            <a:off x="4568884" y="1594377"/>
            <a:ext cx="91440" cy="9144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2" descr="NOR logic - Wikipedia">
            <a:extLst>
              <a:ext uri="{FF2B5EF4-FFF2-40B4-BE49-F238E27FC236}">
                <a16:creationId xmlns:a16="http://schemas.microsoft.com/office/drawing/2014/main" id="{702E787C-C5F5-1868-04BA-D2FDD6D4B03E}"/>
              </a:ext>
            </a:extLst>
          </p:cNvPr>
          <p:cNvPicPr>
            <a:picLocks noChangeAspect="1" noChangeArrowheads="1"/>
          </p:cNvPicPr>
          <p:nvPr/>
        </p:nvPicPr>
        <p:blipFill rotWithShape="1">
          <a:blip r:embed="rId24">
            <a:extLst>
              <a:ext uri="{28A0092B-C50C-407E-A947-70E740481C1C}">
                <a14:useLocalDpi xmlns:a14="http://schemas.microsoft.com/office/drawing/2010/main" val="0"/>
              </a:ext>
            </a:extLst>
          </a:blip>
          <a:srcRect l="15691" r="13725"/>
          <a:stretch/>
        </p:blipFill>
        <p:spPr bwMode="auto">
          <a:xfrm>
            <a:off x="6203191" y="3757292"/>
            <a:ext cx="619419" cy="36565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hlinkClick r:id="rId20" action="ppaction://hlinksldjump"/>
            <a:extLst>
              <a:ext uri="{FF2B5EF4-FFF2-40B4-BE49-F238E27FC236}">
                <a16:creationId xmlns:a16="http://schemas.microsoft.com/office/drawing/2014/main" id="{CD3BD669-DB8D-23D0-00D3-693D3D32868F}"/>
              </a:ext>
            </a:extLst>
          </p:cNvPr>
          <p:cNvSpPr txBox="1"/>
          <p:nvPr/>
        </p:nvSpPr>
        <p:spPr>
          <a:xfrm>
            <a:off x="6009934" y="6506320"/>
            <a:ext cx="723275" cy="161711"/>
          </a:xfrm>
          <a:prstGeom prst="rect">
            <a:avLst/>
          </a:prstGeom>
        </p:spPr>
        <p:style>
          <a:lnRef idx="2">
            <a:schemeClr val="accent5"/>
          </a:lnRef>
          <a:fillRef idx="1">
            <a:schemeClr val="lt1"/>
          </a:fillRef>
          <a:effectRef idx="0">
            <a:schemeClr val="accent5"/>
          </a:effectRef>
          <a:fontRef idx="minor">
            <a:schemeClr val="dk1"/>
          </a:fontRef>
        </p:style>
        <p:txBody>
          <a:bodyPr wrap="none" tIns="0" bIns="0" rtlCol="0" anchor="ctr">
            <a:spAutoFit/>
          </a:bodyPr>
          <a:lstStyle/>
          <a:p>
            <a:r>
              <a:rPr lang="en-US" sz="1051" dirty="0"/>
              <a:t>Bus Grant</a:t>
            </a:r>
          </a:p>
        </p:txBody>
      </p:sp>
      <p:cxnSp>
        <p:nvCxnSpPr>
          <p:cNvPr id="26" name="Connector: Elbow 25">
            <a:extLst>
              <a:ext uri="{FF2B5EF4-FFF2-40B4-BE49-F238E27FC236}">
                <a16:creationId xmlns:a16="http://schemas.microsoft.com/office/drawing/2014/main" id="{45D01820-0FA1-5A76-1AF0-AA240BDC9B1E}"/>
              </a:ext>
            </a:extLst>
          </p:cNvPr>
          <p:cNvCxnSpPr>
            <a:stCxn id="4" idx="3"/>
          </p:cNvCxnSpPr>
          <p:nvPr/>
        </p:nvCxnSpPr>
        <p:spPr>
          <a:xfrm>
            <a:off x="6867493" y="6200380"/>
            <a:ext cx="531982" cy="202545"/>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4CD8F1A3-5349-0971-4917-454C91FB54D7}"/>
              </a:ext>
            </a:extLst>
          </p:cNvPr>
          <p:cNvCxnSpPr>
            <a:cxnSpLocks/>
            <a:stCxn id="8" idx="3"/>
          </p:cNvCxnSpPr>
          <p:nvPr/>
        </p:nvCxnSpPr>
        <p:spPr>
          <a:xfrm flipV="1">
            <a:off x="6733209" y="6531318"/>
            <a:ext cx="759401" cy="55858"/>
          </a:xfrm>
          <a:prstGeom prst="bentConnector3">
            <a:avLst/>
          </a:prstGeom>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205B2491-A8D8-9CF2-D286-19D9D9D3BD14}"/>
              </a:ext>
            </a:extLst>
          </p:cNvPr>
          <p:cNvPicPr>
            <a:picLocks noChangeAspect="1"/>
          </p:cNvPicPr>
          <p:nvPr/>
        </p:nvPicPr>
        <p:blipFill rotWithShape="1">
          <a:blip r:embed="rId22">
            <a:extLst>
              <a:ext uri="{28A0092B-C50C-407E-A947-70E740481C1C}">
                <a14:useLocalDpi xmlns:a14="http://schemas.microsoft.com/office/drawing/2010/main" val="0"/>
              </a:ext>
              <a:ext uri="{837473B0-CC2E-450A-ABE3-18F120FF3D39}">
                <a1611:picAttrSrcUrl xmlns:a1611="http://schemas.microsoft.com/office/drawing/2016/11/main" r:id="rId23"/>
              </a:ext>
            </a:extLst>
          </a:blip>
          <a:srcRect l="65790" t="23028" r="7330" b="48750"/>
          <a:stretch/>
        </p:blipFill>
        <p:spPr>
          <a:xfrm>
            <a:off x="7290263" y="6251225"/>
            <a:ext cx="559863" cy="434580"/>
          </a:xfrm>
          <a:prstGeom prst="rect">
            <a:avLst/>
          </a:prstGeom>
        </p:spPr>
      </p:pic>
      <p:sp>
        <p:nvSpPr>
          <p:cNvPr id="31" name="TextBox 30">
            <a:hlinkClick r:id="rId6" action="ppaction://hlinksldjump"/>
            <a:extLst>
              <a:ext uri="{FF2B5EF4-FFF2-40B4-BE49-F238E27FC236}">
                <a16:creationId xmlns:a16="http://schemas.microsoft.com/office/drawing/2014/main" id="{6E293C1E-A7AE-D8F0-63AE-240177C98A2A}"/>
              </a:ext>
            </a:extLst>
          </p:cNvPr>
          <p:cNvSpPr txBox="1"/>
          <p:nvPr/>
        </p:nvSpPr>
        <p:spPr>
          <a:xfrm>
            <a:off x="7847242" y="6363263"/>
            <a:ext cx="1163363" cy="182880"/>
          </a:xfrm>
          <a:prstGeom prst="rect">
            <a:avLst/>
          </a:prstGeom>
          <a:noFill/>
          <a:ln w="12700">
            <a:solidFill>
              <a:schemeClr val="accent6">
                <a:lumMod val="75000"/>
              </a:schemeClr>
            </a:solidFill>
          </a:ln>
        </p:spPr>
        <p:txBody>
          <a:bodyPr wrap="square" rtlCol="0" anchor="ctr">
            <a:spAutoFit/>
          </a:bodyPr>
          <a:lstStyle/>
          <a:p>
            <a:r>
              <a:rPr lang="en-US" sz="1050" dirty="0" err="1"/>
              <a:t>MSB_Quiesce</a:t>
            </a:r>
            <a:endParaRPr lang="en-US" sz="1050" dirty="0"/>
          </a:p>
        </p:txBody>
      </p:sp>
      <p:sp>
        <p:nvSpPr>
          <p:cNvPr id="37" name="TextBox 36">
            <a:hlinkClick r:id="rId25" action="ppaction://hlinksldjump"/>
            <a:extLst>
              <a:ext uri="{FF2B5EF4-FFF2-40B4-BE49-F238E27FC236}">
                <a16:creationId xmlns:a16="http://schemas.microsoft.com/office/drawing/2014/main" id="{8B5D047C-60B2-6221-A38A-60A63B1AF264}"/>
              </a:ext>
            </a:extLst>
          </p:cNvPr>
          <p:cNvSpPr txBox="1"/>
          <p:nvPr/>
        </p:nvSpPr>
        <p:spPr>
          <a:xfrm>
            <a:off x="6000937" y="5581875"/>
            <a:ext cx="851515" cy="182880"/>
          </a:xfrm>
          <a:prstGeom prst="rect">
            <a:avLst/>
          </a:prstGeom>
        </p:spPr>
        <p:style>
          <a:lnRef idx="2">
            <a:schemeClr val="accent5"/>
          </a:lnRef>
          <a:fillRef idx="1">
            <a:schemeClr val="lt1"/>
          </a:fillRef>
          <a:effectRef idx="0">
            <a:schemeClr val="accent5"/>
          </a:effectRef>
          <a:fontRef idx="minor">
            <a:schemeClr val="dk1"/>
          </a:fontRef>
        </p:style>
        <p:txBody>
          <a:bodyPr wrap="none" rtlCol="0" anchor="ctr">
            <a:spAutoFit/>
          </a:bodyPr>
          <a:lstStyle/>
          <a:p>
            <a:r>
              <a:rPr lang="en-US" sz="1100" dirty="0"/>
              <a:t># Bus Grant</a:t>
            </a:r>
          </a:p>
        </p:txBody>
      </p:sp>
      <p:pic>
        <p:nvPicPr>
          <p:cNvPr id="48" name="Picture 47" descr="Diagram&#10;&#10;Description automatically generated with low confidence">
            <a:extLst>
              <a:ext uri="{FF2B5EF4-FFF2-40B4-BE49-F238E27FC236}">
                <a16:creationId xmlns:a16="http://schemas.microsoft.com/office/drawing/2014/main" id="{3D04DF66-50FA-7AFC-3195-0C582804D6F6}"/>
              </a:ext>
            </a:extLst>
          </p:cNvPr>
          <p:cNvPicPr>
            <a:picLocks noChangeAspect="1"/>
          </p:cNvPicPr>
          <p:nvPr/>
        </p:nvPicPr>
        <p:blipFill rotWithShape="1">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rcRect l="50000" t="19257" r="4045" b="-1180"/>
          <a:stretch/>
        </p:blipFill>
        <p:spPr>
          <a:xfrm>
            <a:off x="6963183" y="5333062"/>
            <a:ext cx="589252" cy="410716"/>
          </a:xfrm>
          <a:prstGeom prst="rect">
            <a:avLst/>
          </a:prstGeom>
        </p:spPr>
      </p:pic>
      <p:cxnSp>
        <p:nvCxnSpPr>
          <p:cNvPr id="64" name="Straight Connector 63">
            <a:extLst>
              <a:ext uri="{FF2B5EF4-FFF2-40B4-BE49-F238E27FC236}">
                <a16:creationId xmlns:a16="http://schemas.microsoft.com/office/drawing/2014/main" id="{DA1B170B-1A2B-CFA3-B45F-1BAACAB59C19}"/>
              </a:ext>
            </a:extLst>
          </p:cNvPr>
          <p:cNvCxnSpPr>
            <a:cxnSpLocks/>
          </p:cNvCxnSpPr>
          <p:nvPr/>
        </p:nvCxnSpPr>
        <p:spPr>
          <a:xfrm flipV="1">
            <a:off x="6009934" y="5412397"/>
            <a:ext cx="95755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777E152B-E191-1666-5182-5976417C7AFA}"/>
              </a:ext>
            </a:extLst>
          </p:cNvPr>
          <p:cNvCxnSpPr>
            <a:cxnSpLocks/>
            <a:stCxn id="37" idx="3"/>
          </p:cNvCxnSpPr>
          <p:nvPr/>
        </p:nvCxnSpPr>
        <p:spPr>
          <a:xfrm flipV="1">
            <a:off x="6852452" y="5657337"/>
            <a:ext cx="18693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87F1544D-5D5D-FE17-05FC-87550D5BC684}"/>
              </a:ext>
            </a:extLst>
          </p:cNvPr>
          <p:cNvCxnSpPr>
            <a:cxnSpLocks/>
            <a:stCxn id="48" idx="3"/>
            <a:endCxn id="63" idx="1"/>
          </p:cNvCxnSpPr>
          <p:nvPr/>
        </p:nvCxnSpPr>
        <p:spPr>
          <a:xfrm>
            <a:off x="7552435" y="5538420"/>
            <a:ext cx="170249" cy="0"/>
          </a:xfrm>
          <a:prstGeom prst="line">
            <a:avLst/>
          </a:prstGeom>
        </p:spPr>
        <p:style>
          <a:lnRef idx="1">
            <a:schemeClr val="accent1"/>
          </a:lnRef>
          <a:fillRef idx="0">
            <a:schemeClr val="accent1"/>
          </a:fillRef>
          <a:effectRef idx="0">
            <a:schemeClr val="accent1"/>
          </a:effectRef>
          <a:fontRef idx="minor">
            <a:schemeClr val="tx1"/>
          </a:fontRef>
        </p:style>
      </p:cxnSp>
      <p:sp>
        <p:nvSpPr>
          <p:cNvPr id="25" name="Right Brace 24">
            <a:extLst>
              <a:ext uri="{FF2B5EF4-FFF2-40B4-BE49-F238E27FC236}">
                <a16:creationId xmlns:a16="http://schemas.microsoft.com/office/drawing/2014/main" id="{A0D789A4-5304-8FBA-7FDC-AED7B87FE501}"/>
              </a:ext>
            </a:extLst>
          </p:cNvPr>
          <p:cNvSpPr/>
          <p:nvPr/>
        </p:nvSpPr>
        <p:spPr>
          <a:xfrm rot="5400000">
            <a:off x="8961956" y="1306167"/>
            <a:ext cx="394165" cy="200325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952724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Rectangle 125">
            <a:extLst>
              <a:ext uri="{FF2B5EF4-FFF2-40B4-BE49-F238E27FC236}">
                <a16:creationId xmlns:a16="http://schemas.microsoft.com/office/drawing/2014/main" id="{04F23BC4-3200-249E-2373-D9BA0AC66F46}"/>
              </a:ext>
            </a:extLst>
          </p:cNvPr>
          <p:cNvSpPr/>
          <p:nvPr/>
        </p:nvSpPr>
        <p:spPr>
          <a:xfrm>
            <a:off x="1789924" y="4085404"/>
            <a:ext cx="163373" cy="1212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126">
            <a:extLst>
              <a:ext uri="{FF2B5EF4-FFF2-40B4-BE49-F238E27FC236}">
                <a16:creationId xmlns:a16="http://schemas.microsoft.com/office/drawing/2014/main" id="{B3E421ED-1FE6-B408-A4AB-FCFCD1ED10D1}"/>
              </a:ext>
            </a:extLst>
          </p:cNvPr>
          <p:cNvSpPr/>
          <p:nvPr/>
        </p:nvSpPr>
        <p:spPr>
          <a:xfrm>
            <a:off x="1662631" y="4085403"/>
            <a:ext cx="163373" cy="1212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BB5324E6-8231-C626-D9F1-ABD6C08F0060}"/>
              </a:ext>
            </a:extLst>
          </p:cNvPr>
          <p:cNvSpPr/>
          <p:nvPr/>
        </p:nvSpPr>
        <p:spPr>
          <a:xfrm>
            <a:off x="1546919" y="4072022"/>
            <a:ext cx="163373" cy="1212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CF5E461E-24D4-3093-11B6-3A0CE8E29764}"/>
              </a:ext>
            </a:extLst>
          </p:cNvPr>
          <p:cNvSpPr/>
          <p:nvPr/>
        </p:nvSpPr>
        <p:spPr>
          <a:xfrm>
            <a:off x="8933561" y="6283664"/>
            <a:ext cx="87145" cy="1828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7D2DA312-F8A5-3444-5692-CB19009FFC8F}"/>
              </a:ext>
            </a:extLst>
          </p:cNvPr>
          <p:cNvSpPr/>
          <p:nvPr/>
        </p:nvSpPr>
        <p:spPr>
          <a:xfrm>
            <a:off x="9121768" y="6342407"/>
            <a:ext cx="152400" cy="1828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AABE5C66-E680-3691-034E-C197A08644D4}"/>
              </a:ext>
            </a:extLst>
          </p:cNvPr>
          <p:cNvSpPr/>
          <p:nvPr/>
        </p:nvSpPr>
        <p:spPr>
          <a:xfrm>
            <a:off x="4255834" y="4053428"/>
            <a:ext cx="163373" cy="1212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ECBDD1D4-0C3F-B5ED-CC94-ACE398B4B205}"/>
              </a:ext>
            </a:extLst>
          </p:cNvPr>
          <p:cNvSpPr/>
          <p:nvPr/>
        </p:nvSpPr>
        <p:spPr>
          <a:xfrm>
            <a:off x="4128540" y="4053428"/>
            <a:ext cx="163373" cy="1212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1068FD93-9279-9B40-703C-A00C527810F0}"/>
              </a:ext>
            </a:extLst>
          </p:cNvPr>
          <p:cNvSpPr/>
          <p:nvPr/>
        </p:nvSpPr>
        <p:spPr>
          <a:xfrm>
            <a:off x="4012828" y="4040047"/>
            <a:ext cx="163373" cy="1212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99E7423-C6ED-34D4-FDAD-FD62B706CDE4}"/>
              </a:ext>
            </a:extLst>
          </p:cNvPr>
          <p:cNvSpPr/>
          <p:nvPr/>
        </p:nvSpPr>
        <p:spPr>
          <a:xfrm>
            <a:off x="1235413" y="4603905"/>
            <a:ext cx="8499715" cy="161224"/>
          </a:xfrm>
          <a:prstGeom prst="rect">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                                                                                         Counter A2..A0</a:t>
            </a:r>
          </a:p>
        </p:txBody>
      </p:sp>
      <p:sp>
        <p:nvSpPr>
          <p:cNvPr id="2" name="Title 1">
            <a:extLst>
              <a:ext uri="{FF2B5EF4-FFF2-40B4-BE49-F238E27FC236}">
                <a16:creationId xmlns:a16="http://schemas.microsoft.com/office/drawing/2014/main" id="{CE000EE7-8806-AC6F-D889-80DEE05A54A7}"/>
              </a:ext>
            </a:extLst>
          </p:cNvPr>
          <p:cNvSpPr>
            <a:spLocks noGrp="1"/>
          </p:cNvSpPr>
          <p:nvPr>
            <p:ph type="ctrTitle"/>
          </p:nvPr>
        </p:nvSpPr>
        <p:spPr>
          <a:xfrm>
            <a:off x="793320" y="187532"/>
            <a:ext cx="5934152" cy="457200"/>
          </a:xfrm>
          <a:prstGeom prst="rect">
            <a:avLst/>
          </a:prstGeom>
        </p:spPr>
        <p:txBody>
          <a:bodyPr/>
          <a:lstStyle/>
          <a:p>
            <a:r>
              <a:rPr lang="en-US" sz="2800"/>
              <a:t>Micro Instructions EEPROMs (v2.0)</a:t>
            </a:r>
          </a:p>
        </p:txBody>
      </p:sp>
      <p:pic>
        <p:nvPicPr>
          <p:cNvPr id="5" name="Picture 2" descr="The Ben Eater EEPROM Programmer, 28C256 and Software Data Protection –  Bread80.com">
            <a:extLst>
              <a:ext uri="{FF2B5EF4-FFF2-40B4-BE49-F238E27FC236}">
                <a16:creationId xmlns:a16="http://schemas.microsoft.com/office/drawing/2014/main" id="{60D1814B-9E3E-7E6A-1472-617F368FE6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2857996" y="2251400"/>
            <a:ext cx="1647825" cy="229552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D5EC1F2-C642-3325-70B6-F971035A2D8B}"/>
              </a:ext>
            </a:extLst>
          </p:cNvPr>
          <p:cNvSpPr txBox="1"/>
          <p:nvPr/>
        </p:nvSpPr>
        <p:spPr>
          <a:xfrm>
            <a:off x="2965407" y="3340243"/>
            <a:ext cx="1572354" cy="369332"/>
          </a:xfrm>
          <a:prstGeom prst="rect">
            <a:avLst/>
          </a:prstGeom>
          <a:noFill/>
        </p:spPr>
        <p:txBody>
          <a:bodyPr wrap="none" rtlCol="0">
            <a:spAutoFit/>
          </a:bodyPr>
          <a:lstStyle/>
          <a:p>
            <a:r>
              <a:rPr lang="en-US"/>
              <a:t>Micro Ins 8_15</a:t>
            </a:r>
          </a:p>
        </p:txBody>
      </p:sp>
      <p:sp>
        <p:nvSpPr>
          <p:cNvPr id="25" name="TextBox 24">
            <a:extLst>
              <a:ext uri="{FF2B5EF4-FFF2-40B4-BE49-F238E27FC236}">
                <a16:creationId xmlns:a16="http://schemas.microsoft.com/office/drawing/2014/main" id="{16B09CBE-39C1-4B45-6CA2-C96ED138EDDF}"/>
              </a:ext>
            </a:extLst>
          </p:cNvPr>
          <p:cNvSpPr txBox="1"/>
          <p:nvPr/>
        </p:nvSpPr>
        <p:spPr>
          <a:xfrm>
            <a:off x="5477051" y="2521217"/>
            <a:ext cx="1229824" cy="307777"/>
          </a:xfrm>
          <a:prstGeom prst="rect">
            <a:avLst/>
          </a:prstGeom>
          <a:noFill/>
        </p:spPr>
        <p:txBody>
          <a:bodyPr wrap="none" rtlCol="0">
            <a:spAutoFit/>
          </a:bodyPr>
          <a:lstStyle/>
          <a:p>
            <a:r>
              <a:rPr lang="en-US" sz="1400"/>
              <a:t>1,0,0,0,0,0,0,0</a:t>
            </a:r>
          </a:p>
        </p:txBody>
      </p:sp>
      <p:sp>
        <p:nvSpPr>
          <p:cNvPr id="26" name="TextBox 25">
            <a:extLst>
              <a:ext uri="{FF2B5EF4-FFF2-40B4-BE49-F238E27FC236}">
                <a16:creationId xmlns:a16="http://schemas.microsoft.com/office/drawing/2014/main" id="{C7D6A16C-9736-D0F1-F81D-09AD81930B65}"/>
              </a:ext>
            </a:extLst>
          </p:cNvPr>
          <p:cNvSpPr txBox="1"/>
          <p:nvPr/>
        </p:nvSpPr>
        <p:spPr>
          <a:xfrm>
            <a:off x="2737064" y="2521217"/>
            <a:ext cx="1229824" cy="307777"/>
          </a:xfrm>
          <a:prstGeom prst="rect">
            <a:avLst/>
          </a:prstGeom>
          <a:noFill/>
        </p:spPr>
        <p:txBody>
          <a:bodyPr wrap="none" rtlCol="0">
            <a:spAutoFit/>
          </a:bodyPr>
          <a:lstStyle/>
          <a:p>
            <a:r>
              <a:rPr lang="en-US" sz="1400"/>
              <a:t>1,0,0,0,0,0,0,0</a:t>
            </a:r>
          </a:p>
        </p:txBody>
      </p:sp>
      <p:sp>
        <p:nvSpPr>
          <p:cNvPr id="24" name="Rectangle 23">
            <a:hlinkClick r:id="rId3" action="ppaction://hlinksldjump"/>
            <a:extLst>
              <a:ext uri="{FF2B5EF4-FFF2-40B4-BE49-F238E27FC236}">
                <a16:creationId xmlns:a16="http://schemas.microsoft.com/office/drawing/2014/main" id="{BFE20E0D-739E-C0F5-6371-E6760E62CC4B}"/>
              </a:ext>
            </a:extLst>
          </p:cNvPr>
          <p:cNvSpPr/>
          <p:nvPr/>
        </p:nvSpPr>
        <p:spPr>
          <a:xfrm>
            <a:off x="6727472" y="746412"/>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a:t>
            </a:r>
            <a:r>
              <a:rPr lang="en-US" sz="1200">
                <a:hlinkClick r:id="rId3" action="ppaction://hlinksldjump"/>
              </a:rPr>
              <a:t>7</a:t>
            </a:r>
            <a:r>
              <a:rPr lang="en-US" sz="1200"/>
              <a:t>: PC Advance</a:t>
            </a:r>
          </a:p>
        </p:txBody>
      </p:sp>
      <p:sp>
        <p:nvSpPr>
          <p:cNvPr id="29" name="Rectangle 28">
            <a:hlinkClick r:id="rId3" action="ppaction://hlinksldjump"/>
            <a:extLst>
              <a:ext uri="{FF2B5EF4-FFF2-40B4-BE49-F238E27FC236}">
                <a16:creationId xmlns:a16="http://schemas.microsoft.com/office/drawing/2014/main" id="{C93BEB44-10AE-5F3A-193A-EA745735AB7E}"/>
              </a:ext>
            </a:extLst>
          </p:cNvPr>
          <p:cNvSpPr/>
          <p:nvPr/>
        </p:nvSpPr>
        <p:spPr>
          <a:xfrm>
            <a:off x="6879872" y="951579"/>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6: Out Reg H</a:t>
            </a:r>
          </a:p>
        </p:txBody>
      </p:sp>
      <p:sp>
        <p:nvSpPr>
          <p:cNvPr id="30" name="Rectangle 29">
            <a:hlinkClick r:id="rId4" action="ppaction://hlinksldjump"/>
            <a:extLst>
              <a:ext uri="{FF2B5EF4-FFF2-40B4-BE49-F238E27FC236}">
                <a16:creationId xmlns:a16="http://schemas.microsoft.com/office/drawing/2014/main" id="{326B3471-0489-59F8-4211-7EE4CC285100}"/>
              </a:ext>
            </a:extLst>
          </p:cNvPr>
          <p:cNvSpPr/>
          <p:nvPr/>
        </p:nvSpPr>
        <p:spPr>
          <a:xfrm>
            <a:off x="7032272" y="115893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5. Reg In </a:t>
            </a:r>
            <a:r>
              <a:rPr lang="en-US" sz="1200" err="1"/>
              <a:t>En</a:t>
            </a:r>
            <a:endParaRPr lang="en-US" sz="1200"/>
          </a:p>
        </p:txBody>
      </p:sp>
      <p:sp>
        <p:nvSpPr>
          <p:cNvPr id="31" name="Rectangle 30">
            <a:hlinkClick r:id="rId4" action="ppaction://hlinksldjump"/>
            <a:extLst>
              <a:ext uri="{FF2B5EF4-FFF2-40B4-BE49-F238E27FC236}">
                <a16:creationId xmlns:a16="http://schemas.microsoft.com/office/drawing/2014/main" id="{ABE9882A-FA20-EB28-6996-3A0E2864F98E}"/>
              </a:ext>
            </a:extLst>
          </p:cNvPr>
          <p:cNvSpPr/>
          <p:nvPr/>
        </p:nvSpPr>
        <p:spPr>
          <a:xfrm>
            <a:off x="7184672" y="136191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4: Reg Out </a:t>
            </a:r>
            <a:r>
              <a:rPr lang="en-US" sz="1200" err="1"/>
              <a:t>En</a:t>
            </a:r>
            <a:endParaRPr lang="en-US" sz="1200"/>
          </a:p>
        </p:txBody>
      </p:sp>
      <p:sp>
        <p:nvSpPr>
          <p:cNvPr id="32" name="Rectangle 31">
            <a:hlinkClick r:id="rId5" action="ppaction://hlinksldjump"/>
            <a:extLst>
              <a:ext uri="{FF2B5EF4-FFF2-40B4-BE49-F238E27FC236}">
                <a16:creationId xmlns:a16="http://schemas.microsoft.com/office/drawing/2014/main" id="{F6C5E14C-7B52-E6FF-E14A-38CA671BFDB1}"/>
              </a:ext>
            </a:extLst>
          </p:cNvPr>
          <p:cNvSpPr/>
          <p:nvPr/>
        </p:nvSpPr>
        <p:spPr>
          <a:xfrm>
            <a:off x="7337072" y="1567076"/>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3: Reg Out Select</a:t>
            </a:r>
          </a:p>
        </p:txBody>
      </p:sp>
      <p:sp>
        <p:nvSpPr>
          <p:cNvPr id="33" name="Rectangle 32">
            <a:hlinkClick r:id="rId4" action="ppaction://hlinksldjump"/>
            <a:extLst>
              <a:ext uri="{FF2B5EF4-FFF2-40B4-BE49-F238E27FC236}">
                <a16:creationId xmlns:a16="http://schemas.microsoft.com/office/drawing/2014/main" id="{8BE7B942-AF81-E0D5-DA6B-BFB305A7A236}"/>
              </a:ext>
            </a:extLst>
          </p:cNvPr>
          <p:cNvSpPr/>
          <p:nvPr/>
        </p:nvSpPr>
        <p:spPr>
          <a:xfrm>
            <a:off x="7489472" y="1772243"/>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2: ALU Out </a:t>
            </a:r>
            <a:r>
              <a:rPr lang="en-US" sz="1200" err="1"/>
              <a:t>En</a:t>
            </a:r>
            <a:endParaRPr lang="en-US" sz="1200"/>
          </a:p>
        </p:txBody>
      </p:sp>
      <p:sp>
        <p:nvSpPr>
          <p:cNvPr id="34" name="Rectangle 33">
            <a:hlinkClick r:id="rId3" action="ppaction://hlinksldjump"/>
            <a:extLst>
              <a:ext uri="{FF2B5EF4-FFF2-40B4-BE49-F238E27FC236}">
                <a16:creationId xmlns:a16="http://schemas.microsoft.com/office/drawing/2014/main" id="{C1C5759E-86AA-F172-1AB9-73112F7107B8}"/>
              </a:ext>
            </a:extLst>
          </p:cNvPr>
          <p:cNvSpPr/>
          <p:nvPr/>
        </p:nvSpPr>
        <p:spPr>
          <a:xfrm>
            <a:off x="7641872" y="1977408"/>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1: ALU Load A</a:t>
            </a:r>
          </a:p>
        </p:txBody>
      </p:sp>
      <p:sp>
        <p:nvSpPr>
          <p:cNvPr id="35" name="Rectangle 34">
            <a:hlinkClick r:id="rId3" action="ppaction://hlinksldjump"/>
            <a:extLst>
              <a:ext uri="{FF2B5EF4-FFF2-40B4-BE49-F238E27FC236}">
                <a16:creationId xmlns:a16="http://schemas.microsoft.com/office/drawing/2014/main" id="{4FE0BFBA-F925-5768-4DBB-D7E109382A05}"/>
              </a:ext>
            </a:extLst>
          </p:cNvPr>
          <p:cNvSpPr/>
          <p:nvPr/>
        </p:nvSpPr>
        <p:spPr>
          <a:xfrm>
            <a:off x="7763792" y="218257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0: ALU Load B</a:t>
            </a:r>
          </a:p>
        </p:txBody>
      </p:sp>
      <p:cxnSp>
        <p:nvCxnSpPr>
          <p:cNvPr id="37" name="Connector: Elbow 36">
            <a:extLst>
              <a:ext uri="{FF2B5EF4-FFF2-40B4-BE49-F238E27FC236}">
                <a16:creationId xmlns:a16="http://schemas.microsoft.com/office/drawing/2014/main" id="{ADAF8E7C-CB0B-4EEF-98AC-DF7DB067E2E7}"/>
              </a:ext>
            </a:extLst>
          </p:cNvPr>
          <p:cNvCxnSpPr>
            <a:endCxn id="24" idx="1"/>
          </p:cNvCxnSpPr>
          <p:nvPr/>
        </p:nvCxnSpPr>
        <p:spPr>
          <a:xfrm rot="5400000" flipH="1" flipV="1">
            <a:off x="5721604" y="1823125"/>
            <a:ext cx="1991141" cy="20599"/>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CB8DA923-42B5-E836-C874-25F9C30431EC}"/>
              </a:ext>
            </a:extLst>
          </p:cNvPr>
          <p:cNvCxnSpPr>
            <a:cxnSpLocks/>
            <a:endCxn id="29" idx="1"/>
          </p:cNvCxnSpPr>
          <p:nvPr/>
        </p:nvCxnSpPr>
        <p:spPr>
          <a:xfrm rot="5400000" flipH="1" flipV="1">
            <a:off x="5959597" y="1903035"/>
            <a:ext cx="1780292" cy="60260"/>
          </a:xfrm>
          <a:prstGeom prst="bentConnector2">
            <a:avLst/>
          </a:prstGeom>
        </p:spPr>
        <p:style>
          <a:lnRef idx="1">
            <a:schemeClr val="accent1"/>
          </a:lnRef>
          <a:fillRef idx="0">
            <a:schemeClr val="accent1"/>
          </a:fillRef>
          <a:effectRef idx="0">
            <a:schemeClr val="accent1"/>
          </a:effectRef>
          <a:fontRef idx="minor">
            <a:schemeClr val="tx1"/>
          </a:fontRef>
        </p:style>
      </p:cxnSp>
      <p:pic>
        <p:nvPicPr>
          <p:cNvPr id="41" name="Picture 40" descr="Diagram&#10;&#10;Description automatically generated with low confidence">
            <a:extLst>
              <a:ext uri="{FF2B5EF4-FFF2-40B4-BE49-F238E27FC236}">
                <a16:creationId xmlns:a16="http://schemas.microsoft.com/office/drawing/2014/main" id="{4E79E656-B24F-E5FC-9C35-05B17D582F24}"/>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t="-3588" r="58979" b="29396"/>
          <a:stretch/>
        </p:blipFill>
        <p:spPr>
          <a:xfrm>
            <a:off x="9366584" y="1094510"/>
            <a:ext cx="440821" cy="311727"/>
          </a:xfrm>
          <a:prstGeom prst="rect">
            <a:avLst/>
          </a:prstGeom>
          <a:solidFill>
            <a:schemeClr val="bg1"/>
          </a:solidFill>
        </p:spPr>
      </p:pic>
      <p:cxnSp>
        <p:nvCxnSpPr>
          <p:cNvPr id="43" name="Straight Connector 42">
            <a:extLst>
              <a:ext uri="{FF2B5EF4-FFF2-40B4-BE49-F238E27FC236}">
                <a16:creationId xmlns:a16="http://schemas.microsoft.com/office/drawing/2014/main" id="{03DB5A57-F198-0688-4B91-016C3C24510D}"/>
              </a:ext>
            </a:extLst>
          </p:cNvPr>
          <p:cNvCxnSpPr>
            <a:stCxn id="41" idx="3"/>
            <a:endCxn id="42" idx="1"/>
          </p:cNvCxnSpPr>
          <p:nvPr/>
        </p:nvCxnSpPr>
        <p:spPr>
          <a:xfrm flipV="1">
            <a:off x="9807405" y="1250373"/>
            <a:ext cx="373387"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B8D8686-F882-9E6A-8791-164B6A0E8858}"/>
              </a:ext>
            </a:extLst>
          </p:cNvPr>
          <p:cNvCxnSpPr>
            <a:stCxn id="30" idx="3"/>
            <a:endCxn id="41" idx="1"/>
          </p:cNvCxnSpPr>
          <p:nvPr/>
        </p:nvCxnSpPr>
        <p:spPr>
          <a:xfrm>
            <a:off x="8495312" y="1250373"/>
            <a:ext cx="871272" cy="1"/>
          </a:xfrm>
          <a:prstGeom prst="line">
            <a:avLst/>
          </a:prstGeom>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6C61769A-CFED-A4AF-652D-E60B691E9AA6}"/>
              </a:ext>
            </a:extLst>
          </p:cNvPr>
          <p:cNvGrpSpPr/>
          <p:nvPr/>
        </p:nvGrpSpPr>
        <p:grpSpPr>
          <a:xfrm>
            <a:off x="10180792" y="1158931"/>
            <a:ext cx="1463040" cy="182880"/>
            <a:chOff x="9859776" y="1158931"/>
            <a:chExt cx="1463040" cy="182880"/>
          </a:xfrm>
        </p:grpSpPr>
        <p:sp>
          <p:nvSpPr>
            <p:cNvPr id="42" name="Rectangle 41">
              <a:hlinkClick r:id="rId8" action="ppaction://hlinksldjump"/>
              <a:extLst>
                <a:ext uri="{FF2B5EF4-FFF2-40B4-BE49-F238E27FC236}">
                  <a16:creationId xmlns:a16="http://schemas.microsoft.com/office/drawing/2014/main" id="{2D81C8C2-6936-4572-E081-73192F385173}"/>
                </a:ext>
              </a:extLst>
            </p:cNvPr>
            <p:cNvSpPr/>
            <p:nvPr/>
          </p:nvSpPr>
          <p:spPr>
            <a:xfrm>
              <a:off x="9859776" y="115893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5. Reg In </a:t>
              </a:r>
              <a:r>
                <a:rPr lang="en-US" sz="1200" err="1"/>
                <a:t>En</a:t>
              </a:r>
              <a:endParaRPr lang="en-US" sz="1200"/>
            </a:p>
          </p:txBody>
        </p:sp>
        <p:cxnSp>
          <p:nvCxnSpPr>
            <p:cNvPr id="47" name="Straight Connector 46">
              <a:extLst>
                <a:ext uri="{FF2B5EF4-FFF2-40B4-BE49-F238E27FC236}">
                  <a16:creationId xmlns:a16="http://schemas.microsoft.com/office/drawing/2014/main" id="{E0CCF959-7F88-1F22-0151-504FBBB032B9}"/>
                </a:ext>
              </a:extLst>
            </p:cNvPr>
            <p:cNvCxnSpPr>
              <a:cxnSpLocks/>
            </p:cNvCxnSpPr>
            <p:nvPr/>
          </p:nvCxnSpPr>
          <p:spPr>
            <a:xfrm flipV="1">
              <a:off x="10068793" y="1186643"/>
              <a:ext cx="5987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2" name="Connector: Elbow 51">
            <a:extLst>
              <a:ext uri="{FF2B5EF4-FFF2-40B4-BE49-F238E27FC236}">
                <a16:creationId xmlns:a16="http://schemas.microsoft.com/office/drawing/2014/main" id="{8D4B6383-9C62-613B-953A-7447C7D131E2}"/>
              </a:ext>
            </a:extLst>
          </p:cNvPr>
          <p:cNvCxnSpPr>
            <a:cxnSpLocks/>
            <a:endCxn id="30" idx="1"/>
          </p:cNvCxnSpPr>
          <p:nvPr/>
        </p:nvCxnSpPr>
        <p:spPr>
          <a:xfrm rot="5400000" flipH="1" flipV="1">
            <a:off x="6173521" y="2019679"/>
            <a:ext cx="1628060" cy="89444"/>
          </a:xfrm>
          <a:prstGeom prst="bentConnector2">
            <a:avLst/>
          </a:prstGeom>
        </p:spPr>
        <p:style>
          <a:lnRef idx="1">
            <a:schemeClr val="accent1"/>
          </a:lnRef>
          <a:fillRef idx="0">
            <a:schemeClr val="accent1"/>
          </a:fillRef>
          <a:effectRef idx="0">
            <a:schemeClr val="accent1"/>
          </a:effectRef>
          <a:fontRef idx="minor">
            <a:schemeClr val="tx1"/>
          </a:fontRef>
        </p:style>
      </p:cxnSp>
      <p:pic>
        <p:nvPicPr>
          <p:cNvPr id="54" name="Picture 53" descr="Diagram&#10;&#10;Description automatically generated with low confidence">
            <a:extLst>
              <a:ext uri="{FF2B5EF4-FFF2-40B4-BE49-F238E27FC236}">
                <a16:creationId xmlns:a16="http://schemas.microsoft.com/office/drawing/2014/main" id="{A6805435-D83E-76EB-D81D-5B339EF00CD6}"/>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t="-3588" r="58979" b="29396"/>
          <a:stretch/>
        </p:blipFill>
        <p:spPr>
          <a:xfrm>
            <a:off x="9518984" y="1315006"/>
            <a:ext cx="440821" cy="311727"/>
          </a:xfrm>
          <a:prstGeom prst="rect">
            <a:avLst/>
          </a:prstGeom>
          <a:solidFill>
            <a:schemeClr val="bg1"/>
          </a:solidFill>
        </p:spPr>
      </p:pic>
      <p:cxnSp>
        <p:nvCxnSpPr>
          <p:cNvPr id="55" name="Straight Connector 54">
            <a:extLst>
              <a:ext uri="{FF2B5EF4-FFF2-40B4-BE49-F238E27FC236}">
                <a16:creationId xmlns:a16="http://schemas.microsoft.com/office/drawing/2014/main" id="{2F788790-F2E1-DF1F-C52A-2C3D39B19FFC}"/>
              </a:ext>
            </a:extLst>
          </p:cNvPr>
          <p:cNvCxnSpPr>
            <a:stCxn id="54" idx="3"/>
            <a:endCxn id="58" idx="1"/>
          </p:cNvCxnSpPr>
          <p:nvPr/>
        </p:nvCxnSpPr>
        <p:spPr>
          <a:xfrm flipV="1">
            <a:off x="9959805" y="1470869"/>
            <a:ext cx="373387"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92C6609-8402-433C-8895-02282EF12193}"/>
              </a:ext>
            </a:extLst>
          </p:cNvPr>
          <p:cNvCxnSpPr>
            <a:endCxn id="54" idx="1"/>
          </p:cNvCxnSpPr>
          <p:nvPr/>
        </p:nvCxnSpPr>
        <p:spPr>
          <a:xfrm>
            <a:off x="8647712" y="1470869"/>
            <a:ext cx="871272" cy="1"/>
          </a:xfrm>
          <a:prstGeom prst="line">
            <a:avLst/>
          </a:prstGeom>
        </p:spPr>
        <p:style>
          <a:lnRef idx="1">
            <a:schemeClr val="accent1"/>
          </a:lnRef>
          <a:fillRef idx="0">
            <a:schemeClr val="accent1"/>
          </a:fillRef>
          <a:effectRef idx="0">
            <a:schemeClr val="accent1"/>
          </a:effectRef>
          <a:fontRef idx="minor">
            <a:schemeClr val="tx1"/>
          </a:fontRef>
        </p:style>
      </p:cxnSp>
      <p:grpSp>
        <p:nvGrpSpPr>
          <p:cNvPr id="57" name="Group 56">
            <a:extLst>
              <a:ext uri="{FF2B5EF4-FFF2-40B4-BE49-F238E27FC236}">
                <a16:creationId xmlns:a16="http://schemas.microsoft.com/office/drawing/2014/main" id="{B92428AF-68AF-6C31-4CDB-3C6A5DB40131}"/>
              </a:ext>
            </a:extLst>
          </p:cNvPr>
          <p:cNvGrpSpPr/>
          <p:nvPr/>
        </p:nvGrpSpPr>
        <p:grpSpPr>
          <a:xfrm>
            <a:off x="10333192" y="1379427"/>
            <a:ext cx="1463040" cy="182880"/>
            <a:chOff x="9859776" y="1158931"/>
            <a:chExt cx="1463040" cy="182880"/>
          </a:xfrm>
        </p:grpSpPr>
        <p:sp>
          <p:nvSpPr>
            <p:cNvPr id="58" name="Rectangle 57">
              <a:hlinkClick r:id="rId8" action="ppaction://hlinksldjump"/>
              <a:extLst>
                <a:ext uri="{FF2B5EF4-FFF2-40B4-BE49-F238E27FC236}">
                  <a16:creationId xmlns:a16="http://schemas.microsoft.com/office/drawing/2014/main" id="{7F1BEDE7-98AF-41D0-242D-21D55826EDB5}"/>
                </a:ext>
              </a:extLst>
            </p:cNvPr>
            <p:cNvSpPr/>
            <p:nvPr/>
          </p:nvSpPr>
          <p:spPr>
            <a:xfrm>
              <a:off x="9859776" y="115893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4. Reg Out </a:t>
              </a:r>
              <a:r>
                <a:rPr lang="en-US" sz="1200" err="1"/>
                <a:t>En</a:t>
              </a:r>
              <a:endParaRPr lang="en-US" sz="1200"/>
            </a:p>
          </p:txBody>
        </p:sp>
        <p:cxnSp>
          <p:nvCxnSpPr>
            <p:cNvPr id="59" name="Straight Connector 58">
              <a:extLst>
                <a:ext uri="{FF2B5EF4-FFF2-40B4-BE49-F238E27FC236}">
                  <a16:creationId xmlns:a16="http://schemas.microsoft.com/office/drawing/2014/main" id="{4B9807EA-C275-9569-032D-874D13EF1537}"/>
                </a:ext>
              </a:extLst>
            </p:cNvPr>
            <p:cNvCxnSpPr>
              <a:cxnSpLocks/>
            </p:cNvCxnSpPr>
            <p:nvPr/>
          </p:nvCxnSpPr>
          <p:spPr>
            <a:xfrm flipV="1">
              <a:off x="10068793" y="1186643"/>
              <a:ext cx="5987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0" name="Connector: Elbow 59">
            <a:extLst>
              <a:ext uri="{FF2B5EF4-FFF2-40B4-BE49-F238E27FC236}">
                <a16:creationId xmlns:a16="http://schemas.microsoft.com/office/drawing/2014/main" id="{3552F4F6-2684-9772-70B8-37CCBD5C1C3C}"/>
              </a:ext>
            </a:extLst>
          </p:cNvPr>
          <p:cNvCxnSpPr>
            <a:cxnSpLocks/>
            <a:endCxn id="31" idx="1"/>
          </p:cNvCxnSpPr>
          <p:nvPr/>
        </p:nvCxnSpPr>
        <p:spPr>
          <a:xfrm rot="5400000" flipH="1" flipV="1">
            <a:off x="6441000" y="2079639"/>
            <a:ext cx="1369960" cy="117384"/>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2F9B3B9B-D20E-9866-9AD9-59912E1C46D2}"/>
              </a:ext>
            </a:extLst>
          </p:cNvPr>
          <p:cNvCxnSpPr>
            <a:cxnSpLocks/>
            <a:endCxn id="32" idx="1"/>
          </p:cNvCxnSpPr>
          <p:nvPr/>
        </p:nvCxnSpPr>
        <p:spPr>
          <a:xfrm rot="5400000" flipH="1" flipV="1">
            <a:off x="6673284" y="2185464"/>
            <a:ext cx="1190736" cy="136840"/>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C3C00D33-3D95-6FE9-9084-1190FAE9B674}"/>
              </a:ext>
            </a:extLst>
          </p:cNvPr>
          <p:cNvSpPr/>
          <p:nvPr/>
        </p:nvSpPr>
        <p:spPr>
          <a:xfrm>
            <a:off x="6992555" y="4037219"/>
            <a:ext cx="163373" cy="1212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B55DDF73-66EB-E297-F5E3-1A592869FF9F}"/>
              </a:ext>
            </a:extLst>
          </p:cNvPr>
          <p:cNvSpPr/>
          <p:nvPr/>
        </p:nvSpPr>
        <p:spPr>
          <a:xfrm>
            <a:off x="6865262" y="4037218"/>
            <a:ext cx="163373" cy="1212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860D88F8-5FE3-F1EB-D6F3-96DDA0C03F31}"/>
              </a:ext>
            </a:extLst>
          </p:cNvPr>
          <p:cNvSpPr/>
          <p:nvPr/>
        </p:nvSpPr>
        <p:spPr>
          <a:xfrm>
            <a:off x="6749550" y="4023836"/>
            <a:ext cx="163373" cy="1212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 name="Connector: Elbow 75">
            <a:extLst>
              <a:ext uri="{FF2B5EF4-FFF2-40B4-BE49-F238E27FC236}">
                <a16:creationId xmlns:a16="http://schemas.microsoft.com/office/drawing/2014/main" id="{DEB2619C-AE50-8E67-7014-401DD17633CF}"/>
              </a:ext>
            </a:extLst>
          </p:cNvPr>
          <p:cNvCxnSpPr>
            <a:stCxn id="74" idx="2"/>
            <a:endCxn id="35" idx="1"/>
          </p:cNvCxnSpPr>
          <p:nvPr/>
        </p:nvCxnSpPr>
        <p:spPr>
          <a:xfrm rot="5400000" flipH="1" flipV="1">
            <a:off x="6361987" y="2743261"/>
            <a:ext cx="1871055" cy="932556"/>
          </a:xfrm>
          <a:prstGeom prst="bentConnector4">
            <a:avLst>
              <a:gd name="adj1" fmla="val -19497"/>
              <a:gd name="adj2" fmla="val 83587"/>
            </a:avLst>
          </a:prstGeom>
        </p:spPr>
        <p:style>
          <a:lnRef idx="1">
            <a:schemeClr val="accent1"/>
          </a:lnRef>
          <a:fillRef idx="0">
            <a:schemeClr val="accent1"/>
          </a:fillRef>
          <a:effectRef idx="0">
            <a:schemeClr val="accent1"/>
          </a:effectRef>
          <a:fontRef idx="minor">
            <a:schemeClr val="tx1"/>
          </a:fontRef>
        </p:style>
      </p:cxnSp>
      <p:grpSp>
        <p:nvGrpSpPr>
          <p:cNvPr id="78" name="Group 77">
            <a:extLst>
              <a:ext uri="{FF2B5EF4-FFF2-40B4-BE49-F238E27FC236}">
                <a16:creationId xmlns:a16="http://schemas.microsoft.com/office/drawing/2014/main" id="{8A10E82E-F7A8-6A58-4A09-2366E6C3E0F6}"/>
              </a:ext>
            </a:extLst>
          </p:cNvPr>
          <p:cNvGrpSpPr/>
          <p:nvPr/>
        </p:nvGrpSpPr>
        <p:grpSpPr>
          <a:xfrm>
            <a:off x="5269255" y="2796985"/>
            <a:ext cx="2295525" cy="1401859"/>
            <a:chOff x="4948238" y="2796985"/>
            <a:chExt cx="2295525" cy="1401858"/>
          </a:xfrm>
        </p:grpSpPr>
        <p:pic>
          <p:nvPicPr>
            <p:cNvPr id="1026" name="Picture 2" descr="The Ben Eater EEPROM Programmer, 28C256 and Software Data Protection –  Bread80.com">
              <a:extLst>
                <a:ext uri="{FF2B5EF4-FFF2-40B4-BE49-F238E27FC236}">
                  <a16:creationId xmlns:a16="http://schemas.microsoft.com/office/drawing/2014/main" id="{BE2A3228-2941-0EC9-3315-AD0D052812B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281" r="11645"/>
            <a:stretch/>
          </p:blipFill>
          <p:spPr bwMode="auto">
            <a:xfrm rot="16200000">
              <a:off x="5395072" y="2350151"/>
              <a:ext cx="1401858" cy="22955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59F18DF-17C5-90E3-404F-562FCD576EFB}"/>
                </a:ext>
              </a:extLst>
            </p:cNvPr>
            <p:cNvSpPr txBox="1"/>
            <p:nvPr/>
          </p:nvSpPr>
          <p:spPr>
            <a:xfrm>
              <a:off x="5295482" y="3348615"/>
              <a:ext cx="1455335" cy="369332"/>
            </a:xfrm>
            <a:prstGeom prst="rect">
              <a:avLst/>
            </a:prstGeom>
            <a:noFill/>
          </p:spPr>
          <p:txBody>
            <a:bodyPr wrap="none" rtlCol="0">
              <a:spAutoFit/>
            </a:bodyPr>
            <a:lstStyle/>
            <a:p>
              <a:r>
                <a:rPr lang="en-US"/>
                <a:t>Micro Ins 0_7</a:t>
              </a:r>
            </a:p>
          </p:txBody>
        </p:sp>
      </p:grpSp>
      <p:grpSp>
        <p:nvGrpSpPr>
          <p:cNvPr id="15" name="Group 14">
            <a:extLst>
              <a:ext uri="{FF2B5EF4-FFF2-40B4-BE49-F238E27FC236}">
                <a16:creationId xmlns:a16="http://schemas.microsoft.com/office/drawing/2014/main" id="{79FD8A57-84ED-072C-EB45-8A714369C103}"/>
              </a:ext>
            </a:extLst>
          </p:cNvPr>
          <p:cNvGrpSpPr/>
          <p:nvPr/>
        </p:nvGrpSpPr>
        <p:grpSpPr>
          <a:xfrm>
            <a:off x="719846" y="4113722"/>
            <a:ext cx="6008935" cy="999319"/>
            <a:chOff x="398830" y="4113721"/>
            <a:chExt cx="6008934" cy="999319"/>
          </a:xfrm>
        </p:grpSpPr>
        <p:sp>
          <p:nvSpPr>
            <p:cNvPr id="10" name="Arrow: Right 9">
              <a:extLst>
                <a:ext uri="{FF2B5EF4-FFF2-40B4-BE49-F238E27FC236}">
                  <a16:creationId xmlns:a16="http://schemas.microsoft.com/office/drawing/2014/main" id="{BB62711F-F4B8-3A80-0C82-6511AEA4BFBF}"/>
                </a:ext>
              </a:extLst>
            </p:cNvPr>
            <p:cNvSpPr/>
            <p:nvPr/>
          </p:nvSpPr>
          <p:spPr>
            <a:xfrm rot="16200000">
              <a:off x="2570840" y="4518680"/>
              <a:ext cx="822960" cy="365760"/>
            </a:xfrm>
            <a:prstGeom prst="rightArrow">
              <a:avLst/>
            </a:prstGeom>
            <a:solidFill>
              <a:schemeClr val="bg2"/>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a:t>  5 bit</a:t>
              </a:r>
            </a:p>
          </p:txBody>
        </p:sp>
        <p:sp>
          <p:nvSpPr>
            <p:cNvPr id="8" name="TextBox 7">
              <a:extLst>
                <a:ext uri="{FF2B5EF4-FFF2-40B4-BE49-F238E27FC236}">
                  <a16:creationId xmlns:a16="http://schemas.microsoft.com/office/drawing/2014/main" id="{AD33299A-FDC3-FF9D-88D1-2AE2B393708F}"/>
                </a:ext>
              </a:extLst>
            </p:cNvPr>
            <p:cNvSpPr txBox="1"/>
            <p:nvPr/>
          </p:nvSpPr>
          <p:spPr>
            <a:xfrm>
              <a:off x="2301184" y="4113721"/>
              <a:ext cx="412292" cy="307777"/>
            </a:xfrm>
            <a:prstGeom prst="rect">
              <a:avLst/>
            </a:prstGeom>
            <a:noFill/>
          </p:spPr>
          <p:txBody>
            <a:bodyPr wrap="none" rtlCol="0">
              <a:spAutoFit/>
            </a:bodyPr>
            <a:lstStyle/>
            <a:p>
              <a:r>
                <a:rPr lang="en-US" sz="1400"/>
                <a:t>0,0</a:t>
              </a:r>
            </a:p>
          </p:txBody>
        </p:sp>
        <p:sp>
          <p:nvSpPr>
            <p:cNvPr id="13" name="TextBox 12">
              <a:extLst>
                <a:ext uri="{FF2B5EF4-FFF2-40B4-BE49-F238E27FC236}">
                  <a16:creationId xmlns:a16="http://schemas.microsoft.com/office/drawing/2014/main" id="{6C2ABD77-DC60-5DF3-7CBE-CF926516BE20}"/>
                </a:ext>
              </a:extLst>
            </p:cNvPr>
            <p:cNvSpPr txBox="1"/>
            <p:nvPr/>
          </p:nvSpPr>
          <p:spPr>
            <a:xfrm>
              <a:off x="5054216" y="4113721"/>
              <a:ext cx="412292" cy="307777"/>
            </a:xfrm>
            <a:prstGeom prst="rect">
              <a:avLst/>
            </a:prstGeom>
            <a:noFill/>
          </p:spPr>
          <p:txBody>
            <a:bodyPr wrap="none" rtlCol="0">
              <a:spAutoFit/>
            </a:bodyPr>
            <a:lstStyle/>
            <a:p>
              <a:r>
                <a:rPr lang="en-US" sz="1400"/>
                <a:t>0,0</a:t>
              </a:r>
            </a:p>
          </p:txBody>
        </p:sp>
        <p:sp>
          <p:nvSpPr>
            <p:cNvPr id="16" name="Right Brace 15">
              <a:extLst>
                <a:ext uri="{FF2B5EF4-FFF2-40B4-BE49-F238E27FC236}">
                  <a16:creationId xmlns:a16="http://schemas.microsoft.com/office/drawing/2014/main" id="{F0C7EDF0-6EF3-0326-56FD-872B4701AC7C}"/>
                </a:ext>
              </a:extLst>
            </p:cNvPr>
            <p:cNvSpPr/>
            <p:nvPr/>
          </p:nvSpPr>
          <p:spPr>
            <a:xfrm rot="5400000">
              <a:off x="2858865" y="3896141"/>
              <a:ext cx="204184" cy="63934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Right Brace 18">
              <a:extLst>
                <a:ext uri="{FF2B5EF4-FFF2-40B4-BE49-F238E27FC236}">
                  <a16:creationId xmlns:a16="http://schemas.microsoft.com/office/drawing/2014/main" id="{57C48ECD-E5E5-3C49-4625-7D516961E0D6}"/>
                </a:ext>
              </a:extLst>
            </p:cNvPr>
            <p:cNvSpPr/>
            <p:nvPr/>
          </p:nvSpPr>
          <p:spPr>
            <a:xfrm rot="5400000">
              <a:off x="3400973" y="4032933"/>
              <a:ext cx="204184" cy="36576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Arrow: Right 17">
              <a:extLst>
                <a:ext uri="{FF2B5EF4-FFF2-40B4-BE49-F238E27FC236}">
                  <a16:creationId xmlns:a16="http://schemas.microsoft.com/office/drawing/2014/main" id="{DFCF4DF9-869F-D5D6-7E61-A71214DC6D69}"/>
                </a:ext>
              </a:extLst>
            </p:cNvPr>
            <p:cNvSpPr/>
            <p:nvPr/>
          </p:nvSpPr>
          <p:spPr>
            <a:xfrm rot="16200000">
              <a:off x="3263387" y="4335212"/>
              <a:ext cx="481971" cy="365760"/>
            </a:xfrm>
            <a:prstGeom prst="rightArrow">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400"/>
                <a:t>  3 bit</a:t>
              </a:r>
            </a:p>
          </p:txBody>
        </p:sp>
        <p:sp>
          <p:nvSpPr>
            <p:cNvPr id="20" name="Right Brace 19">
              <a:extLst>
                <a:ext uri="{FF2B5EF4-FFF2-40B4-BE49-F238E27FC236}">
                  <a16:creationId xmlns:a16="http://schemas.microsoft.com/office/drawing/2014/main" id="{92268FAB-6414-2ADC-7589-9DC6ECFA61F2}"/>
                </a:ext>
              </a:extLst>
            </p:cNvPr>
            <p:cNvSpPr/>
            <p:nvPr/>
          </p:nvSpPr>
          <p:spPr>
            <a:xfrm rot="5400000">
              <a:off x="6121484" y="4032933"/>
              <a:ext cx="204184" cy="36576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Arrow: Right 20">
              <a:extLst>
                <a:ext uri="{FF2B5EF4-FFF2-40B4-BE49-F238E27FC236}">
                  <a16:creationId xmlns:a16="http://schemas.microsoft.com/office/drawing/2014/main" id="{BB1F5EB7-BF18-73DD-4590-C99CB01310CC}"/>
                </a:ext>
              </a:extLst>
            </p:cNvPr>
            <p:cNvSpPr/>
            <p:nvPr/>
          </p:nvSpPr>
          <p:spPr>
            <a:xfrm rot="16200000">
              <a:off x="5983898" y="4341695"/>
              <a:ext cx="481971" cy="365760"/>
            </a:xfrm>
            <a:prstGeom prst="rightArrow">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400"/>
                <a:t>  3 bit</a:t>
              </a:r>
            </a:p>
          </p:txBody>
        </p:sp>
        <p:sp>
          <p:nvSpPr>
            <p:cNvPr id="23" name="Right Brace 22">
              <a:extLst>
                <a:ext uri="{FF2B5EF4-FFF2-40B4-BE49-F238E27FC236}">
                  <a16:creationId xmlns:a16="http://schemas.microsoft.com/office/drawing/2014/main" id="{749CEFA0-2898-1351-13B6-2BFA440D384E}"/>
                </a:ext>
              </a:extLst>
            </p:cNvPr>
            <p:cNvSpPr/>
            <p:nvPr/>
          </p:nvSpPr>
          <p:spPr>
            <a:xfrm rot="5400000">
              <a:off x="5620600" y="3886880"/>
              <a:ext cx="182881" cy="63656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Arrow: Right 21">
              <a:extLst>
                <a:ext uri="{FF2B5EF4-FFF2-40B4-BE49-F238E27FC236}">
                  <a16:creationId xmlns:a16="http://schemas.microsoft.com/office/drawing/2014/main" id="{B8B91DBA-E083-9D5F-3B34-F8235B659288}"/>
                </a:ext>
              </a:extLst>
            </p:cNvPr>
            <p:cNvSpPr/>
            <p:nvPr/>
          </p:nvSpPr>
          <p:spPr>
            <a:xfrm rot="16200000">
              <a:off x="5369174" y="4495981"/>
              <a:ext cx="822960" cy="365760"/>
            </a:xfrm>
            <a:prstGeom prst="rightArrow">
              <a:avLst/>
            </a:prstGeom>
            <a:solidFill>
              <a:schemeClr val="bg2"/>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a:t>  5 bit</a:t>
              </a:r>
            </a:p>
          </p:txBody>
        </p:sp>
        <p:sp>
          <p:nvSpPr>
            <p:cNvPr id="12" name="Rectangle 11">
              <a:extLst>
                <a:ext uri="{FF2B5EF4-FFF2-40B4-BE49-F238E27FC236}">
                  <a16:creationId xmlns:a16="http://schemas.microsoft.com/office/drawing/2014/main" id="{A33D1697-4A24-4113-771D-F5299F30D00F}"/>
                </a:ext>
              </a:extLst>
            </p:cNvPr>
            <p:cNvSpPr/>
            <p:nvPr/>
          </p:nvSpPr>
          <p:spPr>
            <a:xfrm>
              <a:off x="398830" y="4957439"/>
              <a:ext cx="5476673" cy="147948"/>
            </a:xfrm>
            <a:prstGeom prst="rect">
              <a:avLst/>
            </a:prstGeom>
            <a:solidFill>
              <a:schemeClr val="bg2"/>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a:t>Opcode A7..A3</a:t>
              </a:r>
            </a:p>
          </p:txBody>
        </p:sp>
      </p:grpSp>
      <p:cxnSp>
        <p:nvCxnSpPr>
          <p:cNvPr id="68" name="Connector: Elbow 67">
            <a:extLst>
              <a:ext uri="{FF2B5EF4-FFF2-40B4-BE49-F238E27FC236}">
                <a16:creationId xmlns:a16="http://schemas.microsoft.com/office/drawing/2014/main" id="{F783391A-CE15-EFE8-B961-499C7BFF1462}"/>
              </a:ext>
            </a:extLst>
          </p:cNvPr>
          <p:cNvCxnSpPr>
            <a:stCxn id="66" idx="2"/>
            <a:endCxn id="33" idx="1"/>
          </p:cNvCxnSpPr>
          <p:nvPr/>
        </p:nvCxnSpPr>
        <p:spPr>
          <a:xfrm rot="5400000" flipH="1" flipV="1">
            <a:off x="6134474" y="2803450"/>
            <a:ext cx="2294765" cy="415231"/>
          </a:xfrm>
          <a:prstGeom prst="bentConnector4">
            <a:avLst>
              <a:gd name="adj1" fmla="val -6147"/>
              <a:gd name="adj2" fmla="val 92634"/>
            </a:avLst>
          </a:prstGeom>
        </p:spPr>
        <p:style>
          <a:lnRef idx="1">
            <a:schemeClr val="accent1"/>
          </a:lnRef>
          <a:fillRef idx="0">
            <a:schemeClr val="accent1"/>
          </a:fillRef>
          <a:effectRef idx="0">
            <a:schemeClr val="accent1"/>
          </a:effectRef>
          <a:fontRef idx="minor">
            <a:schemeClr val="tx1"/>
          </a:fontRef>
        </p:style>
      </p:cxnSp>
      <p:cxnSp>
        <p:nvCxnSpPr>
          <p:cNvPr id="71" name="Connector: Elbow 70">
            <a:extLst>
              <a:ext uri="{FF2B5EF4-FFF2-40B4-BE49-F238E27FC236}">
                <a16:creationId xmlns:a16="http://schemas.microsoft.com/office/drawing/2014/main" id="{1B3111F8-A98D-F4F8-A679-54FD5D33130E}"/>
              </a:ext>
            </a:extLst>
          </p:cNvPr>
          <p:cNvCxnSpPr>
            <a:stCxn id="70" idx="2"/>
            <a:endCxn id="34" idx="1"/>
          </p:cNvCxnSpPr>
          <p:nvPr/>
        </p:nvCxnSpPr>
        <p:spPr>
          <a:xfrm rot="5400000" flipH="1" flipV="1">
            <a:off x="6249611" y="2766186"/>
            <a:ext cx="2089599" cy="694924"/>
          </a:xfrm>
          <a:prstGeom prst="bentConnector4">
            <a:avLst>
              <a:gd name="adj1" fmla="val -10940"/>
              <a:gd name="adj2" fmla="val 83874"/>
            </a:avLst>
          </a:prstGeom>
        </p:spPr>
        <p:style>
          <a:lnRef idx="1">
            <a:schemeClr val="accent1"/>
          </a:lnRef>
          <a:fillRef idx="0">
            <a:schemeClr val="accent1"/>
          </a:fillRef>
          <a:effectRef idx="0">
            <a:schemeClr val="accent1"/>
          </a:effectRef>
          <a:fontRef idx="minor">
            <a:schemeClr val="tx1"/>
          </a:fontRef>
        </p:style>
      </p:cxnSp>
      <p:pic>
        <p:nvPicPr>
          <p:cNvPr id="87" name="Picture 86" descr="Diagram&#10;&#10;Description automatically generated with low confidence">
            <a:extLst>
              <a:ext uri="{FF2B5EF4-FFF2-40B4-BE49-F238E27FC236}">
                <a16:creationId xmlns:a16="http://schemas.microsoft.com/office/drawing/2014/main" id="{2ECA8A03-92DE-9BE2-F8D9-AFC3CA52A9F1}"/>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t="-3588" r="58979" b="29396"/>
          <a:stretch/>
        </p:blipFill>
        <p:spPr>
          <a:xfrm>
            <a:off x="9807576" y="1720327"/>
            <a:ext cx="440821" cy="311727"/>
          </a:xfrm>
          <a:prstGeom prst="rect">
            <a:avLst/>
          </a:prstGeom>
          <a:solidFill>
            <a:schemeClr val="bg1"/>
          </a:solidFill>
        </p:spPr>
      </p:pic>
      <p:cxnSp>
        <p:nvCxnSpPr>
          <p:cNvPr id="88" name="Straight Connector 87">
            <a:extLst>
              <a:ext uri="{FF2B5EF4-FFF2-40B4-BE49-F238E27FC236}">
                <a16:creationId xmlns:a16="http://schemas.microsoft.com/office/drawing/2014/main" id="{B1334C1A-B74E-5D4E-8070-2F178895DD92}"/>
              </a:ext>
            </a:extLst>
          </p:cNvPr>
          <p:cNvCxnSpPr>
            <a:stCxn id="87" idx="3"/>
            <a:endCxn id="91" idx="1"/>
          </p:cNvCxnSpPr>
          <p:nvPr/>
        </p:nvCxnSpPr>
        <p:spPr>
          <a:xfrm flipV="1">
            <a:off x="10248397" y="1876190"/>
            <a:ext cx="373387"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95955D25-7214-7862-13E7-81752E49DD53}"/>
              </a:ext>
            </a:extLst>
          </p:cNvPr>
          <p:cNvCxnSpPr>
            <a:endCxn id="87" idx="1"/>
          </p:cNvCxnSpPr>
          <p:nvPr/>
        </p:nvCxnSpPr>
        <p:spPr>
          <a:xfrm>
            <a:off x="8936303" y="1876190"/>
            <a:ext cx="871272" cy="1"/>
          </a:xfrm>
          <a:prstGeom prst="line">
            <a:avLst/>
          </a:prstGeom>
        </p:spPr>
        <p:style>
          <a:lnRef idx="1">
            <a:schemeClr val="accent1"/>
          </a:lnRef>
          <a:fillRef idx="0">
            <a:schemeClr val="accent1"/>
          </a:fillRef>
          <a:effectRef idx="0">
            <a:schemeClr val="accent1"/>
          </a:effectRef>
          <a:fontRef idx="minor">
            <a:schemeClr val="tx1"/>
          </a:fontRef>
        </p:style>
      </p:cxnSp>
      <p:grpSp>
        <p:nvGrpSpPr>
          <p:cNvPr id="90" name="Group 89">
            <a:extLst>
              <a:ext uri="{FF2B5EF4-FFF2-40B4-BE49-F238E27FC236}">
                <a16:creationId xmlns:a16="http://schemas.microsoft.com/office/drawing/2014/main" id="{3B7AE915-46B5-F284-41B0-10C32732A66B}"/>
              </a:ext>
            </a:extLst>
          </p:cNvPr>
          <p:cNvGrpSpPr/>
          <p:nvPr/>
        </p:nvGrpSpPr>
        <p:grpSpPr>
          <a:xfrm>
            <a:off x="10621783" y="1784749"/>
            <a:ext cx="1463040" cy="182880"/>
            <a:chOff x="9859776" y="1158931"/>
            <a:chExt cx="1463040" cy="182880"/>
          </a:xfrm>
        </p:grpSpPr>
        <p:sp>
          <p:nvSpPr>
            <p:cNvPr id="91" name="Rectangle 90">
              <a:hlinkClick r:id="rId3" action="ppaction://hlinksldjump"/>
              <a:extLst>
                <a:ext uri="{FF2B5EF4-FFF2-40B4-BE49-F238E27FC236}">
                  <a16:creationId xmlns:a16="http://schemas.microsoft.com/office/drawing/2014/main" id="{EB986DCD-604C-8D9E-7138-7FE1216EFB9A}"/>
                </a:ext>
              </a:extLst>
            </p:cNvPr>
            <p:cNvSpPr/>
            <p:nvPr/>
          </p:nvSpPr>
          <p:spPr>
            <a:xfrm>
              <a:off x="9859776" y="115893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2. ALU Out </a:t>
              </a:r>
              <a:r>
                <a:rPr lang="en-US" sz="1200" err="1"/>
                <a:t>En</a:t>
              </a:r>
              <a:endParaRPr lang="en-US" sz="1200"/>
            </a:p>
          </p:txBody>
        </p:sp>
        <p:cxnSp>
          <p:nvCxnSpPr>
            <p:cNvPr id="92" name="Straight Connector 91">
              <a:extLst>
                <a:ext uri="{FF2B5EF4-FFF2-40B4-BE49-F238E27FC236}">
                  <a16:creationId xmlns:a16="http://schemas.microsoft.com/office/drawing/2014/main" id="{48F1DA07-701B-E51B-472E-B8C8227E0DC0}"/>
                </a:ext>
              </a:extLst>
            </p:cNvPr>
            <p:cNvCxnSpPr>
              <a:cxnSpLocks/>
            </p:cNvCxnSpPr>
            <p:nvPr/>
          </p:nvCxnSpPr>
          <p:spPr>
            <a:xfrm flipV="1">
              <a:off x="10068793" y="1186643"/>
              <a:ext cx="5987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3" name="Rectangle 92">
            <a:hlinkClick r:id="rId9" action="ppaction://hlinksldjump"/>
            <a:extLst>
              <a:ext uri="{FF2B5EF4-FFF2-40B4-BE49-F238E27FC236}">
                <a16:creationId xmlns:a16="http://schemas.microsoft.com/office/drawing/2014/main" id="{BC92677F-7221-32DA-AA7B-2C19F9D9B6EC}"/>
              </a:ext>
            </a:extLst>
          </p:cNvPr>
          <p:cNvSpPr/>
          <p:nvPr/>
        </p:nvSpPr>
        <p:spPr>
          <a:xfrm>
            <a:off x="3990751" y="762623"/>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15: SP Count</a:t>
            </a:r>
          </a:p>
        </p:txBody>
      </p:sp>
      <p:sp>
        <p:nvSpPr>
          <p:cNvPr id="94" name="Rectangle 93">
            <a:hlinkClick r:id="rId10" action="ppaction://hlinksldjump"/>
            <a:extLst>
              <a:ext uri="{FF2B5EF4-FFF2-40B4-BE49-F238E27FC236}">
                <a16:creationId xmlns:a16="http://schemas.microsoft.com/office/drawing/2014/main" id="{B39C4B69-3B49-51D5-5E66-5B958B453F6E}"/>
              </a:ext>
            </a:extLst>
          </p:cNvPr>
          <p:cNvSpPr/>
          <p:nvPr/>
        </p:nvSpPr>
        <p:spPr>
          <a:xfrm>
            <a:off x="4143151" y="967788"/>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dirty="0"/>
              <a:t>µC 14: SP Out</a:t>
            </a:r>
          </a:p>
        </p:txBody>
      </p:sp>
      <p:sp>
        <p:nvSpPr>
          <p:cNvPr id="95" name="Rectangle 94">
            <a:hlinkClick r:id="rId5" action="ppaction://hlinksldjump"/>
            <a:extLst>
              <a:ext uri="{FF2B5EF4-FFF2-40B4-BE49-F238E27FC236}">
                <a16:creationId xmlns:a16="http://schemas.microsoft.com/office/drawing/2014/main" id="{07C31204-6DE8-E660-460B-31AAF3E222AF}"/>
              </a:ext>
            </a:extLst>
          </p:cNvPr>
          <p:cNvSpPr/>
          <p:nvPr/>
        </p:nvSpPr>
        <p:spPr>
          <a:xfrm>
            <a:off x="4295551" y="117514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13: Reg Out Rd</a:t>
            </a:r>
          </a:p>
        </p:txBody>
      </p:sp>
      <p:sp>
        <p:nvSpPr>
          <p:cNvPr id="96" name="Rectangle 95">
            <a:hlinkClick r:id="rId11" action="ppaction://hlinksldjump"/>
            <a:extLst>
              <a:ext uri="{FF2B5EF4-FFF2-40B4-BE49-F238E27FC236}">
                <a16:creationId xmlns:a16="http://schemas.microsoft.com/office/drawing/2014/main" id="{9AB1208C-4E1B-D262-59A8-BE8EE789063E}"/>
              </a:ext>
            </a:extLst>
          </p:cNvPr>
          <p:cNvSpPr/>
          <p:nvPr/>
        </p:nvSpPr>
        <p:spPr>
          <a:xfrm>
            <a:off x="4447951" y="1378120"/>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12: </a:t>
            </a:r>
            <a:r>
              <a:rPr lang="en-US" sz="1200" err="1"/>
              <a:t>Ld</a:t>
            </a:r>
            <a:r>
              <a:rPr lang="en-US" sz="1200"/>
              <a:t> Data </a:t>
            </a:r>
            <a:r>
              <a:rPr lang="en-US" sz="1200" err="1"/>
              <a:t>Addr</a:t>
            </a:r>
            <a:endParaRPr lang="en-US" sz="1200"/>
          </a:p>
        </p:txBody>
      </p:sp>
      <p:sp>
        <p:nvSpPr>
          <p:cNvPr id="97" name="Rectangle 96">
            <a:hlinkClick r:id="rId12" action="ppaction://hlinksldjump"/>
            <a:extLst>
              <a:ext uri="{FF2B5EF4-FFF2-40B4-BE49-F238E27FC236}">
                <a16:creationId xmlns:a16="http://schemas.microsoft.com/office/drawing/2014/main" id="{3C5AD7CE-DF9B-942D-6DC3-D4144D8CB3E3}"/>
              </a:ext>
            </a:extLst>
          </p:cNvPr>
          <p:cNvSpPr/>
          <p:nvPr/>
        </p:nvSpPr>
        <p:spPr>
          <a:xfrm>
            <a:off x="4600351" y="1583287"/>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11: MEM Write</a:t>
            </a:r>
          </a:p>
        </p:txBody>
      </p:sp>
      <p:sp>
        <p:nvSpPr>
          <p:cNvPr id="98" name="Rectangle 97">
            <a:hlinkClick r:id="rId13" action="ppaction://hlinksldjump"/>
            <a:extLst>
              <a:ext uri="{FF2B5EF4-FFF2-40B4-BE49-F238E27FC236}">
                <a16:creationId xmlns:a16="http://schemas.microsoft.com/office/drawing/2014/main" id="{B6F1B94E-187A-3F79-F8B1-54C08543C8E3}"/>
              </a:ext>
            </a:extLst>
          </p:cNvPr>
          <p:cNvSpPr/>
          <p:nvPr/>
        </p:nvSpPr>
        <p:spPr>
          <a:xfrm>
            <a:off x="4752751" y="1788452"/>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10: MEM Read</a:t>
            </a:r>
          </a:p>
        </p:txBody>
      </p:sp>
      <p:sp>
        <p:nvSpPr>
          <p:cNvPr id="99" name="Rectangle 98">
            <a:hlinkClick r:id="rId10" action="ppaction://hlinksldjump"/>
            <a:extLst>
              <a:ext uri="{FF2B5EF4-FFF2-40B4-BE49-F238E27FC236}">
                <a16:creationId xmlns:a16="http://schemas.microsoft.com/office/drawing/2014/main" id="{B8D715A0-C27D-91FC-9F05-CAE86DABC5F1}"/>
              </a:ext>
            </a:extLst>
          </p:cNvPr>
          <p:cNvSpPr/>
          <p:nvPr/>
        </p:nvSpPr>
        <p:spPr>
          <a:xfrm>
            <a:off x="4905151" y="1993619"/>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9: PC Out</a:t>
            </a:r>
          </a:p>
        </p:txBody>
      </p:sp>
      <p:sp>
        <p:nvSpPr>
          <p:cNvPr id="100" name="Rectangle 99">
            <a:hlinkClick r:id="rId14" action="ppaction://hlinksldjump"/>
            <a:extLst>
              <a:ext uri="{FF2B5EF4-FFF2-40B4-BE49-F238E27FC236}">
                <a16:creationId xmlns:a16="http://schemas.microsoft.com/office/drawing/2014/main" id="{AE563D60-45CD-AF6B-D7C0-B5D3E0BEB903}"/>
              </a:ext>
            </a:extLst>
          </p:cNvPr>
          <p:cNvSpPr/>
          <p:nvPr/>
        </p:nvSpPr>
        <p:spPr>
          <a:xfrm>
            <a:off x="5027071" y="219878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8: PC Load</a:t>
            </a:r>
          </a:p>
        </p:txBody>
      </p:sp>
      <p:cxnSp>
        <p:nvCxnSpPr>
          <p:cNvPr id="101" name="Connector: Elbow 100">
            <a:extLst>
              <a:ext uri="{FF2B5EF4-FFF2-40B4-BE49-F238E27FC236}">
                <a16:creationId xmlns:a16="http://schemas.microsoft.com/office/drawing/2014/main" id="{FAEB2BE2-CE75-F579-E472-7397F088E6B0}"/>
              </a:ext>
            </a:extLst>
          </p:cNvPr>
          <p:cNvCxnSpPr>
            <a:endCxn id="93" idx="1"/>
          </p:cNvCxnSpPr>
          <p:nvPr/>
        </p:nvCxnSpPr>
        <p:spPr>
          <a:xfrm rot="5400000" flipH="1" flipV="1">
            <a:off x="2984883" y="1839334"/>
            <a:ext cx="1991141" cy="20599"/>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02" name="Connector: Elbow 101">
            <a:extLst>
              <a:ext uri="{FF2B5EF4-FFF2-40B4-BE49-F238E27FC236}">
                <a16:creationId xmlns:a16="http://schemas.microsoft.com/office/drawing/2014/main" id="{E5ABFF15-47A4-34A8-F345-E1786A955460}"/>
              </a:ext>
            </a:extLst>
          </p:cNvPr>
          <p:cNvCxnSpPr>
            <a:cxnSpLocks/>
            <a:endCxn id="94" idx="1"/>
          </p:cNvCxnSpPr>
          <p:nvPr/>
        </p:nvCxnSpPr>
        <p:spPr>
          <a:xfrm rot="5400000" flipH="1" flipV="1">
            <a:off x="3222875" y="1919245"/>
            <a:ext cx="1780292" cy="60260"/>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04" name="Connector: Elbow 103">
            <a:extLst>
              <a:ext uri="{FF2B5EF4-FFF2-40B4-BE49-F238E27FC236}">
                <a16:creationId xmlns:a16="http://schemas.microsoft.com/office/drawing/2014/main" id="{7EB7C7E8-4B42-28BC-C43C-A67AA47A001B}"/>
              </a:ext>
            </a:extLst>
          </p:cNvPr>
          <p:cNvCxnSpPr>
            <a:cxnSpLocks/>
            <a:endCxn id="95" idx="1"/>
          </p:cNvCxnSpPr>
          <p:nvPr/>
        </p:nvCxnSpPr>
        <p:spPr>
          <a:xfrm rot="5400000" flipH="1" flipV="1">
            <a:off x="3436799" y="2035890"/>
            <a:ext cx="1628060" cy="89444"/>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05" name="Connector: Elbow 104">
            <a:extLst>
              <a:ext uri="{FF2B5EF4-FFF2-40B4-BE49-F238E27FC236}">
                <a16:creationId xmlns:a16="http://schemas.microsoft.com/office/drawing/2014/main" id="{4552E789-E39A-D4F8-0D02-C494C1520B09}"/>
              </a:ext>
            </a:extLst>
          </p:cNvPr>
          <p:cNvCxnSpPr>
            <a:cxnSpLocks/>
            <a:endCxn id="96" idx="1"/>
          </p:cNvCxnSpPr>
          <p:nvPr/>
        </p:nvCxnSpPr>
        <p:spPr>
          <a:xfrm rot="5400000" flipH="1" flipV="1">
            <a:off x="3704279" y="2095848"/>
            <a:ext cx="1369960" cy="117384"/>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06" name="Connector: Elbow 105">
            <a:extLst>
              <a:ext uri="{FF2B5EF4-FFF2-40B4-BE49-F238E27FC236}">
                <a16:creationId xmlns:a16="http://schemas.microsoft.com/office/drawing/2014/main" id="{EC0A191B-F08F-1EBA-5124-CB7C0980FD09}"/>
              </a:ext>
            </a:extLst>
          </p:cNvPr>
          <p:cNvCxnSpPr>
            <a:cxnSpLocks/>
            <a:endCxn id="97" idx="1"/>
          </p:cNvCxnSpPr>
          <p:nvPr/>
        </p:nvCxnSpPr>
        <p:spPr>
          <a:xfrm rot="5400000" flipH="1" flipV="1">
            <a:off x="3936563" y="2201675"/>
            <a:ext cx="1190736" cy="136840"/>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10" name="Connector: Elbow 109">
            <a:extLst>
              <a:ext uri="{FF2B5EF4-FFF2-40B4-BE49-F238E27FC236}">
                <a16:creationId xmlns:a16="http://schemas.microsoft.com/office/drawing/2014/main" id="{7A32230B-E26E-76FD-06DE-95A028A9F579}"/>
              </a:ext>
            </a:extLst>
          </p:cNvPr>
          <p:cNvCxnSpPr>
            <a:stCxn id="109" idx="2"/>
            <a:endCxn id="100" idx="1"/>
          </p:cNvCxnSpPr>
          <p:nvPr/>
        </p:nvCxnSpPr>
        <p:spPr>
          <a:xfrm rot="5400000" flipH="1" flipV="1">
            <a:off x="3625266" y="2759471"/>
            <a:ext cx="1871055" cy="932556"/>
          </a:xfrm>
          <a:prstGeom prst="bentConnector4">
            <a:avLst>
              <a:gd name="adj1" fmla="val -18510"/>
              <a:gd name="adj2" fmla="val 83587"/>
            </a:avLst>
          </a:prstGeom>
        </p:spPr>
        <p:style>
          <a:lnRef idx="1">
            <a:schemeClr val="accent1"/>
          </a:lnRef>
          <a:fillRef idx="0">
            <a:schemeClr val="accent1"/>
          </a:fillRef>
          <a:effectRef idx="0">
            <a:schemeClr val="accent1"/>
          </a:effectRef>
          <a:fontRef idx="minor">
            <a:schemeClr val="tx1"/>
          </a:fontRef>
        </p:style>
      </p:cxnSp>
      <p:cxnSp>
        <p:nvCxnSpPr>
          <p:cNvPr id="111" name="Connector: Elbow 110">
            <a:extLst>
              <a:ext uri="{FF2B5EF4-FFF2-40B4-BE49-F238E27FC236}">
                <a16:creationId xmlns:a16="http://schemas.microsoft.com/office/drawing/2014/main" id="{52C2EDCA-67F7-06DB-21FC-AEBB06DEF4FA}"/>
              </a:ext>
            </a:extLst>
          </p:cNvPr>
          <p:cNvCxnSpPr>
            <a:stCxn id="107" idx="2"/>
            <a:endCxn id="98" idx="1"/>
          </p:cNvCxnSpPr>
          <p:nvPr/>
        </p:nvCxnSpPr>
        <p:spPr>
          <a:xfrm rot="5400000" flipH="1" flipV="1">
            <a:off x="3397752" y="2819661"/>
            <a:ext cx="2294765" cy="415231"/>
          </a:xfrm>
          <a:prstGeom prst="bentConnector4">
            <a:avLst>
              <a:gd name="adj1" fmla="val -6147"/>
              <a:gd name="adj2" fmla="val 92634"/>
            </a:avLst>
          </a:prstGeom>
        </p:spPr>
        <p:style>
          <a:lnRef idx="1">
            <a:schemeClr val="accent1"/>
          </a:lnRef>
          <a:fillRef idx="0">
            <a:schemeClr val="accent1"/>
          </a:fillRef>
          <a:effectRef idx="0">
            <a:schemeClr val="accent1"/>
          </a:effectRef>
          <a:fontRef idx="minor">
            <a:schemeClr val="tx1"/>
          </a:fontRef>
        </p:style>
      </p:cxnSp>
      <p:cxnSp>
        <p:nvCxnSpPr>
          <p:cNvPr id="112" name="Connector: Elbow 111">
            <a:extLst>
              <a:ext uri="{FF2B5EF4-FFF2-40B4-BE49-F238E27FC236}">
                <a16:creationId xmlns:a16="http://schemas.microsoft.com/office/drawing/2014/main" id="{D1291A20-E298-F0D8-348C-6D0343B4A902}"/>
              </a:ext>
            </a:extLst>
          </p:cNvPr>
          <p:cNvCxnSpPr>
            <a:stCxn id="108" idx="2"/>
            <a:endCxn id="99" idx="1"/>
          </p:cNvCxnSpPr>
          <p:nvPr/>
        </p:nvCxnSpPr>
        <p:spPr>
          <a:xfrm rot="5400000" flipH="1" flipV="1">
            <a:off x="3512890" y="2782395"/>
            <a:ext cx="2089599" cy="694924"/>
          </a:xfrm>
          <a:prstGeom prst="bentConnector4">
            <a:avLst>
              <a:gd name="adj1" fmla="val -10940"/>
              <a:gd name="adj2" fmla="val 83874"/>
            </a:avLst>
          </a:prstGeom>
        </p:spPr>
        <p:style>
          <a:lnRef idx="1">
            <a:schemeClr val="accent1"/>
          </a:lnRef>
          <a:fillRef idx="0">
            <a:schemeClr val="accent1"/>
          </a:fillRef>
          <a:effectRef idx="0">
            <a:schemeClr val="accent1"/>
          </a:effectRef>
          <a:fontRef idx="minor">
            <a:schemeClr val="tx1"/>
          </a:fontRef>
        </p:style>
      </p:cxnSp>
      <p:pic>
        <p:nvPicPr>
          <p:cNvPr id="1028" name="Picture 4" descr="74161">
            <a:extLst>
              <a:ext uri="{FF2B5EF4-FFF2-40B4-BE49-F238E27FC236}">
                <a16:creationId xmlns:a16="http://schemas.microsoft.com/office/drawing/2014/main" id="{803A7D54-28D2-BD05-8060-C97CFB09D65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762332" y="4884568"/>
            <a:ext cx="2135648" cy="1788605"/>
          </a:xfrm>
          <a:prstGeom prst="rect">
            <a:avLst/>
          </a:prstGeom>
          <a:noFill/>
          <a:extLst>
            <a:ext uri="{909E8E84-426E-40DD-AFC4-6F175D3DCCD1}">
              <a14:hiddenFill xmlns:a14="http://schemas.microsoft.com/office/drawing/2010/main">
                <a:solidFill>
                  <a:srgbClr val="FFFFFF"/>
                </a:solidFill>
              </a14:hiddenFill>
            </a:ext>
          </a:extLst>
        </p:spPr>
      </p:pic>
      <p:sp>
        <p:nvSpPr>
          <p:cNvPr id="86" name="TextBox 85">
            <a:extLst>
              <a:ext uri="{FF2B5EF4-FFF2-40B4-BE49-F238E27FC236}">
                <a16:creationId xmlns:a16="http://schemas.microsoft.com/office/drawing/2014/main" id="{F377E9C9-EB13-E721-6B7D-BC6700775D42}"/>
              </a:ext>
            </a:extLst>
          </p:cNvPr>
          <p:cNvSpPr txBox="1"/>
          <p:nvPr/>
        </p:nvSpPr>
        <p:spPr>
          <a:xfrm>
            <a:off x="9638789" y="5671357"/>
            <a:ext cx="535724" cy="369332"/>
          </a:xfrm>
          <a:prstGeom prst="rect">
            <a:avLst/>
          </a:prstGeom>
          <a:noFill/>
        </p:spPr>
        <p:txBody>
          <a:bodyPr wrap="none" rtlCol="0">
            <a:spAutoFit/>
          </a:bodyPr>
          <a:lstStyle/>
          <a:p>
            <a:r>
              <a:rPr lang="en-US">
                <a:hlinkClick r:id="rId16" action="ppaction://hlinksldjump"/>
              </a:rPr>
              <a:t>161</a:t>
            </a:r>
            <a:endParaRPr lang="en-US"/>
          </a:p>
        </p:txBody>
      </p:sp>
      <p:sp>
        <p:nvSpPr>
          <p:cNvPr id="115" name="Arrow: Right 114">
            <a:extLst>
              <a:ext uri="{FF2B5EF4-FFF2-40B4-BE49-F238E27FC236}">
                <a16:creationId xmlns:a16="http://schemas.microsoft.com/office/drawing/2014/main" id="{65BD7F95-B59E-A162-2ACF-0B2593134676}"/>
              </a:ext>
            </a:extLst>
          </p:cNvPr>
          <p:cNvSpPr/>
          <p:nvPr/>
        </p:nvSpPr>
        <p:spPr>
          <a:xfrm rot="16200000">
            <a:off x="9591262" y="4590277"/>
            <a:ext cx="299604" cy="365760"/>
          </a:xfrm>
          <a:prstGeom prst="rightArrow">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400"/>
              <a:t>  3 bit</a:t>
            </a:r>
          </a:p>
        </p:txBody>
      </p:sp>
      <p:sp>
        <p:nvSpPr>
          <p:cNvPr id="116" name="TextBox 115">
            <a:hlinkClick r:id="rId4" action="ppaction://hlinksldjump"/>
            <a:extLst>
              <a:ext uri="{FF2B5EF4-FFF2-40B4-BE49-F238E27FC236}">
                <a16:creationId xmlns:a16="http://schemas.microsoft.com/office/drawing/2014/main" id="{4622A60C-A8E8-9FDE-A6E1-0F587C08C576}"/>
              </a:ext>
            </a:extLst>
          </p:cNvPr>
          <p:cNvSpPr txBox="1"/>
          <p:nvPr/>
        </p:nvSpPr>
        <p:spPr>
          <a:xfrm>
            <a:off x="6947638" y="6040257"/>
            <a:ext cx="718466" cy="182880"/>
          </a:xfrm>
          <a:prstGeom prst="rect">
            <a:avLst/>
          </a:prstGeom>
          <a:solidFill>
            <a:schemeClr val="bg1"/>
          </a:solidFill>
          <a:ln>
            <a:solidFill>
              <a:schemeClr val="accent1"/>
            </a:solidFill>
          </a:ln>
        </p:spPr>
        <p:txBody>
          <a:bodyPr wrap="none" rtlCol="0" anchor="ctr">
            <a:spAutoFit/>
          </a:bodyPr>
          <a:lstStyle/>
          <a:p>
            <a:r>
              <a:rPr lang="en-US" sz="1100"/>
              <a:t>Main CLK</a:t>
            </a:r>
          </a:p>
        </p:txBody>
      </p:sp>
      <p:cxnSp>
        <p:nvCxnSpPr>
          <p:cNvPr id="117" name="Connector: Elbow 116">
            <a:extLst>
              <a:ext uri="{FF2B5EF4-FFF2-40B4-BE49-F238E27FC236}">
                <a16:creationId xmlns:a16="http://schemas.microsoft.com/office/drawing/2014/main" id="{5523AD02-9222-BE95-38A6-0D389EFBDA45}"/>
              </a:ext>
            </a:extLst>
          </p:cNvPr>
          <p:cNvCxnSpPr>
            <a:stCxn id="116" idx="3"/>
            <a:endCxn id="113" idx="2"/>
          </p:cNvCxnSpPr>
          <p:nvPr/>
        </p:nvCxnSpPr>
        <p:spPr>
          <a:xfrm>
            <a:off x="7666104" y="6131697"/>
            <a:ext cx="1531864" cy="393590"/>
          </a:xfrm>
          <a:prstGeom prst="bentConnector4">
            <a:avLst>
              <a:gd name="adj1" fmla="val 47513"/>
              <a:gd name="adj2" fmla="val 158081"/>
            </a:avLst>
          </a:prstGeom>
        </p:spPr>
        <p:style>
          <a:lnRef idx="1">
            <a:schemeClr val="accent1"/>
          </a:lnRef>
          <a:fillRef idx="0">
            <a:schemeClr val="accent1"/>
          </a:fillRef>
          <a:effectRef idx="0">
            <a:schemeClr val="accent1"/>
          </a:effectRef>
          <a:fontRef idx="minor">
            <a:schemeClr val="tx1"/>
          </a:fontRef>
        </p:style>
      </p:cxnSp>
      <p:sp>
        <p:nvSpPr>
          <p:cNvPr id="121" name="TextBox 120">
            <a:hlinkClick r:id="rId17" action="ppaction://hlinksldjump"/>
            <a:extLst>
              <a:ext uri="{FF2B5EF4-FFF2-40B4-BE49-F238E27FC236}">
                <a16:creationId xmlns:a16="http://schemas.microsoft.com/office/drawing/2014/main" id="{8127D1CB-6B48-C292-1DAC-E9E00BDC02F2}"/>
              </a:ext>
            </a:extLst>
          </p:cNvPr>
          <p:cNvSpPr txBox="1"/>
          <p:nvPr/>
        </p:nvSpPr>
        <p:spPr>
          <a:xfrm>
            <a:off x="6514827" y="5594203"/>
            <a:ext cx="1151277" cy="182880"/>
          </a:xfrm>
          <a:prstGeom prst="rect">
            <a:avLst/>
          </a:prstGeom>
          <a:noFill/>
          <a:ln w="12700">
            <a:solidFill>
              <a:srgbClr val="FF0000"/>
            </a:solidFill>
          </a:ln>
        </p:spPr>
        <p:txBody>
          <a:bodyPr wrap="none" rtlCol="0" anchor="ctr">
            <a:spAutoFit/>
          </a:bodyPr>
          <a:lstStyle/>
          <a:p>
            <a:r>
              <a:rPr lang="en-US" sz="1100"/>
              <a:t># </a:t>
            </a:r>
            <a:r>
              <a:rPr lang="en-US" sz="1100" err="1"/>
              <a:t>Reset_microPC</a:t>
            </a:r>
            <a:endParaRPr lang="en-US" sz="1100"/>
          </a:p>
        </p:txBody>
      </p:sp>
      <p:cxnSp>
        <p:nvCxnSpPr>
          <p:cNvPr id="123" name="Connector: Elbow 122">
            <a:extLst>
              <a:ext uri="{FF2B5EF4-FFF2-40B4-BE49-F238E27FC236}">
                <a16:creationId xmlns:a16="http://schemas.microsoft.com/office/drawing/2014/main" id="{4F6FCCE7-4263-49C5-213A-81E4184FD24C}"/>
              </a:ext>
            </a:extLst>
          </p:cNvPr>
          <p:cNvCxnSpPr>
            <a:stCxn id="121" idx="3"/>
            <a:endCxn id="120" idx="2"/>
          </p:cNvCxnSpPr>
          <p:nvPr/>
        </p:nvCxnSpPr>
        <p:spPr>
          <a:xfrm>
            <a:off x="7666104" y="5685643"/>
            <a:ext cx="1311030" cy="780901"/>
          </a:xfrm>
          <a:prstGeom prst="bentConnector4">
            <a:avLst>
              <a:gd name="adj1" fmla="val 62869"/>
              <a:gd name="adj2" fmla="val 129274"/>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03" name="Arrow: Right 102">
            <a:hlinkClick r:id="rId17" action="ppaction://hlinksldjump"/>
            <a:extLst>
              <a:ext uri="{FF2B5EF4-FFF2-40B4-BE49-F238E27FC236}">
                <a16:creationId xmlns:a16="http://schemas.microsoft.com/office/drawing/2014/main" id="{E5F4510E-4128-D166-784C-38C8638D3A16}"/>
              </a:ext>
            </a:extLst>
          </p:cNvPr>
          <p:cNvSpPr/>
          <p:nvPr/>
        </p:nvSpPr>
        <p:spPr>
          <a:xfrm rot="16200000">
            <a:off x="1560105" y="5106555"/>
            <a:ext cx="782353" cy="746648"/>
          </a:xfrm>
          <a:prstGeom prst="rightArrow">
            <a:avLst/>
          </a:prstGeom>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sz="1400" dirty="0"/>
              <a:t>OpCode</a:t>
            </a:r>
          </a:p>
          <a:p>
            <a:pPr algn="ctr"/>
            <a:r>
              <a:rPr lang="en-US" sz="1400" dirty="0"/>
              <a:t>[4:0]</a:t>
            </a:r>
          </a:p>
        </p:txBody>
      </p:sp>
      <p:sp>
        <p:nvSpPr>
          <p:cNvPr id="114" name="Rectangle 113">
            <a:extLst>
              <a:ext uri="{FF2B5EF4-FFF2-40B4-BE49-F238E27FC236}">
                <a16:creationId xmlns:a16="http://schemas.microsoft.com/office/drawing/2014/main" id="{38048695-5196-63E6-3477-5028B56CE914}"/>
              </a:ext>
            </a:extLst>
          </p:cNvPr>
          <p:cNvSpPr/>
          <p:nvPr/>
        </p:nvSpPr>
        <p:spPr>
          <a:xfrm>
            <a:off x="1781758" y="4050184"/>
            <a:ext cx="163373" cy="1212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DF2D9C07-617A-8E74-449C-867BF7062F48}"/>
              </a:ext>
            </a:extLst>
          </p:cNvPr>
          <p:cNvSpPr/>
          <p:nvPr/>
        </p:nvSpPr>
        <p:spPr>
          <a:xfrm>
            <a:off x="1654464" y="4050184"/>
            <a:ext cx="163373" cy="1212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D61EADD2-C498-654C-0D8F-B4F5651A8699}"/>
              </a:ext>
            </a:extLst>
          </p:cNvPr>
          <p:cNvSpPr/>
          <p:nvPr/>
        </p:nvSpPr>
        <p:spPr>
          <a:xfrm>
            <a:off x="1538752" y="4036803"/>
            <a:ext cx="163373" cy="1212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2" name="Picture 2" descr="The Ben Eater EEPROM Programmer, 28C256 and Software Data Protection –  Bread80.com">
            <a:extLst>
              <a:ext uri="{FF2B5EF4-FFF2-40B4-BE49-F238E27FC236}">
                <a16:creationId xmlns:a16="http://schemas.microsoft.com/office/drawing/2014/main" id="{E0B6FDBB-EA22-AA5B-49EF-81DC46B4DE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383920" y="2248156"/>
            <a:ext cx="1647825" cy="2295525"/>
          </a:xfrm>
          <a:prstGeom prst="rect">
            <a:avLst/>
          </a:prstGeom>
          <a:noFill/>
          <a:extLst>
            <a:ext uri="{909E8E84-426E-40DD-AFC4-6F175D3DCCD1}">
              <a14:hiddenFill xmlns:a14="http://schemas.microsoft.com/office/drawing/2010/main">
                <a:solidFill>
                  <a:srgbClr val="FFFFFF"/>
                </a:solidFill>
              </a14:hiddenFill>
            </a:ext>
          </a:extLst>
        </p:spPr>
      </p:pic>
      <p:sp>
        <p:nvSpPr>
          <p:cNvPr id="124" name="TextBox 123">
            <a:extLst>
              <a:ext uri="{FF2B5EF4-FFF2-40B4-BE49-F238E27FC236}">
                <a16:creationId xmlns:a16="http://schemas.microsoft.com/office/drawing/2014/main" id="{7201515A-CDD3-279C-CDD1-467679D10826}"/>
              </a:ext>
            </a:extLst>
          </p:cNvPr>
          <p:cNvSpPr txBox="1"/>
          <p:nvPr/>
        </p:nvSpPr>
        <p:spPr>
          <a:xfrm>
            <a:off x="491333" y="3336999"/>
            <a:ext cx="1689373" cy="369332"/>
          </a:xfrm>
          <a:prstGeom prst="rect">
            <a:avLst/>
          </a:prstGeom>
          <a:noFill/>
        </p:spPr>
        <p:txBody>
          <a:bodyPr wrap="none" rtlCol="0">
            <a:spAutoFit/>
          </a:bodyPr>
          <a:lstStyle/>
          <a:p>
            <a:r>
              <a:rPr lang="en-US" dirty="0"/>
              <a:t>Micro Ins 16_23</a:t>
            </a:r>
          </a:p>
        </p:txBody>
      </p:sp>
      <p:sp>
        <p:nvSpPr>
          <p:cNvPr id="125" name="TextBox 124">
            <a:extLst>
              <a:ext uri="{FF2B5EF4-FFF2-40B4-BE49-F238E27FC236}">
                <a16:creationId xmlns:a16="http://schemas.microsoft.com/office/drawing/2014/main" id="{BFE324B2-5A9D-37B2-0F72-6BB3BE2F3B0C}"/>
              </a:ext>
            </a:extLst>
          </p:cNvPr>
          <p:cNvSpPr txBox="1"/>
          <p:nvPr/>
        </p:nvSpPr>
        <p:spPr>
          <a:xfrm>
            <a:off x="262988" y="2517973"/>
            <a:ext cx="1229824" cy="307777"/>
          </a:xfrm>
          <a:prstGeom prst="rect">
            <a:avLst/>
          </a:prstGeom>
          <a:noFill/>
        </p:spPr>
        <p:txBody>
          <a:bodyPr wrap="none" rtlCol="0">
            <a:spAutoFit/>
          </a:bodyPr>
          <a:lstStyle/>
          <a:p>
            <a:r>
              <a:rPr lang="en-US" sz="1400"/>
              <a:t>1,0,0,0,0,0,0,0</a:t>
            </a:r>
          </a:p>
        </p:txBody>
      </p:sp>
      <p:sp>
        <p:nvSpPr>
          <p:cNvPr id="138" name="Arrow: Right 137">
            <a:extLst>
              <a:ext uri="{FF2B5EF4-FFF2-40B4-BE49-F238E27FC236}">
                <a16:creationId xmlns:a16="http://schemas.microsoft.com/office/drawing/2014/main" id="{0F96F61C-D172-2B2A-2C93-3BCB91876AAA}"/>
              </a:ext>
            </a:extLst>
          </p:cNvPr>
          <p:cNvSpPr/>
          <p:nvPr/>
        </p:nvSpPr>
        <p:spPr>
          <a:xfrm rot="16200000">
            <a:off x="398325" y="4486255"/>
            <a:ext cx="822960" cy="365760"/>
          </a:xfrm>
          <a:prstGeom prst="rightArrow">
            <a:avLst/>
          </a:prstGeom>
          <a:solidFill>
            <a:schemeClr val="bg2"/>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a:t>  5 bit</a:t>
            </a:r>
          </a:p>
        </p:txBody>
      </p:sp>
      <p:sp>
        <p:nvSpPr>
          <p:cNvPr id="140" name="Right Brace 139">
            <a:extLst>
              <a:ext uri="{FF2B5EF4-FFF2-40B4-BE49-F238E27FC236}">
                <a16:creationId xmlns:a16="http://schemas.microsoft.com/office/drawing/2014/main" id="{9785AC1B-EA30-025B-2F60-E08E2B5DB120}"/>
              </a:ext>
            </a:extLst>
          </p:cNvPr>
          <p:cNvSpPr/>
          <p:nvPr/>
        </p:nvSpPr>
        <p:spPr>
          <a:xfrm rot="5400000">
            <a:off x="715537" y="3863714"/>
            <a:ext cx="204184" cy="63934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1" name="TextBox 140">
            <a:extLst>
              <a:ext uri="{FF2B5EF4-FFF2-40B4-BE49-F238E27FC236}">
                <a16:creationId xmlns:a16="http://schemas.microsoft.com/office/drawing/2014/main" id="{F6EF7817-A246-42CC-C434-6EC17513BF82}"/>
              </a:ext>
            </a:extLst>
          </p:cNvPr>
          <p:cNvSpPr txBox="1"/>
          <p:nvPr/>
        </p:nvSpPr>
        <p:spPr>
          <a:xfrm>
            <a:off x="147845" y="4069186"/>
            <a:ext cx="412292" cy="307777"/>
          </a:xfrm>
          <a:prstGeom prst="rect">
            <a:avLst/>
          </a:prstGeom>
          <a:noFill/>
        </p:spPr>
        <p:txBody>
          <a:bodyPr wrap="none" rtlCol="0">
            <a:spAutoFit/>
          </a:bodyPr>
          <a:lstStyle/>
          <a:p>
            <a:r>
              <a:rPr lang="en-US" sz="1400"/>
              <a:t>0,0</a:t>
            </a:r>
          </a:p>
        </p:txBody>
      </p:sp>
      <p:sp>
        <p:nvSpPr>
          <p:cNvPr id="142" name="Right Brace 141">
            <a:extLst>
              <a:ext uri="{FF2B5EF4-FFF2-40B4-BE49-F238E27FC236}">
                <a16:creationId xmlns:a16="http://schemas.microsoft.com/office/drawing/2014/main" id="{90FD03E9-B309-6B05-B69D-01D48B163B48}"/>
              </a:ext>
            </a:extLst>
          </p:cNvPr>
          <p:cNvSpPr/>
          <p:nvPr/>
        </p:nvSpPr>
        <p:spPr>
          <a:xfrm rot="5400000">
            <a:off x="1238189" y="4000505"/>
            <a:ext cx="204184" cy="36576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3" name="Arrow: Right 142">
            <a:extLst>
              <a:ext uri="{FF2B5EF4-FFF2-40B4-BE49-F238E27FC236}">
                <a16:creationId xmlns:a16="http://schemas.microsoft.com/office/drawing/2014/main" id="{E30B0E0B-E7F2-D461-2838-65354B53903F}"/>
              </a:ext>
            </a:extLst>
          </p:cNvPr>
          <p:cNvSpPr/>
          <p:nvPr/>
        </p:nvSpPr>
        <p:spPr>
          <a:xfrm rot="16200000">
            <a:off x="1100601" y="4322236"/>
            <a:ext cx="481971" cy="365760"/>
          </a:xfrm>
          <a:prstGeom prst="rightArrow">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400"/>
              <a:t>  3 bit</a:t>
            </a:r>
          </a:p>
        </p:txBody>
      </p:sp>
      <p:sp>
        <p:nvSpPr>
          <p:cNvPr id="131" name="Rectangle 130">
            <a:hlinkClick r:id="rId4" action="ppaction://hlinksldjump"/>
            <a:extLst>
              <a:ext uri="{FF2B5EF4-FFF2-40B4-BE49-F238E27FC236}">
                <a16:creationId xmlns:a16="http://schemas.microsoft.com/office/drawing/2014/main" id="{A96BE965-AA0C-C14C-6ABC-CDE1CC40E495}"/>
              </a:ext>
            </a:extLst>
          </p:cNvPr>
          <p:cNvSpPr/>
          <p:nvPr/>
        </p:nvSpPr>
        <p:spPr>
          <a:xfrm>
            <a:off x="1524841" y="794597"/>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23:</a:t>
            </a:r>
          </a:p>
        </p:txBody>
      </p:sp>
      <p:sp>
        <p:nvSpPr>
          <p:cNvPr id="132" name="Rectangle 131">
            <a:hlinkClick r:id="rId18" action="ppaction://hlinksldjump"/>
            <a:extLst>
              <a:ext uri="{FF2B5EF4-FFF2-40B4-BE49-F238E27FC236}">
                <a16:creationId xmlns:a16="http://schemas.microsoft.com/office/drawing/2014/main" id="{D6FF7089-278E-B51B-6C58-D0558AF930AD}"/>
              </a:ext>
            </a:extLst>
          </p:cNvPr>
          <p:cNvSpPr/>
          <p:nvPr/>
        </p:nvSpPr>
        <p:spPr>
          <a:xfrm>
            <a:off x="1677241" y="999763"/>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dirty="0"/>
              <a:t>µC 22: AB2DB H/L</a:t>
            </a:r>
          </a:p>
        </p:txBody>
      </p:sp>
      <p:sp>
        <p:nvSpPr>
          <p:cNvPr id="133" name="Rectangle 132">
            <a:hlinkClick r:id="rId18" action="ppaction://hlinksldjump"/>
            <a:extLst>
              <a:ext uri="{FF2B5EF4-FFF2-40B4-BE49-F238E27FC236}">
                <a16:creationId xmlns:a16="http://schemas.microsoft.com/office/drawing/2014/main" id="{CE488F85-C801-0AC6-4F57-7D6FA3CFBCE7}"/>
              </a:ext>
            </a:extLst>
          </p:cNvPr>
          <p:cNvSpPr/>
          <p:nvPr/>
        </p:nvSpPr>
        <p:spPr>
          <a:xfrm>
            <a:off x="1829641" y="1207116"/>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dirty="0"/>
              <a:t>µC 21: AB2DB</a:t>
            </a:r>
          </a:p>
        </p:txBody>
      </p:sp>
      <p:sp>
        <p:nvSpPr>
          <p:cNvPr id="134" name="Rectangle 133">
            <a:hlinkClick r:id="rId10" action="ppaction://hlinksldjump"/>
            <a:extLst>
              <a:ext uri="{FF2B5EF4-FFF2-40B4-BE49-F238E27FC236}">
                <a16:creationId xmlns:a16="http://schemas.microsoft.com/office/drawing/2014/main" id="{B203C7F4-7701-9956-9A36-05F932EA08A3}"/>
              </a:ext>
            </a:extLst>
          </p:cNvPr>
          <p:cNvSpPr/>
          <p:nvPr/>
        </p:nvSpPr>
        <p:spPr>
          <a:xfrm>
            <a:off x="1982041" y="1410095"/>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dirty="0"/>
              <a:t>µC 20: </a:t>
            </a:r>
            <a:r>
              <a:rPr lang="en-US" sz="1200" dirty="0" err="1"/>
              <a:t>TmpARWrite</a:t>
            </a:r>
            <a:endParaRPr lang="en-US" sz="1200" dirty="0"/>
          </a:p>
        </p:txBody>
      </p:sp>
      <p:sp>
        <p:nvSpPr>
          <p:cNvPr id="135" name="Rectangle 134">
            <a:hlinkClick r:id="rId19" action="ppaction://hlinksldjump"/>
            <a:extLst>
              <a:ext uri="{FF2B5EF4-FFF2-40B4-BE49-F238E27FC236}">
                <a16:creationId xmlns:a16="http://schemas.microsoft.com/office/drawing/2014/main" id="{331CAE3E-540F-F313-5E1B-074276A8CA31}"/>
              </a:ext>
            </a:extLst>
          </p:cNvPr>
          <p:cNvSpPr/>
          <p:nvPr/>
        </p:nvSpPr>
        <p:spPr>
          <a:xfrm>
            <a:off x="2134441" y="161526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dirty="0"/>
              <a:t>µC 19: </a:t>
            </a:r>
            <a:r>
              <a:rPr lang="en-US" sz="1200" dirty="0" err="1"/>
              <a:t>TmpARRead</a:t>
            </a:r>
            <a:endParaRPr lang="en-US" sz="1200" dirty="0"/>
          </a:p>
        </p:txBody>
      </p:sp>
      <p:sp>
        <p:nvSpPr>
          <p:cNvPr id="136" name="Rectangle 135">
            <a:hlinkClick r:id="rId14" action="ppaction://hlinksldjump"/>
            <a:extLst>
              <a:ext uri="{FF2B5EF4-FFF2-40B4-BE49-F238E27FC236}">
                <a16:creationId xmlns:a16="http://schemas.microsoft.com/office/drawing/2014/main" id="{41A9B246-D538-2240-E48B-C173B9C559AD}"/>
              </a:ext>
            </a:extLst>
          </p:cNvPr>
          <p:cNvSpPr/>
          <p:nvPr/>
        </p:nvSpPr>
        <p:spPr>
          <a:xfrm>
            <a:off x="2286841" y="1820427"/>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dirty="0"/>
              <a:t>µC 18: </a:t>
            </a:r>
            <a:r>
              <a:rPr lang="en-US" sz="1200" dirty="0" err="1"/>
              <a:t>LoadAR</a:t>
            </a:r>
            <a:r>
              <a:rPr lang="en-US" sz="1200" dirty="0"/>
              <a:t> H/L</a:t>
            </a:r>
          </a:p>
        </p:txBody>
      </p:sp>
      <p:sp>
        <p:nvSpPr>
          <p:cNvPr id="137" name="Rectangle 136">
            <a:hlinkClick r:id="rId14" action="ppaction://hlinksldjump"/>
            <a:extLst>
              <a:ext uri="{FF2B5EF4-FFF2-40B4-BE49-F238E27FC236}">
                <a16:creationId xmlns:a16="http://schemas.microsoft.com/office/drawing/2014/main" id="{40906A38-27C7-9EF8-7FFD-E602A596AC05}"/>
              </a:ext>
            </a:extLst>
          </p:cNvPr>
          <p:cNvSpPr/>
          <p:nvPr/>
        </p:nvSpPr>
        <p:spPr>
          <a:xfrm>
            <a:off x="2439241" y="2025593"/>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dirty="0"/>
              <a:t>µC 17: </a:t>
            </a:r>
            <a:r>
              <a:rPr lang="en-US" sz="1200" dirty="0" err="1"/>
              <a:t>LoadAR</a:t>
            </a:r>
            <a:endParaRPr lang="en-US" sz="1200" strike="sngStrike" dirty="0"/>
          </a:p>
        </p:txBody>
      </p:sp>
      <p:sp>
        <p:nvSpPr>
          <p:cNvPr id="139" name="Rectangle 138">
            <a:hlinkClick r:id="rId9" action="ppaction://hlinksldjump"/>
            <a:extLst>
              <a:ext uri="{FF2B5EF4-FFF2-40B4-BE49-F238E27FC236}">
                <a16:creationId xmlns:a16="http://schemas.microsoft.com/office/drawing/2014/main" id="{17762AAD-D1DA-1F16-8CC7-A39CFB530820}"/>
              </a:ext>
            </a:extLst>
          </p:cNvPr>
          <p:cNvSpPr/>
          <p:nvPr/>
        </p:nvSpPr>
        <p:spPr>
          <a:xfrm>
            <a:off x="2561161" y="2230756"/>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16: SP Up/Down</a:t>
            </a:r>
          </a:p>
        </p:txBody>
      </p:sp>
      <p:cxnSp>
        <p:nvCxnSpPr>
          <p:cNvPr id="144" name="Connector: Elbow 143">
            <a:extLst>
              <a:ext uri="{FF2B5EF4-FFF2-40B4-BE49-F238E27FC236}">
                <a16:creationId xmlns:a16="http://schemas.microsoft.com/office/drawing/2014/main" id="{73ABFB5D-B2C0-8AB3-F76B-DFAFD6648ABE}"/>
              </a:ext>
            </a:extLst>
          </p:cNvPr>
          <p:cNvCxnSpPr>
            <a:endCxn id="131" idx="1"/>
          </p:cNvCxnSpPr>
          <p:nvPr/>
        </p:nvCxnSpPr>
        <p:spPr>
          <a:xfrm rot="5400000" flipH="1" flipV="1">
            <a:off x="518972" y="1871310"/>
            <a:ext cx="1991141" cy="20599"/>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45" name="Connector: Elbow 144">
            <a:extLst>
              <a:ext uri="{FF2B5EF4-FFF2-40B4-BE49-F238E27FC236}">
                <a16:creationId xmlns:a16="http://schemas.microsoft.com/office/drawing/2014/main" id="{9A480B20-19E0-2E9B-5FFD-485AAE63F32B}"/>
              </a:ext>
            </a:extLst>
          </p:cNvPr>
          <p:cNvCxnSpPr>
            <a:cxnSpLocks/>
            <a:endCxn id="132" idx="1"/>
          </p:cNvCxnSpPr>
          <p:nvPr/>
        </p:nvCxnSpPr>
        <p:spPr>
          <a:xfrm rot="5400000" flipH="1" flipV="1">
            <a:off x="756966" y="1951219"/>
            <a:ext cx="1780292" cy="60260"/>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46" name="Connector: Elbow 145">
            <a:extLst>
              <a:ext uri="{FF2B5EF4-FFF2-40B4-BE49-F238E27FC236}">
                <a16:creationId xmlns:a16="http://schemas.microsoft.com/office/drawing/2014/main" id="{D414B4C7-DCBE-ADEE-E8DD-2B21BA6BADE1}"/>
              </a:ext>
            </a:extLst>
          </p:cNvPr>
          <p:cNvCxnSpPr>
            <a:cxnSpLocks/>
            <a:endCxn id="133" idx="1"/>
          </p:cNvCxnSpPr>
          <p:nvPr/>
        </p:nvCxnSpPr>
        <p:spPr>
          <a:xfrm rot="5400000" flipH="1" flipV="1">
            <a:off x="970890" y="2067865"/>
            <a:ext cx="1628060" cy="89444"/>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47" name="Connector: Elbow 146">
            <a:extLst>
              <a:ext uri="{FF2B5EF4-FFF2-40B4-BE49-F238E27FC236}">
                <a16:creationId xmlns:a16="http://schemas.microsoft.com/office/drawing/2014/main" id="{D0CF563F-A2EA-DDE9-D353-7A3D5AC220CE}"/>
              </a:ext>
            </a:extLst>
          </p:cNvPr>
          <p:cNvCxnSpPr>
            <a:cxnSpLocks/>
            <a:endCxn id="134" idx="1"/>
          </p:cNvCxnSpPr>
          <p:nvPr/>
        </p:nvCxnSpPr>
        <p:spPr>
          <a:xfrm rot="5400000" flipH="1" flipV="1">
            <a:off x="1238369" y="2127823"/>
            <a:ext cx="1369960" cy="117384"/>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48" name="Connector: Elbow 147">
            <a:extLst>
              <a:ext uri="{FF2B5EF4-FFF2-40B4-BE49-F238E27FC236}">
                <a16:creationId xmlns:a16="http://schemas.microsoft.com/office/drawing/2014/main" id="{80A5E65C-657C-9C4F-CB5A-903217B71229}"/>
              </a:ext>
            </a:extLst>
          </p:cNvPr>
          <p:cNvCxnSpPr>
            <a:cxnSpLocks/>
            <a:endCxn id="135" idx="1"/>
          </p:cNvCxnSpPr>
          <p:nvPr/>
        </p:nvCxnSpPr>
        <p:spPr>
          <a:xfrm rot="5400000" flipH="1" flipV="1">
            <a:off x="1470653" y="2233649"/>
            <a:ext cx="1190736" cy="136840"/>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49" name="Connector: Elbow 148">
            <a:extLst>
              <a:ext uri="{FF2B5EF4-FFF2-40B4-BE49-F238E27FC236}">
                <a16:creationId xmlns:a16="http://schemas.microsoft.com/office/drawing/2014/main" id="{A69C00E9-02E1-6B53-F315-A8CA3C3292CD}"/>
              </a:ext>
            </a:extLst>
          </p:cNvPr>
          <p:cNvCxnSpPr>
            <a:stCxn id="128" idx="2"/>
            <a:endCxn id="139" idx="1"/>
          </p:cNvCxnSpPr>
          <p:nvPr/>
        </p:nvCxnSpPr>
        <p:spPr>
          <a:xfrm rot="5400000" flipH="1" flipV="1">
            <a:off x="1159357" y="2791446"/>
            <a:ext cx="1871055" cy="932556"/>
          </a:xfrm>
          <a:prstGeom prst="bentConnector4">
            <a:avLst>
              <a:gd name="adj1" fmla="val -18016"/>
              <a:gd name="adj2" fmla="val 83587"/>
            </a:avLst>
          </a:prstGeom>
        </p:spPr>
        <p:style>
          <a:lnRef idx="1">
            <a:schemeClr val="accent1"/>
          </a:lnRef>
          <a:fillRef idx="0">
            <a:schemeClr val="accent1"/>
          </a:fillRef>
          <a:effectRef idx="0">
            <a:schemeClr val="accent1"/>
          </a:effectRef>
          <a:fontRef idx="minor">
            <a:schemeClr val="tx1"/>
          </a:fontRef>
        </p:style>
      </p:cxnSp>
      <p:cxnSp>
        <p:nvCxnSpPr>
          <p:cNvPr id="150" name="Connector: Elbow 149">
            <a:extLst>
              <a:ext uri="{FF2B5EF4-FFF2-40B4-BE49-F238E27FC236}">
                <a16:creationId xmlns:a16="http://schemas.microsoft.com/office/drawing/2014/main" id="{C6475D6A-1824-ACD6-B65D-DCB665DD4C78}"/>
              </a:ext>
            </a:extLst>
          </p:cNvPr>
          <p:cNvCxnSpPr>
            <a:stCxn id="126" idx="2"/>
            <a:endCxn id="136" idx="1"/>
          </p:cNvCxnSpPr>
          <p:nvPr/>
        </p:nvCxnSpPr>
        <p:spPr>
          <a:xfrm rot="5400000" flipH="1" flipV="1">
            <a:off x="931843" y="2851635"/>
            <a:ext cx="2294765" cy="415231"/>
          </a:xfrm>
          <a:prstGeom prst="bentConnector4">
            <a:avLst>
              <a:gd name="adj1" fmla="val -6147"/>
              <a:gd name="adj2" fmla="val 92634"/>
            </a:avLst>
          </a:prstGeom>
        </p:spPr>
        <p:style>
          <a:lnRef idx="1">
            <a:schemeClr val="accent1"/>
          </a:lnRef>
          <a:fillRef idx="0">
            <a:schemeClr val="accent1"/>
          </a:fillRef>
          <a:effectRef idx="0">
            <a:schemeClr val="accent1"/>
          </a:effectRef>
          <a:fontRef idx="minor">
            <a:schemeClr val="tx1"/>
          </a:fontRef>
        </p:style>
      </p:cxnSp>
      <p:cxnSp>
        <p:nvCxnSpPr>
          <p:cNvPr id="151" name="Connector: Elbow 150">
            <a:extLst>
              <a:ext uri="{FF2B5EF4-FFF2-40B4-BE49-F238E27FC236}">
                <a16:creationId xmlns:a16="http://schemas.microsoft.com/office/drawing/2014/main" id="{FE3E640F-24A9-4F11-1C43-399706F6CA81}"/>
              </a:ext>
            </a:extLst>
          </p:cNvPr>
          <p:cNvCxnSpPr>
            <a:stCxn id="127" idx="2"/>
            <a:endCxn id="137" idx="1"/>
          </p:cNvCxnSpPr>
          <p:nvPr/>
        </p:nvCxnSpPr>
        <p:spPr>
          <a:xfrm rot="5400000" flipH="1" flipV="1">
            <a:off x="1046981" y="2814371"/>
            <a:ext cx="2089599" cy="694924"/>
          </a:xfrm>
          <a:prstGeom prst="bentConnector4">
            <a:avLst>
              <a:gd name="adj1" fmla="val -10940"/>
              <a:gd name="adj2" fmla="val 83874"/>
            </a:avLst>
          </a:prstGeom>
        </p:spPr>
        <p:style>
          <a:lnRef idx="1">
            <a:schemeClr val="accent1"/>
          </a:lnRef>
          <a:fillRef idx="0">
            <a:schemeClr val="accent1"/>
          </a:fillRef>
          <a:effectRef idx="0">
            <a:schemeClr val="accent1"/>
          </a:effectRef>
          <a:fontRef idx="minor">
            <a:schemeClr val="tx1"/>
          </a:fontRef>
        </p:style>
      </p:cxnSp>
      <p:pic>
        <p:nvPicPr>
          <p:cNvPr id="9" name="Picture 8">
            <a:hlinkClick r:id="rId20" action="ppaction://hlinksldjump"/>
            <a:extLst>
              <a:ext uri="{FF2B5EF4-FFF2-40B4-BE49-F238E27FC236}">
                <a16:creationId xmlns:a16="http://schemas.microsoft.com/office/drawing/2014/main" id="{35325444-45A5-1286-4298-415882BDDB6C}"/>
              </a:ext>
            </a:extLst>
          </p:cNvPr>
          <p:cNvPicPr>
            <a:picLocks noChangeAspect="1"/>
          </p:cNvPicPr>
          <p:nvPr/>
        </p:nvPicPr>
        <p:blipFill>
          <a:blip r:embed="rId21"/>
          <a:stretch>
            <a:fillRect/>
          </a:stretch>
        </p:blipFill>
        <p:spPr>
          <a:xfrm>
            <a:off x="11038384" y="6427540"/>
            <a:ext cx="1076851" cy="222744"/>
          </a:xfrm>
          <a:prstGeom prst="rect">
            <a:avLst/>
          </a:prstGeom>
        </p:spPr>
      </p:pic>
      <p:sp>
        <p:nvSpPr>
          <p:cNvPr id="3" name="Slide Number Placeholder 4">
            <a:extLst>
              <a:ext uri="{FF2B5EF4-FFF2-40B4-BE49-F238E27FC236}">
                <a16:creationId xmlns:a16="http://schemas.microsoft.com/office/drawing/2014/main" id="{8AA8209D-B5DB-D410-98FD-543EE9ADA089}"/>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28</a:t>
            </a:fld>
            <a:endParaRPr lang="en-US" b="1">
              <a:solidFill>
                <a:schemeClr val="bg1"/>
              </a:solidFill>
            </a:endParaRPr>
          </a:p>
        </p:txBody>
      </p:sp>
      <p:sp>
        <p:nvSpPr>
          <p:cNvPr id="38" name="TextBox 37">
            <a:extLst>
              <a:ext uri="{FF2B5EF4-FFF2-40B4-BE49-F238E27FC236}">
                <a16:creationId xmlns:a16="http://schemas.microsoft.com/office/drawing/2014/main" id="{0CFA8CF1-EF2A-B80F-7878-9F20ACBDBADB}"/>
              </a:ext>
            </a:extLst>
          </p:cNvPr>
          <p:cNvSpPr txBox="1"/>
          <p:nvPr/>
        </p:nvSpPr>
        <p:spPr>
          <a:xfrm flipH="1">
            <a:off x="7856845" y="2740260"/>
            <a:ext cx="2263177" cy="738664"/>
          </a:xfrm>
          <a:prstGeom prst="rect">
            <a:avLst/>
          </a:prstGeom>
          <a:noFill/>
        </p:spPr>
        <p:txBody>
          <a:bodyPr wrap="square" rtlCol="0">
            <a:spAutoFit/>
          </a:bodyPr>
          <a:lstStyle/>
          <a:p>
            <a:r>
              <a:rPr lang="en-US" sz="1400" dirty="0"/>
              <a:t>Set A8 to quiesce all controls during the first clock while upper OpCode is loading </a:t>
            </a:r>
          </a:p>
        </p:txBody>
      </p:sp>
      <p:grpSp>
        <p:nvGrpSpPr>
          <p:cNvPr id="51" name="Group 50">
            <a:extLst>
              <a:ext uri="{FF2B5EF4-FFF2-40B4-BE49-F238E27FC236}">
                <a16:creationId xmlns:a16="http://schemas.microsoft.com/office/drawing/2014/main" id="{5CC59612-80CB-119B-ED28-45DE2C399DB1}"/>
              </a:ext>
            </a:extLst>
          </p:cNvPr>
          <p:cNvGrpSpPr/>
          <p:nvPr/>
        </p:nvGrpSpPr>
        <p:grpSpPr>
          <a:xfrm>
            <a:off x="693032" y="2763211"/>
            <a:ext cx="9379656" cy="197552"/>
            <a:chOff x="693032" y="2763210"/>
            <a:chExt cx="9379656" cy="197552"/>
          </a:xfrm>
        </p:grpSpPr>
        <p:cxnSp>
          <p:nvCxnSpPr>
            <p:cNvPr id="14" name="Straight Connector 13">
              <a:extLst>
                <a:ext uri="{FF2B5EF4-FFF2-40B4-BE49-F238E27FC236}">
                  <a16:creationId xmlns:a16="http://schemas.microsoft.com/office/drawing/2014/main" id="{463B4A2F-965F-4DB6-0A87-BECC1651A592}"/>
                </a:ext>
              </a:extLst>
            </p:cNvPr>
            <p:cNvCxnSpPr>
              <a:cxnSpLocks/>
            </p:cNvCxnSpPr>
            <p:nvPr/>
          </p:nvCxnSpPr>
          <p:spPr>
            <a:xfrm flipH="1" flipV="1">
              <a:off x="693032" y="2764984"/>
              <a:ext cx="9379656" cy="0"/>
            </a:xfrm>
            <a:prstGeom prst="line">
              <a:avLst/>
            </a:prstGeom>
            <a:ln w="12700"/>
          </p:spPr>
          <p:style>
            <a:lnRef idx="2">
              <a:schemeClr val="accent2"/>
            </a:lnRef>
            <a:fillRef idx="0">
              <a:schemeClr val="accent2"/>
            </a:fillRef>
            <a:effectRef idx="1">
              <a:schemeClr val="accent2"/>
            </a:effectRef>
            <a:fontRef idx="minor">
              <a:schemeClr val="tx1"/>
            </a:fontRef>
          </p:style>
        </p:cxnSp>
        <p:cxnSp>
          <p:nvCxnSpPr>
            <p:cNvPr id="40" name="Straight Connector 39">
              <a:extLst>
                <a:ext uri="{FF2B5EF4-FFF2-40B4-BE49-F238E27FC236}">
                  <a16:creationId xmlns:a16="http://schemas.microsoft.com/office/drawing/2014/main" id="{C9C33259-44DC-281D-EC99-660177ED5EFA}"/>
                </a:ext>
              </a:extLst>
            </p:cNvPr>
            <p:cNvCxnSpPr>
              <a:cxnSpLocks/>
            </p:cNvCxnSpPr>
            <p:nvPr/>
          </p:nvCxnSpPr>
          <p:spPr>
            <a:xfrm flipV="1">
              <a:off x="694418" y="2767292"/>
              <a:ext cx="0" cy="182880"/>
            </a:xfrm>
            <a:prstGeom prst="line">
              <a:avLst/>
            </a:prstGeom>
            <a:ln w="12700"/>
          </p:spPr>
          <p:style>
            <a:lnRef idx="2">
              <a:schemeClr val="accent2"/>
            </a:lnRef>
            <a:fillRef idx="0">
              <a:schemeClr val="accent2"/>
            </a:fillRef>
            <a:effectRef idx="1">
              <a:schemeClr val="accent2"/>
            </a:effectRef>
            <a:fontRef idx="minor">
              <a:schemeClr val="tx1"/>
            </a:fontRef>
          </p:style>
        </p:cxnSp>
        <p:cxnSp>
          <p:nvCxnSpPr>
            <p:cNvPr id="48" name="Straight Connector 47">
              <a:extLst>
                <a:ext uri="{FF2B5EF4-FFF2-40B4-BE49-F238E27FC236}">
                  <a16:creationId xmlns:a16="http://schemas.microsoft.com/office/drawing/2014/main" id="{54763A21-B893-F381-53AD-8EBEBF625AF0}"/>
                </a:ext>
              </a:extLst>
            </p:cNvPr>
            <p:cNvCxnSpPr>
              <a:cxnSpLocks/>
            </p:cNvCxnSpPr>
            <p:nvPr/>
          </p:nvCxnSpPr>
          <p:spPr>
            <a:xfrm flipV="1">
              <a:off x="5897979" y="2763210"/>
              <a:ext cx="0" cy="182880"/>
            </a:xfrm>
            <a:prstGeom prst="line">
              <a:avLst/>
            </a:prstGeom>
            <a:ln w="12700"/>
          </p:spPr>
          <p:style>
            <a:lnRef idx="2">
              <a:schemeClr val="accent2"/>
            </a:lnRef>
            <a:fillRef idx="0">
              <a:schemeClr val="accent2"/>
            </a:fillRef>
            <a:effectRef idx="1">
              <a:schemeClr val="accent2"/>
            </a:effectRef>
            <a:fontRef idx="minor">
              <a:schemeClr val="tx1"/>
            </a:fontRef>
          </p:style>
        </p:cxnSp>
        <p:cxnSp>
          <p:nvCxnSpPr>
            <p:cNvPr id="50" name="Straight Connector 49">
              <a:extLst>
                <a:ext uri="{FF2B5EF4-FFF2-40B4-BE49-F238E27FC236}">
                  <a16:creationId xmlns:a16="http://schemas.microsoft.com/office/drawing/2014/main" id="{6ABEF1E1-07C0-C84C-C0C8-C4886476D0C4}"/>
                </a:ext>
              </a:extLst>
            </p:cNvPr>
            <p:cNvCxnSpPr>
              <a:cxnSpLocks/>
            </p:cNvCxnSpPr>
            <p:nvPr/>
          </p:nvCxnSpPr>
          <p:spPr>
            <a:xfrm flipV="1">
              <a:off x="3174370" y="2777882"/>
              <a:ext cx="0" cy="182880"/>
            </a:xfrm>
            <a:prstGeom prst="line">
              <a:avLst/>
            </a:prstGeom>
            <a:ln w="12700"/>
          </p:spPr>
          <p:style>
            <a:lnRef idx="2">
              <a:schemeClr val="accent2"/>
            </a:lnRef>
            <a:fillRef idx="0">
              <a:schemeClr val="accent2"/>
            </a:fillRef>
            <a:effectRef idx="1">
              <a:schemeClr val="accent2"/>
            </a:effectRef>
            <a:fontRef idx="minor">
              <a:schemeClr val="tx1"/>
            </a:fontRef>
          </p:style>
        </p:cxnSp>
      </p:grpSp>
      <p:sp>
        <p:nvSpPr>
          <p:cNvPr id="6" name="TextBox 5">
            <a:hlinkClick r:id="rId17" action="ppaction://hlinksldjump"/>
            <a:extLst>
              <a:ext uri="{FF2B5EF4-FFF2-40B4-BE49-F238E27FC236}">
                <a16:creationId xmlns:a16="http://schemas.microsoft.com/office/drawing/2014/main" id="{3309CE4C-DA86-961A-C74A-45C23A34E147}"/>
              </a:ext>
            </a:extLst>
          </p:cNvPr>
          <p:cNvSpPr txBox="1"/>
          <p:nvPr/>
        </p:nvSpPr>
        <p:spPr>
          <a:xfrm>
            <a:off x="10076476" y="2628441"/>
            <a:ext cx="1163363" cy="182880"/>
          </a:xfrm>
          <a:prstGeom prst="rect">
            <a:avLst/>
          </a:prstGeom>
          <a:noFill/>
          <a:ln w="12700">
            <a:solidFill>
              <a:schemeClr val="accent6">
                <a:lumMod val="75000"/>
              </a:schemeClr>
            </a:solidFill>
          </a:ln>
        </p:spPr>
        <p:txBody>
          <a:bodyPr wrap="square" rtlCol="0" anchor="ctr">
            <a:spAutoFit/>
          </a:bodyPr>
          <a:lstStyle/>
          <a:p>
            <a:r>
              <a:rPr lang="en-US" sz="1100" dirty="0" err="1"/>
              <a:t>MSB_Quiesce</a:t>
            </a:r>
            <a:endParaRPr lang="en-US" sz="1100" dirty="0"/>
          </a:p>
        </p:txBody>
      </p:sp>
    </p:spTree>
    <p:extLst>
      <p:ext uri="{BB962C8B-B14F-4D97-AF65-F5344CB8AC3E}">
        <p14:creationId xmlns:p14="http://schemas.microsoft.com/office/powerpoint/2010/main" val="3330304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E90162EA-0146-928D-AF2C-681E715A3BFE}"/>
              </a:ext>
            </a:extLst>
          </p:cNvPr>
          <p:cNvSpPr/>
          <p:nvPr/>
        </p:nvSpPr>
        <p:spPr>
          <a:xfrm>
            <a:off x="563417" y="3266191"/>
            <a:ext cx="7934035" cy="642268"/>
          </a:xfrm>
          <a:prstGeom prst="rect">
            <a:avLst/>
          </a:prstGeom>
          <a:gradFill>
            <a:gsLst>
              <a:gs pos="0">
                <a:schemeClr val="accent6">
                  <a:lumMod val="20000"/>
                  <a:lumOff val="80000"/>
                </a:schemeClr>
              </a:gs>
              <a:gs pos="50000">
                <a:schemeClr val="accent6">
                  <a:lumMod val="40000"/>
                  <a:lumOff val="60000"/>
                </a:schemeClr>
              </a:gs>
              <a:gs pos="100000">
                <a:schemeClr val="accent6">
                  <a:lumMod val="60000"/>
                  <a:lumOff val="40000"/>
                </a:schemeClr>
              </a:gs>
            </a:gsLst>
          </a:gradFill>
        </p:spPr>
        <p:style>
          <a:lnRef idx="1">
            <a:schemeClr val="accent6"/>
          </a:lnRef>
          <a:fillRef idx="2">
            <a:schemeClr val="accent6"/>
          </a:fillRef>
          <a:effectRef idx="1">
            <a:schemeClr val="accent6"/>
          </a:effectRef>
          <a:fontRef idx="minor">
            <a:schemeClr val="dk1"/>
          </a:fontRef>
        </p:style>
        <p:txBody>
          <a:bodyPr rtlCol="0" anchor="ctr"/>
          <a:lstStyle/>
          <a:p>
            <a:r>
              <a:rPr lang="en-US">
                <a:solidFill>
                  <a:schemeClr val="bg1"/>
                </a:solidFill>
              </a:rPr>
              <a:t>Data Bus</a:t>
            </a:r>
          </a:p>
        </p:txBody>
      </p:sp>
      <p:sp>
        <p:nvSpPr>
          <p:cNvPr id="36" name="Rectangle 35">
            <a:extLst>
              <a:ext uri="{FF2B5EF4-FFF2-40B4-BE49-F238E27FC236}">
                <a16:creationId xmlns:a16="http://schemas.microsoft.com/office/drawing/2014/main" id="{73682F23-0C46-2652-94A3-4321BFF2F8FA}"/>
              </a:ext>
            </a:extLst>
          </p:cNvPr>
          <p:cNvSpPr/>
          <p:nvPr/>
        </p:nvSpPr>
        <p:spPr>
          <a:xfrm>
            <a:off x="563417" y="2558474"/>
            <a:ext cx="7934035" cy="642268"/>
          </a:xfrm>
          <a:prstGeom prst="rect">
            <a:avLst/>
          </a:prstGeom>
          <a:solidFill>
            <a:schemeClr val="accent1">
              <a:lumMod val="40000"/>
              <a:lumOff val="60000"/>
            </a:schemeClr>
          </a:solidFill>
        </p:spPr>
        <p:style>
          <a:lnRef idx="2">
            <a:schemeClr val="accent5">
              <a:shade val="15000"/>
            </a:schemeClr>
          </a:lnRef>
          <a:fillRef idx="1">
            <a:schemeClr val="accent5"/>
          </a:fillRef>
          <a:effectRef idx="0">
            <a:schemeClr val="accent5"/>
          </a:effectRef>
          <a:fontRef idx="minor">
            <a:schemeClr val="lt1"/>
          </a:fontRef>
        </p:style>
        <p:txBody>
          <a:bodyPr vert="horz" rtlCol="0" anchor="ctr"/>
          <a:lstStyle/>
          <a:p>
            <a:r>
              <a:rPr lang="en-US"/>
              <a:t>Address Bus</a:t>
            </a:r>
          </a:p>
        </p:txBody>
      </p:sp>
      <p:sp>
        <p:nvSpPr>
          <p:cNvPr id="2" name="Title 1">
            <a:extLst>
              <a:ext uri="{FF2B5EF4-FFF2-40B4-BE49-F238E27FC236}">
                <a16:creationId xmlns:a16="http://schemas.microsoft.com/office/drawing/2014/main" id="{5879EEE8-B06F-C0AA-30D9-756C71A3ED57}"/>
              </a:ext>
            </a:extLst>
          </p:cNvPr>
          <p:cNvSpPr>
            <a:spLocks noGrp="1"/>
          </p:cNvSpPr>
          <p:nvPr>
            <p:ph type="ctrTitle"/>
          </p:nvPr>
        </p:nvSpPr>
        <p:spPr>
          <a:xfrm>
            <a:off x="914401" y="457200"/>
            <a:ext cx="7583052" cy="457200"/>
          </a:xfrm>
        </p:spPr>
        <p:txBody>
          <a:bodyPr/>
          <a:lstStyle/>
          <a:p>
            <a:r>
              <a:rPr lang="en-US" dirty="0"/>
              <a:t>Sharing the Data and Address Buses during Fetch Cycle</a:t>
            </a:r>
          </a:p>
        </p:txBody>
      </p:sp>
      <p:sp>
        <p:nvSpPr>
          <p:cNvPr id="3" name="Rectangle 2">
            <a:extLst>
              <a:ext uri="{FF2B5EF4-FFF2-40B4-BE49-F238E27FC236}">
                <a16:creationId xmlns:a16="http://schemas.microsoft.com/office/drawing/2014/main" id="{507D10CE-3FC3-7BC2-AA7D-3D435B68646B}"/>
              </a:ext>
            </a:extLst>
          </p:cNvPr>
          <p:cNvSpPr/>
          <p:nvPr/>
        </p:nvSpPr>
        <p:spPr>
          <a:xfrm>
            <a:off x="2410691" y="1932045"/>
            <a:ext cx="1242288" cy="457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a:t>Last Micro instruction</a:t>
            </a:r>
          </a:p>
          <a:p>
            <a:pPr algn="ctr"/>
            <a:r>
              <a:rPr lang="en-US" sz="1100"/>
              <a:t>PC Advance</a:t>
            </a:r>
          </a:p>
        </p:txBody>
      </p:sp>
      <p:sp>
        <p:nvSpPr>
          <p:cNvPr id="4" name="Rectangle 3">
            <a:extLst>
              <a:ext uri="{FF2B5EF4-FFF2-40B4-BE49-F238E27FC236}">
                <a16:creationId xmlns:a16="http://schemas.microsoft.com/office/drawing/2014/main" id="{741C8CDF-BE42-DCB1-5854-638405CAF22E}"/>
              </a:ext>
            </a:extLst>
          </p:cNvPr>
          <p:cNvSpPr/>
          <p:nvPr/>
        </p:nvSpPr>
        <p:spPr>
          <a:xfrm>
            <a:off x="3723253" y="1932045"/>
            <a:ext cx="1242288" cy="457200"/>
          </a:xfrm>
          <a:prstGeom prst="rect">
            <a:avLst/>
          </a:prstGeom>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en-US" sz="1100"/>
              <a:t>Addr+1</a:t>
            </a:r>
          </a:p>
          <a:p>
            <a:pPr algn="ctr"/>
            <a:r>
              <a:rPr lang="en-US" sz="1100"/>
              <a:t>Inst address A8=1</a:t>
            </a:r>
          </a:p>
        </p:txBody>
      </p:sp>
      <p:sp>
        <p:nvSpPr>
          <p:cNvPr id="5" name="Rectangle 4">
            <a:extLst>
              <a:ext uri="{FF2B5EF4-FFF2-40B4-BE49-F238E27FC236}">
                <a16:creationId xmlns:a16="http://schemas.microsoft.com/office/drawing/2014/main" id="{261BC998-23CC-0D23-8CC4-AC54EE4DE131}"/>
              </a:ext>
            </a:extLst>
          </p:cNvPr>
          <p:cNvSpPr/>
          <p:nvPr/>
        </p:nvSpPr>
        <p:spPr>
          <a:xfrm>
            <a:off x="2410691" y="2673927"/>
            <a:ext cx="1242288" cy="457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Program Counter</a:t>
            </a:r>
          </a:p>
          <a:p>
            <a:pPr algn="ctr"/>
            <a:r>
              <a:rPr lang="en-US" sz="1200" dirty="0"/>
              <a:t> Low </a:t>
            </a:r>
            <a:r>
              <a:rPr lang="en-US" sz="1200" dirty="0" err="1"/>
              <a:t>addr</a:t>
            </a:r>
            <a:endParaRPr lang="en-US" sz="1200" dirty="0"/>
          </a:p>
        </p:txBody>
      </p:sp>
      <p:sp>
        <p:nvSpPr>
          <p:cNvPr id="6" name="Rectangle 5">
            <a:extLst>
              <a:ext uri="{FF2B5EF4-FFF2-40B4-BE49-F238E27FC236}">
                <a16:creationId xmlns:a16="http://schemas.microsoft.com/office/drawing/2014/main" id="{A71336A7-4DB8-8C79-D11E-DD05601824B7}"/>
              </a:ext>
            </a:extLst>
          </p:cNvPr>
          <p:cNvSpPr/>
          <p:nvPr/>
        </p:nvSpPr>
        <p:spPr>
          <a:xfrm>
            <a:off x="3723253" y="2673927"/>
            <a:ext cx="1278232" cy="457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a:t>Program Counter</a:t>
            </a:r>
          </a:p>
          <a:p>
            <a:pPr algn="ctr"/>
            <a:r>
              <a:rPr lang="en-US" sz="1200"/>
              <a:t> High </a:t>
            </a:r>
            <a:r>
              <a:rPr lang="en-US" sz="1200" err="1"/>
              <a:t>addr</a:t>
            </a:r>
            <a:endParaRPr lang="en-US" sz="1200"/>
          </a:p>
        </p:txBody>
      </p:sp>
      <p:sp>
        <p:nvSpPr>
          <p:cNvPr id="10" name="Rectangle 9">
            <a:extLst>
              <a:ext uri="{FF2B5EF4-FFF2-40B4-BE49-F238E27FC236}">
                <a16:creationId xmlns:a16="http://schemas.microsoft.com/office/drawing/2014/main" id="{C25CD1C7-C684-55DD-2DE4-5E278586DF43}"/>
              </a:ext>
            </a:extLst>
          </p:cNvPr>
          <p:cNvSpPr/>
          <p:nvPr/>
        </p:nvSpPr>
        <p:spPr>
          <a:xfrm>
            <a:off x="2812474" y="3389747"/>
            <a:ext cx="858975" cy="45720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r>
              <a:rPr lang="en-US" sz="1100" err="1"/>
              <a:t>Ld</a:t>
            </a:r>
            <a:r>
              <a:rPr lang="en-US" sz="1100"/>
              <a:t> Low Instruction</a:t>
            </a:r>
          </a:p>
        </p:txBody>
      </p:sp>
      <p:sp>
        <p:nvSpPr>
          <p:cNvPr id="14" name="Rectangle 13">
            <a:extLst>
              <a:ext uri="{FF2B5EF4-FFF2-40B4-BE49-F238E27FC236}">
                <a16:creationId xmlns:a16="http://schemas.microsoft.com/office/drawing/2014/main" id="{36AD23D4-BA88-7D88-F7E7-2AD6ED9EBF9D}"/>
              </a:ext>
            </a:extLst>
          </p:cNvPr>
          <p:cNvSpPr/>
          <p:nvPr/>
        </p:nvSpPr>
        <p:spPr>
          <a:xfrm>
            <a:off x="563419" y="1357745"/>
            <a:ext cx="2928644" cy="457200"/>
          </a:xfrm>
          <a:prstGeom prst="rect">
            <a:avLst/>
          </a:prstGeom>
          <a:gradFill flip="none" rotWithShape="1">
            <a:gsLst>
              <a:gs pos="0">
                <a:schemeClr val="accent5">
                  <a:lumMod val="60000"/>
                  <a:lumOff val="40000"/>
                </a:schemeClr>
              </a:gs>
              <a:gs pos="50000">
                <a:schemeClr val="accent5">
                  <a:lumMod val="40000"/>
                  <a:lumOff val="60000"/>
                </a:schemeClr>
              </a:gs>
              <a:gs pos="100000">
                <a:schemeClr val="accent1">
                  <a:lumMod val="20000"/>
                  <a:lumOff val="80000"/>
                </a:schemeClr>
              </a:gs>
            </a:gsLst>
            <a:lin ang="108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t>Last Instruction </a:t>
            </a:r>
          </a:p>
        </p:txBody>
      </p:sp>
      <p:sp>
        <p:nvSpPr>
          <p:cNvPr id="15" name="Rectangle 14">
            <a:extLst>
              <a:ext uri="{FF2B5EF4-FFF2-40B4-BE49-F238E27FC236}">
                <a16:creationId xmlns:a16="http://schemas.microsoft.com/office/drawing/2014/main" id="{55AD652B-7023-8486-8059-57D8D74B3444}"/>
              </a:ext>
            </a:extLst>
          </p:cNvPr>
          <p:cNvSpPr/>
          <p:nvPr/>
        </p:nvSpPr>
        <p:spPr>
          <a:xfrm>
            <a:off x="3652980" y="1357745"/>
            <a:ext cx="4179457" cy="457200"/>
          </a:xfrm>
          <a:prstGeom prst="rect">
            <a:avLst/>
          </a:prstGeom>
          <a:gradFill flip="none" rotWithShape="1">
            <a:gsLst>
              <a:gs pos="0">
                <a:schemeClr val="accent5">
                  <a:lumMod val="60000"/>
                  <a:lumOff val="40000"/>
                </a:schemeClr>
              </a:gs>
              <a:gs pos="50000">
                <a:schemeClr val="accent5">
                  <a:lumMod val="40000"/>
                  <a:lumOff val="60000"/>
                </a:schemeClr>
              </a:gs>
              <a:gs pos="100000">
                <a:schemeClr val="accent1">
                  <a:lumMod val="20000"/>
                  <a:lumOff val="80000"/>
                </a:schemeClr>
              </a:gs>
            </a:gsLst>
            <a:lin ang="0" scaled="1"/>
            <a:tileRect/>
          </a:gra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r>
              <a:rPr lang="en-US"/>
              <a:t>Next Instruction </a:t>
            </a:r>
          </a:p>
        </p:txBody>
      </p:sp>
      <p:graphicFrame>
        <p:nvGraphicFramePr>
          <p:cNvPr id="16" name="Table 15">
            <a:extLst>
              <a:ext uri="{FF2B5EF4-FFF2-40B4-BE49-F238E27FC236}">
                <a16:creationId xmlns:a16="http://schemas.microsoft.com/office/drawing/2014/main" id="{644E7AD4-CEAD-6E66-84B3-E9039FF6635B}"/>
              </a:ext>
            </a:extLst>
          </p:cNvPr>
          <p:cNvGraphicFramePr>
            <a:graphicFrameLocks noGrp="1"/>
          </p:cNvGraphicFramePr>
          <p:nvPr>
            <p:extLst>
              <p:ext uri="{D42A27DB-BD31-4B8C-83A1-F6EECF244321}">
                <p14:modId xmlns:p14="http://schemas.microsoft.com/office/powerpoint/2010/main" val="2889272005"/>
              </p:ext>
            </p:extLst>
          </p:nvPr>
        </p:nvGraphicFramePr>
        <p:xfrm>
          <a:off x="1526772" y="4103823"/>
          <a:ext cx="5418976" cy="321787"/>
        </p:xfrm>
        <a:graphic>
          <a:graphicData uri="http://schemas.openxmlformats.org/drawingml/2006/table">
            <a:tbl>
              <a:tblPr firstRow="1" bandRow="1">
                <a:tableStyleId>{5C22544A-7EE6-4342-B048-85BDC9FD1C3A}</a:tableStyleId>
              </a:tblPr>
              <a:tblGrid>
                <a:gridCol w="677372">
                  <a:extLst>
                    <a:ext uri="{9D8B030D-6E8A-4147-A177-3AD203B41FA5}">
                      <a16:colId xmlns:a16="http://schemas.microsoft.com/office/drawing/2014/main" val="2293892065"/>
                    </a:ext>
                  </a:extLst>
                </a:gridCol>
                <a:gridCol w="677372">
                  <a:extLst>
                    <a:ext uri="{9D8B030D-6E8A-4147-A177-3AD203B41FA5}">
                      <a16:colId xmlns:a16="http://schemas.microsoft.com/office/drawing/2014/main" val="3360082007"/>
                    </a:ext>
                  </a:extLst>
                </a:gridCol>
                <a:gridCol w="677372">
                  <a:extLst>
                    <a:ext uri="{9D8B030D-6E8A-4147-A177-3AD203B41FA5}">
                      <a16:colId xmlns:a16="http://schemas.microsoft.com/office/drawing/2014/main" val="2346256830"/>
                    </a:ext>
                  </a:extLst>
                </a:gridCol>
                <a:gridCol w="677372">
                  <a:extLst>
                    <a:ext uri="{9D8B030D-6E8A-4147-A177-3AD203B41FA5}">
                      <a16:colId xmlns:a16="http://schemas.microsoft.com/office/drawing/2014/main" val="1175054663"/>
                    </a:ext>
                  </a:extLst>
                </a:gridCol>
                <a:gridCol w="677372">
                  <a:extLst>
                    <a:ext uri="{9D8B030D-6E8A-4147-A177-3AD203B41FA5}">
                      <a16:colId xmlns:a16="http://schemas.microsoft.com/office/drawing/2014/main" val="4176921816"/>
                    </a:ext>
                  </a:extLst>
                </a:gridCol>
                <a:gridCol w="677372">
                  <a:extLst>
                    <a:ext uri="{9D8B030D-6E8A-4147-A177-3AD203B41FA5}">
                      <a16:colId xmlns:a16="http://schemas.microsoft.com/office/drawing/2014/main" val="232410183"/>
                    </a:ext>
                  </a:extLst>
                </a:gridCol>
                <a:gridCol w="677372">
                  <a:extLst>
                    <a:ext uri="{9D8B030D-6E8A-4147-A177-3AD203B41FA5}">
                      <a16:colId xmlns:a16="http://schemas.microsoft.com/office/drawing/2014/main" val="3083136749"/>
                    </a:ext>
                  </a:extLst>
                </a:gridCol>
                <a:gridCol w="677372">
                  <a:extLst>
                    <a:ext uri="{9D8B030D-6E8A-4147-A177-3AD203B41FA5}">
                      <a16:colId xmlns:a16="http://schemas.microsoft.com/office/drawing/2014/main" val="3598688220"/>
                    </a:ext>
                  </a:extLst>
                </a:gridCol>
              </a:tblGrid>
              <a:tr h="321787">
                <a:tc>
                  <a:txBody>
                    <a:bodyPr/>
                    <a:lstStyle/>
                    <a:p>
                      <a:endParaRPr lang="en-US" sz="13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3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3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3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3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3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3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3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84924390"/>
                  </a:ext>
                </a:extLst>
              </a:tr>
            </a:tbl>
          </a:graphicData>
        </a:graphic>
      </p:graphicFrame>
      <p:sp>
        <p:nvSpPr>
          <p:cNvPr id="29" name="TextBox 28">
            <a:extLst>
              <a:ext uri="{FF2B5EF4-FFF2-40B4-BE49-F238E27FC236}">
                <a16:creationId xmlns:a16="http://schemas.microsoft.com/office/drawing/2014/main" id="{69CC3696-F447-BE99-4640-832A2D2E3641}"/>
              </a:ext>
            </a:extLst>
          </p:cNvPr>
          <p:cNvSpPr txBox="1"/>
          <p:nvPr/>
        </p:nvSpPr>
        <p:spPr>
          <a:xfrm>
            <a:off x="536125" y="2060914"/>
            <a:ext cx="1255728" cy="307777"/>
          </a:xfrm>
          <a:prstGeom prst="rect">
            <a:avLst/>
          </a:prstGeom>
          <a:noFill/>
        </p:spPr>
        <p:txBody>
          <a:bodyPr wrap="none" rtlCol="0">
            <a:spAutoFit/>
          </a:bodyPr>
          <a:lstStyle/>
          <a:p>
            <a:pPr algn="r"/>
            <a:r>
              <a:rPr lang="en-US" sz="1400"/>
              <a:t>Control signals</a:t>
            </a:r>
          </a:p>
        </p:txBody>
      </p:sp>
      <p:sp>
        <p:nvSpPr>
          <p:cNvPr id="30" name="TextBox 29">
            <a:extLst>
              <a:ext uri="{FF2B5EF4-FFF2-40B4-BE49-F238E27FC236}">
                <a16:creationId xmlns:a16="http://schemas.microsoft.com/office/drawing/2014/main" id="{30894DC9-7388-E373-9C07-9F73E5A3D9C0}"/>
              </a:ext>
            </a:extLst>
          </p:cNvPr>
          <p:cNvSpPr txBox="1"/>
          <p:nvPr/>
        </p:nvSpPr>
        <p:spPr>
          <a:xfrm>
            <a:off x="877562" y="4021616"/>
            <a:ext cx="574196" cy="307777"/>
          </a:xfrm>
          <a:prstGeom prst="rect">
            <a:avLst/>
          </a:prstGeom>
          <a:noFill/>
        </p:spPr>
        <p:txBody>
          <a:bodyPr wrap="none" rtlCol="0">
            <a:spAutoFit/>
          </a:bodyPr>
          <a:lstStyle/>
          <a:p>
            <a:pPr algn="r"/>
            <a:r>
              <a:rPr lang="en-US" sz="1400"/>
              <a:t>Clock</a:t>
            </a:r>
          </a:p>
        </p:txBody>
      </p:sp>
      <p:sp>
        <p:nvSpPr>
          <p:cNvPr id="31" name="Rectangle 30">
            <a:extLst>
              <a:ext uri="{FF2B5EF4-FFF2-40B4-BE49-F238E27FC236}">
                <a16:creationId xmlns:a16="http://schemas.microsoft.com/office/drawing/2014/main" id="{7A12CB72-F0E5-B7BF-A268-1B88F8F7657C}"/>
              </a:ext>
            </a:extLst>
          </p:cNvPr>
          <p:cNvSpPr/>
          <p:nvPr/>
        </p:nvSpPr>
        <p:spPr>
          <a:xfrm>
            <a:off x="2433316" y="3401065"/>
            <a:ext cx="1242288" cy="457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Next Instruction Low byte</a:t>
            </a:r>
          </a:p>
        </p:txBody>
      </p:sp>
      <p:sp>
        <p:nvSpPr>
          <p:cNvPr id="32" name="Rectangle 31">
            <a:extLst>
              <a:ext uri="{FF2B5EF4-FFF2-40B4-BE49-F238E27FC236}">
                <a16:creationId xmlns:a16="http://schemas.microsoft.com/office/drawing/2014/main" id="{4756AA2D-6CD8-5766-2511-65D36733B432}"/>
              </a:ext>
            </a:extLst>
          </p:cNvPr>
          <p:cNvSpPr/>
          <p:nvPr/>
        </p:nvSpPr>
        <p:spPr>
          <a:xfrm>
            <a:off x="3922676" y="3389747"/>
            <a:ext cx="1117595" cy="457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dirty="0"/>
              <a:t>Next Instruction High byte</a:t>
            </a:r>
          </a:p>
        </p:txBody>
      </p:sp>
      <p:sp>
        <p:nvSpPr>
          <p:cNvPr id="27" name="Rectangle 26">
            <a:extLst>
              <a:ext uri="{FF2B5EF4-FFF2-40B4-BE49-F238E27FC236}">
                <a16:creationId xmlns:a16="http://schemas.microsoft.com/office/drawing/2014/main" id="{3AB83F3C-A2F0-12C2-E03F-BCF215C51578}"/>
              </a:ext>
            </a:extLst>
          </p:cNvPr>
          <p:cNvSpPr/>
          <p:nvPr/>
        </p:nvSpPr>
        <p:spPr>
          <a:xfrm>
            <a:off x="4165614" y="3853510"/>
            <a:ext cx="1096015" cy="289353"/>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r>
              <a:rPr lang="en-US" sz="900" err="1"/>
              <a:t>Ld</a:t>
            </a:r>
            <a:r>
              <a:rPr lang="en-US" sz="900"/>
              <a:t> High Instruction</a:t>
            </a:r>
          </a:p>
        </p:txBody>
      </p:sp>
      <p:sp>
        <p:nvSpPr>
          <p:cNvPr id="35" name="Rectangle 34">
            <a:extLst>
              <a:ext uri="{FF2B5EF4-FFF2-40B4-BE49-F238E27FC236}">
                <a16:creationId xmlns:a16="http://schemas.microsoft.com/office/drawing/2014/main" id="{4E0A0403-47E7-78D6-72EF-BDCA72400640}"/>
              </a:ext>
            </a:extLst>
          </p:cNvPr>
          <p:cNvSpPr/>
          <p:nvPr/>
        </p:nvSpPr>
        <p:spPr>
          <a:xfrm>
            <a:off x="3477806" y="3793440"/>
            <a:ext cx="880423" cy="45720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r>
              <a:rPr lang="en-US" sz="900" err="1"/>
              <a:t>Ld</a:t>
            </a:r>
            <a:r>
              <a:rPr lang="en-US" sz="900"/>
              <a:t> Instruction</a:t>
            </a:r>
          </a:p>
        </p:txBody>
      </p:sp>
      <p:cxnSp>
        <p:nvCxnSpPr>
          <p:cNvPr id="28" name="Straight Arrow Connector 27">
            <a:extLst>
              <a:ext uri="{FF2B5EF4-FFF2-40B4-BE49-F238E27FC236}">
                <a16:creationId xmlns:a16="http://schemas.microsoft.com/office/drawing/2014/main" id="{7A675AE8-8372-852B-C847-FD31A9866988}"/>
              </a:ext>
            </a:extLst>
          </p:cNvPr>
          <p:cNvCxnSpPr>
            <a:cxnSpLocks/>
          </p:cNvCxnSpPr>
          <p:nvPr/>
        </p:nvCxnSpPr>
        <p:spPr>
          <a:xfrm flipV="1">
            <a:off x="4225567" y="3676073"/>
            <a:ext cx="0" cy="430627"/>
          </a:xfrm>
          <a:prstGeom prst="straightConnector1">
            <a:avLst/>
          </a:prstGeom>
          <a:ln>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D07D479-5A20-7EAA-1D90-045342BD047A}"/>
              </a:ext>
            </a:extLst>
          </p:cNvPr>
          <p:cNvCxnSpPr>
            <a:cxnSpLocks/>
          </p:cNvCxnSpPr>
          <p:nvPr/>
        </p:nvCxnSpPr>
        <p:spPr>
          <a:xfrm flipV="1">
            <a:off x="3554483" y="3676074"/>
            <a:ext cx="0" cy="427751"/>
          </a:xfrm>
          <a:prstGeom prst="straightConnector1">
            <a:avLst/>
          </a:prstGeom>
          <a:ln>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1" name="Speech Bubble: Rectangle with Corners Rounded 40">
            <a:extLst>
              <a:ext uri="{FF2B5EF4-FFF2-40B4-BE49-F238E27FC236}">
                <a16:creationId xmlns:a16="http://schemas.microsoft.com/office/drawing/2014/main" id="{FC1A7C13-D082-40DA-51FD-F425CFC39747}"/>
              </a:ext>
            </a:extLst>
          </p:cNvPr>
          <p:cNvSpPr/>
          <p:nvPr/>
        </p:nvSpPr>
        <p:spPr>
          <a:xfrm>
            <a:off x="314961" y="5892802"/>
            <a:ext cx="3711171" cy="803564"/>
          </a:xfrm>
          <a:prstGeom prst="wedgeRoundRectCallout">
            <a:avLst>
              <a:gd name="adj1" fmla="val 18988"/>
              <a:gd name="adj2" fmla="val -15433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1200"/>
              <a:t>Last clock of an instruction includes the </a:t>
            </a:r>
            <a:r>
              <a:rPr lang="en-US" sz="1200" err="1"/>
              <a:t>PC_Advance</a:t>
            </a:r>
            <a:r>
              <a:rPr lang="en-US" sz="1200"/>
              <a:t>.</a:t>
            </a:r>
          </a:p>
          <a:p>
            <a:r>
              <a:rPr lang="en-US" sz="1200"/>
              <a:t>In that clock, </a:t>
            </a:r>
            <a:r>
              <a:rPr lang="en-US" sz="1200" u="sng"/>
              <a:t>the Address and Data buses are used by the Program Counter.</a:t>
            </a:r>
            <a:r>
              <a:rPr lang="en-US" sz="1200"/>
              <a:t> No other signal using the address or data buses is allowed. </a:t>
            </a:r>
          </a:p>
        </p:txBody>
      </p:sp>
      <p:sp>
        <p:nvSpPr>
          <p:cNvPr id="42" name="Right Brace 41">
            <a:extLst>
              <a:ext uri="{FF2B5EF4-FFF2-40B4-BE49-F238E27FC236}">
                <a16:creationId xmlns:a16="http://schemas.microsoft.com/office/drawing/2014/main" id="{95286C17-A125-0485-6966-59FDF13C74AA}"/>
              </a:ext>
            </a:extLst>
          </p:cNvPr>
          <p:cNvSpPr/>
          <p:nvPr/>
        </p:nvSpPr>
        <p:spPr>
          <a:xfrm rot="5400000">
            <a:off x="2667001" y="4025570"/>
            <a:ext cx="387927" cy="138083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3" name="Right Brace 42">
            <a:extLst>
              <a:ext uri="{FF2B5EF4-FFF2-40B4-BE49-F238E27FC236}">
                <a16:creationId xmlns:a16="http://schemas.microsoft.com/office/drawing/2014/main" id="{C1BE7CB3-42C0-6133-73C8-8DB0F12A1DB9}"/>
              </a:ext>
            </a:extLst>
          </p:cNvPr>
          <p:cNvSpPr/>
          <p:nvPr/>
        </p:nvSpPr>
        <p:spPr>
          <a:xfrm rot="5400000">
            <a:off x="4047831" y="4034806"/>
            <a:ext cx="387927" cy="138083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Speech Bubble: Rectangle with Corners Rounded 44">
            <a:extLst>
              <a:ext uri="{FF2B5EF4-FFF2-40B4-BE49-F238E27FC236}">
                <a16:creationId xmlns:a16="http://schemas.microsoft.com/office/drawing/2014/main" id="{8FA1EF60-9748-0FD7-F51A-7BAAF196F785}"/>
              </a:ext>
            </a:extLst>
          </p:cNvPr>
          <p:cNvSpPr/>
          <p:nvPr/>
        </p:nvSpPr>
        <p:spPr>
          <a:xfrm>
            <a:off x="4454700" y="5551058"/>
            <a:ext cx="3711171" cy="1154545"/>
          </a:xfrm>
          <a:prstGeom prst="wedgeRoundRectCallout">
            <a:avLst>
              <a:gd name="adj1" fmla="val -52689"/>
              <a:gd name="adj2" fmla="val -8873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1200"/>
              <a:t>First clock of the next instruction, buses are used to load the high byte of the instruction. To avoid transmission </a:t>
            </a:r>
            <a:r>
              <a:rPr lang="en-US" sz="1200" u="sng"/>
              <a:t>of the first micro instruction on the  buses, the micro instruction address bit A8 is set</a:t>
            </a:r>
            <a:r>
              <a:rPr lang="en-US" sz="1200"/>
              <a:t>, and all control signals are set to 0, avoiding any transmission on the busses</a:t>
            </a:r>
          </a:p>
        </p:txBody>
      </p:sp>
      <p:sp>
        <p:nvSpPr>
          <p:cNvPr id="46" name="Right Brace 45">
            <a:extLst>
              <a:ext uri="{FF2B5EF4-FFF2-40B4-BE49-F238E27FC236}">
                <a16:creationId xmlns:a16="http://schemas.microsoft.com/office/drawing/2014/main" id="{3001635D-D314-87DE-B3C5-AA0D532A8C49}"/>
              </a:ext>
            </a:extLst>
          </p:cNvPr>
          <p:cNvSpPr/>
          <p:nvPr/>
        </p:nvSpPr>
        <p:spPr>
          <a:xfrm rot="5400000">
            <a:off x="5405581" y="4079686"/>
            <a:ext cx="387927" cy="131619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Speech Bubble: Rectangle with Corners Rounded 46">
            <a:extLst>
              <a:ext uri="{FF2B5EF4-FFF2-40B4-BE49-F238E27FC236}">
                <a16:creationId xmlns:a16="http://schemas.microsoft.com/office/drawing/2014/main" id="{B2646747-15D8-B440-0730-D4B62A77EF09}"/>
              </a:ext>
            </a:extLst>
          </p:cNvPr>
          <p:cNvSpPr/>
          <p:nvPr/>
        </p:nvSpPr>
        <p:spPr>
          <a:xfrm>
            <a:off x="8663713" y="5190841"/>
            <a:ext cx="1551704" cy="474289"/>
          </a:xfrm>
          <a:prstGeom prst="wedgeRoundRectCallout">
            <a:avLst>
              <a:gd name="adj1" fmla="val -247332"/>
              <a:gd name="adj2" fmla="val -92626"/>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1200"/>
              <a:t>Micro Instruction 0 controls the buses </a:t>
            </a:r>
          </a:p>
        </p:txBody>
      </p:sp>
      <p:sp>
        <p:nvSpPr>
          <p:cNvPr id="48" name="Rectangle 47">
            <a:extLst>
              <a:ext uri="{FF2B5EF4-FFF2-40B4-BE49-F238E27FC236}">
                <a16:creationId xmlns:a16="http://schemas.microsoft.com/office/drawing/2014/main" id="{2BD99DBC-BC54-218F-542F-1221E13E6FC8}"/>
              </a:ext>
            </a:extLst>
          </p:cNvPr>
          <p:cNvSpPr/>
          <p:nvPr/>
        </p:nvSpPr>
        <p:spPr>
          <a:xfrm>
            <a:off x="5035815" y="1932045"/>
            <a:ext cx="1307751" cy="457200"/>
          </a:xfrm>
          <a:prstGeom prst="rect">
            <a:avLst/>
          </a:prstGeom>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en-US" sz="1100"/>
              <a:t>Micro </a:t>
            </a:r>
          </a:p>
          <a:p>
            <a:pPr algn="ctr"/>
            <a:r>
              <a:rPr lang="en-US" sz="1100"/>
              <a:t>instruction 0</a:t>
            </a:r>
          </a:p>
        </p:txBody>
      </p:sp>
      <p:grpSp>
        <p:nvGrpSpPr>
          <p:cNvPr id="24" name="Group 23">
            <a:extLst>
              <a:ext uri="{FF2B5EF4-FFF2-40B4-BE49-F238E27FC236}">
                <a16:creationId xmlns:a16="http://schemas.microsoft.com/office/drawing/2014/main" id="{6641B23C-EA08-BEA0-7CEE-47793465CE62}"/>
              </a:ext>
            </a:extLst>
          </p:cNvPr>
          <p:cNvGrpSpPr/>
          <p:nvPr/>
        </p:nvGrpSpPr>
        <p:grpSpPr>
          <a:xfrm>
            <a:off x="2198255" y="1978068"/>
            <a:ext cx="4059384" cy="2103120"/>
            <a:chOff x="2198255" y="1978068"/>
            <a:chExt cx="4059384" cy="2103120"/>
          </a:xfrm>
        </p:grpSpPr>
        <p:cxnSp>
          <p:nvCxnSpPr>
            <p:cNvPr id="20" name="Straight Connector 19">
              <a:extLst>
                <a:ext uri="{FF2B5EF4-FFF2-40B4-BE49-F238E27FC236}">
                  <a16:creationId xmlns:a16="http://schemas.microsoft.com/office/drawing/2014/main" id="{834747D3-8284-C7A7-2270-02A428DD4A6D}"/>
                </a:ext>
              </a:extLst>
            </p:cNvPr>
            <p:cNvCxnSpPr>
              <a:cxnSpLocks/>
            </p:cNvCxnSpPr>
            <p:nvPr/>
          </p:nvCxnSpPr>
          <p:spPr>
            <a:xfrm>
              <a:off x="2198255" y="1978068"/>
              <a:ext cx="0" cy="2103120"/>
            </a:xfrm>
            <a:prstGeom prst="line">
              <a:avLst/>
            </a:prstGeom>
            <a:ln>
              <a:solidFill>
                <a:schemeClr val="bg1">
                  <a:lumMod val="85000"/>
                </a:schemeClr>
              </a:solidFill>
            </a:ln>
          </p:spPr>
          <p:style>
            <a:lnRef idx="1">
              <a:schemeClr val="accent3"/>
            </a:lnRef>
            <a:fillRef idx="0">
              <a:schemeClr val="accent3"/>
            </a:fillRef>
            <a:effectRef idx="0">
              <a:schemeClr val="accent3"/>
            </a:effectRef>
            <a:fontRef idx="minor">
              <a:schemeClr val="tx1"/>
            </a:fontRef>
          </p:style>
        </p:cxnSp>
        <p:cxnSp>
          <p:nvCxnSpPr>
            <p:cNvPr id="21" name="Straight Connector 20">
              <a:extLst>
                <a:ext uri="{FF2B5EF4-FFF2-40B4-BE49-F238E27FC236}">
                  <a16:creationId xmlns:a16="http://schemas.microsoft.com/office/drawing/2014/main" id="{38BD0049-78CF-072B-8E9D-B589CB8A52A3}"/>
                </a:ext>
              </a:extLst>
            </p:cNvPr>
            <p:cNvCxnSpPr>
              <a:cxnSpLocks/>
            </p:cNvCxnSpPr>
            <p:nvPr/>
          </p:nvCxnSpPr>
          <p:spPr>
            <a:xfrm>
              <a:off x="3551379" y="1978068"/>
              <a:ext cx="0" cy="2103120"/>
            </a:xfrm>
            <a:prstGeom prst="line">
              <a:avLst/>
            </a:prstGeom>
            <a:ln>
              <a:solidFill>
                <a:schemeClr val="bg1">
                  <a:lumMod val="85000"/>
                </a:schemeClr>
              </a:solidFill>
            </a:ln>
          </p:spPr>
          <p:style>
            <a:lnRef idx="1">
              <a:schemeClr val="accent3"/>
            </a:lnRef>
            <a:fillRef idx="0">
              <a:schemeClr val="accent3"/>
            </a:fillRef>
            <a:effectRef idx="0">
              <a:schemeClr val="accent3"/>
            </a:effectRef>
            <a:fontRef idx="minor">
              <a:schemeClr val="tx1"/>
            </a:fontRef>
          </p:style>
        </p:cxnSp>
        <p:cxnSp>
          <p:nvCxnSpPr>
            <p:cNvPr id="22" name="Straight Connector 21">
              <a:extLst>
                <a:ext uri="{FF2B5EF4-FFF2-40B4-BE49-F238E27FC236}">
                  <a16:creationId xmlns:a16="http://schemas.microsoft.com/office/drawing/2014/main" id="{B846614D-D733-88B2-00F3-6BDC09030D89}"/>
                </a:ext>
              </a:extLst>
            </p:cNvPr>
            <p:cNvCxnSpPr>
              <a:cxnSpLocks/>
            </p:cNvCxnSpPr>
            <p:nvPr/>
          </p:nvCxnSpPr>
          <p:spPr>
            <a:xfrm>
              <a:off x="4909124" y="1978068"/>
              <a:ext cx="0" cy="2103120"/>
            </a:xfrm>
            <a:prstGeom prst="line">
              <a:avLst/>
            </a:prstGeom>
            <a:ln>
              <a:solidFill>
                <a:schemeClr val="bg1">
                  <a:lumMod val="85000"/>
                </a:schemeClr>
              </a:solidFill>
            </a:ln>
          </p:spPr>
          <p:style>
            <a:lnRef idx="1">
              <a:schemeClr val="accent3"/>
            </a:lnRef>
            <a:fillRef idx="0">
              <a:schemeClr val="accent3"/>
            </a:fillRef>
            <a:effectRef idx="0">
              <a:schemeClr val="accent3"/>
            </a:effectRef>
            <a:fontRef idx="minor">
              <a:schemeClr val="tx1"/>
            </a:fontRef>
          </p:style>
        </p:cxnSp>
        <p:cxnSp>
          <p:nvCxnSpPr>
            <p:cNvPr id="23" name="Straight Connector 22">
              <a:extLst>
                <a:ext uri="{FF2B5EF4-FFF2-40B4-BE49-F238E27FC236}">
                  <a16:creationId xmlns:a16="http://schemas.microsoft.com/office/drawing/2014/main" id="{208FD369-ACB6-D4A8-17DD-8646262D3DE3}"/>
                </a:ext>
              </a:extLst>
            </p:cNvPr>
            <p:cNvCxnSpPr>
              <a:cxnSpLocks/>
            </p:cNvCxnSpPr>
            <p:nvPr/>
          </p:nvCxnSpPr>
          <p:spPr>
            <a:xfrm>
              <a:off x="6257639" y="1978068"/>
              <a:ext cx="0" cy="2103120"/>
            </a:xfrm>
            <a:prstGeom prst="line">
              <a:avLst/>
            </a:prstGeom>
            <a:ln>
              <a:solidFill>
                <a:schemeClr val="bg1">
                  <a:lumMod val="85000"/>
                </a:schemeClr>
              </a:solidFill>
            </a:ln>
          </p:spPr>
          <p:style>
            <a:lnRef idx="1">
              <a:schemeClr val="accent3"/>
            </a:lnRef>
            <a:fillRef idx="0">
              <a:schemeClr val="accent3"/>
            </a:fillRef>
            <a:effectRef idx="0">
              <a:schemeClr val="accent3"/>
            </a:effectRef>
            <a:fontRef idx="minor">
              <a:schemeClr val="tx1"/>
            </a:fontRef>
          </p:style>
        </p:cxnSp>
      </p:grpSp>
      <p:sp>
        <p:nvSpPr>
          <p:cNvPr id="49" name="Rectangle 48">
            <a:extLst>
              <a:ext uri="{FF2B5EF4-FFF2-40B4-BE49-F238E27FC236}">
                <a16:creationId xmlns:a16="http://schemas.microsoft.com/office/drawing/2014/main" id="{6D84F308-2E75-4B99-D6E0-2AB1EB39C292}"/>
              </a:ext>
            </a:extLst>
          </p:cNvPr>
          <p:cNvSpPr/>
          <p:nvPr/>
        </p:nvSpPr>
        <p:spPr>
          <a:xfrm>
            <a:off x="6413838" y="1932045"/>
            <a:ext cx="1307751" cy="457200"/>
          </a:xfrm>
          <a:prstGeom prst="rect">
            <a:avLst/>
          </a:prstGeom>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en-US" sz="1100"/>
              <a:t>Micro </a:t>
            </a:r>
          </a:p>
          <a:p>
            <a:pPr algn="ctr"/>
            <a:r>
              <a:rPr lang="en-US" sz="1100"/>
              <a:t>instruction 1</a:t>
            </a:r>
          </a:p>
        </p:txBody>
      </p:sp>
    </p:spTree>
    <p:extLst>
      <p:ext uri="{BB962C8B-B14F-4D97-AF65-F5344CB8AC3E}">
        <p14:creationId xmlns:p14="http://schemas.microsoft.com/office/powerpoint/2010/main" val="4360598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2F8D0-24E5-03EC-4AD3-5C994B87E728}"/>
              </a:ext>
            </a:extLst>
          </p:cNvPr>
          <p:cNvSpPr>
            <a:spLocks noGrp="1"/>
          </p:cNvSpPr>
          <p:nvPr>
            <p:ph type="ctrTitle"/>
          </p:nvPr>
        </p:nvSpPr>
        <p:spPr/>
        <p:txBody>
          <a:bodyPr/>
          <a:lstStyle/>
          <a:p>
            <a:r>
              <a:rPr lang="en-US"/>
              <a:t>PC Advance - Logic Analyzer</a:t>
            </a:r>
          </a:p>
        </p:txBody>
      </p:sp>
      <p:grpSp>
        <p:nvGrpSpPr>
          <p:cNvPr id="17" name="Group 16">
            <a:extLst>
              <a:ext uri="{FF2B5EF4-FFF2-40B4-BE49-F238E27FC236}">
                <a16:creationId xmlns:a16="http://schemas.microsoft.com/office/drawing/2014/main" id="{51E275E8-4E81-F225-7F1B-2552C932A1E0}"/>
              </a:ext>
            </a:extLst>
          </p:cNvPr>
          <p:cNvGrpSpPr/>
          <p:nvPr/>
        </p:nvGrpSpPr>
        <p:grpSpPr>
          <a:xfrm>
            <a:off x="176212" y="125033"/>
            <a:ext cx="10701505" cy="6607934"/>
            <a:chOff x="176212" y="125033"/>
            <a:chExt cx="10701505" cy="6607934"/>
          </a:xfrm>
        </p:grpSpPr>
        <p:grpSp>
          <p:nvGrpSpPr>
            <p:cNvPr id="7" name="Group 6">
              <a:extLst>
                <a:ext uri="{FF2B5EF4-FFF2-40B4-BE49-F238E27FC236}">
                  <a16:creationId xmlns:a16="http://schemas.microsoft.com/office/drawing/2014/main" id="{2C7C4701-DCC8-5415-B489-C9F876E04D21}"/>
                </a:ext>
              </a:extLst>
            </p:cNvPr>
            <p:cNvGrpSpPr/>
            <p:nvPr/>
          </p:nvGrpSpPr>
          <p:grpSpPr>
            <a:xfrm>
              <a:off x="176212" y="125033"/>
              <a:ext cx="10701505" cy="6607934"/>
              <a:chOff x="176212" y="125033"/>
              <a:chExt cx="10701505" cy="6607934"/>
            </a:xfrm>
          </p:grpSpPr>
          <p:pic>
            <p:nvPicPr>
              <p:cNvPr id="4" name="Picture 3" descr="A screenshot of a computer&#10;&#10;Description automatically generated">
                <a:extLst>
                  <a:ext uri="{FF2B5EF4-FFF2-40B4-BE49-F238E27FC236}">
                    <a16:creationId xmlns:a16="http://schemas.microsoft.com/office/drawing/2014/main" id="{C9B6E755-EE18-7CF9-7724-44E1A1099B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212" y="125033"/>
                <a:ext cx="10701505" cy="6607934"/>
              </a:xfrm>
              <a:prstGeom prst="rect">
                <a:avLst/>
              </a:prstGeom>
            </p:spPr>
          </p:pic>
          <p:sp>
            <p:nvSpPr>
              <p:cNvPr id="5" name="Rectangle 4">
                <a:extLst>
                  <a:ext uri="{FF2B5EF4-FFF2-40B4-BE49-F238E27FC236}">
                    <a16:creationId xmlns:a16="http://schemas.microsoft.com/office/drawing/2014/main" id="{4EF2DF0E-BE8C-34FD-940B-B912E71560F3}"/>
                  </a:ext>
                </a:extLst>
              </p:cNvPr>
              <p:cNvSpPr/>
              <p:nvPr/>
            </p:nvSpPr>
            <p:spPr>
              <a:xfrm>
                <a:off x="2948853" y="1298632"/>
                <a:ext cx="1242288" cy="457200"/>
              </a:xfrm>
              <a:prstGeom prst="rect">
                <a:avLst/>
              </a:prstGeom>
              <a:solidFill>
                <a:schemeClr val="bg1">
                  <a:lumMod val="95000"/>
                </a:schemeClr>
              </a:solidFill>
              <a:ln>
                <a:solidFill>
                  <a:srgbClr val="CECECE"/>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a:t>PC Advance</a:t>
                </a:r>
              </a:p>
            </p:txBody>
          </p:sp>
          <p:sp>
            <p:nvSpPr>
              <p:cNvPr id="6" name="Rectangle 5">
                <a:extLst>
                  <a:ext uri="{FF2B5EF4-FFF2-40B4-BE49-F238E27FC236}">
                    <a16:creationId xmlns:a16="http://schemas.microsoft.com/office/drawing/2014/main" id="{1687C041-73B3-9204-C55D-DFC55454B35E}"/>
                  </a:ext>
                </a:extLst>
              </p:cNvPr>
              <p:cNvSpPr/>
              <p:nvPr/>
            </p:nvSpPr>
            <p:spPr>
              <a:xfrm>
                <a:off x="2948853" y="3703695"/>
                <a:ext cx="2523260" cy="457200"/>
              </a:xfrm>
              <a:prstGeom prst="rect">
                <a:avLst/>
              </a:prstGeom>
              <a:solidFill>
                <a:schemeClr val="bg1">
                  <a:lumMod val="95000"/>
                </a:schemeClr>
              </a:solidFill>
              <a:ln>
                <a:solidFill>
                  <a:srgbClr val="CECECE"/>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dirty="0"/>
                  <a:t>Address Bus controlled by Prog Count</a:t>
                </a:r>
              </a:p>
            </p:txBody>
          </p:sp>
        </p:grpSp>
        <p:sp>
          <p:nvSpPr>
            <p:cNvPr id="8" name="Rectangle 7">
              <a:extLst>
                <a:ext uri="{FF2B5EF4-FFF2-40B4-BE49-F238E27FC236}">
                  <a16:creationId xmlns:a16="http://schemas.microsoft.com/office/drawing/2014/main" id="{13CE42FB-A42B-5F0B-0C2E-1B0FE963B3DA}"/>
                </a:ext>
              </a:extLst>
            </p:cNvPr>
            <p:cNvSpPr/>
            <p:nvPr/>
          </p:nvSpPr>
          <p:spPr>
            <a:xfrm>
              <a:off x="4229825" y="2080447"/>
              <a:ext cx="1242288" cy="457200"/>
            </a:xfrm>
            <a:prstGeom prst="rect">
              <a:avLst/>
            </a:prstGeom>
            <a:solidFill>
              <a:schemeClr val="bg1">
                <a:lumMod val="95000"/>
              </a:schemeClr>
            </a:solidFill>
            <a:ln>
              <a:solidFill>
                <a:srgbClr val="CECECE"/>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dirty="0" err="1"/>
                <a:t>Ld</a:t>
              </a:r>
              <a:r>
                <a:rPr lang="en-US" sz="1100" dirty="0"/>
                <a:t> Low (rising)</a:t>
              </a:r>
            </a:p>
            <a:p>
              <a:pPr algn="ctr"/>
              <a:r>
                <a:rPr lang="en-US" sz="1100" dirty="0"/>
                <a:t>INC, Quiesce </a:t>
              </a:r>
            </a:p>
          </p:txBody>
        </p:sp>
        <p:sp>
          <p:nvSpPr>
            <p:cNvPr id="9" name="Rectangle 8">
              <a:extLst>
                <a:ext uri="{FF2B5EF4-FFF2-40B4-BE49-F238E27FC236}">
                  <a16:creationId xmlns:a16="http://schemas.microsoft.com/office/drawing/2014/main" id="{00AE527C-B5D5-C6CE-A42F-FF90D0D43654}"/>
                </a:ext>
              </a:extLst>
            </p:cNvPr>
            <p:cNvSpPr/>
            <p:nvPr/>
          </p:nvSpPr>
          <p:spPr>
            <a:xfrm>
              <a:off x="4850969" y="2892071"/>
              <a:ext cx="621144" cy="457200"/>
            </a:xfrm>
            <a:prstGeom prst="rect">
              <a:avLst/>
            </a:prstGeom>
            <a:solidFill>
              <a:schemeClr val="bg1">
                <a:lumMod val="95000"/>
              </a:schemeClr>
            </a:solidFill>
            <a:ln>
              <a:solidFill>
                <a:srgbClr val="CECECE"/>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err="1"/>
                <a:t>Ld</a:t>
              </a:r>
              <a:r>
                <a:rPr lang="en-US" sz="1100"/>
                <a:t> High</a:t>
              </a:r>
            </a:p>
            <a:p>
              <a:pPr algn="ctr"/>
              <a:r>
                <a:rPr lang="en-US" sz="1100"/>
                <a:t>(from INC)</a:t>
              </a:r>
            </a:p>
          </p:txBody>
        </p:sp>
        <p:sp>
          <p:nvSpPr>
            <p:cNvPr id="12" name="Rectangle 11">
              <a:extLst>
                <a:ext uri="{FF2B5EF4-FFF2-40B4-BE49-F238E27FC236}">
                  <a16:creationId xmlns:a16="http://schemas.microsoft.com/office/drawing/2014/main" id="{A61B121D-D10B-D47A-3E6F-CC5B64FACA30}"/>
                </a:ext>
              </a:extLst>
            </p:cNvPr>
            <p:cNvSpPr/>
            <p:nvPr/>
          </p:nvSpPr>
          <p:spPr>
            <a:xfrm>
              <a:off x="4229825" y="4485510"/>
              <a:ext cx="1242288" cy="457200"/>
            </a:xfrm>
            <a:prstGeom prst="rect">
              <a:avLst/>
            </a:prstGeom>
            <a:solidFill>
              <a:schemeClr val="bg1">
                <a:lumMod val="95000"/>
              </a:schemeClr>
            </a:solidFill>
            <a:ln>
              <a:solidFill>
                <a:srgbClr val="CECECE"/>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dirty="0"/>
                <a:t>Reset Micro Instruction Ctr</a:t>
              </a:r>
            </a:p>
          </p:txBody>
        </p:sp>
        <p:sp>
          <p:nvSpPr>
            <p:cNvPr id="13" name="Rectangle: Rounded Corners 12">
              <a:extLst>
                <a:ext uri="{FF2B5EF4-FFF2-40B4-BE49-F238E27FC236}">
                  <a16:creationId xmlns:a16="http://schemas.microsoft.com/office/drawing/2014/main" id="{E83B9FE3-D610-0939-EB1D-464E3303E534}"/>
                </a:ext>
              </a:extLst>
            </p:cNvPr>
            <p:cNvSpPr/>
            <p:nvPr/>
          </p:nvSpPr>
          <p:spPr>
            <a:xfrm>
              <a:off x="4462463" y="5218330"/>
              <a:ext cx="857250" cy="1239619"/>
            </a:xfrm>
            <a:prstGeom prst="round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CTR=0</a:t>
              </a:r>
            </a:p>
          </p:txBody>
        </p:sp>
        <p:sp>
          <p:nvSpPr>
            <p:cNvPr id="14" name="Rectangle: Rounded Corners 13">
              <a:extLst>
                <a:ext uri="{FF2B5EF4-FFF2-40B4-BE49-F238E27FC236}">
                  <a16:creationId xmlns:a16="http://schemas.microsoft.com/office/drawing/2014/main" id="{0CA04B33-E790-CF1E-ACEA-9C205FA1D1F3}"/>
                </a:ext>
              </a:extLst>
            </p:cNvPr>
            <p:cNvSpPr/>
            <p:nvPr/>
          </p:nvSpPr>
          <p:spPr>
            <a:xfrm>
              <a:off x="5735638" y="5218330"/>
              <a:ext cx="857250" cy="1239619"/>
            </a:xfrm>
            <a:prstGeom prst="round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CTR=0</a:t>
              </a:r>
            </a:p>
          </p:txBody>
        </p:sp>
        <p:sp>
          <p:nvSpPr>
            <p:cNvPr id="15" name="Rectangle: Rounded Corners 14">
              <a:extLst>
                <a:ext uri="{FF2B5EF4-FFF2-40B4-BE49-F238E27FC236}">
                  <a16:creationId xmlns:a16="http://schemas.microsoft.com/office/drawing/2014/main" id="{EC346F9C-0955-42A9-0FD4-5C8EE22AC776}"/>
                </a:ext>
              </a:extLst>
            </p:cNvPr>
            <p:cNvSpPr/>
            <p:nvPr/>
          </p:nvSpPr>
          <p:spPr>
            <a:xfrm>
              <a:off x="7008813" y="5218330"/>
              <a:ext cx="857250" cy="1239619"/>
            </a:xfrm>
            <a:prstGeom prst="round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CTR=1</a:t>
              </a:r>
            </a:p>
          </p:txBody>
        </p:sp>
        <p:sp>
          <p:nvSpPr>
            <p:cNvPr id="16" name="Rectangle: Rounded Corners 15">
              <a:extLst>
                <a:ext uri="{FF2B5EF4-FFF2-40B4-BE49-F238E27FC236}">
                  <a16:creationId xmlns:a16="http://schemas.microsoft.com/office/drawing/2014/main" id="{E8C853C6-5FFE-6DBB-AD85-BBB989078E96}"/>
                </a:ext>
              </a:extLst>
            </p:cNvPr>
            <p:cNvSpPr/>
            <p:nvPr/>
          </p:nvSpPr>
          <p:spPr>
            <a:xfrm>
              <a:off x="8281987" y="5218330"/>
              <a:ext cx="857250" cy="1239619"/>
            </a:xfrm>
            <a:prstGeom prst="round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CTR=2</a:t>
              </a:r>
            </a:p>
          </p:txBody>
        </p:sp>
      </p:grpSp>
    </p:spTree>
    <p:extLst>
      <p:ext uri="{BB962C8B-B14F-4D97-AF65-F5344CB8AC3E}">
        <p14:creationId xmlns:p14="http://schemas.microsoft.com/office/powerpoint/2010/main" val="3724138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Rectangle 124">
            <a:extLst>
              <a:ext uri="{FF2B5EF4-FFF2-40B4-BE49-F238E27FC236}">
                <a16:creationId xmlns:a16="http://schemas.microsoft.com/office/drawing/2014/main" id="{C9FAB7B7-F333-736E-799F-2989434F48C6}"/>
              </a:ext>
            </a:extLst>
          </p:cNvPr>
          <p:cNvSpPr/>
          <p:nvPr/>
        </p:nvSpPr>
        <p:spPr>
          <a:xfrm>
            <a:off x="4239684" y="4145658"/>
            <a:ext cx="120793" cy="1270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3362581C-A9DA-D0B6-9F04-7985BD8589AE}"/>
              </a:ext>
            </a:extLst>
          </p:cNvPr>
          <p:cNvSpPr/>
          <p:nvPr/>
        </p:nvSpPr>
        <p:spPr>
          <a:xfrm>
            <a:off x="4274179" y="4007659"/>
            <a:ext cx="120793" cy="1270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FAD0B6-5608-2764-C2B7-A2DF02620DF1}"/>
              </a:ext>
            </a:extLst>
          </p:cNvPr>
          <p:cNvSpPr>
            <a:spLocks noGrp="1"/>
          </p:cNvSpPr>
          <p:nvPr>
            <p:ph type="ctrTitle"/>
          </p:nvPr>
        </p:nvSpPr>
        <p:spPr/>
        <p:txBody>
          <a:bodyPr/>
          <a:lstStyle/>
          <a:p>
            <a:r>
              <a:rPr lang="en-US"/>
              <a:t>Bus Arbitration for I/O</a:t>
            </a:r>
          </a:p>
        </p:txBody>
      </p:sp>
      <p:sp>
        <p:nvSpPr>
          <p:cNvPr id="3" name="Flowchart: Alternate Process 2">
            <a:extLst>
              <a:ext uri="{FF2B5EF4-FFF2-40B4-BE49-F238E27FC236}">
                <a16:creationId xmlns:a16="http://schemas.microsoft.com/office/drawing/2014/main" id="{AF9B160E-9D76-32A4-E63B-76339AE9C884}"/>
              </a:ext>
            </a:extLst>
          </p:cNvPr>
          <p:cNvSpPr/>
          <p:nvPr/>
        </p:nvSpPr>
        <p:spPr>
          <a:xfrm>
            <a:off x="700709" y="1466020"/>
            <a:ext cx="2126974" cy="1257300"/>
          </a:xfrm>
          <a:prstGeom prst="flowChartAlternateProcess">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sz="1600" dirty="0"/>
              <a:t>Normal</a:t>
            </a:r>
          </a:p>
          <a:p>
            <a:pPr marL="285750" indent="-285750">
              <a:buFont typeface="Arial" panose="020B0604020202020204" pitchFamily="34" charset="0"/>
              <a:buChar char="•"/>
            </a:pPr>
            <a:r>
              <a:rPr lang="en-US" sz="1200" dirty="0"/>
              <a:t>CPU owns buses</a:t>
            </a:r>
          </a:p>
        </p:txBody>
      </p:sp>
      <p:sp>
        <p:nvSpPr>
          <p:cNvPr id="4" name="Flowchart: Alternate Process 3">
            <a:extLst>
              <a:ext uri="{FF2B5EF4-FFF2-40B4-BE49-F238E27FC236}">
                <a16:creationId xmlns:a16="http://schemas.microsoft.com/office/drawing/2014/main" id="{DA6104FC-BB15-A707-3531-91A8CB4426C6}"/>
              </a:ext>
            </a:extLst>
          </p:cNvPr>
          <p:cNvSpPr/>
          <p:nvPr/>
        </p:nvSpPr>
        <p:spPr>
          <a:xfrm>
            <a:off x="3945835" y="1466020"/>
            <a:ext cx="2433430" cy="1257300"/>
          </a:xfrm>
          <a:prstGeom prst="flowChartAlternateProcess">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sz="1600"/>
              <a:t>MMIO Buses Request</a:t>
            </a:r>
          </a:p>
          <a:p>
            <a:pPr marL="285750" indent="-285750">
              <a:buFont typeface="Arial" panose="020B0604020202020204" pitchFamily="34" charset="0"/>
              <a:buChar char="•"/>
            </a:pPr>
            <a:r>
              <a:rPr lang="en-US" sz="1200"/>
              <a:t>No change</a:t>
            </a:r>
          </a:p>
          <a:p>
            <a:pPr marL="285750" indent="-285750">
              <a:buFont typeface="Arial" panose="020B0604020202020204" pitchFamily="34" charset="0"/>
              <a:buChar char="•"/>
            </a:pPr>
            <a:r>
              <a:rPr lang="en-US" sz="1200"/>
              <a:t>CPU owns buses till end of instruction</a:t>
            </a:r>
          </a:p>
        </p:txBody>
      </p:sp>
      <p:sp>
        <p:nvSpPr>
          <p:cNvPr id="5" name="Flowchart: Alternate Process 4">
            <a:extLst>
              <a:ext uri="{FF2B5EF4-FFF2-40B4-BE49-F238E27FC236}">
                <a16:creationId xmlns:a16="http://schemas.microsoft.com/office/drawing/2014/main" id="{2299A093-AA40-36BB-7811-FACF4A627CE0}"/>
              </a:ext>
            </a:extLst>
          </p:cNvPr>
          <p:cNvSpPr/>
          <p:nvPr/>
        </p:nvSpPr>
        <p:spPr>
          <a:xfrm>
            <a:off x="7616690" y="1466020"/>
            <a:ext cx="3261691" cy="1257300"/>
          </a:xfrm>
          <a:prstGeom prst="flowChartAlternateProcess">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sz="1600" dirty="0"/>
              <a:t>MMIO Buses Granted</a:t>
            </a:r>
          </a:p>
          <a:p>
            <a:pPr marL="285750" indent="-285750">
              <a:buFont typeface="Arial" panose="020B0604020202020204" pitchFamily="34" charset="0"/>
              <a:buChar char="•"/>
            </a:pPr>
            <a:r>
              <a:rPr lang="en-US" sz="1200" dirty="0"/>
              <a:t>CPU does not transmit on</a:t>
            </a:r>
          </a:p>
          <a:p>
            <a:pPr marL="742950" lvl="1" indent="-285750">
              <a:buFont typeface="Arial" panose="020B0604020202020204" pitchFamily="34" charset="0"/>
              <a:buChar char="•"/>
            </a:pPr>
            <a:r>
              <a:rPr lang="en-US" sz="1200" dirty="0"/>
              <a:t>Address bus</a:t>
            </a:r>
          </a:p>
          <a:p>
            <a:pPr marL="742950" lvl="1" indent="-285750">
              <a:buFont typeface="Arial" panose="020B0604020202020204" pitchFamily="34" charset="0"/>
              <a:buChar char="•"/>
            </a:pPr>
            <a:r>
              <a:rPr lang="en-US" sz="1200" dirty="0"/>
              <a:t>Data bus</a:t>
            </a:r>
          </a:p>
          <a:p>
            <a:pPr marL="742950" lvl="1" indent="-285750">
              <a:buFont typeface="Arial" panose="020B0604020202020204" pitchFamily="34" charset="0"/>
              <a:buChar char="•"/>
            </a:pPr>
            <a:r>
              <a:rPr lang="en-US" sz="1200" dirty="0"/>
              <a:t>Micro instruction controls</a:t>
            </a:r>
          </a:p>
          <a:p>
            <a:pPr marL="285750" indent="-285750">
              <a:buFont typeface="Arial" panose="020B0604020202020204" pitchFamily="34" charset="0"/>
              <a:buChar char="•"/>
            </a:pPr>
            <a:r>
              <a:rPr lang="en-US" sz="1200" dirty="0"/>
              <a:t>Microinstruction counter held in reset</a:t>
            </a:r>
          </a:p>
          <a:p>
            <a:pPr marL="742950" lvl="1" indent="-285750">
              <a:buFont typeface="Arial" panose="020B0604020202020204" pitchFamily="34" charset="0"/>
              <a:buChar char="•"/>
            </a:pPr>
            <a:endParaRPr lang="en-US" sz="1200" dirty="0"/>
          </a:p>
        </p:txBody>
      </p:sp>
      <p:sp>
        <p:nvSpPr>
          <p:cNvPr id="9" name="TextBox 8">
            <a:hlinkClick r:id="rId2" action="ppaction://hlinksldjump"/>
            <a:extLst>
              <a:ext uri="{FF2B5EF4-FFF2-40B4-BE49-F238E27FC236}">
                <a16:creationId xmlns:a16="http://schemas.microsoft.com/office/drawing/2014/main" id="{4A0FA895-18B9-B403-7FA0-7226ABBD071B}"/>
              </a:ext>
            </a:extLst>
          </p:cNvPr>
          <p:cNvSpPr txBox="1"/>
          <p:nvPr/>
        </p:nvSpPr>
        <p:spPr>
          <a:xfrm>
            <a:off x="2749547" y="4041647"/>
            <a:ext cx="859531" cy="182880"/>
          </a:xfrm>
          <a:prstGeom prst="rect">
            <a:avLst/>
          </a:prstGeom>
        </p:spPr>
        <p:style>
          <a:lnRef idx="2">
            <a:schemeClr val="accent5"/>
          </a:lnRef>
          <a:fillRef idx="1">
            <a:schemeClr val="lt1"/>
          </a:fillRef>
          <a:effectRef idx="0">
            <a:schemeClr val="accent5"/>
          </a:effectRef>
          <a:fontRef idx="minor">
            <a:schemeClr val="dk1"/>
          </a:fontRef>
        </p:style>
        <p:txBody>
          <a:bodyPr wrap="none" rtlCol="0" anchor="ctr">
            <a:spAutoFit/>
          </a:bodyPr>
          <a:lstStyle/>
          <a:p>
            <a:r>
              <a:rPr lang="en-US" sz="1050"/>
              <a:t>Bus Request</a:t>
            </a:r>
          </a:p>
        </p:txBody>
      </p:sp>
      <p:cxnSp>
        <p:nvCxnSpPr>
          <p:cNvPr id="11" name="Connector: Elbow 10">
            <a:extLst>
              <a:ext uri="{FF2B5EF4-FFF2-40B4-BE49-F238E27FC236}">
                <a16:creationId xmlns:a16="http://schemas.microsoft.com/office/drawing/2014/main" id="{E0315F48-1E26-5F11-36A6-AF9B82F60E26}"/>
              </a:ext>
            </a:extLst>
          </p:cNvPr>
          <p:cNvCxnSpPr>
            <a:cxnSpLocks/>
            <a:stCxn id="9" idx="3"/>
            <a:endCxn id="125" idx="1"/>
          </p:cNvCxnSpPr>
          <p:nvPr/>
        </p:nvCxnSpPr>
        <p:spPr>
          <a:xfrm>
            <a:off x="3609078" y="4133087"/>
            <a:ext cx="630606" cy="76082"/>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E08319E0-68D7-D007-185D-3D2210747F3A}"/>
              </a:ext>
            </a:extLst>
          </p:cNvPr>
          <p:cNvCxnSpPr>
            <a:stCxn id="4" idx="3"/>
            <a:endCxn id="5" idx="1"/>
          </p:cNvCxnSpPr>
          <p:nvPr/>
        </p:nvCxnSpPr>
        <p:spPr>
          <a:xfrm>
            <a:off x="6379265" y="2094670"/>
            <a:ext cx="12374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A7A25FF-0F06-47EB-B7A8-1B4F23B01755}"/>
              </a:ext>
            </a:extLst>
          </p:cNvPr>
          <p:cNvCxnSpPr>
            <a:cxnSpLocks/>
            <a:stCxn id="3" idx="3"/>
            <a:endCxn id="4" idx="1"/>
          </p:cNvCxnSpPr>
          <p:nvPr/>
        </p:nvCxnSpPr>
        <p:spPr>
          <a:xfrm>
            <a:off x="2827683" y="2094670"/>
            <a:ext cx="111815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0AC92667-BA7B-8C07-312C-BE7934445F09}"/>
              </a:ext>
            </a:extLst>
          </p:cNvPr>
          <p:cNvCxnSpPr>
            <a:stCxn id="5" idx="3"/>
            <a:endCxn id="3" idx="1"/>
          </p:cNvCxnSpPr>
          <p:nvPr/>
        </p:nvCxnSpPr>
        <p:spPr>
          <a:xfrm flipH="1">
            <a:off x="700709" y="2094670"/>
            <a:ext cx="10177672" cy="12700"/>
          </a:xfrm>
          <a:prstGeom prst="bentConnector5">
            <a:avLst>
              <a:gd name="adj1" fmla="val -2246"/>
              <a:gd name="adj2" fmla="val 6750000"/>
              <a:gd name="adj3" fmla="val 102246"/>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4FBC4C8E-C823-DB68-8568-97B2913B22AC}"/>
              </a:ext>
            </a:extLst>
          </p:cNvPr>
          <p:cNvSpPr txBox="1"/>
          <p:nvPr/>
        </p:nvSpPr>
        <p:spPr>
          <a:xfrm>
            <a:off x="2879714" y="1868830"/>
            <a:ext cx="1024639" cy="261610"/>
          </a:xfrm>
          <a:prstGeom prst="rect">
            <a:avLst/>
          </a:prstGeom>
          <a:noFill/>
        </p:spPr>
        <p:txBody>
          <a:bodyPr wrap="none" rtlCol="0">
            <a:spAutoFit/>
          </a:bodyPr>
          <a:lstStyle/>
          <a:p>
            <a:r>
              <a:rPr lang="en-US" sz="1100"/>
              <a:t>MMIO request</a:t>
            </a:r>
          </a:p>
        </p:txBody>
      </p:sp>
      <p:sp>
        <p:nvSpPr>
          <p:cNvPr id="26" name="TextBox 25">
            <a:extLst>
              <a:ext uri="{FF2B5EF4-FFF2-40B4-BE49-F238E27FC236}">
                <a16:creationId xmlns:a16="http://schemas.microsoft.com/office/drawing/2014/main" id="{664EC917-16DF-9256-BD3E-9FEE5255476D}"/>
              </a:ext>
            </a:extLst>
          </p:cNvPr>
          <p:cNvSpPr txBox="1"/>
          <p:nvPr/>
        </p:nvSpPr>
        <p:spPr>
          <a:xfrm>
            <a:off x="6432207" y="1835721"/>
            <a:ext cx="1167307" cy="430887"/>
          </a:xfrm>
          <a:prstGeom prst="rect">
            <a:avLst/>
          </a:prstGeom>
          <a:noFill/>
        </p:spPr>
        <p:txBody>
          <a:bodyPr wrap="none" rtlCol="0">
            <a:spAutoFit/>
          </a:bodyPr>
          <a:lstStyle/>
          <a:p>
            <a:pPr algn="ctr"/>
            <a:r>
              <a:rPr lang="en-US" sz="1100"/>
              <a:t>End of </a:t>
            </a:r>
          </a:p>
          <a:p>
            <a:pPr algn="ctr"/>
            <a:r>
              <a:rPr lang="en-US" sz="1100"/>
              <a:t>Micro instruction</a:t>
            </a:r>
          </a:p>
        </p:txBody>
      </p:sp>
      <p:sp>
        <p:nvSpPr>
          <p:cNvPr id="27" name="TextBox 26">
            <a:extLst>
              <a:ext uri="{FF2B5EF4-FFF2-40B4-BE49-F238E27FC236}">
                <a16:creationId xmlns:a16="http://schemas.microsoft.com/office/drawing/2014/main" id="{104B109F-F8A2-5957-FF33-181CA1A07684}"/>
              </a:ext>
            </a:extLst>
          </p:cNvPr>
          <p:cNvSpPr txBox="1"/>
          <p:nvPr/>
        </p:nvSpPr>
        <p:spPr>
          <a:xfrm>
            <a:off x="4803382" y="2901770"/>
            <a:ext cx="864339" cy="261610"/>
          </a:xfrm>
          <a:prstGeom prst="rect">
            <a:avLst/>
          </a:prstGeom>
          <a:noFill/>
        </p:spPr>
        <p:txBody>
          <a:bodyPr wrap="none" rtlCol="0">
            <a:spAutoFit/>
          </a:bodyPr>
          <a:lstStyle/>
          <a:p>
            <a:r>
              <a:rPr lang="en-US" sz="1100"/>
              <a:t>Bus Release</a:t>
            </a:r>
          </a:p>
        </p:txBody>
      </p:sp>
      <p:sp>
        <p:nvSpPr>
          <p:cNvPr id="40" name="TextBox 39">
            <a:hlinkClick r:id="rId2" action="ppaction://hlinksldjump"/>
            <a:extLst>
              <a:ext uri="{FF2B5EF4-FFF2-40B4-BE49-F238E27FC236}">
                <a16:creationId xmlns:a16="http://schemas.microsoft.com/office/drawing/2014/main" id="{F0F9730E-F8A0-2D72-A22A-AC82CC59EB16}"/>
              </a:ext>
            </a:extLst>
          </p:cNvPr>
          <p:cNvSpPr txBox="1"/>
          <p:nvPr/>
        </p:nvSpPr>
        <p:spPr>
          <a:xfrm>
            <a:off x="6686962" y="6064704"/>
            <a:ext cx="933269" cy="182880"/>
          </a:xfrm>
          <a:prstGeom prst="rect">
            <a:avLst/>
          </a:prstGeom>
        </p:spPr>
        <p:style>
          <a:lnRef idx="2">
            <a:schemeClr val="accent5"/>
          </a:lnRef>
          <a:fillRef idx="1">
            <a:schemeClr val="lt1"/>
          </a:fillRef>
          <a:effectRef idx="0">
            <a:schemeClr val="accent5"/>
          </a:effectRef>
          <a:fontRef idx="minor">
            <a:schemeClr val="dk1"/>
          </a:fontRef>
        </p:style>
        <p:txBody>
          <a:bodyPr wrap="none" rtlCol="0" anchor="ctr">
            <a:spAutoFit/>
          </a:bodyPr>
          <a:lstStyle/>
          <a:p>
            <a:r>
              <a:rPr lang="en-US" sz="1050"/>
              <a:t># Bus Release</a:t>
            </a:r>
          </a:p>
        </p:txBody>
      </p:sp>
      <p:cxnSp>
        <p:nvCxnSpPr>
          <p:cNvPr id="44" name="Connector: Elbow 43">
            <a:extLst>
              <a:ext uri="{FF2B5EF4-FFF2-40B4-BE49-F238E27FC236}">
                <a16:creationId xmlns:a16="http://schemas.microsoft.com/office/drawing/2014/main" id="{00908E1F-1239-0EBC-20EA-5D9A4CFE57BD}"/>
              </a:ext>
            </a:extLst>
          </p:cNvPr>
          <p:cNvCxnSpPr>
            <a:cxnSpLocks/>
            <a:stCxn id="75" idx="3"/>
            <a:endCxn id="49" idx="1"/>
          </p:cNvCxnSpPr>
          <p:nvPr/>
        </p:nvCxnSpPr>
        <p:spPr>
          <a:xfrm flipH="1" flipV="1">
            <a:off x="4274179" y="4071170"/>
            <a:ext cx="2802631" cy="48899"/>
          </a:xfrm>
          <a:prstGeom prst="bentConnector5">
            <a:avLst>
              <a:gd name="adj1" fmla="val -8157"/>
              <a:gd name="adj2" fmla="val 1642528"/>
              <a:gd name="adj3" fmla="val 108157"/>
            </a:avLst>
          </a:prstGeom>
        </p:spPr>
        <p:style>
          <a:lnRef idx="2">
            <a:schemeClr val="accent1"/>
          </a:lnRef>
          <a:fillRef idx="0">
            <a:schemeClr val="accent1"/>
          </a:fillRef>
          <a:effectRef idx="1">
            <a:schemeClr val="accent1"/>
          </a:effectRef>
          <a:fontRef idx="minor">
            <a:schemeClr val="tx1"/>
          </a:fontRef>
        </p:style>
      </p:cxnSp>
      <p:sp>
        <p:nvSpPr>
          <p:cNvPr id="63" name="TextBox 62">
            <a:hlinkClick r:id="rId3" action="ppaction://hlinksldjump"/>
            <a:extLst>
              <a:ext uri="{FF2B5EF4-FFF2-40B4-BE49-F238E27FC236}">
                <a16:creationId xmlns:a16="http://schemas.microsoft.com/office/drawing/2014/main" id="{874D7163-FD97-088D-2DFD-F92FB5E0650F}"/>
              </a:ext>
            </a:extLst>
          </p:cNvPr>
          <p:cNvSpPr txBox="1"/>
          <p:nvPr/>
        </p:nvSpPr>
        <p:spPr>
          <a:xfrm>
            <a:off x="7768979" y="4890883"/>
            <a:ext cx="723275" cy="182880"/>
          </a:xfrm>
          <a:prstGeom prst="rect">
            <a:avLst/>
          </a:prstGeom>
        </p:spPr>
        <p:style>
          <a:lnRef idx="2">
            <a:schemeClr val="accent5"/>
          </a:lnRef>
          <a:fillRef idx="1">
            <a:schemeClr val="lt1"/>
          </a:fillRef>
          <a:effectRef idx="0">
            <a:schemeClr val="accent5"/>
          </a:effectRef>
          <a:fontRef idx="minor">
            <a:schemeClr val="dk1"/>
          </a:fontRef>
        </p:style>
        <p:txBody>
          <a:bodyPr wrap="none" rtlCol="0" anchor="ctr">
            <a:spAutoFit/>
          </a:bodyPr>
          <a:lstStyle/>
          <a:p>
            <a:r>
              <a:rPr lang="en-US" sz="1050" dirty="0"/>
              <a:t>Bus Grant</a:t>
            </a:r>
          </a:p>
        </p:txBody>
      </p:sp>
      <p:sp>
        <p:nvSpPr>
          <p:cNvPr id="65" name="TextBox 64">
            <a:hlinkClick r:id="rId4" action="ppaction://hlinksldjump"/>
            <a:extLst>
              <a:ext uri="{FF2B5EF4-FFF2-40B4-BE49-F238E27FC236}">
                <a16:creationId xmlns:a16="http://schemas.microsoft.com/office/drawing/2014/main" id="{5DBF0672-0AD4-1770-7B7A-FEAB21FB53E6}"/>
              </a:ext>
            </a:extLst>
          </p:cNvPr>
          <p:cNvSpPr txBox="1"/>
          <p:nvPr/>
        </p:nvSpPr>
        <p:spPr>
          <a:xfrm>
            <a:off x="1902932" y="5336893"/>
            <a:ext cx="853797" cy="182880"/>
          </a:xfrm>
          <a:prstGeom prst="rect">
            <a:avLst/>
          </a:prstGeom>
          <a:noFill/>
          <a:ln w="12700">
            <a:solidFill>
              <a:schemeClr val="accent6">
                <a:lumMod val="75000"/>
              </a:schemeClr>
            </a:solidFill>
          </a:ln>
        </p:spPr>
        <p:txBody>
          <a:bodyPr wrap="square" rtlCol="0" anchor="ctr">
            <a:spAutoFit/>
          </a:bodyPr>
          <a:lstStyle/>
          <a:p>
            <a:r>
              <a:rPr lang="en-US" sz="1050" dirty="0"/>
              <a:t>Quiesce</a:t>
            </a:r>
          </a:p>
        </p:txBody>
      </p:sp>
      <p:sp>
        <p:nvSpPr>
          <p:cNvPr id="67" name="Rectangle 66">
            <a:extLst>
              <a:ext uri="{FF2B5EF4-FFF2-40B4-BE49-F238E27FC236}">
                <a16:creationId xmlns:a16="http://schemas.microsoft.com/office/drawing/2014/main" id="{2BFD8AF4-CC60-CFBB-AFF1-2AC7FDFA2ED6}"/>
              </a:ext>
            </a:extLst>
          </p:cNvPr>
          <p:cNvSpPr/>
          <p:nvPr/>
        </p:nvSpPr>
        <p:spPr>
          <a:xfrm>
            <a:off x="5728046" y="4909789"/>
            <a:ext cx="109628" cy="1393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Connector: Elbow 67">
            <a:extLst>
              <a:ext uri="{FF2B5EF4-FFF2-40B4-BE49-F238E27FC236}">
                <a16:creationId xmlns:a16="http://schemas.microsoft.com/office/drawing/2014/main" id="{C92D5C40-5057-B090-D16C-53DCAF747C19}"/>
              </a:ext>
            </a:extLst>
          </p:cNvPr>
          <p:cNvCxnSpPr>
            <a:cxnSpLocks/>
            <a:stCxn id="88" idx="3"/>
            <a:endCxn id="105" idx="1"/>
          </p:cNvCxnSpPr>
          <p:nvPr/>
        </p:nvCxnSpPr>
        <p:spPr>
          <a:xfrm flipH="1" flipV="1">
            <a:off x="4223997" y="5502752"/>
            <a:ext cx="3675774" cy="5543"/>
          </a:xfrm>
          <a:prstGeom prst="bentConnector5">
            <a:avLst>
              <a:gd name="adj1" fmla="val -6219"/>
              <a:gd name="adj2" fmla="val -23013080"/>
              <a:gd name="adj3" fmla="val 106219"/>
            </a:avLst>
          </a:prstGeom>
        </p:spPr>
        <p:style>
          <a:lnRef idx="2">
            <a:schemeClr val="accent1"/>
          </a:lnRef>
          <a:fillRef idx="0">
            <a:schemeClr val="accent1"/>
          </a:fillRef>
          <a:effectRef idx="1">
            <a:schemeClr val="accent1"/>
          </a:effectRef>
          <a:fontRef idx="minor">
            <a:schemeClr val="tx1"/>
          </a:fontRef>
        </p:style>
      </p:cxnSp>
      <p:sp>
        <p:nvSpPr>
          <p:cNvPr id="70" name="Rectangle 69">
            <a:extLst>
              <a:ext uri="{FF2B5EF4-FFF2-40B4-BE49-F238E27FC236}">
                <a16:creationId xmlns:a16="http://schemas.microsoft.com/office/drawing/2014/main" id="{AE8F968C-2EBB-242D-3F5D-6005718F18EC}"/>
              </a:ext>
            </a:extLst>
          </p:cNvPr>
          <p:cNvSpPr/>
          <p:nvPr/>
        </p:nvSpPr>
        <p:spPr>
          <a:xfrm>
            <a:off x="4226923" y="5314905"/>
            <a:ext cx="120793" cy="1270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4DF1FEEB-59F5-D247-9EF9-314D93B80B89}"/>
              </a:ext>
            </a:extLst>
          </p:cNvPr>
          <p:cNvSpPr/>
          <p:nvPr/>
        </p:nvSpPr>
        <p:spPr>
          <a:xfrm>
            <a:off x="6583889" y="4160585"/>
            <a:ext cx="103073" cy="1309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91B75D4D-229F-7F97-D69A-D201CC8DCF68}"/>
              </a:ext>
            </a:extLst>
          </p:cNvPr>
          <p:cNvSpPr/>
          <p:nvPr/>
        </p:nvSpPr>
        <p:spPr>
          <a:xfrm>
            <a:off x="6583889" y="3943933"/>
            <a:ext cx="103073" cy="1309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6A03F9B3-85E4-E55D-1B0D-C315D4329BFD}"/>
              </a:ext>
            </a:extLst>
          </p:cNvPr>
          <p:cNvSpPr/>
          <p:nvPr/>
        </p:nvSpPr>
        <p:spPr>
          <a:xfrm>
            <a:off x="6967182" y="4050407"/>
            <a:ext cx="109628" cy="1393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80B0689C-8543-66E9-9E36-79FFE7D994E0}"/>
              </a:ext>
            </a:extLst>
          </p:cNvPr>
          <p:cNvSpPr/>
          <p:nvPr/>
        </p:nvSpPr>
        <p:spPr>
          <a:xfrm>
            <a:off x="5742956" y="3601085"/>
            <a:ext cx="109628" cy="1393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5D2D7702-C96C-3A0E-0A48-0960559F328C}"/>
              </a:ext>
            </a:extLst>
          </p:cNvPr>
          <p:cNvSpPr/>
          <p:nvPr/>
        </p:nvSpPr>
        <p:spPr>
          <a:xfrm>
            <a:off x="5728046" y="5049112"/>
            <a:ext cx="109628" cy="1393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TextBox 83">
            <a:extLst>
              <a:ext uri="{FF2B5EF4-FFF2-40B4-BE49-F238E27FC236}">
                <a16:creationId xmlns:a16="http://schemas.microsoft.com/office/drawing/2014/main" id="{83DF147E-0691-6563-5469-663762D3DEFF}"/>
              </a:ext>
            </a:extLst>
          </p:cNvPr>
          <p:cNvSpPr txBox="1"/>
          <p:nvPr/>
        </p:nvSpPr>
        <p:spPr>
          <a:xfrm flipH="1">
            <a:off x="5932243" y="3128851"/>
            <a:ext cx="894043" cy="246221"/>
          </a:xfrm>
          <a:prstGeom prst="rect">
            <a:avLst/>
          </a:prstGeom>
          <a:noFill/>
        </p:spPr>
        <p:txBody>
          <a:bodyPr wrap="square" rtlCol="0">
            <a:spAutoFit/>
          </a:bodyPr>
          <a:lstStyle/>
          <a:p>
            <a:r>
              <a:rPr lang="en-US" sz="1000"/>
              <a:t>Requested</a:t>
            </a:r>
          </a:p>
        </p:txBody>
      </p:sp>
      <p:pic>
        <p:nvPicPr>
          <p:cNvPr id="72" name="Picture 71" descr="Diagram&#10;&#10;Description automatically generated with low confidence">
            <a:extLst>
              <a:ext uri="{FF2B5EF4-FFF2-40B4-BE49-F238E27FC236}">
                <a16:creationId xmlns:a16="http://schemas.microsoft.com/office/drawing/2014/main" id="{919CB0AE-AD37-2295-623C-7FA2A4F7C812}"/>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50000" t="19257" r="4045" b="-1180"/>
          <a:stretch/>
        </p:blipFill>
        <p:spPr>
          <a:xfrm>
            <a:off x="6570361" y="3937959"/>
            <a:ext cx="523477" cy="364870"/>
          </a:xfrm>
          <a:prstGeom prst="rect">
            <a:avLst/>
          </a:prstGeom>
        </p:spPr>
      </p:pic>
      <p:sp>
        <p:nvSpPr>
          <p:cNvPr id="86" name="Rectangle 85">
            <a:extLst>
              <a:ext uri="{FF2B5EF4-FFF2-40B4-BE49-F238E27FC236}">
                <a16:creationId xmlns:a16="http://schemas.microsoft.com/office/drawing/2014/main" id="{3BCAA88F-95C6-1436-D4F9-1B2585C15A09}"/>
              </a:ext>
            </a:extLst>
          </p:cNvPr>
          <p:cNvSpPr/>
          <p:nvPr/>
        </p:nvSpPr>
        <p:spPr>
          <a:xfrm>
            <a:off x="7406850" y="5548811"/>
            <a:ext cx="103073" cy="1309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4BFC1C78-1CAE-3275-E675-9C27EC2342D9}"/>
              </a:ext>
            </a:extLst>
          </p:cNvPr>
          <p:cNvSpPr/>
          <p:nvPr/>
        </p:nvSpPr>
        <p:spPr>
          <a:xfrm>
            <a:off x="7406850" y="5332159"/>
            <a:ext cx="103073" cy="1309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4FFD8768-8EC7-E340-C88D-0934B822E8D8}"/>
              </a:ext>
            </a:extLst>
          </p:cNvPr>
          <p:cNvSpPr/>
          <p:nvPr/>
        </p:nvSpPr>
        <p:spPr>
          <a:xfrm>
            <a:off x="7790143" y="5438633"/>
            <a:ext cx="109628" cy="1393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0" name="Connector: Elbow 89">
            <a:extLst>
              <a:ext uri="{FF2B5EF4-FFF2-40B4-BE49-F238E27FC236}">
                <a16:creationId xmlns:a16="http://schemas.microsoft.com/office/drawing/2014/main" id="{3D4BD053-1D17-7C72-D5A6-D42753390E98}"/>
              </a:ext>
            </a:extLst>
          </p:cNvPr>
          <p:cNvCxnSpPr>
            <a:cxnSpLocks/>
            <a:stCxn id="40" idx="3"/>
            <a:endCxn id="86" idx="1"/>
          </p:cNvCxnSpPr>
          <p:nvPr/>
        </p:nvCxnSpPr>
        <p:spPr>
          <a:xfrm flipH="1" flipV="1">
            <a:off x="7406850" y="5614293"/>
            <a:ext cx="213381" cy="541851"/>
          </a:xfrm>
          <a:prstGeom prst="bentConnector5">
            <a:avLst>
              <a:gd name="adj1" fmla="val -107132"/>
              <a:gd name="adj2" fmla="val 52395"/>
              <a:gd name="adj3" fmla="val 207132"/>
            </a:avLst>
          </a:prstGeom>
        </p:spPr>
        <p:style>
          <a:lnRef idx="2">
            <a:schemeClr val="accent1"/>
          </a:lnRef>
          <a:fillRef idx="0">
            <a:schemeClr val="accent1"/>
          </a:fillRef>
          <a:effectRef idx="1">
            <a:schemeClr val="accent1"/>
          </a:effectRef>
          <a:fontRef idx="minor">
            <a:schemeClr val="tx1"/>
          </a:fontRef>
        </p:style>
      </p:cxnSp>
      <p:cxnSp>
        <p:nvCxnSpPr>
          <p:cNvPr id="94" name="Connector: Elbow 93">
            <a:extLst>
              <a:ext uri="{FF2B5EF4-FFF2-40B4-BE49-F238E27FC236}">
                <a16:creationId xmlns:a16="http://schemas.microsoft.com/office/drawing/2014/main" id="{4DD366FF-C115-D078-F58A-D97A9F416448}"/>
              </a:ext>
            </a:extLst>
          </p:cNvPr>
          <p:cNvCxnSpPr>
            <a:cxnSpLocks/>
            <a:stCxn id="67" idx="3"/>
            <a:endCxn id="87" idx="1"/>
          </p:cNvCxnSpPr>
          <p:nvPr/>
        </p:nvCxnSpPr>
        <p:spPr>
          <a:xfrm>
            <a:off x="5837674" y="4979451"/>
            <a:ext cx="1569176" cy="418190"/>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sp>
        <p:nvSpPr>
          <p:cNvPr id="101" name="Rectangle 100">
            <a:extLst>
              <a:ext uri="{FF2B5EF4-FFF2-40B4-BE49-F238E27FC236}">
                <a16:creationId xmlns:a16="http://schemas.microsoft.com/office/drawing/2014/main" id="{9687584D-D960-F980-61C4-DEF46DC4C243}"/>
              </a:ext>
            </a:extLst>
          </p:cNvPr>
          <p:cNvSpPr/>
          <p:nvPr/>
        </p:nvSpPr>
        <p:spPr>
          <a:xfrm>
            <a:off x="3388797" y="5183941"/>
            <a:ext cx="151430" cy="1308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91094E95-6947-2CD6-AD0F-AD9FCB71D818}"/>
              </a:ext>
            </a:extLst>
          </p:cNvPr>
          <p:cNvSpPr/>
          <p:nvPr/>
        </p:nvSpPr>
        <p:spPr>
          <a:xfrm>
            <a:off x="3337996" y="4967289"/>
            <a:ext cx="103073" cy="1309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9A60A257-A47E-E1F5-F520-AECF95D04722}"/>
              </a:ext>
            </a:extLst>
          </p:cNvPr>
          <p:cNvSpPr/>
          <p:nvPr/>
        </p:nvSpPr>
        <p:spPr>
          <a:xfrm>
            <a:off x="3721289" y="5073763"/>
            <a:ext cx="109628" cy="1393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3ECD9283-C9A9-84ED-CC97-61C6DDB86CF0}"/>
              </a:ext>
            </a:extLst>
          </p:cNvPr>
          <p:cNvSpPr/>
          <p:nvPr/>
        </p:nvSpPr>
        <p:spPr>
          <a:xfrm>
            <a:off x="4223997" y="5439241"/>
            <a:ext cx="120793" cy="1270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8" name="Connector: Elbow 107">
            <a:extLst>
              <a:ext uri="{FF2B5EF4-FFF2-40B4-BE49-F238E27FC236}">
                <a16:creationId xmlns:a16="http://schemas.microsoft.com/office/drawing/2014/main" id="{4BCC26B1-2BE2-E09A-C1E5-84814E5A3E18}"/>
              </a:ext>
            </a:extLst>
          </p:cNvPr>
          <p:cNvCxnSpPr>
            <a:cxnSpLocks/>
            <a:stCxn id="65" idx="3"/>
            <a:endCxn id="101" idx="1"/>
          </p:cNvCxnSpPr>
          <p:nvPr/>
        </p:nvCxnSpPr>
        <p:spPr>
          <a:xfrm flipV="1">
            <a:off x="2756729" y="5249356"/>
            <a:ext cx="632068" cy="178977"/>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114" name="Connector: Elbow 113">
            <a:extLst>
              <a:ext uri="{FF2B5EF4-FFF2-40B4-BE49-F238E27FC236}">
                <a16:creationId xmlns:a16="http://schemas.microsoft.com/office/drawing/2014/main" id="{FA322588-E1A2-1FAB-1A8A-F84318CECD85}"/>
              </a:ext>
            </a:extLst>
          </p:cNvPr>
          <p:cNvCxnSpPr>
            <a:cxnSpLocks/>
            <a:stCxn id="103" idx="3"/>
            <a:endCxn id="70" idx="1"/>
          </p:cNvCxnSpPr>
          <p:nvPr/>
        </p:nvCxnSpPr>
        <p:spPr>
          <a:xfrm>
            <a:off x="3830917" y="5143425"/>
            <a:ext cx="396006" cy="234991"/>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119" name="Connector: Elbow 118">
            <a:extLst>
              <a:ext uri="{FF2B5EF4-FFF2-40B4-BE49-F238E27FC236}">
                <a16:creationId xmlns:a16="http://schemas.microsoft.com/office/drawing/2014/main" id="{048F4097-D76E-CE28-9548-AF8E04D9053E}"/>
              </a:ext>
            </a:extLst>
          </p:cNvPr>
          <p:cNvCxnSpPr>
            <a:cxnSpLocks/>
            <a:stCxn id="72" idx="3"/>
            <a:endCxn id="102" idx="1"/>
          </p:cNvCxnSpPr>
          <p:nvPr/>
        </p:nvCxnSpPr>
        <p:spPr>
          <a:xfrm flipH="1">
            <a:off x="3337996" y="4120394"/>
            <a:ext cx="3755842" cy="912377"/>
          </a:xfrm>
          <a:prstGeom prst="bentConnector5">
            <a:avLst>
              <a:gd name="adj1" fmla="val -5497"/>
              <a:gd name="adj2" fmla="val -88153"/>
              <a:gd name="adj3" fmla="val 141204"/>
            </a:avLst>
          </a:prstGeom>
        </p:spPr>
        <p:style>
          <a:lnRef idx="2">
            <a:schemeClr val="accent1"/>
          </a:lnRef>
          <a:fillRef idx="0">
            <a:schemeClr val="accent1"/>
          </a:fillRef>
          <a:effectRef idx="1">
            <a:schemeClr val="accent1"/>
          </a:effectRef>
          <a:fontRef idx="minor">
            <a:schemeClr val="tx1"/>
          </a:fontRef>
        </p:style>
      </p:cxnSp>
      <p:cxnSp>
        <p:nvCxnSpPr>
          <p:cNvPr id="127" name="Connector: Elbow 126">
            <a:extLst>
              <a:ext uri="{FF2B5EF4-FFF2-40B4-BE49-F238E27FC236}">
                <a16:creationId xmlns:a16="http://schemas.microsoft.com/office/drawing/2014/main" id="{22AB0ABB-B1CC-9D27-8622-939FCAB959A2}"/>
              </a:ext>
            </a:extLst>
          </p:cNvPr>
          <p:cNvCxnSpPr>
            <a:cxnSpLocks/>
            <a:stCxn id="67" idx="3"/>
            <a:endCxn id="63" idx="1"/>
          </p:cNvCxnSpPr>
          <p:nvPr/>
        </p:nvCxnSpPr>
        <p:spPr>
          <a:xfrm>
            <a:off x="5837674" y="4979451"/>
            <a:ext cx="1931305" cy="2872"/>
          </a:xfrm>
          <a:prstGeom prst="bentConnector3">
            <a:avLst/>
          </a:prstGeom>
        </p:spPr>
        <p:style>
          <a:lnRef idx="2">
            <a:schemeClr val="accent1"/>
          </a:lnRef>
          <a:fillRef idx="0">
            <a:schemeClr val="accent1"/>
          </a:fillRef>
          <a:effectRef idx="1">
            <a:schemeClr val="accent1"/>
          </a:effectRef>
          <a:fontRef idx="minor">
            <a:schemeClr val="tx1"/>
          </a:fontRef>
        </p:style>
      </p:cxnSp>
      <p:grpSp>
        <p:nvGrpSpPr>
          <p:cNvPr id="6" name="Group 5">
            <a:extLst>
              <a:ext uri="{FF2B5EF4-FFF2-40B4-BE49-F238E27FC236}">
                <a16:creationId xmlns:a16="http://schemas.microsoft.com/office/drawing/2014/main" id="{9E852EDC-CF5D-E813-AB4C-75E5EB204675}"/>
              </a:ext>
            </a:extLst>
          </p:cNvPr>
          <p:cNvGrpSpPr/>
          <p:nvPr/>
        </p:nvGrpSpPr>
        <p:grpSpPr>
          <a:xfrm>
            <a:off x="4691267" y="3480453"/>
            <a:ext cx="1327468" cy="3052855"/>
            <a:chOff x="2665051" y="1433303"/>
            <a:chExt cx="1684213" cy="3579317"/>
          </a:xfrm>
        </p:grpSpPr>
        <p:pic>
          <p:nvPicPr>
            <p:cNvPr id="7" name="Picture 6">
              <a:extLst>
                <a:ext uri="{FF2B5EF4-FFF2-40B4-BE49-F238E27FC236}">
                  <a16:creationId xmlns:a16="http://schemas.microsoft.com/office/drawing/2014/main" id="{6ED24BBF-24FD-A199-F0CC-F7995D64A661}"/>
                </a:ext>
              </a:extLst>
            </p:cNvPr>
            <p:cNvPicPr>
              <a:picLocks noChangeAspect="1"/>
            </p:cNvPicPr>
            <p:nvPr/>
          </p:nvPicPr>
          <p:blipFill>
            <a:blip r:embed="rId7"/>
            <a:srcRect l="-1" r="431"/>
            <a:stretch/>
          </p:blipFill>
          <p:spPr>
            <a:xfrm rot="16200000">
              <a:off x="1718951" y="2382306"/>
              <a:ext cx="3576414" cy="1684213"/>
            </a:xfrm>
            <a:prstGeom prst="rect">
              <a:avLst/>
            </a:prstGeom>
            <a:ln w="28575">
              <a:solidFill>
                <a:schemeClr val="accent1">
                  <a:lumMod val="75000"/>
                </a:schemeClr>
              </a:solidFill>
            </a:ln>
          </p:spPr>
        </p:pic>
        <p:sp>
          <p:nvSpPr>
            <p:cNvPr id="8" name="TextBox 7">
              <a:extLst>
                <a:ext uri="{FF2B5EF4-FFF2-40B4-BE49-F238E27FC236}">
                  <a16:creationId xmlns:a16="http://schemas.microsoft.com/office/drawing/2014/main" id="{380C7826-9AA5-DFA3-2443-7F4C3127ADCB}"/>
                </a:ext>
              </a:extLst>
            </p:cNvPr>
            <p:cNvSpPr txBox="1"/>
            <p:nvPr/>
          </p:nvSpPr>
          <p:spPr>
            <a:xfrm>
              <a:off x="2677033" y="1433303"/>
              <a:ext cx="582072" cy="360853"/>
            </a:xfrm>
            <a:prstGeom prst="rect">
              <a:avLst/>
            </a:prstGeom>
            <a:noFill/>
            <a:ln w="9525">
              <a:solidFill>
                <a:schemeClr val="accent1">
                  <a:lumMod val="75000"/>
                </a:schemeClr>
              </a:solidFill>
            </a:ln>
          </p:spPr>
          <p:txBody>
            <a:bodyPr wrap="none" rtlCol="0" anchor="ctr">
              <a:spAutoFit/>
            </a:bodyPr>
            <a:lstStyle/>
            <a:p>
              <a:pPr algn="ctr"/>
              <a:r>
                <a:rPr lang="en-US" sz="1400">
                  <a:hlinkClick r:id="rId8" action="ppaction://hlinksldjump"/>
                </a:rPr>
                <a:t>175</a:t>
              </a:r>
              <a:endParaRPr lang="en-US" sz="1400"/>
            </a:p>
          </p:txBody>
        </p:sp>
      </p:grpSp>
      <p:pic>
        <p:nvPicPr>
          <p:cNvPr id="89" name="Picture 88" descr="Diagram&#10;&#10;Description automatically generated with low confidence">
            <a:extLst>
              <a:ext uri="{FF2B5EF4-FFF2-40B4-BE49-F238E27FC236}">
                <a16:creationId xmlns:a16="http://schemas.microsoft.com/office/drawing/2014/main" id="{8CC4222E-DE54-8764-8CDA-23CF60085995}"/>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50000" t="19257" r="4045" b="-1180"/>
          <a:stretch/>
        </p:blipFill>
        <p:spPr>
          <a:xfrm>
            <a:off x="7393322" y="5326185"/>
            <a:ext cx="523477" cy="364870"/>
          </a:xfrm>
          <a:prstGeom prst="rect">
            <a:avLst/>
          </a:prstGeom>
        </p:spPr>
      </p:pic>
      <p:pic>
        <p:nvPicPr>
          <p:cNvPr id="66" name="Picture 65">
            <a:extLst>
              <a:ext uri="{FF2B5EF4-FFF2-40B4-BE49-F238E27FC236}">
                <a16:creationId xmlns:a16="http://schemas.microsoft.com/office/drawing/2014/main" id="{A82A9065-2580-424E-073F-3BE60CA25514}"/>
              </a:ext>
            </a:extLst>
          </p:cNvPr>
          <p:cNvPicPr>
            <a:picLocks noChangeAspect="1"/>
          </p:cNvPicPr>
          <p:nvPr/>
        </p:nvPicPr>
        <p:blipFill rotWithShape="1">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rcRect l="65790" t="23028" r="7330" b="48750"/>
          <a:stretch/>
        </p:blipFill>
        <p:spPr>
          <a:xfrm>
            <a:off x="4120480" y="5230865"/>
            <a:ext cx="559863" cy="434580"/>
          </a:xfrm>
          <a:prstGeom prst="rect">
            <a:avLst/>
          </a:prstGeom>
        </p:spPr>
      </p:pic>
      <p:pic>
        <p:nvPicPr>
          <p:cNvPr id="42" name="Picture 41">
            <a:extLst>
              <a:ext uri="{FF2B5EF4-FFF2-40B4-BE49-F238E27FC236}">
                <a16:creationId xmlns:a16="http://schemas.microsoft.com/office/drawing/2014/main" id="{94C24FCB-1BDF-B0E9-707A-7CDF5234DB28}"/>
              </a:ext>
            </a:extLst>
          </p:cNvPr>
          <p:cNvPicPr>
            <a:picLocks noChangeAspect="1"/>
          </p:cNvPicPr>
          <p:nvPr/>
        </p:nvPicPr>
        <p:blipFill rotWithShape="1">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rcRect l="65790" t="23028" r="7330" b="48750"/>
          <a:stretch/>
        </p:blipFill>
        <p:spPr>
          <a:xfrm>
            <a:off x="4115040" y="3927629"/>
            <a:ext cx="559863" cy="434580"/>
          </a:xfrm>
          <a:prstGeom prst="rect">
            <a:avLst/>
          </a:prstGeom>
        </p:spPr>
      </p:pic>
      <p:pic>
        <p:nvPicPr>
          <p:cNvPr id="100" name="Picture 99" descr="Diagram&#10;&#10;Description automatically generated with low confidence">
            <a:extLst>
              <a:ext uri="{FF2B5EF4-FFF2-40B4-BE49-F238E27FC236}">
                <a16:creationId xmlns:a16="http://schemas.microsoft.com/office/drawing/2014/main" id="{97F234B8-AFB7-AE64-877A-E2EE599F07D1}"/>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50000" t="19257" r="4045" b="-1180"/>
          <a:stretch/>
        </p:blipFill>
        <p:spPr>
          <a:xfrm>
            <a:off x="3324468" y="4961315"/>
            <a:ext cx="523477" cy="364870"/>
          </a:xfrm>
          <a:prstGeom prst="rect">
            <a:avLst/>
          </a:prstGeom>
        </p:spPr>
      </p:pic>
      <p:cxnSp>
        <p:nvCxnSpPr>
          <p:cNvPr id="59" name="Connector: Elbow 58">
            <a:extLst>
              <a:ext uri="{FF2B5EF4-FFF2-40B4-BE49-F238E27FC236}">
                <a16:creationId xmlns:a16="http://schemas.microsoft.com/office/drawing/2014/main" id="{3CBED98C-FDA0-A49B-2A64-927AF3141091}"/>
              </a:ext>
            </a:extLst>
          </p:cNvPr>
          <p:cNvCxnSpPr>
            <a:cxnSpLocks/>
            <a:stCxn id="47" idx="3"/>
            <a:endCxn id="74" idx="1"/>
          </p:cNvCxnSpPr>
          <p:nvPr/>
        </p:nvCxnSpPr>
        <p:spPr>
          <a:xfrm>
            <a:off x="5852584" y="3670747"/>
            <a:ext cx="731305" cy="338668"/>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81" name="Connector: Elbow 80">
            <a:extLst>
              <a:ext uri="{FF2B5EF4-FFF2-40B4-BE49-F238E27FC236}">
                <a16:creationId xmlns:a16="http://schemas.microsoft.com/office/drawing/2014/main" id="{F13F7959-D004-6DA0-3765-60043D9C50D6}"/>
              </a:ext>
            </a:extLst>
          </p:cNvPr>
          <p:cNvCxnSpPr>
            <a:cxnSpLocks/>
            <a:stCxn id="79" idx="3"/>
            <a:endCxn id="73" idx="1"/>
          </p:cNvCxnSpPr>
          <p:nvPr/>
        </p:nvCxnSpPr>
        <p:spPr>
          <a:xfrm flipV="1">
            <a:off x="5837674" y="4226067"/>
            <a:ext cx="746215" cy="892707"/>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3D6B5CAB-D9CD-3B58-CAAB-485D8B95E2B0}"/>
              </a:ext>
            </a:extLst>
          </p:cNvPr>
          <p:cNvSpPr txBox="1"/>
          <p:nvPr/>
        </p:nvSpPr>
        <p:spPr>
          <a:xfrm>
            <a:off x="3201025" y="4866264"/>
            <a:ext cx="235962" cy="215444"/>
          </a:xfrm>
          <a:prstGeom prst="rect">
            <a:avLst/>
          </a:prstGeom>
          <a:noFill/>
        </p:spPr>
        <p:txBody>
          <a:bodyPr wrap="none" rtlCol="0">
            <a:spAutoFit/>
          </a:bodyPr>
          <a:lstStyle/>
          <a:p>
            <a:r>
              <a:rPr lang="en-US" sz="800"/>
              <a:t>4</a:t>
            </a:r>
          </a:p>
        </p:txBody>
      </p:sp>
      <p:sp>
        <p:nvSpPr>
          <p:cNvPr id="14" name="TextBox 13">
            <a:extLst>
              <a:ext uri="{FF2B5EF4-FFF2-40B4-BE49-F238E27FC236}">
                <a16:creationId xmlns:a16="http://schemas.microsoft.com/office/drawing/2014/main" id="{E4373F73-F428-BD28-6D19-FA6436259594}"/>
              </a:ext>
            </a:extLst>
          </p:cNvPr>
          <p:cNvSpPr txBox="1"/>
          <p:nvPr/>
        </p:nvSpPr>
        <p:spPr>
          <a:xfrm>
            <a:off x="3212146" y="5063173"/>
            <a:ext cx="235962" cy="215444"/>
          </a:xfrm>
          <a:prstGeom prst="rect">
            <a:avLst/>
          </a:prstGeom>
          <a:noFill/>
        </p:spPr>
        <p:txBody>
          <a:bodyPr wrap="none" rtlCol="0">
            <a:spAutoFit/>
          </a:bodyPr>
          <a:lstStyle/>
          <a:p>
            <a:r>
              <a:rPr lang="en-US" sz="800"/>
              <a:t>5</a:t>
            </a:r>
          </a:p>
        </p:txBody>
      </p:sp>
      <p:sp>
        <p:nvSpPr>
          <p:cNvPr id="15" name="TextBox 14">
            <a:extLst>
              <a:ext uri="{FF2B5EF4-FFF2-40B4-BE49-F238E27FC236}">
                <a16:creationId xmlns:a16="http://schemas.microsoft.com/office/drawing/2014/main" id="{0DC00816-191E-7D15-77FC-3631EF499DDC}"/>
              </a:ext>
            </a:extLst>
          </p:cNvPr>
          <p:cNvSpPr txBox="1"/>
          <p:nvPr/>
        </p:nvSpPr>
        <p:spPr>
          <a:xfrm>
            <a:off x="3711220" y="4968497"/>
            <a:ext cx="235962" cy="215444"/>
          </a:xfrm>
          <a:prstGeom prst="rect">
            <a:avLst/>
          </a:prstGeom>
          <a:noFill/>
        </p:spPr>
        <p:txBody>
          <a:bodyPr wrap="none" rtlCol="0">
            <a:spAutoFit/>
          </a:bodyPr>
          <a:lstStyle/>
          <a:p>
            <a:r>
              <a:rPr lang="en-US" sz="800"/>
              <a:t>6</a:t>
            </a:r>
          </a:p>
        </p:txBody>
      </p:sp>
      <p:sp>
        <p:nvSpPr>
          <p:cNvPr id="16" name="TextBox 15">
            <a:extLst>
              <a:ext uri="{FF2B5EF4-FFF2-40B4-BE49-F238E27FC236}">
                <a16:creationId xmlns:a16="http://schemas.microsoft.com/office/drawing/2014/main" id="{3ABA1407-C5D5-429A-394F-4FA47DA448D3}"/>
              </a:ext>
            </a:extLst>
          </p:cNvPr>
          <p:cNvSpPr txBox="1"/>
          <p:nvPr/>
        </p:nvSpPr>
        <p:spPr>
          <a:xfrm>
            <a:off x="4011967" y="3848583"/>
            <a:ext cx="235962" cy="215444"/>
          </a:xfrm>
          <a:prstGeom prst="rect">
            <a:avLst/>
          </a:prstGeom>
          <a:noFill/>
        </p:spPr>
        <p:txBody>
          <a:bodyPr wrap="none" rtlCol="0">
            <a:spAutoFit/>
          </a:bodyPr>
          <a:lstStyle/>
          <a:p>
            <a:r>
              <a:rPr lang="en-US" sz="800"/>
              <a:t>1</a:t>
            </a:r>
          </a:p>
        </p:txBody>
      </p:sp>
      <p:sp>
        <p:nvSpPr>
          <p:cNvPr id="17" name="TextBox 16">
            <a:extLst>
              <a:ext uri="{FF2B5EF4-FFF2-40B4-BE49-F238E27FC236}">
                <a16:creationId xmlns:a16="http://schemas.microsoft.com/office/drawing/2014/main" id="{4E9AF1AC-429D-E7C8-52F5-C2F8A2CD87FE}"/>
              </a:ext>
            </a:extLst>
          </p:cNvPr>
          <p:cNvSpPr txBox="1"/>
          <p:nvPr/>
        </p:nvSpPr>
        <p:spPr>
          <a:xfrm>
            <a:off x="4018630" y="4044443"/>
            <a:ext cx="235962" cy="215444"/>
          </a:xfrm>
          <a:prstGeom prst="rect">
            <a:avLst/>
          </a:prstGeom>
          <a:noFill/>
        </p:spPr>
        <p:txBody>
          <a:bodyPr wrap="none" rtlCol="0">
            <a:spAutoFit/>
          </a:bodyPr>
          <a:lstStyle/>
          <a:p>
            <a:r>
              <a:rPr lang="en-US" sz="800"/>
              <a:t>2</a:t>
            </a:r>
          </a:p>
        </p:txBody>
      </p:sp>
      <p:sp>
        <p:nvSpPr>
          <p:cNvPr id="20" name="TextBox 19">
            <a:extLst>
              <a:ext uri="{FF2B5EF4-FFF2-40B4-BE49-F238E27FC236}">
                <a16:creationId xmlns:a16="http://schemas.microsoft.com/office/drawing/2014/main" id="{D8EAFF01-C904-8F49-0D63-D4C9934FCD68}"/>
              </a:ext>
            </a:extLst>
          </p:cNvPr>
          <p:cNvSpPr txBox="1"/>
          <p:nvPr/>
        </p:nvSpPr>
        <p:spPr>
          <a:xfrm>
            <a:off x="4464061" y="3945141"/>
            <a:ext cx="235962" cy="215444"/>
          </a:xfrm>
          <a:prstGeom prst="rect">
            <a:avLst/>
          </a:prstGeom>
          <a:noFill/>
        </p:spPr>
        <p:txBody>
          <a:bodyPr wrap="none" rtlCol="0">
            <a:spAutoFit/>
          </a:bodyPr>
          <a:lstStyle/>
          <a:p>
            <a:r>
              <a:rPr lang="en-US" sz="800"/>
              <a:t>3</a:t>
            </a:r>
          </a:p>
        </p:txBody>
      </p:sp>
      <p:sp>
        <p:nvSpPr>
          <p:cNvPr id="21" name="TextBox 20">
            <a:extLst>
              <a:ext uri="{FF2B5EF4-FFF2-40B4-BE49-F238E27FC236}">
                <a16:creationId xmlns:a16="http://schemas.microsoft.com/office/drawing/2014/main" id="{0BE1C985-080C-011B-B553-EC80914AA3FE}"/>
              </a:ext>
            </a:extLst>
          </p:cNvPr>
          <p:cNvSpPr txBox="1"/>
          <p:nvPr/>
        </p:nvSpPr>
        <p:spPr>
          <a:xfrm>
            <a:off x="4011967" y="5194728"/>
            <a:ext cx="235962" cy="215444"/>
          </a:xfrm>
          <a:prstGeom prst="rect">
            <a:avLst/>
          </a:prstGeom>
          <a:noFill/>
        </p:spPr>
        <p:txBody>
          <a:bodyPr wrap="none" rtlCol="0">
            <a:spAutoFit/>
          </a:bodyPr>
          <a:lstStyle/>
          <a:p>
            <a:r>
              <a:rPr lang="en-US" sz="800"/>
              <a:t>5</a:t>
            </a:r>
          </a:p>
        </p:txBody>
      </p:sp>
      <p:sp>
        <p:nvSpPr>
          <p:cNvPr id="22" name="TextBox 21">
            <a:extLst>
              <a:ext uri="{FF2B5EF4-FFF2-40B4-BE49-F238E27FC236}">
                <a16:creationId xmlns:a16="http://schemas.microsoft.com/office/drawing/2014/main" id="{A1611560-068D-C089-7780-AA2E88561923}"/>
              </a:ext>
            </a:extLst>
          </p:cNvPr>
          <p:cNvSpPr txBox="1"/>
          <p:nvPr/>
        </p:nvSpPr>
        <p:spPr>
          <a:xfrm>
            <a:off x="4006632" y="5348740"/>
            <a:ext cx="235962" cy="215444"/>
          </a:xfrm>
          <a:prstGeom prst="rect">
            <a:avLst/>
          </a:prstGeom>
          <a:noFill/>
        </p:spPr>
        <p:txBody>
          <a:bodyPr wrap="none" rtlCol="0">
            <a:spAutoFit/>
          </a:bodyPr>
          <a:lstStyle/>
          <a:p>
            <a:r>
              <a:rPr lang="en-US" sz="800"/>
              <a:t>4</a:t>
            </a:r>
          </a:p>
        </p:txBody>
      </p:sp>
      <p:sp>
        <p:nvSpPr>
          <p:cNvPr id="23" name="TextBox 22">
            <a:extLst>
              <a:ext uri="{FF2B5EF4-FFF2-40B4-BE49-F238E27FC236}">
                <a16:creationId xmlns:a16="http://schemas.microsoft.com/office/drawing/2014/main" id="{EB68170A-172F-78AE-374F-713AE0564104}"/>
              </a:ext>
            </a:extLst>
          </p:cNvPr>
          <p:cNvSpPr txBox="1"/>
          <p:nvPr/>
        </p:nvSpPr>
        <p:spPr>
          <a:xfrm>
            <a:off x="4474176" y="5259087"/>
            <a:ext cx="235962" cy="215444"/>
          </a:xfrm>
          <a:prstGeom prst="rect">
            <a:avLst/>
          </a:prstGeom>
          <a:noFill/>
        </p:spPr>
        <p:txBody>
          <a:bodyPr wrap="none" rtlCol="0">
            <a:spAutoFit/>
          </a:bodyPr>
          <a:lstStyle/>
          <a:p>
            <a:r>
              <a:rPr lang="en-US" sz="800"/>
              <a:t>6</a:t>
            </a:r>
          </a:p>
        </p:txBody>
      </p:sp>
      <p:sp>
        <p:nvSpPr>
          <p:cNvPr id="28" name="TextBox 27">
            <a:extLst>
              <a:ext uri="{FF2B5EF4-FFF2-40B4-BE49-F238E27FC236}">
                <a16:creationId xmlns:a16="http://schemas.microsoft.com/office/drawing/2014/main" id="{CE1A82F9-6889-4A1E-8EF1-E29BE4C4A183}"/>
              </a:ext>
            </a:extLst>
          </p:cNvPr>
          <p:cNvSpPr txBox="1"/>
          <p:nvPr/>
        </p:nvSpPr>
        <p:spPr>
          <a:xfrm>
            <a:off x="6432207" y="3840513"/>
            <a:ext cx="235962" cy="215444"/>
          </a:xfrm>
          <a:prstGeom prst="rect">
            <a:avLst/>
          </a:prstGeom>
          <a:noFill/>
        </p:spPr>
        <p:txBody>
          <a:bodyPr wrap="none" rtlCol="0">
            <a:spAutoFit/>
          </a:bodyPr>
          <a:lstStyle/>
          <a:p>
            <a:r>
              <a:rPr lang="en-US" sz="800"/>
              <a:t>1</a:t>
            </a:r>
          </a:p>
        </p:txBody>
      </p:sp>
      <p:sp>
        <p:nvSpPr>
          <p:cNvPr id="29" name="TextBox 28">
            <a:extLst>
              <a:ext uri="{FF2B5EF4-FFF2-40B4-BE49-F238E27FC236}">
                <a16:creationId xmlns:a16="http://schemas.microsoft.com/office/drawing/2014/main" id="{95467415-B22A-285A-5DC9-237612821141}"/>
              </a:ext>
            </a:extLst>
          </p:cNvPr>
          <p:cNvSpPr txBox="1"/>
          <p:nvPr/>
        </p:nvSpPr>
        <p:spPr>
          <a:xfrm>
            <a:off x="6433384" y="4070067"/>
            <a:ext cx="235962" cy="215444"/>
          </a:xfrm>
          <a:prstGeom prst="rect">
            <a:avLst/>
          </a:prstGeom>
          <a:noFill/>
        </p:spPr>
        <p:txBody>
          <a:bodyPr wrap="none" rtlCol="0">
            <a:spAutoFit/>
          </a:bodyPr>
          <a:lstStyle/>
          <a:p>
            <a:r>
              <a:rPr lang="en-US" sz="800"/>
              <a:t>2</a:t>
            </a:r>
          </a:p>
        </p:txBody>
      </p:sp>
      <p:sp>
        <p:nvSpPr>
          <p:cNvPr id="30" name="TextBox 29">
            <a:extLst>
              <a:ext uri="{FF2B5EF4-FFF2-40B4-BE49-F238E27FC236}">
                <a16:creationId xmlns:a16="http://schemas.microsoft.com/office/drawing/2014/main" id="{AF769E2B-F85C-4672-650E-38FA64A42E31}"/>
              </a:ext>
            </a:extLst>
          </p:cNvPr>
          <p:cNvSpPr txBox="1"/>
          <p:nvPr/>
        </p:nvSpPr>
        <p:spPr>
          <a:xfrm>
            <a:off x="6943333" y="3948084"/>
            <a:ext cx="235962" cy="215444"/>
          </a:xfrm>
          <a:prstGeom prst="rect">
            <a:avLst/>
          </a:prstGeom>
          <a:noFill/>
        </p:spPr>
        <p:txBody>
          <a:bodyPr wrap="none" rtlCol="0">
            <a:spAutoFit/>
          </a:bodyPr>
          <a:lstStyle/>
          <a:p>
            <a:r>
              <a:rPr lang="en-US" sz="800"/>
              <a:t>3</a:t>
            </a:r>
          </a:p>
        </p:txBody>
      </p:sp>
      <p:sp>
        <p:nvSpPr>
          <p:cNvPr id="31" name="TextBox 30">
            <a:extLst>
              <a:ext uri="{FF2B5EF4-FFF2-40B4-BE49-F238E27FC236}">
                <a16:creationId xmlns:a16="http://schemas.microsoft.com/office/drawing/2014/main" id="{F4137D3A-CE01-AA18-F756-1FF0BB56D572}"/>
              </a:ext>
            </a:extLst>
          </p:cNvPr>
          <p:cNvSpPr txBox="1"/>
          <p:nvPr/>
        </p:nvSpPr>
        <p:spPr>
          <a:xfrm>
            <a:off x="7175470" y="5230865"/>
            <a:ext cx="287258" cy="215444"/>
          </a:xfrm>
          <a:prstGeom prst="rect">
            <a:avLst/>
          </a:prstGeom>
          <a:noFill/>
        </p:spPr>
        <p:txBody>
          <a:bodyPr wrap="none" rtlCol="0">
            <a:spAutoFit/>
          </a:bodyPr>
          <a:lstStyle/>
          <a:p>
            <a:r>
              <a:rPr lang="en-US" sz="800"/>
              <a:t>12</a:t>
            </a:r>
          </a:p>
        </p:txBody>
      </p:sp>
      <p:sp>
        <p:nvSpPr>
          <p:cNvPr id="33" name="TextBox 32">
            <a:extLst>
              <a:ext uri="{FF2B5EF4-FFF2-40B4-BE49-F238E27FC236}">
                <a16:creationId xmlns:a16="http://schemas.microsoft.com/office/drawing/2014/main" id="{09DCB34A-9B2B-BF03-E59D-949EEA62957A}"/>
              </a:ext>
            </a:extLst>
          </p:cNvPr>
          <p:cNvSpPr txBox="1"/>
          <p:nvPr/>
        </p:nvSpPr>
        <p:spPr>
          <a:xfrm>
            <a:off x="7179866" y="5441089"/>
            <a:ext cx="287258" cy="215444"/>
          </a:xfrm>
          <a:prstGeom prst="rect">
            <a:avLst/>
          </a:prstGeom>
          <a:noFill/>
        </p:spPr>
        <p:txBody>
          <a:bodyPr wrap="none" rtlCol="0">
            <a:spAutoFit/>
          </a:bodyPr>
          <a:lstStyle/>
          <a:p>
            <a:r>
              <a:rPr lang="en-US" sz="800"/>
              <a:t>13</a:t>
            </a:r>
          </a:p>
        </p:txBody>
      </p:sp>
      <p:sp>
        <p:nvSpPr>
          <p:cNvPr id="34" name="TextBox 33">
            <a:extLst>
              <a:ext uri="{FF2B5EF4-FFF2-40B4-BE49-F238E27FC236}">
                <a16:creationId xmlns:a16="http://schemas.microsoft.com/office/drawing/2014/main" id="{6F0057A7-FDA8-6E02-319B-7DA4A483ADDB}"/>
              </a:ext>
            </a:extLst>
          </p:cNvPr>
          <p:cNvSpPr txBox="1"/>
          <p:nvPr/>
        </p:nvSpPr>
        <p:spPr>
          <a:xfrm>
            <a:off x="7772370" y="5332465"/>
            <a:ext cx="287258" cy="215444"/>
          </a:xfrm>
          <a:prstGeom prst="rect">
            <a:avLst/>
          </a:prstGeom>
          <a:noFill/>
        </p:spPr>
        <p:txBody>
          <a:bodyPr wrap="none" rtlCol="0">
            <a:spAutoFit/>
          </a:bodyPr>
          <a:lstStyle/>
          <a:p>
            <a:r>
              <a:rPr lang="en-US" sz="800"/>
              <a:t>11</a:t>
            </a:r>
          </a:p>
        </p:txBody>
      </p:sp>
    </p:spTree>
    <p:extLst>
      <p:ext uri="{BB962C8B-B14F-4D97-AF65-F5344CB8AC3E}">
        <p14:creationId xmlns:p14="http://schemas.microsoft.com/office/powerpoint/2010/main" val="14756964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E49B924-365D-34EF-DC67-28B7269B8565}"/>
              </a:ext>
            </a:extLst>
          </p:cNvPr>
          <p:cNvSpPr/>
          <p:nvPr/>
        </p:nvSpPr>
        <p:spPr>
          <a:xfrm>
            <a:off x="1441261" y="2306362"/>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ADE7AD4-A5FB-BC7F-D6BF-164E34671D90}"/>
              </a:ext>
            </a:extLst>
          </p:cNvPr>
          <p:cNvSpPr/>
          <p:nvPr/>
        </p:nvSpPr>
        <p:spPr>
          <a:xfrm>
            <a:off x="953558" y="2306362"/>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64B70D4-3D39-ECEE-401E-F3CD2933C778}"/>
              </a:ext>
            </a:extLst>
          </p:cNvPr>
          <p:cNvSpPr/>
          <p:nvPr/>
        </p:nvSpPr>
        <p:spPr>
          <a:xfrm>
            <a:off x="1319337" y="2306362"/>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B8750E1-959F-F16C-900E-B577A36D38ED}"/>
              </a:ext>
            </a:extLst>
          </p:cNvPr>
          <p:cNvSpPr/>
          <p:nvPr/>
        </p:nvSpPr>
        <p:spPr>
          <a:xfrm>
            <a:off x="1197410" y="2306362"/>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6D03D8A-6C8B-6209-D12F-1B474227CD5E}"/>
              </a:ext>
            </a:extLst>
          </p:cNvPr>
          <p:cNvSpPr/>
          <p:nvPr/>
        </p:nvSpPr>
        <p:spPr>
          <a:xfrm>
            <a:off x="1075485" y="2306362"/>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5B0E7FF-DA88-3280-85EB-EB11FB34F71F}"/>
              </a:ext>
            </a:extLst>
          </p:cNvPr>
          <p:cNvSpPr/>
          <p:nvPr/>
        </p:nvSpPr>
        <p:spPr>
          <a:xfrm>
            <a:off x="831633" y="2306362"/>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E48DDEE3-AF3A-B1E6-23FB-B3DB8B70510A}"/>
              </a:ext>
            </a:extLst>
          </p:cNvPr>
          <p:cNvSpPr/>
          <p:nvPr/>
        </p:nvSpPr>
        <p:spPr>
          <a:xfrm>
            <a:off x="2196898" y="2671989"/>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AA97CA23-5C37-EB87-ED9C-965A628EB4AA}"/>
              </a:ext>
            </a:extLst>
          </p:cNvPr>
          <p:cNvSpPr/>
          <p:nvPr/>
        </p:nvSpPr>
        <p:spPr>
          <a:xfrm>
            <a:off x="2062758" y="2671989"/>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2" name="Group 171">
            <a:extLst>
              <a:ext uri="{FF2B5EF4-FFF2-40B4-BE49-F238E27FC236}">
                <a16:creationId xmlns:a16="http://schemas.microsoft.com/office/drawing/2014/main" id="{EA20578A-A68B-F95C-9166-6B2B0211140B}"/>
              </a:ext>
            </a:extLst>
          </p:cNvPr>
          <p:cNvGrpSpPr/>
          <p:nvPr/>
        </p:nvGrpSpPr>
        <p:grpSpPr>
          <a:xfrm>
            <a:off x="834257" y="5051633"/>
            <a:ext cx="858919" cy="108035"/>
            <a:chOff x="834255" y="5060868"/>
            <a:chExt cx="858919" cy="108035"/>
          </a:xfrm>
        </p:grpSpPr>
        <p:sp>
          <p:nvSpPr>
            <p:cNvPr id="66" name="Rectangle 65">
              <a:extLst>
                <a:ext uri="{FF2B5EF4-FFF2-40B4-BE49-F238E27FC236}">
                  <a16:creationId xmlns:a16="http://schemas.microsoft.com/office/drawing/2014/main" id="{E6491C69-7014-6BDC-463B-95B797C810AC}"/>
                </a:ext>
              </a:extLst>
            </p:cNvPr>
            <p:cNvSpPr/>
            <p:nvPr/>
          </p:nvSpPr>
          <p:spPr>
            <a:xfrm>
              <a:off x="959015" y="5060868"/>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102CD801-A2C1-6D93-114B-1F3178629FA4}"/>
                </a:ext>
              </a:extLst>
            </p:cNvPr>
            <p:cNvSpPr/>
            <p:nvPr/>
          </p:nvSpPr>
          <p:spPr>
            <a:xfrm>
              <a:off x="834255" y="5060868"/>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238A718C-A991-664B-DDBF-CBEF4627269A}"/>
                </a:ext>
              </a:extLst>
            </p:cNvPr>
            <p:cNvSpPr/>
            <p:nvPr/>
          </p:nvSpPr>
          <p:spPr>
            <a:xfrm>
              <a:off x="1333295" y="5060868"/>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AAAFFB88-555F-49EA-193C-5E1DB97FCB88}"/>
                </a:ext>
              </a:extLst>
            </p:cNvPr>
            <p:cNvSpPr/>
            <p:nvPr/>
          </p:nvSpPr>
          <p:spPr>
            <a:xfrm>
              <a:off x="1208535" y="5060868"/>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7E3071CD-DE46-8124-0EBB-6F7D0378B160}"/>
                </a:ext>
              </a:extLst>
            </p:cNvPr>
            <p:cNvSpPr/>
            <p:nvPr/>
          </p:nvSpPr>
          <p:spPr>
            <a:xfrm>
              <a:off x="1083775" y="5060868"/>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DB4EF081-26A6-A110-6D81-B420ED9B1849}"/>
                </a:ext>
              </a:extLst>
            </p:cNvPr>
            <p:cNvSpPr/>
            <p:nvPr/>
          </p:nvSpPr>
          <p:spPr>
            <a:xfrm>
              <a:off x="1458055" y="5060868"/>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C47B5177-67CE-DAC9-F7EA-EEBA582A0EDF}"/>
                </a:ext>
              </a:extLst>
            </p:cNvPr>
            <p:cNvSpPr/>
            <p:nvPr/>
          </p:nvSpPr>
          <p:spPr>
            <a:xfrm>
              <a:off x="1582816" y="5060868"/>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6" name="Group 105">
            <a:extLst>
              <a:ext uri="{FF2B5EF4-FFF2-40B4-BE49-F238E27FC236}">
                <a16:creationId xmlns:a16="http://schemas.microsoft.com/office/drawing/2014/main" id="{1E9C49BD-ECCD-113E-4B7C-EE6209D10E87}"/>
              </a:ext>
            </a:extLst>
          </p:cNvPr>
          <p:cNvGrpSpPr/>
          <p:nvPr/>
        </p:nvGrpSpPr>
        <p:grpSpPr>
          <a:xfrm>
            <a:off x="533608" y="2291520"/>
            <a:ext cx="3589075" cy="2876901"/>
            <a:chOff x="533608" y="2291520"/>
            <a:chExt cx="3589075" cy="2876901"/>
          </a:xfrm>
        </p:grpSpPr>
        <p:pic>
          <p:nvPicPr>
            <p:cNvPr id="4" name="Picture 3">
              <a:extLst>
                <a:ext uri="{FF2B5EF4-FFF2-40B4-BE49-F238E27FC236}">
                  <a16:creationId xmlns:a16="http://schemas.microsoft.com/office/drawing/2014/main" id="{969D5ECB-BE3E-FE9B-C187-12E78BFD509A}"/>
                </a:ext>
              </a:extLst>
            </p:cNvPr>
            <p:cNvPicPr>
              <a:picLocks noChangeAspect="1"/>
            </p:cNvPicPr>
            <p:nvPr/>
          </p:nvPicPr>
          <p:blipFill rotWithShape="1">
            <a:blip r:embed="rId3"/>
            <a:srcRect l="4323"/>
            <a:stretch/>
          </p:blipFill>
          <p:spPr>
            <a:xfrm rot="5400000">
              <a:off x="889695" y="1935433"/>
              <a:ext cx="2876901" cy="3589075"/>
            </a:xfrm>
            <a:prstGeom prst="rect">
              <a:avLst/>
            </a:prstGeom>
          </p:spPr>
        </p:pic>
        <p:sp>
          <p:nvSpPr>
            <p:cNvPr id="101" name="TextBox 100">
              <a:extLst>
                <a:ext uri="{FF2B5EF4-FFF2-40B4-BE49-F238E27FC236}">
                  <a16:creationId xmlns:a16="http://schemas.microsoft.com/office/drawing/2014/main" id="{EACA2A5A-6F6E-02B1-26E1-75052BBF71DB}"/>
                </a:ext>
              </a:extLst>
            </p:cNvPr>
            <p:cNvSpPr txBox="1"/>
            <p:nvPr/>
          </p:nvSpPr>
          <p:spPr>
            <a:xfrm flipH="1">
              <a:off x="748380" y="3338121"/>
              <a:ext cx="2062103" cy="894542"/>
            </a:xfrm>
            <a:prstGeom prst="rect">
              <a:avLst/>
            </a:prstGeom>
            <a:noFill/>
          </p:spPr>
          <p:txBody>
            <a:bodyPr vert="vert270" wrap="square" rtlCol="0">
              <a:spAutoFit/>
            </a:bodyPr>
            <a:lstStyle/>
            <a:p>
              <a:r>
                <a:rPr lang="en-US" sz="800" b="1" dirty="0">
                  <a:solidFill>
                    <a:srgbClr val="FFFF00"/>
                  </a:solidFill>
                </a:rPr>
                <a:t>6</a:t>
              </a:r>
            </a:p>
            <a:p>
              <a:r>
                <a:rPr lang="en-US" sz="800" b="1" dirty="0">
                  <a:solidFill>
                    <a:srgbClr val="FFFF00"/>
                  </a:solidFill>
                </a:rPr>
                <a:t>7</a:t>
              </a:r>
            </a:p>
            <a:p>
              <a:r>
                <a:rPr lang="en-US" sz="800" b="1" dirty="0">
                  <a:solidFill>
                    <a:srgbClr val="FFFF00"/>
                  </a:solidFill>
                </a:rPr>
                <a:t>8</a:t>
              </a:r>
            </a:p>
            <a:p>
              <a:r>
                <a:rPr lang="en-US" sz="800" b="1" dirty="0">
                  <a:solidFill>
                    <a:srgbClr val="FFFF00"/>
                  </a:solidFill>
                </a:rPr>
                <a:t>9 </a:t>
              </a:r>
            </a:p>
            <a:p>
              <a:r>
                <a:rPr lang="en-US" sz="800" b="1" dirty="0">
                  <a:solidFill>
                    <a:srgbClr val="FFFF00"/>
                  </a:solidFill>
                </a:rPr>
                <a:t>10</a:t>
              </a:r>
            </a:p>
            <a:p>
              <a:r>
                <a:rPr lang="en-US" sz="800" b="1" dirty="0">
                  <a:solidFill>
                    <a:srgbClr val="FFFF00"/>
                  </a:solidFill>
                </a:rPr>
                <a:t>11</a:t>
              </a:r>
            </a:p>
            <a:p>
              <a:r>
                <a:rPr lang="en-US" sz="800" b="1" dirty="0">
                  <a:solidFill>
                    <a:srgbClr val="FFFF00"/>
                  </a:solidFill>
                </a:rPr>
                <a:t>12</a:t>
              </a:r>
            </a:p>
            <a:p>
              <a:r>
                <a:rPr lang="en-US" sz="800" b="1" dirty="0">
                  <a:solidFill>
                    <a:srgbClr val="FFFF00"/>
                  </a:solidFill>
                </a:rPr>
                <a:t>13</a:t>
              </a:r>
            </a:p>
            <a:p>
              <a:r>
                <a:rPr lang="en-US" sz="800" b="1" dirty="0">
                  <a:solidFill>
                    <a:srgbClr val="FFFF00"/>
                  </a:solidFill>
                </a:rPr>
                <a:t>14</a:t>
              </a:r>
            </a:p>
            <a:p>
              <a:r>
                <a:rPr lang="en-US" sz="800" b="1" dirty="0">
                  <a:solidFill>
                    <a:srgbClr val="FFFF00"/>
                  </a:solidFill>
                </a:rPr>
                <a:t>RESET</a:t>
              </a:r>
            </a:p>
            <a:p>
              <a:r>
                <a:rPr lang="en-US" sz="800" b="1" dirty="0">
                  <a:solidFill>
                    <a:srgbClr val="FFFF00"/>
                  </a:solidFill>
                </a:rPr>
                <a:t>GND</a:t>
              </a:r>
            </a:p>
            <a:p>
              <a:r>
                <a:rPr lang="en-US" sz="800" b="1" dirty="0">
                  <a:solidFill>
                    <a:srgbClr val="FFFF00"/>
                  </a:solidFill>
                </a:rPr>
                <a:t>VCC (3.3v)</a:t>
              </a:r>
            </a:p>
            <a:p>
              <a:r>
                <a:rPr lang="en-US" sz="800" b="1" dirty="0">
                  <a:solidFill>
                    <a:srgbClr val="FFFF00"/>
                  </a:solidFill>
                </a:rPr>
                <a:t>VIN (5v)</a:t>
              </a:r>
            </a:p>
            <a:p>
              <a:r>
                <a:rPr lang="en-US" sz="800" b="1" dirty="0">
                  <a:solidFill>
                    <a:srgbClr val="FFFF00"/>
                  </a:solidFill>
                </a:rPr>
                <a:t>5V</a:t>
              </a:r>
            </a:p>
            <a:p>
              <a:endParaRPr lang="en-US" sz="1000" b="1" dirty="0">
                <a:solidFill>
                  <a:srgbClr val="FFFF00"/>
                </a:solidFill>
              </a:endParaRPr>
            </a:p>
          </p:txBody>
        </p:sp>
      </p:grpSp>
      <p:sp>
        <p:nvSpPr>
          <p:cNvPr id="55" name="Rectangle 54">
            <a:extLst>
              <a:ext uri="{FF2B5EF4-FFF2-40B4-BE49-F238E27FC236}">
                <a16:creationId xmlns:a16="http://schemas.microsoft.com/office/drawing/2014/main" id="{897F4B44-90C9-B2AE-34FF-7C56CD8C97E4}"/>
              </a:ext>
            </a:extLst>
          </p:cNvPr>
          <p:cNvSpPr/>
          <p:nvPr/>
        </p:nvSpPr>
        <p:spPr>
          <a:xfrm>
            <a:off x="5347523" y="5091891"/>
            <a:ext cx="79032" cy="914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21119687-EA6A-2DFE-12FA-1B83B6342805}"/>
              </a:ext>
            </a:extLst>
          </p:cNvPr>
          <p:cNvSpPr/>
          <p:nvPr/>
        </p:nvSpPr>
        <p:spPr>
          <a:xfrm>
            <a:off x="7451453" y="1655837"/>
            <a:ext cx="65314" cy="473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8E3F231D-D3FE-2177-D27B-E39E71E08C71}"/>
              </a:ext>
            </a:extLst>
          </p:cNvPr>
          <p:cNvGrpSpPr/>
          <p:nvPr/>
        </p:nvGrpSpPr>
        <p:grpSpPr>
          <a:xfrm>
            <a:off x="9483957" y="2227975"/>
            <a:ext cx="1066795" cy="1265200"/>
            <a:chOff x="10628111" y="1581619"/>
            <a:chExt cx="960795" cy="1123624"/>
          </a:xfrm>
        </p:grpSpPr>
        <p:pic>
          <p:nvPicPr>
            <p:cNvPr id="5" name="Picture 4">
              <a:extLst>
                <a:ext uri="{FF2B5EF4-FFF2-40B4-BE49-F238E27FC236}">
                  <a16:creationId xmlns:a16="http://schemas.microsoft.com/office/drawing/2014/main" id="{95898E57-7275-DC95-C0EB-A313AC58A4B5}"/>
                </a:ext>
              </a:extLst>
            </p:cNvPr>
            <p:cNvPicPr>
              <a:picLocks noChangeAspect="1"/>
            </p:cNvPicPr>
            <p:nvPr/>
          </p:nvPicPr>
          <p:blipFill>
            <a:blip r:embed="rId4"/>
            <a:stretch>
              <a:fillRect/>
            </a:stretch>
          </p:blipFill>
          <p:spPr>
            <a:xfrm>
              <a:off x="10628111" y="1581619"/>
              <a:ext cx="960795" cy="1104914"/>
            </a:xfrm>
            <a:prstGeom prst="rect">
              <a:avLst/>
            </a:prstGeom>
          </p:spPr>
        </p:pic>
        <p:sp>
          <p:nvSpPr>
            <p:cNvPr id="22" name="TextBox 21">
              <a:extLst>
                <a:ext uri="{FF2B5EF4-FFF2-40B4-BE49-F238E27FC236}">
                  <a16:creationId xmlns:a16="http://schemas.microsoft.com/office/drawing/2014/main" id="{D5EB8ECC-D97C-DC93-01A0-2073513786BC}"/>
                </a:ext>
              </a:extLst>
            </p:cNvPr>
            <p:cNvSpPr txBox="1"/>
            <p:nvPr/>
          </p:nvSpPr>
          <p:spPr>
            <a:xfrm rot="5400000">
              <a:off x="10594350" y="2079478"/>
              <a:ext cx="1015914" cy="235616"/>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wrap="square" lIns="0" rIns="0" rtlCol="0">
              <a:spAutoFit/>
            </a:bodyPr>
            <a:lstStyle/>
            <a:p>
              <a:r>
                <a:rPr lang="en-US" sz="1100" dirty="0"/>
                <a:t>574 </a:t>
              </a:r>
              <a:r>
                <a:rPr lang="en-US" sz="1100" dirty="0" err="1"/>
                <a:t>Addr</a:t>
              </a:r>
              <a:r>
                <a:rPr lang="en-US" sz="1100" dirty="0"/>
                <a:t> - High</a:t>
              </a:r>
            </a:p>
          </p:txBody>
        </p:sp>
      </p:grpSp>
      <p:pic>
        <p:nvPicPr>
          <p:cNvPr id="312" name="Picture 311">
            <a:hlinkClick r:id="rId5" action="ppaction://hlinksldjump"/>
            <a:extLst>
              <a:ext uri="{FF2B5EF4-FFF2-40B4-BE49-F238E27FC236}">
                <a16:creationId xmlns:a16="http://schemas.microsoft.com/office/drawing/2014/main" id="{8B184C3F-5E4D-C2CB-703B-2625BE049D99}"/>
              </a:ext>
            </a:extLst>
          </p:cNvPr>
          <p:cNvPicPr>
            <a:picLocks noChangeAspect="1"/>
          </p:cNvPicPr>
          <p:nvPr/>
        </p:nvPicPr>
        <p:blipFill>
          <a:blip r:embed="rId6"/>
          <a:stretch>
            <a:fillRect/>
          </a:stretch>
        </p:blipFill>
        <p:spPr>
          <a:xfrm>
            <a:off x="11038384" y="6427540"/>
            <a:ext cx="1076851" cy="222744"/>
          </a:xfrm>
          <a:prstGeom prst="rect">
            <a:avLst/>
          </a:prstGeom>
        </p:spPr>
      </p:pic>
      <p:grpSp>
        <p:nvGrpSpPr>
          <p:cNvPr id="161" name="Group 160">
            <a:extLst>
              <a:ext uri="{FF2B5EF4-FFF2-40B4-BE49-F238E27FC236}">
                <a16:creationId xmlns:a16="http://schemas.microsoft.com/office/drawing/2014/main" id="{EDA0157F-B320-C8AB-8FBB-49D66EB27738}"/>
              </a:ext>
            </a:extLst>
          </p:cNvPr>
          <p:cNvGrpSpPr/>
          <p:nvPr/>
        </p:nvGrpSpPr>
        <p:grpSpPr>
          <a:xfrm>
            <a:off x="7370150" y="3819097"/>
            <a:ext cx="110359" cy="595791"/>
            <a:chOff x="7129345" y="3726564"/>
            <a:chExt cx="110358" cy="595791"/>
          </a:xfrm>
        </p:grpSpPr>
        <p:sp>
          <p:nvSpPr>
            <p:cNvPr id="157" name="Rectangle 156">
              <a:extLst>
                <a:ext uri="{FF2B5EF4-FFF2-40B4-BE49-F238E27FC236}">
                  <a16:creationId xmlns:a16="http://schemas.microsoft.com/office/drawing/2014/main" id="{0D9D67BD-8A84-7A4B-C90C-78D33F215CC9}"/>
                </a:ext>
              </a:extLst>
            </p:cNvPr>
            <p:cNvSpPr/>
            <p:nvPr/>
          </p:nvSpPr>
          <p:spPr>
            <a:xfrm>
              <a:off x="7129345" y="4214320"/>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a:extLst>
                <a:ext uri="{FF2B5EF4-FFF2-40B4-BE49-F238E27FC236}">
                  <a16:creationId xmlns:a16="http://schemas.microsoft.com/office/drawing/2014/main" id="{B31D6044-D9A6-2115-0664-8D29E0850ED8}"/>
                </a:ext>
              </a:extLst>
            </p:cNvPr>
            <p:cNvSpPr/>
            <p:nvPr/>
          </p:nvSpPr>
          <p:spPr>
            <a:xfrm>
              <a:off x="7129345" y="3889149"/>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F6E8FADA-2A5C-BC96-92D8-8D51C49DC71F}"/>
                </a:ext>
              </a:extLst>
            </p:cNvPr>
            <p:cNvSpPr/>
            <p:nvPr/>
          </p:nvSpPr>
          <p:spPr>
            <a:xfrm>
              <a:off x="7129345" y="4051734"/>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0C8CE59E-464D-87FC-521C-FFAA6F714500}"/>
                </a:ext>
              </a:extLst>
            </p:cNvPr>
            <p:cNvSpPr/>
            <p:nvPr/>
          </p:nvSpPr>
          <p:spPr>
            <a:xfrm>
              <a:off x="7129345" y="3726564"/>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8" name="Rectangle 57">
            <a:extLst>
              <a:ext uri="{FF2B5EF4-FFF2-40B4-BE49-F238E27FC236}">
                <a16:creationId xmlns:a16="http://schemas.microsoft.com/office/drawing/2014/main" id="{4583C41E-59B4-C8E5-8EDD-12B525C9B012}"/>
              </a:ext>
            </a:extLst>
          </p:cNvPr>
          <p:cNvSpPr/>
          <p:nvPr/>
        </p:nvSpPr>
        <p:spPr>
          <a:xfrm>
            <a:off x="4440791" y="5457156"/>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37006D8D-6B84-2190-823F-3C776CE486CF}"/>
              </a:ext>
            </a:extLst>
          </p:cNvPr>
          <p:cNvSpPr/>
          <p:nvPr/>
        </p:nvSpPr>
        <p:spPr>
          <a:xfrm>
            <a:off x="4440791" y="5641293"/>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DDB288A1-DC24-231A-DA1D-F2E0C00B6E23}"/>
              </a:ext>
            </a:extLst>
          </p:cNvPr>
          <p:cNvSpPr/>
          <p:nvPr/>
        </p:nvSpPr>
        <p:spPr>
          <a:xfrm>
            <a:off x="4440791" y="5825432"/>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1898602F-FEFA-0E83-A82F-D23EB266D065}"/>
              </a:ext>
            </a:extLst>
          </p:cNvPr>
          <p:cNvSpPr/>
          <p:nvPr/>
        </p:nvSpPr>
        <p:spPr>
          <a:xfrm>
            <a:off x="4440791" y="6009569"/>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0863883C-480E-54E0-4B5F-20F03705BC9F}"/>
              </a:ext>
            </a:extLst>
          </p:cNvPr>
          <p:cNvSpPr/>
          <p:nvPr/>
        </p:nvSpPr>
        <p:spPr>
          <a:xfrm>
            <a:off x="4440791" y="6193708"/>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E9B38431-5F95-7016-F900-C914DFE8F259}"/>
              </a:ext>
            </a:extLst>
          </p:cNvPr>
          <p:cNvSpPr/>
          <p:nvPr/>
        </p:nvSpPr>
        <p:spPr>
          <a:xfrm>
            <a:off x="4440791" y="6377844"/>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A8681ACF-77C7-C62D-4491-289FAEC42779}"/>
              </a:ext>
            </a:extLst>
          </p:cNvPr>
          <p:cNvSpPr/>
          <p:nvPr/>
        </p:nvSpPr>
        <p:spPr>
          <a:xfrm>
            <a:off x="4440791" y="5273017"/>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1D4D6AE8-0EBE-1A43-47A5-55309001C703}"/>
              </a:ext>
            </a:extLst>
          </p:cNvPr>
          <p:cNvSpPr/>
          <p:nvPr/>
        </p:nvSpPr>
        <p:spPr>
          <a:xfrm>
            <a:off x="4440791" y="5088880"/>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3421775C-C485-8B89-AE8A-3D4F9F8F831C}"/>
              </a:ext>
            </a:extLst>
          </p:cNvPr>
          <p:cNvSpPr/>
          <p:nvPr/>
        </p:nvSpPr>
        <p:spPr>
          <a:xfrm>
            <a:off x="5263576" y="5451899"/>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B6F30D4B-AA01-EDCD-D597-81B030EF04F0}"/>
              </a:ext>
            </a:extLst>
          </p:cNvPr>
          <p:cNvSpPr/>
          <p:nvPr/>
        </p:nvSpPr>
        <p:spPr>
          <a:xfrm>
            <a:off x="5263576" y="5636037"/>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E23C5547-600E-2662-E494-D811F86754BD}"/>
              </a:ext>
            </a:extLst>
          </p:cNvPr>
          <p:cNvSpPr/>
          <p:nvPr/>
        </p:nvSpPr>
        <p:spPr>
          <a:xfrm>
            <a:off x="5263576" y="5820175"/>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1CA2D6DE-9D3D-DBE1-EE66-23A1AB91CD1D}"/>
              </a:ext>
            </a:extLst>
          </p:cNvPr>
          <p:cNvSpPr/>
          <p:nvPr/>
        </p:nvSpPr>
        <p:spPr>
          <a:xfrm>
            <a:off x="5263576" y="6004313"/>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C9DC3A2A-19E2-6F2A-8C23-50271ED08866}"/>
              </a:ext>
            </a:extLst>
          </p:cNvPr>
          <p:cNvSpPr/>
          <p:nvPr/>
        </p:nvSpPr>
        <p:spPr>
          <a:xfrm>
            <a:off x="5263576" y="6188451"/>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7BF3609C-A30A-8D60-7047-4050DB7D3C63}"/>
              </a:ext>
            </a:extLst>
          </p:cNvPr>
          <p:cNvSpPr/>
          <p:nvPr/>
        </p:nvSpPr>
        <p:spPr>
          <a:xfrm>
            <a:off x="5263576" y="6372587"/>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124">
            <a:extLst>
              <a:ext uri="{FF2B5EF4-FFF2-40B4-BE49-F238E27FC236}">
                <a16:creationId xmlns:a16="http://schemas.microsoft.com/office/drawing/2014/main" id="{F0B1D2F4-F092-1CFB-42D0-B2BCA50354A2}"/>
              </a:ext>
            </a:extLst>
          </p:cNvPr>
          <p:cNvSpPr/>
          <p:nvPr/>
        </p:nvSpPr>
        <p:spPr>
          <a:xfrm>
            <a:off x="5263576" y="5267761"/>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48708FC7-0909-E0AB-8E5A-B9E8A733DA62}"/>
              </a:ext>
            </a:extLst>
          </p:cNvPr>
          <p:cNvSpPr/>
          <p:nvPr/>
        </p:nvSpPr>
        <p:spPr>
          <a:xfrm>
            <a:off x="5263576" y="5083623"/>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FAF6BF-9D91-096D-EBAD-5BEE3E4AF905}"/>
              </a:ext>
            </a:extLst>
          </p:cNvPr>
          <p:cNvSpPr>
            <a:spLocks noGrp="1"/>
          </p:cNvSpPr>
          <p:nvPr>
            <p:ph type="ctrTitle"/>
          </p:nvPr>
        </p:nvSpPr>
        <p:spPr>
          <a:xfrm>
            <a:off x="4440791" y="135085"/>
            <a:ext cx="3840480" cy="446307"/>
          </a:xfrm>
          <a:prstGeom prst="rect">
            <a:avLst/>
          </a:prstGeom>
          <a:solidFill>
            <a:schemeClr val="accent6">
              <a:lumMod val="20000"/>
              <a:lumOff val="80000"/>
            </a:schemeClr>
          </a:solidFill>
        </p:spPr>
        <p:txBody>
          <a:bodyPr/>
          <a:lstStyle/>
          <a:p>
            <a:r>
              <a:rPr lang="en-US" sz="2400"/>
              <a:t>SD Card – Page Load / Store</a:t>
            </a:r>
            <a:endParaRPr lang="en-US"/>
          </a:p>
        </p:txBody>
      </p:sp>
      <p:sp>
        <p:nvSpPr>
          <p:cNvPr id="8" name="TextBox 7">
            <a:extLst>
              <a:ext uri="{FF2B5EF4-FFF2-40B4-BE49-F238E27FC236}">
                <a16:creationId xmlns:a16="http://schemas.microsoft.com/office/drawing/2014/main" id="{10F7EA9B-0D1C-263A-8A31-1D4A17BBC904}"/>
              </a:ext>
            </a:extLst>
          </p:cNvPr>
          <p:cNvSpPr txBox="1"/>
          <p:nvPr/>
        </p:nvSpPr>
        <p:spPr>
          <a:xfrm>
            <a:off x="4533707" y="3877062"/>
            <a:ext cx="811441" cy="507831"/>
          </a:xfrm>
          <a:prstGeom prst="rect">
            <a:avLst/>
          </a:prstGeom>
          <a:noFill/>
        </p:spPr>
        <p:txBody>
          <a:bodyPr wrap="none" rtlCol="0">
            <a:spAutoFit/>
          </a:bodyPr>
          <a:lstStyle/>
          <a:p>
            <a:r>
              <a:rPr lang="en-US" sz="900"/>
              <a:t>3.3v – 5v</a:t>
            </a:r>
          </a:p>
          <a:p>
            <a:r>
              <a:rPr lang="en-US" sz="900"/>
              <a:t>bi-directional</a:t>
            </a:r>
          </a:p>
          <a:p>
            <a:r>
              <a:rPr lang="en-US" sz="900"/>
              <a:t>level shifters</a:t>
            </a:r>
          </a:p>
        </p:txBody>
      </p:sp>
      <p:sp>
        <p:nvSpPr>
          <p:cNvPr id="77" name="TextBox 76">
            <a:extLst>
              <a:ext uri="{FF2B5EF4-FFF2-40B4-BE49-F238E27FC236}">
                <a16:creationId xmlns:a16="http://schemas.microsoft.com/office/drawing/2014/main" id="{A9480FAE-DE4B-F5A8-DB22-A872982548AF}"/>
              </a:ext>
            </a:extLst>
          </p:cNvPr>
          <p:cNvSpPr txBox="1"/>
          <p:nvPr/>
        </p:nvSpPr>
        <p:spPr>
          <a:xfrm>
            <a:off x="2155132" y="730691"/>
            <a:ext cx="1043812" cy="276999"/>
          </a:xfrm>
          <a:prstGeom prst="rect">
            <a:avLst/>
          </a:prstGeom>
          <a:noFill/>
        </p:spPr>
        <p:txBody>
          <a:bodyPr wrap="none" rtlCol="0">
            <a:spAutoFit/>
          </a:bodyPr>
          <a:lstStyle/>
          <a:p>
            <a:r>
              <a:rPr lang="en-US" sz="1200"/>
              <a:t>8-bit data bus</a:t>
            </a:r>
          </a:p>
        </p:txBody>
      </p:sp>
      <p:sp>
        <p:nvSpPr>
          <p:cNvPr id="88" name="Arrow: Right 87">
            <a:extLst>
              <a:ext uri="{FF2B5EF4-FFF2-40B4-BE49-F238E27FC236}">
                <a16:creationId xmlns:a16="http://schemas.microsoft.com/office/drawing/2014/main" id="{2782FE5F-8D63-D4BC-3377-B9D9D703A98A}"/>
              </a:ext>
            </a:extLst>
          </p:cNvPr>
          <p:cNvSpPr/>
          <p:nvPr/>
        </p:nvSpPr>
        <p:spPr>
          <a:xfrm>
            <a:off x="10491957" y="2670481"/>
            <a:ext cx="990600" cy="446307"/>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900" err="1"/>
              <a:t>Addr</a:t>
            </a:r>
            <a:r>
              <a:rPr lang="en-US" sz="900"/>
              <a:t> 15:8</a:t>
            </a:r>
          </a:p>
        </p:txBody>
      </p:sp>
      <p:sp>
        <p:nvSpPr>
          <p:cNvPr id="92" name="Rectangle 91">
            <a:extLst>
              <a:ext uri="{FF2B5EF4-FFF2-40B4-BE49-F238E27FC236}">
                <a16:creationId xmlns:a16="http://schemas.microsoft.com/office/drawing/2014/main" id="{004F959C-2365-E619-88AB-54E842D882F4}"/>
              </a:ext>
            </a:extLst>
          </p:cNvPr>
          <p:cNvSpPr/>
          <p:nvPr/>
        </p:nvSpPr>
        <p:spPr>
          <a:xfrm>
            <a:off x="9397414" y="5229100"/>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7DADF934-0B1C-5A19-FD57-93745EF7D9B0}"/>
              </a:ext>
            </a:extLst>
          </p:cNvPr>
          <p:cNvSpPr/>
          <p:nvPr/>
        </p:nvSpPr>
        <p:spPr>
          <a:xfrm>
            <a:off x="9397414" y="5351113"/>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D3C91FD0-1B51-D7D2-3F93-E5BFAFEF44DB}"/>
              </a:ext>
            </a:extLst>
          </p:cNvPr>
          <p:cNvSpPr/>
          <p:nvPr/>
        </p:nvSpPr>
        <p:spPr>
          <a:xfrm>
            <a:off x="9397414" y="3957223"/>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91029385-CEA2-AA9D-F14F-77605A6EE291}"/>
              </a:ext>
            </a:extLst>
          </p:cNvPr>
          <p:cNvSpPr/>
          <p:nvPr/>
        </p:nvSpPr>
        <p:spPr>
          <a:xfrm>
            <a:off x="9397414" y="4079236"/>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34AE8490-FCC2-5C76-90BA-C68F80EE443F}"/>
              </a:ext>
            </a:extLst>
          </p:cNvPr>
          <p:cNvSpPr/>
          <p:nvPr/>
        </p:nvSpPr>
        <p:spPr>
          <a:xfrm>
            <a:off x="10328046" y="4626777"/>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6F9AB5F0-CA09-A302-324E-22F288A764E9}"/>
              </a:ext>
            </a:extLst>
          </p:cNvPr>
          <p:cNvSpPr/>
          <p:nvPr/>
        </p:nvSpPr>
        <p:spPr>
          <a:xfrm>
            <a:off x="10328046" y="5337135"/>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TextBox 133">
            <a:extLst>
              <a:ext uri="{FF2B5EF4-FFF2-40B4-BE49-F238E27FC236}">
                <a16:creationId xmlns:a16="http://schemas.microsoft.com/office/drawing/2014/main" id="{65CF8140-3D44-430C-EA7E-E3402326A5F2}"/>
              </a:ext>
            </a:extLst>
          </p:cNvPr>
          <p:cNvSpPr txBox="1"/>
          <p:nvPr/>
        </p:nvSpPr>
        <p:spPr>
          <a:xfrm>
            <a:off x="2481920" y="6063080"/>
            <a:ext cx="732893" cy="230832"/>
          </a:xfrm>
          <a:prstGeom prst="rect">
            <a:avLst/>
          </a:prstGeom>
          <a:noFill/>
        </p:spPr>
        <p:txBody>
          <a:bodyPr wrap="none" rtlCol="0">
            <a:spAutoFit/>
          </a:bodyPr>
          <a:lstStyle/>
          <a:p>
            <a:r>
              <a:rPr lang="en-US" sz="900"/>
              <a:t>9 - CNT/CLK</a:t>
            </a:r>
          </a:p>
        </p:txBody>
      </p:sp>
      <p:sp>
        <p:nvSpPr>
          <p:cNvPr id="135" name="TextBox 134">
            <a:extLst>
              <a:ext uri="{FF2B5EF4-FFF2-40B4-BE49-F238E27FC236}">
                <a16:creationId xmlns:a16="http://schemas.microsoft.com/office/drawing/2014/main" id="{A2B94239-3DBB-2E5F-03A7-0BEDA70E63BB}"/>
              </a:ext>
            </a:extLst>
          </p:cNvPr>
          <p:cNvSpPr txBox="1"/>
          <p:nvPr/>
        </p:nvSpPr>
        <p:spPr>
          <a:xfrm>
            <a:off x="2481919" y="5868836"/>
            <a:ext cx="1143262" cy="230832"/>
          </a:xfrm>
          <a:prstGeom prst="rect">
            <a:avLst/>
          </a:prstGeom>
          <a:noFill/>
        </p:spPr>
        <p:txBody>
          <a:bodyPr wrap="none" rtlCol="0">
            <a:spAutoFit/>
          </a:bodyPr>
          <a:lstStyle/>
          <a:p>
            <a:r>
              <a:rPr lang="en-US" sz="900"/>
              <a:t>10 – RESET Counters</a:t>
            </a:r>
          </a:p>
        </p:txBody>
      </p:sp>
      <p:sp>
        <p:nvSpPr>
          <p:cNvPr id="38" name="Rectangle 37">
            <a:extLst>
              <a:ext uri="{FF2B5EF4-FFF2-40B4-BE49-F238E27FC236}">
                <a16:creationId xmlns:a16="http://schemas.microsoft.com/office/drawing/2014/main" id="{051DB36B-673C-AEB7-CD1B-AEF16055E0C1}"/>
              </a:ext>
            </a:extLst>
          </p:cNvPr>
          <p:cNvSpPr/>
          <p:nvPr/>
        </p:nvSpPr>
        <p:spPr>
          <a:xfrm>
            <a:off x="4467265" y="1287561"/>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A1749CC6-0175-17BF-0A3B-6148F2806FE1}"/>
              </a:ext>
            </a:extLst>
          </p:cNvPr>
          <p:cNvSpPr/>
          <p:nvPr/>
        </p:nvSpPr>
        <p:spPr>
          <a:xfrm>
            <a:off x="4467265" y="1471699"/>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7EB7A8CA-F716-F8B9-E958-74ADC64C523C}"/>
              </a:ext>
            </a:extLst>
          </p:cNvPr>
          <p:cNvSpPr/>
          <p:nvPr/>
        </p:nvSpPr>
        <p:spPr>
          <a:xfrm>
            <a:off x="4467265" y="1655837"/>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9027A760-1B9F-D06D-1C5F-80C4C7CD7E5E}"/>
              </a:ext>
            </a:extLst>
          </p:cNvPr>
          <p:cNvSpPr/>
          <p:nvPr/>
        </p:nvSpPr>
        <p:spPr>
          <a:xfrm>
            <a:off x="4467265" y="1839975"/>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B6FC478F-B492-D4C2-FACF-09CA62D96FAA}"/>
              </a:ext>
            </a:extLst>
          </p:cNvPr>
          <p:cNvSpPr/>
          <p:nvPr/>
        </p:nvSpPr>
        <p:spPr>
          <a:xfrm>
            <a:off x="4467265" y="2024113"/>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ECAB551B-8C32-DAE6-C796-EEE7A26AA47F}"/>
              </a:ext>
            </a:extLst>
          </p:cNvPr>
          <p:cNvSpPr/>
          <p:nvPr/>
        </p:nvSpPr>
        <p:spPr>
          <a:xfrm>
            <a:off x="4467265" y="2208249"/>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F70391E3-3251-AFA5-C60C-96B0F7D9AB60}"/>
              </a:ext>
            </a:extLst>
          </p:cNvPr>
          <p:cNvSpPr/>
          <p:nvPr/>
        </p:nvSpPr>
        <p:spPr>
          <a:xfrm>
            <a:off x="4467265" y="1103423"/>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73CEBA5F-3A96-D615-381F-5504A7D7D69D}"/>
              </a:ext>
            </a:extLst>
          </p:cNvPr>
          <p:cNvSpPr/>
          <p:nvPr/>
        </p:nvSpPr>
        <p:spPr>
          <a:xfrm>
            <a:off x="4467265" y="919285"/>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AA0D64A3-EA68-A8EA-FCDE-73BF9F4FFA9F}"/>
              </a:ext>
            </a:extLst>
          </p:cNvPr>
          <p:cNvSpPr/>
          <p:nvPr/>
        </p:nvSpPr>
        <p:spPr>
          <a:xfrm>
            <a:off x="5382156" y="1272747"/>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8DC9A111-5C86-C52F-1945-0F5EB36874C1}"/>
              </a:ext>
            </a:extLst>
          </p:cNvPr>
          <p:cNvSpPr/>
          <p:nvPr/>
        </p:nvSpPr>
        <p:spPr>
          <a:xfrm>
            <a:off x="5382156" y="1456885"/>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741E62BD-0787-4701-491B-E4CAE61116DF}"/>
              </a:ext>
            </a:extLst>
          </p:cNvPr>
          <p:cNvSpPr/>
          <p:nvPr/>
        </p:nvSpPr>
        <p:spPr>
          <a:xfrm>
            <a:off x="5382156" y="1641023"/>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0AECCCA1-A72A-23BE-9D9D-E7E6E8355667}"/>
              </a:ext>
            </a:extLst>
          </p:cNvPr>
          <p:cNvSpPr/>
          <p:nvPr/>
        </p:nvSpPr>
        <p:spPr>
          <a:xfrm>
            <a:off x="5382156" y="1825161"/>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25FDC8B6-4815-2660-D68A-DF1930C56BCB}"/>
              </a:ext>
            </a:extLst>
          </p:cNvPr>
          <p:cNvSpPr/>
          <p:nvPr/>
        </p:nvSpPr>
        <p:spPr>
          <a:xfrm>
            <a:off x="5382156" y="2009299"/>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7F388D34-816B-25A1-E982-20E56D533301}"/>
              </a:ext>
            </a:extLst>
          </p:cNvPr>
          <p:cNvSpPr/>
          <p:nvPr/>
        </p:nvSpPr>
        <p:spPr>
          <a:xfrm>
            <a:off x="5382156" y="2193435"/>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651F7922-991D-0534-6ADA-33CAB1CA826E}"/>
              </a:ext>
            </a:extLst>
          </p:cNvPr>
          <p:cNvSpPr/>
          <p:nvPr/>
        </p:nvSpPr>
        <p:spPr>
          <a:xfrm>
            <a:off x="5382156" y="1088609"/>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34481C02-76D3-85CD-18BF-2D5252DA6E09}"/>
              </a:ext>
            </a:extLst>
          </p:cNvPr>
          <p:cNvSpPr/>
          <p:nvPr/>
        </p:nvSpPr>
        <p:spPr>
          <a:xfrm>
            <a:off x="5382156" y="904471"/>
            <a:ext cx="110358"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ED4C7F65-FBCA-A307-815B-BCA74F7A9C8D}"/>
              </a:ext>
            </a:extLst>
          </p:cNvPr>
          <p:cNvPicPr>
            <a:picLocks noChangeAspect="1"/>
          </p:cNvPicPr>
          <p:nvPr/>
        </p:nvPicPr>
        <p:blipFill>
          <a:blip r:embed="rId7"/>
          <a:stretch>
            <a:fillRect/>
          </a:stretch>
        </p:blipFill>
        <p:spPr>
          <a:xfrm flipH="1">
            <a:off x="4335626" y="605620"/>
            <a:ext cx="1224815" cy="1977259"/>
          </a:xfrm>
          <a:prstGeom prst="rect">
            <a:avLst/>
          </a:prstGeom>
        </p:spPr>
      </p:pic>
      <p:graphicFrame>
        <p:nvGraphicFramePr>
          <p:cNvPr id="156" name="Table 155">
            <a:extLst>
              <a:ext uri="{FF2B5EF4-FFF2-40B4-BE49-F238E27FC236}">
                <a16:creationId xmlns:a16="http://schemas.microsoft.com/office/drawing/2014/main" id="{D7958515-0B74-FD27-A69E-A6E400852268}"/>
              </a:ext>
            </a:extLst>
          </p:cNvPr>
          <p:cNvGraphicFramePr>
            <a:graphicFrameLocks noGrp="1"/>
          </p:cNvGraphicFramePr>
          <p:nvPr>
            <p:extLst>
              <p:ext uri="{D42A27DB-BD31-4B8C-83A1-F6EECF244321}">
                <p14:modId xmlns:p14="http://schemas.microsoft.com/office/powerpoint/2010/main" val="1867700905"/>
              </p:ext>
            </p:extLst>
          </p:nvPr>
        </p:nvGraphicFramePr>
        <p:xfrm>
          <a:off x="10036868" y="311591"/>
          <a:ext cx="1990032" cy="800100"/>
        </p:xfrm>
        <a:graphic>
          <a:graphicData uri="http://schemas.openxmlformats.org/drawingml/2006/table">
            <a:tbl>
              <a:tblPr firstRow="1" bandRow="1">
                <a:tableStyleId>{5C22544A-7EE6-4342-B048-85BDC9FD1C3A}</a:tableStyleId>
              </a:tblPr>
              <a:tblGrid>
                <a:gridCol w="777182">
                  <a:extLst>
                    <a:ext uri="{9D8B030D-6E8A-4147-A177-3AD203B41FA5}">
                      <a16:colId xmlns:a16="http://schemas.microsoft.com/office/drawing/2014/main" val="1869732311"/>
                    </a:ext>
                  </a:extLst>
                </a:gridCol>
                <a:gridCol w="457200">
                  <a:extLst>
                    <a:ext uri="{9D8B030D-6E8A-4147-A177-3AD203B41FA5}">
                      <a16:colId xmlns:a16="http://schemas.microsoft.com/office/drawing/2014/main" val="3736438610"/>
                    </a:ext>
                  </a:extLst>
                </a:gridCol>
                <a:gridCol w="755650">
                  <a:extLst>
                    <a:ext uri="{9D8B030D-6E8A-4147-A177-3AD203B41FA5}">
                      <a16:colId xmlns:a16="http://schemas.microsoft.com/office/drawing/2014/main" val="2970362926"/>
                    </a:ext>
                  </a:extLst>
                </a:gridCol>
              </a:tblGrid>
              <a:tr h="0">
                <a:tc>
                  <a:txBody>
                    <a:bodyPr/>
                    <a:lstStyle/>
                    <a:p>
                      <a:r>
                        <a:rPr lang="en-US" sz="1050"/>
                        <a:t>Address</a:t>
                      </a:r>
                    </a:p>
                  </a:txBody>
                  <a:tcPr marT="0" marB="0"/>
                </a:tc>
                <a:tc>
                  <a:txBody>
                    <a:bodyPr/>
                    <a:lstStyle/>
                    <a:p>
                      <a:r>
                        <a:rPr lang="en-US" sz="1050"/>
                        <a:t>R/W</a:t>
                      </a:r>
                    </a:p>
                  </a:txBody>
                  <a:tcPr marT="0" marB="0"/>
                </a:tc>
                <a:tc>
                  <a:txBody>
                    <a:bodyPr/>
                    <a:lstStyle/>
                    <a:p>
                      <a:r>
                        <a:rPr lang="en-US" sz="1050"/>
                        <a:t>Register</a:t>
                      </a:r>
                    </a:p>
                  </a:txBody>
                  <a:tcPr marT="0" marB="0"/>
                </a:tc>
                <a:extLst>
                  <a:ext uri="{0D108BD9-81ED-4DB2-BD59-A6C34878D82A}">
                    <a16:rowId xmlns:a16="http://schemas.microsoft.com/office/drawing/2014/main" val="3678069774"/>
                  </a:ext>
                </a:extLst>
              </a:tr>
              <a:tr h="0">
                <a:tc>
                  <a:txBody>
                    <a:bodyPr/>
                    <a:lstStyle/>
                    <a:p>
                      <a:r>
                        <a:rPr lang="en-US" sz="1050"/>
                        <a:t>Base </a:t>
                      </a:r>
                      <a:r>
                        <a:rPr lang="en-US" sz="1050" err="1"/>
                        <a:t>Addr</a:t>
                      </a:r>
                      <a:endParaRPr lang="en-US" sz="1050"/>
                    </a:p>
                  </a:txBody>
                  <a:tcPr marT="0" marB="0"/>
                </a:tc>
                <a:tc>
                  <a:txBody>
                    <a:bodyPr/>
                    <a:lstStyle/>
                    <a:p>
                      <a:r>
                        <a:rPr lang="en-US" sz="1050"/>
                        <a:t>W</a:t>
                      </a:r>
                    </a:p>
                  </a:txBody>
                  <a:tcPr marT="0" marB="0"/>
                </a:tc>
                <a:tc>
                  <a:txBody>
                    <a:bodyPr/>
                    <a:lstStyle/>
                    <a:p>
                      <a:r>
                        <a:rPr lang="en-US" sz="1050" err="1"/>
                        <a:t>Addr</a:t>
                      </a:r>
                      <a:r>
                        <a:rPr lang="en-US" sz="1050"/>
                        <a:t> Hi</a:t>
                      </a:r>
                    </a:p>
                  </a:txBody>
                  <a:tcPr marT="0" marB="0"/>
                </a:tc>
                <a:extLst>
                  <a:ext uri="{0D108BD9-81ED-4DB2-BD59-A6C34878D82A}">
                    <a16:rowId xmlns:a16="http://schemas.microsoft.com/office/drawing/2014/main" val="846205361"/>
                  </a:ext>
                </a:extLst>
              </a:tr>
              <a:tr h="0">
                <a:tc>
                  <a:txBody>
                    <a:bodyPr/>
                    <a:lstStyle/>
                    <a:p>
                      <a:r>
                        <a:rPr lang="en-US" sz="1050"/>
                        <a:t>+1</a:t>
                      </a:r>
                    </a:p>
                  </a:txBody>
                  <a:tcPr marT="0" marB="0"/>
                </a:tc>
                <a:tc>
                  <a:txBody>
                    <a:bodyPr/>
                    <a:lstStyle/>
                    <a:p>
                      <a:r>
                        <a:rPr lang="en-US" sz="1050"/>
                        <a:t>W</a:t>
                      </a:r>
                    </a:p>
                  </a:txBody>
                  <a:tcPr marT="0" marB="0"/>
                </a:tc>
                <a:tc>
                  <a:txBody>
                    <a:bodyPr/>
                    <a:lstStyle/>
                    <a:p>
                      <a:r>
                        <a:rPr lang="en-US" sz="1050"/>
                        <a:t>Sector Hi</a:t>
                      </a:r>
                    </a:p>
                  </a:txBody>
                  <a:tcPr marT="0" marB="0"/>
                </a:tc>
                <a:extLst>
                  <a:ext uri="{0D108BD9-81ED-4DB2-BD59-A6C34878D82A}">
                    <a16:rowId xmlns:a16="http://schemas.microsoft.com/office/drawing/2014/main" val="1997243859"/>
                  </a:ext>
                </a:extLst>
              </a:tr>
              <a:tr h="0">
                <a:tc>
                  <a:txBody>
                    <a:bodyPr/>
                    <a:lstStyle/>
                    <a:p>
                      <a:r>
                        <a:rPr lang="en-US" sz="1050"/>
                        <a:t>+2</a:t>
                      </a:r>
                    </a:p>
                  </a:txBody>
                  <a:tcPr marT="0" marB="0"/>
                </a:tc>
                <a:tc>
                  <a:txBody>
                    <a:bodyPr/>
                    <a:lstStyle/>
                    <a:p>
                      <a:r>
                        <a:rPr lang="en-US" sz="1050"/>
                        <a:t>W</a:t>
                      </a:r>
                    </a:p>
                  </a:txBody>
                  <a:tcPr marT="0" marB="0"/>
                </a:tc>
                <a:tc>
                  <a:txBody>
                    <a:bodyPr/>
                    <a:lstStyle/>
                    <a:p>
                      <a:r>
                        <a:rPr lang="en-US" sz="1050"/>
                        <a:t>Sector Lo</a:t>
                      </a:r>
                    </a:p>
                  </a:txBody>
                  <a:tcPr marT="0" marB="0"/>
                </a:tc>
                <a:extLst>
                  <a:ext uri="{0D108BD9-81ED-4DB2-BD59-A6C34878D82A}">
                    <a16:rowId xmlns:a16="http://schemas.microsoft.com/office/drawing/2014/main" val="1203871463"/>
                  </a:ext>
                </a:extLst>
              </a:tr>
              <a:tr h="0">
                <a:tc>
                  <a:txBody>
                    <a:bodyPr/>
                    <a:lstStyle/>
                    <a:p>
                      <a:r>
                        <a:rPr lang="en-US" sz="1050"/>
                        <a:t>+3 </a:t>
                      </a:r>
                    </a:p>
                  </a:txBody>
                  <a:tcPr marT="0" marB="0"/>
                </a:tc>
                <a:tc>
                  <a:txBody>
                    <a:bodyPr/>
                    <a:lstStyle/>
                    <a:p>
                      <a:r>
                        <a:rPr lang="en-US" sz="1050"/>
                        <a:t>W</a:t>
                      </a:r>
                    </a:p>
                  </a:txBody>
                  <a:tcPr marT="0" marB="0"/>
                </a:tc>
                <a:tc>
                  <a:txBody>
                    <a:bodyPr/>
                    <a:lstStyle/>
                    <a:p>
                      <a:r>
                        <a:rPr lang="en-US" sz="1050"/>
                        <a:t>Go</a:t>
                      </a:r>
                    </a:p>
                  </a:txBody>
                  <a:tcPr marT="0" marB="0"/>
                </a:tc>
                <a:extLst>
                  <a:ext uri="{0D108BD9-81ED-4DB2-BD59-A6C34878D82A}">
                    <a16:rowId xmlns:a16="http://schemas.microsoft.com/office/drawing/2014/main" val="3795764851"/>
                  </a:ext>
                </a:extLst>
              </a:tr>
            </a:tbl>
          </a:graphicData>
        </a:graphic>
      </p:graphicFrame>
      <p:sp>
        <p:nvSpPr>
          <p:cNvPr id="179" name="TextBox 178">
            <a:extLst>
              <a:ext uri="{FF2B5EF4-FFF2-40B4-BE49-F238E27FC236}">
                <a16:creationId xmlns:a16="http://schemas.microsoft.com/office/drawing/2014/main" id="{1B35855B-9480-8900-916E-A9BAAB45F767}"/>
              </a:ext>
            </a:extLst>
          </p:cNvPr>
          <p:cNvSpPr txBox="1"/>
          <p:nvPr/>
        </p:nvSpPr>
        <p:spPr>
          <a:xfrm>
            <a:off x="2481921" y="6251546"/>
            <a:ext cx="694421" cy="230832"/>
          </a:xfrm>
          <a:prstGeom prst="rect">
            <a:avLst/>
          </a:prstGeom>
          <a:noFill/>
        </p:spPr>
        <p:txBody>
          <a:bodyPr wrap="none" rtlCol="0">
            <a:spAutoFit/>
          </a:bodyPr>
          <a:lstStyle/>
          <a:p>
            <a:r>
              <a:rPr lang="en-US" sz="900"/>
              <a:t>8 - GO_INT</a:t>
            </a:r>
          </a:p>
        </p:txBody>
      </p:sp>
      <p:sp>
        <p:nvSpPr>
          <p:cNvPr id="180" name="TextBox 179">
            <a:extLst>
              <a:ext uri="{FF2B5EF4-FFF2-40B4-BE49-F238E27FC236}">
                <a16:creationId xmlns:a16="http://schemas.microsoft.com/office/drawing/2014/main" id="{EA048935-AD75-AC7C-7276-D99776B89E57}"/>
              </a:ext>
            </a:extLst>
          </p:cNvPr>
          <p:cNvSpPr txBox="1"/>
          <p:nvPr/>
        </p:nvSpPr>
        <p:spPr>
          <a:xfrm>
            <a:off x="2481919" y="5647284"/>
            <a:ext cx="806631" cy="230832"/>
          </a:xfrm>
          <a:prstGeom prst="rect">
            <a:avLst/>
          </a:prstGeom>
          <a:noFill/>
        </p:spPr>
        <p:txBody>
          <a:bodyPr wrap="none" rtlCol="0">
            <a:spAutoFit/>
          </a:bodyPr>
          <a:lstStyle/>
          <a:p>
            <a:r>
              <a:rPr lang="en-US" sz="900"/>
              <a:t>11 - </a:t>
            </a:r>
            <a:r>
              <a:rPr lang="en-US" sz="900" err="1"/>
              <a:t>Serial_IN</a:t>
            </a:r>
            <a:endParaRPr lang="en-US" sz="900"/>
          </a:p>
        </p:txBody>
      </p:sp>
      <p:sp>
        <p:nvSpPr>
          <p:cNvPr id="188" name="TextBox 187">
            <a:extLst>
              <a:ext uri="{FF2B5EF4-FFF2-40B4-BE49-F238E27FC236}">
                <a16:creationId xmlns:a16="http://schemas.microsoft.com/office/drawing/2014/main" id="{96C42213-64E6-27C1-9433-8734CBEAA90D}"/>
              </a:ext>
            </a:extLst>
          </p:cNvPr>
          <p:cNvSpPr txBox="1"/>
          <p:nvPr/>
        </p:nvSpPr>
        <p:spPr>
          <a:xfrm>
            <a:off x="2481919" y="5466310"/>
            <a:ext cx="601447" cy="230832"/>
          </a:xfrm>
          <a:prstGeom prst="rect">
            <a:avLst/>
          </a:prstGeom>
          <a:noFill/>
        </p:spPr>
        <p:txBody>
          <a:bodyPr wrap="none" rtlCol="0">
            <a:spAutoFit/>
          </a:bodyPr>
          <a:lstStyle/>
          <a:p>
            <a:r>
              <a:rPr lang="en-US" sz="900"/>
              <a:t>12 - Shift</a:t>
            </a:r>
          </a:p>
        </p:txBody>
      </p:sp>
      <p:sp>
        <p:nvSpPr>
          <p:cNvPr id="208" name="Rectangle 207">
            <a:extLst>
              <a:ext uri="{FF2B5EF4-FFF2-40B4-BE49-F238E27FC236}">
                <a16:creationId xmlns:a16="http://schemas.microsoft.com/office/drawing/2014/main" id="{D610F490-92D4-9C60-7ECA-40CC86967F5B}"/>
              </a:ext>
            </a:extLst>
          </p:cNvPr>
          <p:cNvSpPr/>
          <p:nvPr/>
        </p:nvSpPr>
        <p:spPr>
          <a:xfrm>
            <a:off x="3641832" y="2950563"/>
            <a:ext cx="726448" cy="123670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TextBox 208">
            <a:extLst>
              <a:ext uri="{FF2B5EF4-FFF2-40B4-BE49-F238E27FC236}">
                <a16:creationId xmlns:a16="http://schemas.microsoft.com/office/drawing/2014/main" id="{AEEC030D-5666-9A7D-9AFD-2C92385DEECA}"/>
              </a:ext>
            </a:extLst>
          </p:cNvPr>
          <p:cNvSpPr txBox="1"/>
          <p:nvPr/>
        </p:nvSpPr>
        <p:spPr>
          <a:xfrm rot="5400000">
            <a:off x="3684930" y="3488161"/>
            <a:ext cx="931665" cy="230832"/>
          </a:xfrm>
          <a:prstGeom prst="rect">
            <a:avLst/>
          </a:prstGeom>
          <a:noFill/>
        </p:spPr>
        <p:txBody>
          <a:bodyPr wrap="none" rtlCol="0">
            <a:spAutoFit/>
          </a:bodyPr>
          <a:lstStyle/>
          <a:p>
            <a:r>
              <a:rPr lang="en-US" sz="900"/>
              <a:t>17 – </a:t>
            </a:r>
            <a:r>
              <a:rPr lang="en-US" sz="900" err="1"/>
              <a:t>ReadRAM</a:t>
            </a:r>
            <a:r>
              <a:rPr lang="en-US" sz="900"/>
              <a:t>#</a:t>
            </a:r>
          </a:p>
        </p:txBody>
      </p:sp>
      <p:sp>
        <p:nvSpPr>
          <p:cNvPr id="210" name="TextBox 209">
            <a:extLst>
              <a:ext uri="{FF2B5EF4-FFF2-40B4-BE49-F238E27FC236}">
                <a16:creationId xmlns:a16="http://schemas.microsoft.com/office/drawing/2014/main" id="{756424BD-1A46-AF66-D308-8A1F6C1A6D8D}"/>
              </a:ext>
            </a:extLst>
          </p:cNvPr>
          <p:cNvSpPr txBox="1"/>
          <p:nvPr/>
        </p:nvSpPr>
        <p:spPr>
          <a:xfrm rot="5400000">
            <a:off x="3458571" y="3504992"/>
            <a:ext cx="962123" cy="230832"/>
          </a:xfrm>
          <a:prstGeom prst="rect">
            <a:avLst/>
          </a:prstGeom>
          <a:noFill/>
        </p:spPr>
        <p:txBody>
          <a:bodyPr wrap="none" rtlCol="0">
            <a:spAutoFit/>
          </a:bodyPr>
          <a:lstStyle/>
          <a:p>
            <a:r>
              <a:rPr lang="en-US" sz="900"/>
              <a:t>16 – </a:t>
            </a:r>
            <a:r>
              <a:rPr lang="en-US" sz="900" err="1"/>
              <a:t>WriteRAM</a:t>
            </a:r>
            <a:r>
              <a:rPr lang="en-US" sz="900"/>
              <a:t>#</a:t>
            </a:r>
          </a:p>
        </p:txBody>
      </p:sp>
      <p:sp>
        <p:nvSpPr>
          <p:cNvPr id="78" name="Rectangle 77">
            <a:extLst>
              <a:ext uri="{FF2B5EF4-FFF2-40B4-BE49-F238E27FC236}">
                <a16:creationId xmlns:a16="http://schemas.microsoft.com/office/drawing/2014/main" id="{576090B2-C208-578E-9B93-57CF0B2D57C9}"/>
              </a:ext>
            </a:extLst>
          </p:cNvPr>
          <p:cNvSpPr/>
          <p:nvPr/>
        </p:nvSpPr>
        <p:spPr>
          <a:xfrm>
            <a:off x="2601312" y="2203399"/>
            <a:ext cx="985345" cy="88229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Connector: Elbow 9">
            <a:extLst>
              <a:ext uri="{FF2B5EF4-FFF2-40B4-BE49-F238E27FC236}">
                <a16:creationId xmlns:a16="http://schemas.microsoft.com/office/drawing/2014/main" id="{3F6EE92D-7B66-70B0-DA6B-264521BB7D09}"/>
              </a:ext>
            </a:extLst>
          </p:cNvPr>
          <p:cNvCxnSpPr>
            <a:cxnSpLocks/>
            <a:stCxn id="43" idx="1"/>
            <a:endCxn id="15" idx="0"/>
          </p:cNvCxnSpPr>
          <p:nvPr/>
        </p:nvCxnSpPr>
        <p:spPr>
          <a:xfrm rot="10800000" flipV="1">
            <a:off x="1496441" y="2262266"/>
            <a:ext cx="2970824" cy="44095"/>
          </a:xfrm>
          <a:prstGeom prst="bentConnector2">
            <a:avLst/>
          </a:prstGeom>
          <a:ln>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83" name="Group 82">
            <a:extLst>
              <a:ext uri="{FF2B5EF4-FFF2-40B4-BE49-F238E27FC236}">
                <a16:creationId xmlns:a16="http://schemas.microsoft.com/office/drawing/2014/main" id="{94F9B066-43CF-DEB4-10D7-728088C9AB1A}"/>
              </a:ext>
            </a:extLst>
          </p:cNvPr>
          <p:cNvGrpSpPr/>
          <p:nvPr/>
        </p:nvGrpSpPr>
        <p:grpSpPr>
          <a:xfrm>
            <a:off x="9256065" y="5059611"/>
            <a:ext cx="1354129" cy="1250808"/>
            <a:chOff x="8581095" y="4071752"/>
            <a:chExt cx="1952898" cy="2086266"/>
          </a:xfrm>
        </p:grpSpPr>
        <p:pic>
          <p:nvPicPr>
            <p:cNvPr id="84" name="Picture 83">
              <a:extLst>
                <a:ext uri="{FF2B5EF4-FFF2-40B4-BE49-F238E27FC236}">
                  <a16:creationId xmlns:a16="http://schemas.microsoft.com/office/drawing/2014/main" id="{2C9AD857-4CEE-024A-41E2-7593238D1B75}"/>
                </a:ext>
              </a:extLst>
            </p:cNvPr>
            <p:cNvPicPr>
              <a:picLocks noChangeAspect="1"/>
            </p:cNvPicPr>
            <p:nvPr/>
          </p:nvPicPr>
          <p:blipFill>
            <a:blip r:embed="rId8"/>
            <a:stretch>
              <a:fillRect/>
            </a:stretch>
          </p:blipFill>
          <p:spPr>
            <a:xfrm>
              <a:off x="8581095" y="4071752"/>
              <a:ext cx="1952898" cy="2086266"/>
            </a:xfrm>
            <a:prstGeom prst="rect">
              <a:avLst/>
            </a:prstGeom>
          </p:spPr>
        </p:pic>
        <p:sp>
          <p:nvSpPr>
            <p:cNvPr id="85" name="TextBox 84">
              <a:extLst>
                <a:ext uri="{FF2B5EF4-FFF2-40B4-BE49-F238E27FC236}">
                  <a16:creationId xmlns:a16="http://schemas.microsoft.com/office/drawing/2014/main" id="{9E7244BB-FBE5-EF9C-E788-0EEB55832106}"/>
                </a:ext>
              </a:extLst>
            </p:cNvPr>
            <p:cNvSpPr txBox="1"/>
            <p:nvPr/>
          </p:nvSpPr>
          <p:spPr>
            <a:xfrm rot="5400000">
              <a:off x="9031332" y="4901921"/>
              <a:ext cx="1008522" cy="399482"/>
            </a:xfrm>
            <a:prstGeom prst="rect">
              <a:avLst/>
            </a:prstGeom>
            <a:noFill/>
          </p:spPr>
          <p:txBody>
            <a:bodyPr wrap="none" rtlCol="0">
              <a:spAutoFit/>
            </a:bodyPr>
            <a:lstStyle/>
            <a:p>
              <a:r>
                <a:rPr lang="en-US" sz="1200"/>
                <a:t>3:0 Ctr</a:t>
              </a:r>
            </a:p>
          </p:txBody>
        </p:sp>
      </p:grpSp>
      <p:grpSp>
        <p:nvGrpSpPr>
          <p:cNvPr id="82" name="Group 81">
            <a:extLst>
              <a:ext uri="{FF2B5EF4-FFF2-40B4-BE49-F238E27FC236}">
                <a16:creationId xmlns:a16="http://schemas.microsoft.com/office/drawing/2014/main" id="{56D3EC05-305A-F385-9F51-6268846B12D2}"/>
              </a:ext>
            </a:extLst>
          </p:cNvPr>
          <p:cNvGrpSpPr/>
          <p:nvPr/>
        </p:nvGrpSpPr>
        <p:grpSpPr>
          <a:xfrm>
            <a:off x="9256065" y="3792947"/>
            <a:ext cx="1354129" cy="1250808"/>
            <a:chOff x="8581095" y="4071752"/>
            <a:chExt cx="1952898" cy="2086266"/>
          </a:xfrm>
        </p:grpSpPr>
        <p:pic>
          <p:nvPicPr>
            <p:cNvPr id="80" name="Picture 79">
              <a:extLst>
                <a:ext uri="{FF2B5EF4-FFF2-40B4-BE49-F238E27FC236}">
                  <a16:creationId xmlns:a16="http://schemas.microsoft.com/office/drawing/2014/main" id="{8FE8C8D8-F7D9-E28B-2F1D-432559689318}"/>
                </a:ext>
              </a:extLst>
            </p:cNvPr>
            <p:cNvPicPr>
              <a:picLocks noChangeAspect="1"/>
            </p:cNvPicPr>
            <p:nvPr/>
          </p:nvPicPr>
          <p:blipFill>
            <a:blip r:embed="rId8"/>
            <a:stretch>
              <a:fillRect/>
            </a:stretch>
          </p:blipFill>
          <p:spPr>
            <a:xfrm>
              <a:off x="8581095" y="4071752"/>
              <a:ext cx="1952898" cy="2086266"/>
            </a:xfrm>
            <a:prstGeom prst="rect">
              <a:avLst/>
            </a:prstGeom>
          </p:spPr>
        </p:pic>
        <p:sp>
          <p:nvSpPr>
            <p:cNvPr id="81" name="TextBox 80">
              <a:extLst>
                <a:ext uri="{FF2B5EF4-FFF2-40B4-BE49-F238E27FC236}">
                  <a16:creationId xmlns:a16="http://schemas.microsoft.com/office/drawing/2014/main" id="{A7C638C7-D303-6904-C7B6-07628CEB6E3C}"/>
                </a:ext>
              </a:extLst>
            </p:cNvPr>
            <p:cNvSpPr txBox="1"/>
            <p:nvPr/>
          </p:nvSpPr>
          <p:spPr>
            <a:xfrm rot="5400000">
              <a:off x="9031332" y="4901921"/>
              <a:ext cx="1008522" cy="399482"/>
            </a:xfrm>
            <a:prstGeom prst="rect">
              <a:avLst/>
            </a:prstGeom>
            <a:noFill/>
          </p:spPr>
          <p:txBody>
            <a:bodyPr wrap="none" rtlCol="0">
              <a:spAutoFit/>
            </a:bodyPr>
            <a:lstStyle/>
            <a:p>
              <a:r>
                <a:rPr lang="en-US" sz="1200"/>
                <a:t>7:4 Ctr</a:t>
              </a:r>
            </a:p>
          </p:txBody>
        </p:sp>
      </p:grpSp>
      <p:cxnSp>
        <p:nvCxnSpPr>
          <p:cNvPr id="105" name="Connector: Elbow 104">
            <a:extLst>
              <a:ext uri="{FF2B5EF4-FFF2-40B4-BE49-F238E27FC236}">
                <a16:creationId xmlns:a16="http://schemas.microsoft.com/office/drawing/2014/main" id="{A8B44C78-57AF-86E6-3ADE-61AF41B41ECF}"/>
              </a:ext>
            </a:extLst>
          </p:cNvPr>
          <p:cNvCxnSpPr>
            <a:cxnSpLocks/>
            <a:stCxn id="103" idx="3"/>
            <a:endCxn id="104" idx="3"/>
          </p:cNvCxnSpPr>
          <p:nvPr/>
        </p:nvCxnSpPr>
        <p:spPr>
          <a:xfrm>
            <a:off x="10438403" y="4680796"/>
            <a:ext cx="12700" cy="710357"/>
          </a:xfrm>
          <a:prstGeom prst="bentConnector3">
            <a:avLst>
              <a:gd name="adj1" fmla="val 1800000"/>
            </a:avLst>
          </a:prstGeom>
        </p:spPr>
        <p:style>
          <a:lnRef idx="1">
            <a:schemeClr val="accent1"/>
          </a:lnRef>
          <a:fillRef idx="0">
            <a:schemeClr val="accent1"/>
          </a:fillRef>
          <a:effectRef idx="0">
            <a:schemeClr val="accent1"/>
          </a:effectRef>
          <a:fontRef idx="minor">
            <a:schemeClr val="tx1"/>
          </a:fontRef>
        </p:style>
      </p:cxnSp>
      <p:sp>
        <p:nvSpPr>
          <p:cNvPr id="89" name="Arrow: Right 88">
            <a:extLst>
              <a:ext uri="{FF2B5EF4-FFF2-40B4-BE49-F238E27FC236}">
                <a16:creationId xmlns:a16="http://schemas.microsoft.com/office/drawing/2014/main" id="{1FA5BC3B-1E80-2462-0BA1-4D4AD00AD5C6}"/>
              </a:ext>
            </a:extLst>
          </p:cNvPr>
          <p:cNvSpPr/>
          <p:nvPr/>
        </p:nvSpPr>
        <p:spPr>
          <a:xfrm>
            <a:off x="10412097" y="4279913"/>
            <a:ext cx="990600" cy="446307"/>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900" err="1"/>
              <a:t>Addr</a:t>
            </a:r>
            <a:r>
              <a:rPr lang="en-US" sz="900"/>
              <a:t> 7:4</a:t>
            </a:r>
          </a:p>
        </p:txBody>
      </p:sp>
      <p:sp>
        <p:nvSpPr>
          <p:cNvPr id="90" name="Arrow: Right 89">
            <a:extLst>
              <a:ext uri="{FF2B5EF4-FFF2-40B4-BE49-F238E27FC236}">
                <a16:creationId xmlns:a16="http://schemas.microsoft.com/office/drawing/2014/main" id="{C769117D-D4A0-7A29-2A2A-03FD1C9B55AE}"/>
              </a:ext>
            </a:extLst>
          </p:cNvPr>
          <p:cNvSpPr/>
          <p:nvPr/>
        </p:nvSpPr>
        <p:spPr>
          <a:xfrm>
            <a:off x="10364272" y="5444636"/>
            <a:ext cx="990600" cy="446307"/>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900" err="1"/>
              <a:t>Addr</a:t>
            </a:r>
            <a:r>
              <a:rPr lang="en-US" sz="900"/>
              <a:t> 3:0</a:t>
            </a:r>
          </a:p>
        </p:txBody>
      </p:sp>
      <p:cxnSp>
        <p:nvCxnSpPr>
          <p:cNvPr id="98" name="Connector: Elbow 97">
            <a:extLst>
              <a:ext uri="{FF2B5EF4-FFF2-40B4-BE49-F238E27FC236}">
                <a16:creationId xmlns:a16="http://schemas.microsoft.com/office/drawing/2014/main" id="{97051F3A-EFC4-13A2-9B05-5886BE7A5CA3}"/>
              </a:ext>
            </a:extLst>
          </p:cNvPr>
          <p:cNvCxnSpPr>
            <a:cxnSpLocks/>
            <a:stCxn id="95" idx="1"/>
            <a:endCxn id="92" idx="1"/>
          </p:cNvCxnSpPr>
          <p:nvPr/>
        </p:nvCxnSpPr>
        <p:spPr>
          <a:xfrm rot="10800000" flipV="1">
            <a:off x="9397415" y="4011240"/>
            <a:ext cx="12700" cy="1271877"/>
          </a:xfrm>
          <a:prstGeom prst="bentConnector3">
            <a:avLst>
              <a:gd name="adj1" fmla="val 1145449"/>
            </a:avLst>
          </a:prstGeom>
        </p:spPr>
        <p:style>
          <a:lnRef idx="1">
            <a:schemeClr val="accent1"/>
          </a:lnRef>
          <a:fillRef idx="0">
            <a:schemeClr val="accent1"/>
          </a:fillRef>
          <a:effectRef idx="0">
            <a:schemeClr val="accent1"/>
          </a:effectRef>
          <a:fontRef idx="minor">
            <a:schemeClr val="tx1"/>
          </a:fontRef>
        </p:style>
      </p:cxnSp>
      <p:sp>
        <p:nvSpPr>
          <p:cNvPr id="228" name="Rectangle 227">
            <a:extLst>
              <a:ext uri="{FF2B5EF4-FFF2-40B4-BE49-F238E27FC236}">
                <a16:creationId xmlns:a16="http://schemas.microsoft.com/office/drawing/2014/main" id="{E8E2DA77-34C7-2D21-7748-A73E855EA5C7}"/>
              </a:ext>
            </a:extLst>
          </p:cNvPr>
          <p:cNvSpPr/>
          <p:nvPr/>
        </p:nvSpPr>
        <p:spPr>
          <a:xfrm>
            <a:off x="6576724" y="3383787"/>
            <a:ext cx="90065" cy="1093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TextBox 228">
            <a:extLst>
              <a:ext uri="{FF2B5EF4-FFF2-40B4-BE49-F238E27FC236}">
                <a16:creationId xmlns:a16="http://schemas.microsoft.com/office/drawing/2014/main" id="{54F95803-D4F8-FFCA-2986-B4D868721056}"/>
              </a:ext>
            </a:extLst>
          </p:cNvPr>
          <p:cNvSpPr txBox="1"/>
          <p:nvPr/>
        </p:nvSpPr>
        <p:spPr>
          <a:xfrm rot="5400000">
            <a:off x="5873947" y="1849840"/>
            <a:ext cx="915635" cy="254044"/>
          </a:xfrm>
          <a:prstGeom prst="rect">
            <a:avLst/>
          </a:prstGeom>
          <a:noFill/>
        </p:spPr>
        <p:txBody>
          <a:bodyPr wrap="none" rtlCol="0">
            <a:spAutoFit/>
          </a:bodyPr>
          <a:lstStyle/>
          <a:p>
            <a:r>
              <a:rPr lang="en-US" sz="1051"/>
              <a:t>165 Sector Hi</a:t>
            </a:r>
          </a:p>
        </p:txBody>
      </p:sp>
      <p:sp>
        <p:nvSpPr>
          <p:cNvPr id="240" name="Rectangle 239">
            <a:extLst>
              <a:ext uri="{FF2B5EF4-FFF2-40B4-BE49-F238E27FC236}">
                <a16:creationId xmlns:a16="http://schemas.microsoft.com/office/drawing/2014/main" id="{1FFBB682-362F-D4C7-0FF8-F36D16CFCE12}"/>
              </a:ext>
            </a:extLst>
          </p:cNvPr>
          <p:cNvSpPr/>
          <p:nvPr/>
        </p:nvSpPr>
        <p:spPr>
          <a:xfrm>
            <a:off x="6576722" y="2245004"/>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Rectangle 240">
            <a:extLst>
              <a:ext uri="{FF2B5EF4-FFF2-40B4-BE49-F238E27FC236}">
                <a16:creationId xmlns:a16="http://schemas.microsoft.com/office/drawing/2014/main" id="{4DCB6333-1090-DB13-3FDF-D3875F474F6E}"/>
              </a:ext>
            </a:extLst>
          </p:cNvPr>
          <p:cNvSpPr/>
          <p:nvPr/>
        </p:nvSpPr>
        <p:spPr>
          <a:xfrm>
            <a:off x="6576722" y="3256491"/>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Arrow: Right 234">
            <a:extLst>
              <a:ext uri="{FF2B5EF4-FFF2-40B4-BE49-F238E27FC236}">
                <a16:creationId xmlns:a16="http://schemas.microsoft.com/office/drawing/2014/main" id="{50F2C1D6-D0E8-71BF-A5AE-CD3B875ED5B2}"/>
              </a:ext>
            </a:extLst>
          </p:cNvPr>
          <p:cNvSpPr/>
          <p:nvPr/>
        </p:nvSpPr>
        <p:spPr>
          <a:xfrm rot="10800000">
            <a:off x="6720785" y="2013141"/>
            <a:ext cx="1686305" cy="284739"/>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200"/>
          </a:p>
        </p:txBody>
      </p:sp>
      <p:sp>
        <p:nvSpPr>
          <p:cNvPr id="251" name="Rectangle 250">
            <a:extLst>
              <a:ext uri="{FF2B5EF4-FFF2-40B4-BE49-F238E27FC236}">
                <a16:creationId xmlns:a16="http://schemas.microsoft.com/office/drawing/2014/main" id="{74BAC144-2409-3C2D-B358-DB51BE14EE0A}"/>
              </a:ext>
            </a:extLst>
          </p:cNvPr>
          <p:cNvSpPr/>
          <p:nvPr/>
        </p:nvSpPr>
        <p:spPr>
          <a:xfrm>
            <a:off x="6035112" y="1603827"/>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Rectangle 251">
            <a:extLst>
              <a:ext uri="{FF2B5EF4-FFF2-40B4-BE49-F238E27FC236}">
                <a16:creationId xmlns:a16="http://schemas.microsoft.com/office/drawing/2014/main" id="{B73FEE92-692A-4DDA-7AD9-542B84ABE427}"/>
              </a:ext>
            </a:extLst>
          </p:cNvPr>
          <p:cNvSpPr/>
          <p:nvPr/>
        </p:nvSpPr>
        <p:spPr>
          <a:xfrm>
            <a:off x="6035112" y="2734292"/>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3" name="Connector: Elbow 252">
            <a:extLst>
              <a:ext uri="{FF2B5EF4-FFF2-40B4-BE49-F238E27FC236}">
                <a16:creationId xmlns:a16="http://schemas.microsoft.com/office/drawing/2014/main" id="{1F9A4B46-A003-2EA6-2646-75285179923F}"/>
              </a:ext>
            </a:extLst>
          </p:cNvPr>
          <p:cNvCxnSpPr>
            <a:cxnSpLocks/>
            <a:stCxn id="120" idx="3"/>
            <a:endCxn id="252" idx="1"/>
          </p:cNvCxnSpPr>
          <p:nvPr/>
        </p:nvCxnSpPr>
        <p:spPr>
          <a:xfrm flipV="1">
            <a:off x="5373935" y="2788310"/>
            <a:ext cx="661177" cy="290174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2" name="Connector: Elbow 231">
            <a:extLst>
              <a:ext uri="{FF2B5EF4-FFF2-40B4-BE49-F238E27FC236}">
                <a16:creationId xmlns:a16="http://schemas.microsoft.com/office/drawing/2014/main" id="{014B04FC-DB31-4C9B-2D2B-45E4185CACF2}"/>
              </a:ext>
            </a:extLst>
          </p:cNvPr>
          <p:cNvCxnSpPr>
            <a:cxnSpLocks/>
            <a:stCxn id="240" idx="3"/>
            <a:endCxn id="241" idx="3"/>
          </p:cNvCxnSpPr>
          <p:nvPr/>
        </p:nvCxnSpPr>
        <p:spPr>
          <a:xfrm>
            <a:off x="6687081" y="2299022"/>
            <a:ext cx="12700" cy="1011487"/>
          </a:xfrm>
          <a:prstGeom prst="bentConnector3">
            <a:avLst>
              <a:gd name="adj1" fmla="val 927268"/>
            </a:avLst>
          </a:prstGeom>
          <a:ln>
            <a:tailEnd type="triangle"/>
          </a:ln>
        </p:spPr>
        <p:style>
          <a:lnRef idx="1">
            <a:schemeClr val="accent1"/>
          </a:lnRef>
          <a:fillRef idx="0">
            <a:schemeClr val="accent1"/>
          </a:fillRef>
          <a:effectRef idx="0">
            <a:schemeClr val="accent1"/>
          </a:effectRef>
          <a:fontRef idx="minor">
            <a:schemeClr val="tx1"/>
          </a:fontRef>
        </p:style>
      </p:cxnSp>
      <p:sp>
        <p:nvSpPr>
          <p:cNvPr id="268" name="Rectangle 267">
            <a:extLst>
              <a:ext uri="{FF2B5EF4-FFF2-40B4-BE49-F238E27FC236}">
                <a16:creationId xmlns:a16="http://schemas.microsoft.com/office/drawing/2014/main" id="{10765E6E-35CF-8C99-34B8-CB45F425FD65}"/>
              </a:ext>
            </a:extLst>
          </p:cNvPr>
          <p:cNvSpPr/>
          <p:nvPr/>
        </p:nvSpPr>
        <p:spPr>
          <a:xfrm>
            <a:off x="6069387" y="1492145"/>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ectangle 268">
            <a:extLst>
              <a:ext uri="{FF2B5EF4-FFF2-40B4-BE49-F238E27FC236}">
                <a16:creationId xmlns:a16="http://schemas.microsoft.com/office/drawing/2014/main" id="{E23BD9A5-47A5-7C53-3AE1-6D8180720B32}"/>
              </a:ext>
            </a:extLst>
          </p:cNvPr>
          <p:cNvSpPr/>
          <p:nvPr/>
        </p:nvSpPr>
        <p:spPr>
          <a:xfrm>
            <a:off x="6069387" y="2640189"/>
            <a:ext cx="110359" cy="108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8" name="Group 277">
            <a:extLst>
              <a:ext uri="{FF2B5EF4-FFF2-40B4-BE49-F238E27FC236}">
                <a16:creationId xmlns:a16="http://schemas.microsoft.com/office/drawing/2014/main" id="{E6BB14ED-175F-34AE-906B-3CEDD3C1547D}"/>
              </a:ext>
            </a:extLst>
          </p:cNvPr>
          <p:cNvGrpSpPr/>
          <p:nvPr/>
        </p:nvGrpSpPr>
        <p:grpSpPr>
          <a:xfrm>
            <a:off x="6025876" y="1391997"/>
            <a:ext cx="675243" cy="1078235"/>
            <a:chOff x="6025876" y="1391997"/>
            <a:chExt cx="675242" cy="1078234"/>
          </a:xfrm>
        </p:grpSpPr>
        <p:pic>
          <p:nvPicPr>
            <p:cNvPr id="223" name="Picture 222">
              <a:extLst>
                <a:ext uri="{FF2B5EF4-FFF2-40B4-BE49-F238E27FC236}">
                  <a16:creationId xmlns:a16="http://schemas.microsoft.com/office/drawing/2014/main" id="{A36B011E-FA48-0718-5C57-6DE8F5E86157}"/>
                </a:ext>
              </a:extLst>
            </p:cNvPr>
            <p:cNvPicPr>
              <a:picLocks noChangeAspect="1"/>
            </p:cNvPicPr>
            <p:nvPr/>
          </p:nvPicPr>
          <p:blipFill>
            <a:blip r:embed="rId9"/>
            <a:stretch>
              <a:fillRect/>
            </a:stretch>
          </p:blipFill>
          <p:spPr>
            <a:xfrm>
              <a:off x="6025876" y="1391997"/>
              <a:ext cx="675242" cy="1078234"/>
            </a:xfrm>
            <a:prstGeom prst="rect">
              <a:avLst/>
            </a:prstGeom>
          </p:spPr>
        </p:pic>
        <p:sp>
          <p:nvSpPr>
            <p:cNvPr id="230" name="TextBox 229">
              <a:extLst>
                <a:ext uri="{FF2B5EF4-FFF2-40B4-BE49-F238E27FC236}">
                  <a16:creationId xmlns:a16="http://schemas.microsoft.com/office/drawing/2014/main" id="{44E3BF94-97E5-FE24-B82D-AE7A74B34F9F}"/>
                </a:ext>
              </a:extLst>
            </p:cNvPr>
            <p:cNvSpPr txBox="1"/>
            <p:nvPr/>
          </p:nvSpPr>
          <p:spPr>
            <a:xfrm rot="5400000">
              <a:off x="5929281" y="1958561"/>
              <a:ext cx="824194" cy="161711"/>
            </a:xfrm>
            <a:prstGeom prst="rect">
              <a:avLst/>
            </a:prstGeom>
            <a:solidFill>
              <a:schemeClr val="bg1"/>
            </a:solidFill>
          </p:spPr>
          <p:txBody>
            <a:bodyPr wrap="square" lIns="0" tIns="0" rIns="0" bIns="0" rtlCol="0">
              <a:spAutoFit/>
            </a:bodyPr>
            <a:lstStyle/>
            <a:p>
              <a:r>
                <a:rPr lang="en-US" sz="1051"/>
                <a:t>165 Sector Lo</a:t>
              </a:r>
            </a:p>
          </p:txBody>
        </p:sp>
      </p:grpSp>
      <p:grpSp>
        <p:nvGrpSpPr>
          <p:cNvPr id="277" name="Group 276">
            <a:extLst>
              <a:ext uri="{FF2B5EF4-FFF2-40B4-BE49-F238E27FC236}">
                <a16:creationId xmlns:a16="http://schemas.microsoft.com/office/drawing/2014/main" id="{7C753783-A4F1-2895-D4EA-76ED2B77BADD}"/>
              </a:ext>
            </a:extLst>
          </p:cNvPr>
          <p:cNvGrpSpPr/>
          <p:nvPr/>
        </p:nvGrpSpPr>
        <p:grpSpPr>
          <a:xfrm>
            <a:off x="6025876" y="2527141"/>
            <a:ext cx="675243" cy="1078235"/>
            <a:chOff x="6025876" y="2527142"/>
            <a:chExt cx="675242" cy="1078234"/>
          </a:xfrm>
        </p:grpSpPr>
        <p:pic>
          <p:nvPicPr>
            <p:cNvPr id="227" name="Picture 226">
              <a:extLst>
                <a:ext uri="{FF2B5EF4-FFF2-40B4-BE49-F238E27FC236}">
                  <a16:creationId xmlns:a16="http://schemas.microsoft.com/office/drawing/2014/main" id="{9F7560D2-E9B1-5C6A-8C70-66C546B66CC3}"/>
                </a:ext>
              </a:extLst>
            </p:cNvPr>
            <p:cNvPicPr>
              <a:picLocks noChangeAspect="1"/>
            </p:cNvPicPr>
            <p:nvPr/>
          </p:nvPicPr>
          <p:blipFill>
            <a:blip r:embed="rId9"/>
            <a:stretch>
              <a:fillRect/>
            </a:stretch>
          </p:blipFill>
          <p:spPr>
            <a:xfrm>
              <a:off x="6025876" y="2527142"/>
              <a:ext cx="675242" cy="1078234"/>
            </a:xfrm>
            <a:prstGeom prst="rect">
              <a:avLst/>
            </a:prstGeom>
          </p:spPr>
        </p:pic>
        <p:sp>
          <p:nvSpPr>
            <p:cNvPr id="276" name="TextBox 275">
              <a:extLst>
                <a:ext uri="{FF2B5EF4-FFF2-40B4-BE49-F238E27FC236}">
                  <a16:creationId xmlns:a16="http://schemas.microsoft.com/office/drawing/2014/main" id="{E3CD5DD2-C5D6-46CE-6FB2-E7A895EDEC3B}"/>
                </a:ext>
              </a:extLst>
            </p:cNvPr>
            <p:cNvSpPr txBox="1"/>
            <p:nvPr/>
          </p:nvSpPr>
          <p:spPr>
            <a:xfrm rot="5400000">
              <a:off x="5969427" y="3077579"/>
              <a:ext cx="743904" cy="161711"/>
            </a:xfrm>
            <a:prstGeom prst="rect">
              <a:avLst/>
            </a:prstGeom>
            <a:solidFill>
              <a:schemeClr val="bg1"/>
            </a:solidFill>
          </p:spPr>
          <p:txBody>
            <a:bodyPr wrap="square" lIns="0" tIns="0" rIns="0" bIns="0" rtlCol="0">
              <a:spAutoFit/>
            </a:bodyPr>
            <a:lstStyle/>
            <a:p>
              <a:r>
                <a:rPr lang="en-US" sz="1051"/>
                <a:t>165 Sector Hi</a:t>
              </a:r>
            </a:p>
          </p:txBody>
        </p:sp>
      </p:grpSp>
      <p:cxnSp>
        <p:nvCxnSpPr>
          <p:cNvPr id="273" name="Connector: Elbow 272">
            <a:extLst>
              <a:ext uri="{FF2B5EF4-FFF2-40B4-BE49-F238E27FC236}">
                <a16:creationId xmlns:a16="http://schemas.microsoft.com/office/drawing/2014/main" id="{4A5389FE-86B9-5682-45B0-C98691FB150F}"/>
              </a:ext>
            </a:extLst>
          </p:cNvPr>
          <p:cNvCxnSpPr>
            <a:cxnSpLocks/>
            <a:stCxn id="159" idx="1"/>
            <a:endCxn id="269" idx="3"/>
          </p:cNvCxnSpPr>
          <p:nvPr/>
        </p:nvCxnSpPr>
        <p:spPr>
          <a:xfrm rot="10800000">
            <a:off x="6179746" y="2694207"/>
            <a:ext cx="1190404" cy="1504078"/>
          </a:xfrm>
          <a:prstGeom prst="bentConnector3">
            <a:avLst>
              <a:gd name="adj1" fmla="val 5000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0" name="Connector: Elbow 269">
            <a:extLst>
              <a:ext uri="{FF2B5EF4-FFF2-40B4-BE49-F238E27FC236}">
                <a16:creationId xmlns:a16="http://schemas.microsoft.com/office/drawing/2014/main" id="{A81970D5-5C7A-92D0-5D86-CD58294D662C}"/>
              </a:ext>
            </a:extLst>
          </p:cNvPr>
          <p:cNvCxnSpPr>
            <a:cxnSpLocks/>
            <a:stCxn id="158" idx="1"/>
            <a:endCxn id="268" idx="3"/>
          </p:cNvCxnSpPr>
          <p:nvPr/>
        </p:nvCxnSpPr>
        <p:spPr>
          <a:xfrm rot="10800000">
            <a:off x="6179746" y="1546164"/>
            <a:ext cx="1190404" cy="2489537"/>
          </a:xfrm>
          <a:prstGeom prst="bentConnector3">
            <a:avLst>
              <a:gd name="adj1" fmla="val 3683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1" name="Arrow: Left-Right 90">
            <a:extLst>
              <a:ext uri="{FF2B5EF4-FFF2-40B4-BE49-F238E27FC236}">
                <a16:creationId xmlns:a16="http://schemas.microsoft.com/office/drawing/2014/main" id="{91A86BB3-B181-7401-AD91-34C92DF84D59}"/>
              </a:ext>
            </a:extLst>
          </p:cNvPr>
          <p:cNvSpPr/>
          <p:nvPr/>
        </p:nvSpPr>
        <p:spPr>
          <a:xfrm>
            <a:off x="5544450" y="989322"/>
            <a:ext cx="1784223" cy="323541"/>
          </a:xfrm>
          <a:prstGeom prst="lef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a:t>Data bus</a:t>
            </a:r>
          </a:p>
        </p:txBody>
      </p:sp>
      <p:grpSp>
        <p:nvGrpSpPr>
          <p:cNvPr id="154" name="Group 153">
            <a:extLst>
              <a:ext uri="{FF2B5EF4-FFF2-40B4-BE49-F238E27FC236}">
                <a16:creationId xmlns:a16="http://schemas.microsoft.com/office/drawing/2014/main" id="{CFF259AA-C57D-01CE-ECE5-67460AED91FA}"/>
              </a:ext>
            </a:extLst>
          </p:cNvPr>
          <p:cNvGrpSpPr/>
          <p:nvPr/>
        </p:nvGrpSpPr>
        <p:grpSpPr>
          <a:xfrm>
            <a:off x="7361178" y="3291593"/>
            <a:ext cx="1066795" cy="1348207"/>
            <a:chOff x="7412689" y="3305857"/>
            <a:chExt cx="1066794" cy="1348207"/>
          </a:xfrm>
        </p:grpSpPr>
        <p:pic>
          <p:nvPicPr>
            <p:cNvPr id="151" name="Picture 150">
              <a:extLst>
                <a:ext uri="{FF2B5EF4-FFF2-40B4-BE49-F238E27FC236}">
                  <a16:creationId xmlns:a16="http://schemas.microsoft.com/office/drawing/2014/main" id="{64E817E7-5E7A-6B19-C466-1A821A6FFB29}"/>
                </a:ext>
              </a:extLst>
            </p:cNvPr>
            <p:cNvPicPr>
              <a:picLocks noChangeAspect="1"/>
            </p:cNvPicPr>
            <p:nvPr/>
          </p:nvPicPr>
          <p:blipFill>
            <a:blip r:embed="rId10"/>
            <a:stretch>
              <a:fillRect/>
            </a:stretch>
          </p:blipFill>
          <p:spPr>
            <a:xfrm rot="10800000">
              <a:off x="7412689" y="3305857"/>
              <a:ext cx="1066794" cy="1348207"/>
            </a:xfrm>
            <a:prstGeom prst="rect">
              <a:avLst/>
            </a:prstGeom>
          </p:spPr>
        </p:pic>
        <p:sp>
          <p:nvSpPr>
            <p:cNvPr id="152" name="TextBox 151">
              <a:extLst>
                <a:ext uri="{FF2B5EF4-FFF2-40B4-BE49-F238E27FC236}">
                  <a16:creationId xmlns:a16="http://schemas.microsoft.com/office/drawing/2014/main" id="{B341658A-0A57-B43A-098C-2FFF02599606}"/>
                </a:ext>
              </a:extLst>
            </p:cNvPr>
            <p:cNvSpPr txBox="1"/>
            <p:nvPr/>
          </p:nvSpPr>
          <p:spPr>
            <a:xfrm rot="5400000">
              <a:off x="7424929" y="3911376"/>
              <a:ext cx="926411" cy="261610"/>
            </a:xfrm>
            <a:prstGeom prst="rect">
              <a:avLst/>
            </a:prstGeom>
            <a:solidFill>
              <a:schemeClr val="bg1"/>
            </a:solidFill>
            <a:ln/>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1100"/>
                <a:t>138 Decoder</a:t>
              </a:r>
            </a:p>
          </p:txBody>
        </p:sp>
      </p:grpSp>
      <p:sp>
        <p:nvSpPr>
          <p:cNvPr id="297" name="TextBox 296">
            <a:extLst>
              <a:ext uri="{FF2B5EF4-FFF2-40B4-BE49-F238E27FC236}">
                <a16:creationId xmlns:a16="http://schemas.microsoft.com/office/drawing/2014/main" id="{CCA5F8FE-4372-14C0-63A0-E0984534D01A}"/>
              </a:ext>
            </a:extLst>
          </p:cNvPr>
          <p:cNvSpPr txBox="1"/>
          <p:nvPr/>
        </p:nvSpPr>
        <p:spPr>
          <a:xfrm>
            <a:off x="8709594" y="3277913"/>
            <a:ext cx="788999" cy="230832"/>
          </a:xfrm>
          <a:prstGeom prst="rect">
            <a:avLst/>
          </a:prstGeom>
          <a:noFill/>
        </p:spPr>
        <p:txBody>
          <a:bodyPr wrap="none" rtlCol="0">
            <a:spAutoFit/>
          </a:bodyPr>
          <a:lstStyle/>
          <a:p>
            <a:r>
              <a:rPr lang="en-US" sz="900"/>
              <a:t>Load </a:t>
            </a:r>
            <a:r>
              <a:rPr lang="en-US" sz="900" err="1"/>
              <a:t>Addr</a:t>
            </a:r>
            <a:r>
              <a:rPr lang="en-US" sz="900"/>
              <a:t> Hi</a:t>
            </a:r>
          </a:p>
        </p:txBody>
      </p:sp>
      <p:sp>
        <p:nvSpPr>
          <p:cNvPr id="299" name="TextBox 298">
            <a:extLst>
              <a:ext uri="{FF2B5EF4-FFF2-40B4-BE49-F238E27FC236}">
                <a16:creationId xmlns:a16="http://schemas.microsoft.com/office/drawing/2014/main" id="{9DBF4DB0-B36B-CD81-AB3C-E01E01E48A16}"/>
              </a:ext>
            </a:extLst>
          </p:cNvPr>
          <p:cNvSpPr txBox="1"/>
          <p:nvPr/>
        </p:nvSpPr>
        <p:spPr>
          <a:xfrm rot="5400000">
            <a:off x="6663116" y="3315890"/>
            <a:ext cx="668773" cy="246221"/>
          </a:xfrm>
          <a:prstGeom prst="rect">
            <a:avLst/>
          </a:prstGeom>
          <a:noFill/>
        </p:spPr>
        <p:txBody>
          <a:bodyPr wrap="none" rtlCol="0">
            <a:spAutoFit/>
          </a:bodyPr>
          <a:lstStyle/>
          <a:p>
            <a:r>
              <a:rPr lang="en-US" sz="1000" err="1"/>
              <a:t>Ld</a:t>
            </a:r>
            <a:r>
              <a:rPr lang="en-US" sz="1000"/>
              <a:t> Sector</a:t>
            </a:r>
          </a:p>
        </p:txBody>
      </p:sp>
      <p:cxnSp>
        <p:nvCxnSpPr>
          <p:cNvPr id="216" name="Connector: Elbow 215">
            <a:extLst>
              <a:ext uri="{FF2B5EF4-FFF2-40B4-BE49-F238E27FC236}">
                <a16:creationId xmlns:a16="http://schemas.microsoft.com/office/drawing/2014/main" id="{66B2B713-114F-C0AD-B6EB-242FA2EB8682}"/>
              </a:ext>
            </a:extLst>
          </p:cNvPr>
          <p:cNvCxnSpPr>
            <a:cxnSpLocks/>
            <a:stCxn id="157" idx="1"/>
          </p:cNvCxnSpPr>
          <p:nvPr/>
        </p:nvCxnSpPr>
        <p:spPr>
          <a:xfrm rot="10800000" flipH="1">
            <a:off x="7370150" y="3352194"/>
            <a:ext cx="3077727" cy="1008676"/>
          </a:xfrm>
          <a:prstGeom prst="bentConnector5">
            <a:avLst>
              <a:gd name="adj1" fmla="val -7428"/>
              <a:gd name="adj2" fmla="val 87923"/>
              <a:gd name="adj3" fmla="val 107428"/>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3" name="TextBox 152">
            <a:extLst>
              <a:ext uri="{FF2B5EF4-FFF2-40B4-BE49-F238E27FC236}">
                <a16:creationId xmlns:a16="http://schemas.microsoft.com/office/drawing/2014/main" id="{A8D5E673-97B0-6602-C13A-93090EA85443}"/>
              </a:ext>
            </a:extLst>
          </p:cNvPr>
          <p:cNvSpPr txBox="1"/>
          <p:nvPr/>
        </p:nvSpPr>
        <p:spPr>
          <a:xfrm>
            <a:off x="8470598" y="4239671"/>
            <a:ext cx="776581" cy="230832"/>
          </a:xfrm>
          <a:prstGeom prst="rect">
            <a:avLst/>
          </a:prstGeom>
          <a:solidFill>
            <a:schemeClr val="bg1"/>
          </a:solidFill>
          <a:ln>
            <a:solidFill>
              <a:schemeClr val="bg1"/>
            </a:solidFill>
          </a:ln>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900" err="1"/>
              <a:t>Addr</a:t>
            </a:r>
            <a:r>
              <a:rPr lang="en-US" sz="900"/>
              <a:t> 2:0</a:t>
            </a:r>
          </a:p>
        </p:txBody>
      </p:sp>
      <p:sp>
        <p:nvSpPr>
          <p:cNvPr id="155" name="Right Brace 154">
            <a:extLst>
              <a:ext uri="{FF2B5EF4-FFF2-40B4-BE49-F238E27FC236}">
                <a16:creationId xmlns:a16="http://schemas.microsoft.com/office/drawing/2014/main" id="{D3AA9544-160E-09EF-71B6-6D72A6372664}"/>
              </a:ext>
            </a:extLst>
          </p:cNvPr>
          <p:cNvSpPr/>
          <p:nvPr/>
        </p:nvSpPr>
        <p:spPr>
          <a:xfrm>
            <a:off x="8374361" y="4148085"/>
            <a:ext cx="182173" cy="43245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9" name="Connector: Elbow 98">
            <a:extLst>
              <a:ext uri="{FF2B5EF4-FFF2-40B4-BE49-F238E27FC236}">
                <a16:creationId xmlns:a16="http://schemas.microsoft.com/office/drawing/2014/main" id="{89994014-2B8B-6764-D668-BB7A8DECC6C4}"/>
              </a:ext>
            </a:extLst>
          </p:cNvPr>
          <p:cNvCxnSpPr>
            <a:cxnSpLocks/>
            <a:stCxn id="96" idx="1"/>
            <a:endCxn id="93" idx="1"/>
          </p:cNvCxnSpPr>
          <p:nvPr/>
        </p:nvCxnSpPr>
        <p:spPr>
          <a:xfrm rot="10800000" flipV="1">
            <a:off x="9397415" y="4133252"/>
            <a:ext cx="12700" cy="1271877"/>
          </a:xfrm>
          <a:prstGeom prst="bentConnector3">
            <a:avLst>
              <a:gd name="adj1" fmla="val 1909717"/>
            </a:avLst>
          </a:prstGeom>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F73BB6B-85E3-AA00-7507-4027E341DD62}"/>
              </a:ext>
            </a:extLst>
          </p:cNvPr>
          <p:cNvPicPr>
            <a:picLocks noChangeAspect="1"/>
          </p:cNvPicPr>
          <p:nvPr/>
        </p:nvPicPr>
        <p:blipFill>
          <a:blip r:embed="rId11"/>
          <a:stretch>
            <a:fillRect/>
          </a:stretch>
        </p:blipFill>
        <p:spPr>
          <a:xfrm rot="16200000">
            <a:off x="7059272" y="878498"/>
            <a:ext cx="1301603" cy="746789"/>
          </a:xfrm>
          <a:prstGeom prst="rect">
            <a:avLst/>
          </a:prstGeom>
        </p:spPr>
      </p:pic>
      <p:sp>
        <p:nvSpPr>
          <p:cNvPr id="12" name="Arrow: Right 11">
            <a:extLst>
              <a:ext uri="{FF2B5EF4-FFF2-40B4-BE49-F238E27FC236}">
                <a16:creationId xmlns:a16="http://schemas.microsoft.com/office/drawing/2014/main" id="{338BB841-8010-5626-0B37-D2A2996E24F2}"/>
              </a:ext>
            </a:extLst>
          </p:cNvPr>
          <p:cNvSpPr/>
          <p:nvPr/>
        </p:nvSpPr>
        <p:spPr>
          <a:xfrm rot="10800000">
            <a:off x="6691845" y="2791697"/>
            <a:ext cx="1686305" cy="284739"/>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200"/>
          </a:p>
        </p:txBody>
      </p:sp>
      <p:sp>
        <p:nvSpPr>
          <p:cNvPr id="221" name="Arrow: Bent-Up 220">
            <a:extLst>
              <a:ext uri="{FF2B5EF4-FFF2-40B4-BE49-F238E27FC236}">
                <a16:creationId xmlns:a16="http://schemas.microsoft.com/office/drawing/2014/main" id="{B9B8D023-AA53-4D4E-B1CF-9AF9D8FBE2CE}"/>
              </a:ext>
            </a:extLst>
          </p:cNvPr>
          <p:cNvSpPr/>
          <p:nvPr/>
        </p:nvSpPr>
        <p:spPr>
          <a:xfrm rot="5400000">
            <a:off x="7979298" y="1519832"/>
            <a:ext cx="1928247" cy="1203469"/>
          </a:xfrm>
          <a:prstGeom prst="bentUpArrow">
            <a:avLst>
              <a:gd name="adj1" fmla="val 12403"/>
              <a:gd name="adj2" fmla="val 12661"/>
              <a:gd name="adj3" fmla="val 14384"/>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200"/>
          </a:p>
        </p:txBody>
      </p:sp>
      <p:sp>
        <p:nvSpPr>
          <p:cNvPr id="11" name="Arrow: Left-Right 10">
            <a:extLst>
              <a:ext uri="{FF2B5EF4-FFF2-40B4-BE49-F238E27FC236}">
                <a16:creationId xmlns:a16="http://schemas.microsoft.com/office/drawing/2014/main" id="{F0A16287-A210-72E6-9410-B31F790A4453}"/>
              </a:ext>
            </a:extLst>
          </p:cNvPr>
          <p:cNvSpPr/>
          <p:nvPr/>
        </p:nvSpPr>
        <p:spPr>
          <a:xfrm>
            <a:off x="8012664" y="989322"/>
            <a:ext cx="1737715" cy="323541"/>
          </a:xfrm>
          <a:prstGeom prst="lef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a:t>Data bus</a:t>
            </a:r>
          </a:p>
        </p:txBody>
      </p:sp>
      <p:graphicFrame>
        <p:nvGraphicFramePr>
          <p:cNvPr id="13" name="Table 12">
            <a:extLst>
              <a:ext uri="{FF2B5EF4-FFF2-40B4-BE49-F238E27FC236}">
                <a16:creationId xmlns:a16="http://schemas.microsoft.com/office/drawing/2014/main" id="{208DF896-56E6-027B-DBF4-EC1DA03849D1}"/>
              </a:ext>
            </a:extLst>
          </p:cNvPr>
          <p:cNvGraphicFramePr>
            <a:graphicFrameLocks noGrp="1"/>
          </p:cNvGraphicFramePr>
          <p:nvPr>
            <p:extLst>
              <p:ext uri="{D42A27DB-BD31-4B8C-83A1-F6EECF244321}">
                <p14:modId xmlns:p14="http://schemas.microsoft.com/office/powerpoint/2010/main" val="660590917"/>
              </p:ext>
            </p:extLst>
          </p:nvPr>
        </p:nvGraphicFramePr>
        <p:xfrm>
          <a:off x="211068" y="51378"/>
          <a:ext cx="3812674" cy="685800"/>
        </p:xfrm>
        <a:graphic>
          <a:graphicData uri="http://schemas.openxmlformats.org/drawingml/2006/table">
            <a:tbl>
              <a:tblPr firstRow="1" bandRow="1">
                <a:tableStyleId>{5C22544A-7EE6-4342-B048-85BDC9FD1C3A}</a:tableStyleId>
              </a:tblPr>
              <a:tblGrid>
                <a:gridCol w="577993">
                  <a:extLst>
                    <a:ext uri="{9D8B030D-6E8A-4147-A177-3AD203B41FA5}">
                      <a16:colId xmlns:a16="http://schemas.microsoft.com/office/drawing/2014/main" val="311691777"/>
                    </a:ext>
                  </a:extLst>
                </a:gridCol>
                <a:gridCol w="577993">
                  <a:extLst>
                    <a:ext uri="{9D8B030D-6E8A-4147-A177-3AD203B41FA5}">
                      <a16:colId xmlns:a16="http://schemas.microsoft.com/office/drawing/2014/main" val="1420690137"/>
                    </a:ext>
                  </a:extLst>
                </a:gridCol>
                <a:gridCol w="577993">
                  <a:extLst>
                    <a:ext uri="{9D8B030D-6E8A-4147-A177-3AD203B41FA5}">
                      <a16:colId xmlns:a16="http://schemas.microsoft.com/office/drawing/2014/main" val="1126661590"/>
                    </a:ext>
                  </a:extLst>
                </a:gridCol>
                <a:gridCol w="491176">
                  <a:extLst>
                    <a:ext uri="{9D8B030D-6E8A-4147-A177-3AD203B41FA5}">
                      <a16:colId xmlns:a16="http://schemas.microsoft.com/office/drawing/2014/main" val="2115716740"/>
                    </a:ext>
                  </a:extLst>
                </a:gridCol>
                <a:gridCol w="444137">
                  <a:extLst>
                    <a:ext uri="{9D8B030D-6E8A-4147-A177-3AD203B41FA5}">
                      <a16:colId xmlns:a16="http://schemas.microsoft.com/office/drawing/2014/main" val="3899932905"/>
                    </a:ext>
                  </a:extLst>
                </a:gridCol>
                <a:gridCol w="574766">
                  <a:extLst>
                    <a:ext uri="{9D8B030D-6E8A-4147-A177-3AD203B41FA5}">
                      <a16:colId xmlns:a16="http://schemas.microsoft.com/office/drawing/2014/main" val="3855179332"/>
                    </a:ext>
                  </a:extLst>
                </a:gridCol>
                <a:gridCol w="568616">
                  <a:extLst>
                    <a:ext uri="{9D8B030D-6E8A-4147-A177-3AD203B41FA5}">
                      <a16:colId xmlns:a16="http://schemas.microsoft.com/office/drawing/2014/main" val="73834889"/>
                    </a:ext>
                  </a:extLst>
                </a:gridCol>
              </a:tblGrid>
              <a:tr h="35708">
                <a:tc>
                  <a:txBody>
                    <a:bodyPr/>
                    <a:lstStyle/>
                    <a:p>
                      <a:pPr algn="ctr"/>
                      <a:r>
                        <a:rPr lang="en-US" sz="900" b="0"/>
                        <a:t>Operation</a:t>
                      </a:r>
                    </a:p>
                  </a:txBody>
                  <a:tcPr marL="0" marR="0" marT="0" marB="0"/>
                </a:tc>
                <a:tc>
                  <a:txBody>
                    <a:bodyPr/>
                    <a:lstStyle/>
                    <a:p>
                      <a:pPr algn="ctr"/>
                      <a:r>
                        <a:rPr lang="en-US" sz="900" b="0" err="1"/>
                        <a:t>ReadRAM</a:t>
                      </a:r>
                      <a:r>
                        <a:rPr lang="en-US" sz="900" b="0"/>
                        <a:t># </a:t>
                      </a:r>
                    </a:p>
                  </a:txBody>
                  <a:tcPr marL="0" marR="0" marT="0" marB="0"/>
                </a:tc>
                <a:tc>
                  <a:txBody>
                    <a:bodyPr/>
                    <a:lstStyle/>
                    <a:p>
                      <a:pPr algn="ctr"/>
                      <a:r>
                        <a:rPr lang="en-US" sz="900" b="0" err="1"/>
                        <a:t>WriteRAM</a:t>
                      </a:r>
                      <a:r>
                        <a:rPr lang="en-US" sz="900" b="0"/>
                        <a:t>#</a:t>
                      </a:r>
                    </a:p>
                  </a:txBody>
                  <a:tcPr marL="0" marR="0" marT="0" marB="0"/>
                </a:tc>
                <a:tc>
                  <a:txBody>
                    <a:bodyPr/>
                    <a:lstStyle/>
                    <a:p>
                      <a:pPr algn="ctr"/>
                      <a:r>
                        <a:rPr lang="en-US" sz="900" b="0" err="1"/>
                        <a:t>Addr_En</a:t>
                      </a:r>
                      <a:r>
                        <a:rPr lang="en-US" sz="900" b="0"/>
                        <a:t>#</a:t>
                      </a:r>
                    </a:p>
                  </a:txBody>
                  <a:tcPr marL="0" marR="0" marT="0" marB="0"/>
                </a:tc>
                <a:tc>
                  <a:txBody>
                    <a:bodyPr/>
                    <a:lstStyle/>
                    <a:p>
                      <a:pPr algn="ctr"/>
                      <a:r>
                        <a:rPr lang="en-US" sz="900" b="0"/>
                        <a:t>Dat_ </a:t>
                      </a:r>
                      <a:r>
                        <a:rPr lang="en-US" sz="900" b="0" err="1"/>
                        <a:t>dir</a:t>
                      </a:r>
                      <a:endParaRPr lang="en-US" sz="900" b="0"/>
                    </a:p>
                  </a:txBody>
                  <a:tcPr marL="0" marR="0" marT="0" marB="0"/>
                </a:tc>
                <a:tc>
                  <a:txBody>
                    <a:bodyPr/>
                    <a:lstStyle/>
                    <a:p>
                      <a:pPr algn="ctr"/>
                      <a:r>
                        <a:rPr lang="en-US" sz="900" b="0"/>
                        <a:t>SRAM OE#</a:t>
                      </a:r>
                    </a:p>
                  </a:txBody>
                  <a:tcPr marL="0" marR="0" marT="0" marB="0"/>
                </a:tc>
                <a:tc>
                  <a:txBody>
                    <a:bodyPr/>
                    <a:lstStyle/>
                    <a:p>
                      <a:pPr algn="ctr"/>
                      <a:r>
                        <a:rPr lang="en-US" sz="900" b="0"/>
                        <a:t>SRAM WE#</a:t>
                      </a:r>
                    </a:p>
                  </a:txBody>
                  <a:tcPr marL="0" marR="0" marT="0" marB="0"/>
                </a:tc>
                <a:extLst>
                  <a:ext uri="{0D108BD9-81ED-4DB2-BD59-A6C34878D82A}">
                    <a16:rowId xmlns:a16="http://schemas.microsoft.com/office/drawing/2014/main" val="987821183"/>
                  </a:ext>
                </a:extLst>
              </a:tr>
              <a:tr h="40062">
                <a:tc>
                  <a:txBody>
                    <a:bodyPr/>
                    <a:lstStyle/>
                    <a:p>
                      <a:pPr algn="ctr"/>
                      <a:r>
                        <a:rPr lang="en-US" sz="900" b="0"/>
                        <a:t>Idle</a:t>
                      </a:r>
                    </a:p>
                  </a:txBody>
                  <a:tcPr marL="0" marR="0" marT="0" marB="0"/>
                </a:tc>
                <a:tc>
                  <a:txBody>
                    <a:bodyPr/>
                    <a:lstStyle/>
                    <a:p>
                      <a:pPr algn="ctr"/>
                      <a:r>
                        <a:rPr lang="en-US" sz="900" b="0"/>
                        <a:t>0</a:t>
                      </a:r>
                    </a:p>
                  </a:txBody>
                  <a:tcPr marL="0" marR="0" marT="0" marB="0"/>
                </a:tc>
                <a:tc>
                  <a:txBody>
                    <a:bodyPr/>
                    <a:lstStyle/>
                    <a:p>
                      <a:pPr algn="ctr"/>
                      <a:r>
                        <a:rPr lang="en-US" sz="900" b="0"/>
                        <a:t>0</a:t>
                      </a:r>
                    </a:p>
                  </a:txBody>
                  <a:tcPr marL="0" marR="0" marT="0" marB="0"/>
                </a:tc>
                <a:tc>
                  <a:txBody>
                    <a:bodyPr/>
                    <a:lstStyle/>
                    <a:p>
                      <a:pPr algn="ctr"/>
                      <a:r>
                        <a:rPr lang="en-US" sz="900" b="0"/>
                        <a:t>1</a:t>
                      </a:r>
                    </a:p>
                  </a:txBody>
                  <a:tcPr marL="0" marR="0" marT="0" marB="0"/>
                </a:tc>
                <a:tc>
                  <a:txBody>
                    <a:bodyPr/>
                    <a:lstStyle/>
                    <a:p>
                      <a:pPr algn="ctr"/>
                      <a:r>
                        <a:rPr lang="en-US" sz="900" b="0"/>
                        <a:t>N/A</a:t>
                      </a:r>
                    </a:p>
                  </a:txBody>
                  <a:tcPr marL="0" marR="0" marT="0" marB="0"/>
                </a:tc>
                <a:tc>
                  <a:txBody>
                    <a:bodyPr/>
                    <a:lstStyle/>
                    <a:p>
                      <a:pPr algn="ctr"/>
                      <a:r>
                        <a:rPr lang="en-US" sz="900" b="0"/>
                        <a:t>N/A</a:t>
                      </a:r>
                    </a:p>
                  </a:txBody>
                  <a:tcPr marL="0" marR="0" marT="0" marB="0"/>
                </a:tc>
                <a:tc>
                  <a:txBody>
                    <a:bodyPr/>
                    <a:lstStyle/>
                    <a:p>
                      <a:pPr algn="ctr"/>
                      <a:r>
                        <a:rPr lang="en-US" sz="900" b="0"/>
                        <a:t>N/A</a:t>
                      </a:r>
                    </a:p>
                  </a:txBody>
                  <a:tcPr marL="0" marR="0" marT="0" marB="0"/>
                </a:tc>
                <a:extLst>
                  <a:ext uri="{0D108BD9-81ED-4DB2-BD59-A6C34878D82A}">
                    <a16:rowId xmlns:a16="http://schemas.microsoft.com/office/drawing/2014/main" val="155039513"/>
                  </a:ext>
                </a:extLst>
              </a:tr>
              <a:tr h="0">
                <a:tc>
                  <a:txBody>
                    <a:bodyPr/>
                    <a:lstStyle/>
                    <a:p>
                      <a:pPr algn="ctr"/>
                      <a:r>
                        <a:rPr lang="en-US" sz="900" b="0"/>
                        <a:t>RAM </a:t>
                      </a:r>
                      <a:r>
                        <a:rPr lang="en-US" sz="900" b="0">
                          <a:sym typeface="Wingdings" panose="05000000000000000000" pitchFamily="2" charset="2"/>
                        </a:rPr>
                        <a:t> SD</a:t>
                      </a:r>
                      <a:endParaRPr lang="en-US" sz="900" b="0"/>
                    </a:p>
                  </a:txBody>
                  <a:tcPr marL="0" marR="0" marT="0" marB="0"/>
                </a:tc>
                <a:tc>
                  <a:txBody>
                    <a:bodyPr/>
                    <a:lstStyle/>
                    <a:p>
                      <a:pPr algn="ctr"/>
                      <a:r>
                        <a:rPr lang="en-US" sz="900" b="0"/>
                        <a:t>0</a:t>
                      </a:r>
                    </a:p>
                  </a:txBody>
                  <a:tcPr marL="0" marR="0" marT="0" marB="0"/>
                </a:tc>
                <a:tc>
                  <a:txBody>
                    <a:bodyPr/>
                    <a:lstStyle/>
                    <a:p>
                      <a:pPr algn="ctr"/>
                      <a:r>
                        <a:rPr lang="en-US" sz="900" b="0"/>
                        <a:t>1</a:t>
                      </a:r>
                    </a:p>
                  </a:txBody>
                  <a:tcPr marL="0" marR="0" marT="0" marB="0"/>
                </a:tc>
                <a:tc>
                  <a:txBody>
                    <a:bodyPr/>
                    <a:lstStyle/>
                    <a:p>
                      <a:pPr algn="ctr"/>
                      <a:r>
                        <a:rPr lang="en-US" sz="900" b="0"/>
                        <a:t>0</a:t>
                      </a:r>
                    </a:p>
                  </a:txBody>
                  <a:tcPr marL="0" marR="0" marT="0" marB="0"/>
                </a:tc>
                <a:tc>
                  <a:txBody>
                    <a:bodyPr/>
                    <a:lstStyle/>
                    <a:p>
                      <a:pPr algn="ctr"/>
                      <a:r>
                        <a:rPr lang="en-US" sz="900" b="0"/>
                        <a:t>In</a:t>
                      </a:r>
                    </a:p>
                  </a:txBody>
                  <a:tcPr marL="0" marR="0" marT="0" marB="0"/>
                </a:tc>
                <a:tc>
                  <a:txBody>
                    <a:bodyPr/>
                    <a:lstStyle/>
                    <a:p>
                      <a:pPr algn="ctr"/>
                      <a:r>
                        <a:rPr lang="en-US" sz="900" b="0"/>
                        <a:t>0</a:t>
                      </a:r>
                    </a:p>
                  </a:txBody>
                  <a:tcPr marL="0" marR="0" marT="0" marB="0"/>
                </a:tc>
                <a:tc>
                  <a:txBody>
                    <a:bodyPr/>
                    <a:lstStyle/>
                    <a:p>
                      <a:pPr algn="ctr"/>
                      <a:r>
                        <a:rPr lang="en-US" sz="900" b="0"/>
                        <a:t>1</a:t>
                      </a:r>
                    </a:p>
                  </a:txBody>
                  <a:tcPr marL="0" marR="0" marT="0" marB="0"/>
                </a:tc>
                <a:extLst>
                  <a:ext uri="{0D108BD9-81ED-4DB2-BD59-A6C34878D82A}">
                    <a16:rowId xmlns:a16="http://schemas.microsoft.com/office/drawing/2014/main" val="955148253"/>
                  </a:ext>
                </a:extLst>
              </a:tr>
              <a:tr h="48771">
                <a:tc>
                  <a:txBody>
                    <a:bodyPr/>
                    <a:lstStyle/>
                    <a:p>
                      <a:pPr algn="ctr"/>
                      <a:r>
                        <a:rPr lang="en-US" sz="900" b="0"/>
                        <a:t>SD </a:t>
                      </a:r>
                      <a:r>
                        <a:rPr lang="en-US" sz="900" b="0">
                          <a:sym typeface="Wingdings" panose="05000000000000000000" pitchFamily="2" charset="2"/>
                        </a:rPr>
                        <a:t></a:t>
                      </a:r>
                      <a:r>
                        <a:rPr lang="en-US" sz="900" b="0"/>
                        <a:t> RAM</a:t>
                      </a:r>
                    </a:p>
                  </a:txBody>
                  <a:tcPr marL="0" marR="0" marT="0" marB="0"/>
                </a:tc>
                <a:tc>
                  <a:txBody>
                    <a:bodyPr/>
                    <a:lstStyle/>
                    <a:p>
                      <a:pPr algn="ctr"/>
                      <a:r>
                        <a:rPr lang="en-US" sz="900" b="0"/>
                        <a:t>1</a:t>
                      </a:r>
                    </a:p>
                  </a:txBody>
                  <a:tcPr marL="0" marR="0" marT="0" marB="0"/>
                </a:tc>
                <a:tc>
                  <a:txBody>
                    <a:bodyPr/>
                    <a:lstStyle/>
                    <a:p>
                      <a:pPr algn="ctr"/>
                      <a:r>
                        <a:rPr lang="en-US" sz="900" b="0"/>
                        <a:t>0</a:t>
                      </a:r>
                    </a:p>
                  </a:txBody>
                  <a:tcPr marL="0" marR="0" marT="0" marB="0"/>
                </a:tc>
                <a:tc>
                  <a:txBody>
                    <a:bodyPr/>
                    <a:lstStyle/>
                    <a:p>
                      <a:pPr algn="ctr"/>
                      <a:r>
                        <a:rPr lang="en-US" sz="900" b="0"/>
                        <a:t>0</a:t>
                      </a:r>
                    </a:p>
                  </a:txBody>
                  <a:tcPr marL="0" marR="0" marT="0" marB="0"/>
                </a:tc>
                <a:tc>
                  <a:txBody>
                    <a:bodyPr/>
                    <a:lstStyle/>
                    <a:p>
                      <a:pPr algn="ctr"/>
                      <a:r>
                        <a:rPr lang="en-US" sz="900" b="0"/>
                        <a:t>Out</a:t>
                      </a:r>
                    </a:p>
                  </a:txBody>
                  <a:tcPr marL="0" marR="0" marT="0" marB="0"/>
                </a:tc>
                <a:tc>
                  <a:txBody>
                    <a:bodyPr/>
                    <a:lstStyle/>
                    <a:p>
                      <a:pPr algn="ctr"/>
                      <a:r>
                        <a:rPr lang="en-US" sz="900" b="0"/>
                        <a:t>1</a:t>
                      </a:r>
                    </a:p>
                  </a:txBody>
                  <a:tcPr marL="0" marR="0" marT="0" marB="0"/>
                </a:tc>
                <a:tc>
                  <a:txBody>
                    <a:bodyPr/>
                    <a:lstStyle/>
                    <a:p>
                      <a:pPr algn="ctr"/>
                      <a:r>
                        <a:rPr lang="en-US" sz="900" b="0"/>
                        <a:t>0</a:t>
                      </a:r>
                    </a:p>
                  </a:txBody>
                  <a:tcPr marL="0" marR="0" marT="0" marB="0"/>
                </a:tc>
                <a:extLst>
                  <a:ext uri="{0D108BD9-81ED-4DB2-BD59-A6C34878D82A}">
                    <a16:rowId xmlns:a16="http://schemas.microsoft.com/office/drawing/2014/main" val="3964493577"/>
                  </a:ext>
                </a:extLst>
              </a:tr>
              <a:tr h="0">
                <a:tc>
                  <a:txBody>
                    <a:bodyPr/>
                    <a:lstStyle/>
                    <a:p>
                      <a:pPr algn="ctr"/>
                      <a:r>
                        <a:rPr lang="en-US" sz="900" b="0"/>
                        <a:t>Idle</a:t>
                      </a:r>
                    </a:p>
                  </a:txBody>
                  <a:tcPr marL="0" marR="0" marT="0" marB="0"/>
                </a:tc>
                <a:tc>
                  <a:txBody>
                    <a:bodyPr/>
                    <a:lstStyle/>
                    <a:p>
                      <a:pPr algn="ctr"/>
                      <a:r>
                        <a:rPr lang="en-US" sz="900" b="0"/>
                        <a:t>1</a:t>
                      </a:r>
                    </a:p>
                  </a:txBody>
                  <a:tcPr marL="0" marR="0" marT="0" marB="0"/>
                </a:tc>
                <a:tc>
                  <a:txBody>
                    <a:bodyPr/>
                    <a:lstStyle/>
                    <a:p>
                      <a:pPr algn="ctr"/>
                      <a:r>
                        <a:rPr lang="en-US" sz="900" b="0"/>
                        <a:t>1</a:t>
                      </a:r>
                    </a:p>
                  </a:txBody>
                  <a:tcPr marL="0" marR="0" marT="0" marB="0"/>
                </a:tc>
                <a:tc>
                  <a:txBody>
                    <a:bodyPr/>
                    <a:lstStyle/>
                    <a:p>
                      <a:pPr algn="ctr"/>
                      <a:r>
                        <a:rPr lang="en-US" sz="900" b="0"/>
                        <a:t>1</a:t>
                      </a:r>
                    </a:p>
                  </a:txBody>
                  <a:tcPr marL="0" marR="0" marT="0" marB="0"/>
                </a:tc>
                <a:tc>
                  <a:txBody>
                    <a:bodyPr/>
                    <a:lstStyle/>
                    <a:p>
                      <a:pPr algn="ctr"/>
                      <a:r>
                        <a:rPr lang="en-US" sz="900" b="0"/>
                        <a:t>N/A</a:t>
                      </a:r>
                    </a:p>
                  </a:txBody>
                  <a:tcPr marL="0" marR="0" marT="0" marB="0"/>
                </a:tc>
                <a:tc>
                  <a:txBody>
                    <a:bodyPr/>
                    <a:lstStyle/>
                    <a:p>
                      <a:pPr algn="ctr"/>
                      <a:r>
                        <a:rPr lang="en-US" sz="900" b="0"/>
                        <a:t>N/A</a:t>
                      </a:r>
                    </a:p>
                  </a:txBody>
                  <a:tcPr marL="0" marR="0" marT="0" marB="0"/>
                </a:tc>
                <a:tc>
                  <a:txBody>
                    <a:bodyPr/>
                    <a:lstStyle/>
                    <a:p>
                      <a:pPr algn="ctr"/>
                      <a:r>
                        <a:rPr lang="en-US" sz="900" b="0"/>
                        <a:t>N/A</a:t>
                      </a:r>
                    </a:p>
                  </a:txBody>
                  <a:tcPr marL="0" marR="0" marT="0" marB="0"/>
                </a:tc>
                <a:extLst>
                  <a:ext uri="{0D108BD9-81ED-4DB2-BD59-A6C34878D82A}">
                    <a16:rowId xmlns:a16="http://schemas.microsoft.com/office/drawing/2014/main" val="1331402396"/>
                  </a:ext>
                </a:extLst>
              </a:tr>
            </a:tbl>
          </a:graphicData>
        </a:graphic>
      </p:graphicFrame>
      <p:pic>
        <p:nvPicPr>
          <p:cNvPr id="14" name="Picture 13">
            <a:extLst>
              <a:ext uri="{FF2B5EF4-FFF2-40B4-BE49-F238E27FC236}">
                <a16:creationId xmlns:a16="http://schemas.microsoft.com/office/drawing/2014/main" id="{4DB3782A-3CCD-1734-F5F6-FFBE731F6749}"/>
              </a:ext>
            </a:extLst>
          </p:cNvPr>
          <p:cNvPicPr>
            <a:picLocks noChangeAspect="1"/>
          </p:cNvPicPr>
          <p:nvPr/>
        </p:nvPicPr>
        <p:blipFill>
          <a:blip r:embed="rId11"/>
          <a:stretch>
            <a:fillRect/>
          </a:stretch>
        </p:blipFill>
        <p:spPr>
          <a:xfrm rot="5400000">
            <a:off x="11091037" y="4705551"/>
            <a:ext cx="1301603" cy="746789"/>
          </a:xfrm>
          <a:prstGeom prst="rect">
            <a:avLst/>
          </a:prstGeom>
        </p:spPr>
      </p:pic>
      <p:sp>
        <p:nvSpPr>
          <p:cNvPr id="16" name="TextBox 15">
            <a:extLst>
              <a:ext uri="{FF2B5EF4-FFF2-40B4-BE49-F238E27FC236}">
                <a16:creationId xmlns:a16="http://schemas.microsoft.com/office/drawing/2014/main" id="{64B15E8A-8A37-9234-C747-2F650CD9B089}"/>
              </a:ext>
            </a:extLst>
          </p:cNvPr>
          <p:cNvSpPr txBox="1"/>
          <p:nvPr/>
        </p:nvSpPr>
        <p:spPr>
          <a:xfrm>
            <a:off x="8727309" y="2180473"/>
            <a:ext cx="647934" cy="230832"/>
          </a:xfrm>
          <a:prstGeom prst="rect">
            <a:avLst/>
          </a:prstGeom>
          <a:noFill/>
        </p:spPr>
        <p:txBody>
          <a:bodyPr wrap="none" rtlCol="0">
            <a:spAutoFit/>
          </a:bodyPr>
          <a:lstStyle/>
          <a:p>
            <a:r>
              <a:rPr lang="en-US" sz="900" err="1">
                <a:highlight>
                  <a:srgbClr val="FFFF00"/>
                </a:highlight>
              </a:rPr>
              <a:t>Addr_en</a:t>
            </a:r>
            <a:r>
              <a:rPr lang="en-US" sz="900">
                <a:highlight>
                  <a:srgbClr val="FFFF00"/>
                </a:highlight>
              </a:rPr>
              <a:t>#</a:t>
            </a:r>
          </a:p>
        </p:txBody>
      </p:sp>
      <p:cxnSp>
        <p:nvCxnSpPr>
          <p:cNvPr id="24" name="Straight Arrow Connector 23">
            <a:extLst>
              <a:ext uri="{FF2B5EF4-FFF2-40B4-BE49-F238E27FC236}">
                <a16:creationId xmlns:a16="http://schemas.microsoft.com/office/drawing/2014/main" id="{8C3AAB93-D527-CAD2-9263-7370F9B20E4C}"/>
              </a:ext>
            </a:extLst>
          </p:cNvPr>
          <p:cNvCxnSpPr>
            <a:cxnSpLocks/>
          </p:cNvCxnSpPr>
          <p:nvPr/>
        </p:nvCxnSpPr>
        <p:spPr>
          <a:xfrm>
            <a:off x="9256065" y="2304221"/>
            <a:ext cx="3092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1C0C3316-5D05-A535-C4CA-CB242CC02F71}"/>
              </a:ext>
            </a:extLst>
          </p:cNvPr>
          <p:cNvSpPr txBox="1"/>
          <p:nvPr/>
        </p:nvSpPr>
        <p:spPr>
          <a:xfrm>
            <a:off x="10820313" y="3979136"/>
            <a:ext cx="697627" cy="230832"/>
          </a:xfrm>
          <a:prstGeom prst="rect">
            <a:avLst/>
          </a:prstGeom>
          <a:noFill/>
        </p:spPr>
        <p:txBody>
          <a:bodyPr wrap="square" rtlCol="0">
            <a:spAutoFit/>
          </a:bodyPr>
          <a:lstStyle/>
          <a:p>
            <a:r>
              <a:rPr lang="en-US" sz="900" err="1">
                <a:highlight>
                  <a:srgbClr val="FFFF00"/>
                </a:highlight>
              </a:rPr>
              <a:t>Addr_en</a:t>
            </a:r>
            <a:r>
              <a:rPr lang="en-US" sz="900">
                <a:highlight>
                  <a:srgbClr val="FFFF00"/>
                </a:highlight>
              </a:rPr>
              <a:t>#</a:t>
            </a:r>
          </a:p>
        </p:txBody>
      </p:sp>
      <p:cxnSp>
        <p:nvCxnSpPr>
          <p:cNvPr id="35" name="Connector: Elbow 34">
            <a:extLst>
              <a:ext uri="{FF2B5EF4-FFF2-40B4-BE49-F238E27FC236}">
                <a16:creationId xmlns:a16="http://schemas.microsoft.com/office/drawing/2014/main" id="{48F50E9D-6D5A-B7FB-DFA0-63226FCED826}"/>
              </a:ext>
            </a:extLst>
          </p:cNvPr>
          <p:cNvCxnSpPr>
            <a:endCxn id="14" idx="1"/>
          </p:cNvCxnSpPr>
          <p:nvPr/>
        </p:nvCxnSpPr>
        <p:spPr>
          <a:xfrm>
            <a:off x="11402698" y="4102249"/>
            <a:ext cx="339143" cy="32589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B0D63108-3440-698E-019B-748BD6C8DE60}"/>
              </a:ext>
            </a:extLst>
          </p:cNvPr>
          <p:cNvSpPr txBox="1"/>
          <p:nvPr/>
        </p:nvSpPr>
        <p:spPr>
          <a:xfrm>
            <a:off x="8766993" y="1663289"/>
            <a:ext cx="737702" cy="230832"/>
          </a:xfrm>
          <a:prstGeom prst="rect">
            <a:avLst/>
          </a:prstGeom>
          <a:noFill/>
        </p:spPr>
        <p:txBody>
          <a:bodyPr wrap="none" rtlCol="0">
            <a:spAutoFit/>
          </a:bodyPr>
          <a:lstStyle/>
          <a:p>
            <a:r>
              <a:rPr lang="en-US" sz="900" err="1"/>
              <a:t>WriteRAM</a:t>
            </a:r>
            <a:r>
              <a:rPr lang="en-US" sz="900"/>
              <a:t>#</a:t>
            </a:r>
          </a:p>
        </p:txBody>
      </p:sp>
      <p:cxnSp>
        <p:nvCxnSpPr>
          <p:cNvPr id="37" name="Straight Arrow Connector 36">
            <a:extLst>
              <a:ext uri="{FF2B5EF4-FFF2-40B4-BE49-F238E27FC236}">
                <a16:creationId xmlns:a16="http://schemas.microsoft.com/office/drawing/2014/main" id="{9B971117-0627-C3E6-1A0C-9A096E3872A4}"/>
              </a:ext>
            </a:extLst>
          </p:cNvPr>
          <p:cNvCxnSpPr>
            <a:cxnSpLocks/>
          </p:cNvCxnSpPr>
          <p:nvPr/>
        </p:nvCxnSpPr>
        <p:spPr>
          <a:xfrm flipH="1">
            <a:off x="8097839" y="1776741"/>
            <a:ext cx="6804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02A2984-DE3D-3AB1-288B-DFBA7FC7429A}"/>
              </a:ext>
            </a:extLst>
          </p:cNvPr>
          <p:cNvSpPr txBox="1"/>
          <p:nvPr/>
        </p:nvSpPr>
        <p:spPr>
          <a:xfrm rot="5400000">
            <a:off x="7209900" y="1140539"/>
            <a:ext cx="979717" cy="161711"/>
          </a:xfrm>
          <a:prstGeom prst="rect">
            <a:avLst/>
          </a:prstGeom>
          <a:solidFill>
            <a:schemeClr val="bg1"/>
          </a:solidFill>
        </p:spPr>
        <p:txBody>
          <a:bodyPr wrap="square" lIns="0" tIns="0" rIns="0" bIns="0" rtlCol="0">
            <a:spAutoFit/>
          </a:bodyPr>
          <a:lstStyle/>
          <a:p>
            <a:r>
              <a:rPr lang="en-US" sz="1051"/>
              <a:t>HC245 Data Out</a:t>
            </a:r>
          </a:p>
        </p:txBody>
      </p:sp>
      <p:sp>
        <p:nvSpPr>
          <p:cNvPr id="30" name="TextBox 29">
            <a:extLst>
              <a:ext uri="{FF2B5EF4-FFF2-40B4-BE49-F238E27FC236}">
                <a16:creationId xmlns:a16="http://schemas.microsoft.com/office/drawing/2014/main" id="{BB0B13A9-1EA4-FA9C-1696-8CE347538B6A}"/>
              </a:ext>
            </a:extLst>
          </p:cNvPr>
          <p:cNvSpPr txBox="1"/>
          <p:nvPr/>
        </p:nvSpPr>
        <p:spPr>
          <a:xfrm rot="5400000">
            <a:off x="11264655" y="4970777"/>
            <a:ext cx="979717" cy="161711"/>
          </a:xfrm>
          <a:prstGeom prst="rect">
            <a:avLst/>
          </a:prstGeom>
          <a:solidFill>
            <a:schemeClr val="bg1"/>
          </a:solidFill>
        </p:spPr>
        <p:txBody>
          <a:bodyPr wrap="square" lIns="0" tIns="0" rIns="0" bIns="0" rtlCol="0">
            <a:spAutoFit/>
          </a:bodyPr>
          <a:lstStyle/>
          <a:p>
            <a:r>
              <a:rPr lang="en-US" sz="1051"/>
              <a:t>HC245 </a:t>
            </a:r>
            <a:r>
              <a:rPr lang="en-US" sz="1051" err="1"/>
              <a:t>Addr</a:t>
            </a:r>
            <a:r>
              <a:rPr lang="en-US" sz="1051"/>
              <a:t> Out</a:t>
            </a:r>
          </a:p>
        </p:txBody>
      </p:sp>
      <p:sp>
        <p:nvSpPr>
          <p:cNvPr id="3" name="Rectangle 2">
            <a:hlinkClick r:id="rId12" action="ppaction://hlinksldjump"/>
            <a:extLst>
              <a:ext uri="{FF2B5EF4-FFF2-40B4-BE49-F238E27FC236}">
                <a16:creationId xmlns:a16="http://schemas.microsoft.com/office/drawing/2014/main" id="{018380DC-7E92-D1D1-70CB-92B29DEE0A64}"/>
              </a:ext>
            </a:extLst>
          </p:cNvPr>
          <p:cNvSpPr/>
          <p:nvPr/>
        </p:nvSpPr>
        <p:spPr>
          <a:xfrm>
            <a:off x="8771908" y="3689733"/>
            <a:ext cx="1399933" cy="129265"/>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000"/>
              <a:t>~SD Card Device En</a:t>
            </a:r>
          </a:p>
        </p:txBody>
      </p:sp>
      <p:cxnSp>
        <p:nvCxnSpPr>
          <p:cNvPr id="33" name="Connector: Elbow 32">
            <a:extLst>
              <a:ext uri="{FF2B5EF4-FFF2-40B4-BE49-F238E27FC236}">
                <a16:creationId xmlns:a16="http://schemas.microsoft.com/office/drawing/2014/main" id="{0296FB75-CAE4-8548-8566-9CE27B084F22}"/>
              </a:ext>
            </a:extLst>
          </p:cNvPr>
          <p:cNvCxnSpPr>
            <a:cxnSpLocks/>
            <a:stCxn id="3" idx="1"/>
          </p:cNvCxnSpPr>
          <p:nvPr/>
        </p:nvCxnSpPr>
        <p:spPr>
          <a:xfrm rot="10800000" flipV="1">
            <a:off x="8327572" y="3754365"/>
            <a:ext cx="444337" cy="13836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F011CAD-478C-FC95-7E42-A67FFD3A5B61}"/>
              </a:ext>
            </a:extLst>
          </p:cNvPr>
          <p:cNvSpPr txBox="1"/>
          <p:nvPr/>
        </p:nvSpPr>
        <p:spPr>
          <a:xfrm>
            <a:off x="6841831" y="1874555"/>
            <a:ext cx="790883" cy="230832"/>
          </a:xfrm>
          <a:prstGeom prst="rect">
            <a:avLst/>
          </a:prstGeom>
          <a:noFill/>
        </p:spPr>
        <p:txBody>
          <a:bodyPr wrap="square" rtlCol="0">
            <a:spAutoFit/>
          </a:bodyPr>
          <a:lstStyle/>
          <a:p>
            <a:pPr algn="ctr"/>
            <a:r>
              <a:rPr lang="en-US" sz="900" err="1">
                <a:highlight>
                  <a:srgbClr val="FFFF00"/>
                </a:highlight>
              </a:rPr>
              <a:t>Addr_en</a:t>
            </a:r>
            <a:r>
              <a:rPr lang="en-US" sz="900">
                <a:highlight>
                  <a:srgbClr val="FFFF00"/>
                </a:highlight>
              </a:rPr>
              <a:t>#</a:t>
            </a:r>
          </a:p>
        </p:txBody>
      </p:sp>
      <p:cxnSp>
        <p:nvCxnSpPr>
          <p:cNvPr id="52" name="Straight Arrow Connector 51">
            <a:extLst>
              <a:ext uri="{FF2B5EF4-FFF2-40B4-BE49-F238E27FC236}">
                <a16:creationId xmlns:a16="http://schemas.microsoft.com/office/drawing/2014/main" id="{FBC0DB9E-C428-9FDB-680F-288D53E70E85}"/>
              </a:ext>
            </a:extLst>
          </p:cNvPr>
          <p:cNvCxnSpPr>
            <a:cxnSpLocks/>
            <a:stCxn id="44" idx="1"/>
          </p:cNvCxnSpPr>
          <p:nvPr/>
        </p:nvCxnSpPr>
        <p:spPr>
          <a:xfrm flipH="1">
            <a:off x="8343002" y="4043098"/>
            <a:ext cx="30324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Slide Number Placeholder 4">
            <a:extLst>
              <a:ext uri="{FF2B5EF4-FFF2-40B4-BE49-F238E27FC236}">
                <a16:creationId xmlns:a16="http://schemas.microsoft.com/office/drawing/2014/main" id="{9C6356ED-26C1-38A7-A183-5294C16AB23B}"/>
              </a:ext>
            </a:extLst>
          </p:cNvPr>
          <p:cNvSpPr txBox="1">
            <a:spLocks/>
          </p:cNvSpPr>
          <p:nvPr/>
        </p:nvSpPr>
        <p:spPr>
          <a:xfrm>
            <a:off x="9402419" y="6368191"/>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32</a:t>
            </a:fld>
            <a:endParaRPr lang="en-US" b="1">
              <a:solidFill>
                <a:schemeClr val="bg1"/>
              </a:solidFill>
            </a:endParaRPr>
          </a:p>
        </p:txBody>
      </p:sp>
      <p:cxnSp>
        <p:nvCxnSpPr>
          <p:cNvPr id="54" name="Connector: Elbow 53">
            <a:extLst>
              <a:ext uri="{FF2B5EF4-FFF2-40B4-BE49-F238E27FC236}">
                <a16:creationId xmlns:a16="http://schemas.microsoft.com/office/drawing/2014/main" id="{5A55D87E-AB3D-0690-9097-D02C692C2BC5}"/>
              </a:ext>
            </a:extLst>
          </p:cNvPr>
          <p:cNvCxnSpPr>
            <a:cxnSpLocks/>
            <a:stCxn id="76" idx="2"/>
            <a:endCxn id="125" idx="3"/>
          </p:cNvCxnSpPr>
          <p:nvPr/>
        </p:nvCxnSpPr>
        <p:spPr>
          <a:xfrm rot="5400000">
            <a:off x="5712457" y="4929737"/>
            <a:ext cx="53521" cy="730563"/>
          </a:xfrm>
          <a:prstGeom prst="bentConnector2">
            <a:avLst/>
          </a:prstGeom>
          <a:ln>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70" name="Connector: Elbow 69">
            <a:extLst>
              <a:ext uri="{FF2B5EF4-FFF2-40B4-BE49-F238E27FC236}">
                <a16:creationId xmlns:a16="http://schemas.microsoft.com/office/drawing/2014/main" id="{27E4E877-003F-E7E7-9292-A44A7F9E2D39}"/>
              </a:ext>
            </a:extLst>
          </p:cNvPr>
          <p:cNvCxnSpPr>
            <a:cxnSpLocks/>
            <a:stCxn id="86" idx="2"/>
            <a:endCxn id="119" idx="3"/>
          </p:cNvCxnSpPr>
          <p:nvPr/>
        </p:nvCxnSpPr>
        <p:spPr>
          <a:xfrm rot="5400000">
            <a:off x="5685835" y="4959098"/>
            <a:ext cx="234919" cy="858718"/>
          </a:xfrm>
          <a:prstGeom prst="bentConnector2">
            <a:avLst/>
          </a:prstGeom>
          <a:ln>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2EF2EF70-EE79-B6C1-B8F6-55C65D6014BC}"/>
              </a:ext>
            </a:extLst>
          </p:cNvPr>
          <p:cNvSpPr/>
          <p:nvPr/>
        </p:nvSpPr>
        <p:spPr>
          <a:xfrm>
            <a:off x="6076587" y="5222539"/>
            <a:ext cx="55822"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DC83931F-CB80-7196-FCFD-9ACAA5954656}"/>
              </a:ext>
            </a:extLst>
          </p:cNvPr>
          <p:cNvSpPr/>
          <p:nvPr/>
        </p:nvSpPr>
        <p:spPr>
          <a:xfrm>
            <a:off x="6204742" y="5225279"/>
            <a:ext cx="55822"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Picture 52">
            <a:extLst>
              <a:ext uri="{FF2B5EF4-FFF2-40B4-BE49-F238E27FC236}">
                <a16:creationId xmlns:a16="http://schemas.microsoft.com/office/drawing/2014/main" id="{18AC4AE0-11C3-A491-5CEE-268ED835EB7D}"/>
              </a:ext>
            </a:extLst>
          </p:cNvPr>
          <p:cNvPicPr>
            <a:picLocks noChangeAspect="1"/>
          </p:cNvPicPr>
          <p:nvPr/>
        </p:nvPicPr>
        <p:blipFill>
          <a:blip r:embed="rId13"/>
          <a:stretch>
            <a:fillRect/>
          </a:stretch>
        </p:blipFill>
        <p:spPr>
          <a:xfrm rot="16200000">
            <a:off x="5925896" y="4880247"/>
            <a:ext cx="481808" cy="310844"/>
          </a:xfrm>
          <a:prstGeom prst="rect">
            <a:avLst/>
          </a:prstGeom>
        </p:spPr>
      </p:pic>
      <p:cxnSp>
        <p:nvCxnSpPr>
          <p:cNvPr id="23" name="Connector: Elbow 22">
            <a:extLst>
              <a:ext uri="{FF2B5EF4-FFF2-40B4-BE49-F238E27FC236}">
                <a16:creationId xmlns:a16="http://schemas.microsoft.com/office/drawing/2014/main" id="{606379D5-F74F-E95D-15E4-B55916E4BEE2}"/>
              </a:ext>
            </a:extLst>
          </p:cNvPr>
          <p:cNvCxnSpPr>
            <a:cxnSpLocks/>
            <a:stCxn id="42" idx="1"/>
            <a:endCxn id="18" idx="0"/>
          </p:cNvCxnSpPr>
          <p:nvPr/>
        </p:nvCxnSpPr>
        <p:spPr>
          <a:xfrm rot="10800000" flipV="1">
            <a:off x="1374517" y="2078130"/>
            <a:ext cx="3092748" cy="228231"/>
          </a:xfrm>
          <a:prstGeom prst="bentConnector2">
            <a:avLst/>
          </a:prstGeom>
          <a:ln>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39565348-4A1E-69B0-C1F8-7450F55485BB}"/>
              </a:ext>
            </a:extLst>
          </p:cNvPr>
          <p:cNvCxnSpPr>
            <a:cxnSpLocks/>
            <a:stCxn id="41" idx="1"/>
            <a:endCxn id="19" idx="0"/>
          </p:cNvCxnSpPr>
          <p:nvPr/>
        </p:nvCxnSpPr>
        <p:spPr>
          <a:xfrm rot="10800000" flipV="1">
            <a:off x="1252591" y="1893992"/>
            <a:ext cx="3214675" cy="412369"/>
          </a:xfrm>
          <a:prstGeom prst="bentConnector2">
            <a:avLst/>
          </a:prstGeom>
          <a:ln>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643D3BDA-417D-F79E-29ED-1F707412E480}"/>
              </a:ext>
            </a:extLst>
          </p:cNvPr>
          <p:cNvCxnSpPr>
            <a:cxnSpLocks/>
            <a:stCxn id="40" idx="1"/>
            <a:endCxn id="20" idx="0"/>
          </p:cNvCxnSpPr>
          <p:nvPr/>
        </p:nvCxnSpPr>
        <p:spPr>
          <a:xfrm rot="10800000" flipV="1">
            <a:off x="1130665" y="1709854"/>
            <a:ext cx="3336600" cy="596507"/>
          </a:xfrm>
          <a:prstGeom prst="bentConnector2">
            <a:avLst/>
          </a:prstGeom>
          <a:ln>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7A622CEE-F1A9-5774-CEE9-26B3D4A1F80C}"/>
              </a:ext>
            </a:extLst>
          </p:cNvPr>
          <p:cNvCxnSpPr>
            <a:cxnSpLocks/>
            <a:stCxn id="39" idx="1"/>
            <a:endCxn id="17" idx="0"/>
          </p:cNvCxnSpPr>
          <p:nvPr/>
        </p:nvCxnSpPr>
        <p:spPr>
          <a:xfrm rot="10800000" flipV="1">
            <a:off x="1008739" y="1525716"/>
            <a:ext cx="3458527" cy="780645"/>
          </a:xfrm>
          <a:prstGeom prst="bentConnector2">
            <a:avLst/>
          </a:prstGeom>
          <a:ln>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8EF5DD50-D6D5-B9AB-D8B8-A66DA5A6456E}"/>
              </a:ext>
            </a:extLst>
          </p:cNvPr>
          <p:cNvCxnSpPr>
            <a:cxnSpLocks/>
            <a:stCxn id="38" idx="1"/>
            <a:endCxn id="21" idx="0"/>
          </p:cNvCxnSpPr>
          <p:nvPr/>
        </p:nvCxnSpPr>
        <p:spPr>
          <a:xfrm rot="10800000" flipV="1">
            <a:off x="886813" y="1341578"/>
            <a:ext cx="3580452" cy="964783"/>
          </a:xfrm>
          <a:prstGeom prst="bentConnector2">
            <a:avLst/>
          </a:prstGeom>
          <a:ln>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68" name="Connector: Elbow 67">
            <a:extLst>
              <a:ext uri="{FF2B5EF4-FFF2-40B4-BE49-F238E27FC236}">
                <a16:creationId xmlns:a16="http://schemas.microsoft.com/office/drawing/2014/main" id="{210DAA5C-4C3E-1782-1637-6BE0E9B8946F}"/>
              </a:ext>
            </a:extLst>
          </p:cNvPr>
          <p:cNvCxnSpPr>
            <a:cxnSpLocks/>
            <a:stCxn id="57" idx="1"/>
            <a:endCxn id="66" idx="2"/>
          </p:cNvCxnSpPr>
          <p:nvPr/>
        </p:nvCxnSpPr>
        <p:spPr>
          <a:xfrm rot="10800000" flipV="1">
            <a:off x="1014194" y="973303"/>
            <a:ext cx="3453071" cy="4186364"/>
          </a:xfrm>
          <a:prstGeom prst="bentConnector4">
            <a:avLst>
              <a:gd name="adj1" fmla="val 119816"/>
              <a:gd name="adj2" fmla="val 108550"/>
            </a:avLst>
          </a:prstGeom>
          <a:ln>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72" name="Connector: Elbow 71">
            <a:extLst>
              <a:ext uri="{FF2B5EF4-FFF2-40B4-BE49-F238E27FC236}">
                <a16:creationId xmlns:a16="http://schemas.microsoft.com/office/drawing/2014/main" id="{DC1B8203-5E6A-89C0-21C7-EB69B98132DE}"/>
              </a:ext>
            </a:extLst>
          </p:cNvPr>
          <p:cNvCxnSpPr>
            <a:cxnSpLocks/>
            <a:stCxn id="56" idx="1"/>
            <a:endCxn id="67" idx="2"/>
          </p:cNvCxnSpPr>
          <p:nvPr/>
        </p:nvCxnSpPr>
        <p:spPr>
          <a:xfrm rot="10800000" flipV="1">
            <a:off x="889434" y="1157441"/>
            <a:ext cx="3577831" cy="4002227"/>
          </a:xfrm>
          <a:prstGeom prst="bentConnector4">
            <a:avLst>
              <a:gd name="adj1" fmla="val 111960"/>
              <a:gd name="adj2" fmla="val 105712"/>
            </a:avLst>
          </a:prstGeom>
          <a:ln>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115" name="Connector: Elbow 114">
            <a:extLst>
              <a:ext uri="{FF2B5EF4-FFF2-40B4-BE49-F238E27FC236}">
                <a16:creationId xmlns:a16="http://schemas.microsoft.com/office/drawing/2014/main" id="{B689732D-3AF2-0855-1B98-A91907ACBFBF}"/>
              </a:ext>
            </a:extLst>
          </p:cNvPr>
          <p:cNvCxnSpPr>
            <a:cxnSpLocks/>
            <a:stCxn id="111" idx="2"/>
            <a:endCxn id="62" idx="1"/>
          </p:cNvCxnSpPr>
          <p:nvPr/>
        </p:nvCxnSpPr>
        <p:spPr>
          <a:xfrm rot="16200000" flipH="1">
            <a:off x="2308223" y="4115158"/>
            <a:ext cx="1088059" cy="3177077"/>
          </a:xfrm>
          <a:prstGeom prst="bentConnector2">
            <a:avLst/>
          </a:prstGeom>
          <a:ln>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116" name="Connector: Elbow 115">
            <a:extLst>
              <a:ext uri="{FF2B5EF4-FFF2-40B4-BE49-F238E27FC236}">
                <a16:creationId xmlns:a16="http://schemas.microsoft.com/office/drawing/2014/main" id="{29125F32-4BEC-E7C6-287E-32600678323C}"/>
              </a:ext>
            </a:extLst>
          </p:cNvPr>
          <p:cNvCxnSpPr>
            <a:cxnSpLocks/>
            <a:stCxn id="110" idx="2"/>
            <a:endCxn id="61" idx="1"/>
          </p:cNvCxnSpPr>
          <p:nvPr/>
        </p:nvCxnSpPr>
        <p:spPr>
          <a:xfrm rot="16200000" flipH="1">
            <a:off x="2462672" y="4085468"/>
            <a:ext cx="903920" cy="3052317"/>
          </a:xfrm>
          <a:prstGeom prst="bentConnector2">
            <a:avLst/>
          </a:prstGeom>
          <a:ln>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173" name="Connector: Elbow 172">
            <a:extLst>
              <a:ext uri="{FF2B5EF4-FFF2-40B4-BE49-F238E27FC236}">
                <a16:creationId xmlns:a16="http://schemas.microsoft.com/office/drawing/2014/main" id="{486208D8-4940-6795-90ED-C59E01AE24B6}"/>
              </a:ext>
            </a:extLst>
          </p:cNvPr>
          <p:cNvCxnSpPr>
            <a:cxnSpLocks/>
            <a:stCxn id="166" idx="2"/>
            <a:endCxn id="63" idx="1"/>
          </p:cNvCxnSpPr>
          <p:nvPr/>
        </p:nvCxnSpPr>
        <p:spPr>
          <a:xfrm rot="16200000" flipH="1">
            <a:off x="2153775" y="4144846"/>
            <a:ext cx="1272195" cy="3301837"/>
          </a:xfrm>
          <a:prstGeom prst="bentConnector2">
            <a:avLst/>
          </a:prstGeom>
          <a:ln>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181" name="Connector: Elbow 180">
            <a:extLst>
              <a:ext uri="{FF2B5EF4-FFF2-40B4-BE49-F238E27FC236}">
                <a16:creationId xmlns:a16="http://schemas.microsoft.com/office/drawing/2014/main" id="{5F978CC5-3B82-A366-710D-32F0D583B842}"/>
              </a:ext>
            </a:extLst>
          </p:cNvPr>
          <p:cNvCxnSpPr>
            <a:cxnSpLocks/>
            <a:stCxn id="167" idx="2"/>
            <a:endCxn id="60" idx="1"/>
          </p:cNvCxnSpPr>
          <p:nvPr/>
        </p:nvCxnSpPr>
        <p:spPr>
          <a:xfrm rot="16200000" flipH="1">
            <a:off x="2617122" y="4055780"/>
            <a:ext cx="719783" cy="2927557"/>
          </a:xfrm>
          <a:prstGeom prst="bentConnector2">
            <a:avLst/>
          </a:prstGeom>
          <a:ln>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185" name="Connector: Elbow 184">
            <a:extLst>
              <a:ext uri="{FF2B5EF4-FFF2-40B4-BE49-F238E27FC236}">
                <a16:creationId xmlns:a16="http://schemas.microsoft.com/office/drawing/2014/main" id="{B1F44741-E786-02D4-E147-30FF2D1F6AA0}"/>
              </a:ext>
            </a:extLst>
          </p:cNvPr>
          <p:cNvCxnSpPr>
            <a:cxnSpLocks/>
            <a:stCxn id="168" idx="2"/>
            <a:endCxn id="59" idx="1"/>
          </p:cNvCxnSpPr>
          <p:nvPr/>
        </p:nvCxnSpPr>
        <p:spPr>
          <a:xfrm rot="16200000" flipH="1">
            <a:off x="2771571" y="4026091"/>
            <a:ext cx="535644" cy="2802796"/>
          </a:xfrm>
          <a:prstGeom prst="bentConnector2">
            <a:avLst/>
          </a:prstGeom>
          <a:ln>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193" name="Connector: Elbow 192">
            <a:extLst>
              <a:ext uri="{FF2B5EF4-FFF2-40B4-BE49-F238E27FC236}">
                <a16:creationId xmlns:a16="http://schemas.microsoft.com/office/drawing/2014/main" id="{DDDA9D21-9563-C2A8-9C7B-983A00B9AB81}"/>
              </a:ext>
            </a:extLst>
          </p:cNvPr>
          <p:cNvCxnSpPr>
            <a:cxnSpLocks/>
            <a:stCxn id="169" idx="0"/>
            <a:endCxn id="58" idx="1"/>
          </p:cNvCxnSpPr>
          <p:nvPr/>
        </p:nvCxnSpPr>
        <p:spPr>
          <a:xfrm rot="16200000" flipH="1">
            <a:off x="1926841" y="2997224"/>
            <a:ext cx="2839185" cy="2188715"/>
          </a:xfrm>
          <a:prstGeom prst="bentConnector4">
            <a:avLst>
              <a:gd name="adj1" fmla="val -5124"/>
              <a:gd name="adj2" fmla="val 73205"/>
            </a:avLst>
          </a:prstGeom>
          <a:ln>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200" name="Connector: Elbow 199">
            <a:extLst>
              <a:ext uri="{FF2B5EF4-FFF2-40B4-BE49-F238E27FC236}">
                <a16:creationId xmlns:a16="http://schemas.microsoft.com/office/drawing/2014/main" id="{8AAD2998-80F1-BAB2-A416-5AAE0706D760}"/>
              </a:ext>
            </a:extLst>
          </p:cNvPr>
          <p:cNvCxnSpPr>
            <a:cxnSpLocks/>
            <a:stCxn id="170" idx="0"/>
            <a:endCxn id="64" idx="1"/>
          </p:cNvCxnSpPr>
          <p:nvPr/>
        </p:nvCxnSpPr>
        <p:spPr>
          <a:xfrm rot="16200000" flipH="1">
            <a:off x="1951842" y="2838085"/>
            <a:ext cx="2655047" cy="2322855"/>
          </a:xfrm>
          <a:prstGeom prst="bentConnector4">
            <a:avLst>
              <a:gd name="adj1" fmla="val -8610"/>
              <a:gd name="adj2" fmla="val 83794"/>
            </a:avLst>
          </a:prstGeom>
          <a:ln>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127" name="Connector: Elbow 126">
            <a:extLst>
              <a:ext uri="{FF2B5EF4-FFF2-40B4-BE49-F238E27FC236}">
                <a16:creationId xmlns:a16="http://schemas.microsoft.com/office/drawing/2014/main" id="{739E4984-353A-1F2C-5872-F614DB0E504C}"/>
              </a:ext>
            </a:extLst>
          </p:cNvPr>
          <p:cNvCxnSpPr>
            <a:cxnSpLocks/>
            <a:endCxn id="123" idx="3"/>
          </p:cNvCxnSpPr>
          <p:nvPr/>
        </p:nvCxnSpPr>
        <p:spPr>
          <a:xfrm rot="10800000" flipV="1">
            <a:off x="5373935" y="5405125"/>
            <a:ext cx="3853306" cy="837343"/>
          </a:xfrm>
          <a:prstGeom prst="bentConnector3">
            <a:avLst>
              <a:gd name="adj1" fmla="val 43389"/>
            </a:avLst>
          </a:prstGeom>
          <a:ln>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130" name="Connector: Elbow 129">
            <a:extLst>
              <a:ext uri="{FF2B5EF4-FFF2-40B4-BE49-F238E27FC236}">
                <a16:creationId xmlns:a16="http://schemas.microsoft.com/office/drawing/2014/main" id="{76B5410A-5FC7-2129-D8D1-2DD6A2BED664}"/>
              </a:ext>
            </a:extLst>
          </p:cNvPr>
          <p:cNvCxnSpPr>
            <a:cxnSpLocks/>
            <a:stCxn id="92" idx="1"/>
            <a:endCxn id="122" idx="3"/>
          </p:cNvCxnSpPr>
          <p:nvPr/>
        </p:nvCxnSpPr>
        <p:spPr>
          <a:xfrm rot="10800000" flipV="1">
            <a:off x="5373936" y="5283117"/>
            <a:ext cx="4023479" cy="775213"/>
          </a:xfrm>
          <a:prstGeom prst="bentConnector3">
            <a:avLst>
              <a:gd name="adj1" fmla="val 50000"/>
            </a:avLst>
          </a:prstGeom>
          <a:ln>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212" name="Connector: Elbow 211">
            <a:extLst>
              <a:ext uri="{FF2B5EF4-FFF2-40B4-BE49-F238E27FC236}">
                <a16:creationId xmlns:a16="http://schemas.microsoft.com/office/drawing/2014/main" id="{987AAD12-3C16-FF6C-FCBE-CCADBA6A4E11}"/>
              </a:ext>
            </a:extLst>
          </p:cNvPr>
          <p:cNvCxnSpPr>
            <a:cxnSpLocks/>
            <a:stCxn id="160" idx="1"/>
            <a:endCxn id="147" idx="1"/>
          </p:cNvCxnSpPr>
          <p:nvPr/>
        </p:nvCxnSpPr>
        <p:spPr>
          <a:xfrm rot="10800000" flipH="1" flipV="1">
            <a:off x="7370149" y="3873115"/>
            <a:ext cx="6495" cy="2532792"/>
          </a:xfrm>
          <a:prstGeom prst="bentConnector3">
            <a:avLst>
              <a:gd name="adj1" fmla="val -5181678"/>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4" name="Connector: Elbow 243">
            <a:extLst>
              <a:ext uri="{FF2B5EF4-FFF2-40B4-BE49-F238E27FC236}">
                <a16:creationId xmlns:a16="http://schemas.microsoft.com/office/drawing/2014/main" id="{72475776-5BCE-1D5E-D636-E0883F3172C6}"/>
              </a:ext>
            </a:extLst>
          </p:cNvPr>
          <p:cNvCxnSpPr>
            <a:cxnSpLocks/>
            <a:stCxn id="228" idx="3"/>
            <a:endCxn id="121" idx="3"/>
          </p:cNvCxnSpPr>
          <p:nvPr/>
        </p:nvCxnSpPr>
        <p:spPr>
          <a:xfrm flipH="1">
            <a:off x="5373935" y="3438481"/>
            <a:ext cx="1292854" cy="2435712"/>
          </a:xfrm>
          <a:prstGeom prst="bentConnector3">
            <a:avLst>
              <a:gd name="adj1" fmla="val -1768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6" name="Connector: Elbow 255">
            <a:extLst>
              <a:ext uri="{FF2B5EF4-FFF2-40B4-BE49-F238E27FC236}">
                <a16:creationId xmlns:a16="http://schemas.microsoft.com/office/drawing/2014/main" id="{ACAE00EF-4CD5-50F9-68C8-792BDF8C77E6}"/>
              </a:ext>
            </a:extLst>
          </p:cNvPr>
          <p:cNvCxnSpPr>
            <a:cxnSpLocks/>
            <a:stCxn id="120" idx="3"/>
            <a:endCxn id="251" idx="1"/>
          </p:cNvCxnSpPr>
          <p:nvPr/>
        </p:nvCxnSpPr>
        <p:spPr>
          <a:xfrm flipV="1">
            <a:off x="5373935" y="1657845"/>
            <a:ext cx="661177" cy="4032210"/>
          </a:xfrm>
          <a:prstGeom prst="bentConnector3">
            <a:avLst>
              <a:gd name="adj1" fmla="val 50000"/>
            </a:avLst>
          </a:prstGeom>
          <a:ln>
            <a:headEnd type="oval" w="sm" len="sm"/>
            <a:tailEnd type="triangle"/>
          </a:ln>
        </p:spPr>
        <p:style>
          <a:lnRef idx="1">
            <a:schemeClr val="accent1"/>
          </a:lnRef>
          <a:fillRef idx="0">
            <a:schemeClr val="accent1"/>
          </a:fillRef>
          <a:effectRef idx="0">
            <a:schemeClr val="accent1"/>
          </a:effectRef>
          <a:fontRef idx="minor">
            <a:schemeClr val="tx1"/>
          </a:fontRef>
        </p:style>
      </p:cxnSp>
      <p:grpSp>
        <p:nvGrpSpPr>
          <p:cNvPr id="109" name="Group 108">
            <a:extLst>
              <a:ext uri="{FF2B5EF4-FFF2-40B4-BE49-F238E27FC236}">
                <a16:creationId xmlns:a16="http://schemas.microsoft.com/office/drawing/2014/main" id="{A2D4FAED-1EE4-07C8-E101-6A96EF9D2D69}"/>
              </a:ext>
            </a:extLst>
          </p:cNvPr>
          <p:cNvGrpSpPr/>
          <p:nvPr/>
        </p:nvGrpSpPr>
        <p:grpSpPr>
          <a:xfrm flipH="1">
            <a:off x="4296440" y="4814909"/>
            <a:ext cx="1224815" cy="1977259"/>
            <a:chOff x="4296440" y="4814909"/>
            <a:chExt cx="1224815" cy="1977259"/>
          </a:xfrm>
        </p:grpSpPr>
        <p:pic>
          <p:nvPicPr>
            <p:cNvPr id="7" name="Picture 6">
              <a:extLst>
                <a:ext uri="{FF2B5EF4-FFF2-40B4-BE49-F238E27FC236}">
                  <a16:creationId xmlns:a16="http://schemas.microsoft.com/office/drawing/2014/main" id="{C91206F5-08A4-779B-941D-F0CD5731C562}"/>
                </a:ext>
              </a:extLst>
            </p:cNvPr>
            <p:cNvPicPr>
              <a:picLocks noChangeAspect="1"/>
            </p:cNvPicPr>
            <p:nvPr/>
          </p:nvPicPr>
          <p:blipFill>
            <a:blip r:embed="rId7"/>
            <a:stretch>
              <a:fillRect/>
            </a:stretch>
          </p:blipFill>
          <p:spPr>
            <a:xfrm rot="10800000" flipH="1">
              <a:off x="4296440" y="4814909"/>
              <a:ext cx="1224815" cy="1977259"/>
            </a:xfrm>
            <a:prstGeom prst="rect">
              <a:avLst/>
            </a:prstGeom>
          </p:spPr>
        </p:pic>
        <p:sp>
          <p:nvSpPr>
            <p:cNvPr id="107" name="TextBox 106">
              <a:extLst>
                <a:ext uri="{FF2B5EF4-FFF2-40B4-BE49-F238E27FC236}">
                  <a16:creationId xmlns:a16="http://schemas.microsoft.com/office/drawing/2014/main" id="{51E392D8-C5FF-5B17-4656-D5E3AFDD8F43}"/>
                </a:ext>
              </a:extLst>
            </p:cNvPr>
            <p:cNvSpPr txBox="1"/>
            <p:nvPr/>
          </p:nvSpPr>
          <p:spPr>
            <a:xfrm>
              <a:off x="5020721" y="5017612"/>
              <a:ext cx="256802" cy="1536318"/>
            </a:xfrm>
            <a:prstGeom prst="rect">
              <a:avLst/>
            </a:prstGeom>
            <a:noFill/>
          </p:spPr>
          <p:txBody>
            <a:bodyPr wrap="none" rtlCol="0">
              <a:spAutoFit/>
            </a:bodyPr>
            <a:lstStyle/>
            <a:p>
              <a:pPr>
                <a:spcBef>
                  <a:spcPts val="100"/>
                </a:spcBef>
              </a:pPr>
              <a:r>
                <a:rPr lang="en-US" sz="1100" b="1">
                  <a:solidFill>
                    <a:srgbClr val="FFFF00"/>
                  </a:solidFill>
                </a:rPr>
                <a:t>1</a:t>
              </a:r>
            </a:p>
            <a:p>
              <a:pPr>
                <a:spcBef>
                  <a:spcPts val="100"/>
                </a:spcBef>
              </a:pPr>
              <a:r>
                <a:rPr lang="en-US" sz="1100" b="1">
                  <a:solidFill>
                    <a:srgbClr val="FFFF00"/>
                  </a:solidFill>
                </a:rPr>
                <a:t>2</a:t>
              </a:r>
            </a:p>
            <a:p>
              <a:pPr>
                <a:spcBef>
                  <a:spcPts val="100"/>
                </a:spcBef>
              </a:pPr>
              <a:r>
                <a:rPr lang="en-US" sz="1100" b="1">
                  <a:solidFill>
                    <a:srgbClr val="FFFF00"/>
                  </a:solidFill>
                </a:rPr>
                <a:t>3</a:t>
              </a:r>
            </a:p>
            <a:p>
              <a:pPr>
                <a:spcBef>
                  <a:spcPts val="100"/>
                </a:spcBef>
              </a:pPr>
              <a:r>
                <a:rPr lang="en-US" sz="1100" b="1">
                  <a:solidFill>
                    <a:srgbClr val="FFFF00"/>
                  </a:solidFill>
                </a:rPr>
                <a:t>4</a:t>
              </a:r>
            </a:p>
            <a:p>
              <a:pPr>
                <a:spcBef>
                  <a:spcPts val="100"/>
                </a:spcBef>
              </a:pPr>
              <a:r>
                <a:rPr lang="en-US" sz="1100" b="1">
                  <a:solidFill>
                    <a:srgbClr val="FFFF00"/>
                  </a:solidFill>
                </a:rPr>
                <a:t>5</a:t>
              </a:r>
            </a:p>
            <a:p>
              <a:pPr>
                <a:spcBef>
                  <a:spcPts val="100"/>
                </a:spcBef>
              </a:pPr>
              <a:r>
                <a:rPr lang="en-US" sz="1100" b="1">
                  <a:solidFill>
                    <a:srgbClr val="FFFF00"/>
                  </a:solidFill>
                </a:rPr>
                <a:t>6</a:t>
              </a:r>
            </a:p>
            <a:p>
              <a:pPr>
                <a:spcBef>
                  <a:spcPts val="100"/>
                </a:spcBef>
              </a:pPr>
              <a:r>
                <a:rPr lang="en-US" sz="1100" b="1">
                  <a:solidFill>
                    <a:srgbClr val="FFFF00"/>
                  </a:solidFill>
                </a:rPr>
                <a:t>7</a:t>
              </a:r>
            </a:p>
            <a:p>
              <a:pPr>
                <a:spcBef>
                  <a:spcPts val="100"/>
                </a:spcBef>
              </a:pPr>
              <a:r>
                <a:rPr lang="en-US" sz="1100" b="1">
                  <a:solidFill>
                    <a:srgbClr val="FFFF00"/>
                  </a:solidFill>
                </a:rPr>
                <a:t>8</a:t>
              </a:r>
            </a:p>
          </p:txBody>
        </p:sp>
        <p:sp>
          <p:nvSpPr>
            <p:cNvPr id="108" name="TextBox 107">
              <a:extLst>
                <a:ext uri="{FF2B5EF4-FFF2-40B4-BE49-F238E27FC236}">
                  <a16:creationId xmlns:a16="http://schemas.microsoft.com/office/drawing/2014/main" id="{573F02BA-A4F4-BF8C-1D09-61C993D21324}"/>
                </a:ext>
              </a:extLst>
            </p:cNvPr>
            <p:cNvSpPr txBox="1"/>
            <p:nvPr/>
          </p:nvSpPr>
          <p:spPr>
            <a:xfrm>
              <a:off x="4546107" y="5017612"/>
              <a:ext cx="256802" cy="1536318"/>
            </a:xfrm>
            <a:prstGeom prst="rect">
              <a:avLst/>
            </a:prstGeom>
            <a:noFill/>
          </p:spPr>
          <p:txBody>
            <a:bodyPr wrap="none" rtlCol="0">
              <a:spAutoFit/>
            </a:bodyPr>
            <a:lstStyle/>
            <a:p>
              <a:pPr>
                <a:spcBef>
                  <a:spcPts val="100"/>
                </a:spcBef>
              </a:pPr>
              <a:r>
                <a:rPr lang="en-US" sz="1100" b="1">
                  <a:solidFill>
                    <a:srgbClr val="FFFF00"/>
                  </a:solidFill>
                </a:rPr>
                <a:t>1</a:t>
              </a:r>
            </a:p>
            <a:p>
              <a:pPr>
                <a:spcBef>
                  <a:spcPts val="100"/>
                </a:spcBef>
              </a:pPr>
              <a:r>
                <a:rPr lang="en-US" sz="1100" b="1">
                  <a:solidFill>
                    <a:srgbClr val="FFFF00"/>
                  </a:solidFill>
                </a:rPr>
                <a:t>2</a:t>
              </a:r>
            </a:p>
            <a:p>
              <a:pPr>
                <a:spcBef>
                  <a:spcPts val="100"/>
                </a:spcBef>
              </a:pPr>
              <a:r>
                <a:rPr lang="en-US" sz="1100" b="1">
                  <a:solidFill>
                    <a:srgbClr val="FFFF00"/>
                  </a:solidFill>
                </a:rPr>
                <a:t>3</a:t>
              </a:r>
            </a:p>
            <a:p>
              <a:pPr>
                <a:spcBef>
                  <a:spcPts val="100"/>
                </a:spcBef>
              </a:pPr>
              <a:r>
                <a:rPr lang="en-US" sz="1100" b="1">
                  <a:solidFill>
                    <a:srgbClr val="FFFF00"/>
                  </a:solidFill>
                </a:rPr>
                <a:t>4</a:t>
              </a:r>
            </a:p>
            <a:p>
              <a:pPr>
                <a:spcBef>
                  <a:spcPts val="100"/>
                </a:spcBef>
              </a:pPr>
              <a:r>
                <a:rPr lang="en-US" sz="1100" b="1">
                  <a:solidFill>
                    <a:srgbClr val="FFFF00"/>
                  </a:solidFill>
                </a:rPr>
                <a:t>5</a:t>
              </a:r>
            </a:p>
            <a:p>
              <a:pPr>
                <a:spcBef>
                  <a:spcPts val="100"/>
                </a:spcBef>
              </a:pPr>
              <a:r>
                <a:rPr lang="en-US" sz="1100" b="1">
                  <a:solidFill>
                    <a:srgbClr val="FFFF00"/>
                  </a:solidFill>
                </a:rPr>
                <a:t>6</a:t>
              </a:r>
            </a:p>
            <a:p>
              <a:pPr>
                <a:spcBef>
                  <a:spcPts val="100"/>
                </a:spcBef>
              </a:pPr>
              <a:r>
                <a:rPr lang="en-US" sz="1100" b="1">
                  <a:solidFill>
                    <a:srgbClr val="FFFF00"/>
                  </a:solidFill>
                </a:rPr>
                <a:t>7</a:t>
              </a:r>
            </a:p>
            <a:p>
              <a:pPr>
                <a:spcBef>
                  <a:spcPts val="100"/>
                </a:spcBef>
              </a:pPr>
              <a:r>
                <a:rPr lang="en-US" sz="1100" b="1">
                  <a:solidFill>
                    <a:srgbClr val="FFFF00"/>
                  </a:solidFill>
                </a:rPr>
                <a:t>8</a:t>
              </a:r>
            </a:p>
          </p:txBody>
        </p:sp>
      </p:grpSp>
      <p:sp>
        <p:nvSpPr>
          <p:cNvPr id="74" name="TextBox 73">
            <a:extLst>
              <a:ext uri="{FF2B5EF4-FFF2-40B4-BE49-F238E27FC236}">
                <a16:creationId xmlns:a16="http://schemas.microsoft.com/office/drawing/2014/main" id="{E88CACA5-CD4A-246C-E1C8-4097E1A93FF0}"/>
              </a:ext>
            </a:extLst>
          </p:cNvPr>
          <p:cNvSpPr txBox="1"/>
          <p:nvPr/>
        </p:nvSpPr>
        <p:spPr>
          <a:xfrm>
            <a:off x="5711860" y="4583765"/>
            <a:ext cx="739305" cy="507831"/>
          </a:xfrm>
          <a:prstGeom prst="rect">
            <a:avLst/>
          </a:prstGeom>
          <a:noFill/>
        </p:spPr>
        <p:txBody>
          <a:bodyPr wrap="none" rtlCol="0">
            <a:spAutoFit/>
          </a:bodyPr>
          <a:lstStyle/>
          <a:p>
            <a:pPr algn="ctr"/>
            <a:r>
              <a:rPr lang="en-US" sz="900" err="1">
                <a:highlight>
                  <a:srgbClr val="FFFF00"/>
                </a:highlight>
              </a:rPr>
              <a:t>Addr_en</a:t>
            </a:r>
            <a:r>
              <a:rPr lang="en-US" sz="900">
                <a:highlight>
                  <a:srgbClr val="FFFF00"/>
                </a:highlight>
              </a:rPr>
              <a:t>#</a:t>
            </a:r>
          </a:p>
          <a:p>
            <a:pPr algn="ctr"/>
            <a:endParaRPr lang="en-US" sz="900"/>
          </a:p>
          <a:p>
            <a:pPr algn="ctr"/>
            <a:r>
              <a:rPr lang="en-US" sz="900"/>
              <a:t>XNOR           </a:t>
            </a:r>
          </a:p>
        </p:txBody>
      </p:sp>
      <p:cxnSp>
        <p:nvCxnSpPr>
          <p:cNvPr id="117" name="Connector: Elbow 116">
            <a:extLst>
              <a:ext uri="{FF2B5EF4-FFF2-40B4-BE49-F238E27FC236}">
                <a16:creationId xmlns:a16="http://schemas.microsoft.com/office/drawing/2014/main" id="{769FCB1C-1D81-38F4-839A-89BF9B1D01A7}"/>
              </a:ext>
            </a:extLst>
          </p:cNvPr>
          <p:cNvCxnSpPr>
            <a:cxnSpLocks/>
            <a:stCxn id="31" idx="0"/>
            <a:endCxn id="118" idx="1"/>
          </p:cNvCxnSpPr>
          <p:nvPr/>
        </p:nvCxnSpPr>
        <p:spPr>
          <a:xfrm rot="5400000" flipH="1" flipV="1">
            <a:off x="7246841" y="1669943"/>
            <a:ext cx="195045" cy="21418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TextBox 43">
            <a:hlinkClick r:id="rId14" action="ppaction://hlinksldjump"/>
            <a:extLst>
              <a:ext uri="{FF2B5EF4-FFF2-40B4-BE49-F238E27FC236}">
                <a16:creationId xmlns:a16="http://schemas.microsoft.com/office/drawing/2014/main" id="{9C1A9667-F075-29C7-7F47-0A19CA6B1D99}"/>
              </a:ext>
            </a:extLst>
          </p:cNvPr>
          <p:cNvSpPr txBox="1"/>
          <p:nvPr/>
        </p:nvSpPr>
        <p:spPr>
          <a:xfrm>
            <a:off x="8646243" y="3966154"/>
            <a:ext cx="425116" cy="153888"/>
          </a:xfrm>
          <a:prstGeom prst="rect">
            <a:avLst/>
          </a:prstGeom>
          <a:noFill/>
          <a:ln>
            <a:solidFill>
              <a:schemeClr val="accent1"/>
            </a:solidFill>
          </a:ln>
        </p:spPr>
        <p:txBody>
          <a:bodyPr wrap="none" tIns="0" bIns="0" rtlCol="0">
            <a:spAutoFit/>
          </a:bodyPr>
          <a:lstStyle/>
          <a:p>
            <a:r>
              <a:rPr lang="en-US" sz="1000"/>
              <a:t>#WE</a:t>
            </a:r>
          </a:p>
        </p:txBody>
      </p:sp>
      <p:sp>
        <p:nvSpPr>
          <p:cNvPr id="46" name="TextBox 45">
            <a:hlinkClick r:id="rId15" action="ppaction://hlinksldjump"/>
            <a:extLst>
              <a:ext uri="{FF2B5EF4-FFF2-40B4-BE49-F238E27FC236}">
                <a16:creationId xmlns:a16="http://schemas.microsoft.com/office/drawing/2014/main" id="{74F9763E-BCEB-3C7B-6429-8C006AF4B856}"/>
              </a:ext>
            </a:extLst>
          </p:cNvPr>
          <p:cNvSpPr txBox="1"/>
          <p:nvPr/>
        </p:nvSpPr>
        <p:spPr>
          <a:xfrm>
            <a:off x="6204742" y="6327597"/>
            <a:ext cx="748923" cy="182880"/>
          </a:xfrm>
          <a:prstGeom prst="rect">
            <a:avLst/>
          </a:prstGeom>
        </p:spPr>
        <p:style>
          <a:lnRef idx="2">
            <a:schemeClr val="accent5"/>
          </a:lnRef>
          <a:fillRef idx="1">
            <a:schemeClr val="lt1"/>
          </a:fillRef>
          <a:effectRef idx="0">
            <a:schemeClr val="accent5"/>
          </a:effectRef>
          <a:fontRef idx="minor">
            <a:schemeClr val="dk1"/>
          </a:fontRef>
        </p:style>
        <p:txBody>
          <a:bodyPr wrap="none" rtlCol="0" anchor="ctr">
            <a:spAutoFit/>
          </a:bodyPr>
          <a:lstStyle/>
          <a:p>
            <a:r>
              <a:rPr lang="en-US" sz="1100" dirty="0"/>
              <a:t>Bus Grant</a:t>
            </a:r>
          </a:p>
        </p:txBody>
      </p:sp>
      <p:sp>
        <p:nvSpPr>
          <p:cNvPr id="48" name="TextBox 47">
            <a:hlinkClick r:id="rId15" action="ppaction://hlinksldjump"/>
            <a:extLst>
              <a:ext uri="{FF2B5EF4-FFF2-40B4-BE49-F238E27FC236}">
                <a16:creationId xmlns:a16="http://schemas.microsoft.com/office/drawing/2014/main" id="{20B0EFB9-C38F-1028-5811-5CE2DBC8F34F}"/>
              </a:ext>
            </a:extLst>
          </p:cNvPr>
          <p:cNvSpPr txBox="1"/>
          <p:nvPr/>
        </p:nvSpPr>
        <p:spPr>
          <a:xfrm>
            <a:off x="7761967" y="6301743"/>
            <a:ext cx="888385" cy="182880"/>
          </a:xfrm>
          <a:prstGeom prst="rect">
            <a:avLst/>
          </a:prstGeom>
        </p:spPr>
        <p:style>
          <a:lnRef idx="2">
            <a:schemeClr val="accent5"/>
          </a:lnRef>
          <a:fillRef idx="1">
            <a:schemeClr val="lt1"/>
          </a:fillRef>
          <a:effectRef idx="0">
            <a:schemeClr val="accent5"/>
          </a:effectRef>
          <a:fontRef idx="minor">
            <a:schemeClr val="dk1"/>
          </a:fontRef>
        </p:style>
        <p:txBody>
          <a:bodyPr wrap="none" rtlCol="0" anchor="ctr">
            <a:spAutoFit/>
          </a:bodyPr>
          <a:lstStyle/>
          <a:p>
            <a:r>
              <a:rPr lang="en-US" sz="1100"/>
              <a:t>Bus Request</a:t>
            </a:r>
          </a:p>
        </p:txBody>
      </p:sp>
      <p:cxnSp>
        <p:nvCxnSpPr>
          <p:cNvPr id="51" name="Connector: Elbow 50">
            <a:extLst>
              <a:ext uri="{FF2B5EF4-FFF2-40B4-BE49-F238E27FC236}">
                <a16:creationId xmlns:a16="http://schemas.microsoft.com/office/drawing/2014/main" id="{FB2E90A0-62C4-C9D9-6FDA-51216E64B2F6}"/>
              </a:ext>
            </a:extLst>
          </p:cNvPr>
          <p:cNvCxnSpPr>
            <a:cxnSpLocks/>
            <a:stCxn id="46" idx="1"/>
          </p:cNvCxnSpPr>
          <p:nvPr/>
        </p:nvCxnSpPr>
        <p:spPr>
          <a:xfrm rot="10800000" flipV="1">
            <a:off x="5492168" y="6419036"/>
            <a:ext cx="712575" cy="7571"/>
          </a:xfrm>
          <a:prstGeom prst="bentConnector3">
            <a:avLst>
              <a:gd name="adj1" fmla="val 5000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a:hlinkClick r:id="rId16" action="ppaction://hlinksldjump"/>
            <a:extLst>
              <a:ext uri="{FF2B5EF4-FFF2-40B4-BE49-F238E27FC236}">
                <a16:creationId xmlns:a16="http://schemas.microsoft.com/office/drawing/2014/main" id="{BE6BD503-6DF8-4F77-45CD-72382D7424D5}"/>
              </a:ext>
            </a:extLst>
          </p:cNvPr>
          <p:cNvSpPr txBox="1"/>
          <p:nvPr/>
        </p:nvSpPr>
        <p:spPr>
          <a:xfrm>
            <a:off x="4473594" y="4537080"/>
            <a:ext cx="931665" cy="182880"/>
          </a:xfrm>
          <a:prstGeom prst="rect">
            <a:avLst/>
          </a:prstGeom>
          <a:solidFill>
            <a:schemeClr val="bg1"/>
          </a:solidFill>
          <a:ln>
            <a:solidFill>
              <a:schemeClr val="accent1"/>
            </a:solidFill>
          </a:ln>
        </p:spPr>
        <p:txBody>
          <a:bodyPr wrap="none" rtlCol="0" anchor="ctr">
            <a:spAutoFit/>
          </a:bodyPr>
          <a:lstStyle/>
          <a:p>
            <a:r>
              <a:rPr lang="en-US" sz="1100"/>
              <a:t># Main Reset</a:t>
            </a:r>
          </a:p>
        </p:txBody>
      </p:sp>
      <p:cxnSp>
        <p:nvCxnSpPr>
          <p:cNvPr id="75" name="Connector: Elbow 74">
            <a:extLst>
              <a:ext uri="{FF2B5EF4-FFF2-40B4-BE49-F238E27FC236}">
                <a16:creationId xmlns:a16="http://schemas.microsoft.com/office/drawing/2014/main" id="{BFAD3DC8-87D2-307E-2947-7818BA0BF3D4}"/>
              </a:ext>
            </a:extLst>
          </p:cNvPr>
          <p:cNvCxnSpPr>
            <a:cxnSpLocks/>
          </p:cNvCxnSpPr>
          <p:nvPr/>
        </p:nvCxnSpPr>
        <p:spPr>
          <a:xfrm rot="10800000">
            <a:off x="2012434" y="4851401"/>
            <a:ext cx="2355846" cy="291497"/>
          </a:xfrm>
          <a:prstGeom prst="bentConnector3">
            <a:avLst>
              <a:gd name="adj1" fmla="val 100404"/>
            </a:avLst>
          </a:prstGeom>
        </p:spPr>
        <p:style>
          <a:lnRef idx="1">
            <a:schemeClr val="accent1"/>
          </a:lnRef>
          <a:fillRef idx="0">
            <a:schemeClr val="accent1"/>
          </a:fillRef>
          <a:effectRef idx="0">
            <a:schemeClr val="accent1"/>
          </a:effectRef>
          <a:fontRef idx="minor">
            <a:schemeClr val="tx1"/>
          </a:fontRef>
        </p:style>
      </p:cxnSp>
      <p:pic>
        <p:nvPicPr>
          <p:cNvPr id="100" name="Picture 99">
            <a:extLst>
              <a:ext uri="{FF2B5EF4-FFF2-40B4-BE49-F238E27FC236}">
                <a16:creationId xmlns:a16="http://schemas.microsoft.com/office/drawing/2014/main" id="{8DAFBD8B-A2FC-1ACC-CB07-02466D965F02}"/>
              </a:ext>
            </a:extLst>
          </p:cNvPr>
          <p:cNvPicPr>
            <a:picLocks noChangeAspect="1"/>
          </p:cNvPicPr>
          <p:nvPr/>
        </p:nvPicPr>
        <p:blipFill>
          <a:blip r:embed="rId7"/>
          <a:srcRect t="70909"/>
          <a:stretch/>
        </p:blipFill>
        <p:spPr>
          <a:xfrm rot="10800000">
            <a:off x="4335626" y="2621438"/>
            <a:ext cx="1224815" cy="575211"/>
          </a:xfrm>
          <a:prstGeom prst="rect">
            <a:avLst/>
          </a:prstGeom>
        </p:spPr>
      </p:pic>
      <p:cxnSp>
        <p:nvCxnSpPr>
          <p:cNvPr id="112" name="Connector: Elbow 111">
            <a:extLst>
              <a:ext uri="{FF2B5EF4-FFF2-40B4-BE49-F238E27FC236}">
                <a16:creationId xmlns:a16="http://schemas.microsoft.com/office/drawing/2014/main" id="{A5DB97EA-A370-AD2C-D727-C41239AE2244}"/>
              </a:ext>
            </a:extLst>
          </p:cNvPr>
          <p:cNvCxnSpPr>
            <a:cxnSpLocks/>
          </p:cNvCxnSpPr>
          <p:nvPr/>
        </p:nvCxnSpPr>
        <p:spPr>
          <a:xfrm>
            <a:off x="2381250" y="2651437"/>
            <a:ext cx="2114250" cy="289467"/>
          </a:xfrm>
          <a:prstGeom prst="bentConnector3">
            <a:avLst>
              <a:gd name="adj1" fmla="val 50000"/>
            </a:avLst>
          </a:prstGeom>
          <a:ln>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129" name="TextBox 128">
            <a:hlinkClick r:id="rId15" action="ppaction://hlinksldjump"/>
            <a:extLst>
              <a:ext uri="{FF2B5EF4-FFF2-40B4-BE49-F238E27FC236}">
                <a16:creationId xmlns:a16="http://schemas.microsoft.com/office/drawing/2014/main" id="{0111CA87-8059-3A88-D12B-CBAD00A0BF74}"/>
              </a:ext>
            </a:extLst>
          </p:cNvPr>
          <p:cNvSpPr txBox="1"/>
          <p:nvPr/>
        </p:nvSpPr>
        <p:spPr>
          <a:xfrm>
            <a:off x="4495970" y="3360347"/>
            <a:ext cx="933269" cy="182880"/>
          </a:xfrm>
          <a:prstGeom prst="rect">
            <a:avLst/>
          </a:prstGeom>
        </p:spPr>
        <p:style>
          <a:lnRef idx="2">
            <a:schemeClr val="accent5"/>
          </a:lnRef>
          <a:fillRef idx="1">
            <a:schemeClr val="lt1"/>
          </a:fillRef>
          <a:effectRef idx="0">
            <a:schemeClr val="accent5"/>
          </a:effectRef>
          <a:fontRef idx="minor">
            <a:schemeClr val="dk1"/>
          </a:fontRef>
        </p:style>
        <p:txBody>
          <a:bodyPr wrap="none" rtlCol="0" anchor="ctr">
            <a:spAutoFit/>
          </a:bodyPr>
          <a:lstStyle/>
          <a:p>
            <a:r>
              <a:rPr lang="en-US" sz="1050"/>
              <a:t># Bus Release</a:t>
            </a:r>
          </a:p>
        </p:txBody>
      </p:sp>
      <p:cxnSp>
        <p:nvCxnSpPr>
          <p:cNvPr id="131" name="Connector: Elbow 130">
            <a:extLst>
              <a:ext uri="{FF2B5EF4-FFF2-40B4-BE49-F238E27FC236}">
                <a16:creationId xmlns:a16="http://schemas.microsoft.com/office/drawing/2014/main" id="{12504C90-C9C1-F060-C6D1-BAF81C9D78F0}"/>
              </a:ext>
            </a:extLst>
          </p:cNvPr>
          <p:cNvCxnSpPr>
            <a:cxnSpLocks/>
            <a:endCxn id="129" idx="3"/>
          </p:cNvCxnSpPr>
          <p:nvPr/>
        </p:nvCxnSpPr>
        <p:spPr>
          <a:xfrm rot="16200000" flipH="1">
            <a:off x="5163106" y="3185654"/>
            <a:ext cx="508288" cy="23978"/>
          </a:xfrm>
          <a:prstGeom prst="bentConnector4">
            <a:avLst>
              <a:gd name="adj1" fmla="val -222"/>
              <a:gd name="adj2" fmla="val 920961"/>
            </a:avLst>
          </a:prstGeom>
          <a:ln>
            <a:headEnd type="oval"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D04918B3-3E47-A4D8-C0F8-423BDBF8DDF2}"/>
              </a:ext>
            </a:extLst>
          </p:cNvPr>
          <p:cNvCxnSpPr>
            <a:cxnSpLocks/>
            <a:stCxn id="47" idx="3"/>
            <a:endCxn id="55" idx="3"/>
          </p:cNvCxnSpPr>
          <p:nvPr/>
        </p:nvCxnSpPr>
        <p:spPr>
          <a:xfrm>
            <a:off x="5405259" y="4628520"/>
            <a:ext cx="21296" cy="509120"/>
          </a:xfrm>
          <a:prstGeom prst="bentConnector3">
            <a:avLst>
              <a:gd name="adj1" fmla="val 90508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47" name="Picture 146" descr="Diagram&#10;&#10;Description automatically generated with low confidence">
            <a:extLst>
              <a:ext uri="{FF2B5EF4-FFF2-40B4-BE49-F238E27FC236}">
                <a16:creationId xmlns:a16="http://schemas.microsoft.com/office/drawing/2014/main" id="{87788270-5F26-4EC1-2D27-791E9F81D55F}"/>
              </a:ext>
            </a:extLst>
          </p:cNvPr>
          <p:cNvPicPr>
            <a:picLocks noChangeAspect="1"/>
          </p:cNvPicPr>
          <p:nvPr/>
        </p:nvPicPr>
        <p:blipFill rotWithShape="1">
          <a:blip r:embed="rId17">
            <a:extLst>
              <a:ext uri="{28A0092B-C50C-407E-A947-70E740481C1C}">
                <a14:useLocalDpi xmlns:a14="http://schemas.microsoft.com/office/drawing/2010/main" val="0"/>
              </a:ext>
              <a:ext uri="{837473B0-CC2E-450A-ABE3-18F120FF3D39}">
                <a1611:picAttrSrcUrl xmlns:a1611="http://schemas.microsoft.com/office/drawing/2016/11/main" r:id="rId18"/>
              </a:ext>
            </a:extLst>
          </a:blip>
          <a:srcRect r="58979" b="28024"/>
          <a:stretch/>
        </p:blipFill>
        <p:spPr>
          <a:xfrm>
            <a:off x="7376645" y="6277418"/>
            <a:ext cx="374583" cy="256978"/>
          </a:xfrm>
          <a:prstGeom prst="rect">
            <a:avLst/>
          </a:prstGeom>
          <a:solidFill>
            <a:schemeClr val="bg1"/>
          </a:solidFill>
        </p:spPr>
      </p:pic>
    </p:spTree>
    <p:extLst>
      <p:ext uri="{BB962C8B-B14F-4D97-AF65-F5344CB8AC3E}">
        <p14:creationId xmlns:p14="http://schemas.microsoft.com/office/powerpoint/2010/main" val="26917079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Rectangle 117">
            <a:extLst>
              <a:ext uri="{FF2B5EF4-FFF2-40B4-BE49-F238E27FC236}">
                <a16:creationId xmlns:a16="http://schemas.microsoft.com/office/drawing/2014/main" id="{B231B939-74D2-BF57-C3ED-B5AD6B59AD0B}"/>
              </a:ext>
            </a:extLst>
          </p:cNvPr>
          <p:cNvSpPr/>
          <p:nvPr/>
        </p:nvSpPr>
        <p:spPr>
          <a:xfrm>
            <a:off x="4842819" y="4512282"/>
            <a:ext cx="69004" cy="719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2DDDCA48-1083-DB85-EBD7-B7C1023A5748}"/>
              </a:ext>
            </a:extLst>
          </p:cNvPr>
          <p:cNvSpPr/>
          <p:nvPr/>
        </p:nvSpPr>
        <p:spPr>
          <a:xfrm>
            <a:off x="4842819" y="4673881"/>
            <a:ext cx="69004" cy="719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A7197498-C35A-6569-71D1-CF145D352B94}"/>
              </a:ext>
            </a:extLst>
          </p:cNvPr>
          <p:cNvSpPr/>
          <p:nvPr/>
        </p:nvSpPr>
        <p:spPr>
          <a:xfrm>
            <a:off x="4842819" y="4350682"/>
            <a:ext cx="69004" cy="719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0AB4641D-812F-F9BB-7D42-AA2C979BB873}"/>
              </a:ext>
            </a:extLst>
          </p:cNvPr>
          <p:cNvSpPr/>
          <p:nvPr/>
        </p:nvSpPr>
        <p:spPr>
          <a:xfrm>
            <a:off x="4842819" y="4189082"/>
            <a:ext cx="69004" cy="719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263BAF71-186A-5061-C496-CCBD51156EE8}"/>
              </a:ext>
            </a:extLst>
          </p:cNvPr>
          <p:cNvSpPr/>
          <p:nvPr/>
        </p:nvSpPr>
        <p:spPr>
          <a:xfrm>
            <a:off x="11239500" y="5727700"/>
            <a:ext cx="95250" cy="979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F6A892D0-A590-54E0-204E-796F257A39B2}"/>
              </a:ext>
            </a:extLst>
          </p:cNvPr>
          <p:cNvSpPr/>
          <p:nvPr/>
        </p:nvSpPr>
        <p:spPr>
          <a:xfrm>
            <a:off x="10267052" y="4523552"/>
            <a:ext cx="95250" cy="979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B45ED7D1-9019-6AD6-9784-21237A22943A}"/>
              </a:ext>
            </a:extLst>
          </p:cNvPr>
          <p:cNvSpPr/>
          <p:nvPr/>
        </p:nvSpPr>
        <p:spPr>
          <a:xfrm>
            <a:off x="9317780" y="3392978"/>
            <a:ext cx="95250" cy="979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CEA51377-DB46-FD8A-75D6-90B45E5CA37D}"/>
              </a:ext>
            </a:extLst>
          </p:cNvPr>
          <p:cNvSpPr/>
          <p:nvPr/>
        </p:nvSpPr>
        <p:spPr>
          <a:xfrm>
            <a:off x="8355819" y="2237468"/>
            <a:ext cx="95250" cy="979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10969F52-F6BE-A332-A86B-37B5CCF874B0}"/>
              </a:ext>
            </a:extLst>
          </p:cNvPr>
          <p:cNvSpPr txBox="1"/>
          <p:nvPr/>
        </p:nvSpPr>
        <p:spPr>
          <a:xfrm>
            <a:off x="3264611" y="2213199"/>
            <a:ext cx="654455" cy="230832"/>
          </a:xfrm>
          <a:prstGeom prst="rect">
            <a:avLst/>
          </a:prstGeom>
          <a:solidFill>
            <a:schemeClr val="bg1"/>
          </a:solidFill>
          <a:ln>
            <a:solidFill>
              <a:schemeClr val="bg1"/>
            </a:solidFill>
          </a:ln>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900" err="1"/>
              <a:t>Addr</a:t>
            </a:r>
            <a:r>
              <a:rPr lang="en-US" sz="900"/>
              <a:t> 2:0</a:t>
            </a:r>
          </a:p>
        </p:txBody>
      </p:sp>
      <p:cxnSp>
        <p:nvCxnSpPr>
          <p:cNvPr id="22" name="Connector: Elbow 21">
            <a:extLst>
              <a:ext uri="{FF2B5EF4-FFF2-40B4-BE49-F238E27FC236}">
                <a16:creationId xmlns:a16="http://schemas.microsoft.com/office/drawing/2014/main" id="{724012CD-FBAF-37D5-4B76-79C5A18B52D0}"/>
              </a:ext>
            </a:extLst>
          </p:cNvPr>
          <p:cNvCxnSpPr>
            <a:cxnSpLocks/>
            <a:stCxn id="10" idx="3"/>
            <a:endCxn id="15" idx="1"/>
          </p:cNvCxnSpPr>
          <p:nvPr/>
        </p:nvCxnSpPr>
        <p:spPr>
          <a:xfrm>
            <a:off x="3683732" y="4187000"/>
            <a:ext cx="453314" cy="44347"/>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16AE7E16-FD8D-1C92-63C0-CF00132CD6A2}"/>
              </a:ext>
            </a:extLst>
          </p:cNvPr>
          <p:cNvSpPr/>
          <p:nvPr/>
        </p:nvSpPr>
        <p:spPr>
          <a:xfrm>
            <a:off x="4137046" y="4195424"/>
            <a:ext cx="100407" cy="718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45DB23A-0410-5885-64A2-CE982C31C105}"/>
              </a:ext>
            </a:extLst>
          </p:cNvPr>
          <p:cNvSpPr/>
          <p:nvPr/>
        </p:nvSpPr>
        <p:spPr>
          <a:xfrm>
            <a:off x="4114795" y="4202239"/>
            <a:ext cx="100407" cy="718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69D761-7DB1-09CC-AF9B-44ED3B6DEAF4}"/>
              </a:ext>
            </a:extLst>
          </p:cNvPr>
          <p:cNvSpPr>
            <a:spLocks noGrp="1"/>
          </p:cNvSpPr>
          <p:nvPr>
            <p:ph type="ctrTitle"/>
          </p:nvPr>
        </p:nvSpPr>
        <p:spPr/>
        <p:txBody>
          <a:bodyPr/>
          <a:lstStyle/>
          <a:p>
            <a:r>
              <a:rPr lang="en-US"/>
              <a:t>Counter (v2.0)</a:t>
            </a:r>
          </a:p>
        </p:txBody>
      </p:sp>
      <p:grpSp>
        <p:nvGrpSpPr>
          <p:cNvPr id="6" name="Group 5">
            <a:extLst>
              <a:ext uri="{FF2B5EF4-FFF2-40B4-BE49-F238E27FC236}">
                <a16:creationId xmlns:a16="http://schemas.microsoft.com/office/drawing/2014/main" id="{80BD9DD6-5B23-5877-9CB2-0B49D7E2058A}"/>
              </a:ext>
            </a:extLst>
          </p:cNvPr>
          <p:cNvGrpSpPr/>
          <p:nvPr/>
        </p:nvGrpSpPr>
        <p:grpSpPr>
          <a:xfrm>
            <a:off x="3973544" y="3647023"/>
            <a:ext cx="1066795" cy="1348207"/>
            <a:chOff x="3973544" y="3647023"/>
            <a:chExt cx="1066795" cy="1348207"/>
          </a:xfrm>
        </p:grpSpPr>
        <p:pic>
          <p:nvPicPr>
            <p:cNvPr id="4" name="Picture 3">
              <a:extLst>
                <a:ext uri="{FF2B5EF4-FFF2-40B4-BE49-F238E27FC236}">
                  <a16:creationId xmlns:a16="http://schemas.microsoft.com/office/drawing/2014/main" id="{765ED979-9B81-9F54-7750-97C529FA887D}"/>
                </a:ext>
              </a:extLst>
            </p:cNvPr>
            <p:cNvPicPr>
              <a:picLocks noChangeAspect="1"/>
            </p:cNvPicPr>
            <p:nvPr/>
          </p:nvPicPr>
          <p:blipFill>
            <a:blip r:embed="rId2"/>
            <a:stretch>
              <a:fillRect/>
            </a:stretch>
          </p:blipFill>
          <p:spPr>
            <a:xfrm>
              <a:off x="3973544" y="3647023"/>
              <a:ext cx="1066795" cy="1348207"/>
            </a:xfrm>
            <a:prstGeom prst="rect">
              <a:avLst/>
            </a:prstGeom>
          </p:spPr>
        </p:pic>
        <p:sp>
          <p:nvSpPr>
            <p:cNvPr id="5" name="TextBox 4">
              <a:extLst>
                <a:ext uri="{FF2B5EF4-FFF2-40B4-BE49-F238E27FC236}">
                  <a16:creationId xmlns:a16="http://schemas.microsoft.com/office/drawing/2014/main" id="{2B24B20F-9E85-86B8-5DB6-5C5DE3ECDFD3}"/>
                </a:ext>
              </a:extLst>
            </p:cNvPr>
            <p:cNvSpPr txBox="1"/>
            <p:nvPr/>
          </p:nvSpPr>
          <p:spPr>
            <a:xfrm rot="5400000">
              <a:off x="4143059" y="4190321"/>
              <a:ext cx="989373" cy="261610"/>
            </a:xfrm>
            <a:prstGeom prst="rect">
              <a:avLst/>
            </a:prstGeom>
            <a:noFill/>
          </p:spPr>
          <p:txBody>
            <a:bodyPr wrap="none" rtlCol="0">
              <a:spAutoFit/>
            </a:bodyPr>
            <a:lstStyle/>
            <a:p>
              <a:r>
                <a:rPr lang="en-US" sz="1100"/>
                <a:t>Read Decoder</a:t>
              </a:r>
            </a:p>
          </p:txBody>
        </p:sp>
      </p:grpSp>
      <p:grpSp>
        <p:nvGrpSpPr>
          <p:cNvPr id="7" name="Group 6">
            <a:extLst>
              <a:ext uri="{FF2B5EF4-FFF2-40B4-BE49-F238E27FC236}">
                <a16:creationId xmlns:a16="http://schemas.microsoft.com/office/drawing/2014/main" id="{A7DF86C2-4F2C-D2A5-B0A8-FFE5BFAFDA65}"/>
              </a:ext>
            </a:extLst>
          </p:cNvPr>
          <p:cNvGrpSpPr/>
          <p:nvPr/>
        </p:nvGrpSpPr>
        <p:grpSpPr>
          <a:xfrm>
            <a:off x="3973544" y="2080793"/>
            <a:ext cx="1066795" cy="1348207"/>
            <a:chOff x="3973544" y="3647023"/>
            <a:chExt cx="1066795" cy="1348207"/>
          </a:xfrm>
        </p:grpSpPr>
        <p:pic>
          <p:nvPicPr>
            <p:cNvPr id="8" name="Picture 7">
              <a:extLst>
                <a:ext uri="{FF2B5EF4-FFF2-40B4-BE49-F238E27FC236}">
                  <a16:creationId xmlns:a16="http://schemas.microsoft.com/office/drawing/2014/main" id="{7A3E36DB-DE38-27D3-C5F2-D5AAF0188345}"/>
                </a:ext>
              </a:extLst>
            </p:cNvPr>
            <p:cNvPicPr>
              <a:picLocks noChangeAspect="1"/>
            </p:cNvPicPr>
            <p:nvPr/>
          </p:nvPicPr>
          <p:blipFill>
            <a:blip r:embed="rId2"/>
            <a:stretch>
              <a:fillRect/>
            </a:stretch>
          </p:blipFill>
          <p:spPr>
            <a:xfrm>
              <a:off x="3973544" y="3647023"/>
              <a:ext cx="1066795" cy="1348207"/>
            </a:xfrm>
            <a:prstGeom prst="rect">
              <a:avLst/>
            </a:prstGeom>
          </p:spPr>
        </p:pic>
        <p:sp>
          <p:nvSpPr>
            <p:cNvPr id="9" name="TextBox 8">
              <a:extLst>
                <a:ext uri="{FF2B5EF4-FFF2-40B4-BE49-F238E27FC236}">
                  <a16:creationId xmlns:a16="http://schemas.microsoft.com/office/drawing/2014/main" id="{5D80701C-8B96-F958-E8D2-767A6D345EBE}"/>
                </a:ext>
              </a:extLst>
            </p:cNvPr>
            <p:cNvSpPr txBox="1"/>
            <p:nvPr/>
          </p:nvSpPr>
          <p:spPr>
            <a:xfrm rot="5400000">
              <a:off x="4125426" y="4190321"/>
              <a:ext cx="1024639" cy="261610"/>
            </a:xfrm>
            <a:prstGeom prst="rect">
              <a:avLst/>
            </a:prstGeom>
            <a:noFill/>
          </p:spPr>
          <p:txBody>
            <a:bodyPr wrap="none" rtlCol="0">
              <a:spAutoFit/>
            </a:bodyPr>
            <a:lstStyle/>
            <a:p>
              <a:r>
                <a:rPr lang="en-US" sz="1100"/>
                <a:t>Write Decoder</a:t>
              </a:r>
            </a:p>
          </p:txBody>
        </p:sp>
      </p:grpSp>
      <p:sp>
        <p:nvSpPr>
          <p:cNvPr id="10" name="TextBox 9">
            <a:hlinkClick r:id="rId3" action="ppaction://hlinksldjump"/>
            <a:extLst>
              <a:ext uri="{FF2B5EF4-FFF2-40B4-BE49-F238E27FC236}">
                <a16:creationId xmlns:a16="http://schemas.microsoft.com/office/drawing/2014/main" id="{C0E350DF-EA80-2503-9D83-6D348C2CAEEA}"/>
              </a:ext>
            </a:extLst>
          </p:cNvPr>
          <p:cNvSpPr txBox="1"/>
          <p:nvPr/>
        </p:nvSpPr>
        <p:spPr>
          <a:xfrm>
            <a:off x="3276248" y="4106208"/>
            <a:ext cx="407484" cy="161583"/>
          </a:xfrm>
          <a:prstGeom prst="rect">
            <a:avLst/>
          </a:prstGeom>
          <a:solidFill>
            <a:schemeClr val="bg1"/>
          </a:solidFill>
          <a:ln>
            <a:solidFill>
              <a:schemeClr val="accent1"/>
            </a:solidFill>
          </a:ln>
        </p:spPr>
        <p:txBody>
          <a:bodyPr wrap="none" tIns="0" bIns="0" rtlCol="0">
            <a:spAutoFit/>
          </a:bodyPr>
          <a:lstStyle/>
          <a:p>
            <a:r>
              <a:rPr lang="en-US" sz="1050"/>
              <a:t>#OE</a:t>
            </a:r>
          </a:p>
        </p:txBody>
      </p:sp>
      <p:sp>
        <p:nvSpPr>
          <p:cNvPr id="11" name="TextBox 10">
            <a:hlinkClick r:id="rId3" action="ppaction://hlinksldjump"/>
            <a:extLst>
              <a:ext uri="{FF2B5EF4-FFF2-40B4-BE49-F238E27FC236}">
                <a16:creationId xmlns:a16="http://schemas.microsoft.com/office/drawing/2014/main" id="{6671344D-B74D-AF1E-12FC-91ED26DC1E99}"/>
              </a:ext>
            </a:extLst>
          </p:cNvPr>
          <p:cNvSpPr txBox="1"/>
          <p:nvPr/>
        </p:nvSpPr>
        <p:spPr>
          <a:xfrm>
            <a:off x="3259164" y="2577730"/>
            <a:ext cx="437940" cy="161711"/>
          </a:xfrm>
          <a:prstGeom prst="rect">
            <a:avLst/>
          </a:prstGeom>
          <a:noFill/>
          <a:ln>
            <a:solidFill>
              <a:schemeClr val="accent1"/>
            </a:solidFill>
          </a:ln>
        </p:spPr>
        <p:txBody>
          <a:bodyPr wrap="none" tIns="0" bIns="0" rtlCol="0">
            <a:spAutoFit/>
          </a:bodyPr>
          <a:lstStyle/>
          <a:p>
            <a:r>
              <a:rPr lang="en-US" sz="1051"/>
              <a:t>#WE</a:t>
            </a:r>
          </a:p>
        </p:txBody>
      </p:sp>
      <p:sp>
        <p:nvSpPr>
          <p:cNvPr id="12" name="Rectangle 11">
            <a:hlinkClick r:id="rId4" action="ppaction://hlinksldjump"/>
            <a:extLst>
              <a:ext uri="{FF2B5EF4-FFF2-40B4-BE49-F238E27FC236}">
                <a16:creationId xmlns:a16="http://schemas.microsoft.com/office/drawing/2014/main" id="{E0C4DBF5-FD9A-2566-B59D-8E94B074D273}"/>
              </a:ext>
            </a:extLst>
          </p:cNvPr>
          <p:cNvSpPr/>
          <p:nvPr/>
        </p:nvSpPr>
        <p:spPr>
          <a:xfrm>
            <a:off x="1489268" y="3373168"/>
            <a:ext cx="1463040" cy="120077"/>
          </a:xfrm>
          <a:prstGeom prst="rect">
            <a:avLst/>
          </a:prstGeom>
        </p:spPr>
        <p:style>
          <a:lnRef idx="2">
            <a:schemeClr val="accent5"/>
          </a:lnRef>
          <a:fillRef idx="1">
            <a:schemeClr val="lt1"/>
          </a:fillRef>
          <a:effectRef idx="0">
            <a:schemeClr val="accent5"/>
          </a:effectRef>
          <a:fontRef idx="minor">
            <a:schemeClr val="dk1"/>
          </a:fontRef>
        </p:style>
        <p:txBody>
          <a:bodyPr tIns="0" bIns="0" rtlCol="0" anchor="ctr"/>
          <a:lstStyle/>
          <a:p>
            <a:r>
              <a:rPr lang="en-US" sz="1050"/>
              <a:t>~Counter Device En</a:t>
            </a:r>
          </a:p>
        </p:txBody>
      </p:sp>
      <p:cxnSp>
        <p:nvCxnSpPr>
          <p:cNvPr id="14" name="Connector: Elbow 13">
            <a:extLst>
              <a:ext uri="{FF2B5EF4-FFF2-40B4-BE49-F238E27FC236}">
                <a16:creationId xmlns:a16="http://schemas.microsoft.com/office/drawing/2014/main" id="{BD15108D-405A-CA4F-5B62-EE092686755A}"/>
              </a:ext>
            </a:extLst>
          </p:cNvPr>
          <p:cNvCxnSpPr>
            <a:cxnSpLocks/>
            <a:stCxn id="12" idx="3"/>
          </p:cNvCxnSpPr>
          <p:nvPr/>
        </p:nvCxnSpPr>
        <p:spPr>
          <a:xfrm flipV="1">
            <a:off x="2952308" y="2859266"/>
            <a:ext cx="1097178" cy="573941"/>
          </a:xfrm>
          <a:prstGeom prst="bentConnector3">
            <a:avLst>
              <a:gd name="adj1" fmla="val 14282"/>
            </a:avLst>
          </a:prstGeom>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DD1D1477-CBE9-AAE0-308C-1130CD983A15}"/>
              </a:ext>
            </a:extLst>
          </p:cNvPr>
          <p:cNvCxnSpPr>
            <a:cxnSpLocks/>
            <a:stCxn id="12" idx="3"/>
          </p:cNvCxnSpPr>
          <p:nvPr/>
        </p:nvCxnSpPr>
        <p:spPr>
          <a:xfrm>
            <a:off x="2952308" y="3433207"/>
            <a:ext cx="1162487" cy="984033"/>
          </a:xfrm>
          <a:prstGeom prst="bentConnector3">
            <a:avLst>
              <a:gd name="adj1" fmla="val 12918"/>
            </a:avLst>
          </a:prstGeom>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B20133AE-7DD9-A9A8-70D9-BDD281598CF2}"/>
              </a:ext>
            </a:extLst>
          </p:cNvPr>
          <p:cNvCxnSpPr>
            <a:cxnSpLocks/>
            <a:stCxn id="11" idx="3"/>
          </p:cNvCxnSpPr>
          <p:nvPr/>
        </p:nvCxnSpPr>
        <p:spPr>
          <a:xfrm>
            <a:off x="3697104" y="2658586"/>
            <a:ext cx="346606" cy="26621"/>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513F25F4-E7B0-0BF5-303C-83DB2AF2E501}"/>
              </a:ext>
            </a:extLst>
          </p:cNvPr>
          <p:cNvSpPr txBox="1"/>
          <p:nvPr/>
        </p:nvSpPr>
        <p:spPr>
          <a:xfrm>
            <a:off x="3241917" y="3815337"/>
            <a:ext cx="776581" cy="230832"/>
          </a:xfrm>
          <a:prstGeom prst="rect">
            <a:avLst/>
          </a:prstGeom>
          <a:solidFill>
            <a:schemeClr val="bg1"/>
          </a:solidFill>
          <a:ln>
            <a:solidFill>
              <a:schemeClr val="bg1"/>
            </a:solidFill>
          </a:ln>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900" err="1"/>
              <a:t>Addr</a:t>
            </a:r>
            <a:r>
              <a:rPr lang="en-US" sz="900"/>
              <a:t> 2:0</a:t>
            </a:r>
          </a:p>
        </p:txBody>
      </p:sp>
      <p:sp>
        <p:nvSpPr>
          <p:cNvPr id="32" name="Right Brace 31">
            <a:extLst>
              <a:ext uri="{FF2B5EF4-FFF2-40B4-BE49-F238E27FC236}">
                <a16:creationId xmlns:a16="http://schemas.microsoft.com/office/drawing/2014/main" id="{91F4CC45-B8DF-91CA-A65A-3B593581077B}"/>
              </a:ext>
            </a:extLst>
          </p:cNvPr>
          <p:cNvSpPr/>
          <p:nvPr/>
        </p:nvSpPr>
        <p:spPr>
          <a:xfrm rot="10800000">
            <a:off x="3810968" y="2116391"/>
            <a:ext cx="182173" cy="43245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3" name="Right Brace 32">
            <a:extLst>
              <a:ext uri="{FF2B5EF4-FFF2-40B4-BE49-F238E27FC236}">
                <a16:creationId xmlns:a16="http://schemas.microsoft.com/office/drawing/2014/main" id="{1793463F-1901-589C-BFAE-80602588E6F6}"/>
              </a:ext>
            </a:extLst>
          </p:cNvPr>
          <p:cNvSpPr/>
          <p:nvPr/>
        </p:nvSpPr>
        <p:spPr>
          <a:xfrm rot="10800000">
            <a:off x="3810968" y="3707994"/>
            <a:ext cx="182173" cy="43245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9" name="Connector: Elbow 48">
            <a:extLst>
              <a:ext uri="{FF2B5EF4-FFF2-40B4-BE49-F238E27FC236}">
                <a16:creationId xmlns:a16="http://schemas.microsoft.com/office/drawing/2014/main" id="{5124FC54-0D9C-890C-0AEB-5229BDD6A4DB}"/>
              </a:ext>
            </a:extLst>
          </p:cNvPr>
          <p:cNvCxnSpPr>
            <a:cxnSpLocks/>
            <a:endCxn id="112" idx="1"/>
          </p:cNvCxnSpPr>
          <p:nvPr/>
        </p:nvCxnSpPr>
        <p:spPr>
          <a:xfrm>
            <a:off x="4992725" y="2496866"/>
            <a:ext cx="640571" cy="91446"/>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71E2EE5F-A48A-0811-36B1-A1D9516B09FE}"/>
              </a:ext>
            </a:extLst>
          </p:cNvPr>
          <p:cNvSpPr/>
          <p:nvPr/>
        </p:nvSpPr>
        <p:spPr>
          <a:xfrm rot="16200000">
            <a:off x="8380384" y="-2296665"/>
            <a:ext cx="282975" cy="5816257"/>
          </a:xfrm>
          <a:prstGeom prst="rect">
            <a:avLst/>
          </a:prstGeom>
        </p:spPr>
        <p:style>
          <a:lnRef idx="1">
            <a:schemeClr val="accent6"/>
          </a:lnRef>
          <a:fillRef idx="2">
            <a:schemeClr val="accent6"/>
          </a:fillRef>
          <a:effectRef idx="1">
            <a:schemeClr val="accent6"/>
          </a:effectRef>
          <a:fontRef idx="minor">
            <a:schemeClr val="dk1"/>
          </a:fontRef>
        </p:style>
        <p:txBody>
          <a:bodyPr vert="vert" rtlCol="0" anchor="ctr"/>
          <a:lstStyle/>
          <a:p>
            <a:pPr algn="ctr"/>
            <a:r>
              <a:rPr lang="en-US"/>
              <a:t>Data   Bus </a:t>
            </a:r>
          </a:p>
        </p:txBody>
      </p:sp>
      <p:pic>
        <p:nvPicPr>
          <p:cNvPr id="55" name="Picture 54">
            <a:extLst>
              <a:ext uri="{FF2B5EF4-FFF2-40B4-BE49-F238E27FC236}">
                <a16:creationId xmlns:a16="http://schemas.microsoft.com/office/drawing/2014/main" id="{875B65C2-3AFC-8658-5ACE-6E1264435855}"/>
              </a:ext>
            </a:extLst>
          </p:cNvPr>
          <p:cNvPicPr>
            <a:picLocks noChangeAspect="1"/>
          </p:cNvPicPr>
          <p:nvPr/>
        </p:nvPicPr>
        <p:blipFill>
          <a:blip r:embed="rId5"/>
          <a:stretch>
            <a:fillRect/>
          </a:stretch>
        </p:blipFill>
        <p:spPr>
          <a:xfrm rot="16200000">
            <a:off x="10515520" y="4677252"/>
            <a:ext cx="1037317" cy="1369152"/>
          </a:xfrm>
          <a:prstGeom prst="rect">
            <a:avLst/>
          </a:prstGeom>
        </p:spPr>
      </p:pic>
      <p:pic>
        <p:nvPicPr>
          <p:cNvPr id="61" name="Picture 60">
            <a:extLst>
              <a:ext uri="{FF2B5EF4-FFF2-40B4-BE49-F238E27FC236}">
                <a16:creationId xmlns:a16="http://schemas.microsoft.com/office/drawing/2014/main" id="{13CD3B5F-AE3F-A26C-4EA2-965A5C77D3CF}"/>
              </a:ext>
            </a:extLst>
          </p:cNvPr>
          <p:cNvPicPr>
            <a:picLocks noChangeAspect="1"/>
          </p:cNvPicPr>
          <p:nvPr/>
        </p:nvPicPr>
        <p:blipFill>
          <a:blip r:embed="rId5"/>
          <a:stretch>
            <a:fillRect/>
          </a:stretch>
        </p:blipFill>
        <p:spPr>
          <a:xfrm rot="16200000">
            <a:off x="9548791" y="3510848"/>
            <a:ext cx="1037317" cy="1369152"/>
          </a:xfrm>
          <a:prstGeom prst="rect">
            <a:avLst/>
          </a:prstGeom>
        </p:spPr>
      </p:pic>
      <p:pic>
        <p:nvPicPr>
          <p:cNvPr id="62" name="Picture 61">
            <a:extLst>
              <a:ext uri="{FF2B5EF4-FFF2-40B4-BE49-F238E27FC236}">
                <a16:creationId xmlns:a16="http://schemas.microsoft.com/office/drawing/2014/main" id="{B4A50533-BAD2-3425-5832-D7BEFC3A75AD}"/>
              </a:ext>
            </a:extLst>
          </p:cNvPr>
          <p:cNvPicPr>
            <a:picLocks noChangeAspect="1"/>
          </p:cNvPicPr>
          <p:nvPr/>
        </p:nvPicPr>
        <p:blipFill>
          <a:blip r:embed="rId5"/>
          <a:stretch>
            <a:fillRect/>
          </a:stretch>
        </p:blipFill>
        <p:spPr>
          <a:xfrm rot="16200000">
            <a:off x="8582062" y="2344443"/>
            <a:ext cx="1037317" cy="1369152"/>
          </a:xfrm>
          <a:prstGeom prst="rect">
            <a:avLst/>
          </a:prstGeom>
        </p:spPr>
      </p:pic>
      <p:sp>
        <p:nvSpPr>
          <p:cNvPr id="63" name="Arrow: Left 62">
            <a:extLst>
              <a:ext uri="{FF2B5EF4-FFF2-40B4-BE49-F238E27FC236}">
                <a16:creationId xmlns:a16="http://schemas.microsoft.com/office/drawing/2014/main" id="{699B2D7F-15BC-F940-5C4D-69A1E734B5E1}"/>
              </a:ext>
            </a:extLst>
          </p:cNvPr>
          <p:cNvSpPr/>
          <p:nvPr/>
        </p:nvSpPr>
        <p:spPr>
          <a:xfrm rot="5400000">
            <a:off x="9221013" y="2639616"/>
            <a:ext cx="4139089" cy="365760"/>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schemeClr val="dk1"/>
              </a:solidFill>
            </a:endParaRPr>
          </a:p>
        </p:txBody>
      </p:sp>
      <p:sp>
        <p:nvSpPr>
          <p:cNvPr id="64" name="Arrow: Left 63">
            <a:extLst>
              <a:ext uri="{FF2B5EF4-FFF2-40B4-BE49-F238E27FC236}">
                <a16:creationId xmlns:a16="http://schemas.microsoft.com/office/drawing/2014/main" id="{5FCF62F7-2A63-A455-0CB6-B9F155AC396B}"/>
              </a:ext>
            </a:extLst>
          </p:cNvPr>
          <p:cNvSpPr/>
          <p:nvPr/>
        </p:nvSpPr>
        <p:spPr>
          <a:xfrm rot="5400000">
            <a:off x="8855861" y="2039585"/>
            <a:ext cx="2939028" cy="365760"/>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schemeClr val="dk1"/>
              </a:solidFill>
            </a:endParaRPr>
          </a:p>
        </p:txBody>
      </p:sp>
      <p:cxnSp>
        <p:nvCxnSpPr>
          <p:cNvPr id="68" name="Connector: Elbow 67">
            <a:extLst>
              <a:ext uri="{FF2B5EF4-FFF2-40B4-BE49-F238E27FC236}">
                <a16:creationId xmlns:a16="http://schemas.microsoft.com/office/drawing/2014/main" id="{1CDF8D0D-0915-4EE4-8402-1203281D4BBC}"/>
              </a:ext>
            </a:extLst>
          </p:cNvPr>
          <p:cNvCxnSpPr>
            <a:cxnSpLocks/>
          </p:cNvCxnSpPr>
          <p:nvPr/>
        </p:nvCxnSpPr>
        <p:spPr>
          <a:xfrm rot="10800000">
            <a:off x="9591676" y="4693444"/>
            <a:ext cx="1230909" cy="244322"/>
          </a:xfrm>
          <a:prstGeom prst="bentConnector3">
            <a:avLst>
              <a:gd name="adj1" fmla="val 100105"/>
            </a:avLst>
          </a:prstGeom>
        </p:spPr>
        <p:style>
          <a:lnRef idx="1">
            <a:schemeClr val="accent1"/>
          </a:lnRef>
          <a:fillRef idx="0">
            <a:schemeClr val="accent1"/>
          </a:fillRef>
          <a:effectRef idx="0">
            <a:schemeClr val="accent1"/>
          </a:effectRef>
          <a:fontRef idx="minor">
            <a:schemeClr val="tx1"/>
          </a:fontRef>
        </p:style>
      </p:cxnSp>
      <p:pic>
        <p:nvPicPr>
          <p:cNvPr id="73" name="Picture 72">
            <a:extLst>
              <a:ext uri="{FF2B5EF4-FFF2-40B4-BE49-F238E27FC236}">
                <a16:creationId xmlns:a16="http://schemas.microsoft.com/office/drawing/2014/main" id="{895410D0-8C57-9CEF-D1B2-4EBD958E125B}"/>
              </a:ext>
            </a:extLst>
          </p:cNvPr>
          <p:cNvPicPr>
            <a:picLocks noChangeAspect="1"/>
          </p:cNvPicPr>
          <p:nvPr/>
        </p:nvPicPr>
        <p:blipFill>
          <a:blip r:embed="rId5"/>
          <a:stretch>
            <a:fillRect/>
          </a:stretch>
        </p:blipFill>
        <p:spPr>
          <a:xfrm rot="16200000">
            <a:off x="7615333" y="1178036"/>
            <a:ext cx="1037318" cy="1369153"/>
          </a:xfrm>
          <a:prstGeom prst="rect">
            <a:avLst/>
          </a:prstGeom>
        </p:spPr>
      </p:pic>
      <p:sp>
        <p:nvSpPr>
          <p:cNvPr id="74" name="Arrow: Left 73">
            <a:extLst>
              <a:ext uri="{FF2B5EF4-FFF2-40B4-BE49-F238E27FC236}">
                <a16:creationId xmlns:a16="http://schemas.microsoft.com/office/drawing/2014/main" id="{7BF2F7F3-B344-B236-CD57-0997ACCD5E09}"/>
              </a:ext>
            </a:extLst>
          </p:cNvPr>
          <p:cNvSpPr/>
          <p:nvPr/>
        </p:nvSpPr>
        <p:spPr>
          <a:xfrm rot="5400000">
            <a:off x="8462242" y="1468020"/>
            <a:ext cx="1795897" cy="365760"/>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schemeClr val="dk1"/>
              </a:solidFill>
            </a:endParaRPr>
          </a:p>
        </p:txBody>
      </p:sp>
      <p:sp>
        <p:nvSpPr>
          <p:cNvPr id="75" name="Arrow: Left 74">
            <a:extLst>
              <a:ext uri="{FF2B5EF4-FFF2-40B4-BE49-F238E27FC236}">
                <a16:creationId xmlns:a16="http://schemas.microsoft.com/office/drawing/2014/main" id="{8C1747E9-0108-0E4A-B9B4-6B1E9CFB9051}"/>
              </a:ext>
            </a:extLst>
          </p:cNvPr>
          <p:cNvSpPr/>
          <p:nvPr/>
        </p:nvSpPr>
        <p:spPr>
          <a:xfrm rot="5400000">
            <a:off x="8104670" y="860408"/>
            <a:ext cx="580673" cy="365760"/>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schemeClr val="dk1"/>
              </a:solidFill>
            </a:endParaRPr>
          </a:p>
        </p:txBody>
      </p:sp>
      <p:cxnSp>
        <p:nvCxnSpPr>
          <p:cNvPr id="82" name="Connector: Elbow 81">
            <a:extLst>
              <a:ext uri="{FF2B5EF4-FFF2-40B4-BE49-F238E27FC236}">
                <a16:creationId xmlns:a16="http://schemas.microsoft.com/office/drawing/2014/main" id="{910A4A8F-07F2-FD97-2A39-66ADBD8B67DB}"/>
              </a:ext>
            </a:extLst>
          </p:cNvPr>
          <p:cNvCxnSpPr>
            <a:cxnSpLocks/>
          </p:cNvCxnSpPr>
          <p:nvPr/>
        </p:nvCxnSpPr>
        <p:spPr>
          <a:xfrm rot="10800000">
            <a:off x="8624873" y="3521843"/>
            <a:ext cx="1230909" cy="244322"/>
          </a:xfrm>
          <a:prstGeom prst="bentConnector3">
            <a:avLst>
              <a:gd name="adj1" fmla="val 100105"/>
            </a:avLst>
          </a:prstGeom>
        </p:spPr>
        <p:style>
          <a:lnRef idx="1">
            <a:schemeClr val="accent1"/>
          </a:lnRef>
          <a:fillRef idx="0">
            <a:schemeClr val="accent1"/>
          </a:fillRef>
          <a:effectRef idx="0">
            <a:schemeClr val="accent1"/>
          </a:effectRef>
          <a:fontRef idx="minor">
            <a:schemeClr val="tx1"/>
          </a:fontRef>
        </p:style>
      </p:cxnSp>
      <p:cxnSp>
        <p:nvCxnSpPr>
          <p:cNvPr id="83" name="Connector: Elbow 82">
            <a:extLst>
              <a:ext uri="{FF2B5EF4-FFF2-40B4-BE49-F238E27FC236}">
                <a16:creationId xmlns:a16="http://schemas.microsoft.com/office/drawing/2014/main" id="{3FE13468-8E97-72FE-3878-745C29FAA141}"/>
              </a:ext>
            </a:extLst>
          </p:cNvPr>
          <p:cNvCxnSpPr>
            <a:cxnSpLocks/>
          </p:cNvCxnSpPr>
          <p:nvPr/>
        </p:nvCxnSpPr>
        <p:spPr>
          <a:xfrm rot="10800000">
            <a:off x="7655690" y="2355005"/>
            <a:ext cx="1230909" cy="244322"/>
          </a:xfrm>
          <a:prstGeom prst="bentConnector3">
            <a:avLst>
              <a:gd name="adj1" fmla="val 100105"/>
            </a:avLst>
          </a:prstGeom>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661BBE12-B8A1-C70F-B838-B20B36D2FCE1}"/>
              </a:ext>
            </a:extLst>
          </p:cNvPr>
          <p:cNvCxnSpPr>
            <a:cxnSpLocks/>
            <a:stCxn id="121" idx="3"/>
            <a:endCxn id="86" idx="2"/>
          </p:cNvCxnSpPr>
          <p:nvPr/>
        </p:nvCxnSpPr>
        <p:spPr>
          <a:xfrm>
            <a:off x="4911823" y="4225054"/>
            <a:ext cx="6375302" cy="1600595"/>
          </a:xfrm>
          <a:prstGeom prst="bentConnector4">
            <a:avLst>
              <a:gd name="adj1" fmla="val 37972"/>
              <a:gd name="adj2" fmla="val 114282"/>
            </a:avLst>
          </a:prstGeom>
        </p:spPr>
        <p:style>
          <a:lnRef idx="1">
            <a:schemeClr val="accent1"/>
          </a:lnRef>
          <a:fillRef idx="0">
            <a:schemeClr val="accent1"/>
          </a:fillRef>
          <a:effectRef idx="0">
            <a:schemeClr val="accent1"/>
          </a:effectRef>
          <a:fontRef idx="minor">
            <a:schemeClr val="tx1"/>
          </a:fontRef>
        </p:style>
      </p:cxnSp>
      <p:cxnSp>
        <p:nvCxnSpPr>
          <p:cNvPr id="89" name="Connector: Elbow 88">
            <a:extLst>
              <a:ext uri="{FF2B5EF4-FFF2-40B4-BE49-F238E27FC236}">
                <a16:creationId xmlns:a16="http://schemas.microsoft.com/office/drawing/2014/main" id="{2795EF52-D4BD-A13F-393F-E79202788BD5}"/>
              </a:ext>
            </a:extLst>
          </p:cNvPr>
          <p:cNvCxnSpPr>
            <a:cxnSpLocks/>
            <a:stCxn id="120" idx="3"/>
            <a:endCxn id="90" idx="2"/>
          </p:cNvCxnSpPr>
          <p:nvPr/>
        </p:nvCxnSpPr>
        <p:spPr>
          <a:xfrm>
            <a:off x="4911823" y="4386654"/>
            <a:ext cx="5402854" cy="234847"/>
          </a:xfrm>
          <a:prstGeom prst="bentConnector4">
            <a:avLst>
              <a:gd name="adj1" fmla="val 49559"/>
              <a:gd name="adj2" fmla="val 197340"/>
            </a:avLst>
          </a:prstGeom>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74058577-0869-BAD1-90D2-2711F8F838D7}"/>
              </a:ext>
            </a:extLst>
          </p:cNvPr>
          <p:cNvCxnSpPr>
            <a:cxnSpLocks/>
            <a:stCxn id="118" idx="3"/>
            <a:endCxn id="95" idx="2"/>
          </p:cNvCxnSpPr>
          <p:nvPr/>
        </p:nvCxnSpPr>
        <p:spPr>
          <a:xfrm flipV="1">
            <a:off x="4911823" y="3490927"/>
            <a:ext cx="4453582" cy="1057327"/>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ECC209E4-DFB5-1D36-BE57-434D8907B008}"/>
              </a:ext>
            </a:extLst>
          </p:cNvPr>
          <p:cNvCxnSpPr>
            <a:cxnSpLocks/>
            <a:endCxn id="98" idx="2"/>
          </p:cNvCxnSpPr>
          <p:nvPr/>
        </p:nvCxnSpPr>
        <p:spPr>
          <a:xfrm flipV="1">
            <a:off x="4918650" y="2335417"/>
            <a:ext cx="3484794" cy="2374435"/>
          </a:xfrm>
          <a:prstGeom prst="bentConnector2">
            <a:avLst/>
          </a:prstGeom>
        </p:spPr>
        <p:style>
          <a:lnRef idx="1">
            <a:schemeClr val="accent1"/>
          </a:lnRef>
          <a:fillRef idx="0">
            <a:schemeClr val="accent1"/>
          </a:fillRef>
          <a:effectRef idx="0">
            <a:schemeClr val="accent1"/>
          </a:effectRef>
          <a:fontRef idx="minor">
            <a:schemeClr val="tx1"/>
          </a:fontRef>
        </p:style>
      </p:cxnSp>
      <p:pic>
        <p:nvPicPr>
          <p:cNvPr id="101" name="Picture 100">
            <a:extLst>
              <a:ext uri="{FF2B5EF4-FFF2-40B4-BE49-F238E27FC236}">
                <a16:creationId xmlns:a16="http://schemas.microsoft.com/office/drawing/2014/main" id="{58327226-6898-7014-0BA2-C902AA4803B2}"/>
              </a:ext>
            </a:extLst>
          </p:cNvPr>
          <p:cNvPicPr>
            <a:picLocks noChangeAspect="1"/>
          </p:cNvPicPr>
          <p:nvPr/>
        </p:nvPicPr>
        <p:blipFill>
          <a:blip r:embed="rId6"/>
          <a:stretch>
            <a:fillRect/>
          </a:stretch>
        </p:blipFill>
        <p:spPr>
          <a:xfrm>
            <a:off x="1974097" y="5488326"/>
            <a:ext cx="3790804" cy="1228520"/>
          </a:xfrm>
          <a:prstGeom prst="rect">
            <a:avLst/>
          </a:prstGeom>
        </p:spPr>
      </p:pic>
      <p:sp>
        <p:nvSpPr>
          <p:cNvPr id="103" name="TextBox 102">
            <a:extLst>
              <a:ext uri="{FF2B5EF4-FFF2-40B4-BE49-F238E27FC236}">
                <a16:creationId xmlns:a16="http://schemas.microsoft.com/office/drawing/2014/main" id="{12271272-A3C3-7D53-5B46-B26D8570A570}"/>
              </a:ext>
            </a:extLst>
          </p:cNvPr>
          <p:cNvSpPr txBox="1"/>
          <p:nvPr/>
        </p:nvSpPr>
        <p:spPr>
          <a:xfrm>
            <a:off x="1921286" y="5301330"/>
            <a:ext cx="1157689" cy="253916"/>
          </a:xfrm>
          <a:prstGeom prst="rect">
            <a:avLst/>
          </a:prstGeom>
          <a:noFill/>
        </p:spPr>
        <p:txBody>
          <a:bodyPr wrap="none" rtlCol="0">
            <a:spAutoFit/>
          </a:bodyPr>
          <a:lstStyle/>
          <a:p>
            <a:r>
              <a:rPr lang="en-US" sz="1050" dirty="0"/>
              <a:t>74HC590 Counter</a:t>
            </a:r>
          </a:p>
        </p:txBody>
      </p:sp>
      <p:sp>
        <p:nvSpPr>
          <p:cNvPr id="104" name="TextBox 103">
            <a:extLst>
              <a:ext uri="{FF2B5EF4-FFF2-40B4-BE49-F238E27FC236}">
                <a16:creationId xmlns:a16="http://schemas.microsoft.com/office/drawing/2014/main" id="{FDAB915E-810A-D3A5-7344-B4EE840097B8}"/>
              </a:ext>
            </a:extLst>
          </p:cNvPr>
          <p:cNvSpPr txBox="1"/>
          <p:nvPr/>
        </p:nvSpPr>
        <p:spPr>
          <a:xfrm>
            <a:off x="7633281" y="1761494"/>
            <a:ext cx="1157689" cy="253916"/>
          </a:xfrm>
          <a:prstGeom prst="rect">
            <a:avLst/>
          </a:prstGeom>
          <a:noFill/>
        </p:spPr>
        <p:txBody>
          <a:bodyPr wrap="none" rtlCol="0">
            <a:spAutoFit/>
          </a:bodyPr>
          <a:lstStyle/>
          <a:p>
            <a:r>
              <a:rPr lang="en-US" sz="1050"/>
              <a:t>74HC590 Counter</a:t>
            </a:r>
          </a:p>
        </p:txBody>
      </p:sp>
      <p:sp>
        <p:nvSpPr>
          <p:cNvPr id="105" name="TextBox 104">
            <a:extLst>
              <a:ext uri="{FF2B5EF4-FFF2-40B4-BE49-F238E27FC236}">
                <a16:creationId xmlns:a16="http://schemas.microsoft.com/office/drawing/2014/main" id="{A5273871-47CE-AF12-68D1-1E92A2F7737E}"/>
              </a:ext>
            </a:extLst>
          </p:cNvPr>
          <p:cNvSpPr txBox="1"/>
          <p:nvPr/>
        </p:nvSpPr>
        <p:spPr>
          <a:xfrm>
            <a:off x="8577887" y="2950062"/>
            <a:ext cx="1157689" cy="253916"/>
          </a:xfrm>
          <a:prstGeom prst="rect">
            <a:avLst/>
          </a:prstGeom>
          <a:noFill/>
        </p:spPr>
        <p:txBody>
          <a:bodyPr wrap="none" rtlCol="0">
            <a:spAutoFit/>
          </a:bodyPr>
          <a:lstStyle/>
          <a:p>
            <a:r>
              <a:rPr lang="en-US" sz="1050"/>
              <a:t>74HC590 Counter</a:t>
            </a:r>
          </a:p>
        </p:txBody>
      </p:sp>
      <p:sp>
        <p:nvSpPr>
          <p:cNvPr id="106" name="TextBox 105">
            <a:extLst>
              <a:ext uri="{FF2B5EF4-FFF2-40B4-BE49-F238E27FC236}">
                <a16:creationId xmlns:a16="http://schemas.microsoft.com/office/drawing/2014/main" id="{024B7513-2220-5C32-E873-BFE02E94EDA9}"/>
              </a:ext>
            </a:extLst>
          </p:cNvPr>
          <p:cNvSpPr txBox="1"/>
          <p:nvPr/>
        </p:nvSpPr>
        <p:spPr>
          <a:xfrm>
            <a:off x="9574404" y="4138322"/>
            <a:ext cx="1157689" cy="253916"/>
          </a:xfrm>
          <a:prstGeom prst="rect">
            <a:avLst/>
          </a:prstGeom>
          <a:noFill/>
        </p:spPr>
        <p:txBody>
          <a:bodyPr wrap="none" rtlCol="0">
            <a:spAutoFit/>
          </a:bodyPr>
          <a:lstStyle/>
          <a:p>
            <a:r>
              <a:rPr lang="en-US" sz="1050"/>
              <a:t>74HC590 Counter</a:t>
            </a:r>
          </a:p>
        </p:txBody>
      </p:sp>
      <p:sp>
        <p:nvSpPr>
          <p:cNvPr id="107" name="TextBox 106">
            <a:extLst>
              <a:ext uri="{FF2B5EF4-FFF2-40B4-BE49-F238E27FC236}">
                <a16:creationId xmlns:a16="http://schemas.microsoft.com/office/drawing/2014/main" id="{48A65C34-5E81-6AC7-FAD8-B4E44884C50C}"/>
              </a:ext>
            </a:extLst>
          </p:cNvPr>
          <p:cNvSpPr txBox="1"/>
          <p:nvPr/>
        </p:nvSpPr>
        <p:spPr>
          <a:xfrm>
            <a:off x="10508255" y="5282817"/>
            <a:ext cx="1157689" cy="253916"/>
          </a:xfrm>
          <a:prstGeom prst="rect">
            <a:avLst/>
          </a:prstGeom>
          <a:noFill/>
        </p:spPr>
        <p:txBody>
          <a:bodyPr wrap="none" rtlCol="0">
            <a:spAutoFit/>
          </a:bodyPr>
          <a:lstStyle/>
          <a:p>
            <a:r>
              <a:rPr lang="en-US" sz="1050"/>
              <a:t>74HC590 Counter</a:t>
            </a:r>
          </a:p>
        </p:txBody>
      </p:sp>
      <p:cxnSp>
        <p:nvCxnSpPr>
          <p:cNvPr id="109" name="Connector: Elbow 108">
            <a:extLst>
              <a:ext uri="{FF2B5EF4-FFF2-40B4-BE49-F238E27FC236}">
                <a16:creationId xmlns:a16="http://schemas.microsoft.com/office/drawing/2014/main" id="{F870B9A4-A6C4-3F5A-C5EB-A2246E86F174}"/>
              </a:ext>
            </a:extLst>
          </p:cNvPr>
          <p:cNvCxnSpPr>
            <a:cxnSpLocks/>
            <a:endCxn id="110" idx="1"/>
          </p:cNvCxnSpPr>
          <p:nvPr/>
        </p:nvCxnSpPr>
        <p:spPr>
          <a:xfrm>
            <a:off x="5014377" y="2355005"/>
            <a:ext cx="606219" cy="23309"/>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BEAAEE90-7EF6-146D-E22F-FCFC57D028E0}"/>
              </a:ext>
            </a:extLst>
          </p:cNvPr>
          <p:cNvSpPr txBox="1"/>
          <p:nvPr/>
        </p:nvSpPr>
        <p:spPr>
          <a:xfrm>
            <a:off x="5620596" y="2309064"/>
            <a:ext cx="1130438" cy="138499"/>
          </a:xfrm>
          <a:prstGeom prst="rect">
            <a:avLst/>
          </a:prstGeom>
          <a:noFill/>
          <a:ln w="6350">
            <a:solidFill>
              <a:schemeClr val="accent1"/>
            </a:solidFill>
          </a:ln>
        </p:spPr>
        <p:txBody>
          <a:bodyPr wrap="none" tIns="0" bIns="0" rtlCol="0">
            <a:spAutoFit/>
          </a:bodyPr>
          <a:lstStyle/>
          <a:p>
            <a:r>
              <a:rPr lang="en-US" sz="900"/>
              <a:t>MRC: Reset Counter</a:t>
            </a:r>
          </a:p>
        </p:txBody>
      </p:sp>
      <p:sp>
        <p:nvSpPr>
          <p:cNvPr id="112" name="TextBox 111">
            <a:extLst>
              <a:ext uri="{FF2B5EF4-FFF2-40B4-BE49-F238E27FC236}">
                <a16:creationId xmlns:a16="http://schemas.microsoft.com/office/drawing/2014/main" id="{6E59A333-54BB-19CC-E869-E94CB8646FF7}"/>
              </a:ext>
            </a:extLst>
          </p:cNvPr>
          <p:cNvSpPr txBox="1"/>
          <p:nvPr/>
        </p:nvSpPr>
        <p:spPr>
          <a:xfrm>
            <a:off x="5633296" y="2519062"/>
            <a:ext cx="1079142" cy="138499"/>
          </a:xfrm>
          <a:prstGeom prst="rect">
            <a:avLst/>
          </a:prstGeom>
          <a:noFill/>
          <a:ln w="6350">
            <a:solidFill>
              <a:schemeClr val="accent1"/>
            </a:solidFill>
          </a:ln>
        </p:spPr>
        <p:txBody>
          <a:bodyPr wrap="none" tIns="0" bIns="0" rtlCol="0">
            <a:spAutoFit/>
          </a:bodyPr>
          <a:lstStyle/>
          <a:p>
            <a:r>
              <a:rPr lang="en-US" sz="900"/>
              <a:t>CPR: Latch Counter</a:t>
            </a:r>
          </a:p>
        </p:txBody>
      </p:sp>
      <p:graphicFrame>
        <p:nvGraphicFramePr>
          <p:cNvPr id="127" name="Table 126">
            <a:extLst>
              <a:ext uri="{FF2B5EF4-FFF2-40B4-BE49-F238E27FC236}">
                <a16:creationId xmlns:a16="http://schemas.microsoft.com/office/drawing/2014/main" id="{F41ABC59-C7AB-A2D3-D384-B30B15B651D0}"/>
              </a:ext>
            </a:extLst>
          </p:cNvPr>
          <p:cNvGraphicFramePr>
            <a:graphicFrameLocks noGrp="1"/>
          </p:cNvGraphicFramePr>
          <p:nvPr>
            <p:extLst>
              <p:ext uri="{D42A27DB-BD31-4B8C-83A1-F6EECF244321}">
                <p14:modId xmlns:p14="http://schemas.microsoft.com/office/powerpoint/2010/main" val="594132411"/>
              </p:ext>
            </p:extLst>
          </p:nvPr>
        </p:nvGraphicFramePr>
        <p:xfrm>
          <a:off x="899842" y="926109"/>
          <a:ext cx="2665808" cy="1280160"/>
        </p:xfrm>
        <a:graphic>
          <a:graphicData uri="http://schemas.openxmlformats.org/drawingml/2006/table">
            <a:tbl>
              <a:tblPr firstRow="1" bandRow="1">
                <a:tableStyleId>{5C22544A-7EE6-4342-B048-85BDC9FD1C3A}</a:tableStyleId>
              </a:tblPr>
              <a:tblGrid>
                <a:gridCol w="1080249">
                  <a:extLst>
                    <a:ext uri="{9D8B030D-6E8A-4147-A177-3AD203B41FA5}">
                      <a16:colId xmlns:a16="http://schemas.microsoft.com/office/drawing/2014/main" val="1869732311"/>
                    </a:ext>
                  </a:extLst>
                </a:gridCol>
                <a:gridCol w="470547">
                  <a:extLst>
                    <a:ext uri="{9D8B030D-6E8A-4147-A177-3AD203B41FA5}">
                      <a16:colId xmlns:a16="http://schemas.microsoft.com/office/drawing/2014/main" val="146235781"/>
                    </a:ext>
                  </a:extLst>
                </a:gridCol>
                <a:gridCol w="1115012">
                  <a:extLst>
                    <a:ext uri="{9D8B030D-6E8A-4147-A177-3AD203B41FA5}">
                      <a16:colId xmlns:a16="http://schemas.microsoft.com/office/drawing/2014/main" val="2970362926"/>
                    </a:ext>
                  </a:extLst>
                </a:gridCol>
              </a:tblGrid>
              <a:tr h="0">
                <a:tc>
                  <a:txBody>
                    <a:bodyPr/>
                    <a:lstStyle/>
                    <a:p>
                      <a:r>
                        <a:rPr lang="en-US" sz="1050"/>
                        <a:t>Address</a:t>
                      </a:r>
                    </a:p>
                  </a:txBody>
                  <a:tcPr marT="0" marB="0"/>
                </a:tc>
                <a:tc>
                  <a:txBody>
                    <a:bodyPr/>
                    <a:lstStyle/>
                    <a:p>
                      <a:r>
                        <a:rPr lang="en-US" sz="1050"/>
                        <a:t>R/W</a:t>
                      </a:r>
                    </a:p>
                  </a:txBody>
                  <a:tcPr marT="0" marB="0"/>
                </a:tc>
                <a:tc>
                  <a:txBody>
                    <a:bodyPr/>
                    <a:lstStyle/>
                    <a:p>
                      <a:r>
                        <a:rPr lang="en-US" sz="1050"/>
                        <a:t>Register</a:t>
                      </a:r>
                    </a:p>
                  </a:txBody>
                  <a:tcPr marT="0" marB="0"/>
                </a:tc>
                <a:extLst>
                  <a:ext uri="{0D108BD9-81ED-4DB2-BD59-A6C34878D82A}">
                    <a16:rowId xmlns:a16="http://schemas.microsoft.com/office/drawing/2014/main" val="3678069774"/>
                  </a:ext>
                </a:extLst>
              </a:tr>
              <a:tr h="0">
                <a:tc>
                  <a:txBody>
                    <a:bodyPr/>
                    <a:lstStyle/>
                    <a:p>
                      <a:r>
                        <a:rPr lang="en-US" sz="1050" dirty="0"/>
                        <a:t>Base </a:t>
                      </a:r>
                      <a:r>
                        <a:rPr lang="en-US" sz="1050" dirty="0" err="1"/>
                        <a:t>Addr</a:t>
                      </a:r>
                      <a:r>
                        <a:rPr lang="en-US" sz="1050" dirty="0"/>
                        <a:t> E200</a:t>
                      </a:r>
                    </a:p>
                  </a:txBody>
                  <a:tcPr marT="0" marB="0"/>
                </a:tc>
                <a:tc>
                  <a:txBody>
                    <a:bodyPr/>
                    <a:lstStyle/>
                    <a:p>
                      <a:r>
                        <a:rPr lang="en-US" sz="1050"/>
                        <a:t>W</a:t>
                      </a:r>
                    </a:p>
                  </a:txBody>
                  <a:tcPr marT="0" marB="0"/>
                </a:tc>
                <a:tc>
                  <a:txBody>
                    <a:bodyPr/>
                    <a:lstStyle/>
                    <a:p>
                      <a:r>
                        <a:rPr lang="en-US" sz="1050"/>
                        <a:t>Reset Counter</a:t>
                      </a:r>
                    </a:p>
                  </a:txBody>
                  <a:tcPr marT="0" marB="0"/>
                </a:tc>
                <a:extLst>
                  <a:ext uri="{0D108BD9-81ED-4DB2-BD59-A6C34878D82A}">
                    <a16:rowId xmlns:a16="http://schemas.microsoft.com/office/drawing/2014/main" val="846205361"/>
                  </a:ext>
                </a:extLst>
              </a:tr>
              <a:tr h="0">
                <a:tc>
                  <a:txBody>
                    <a:bodyPr/>
                    <a:lstStyle/>
                    <a:p>
                      <a:r>
                        <a:rPr lang="en-US" sz="1050"/>
                        <a:t>+1</a:t>
                      </a:r>
                    </a:p>
                  </a:txBody>
                  <a:tcPr marT="0" marB="0"/>
                </a:tc>
                <a:tc>
                  <a:txBody>
                    <a:bodyPr/>
                    <a:lstStyle/>
                    <a:p>
                      <a:r>
                        <a:rPr lang="en-US" sz="1050"/>
                        <a:t>W</a:t>
                      </a:r>
                    </a:p>
                  </a:txBody>
                  <a:tcPr marT="0" marB="0"/>
                </a:tc>
                <a:tc>
                  <a:txBody>
                    <a:bodyPr/>
                    <a:lstStyle/>
                    <a:p>
                      <a:r>
                        <a:rPr lang="en-US" sz="1050"/>
                        <a:t>Latch Counter</a:t>
                      </a:r>
                    </a:p>
                  </a:txBody>
                  <a:tcPr marT="0" marB="0"/>
                </a:tc>
                <a:extLst>
                  <a:ext uri="{0D108BD9-81ED-4DB2-BD59-A6C34878D82A}">
                    <a16:rowId xmlns:a16="http://schemas.microsoft.com/office/drawing/2014/main" val="1997243859"/>
                  </a:ext>
                </a:extLst>
              </a:tr>
              <a:tr h="0">
                <a:tc>
                  <a:txBody>
                    <a:bodyPr/>
                    <a:lstStyle/>
                    <a:p>
                      <a:r>
                        <a:rPr lang="en-US" sz="1050"/>
                        <a:t>+2</a:t>
                      </a:r>
                    </a:p>
                  </a:txBody>
                  <a:tcPr marT="0" marB="0"/>
                </a:tc>
                <a:tc>
                  <a:txBody>
                    <a:bodyPr/>
                    <a:lstStyle/>
                    <a:p>
                      <a:r>
                        <a:rPr lang="en-US" sz="1050"/>
                        <a:t>R</a:t>
                      </a:r>
                    </a:p>
                  </a:txBody>
                  <a:tcPr marT="0" marB="0"/>
                </a:tc>
                <a:tc>
                  <a:txBody>
                    <a:bodyPr/>
                    <a:lstStyle/>
                    <a:p>
                      <a:r>
                        <a:rPr lang="en-US" sz="1050"/>
                        <a:t>Read Counter 0</a:t>
                      </a:r>
                    </a:p>
                  </a:txBody>
                  <a:tcPr marT="0" marB="0"/>
                </a:tc>
                <a:extLst>
                  <a:ext uri="{0D108BD9-81ED-4DB2-BD59-A6C34878D82A}">
                    <a16:rowId xmlns:a16="http://schemas.microsoft.com/office/drawing/2014/main" val="1203871463"/>
                  </a:ext>
                </a:extLst>
              </a:tr>
              <a:tr h="0">
                <a:tc>
                  <a:txBody>
                    <a:bodyPr/>
                    <a:lstStyle/>
                    <a:p>
                      <a:r>
                        <a:rPr lang="en-US" sz="1050"/>
                        <a:t>+3 </a:t>
                      </a:r>
                    </a:p>
                  </a:txBody>
                  <a:tcPr marT="0" marB="0"/>
                </a:tc>
                <a:tc>
                  <a:txBody>
                    <a:bodyPr/>
                    <a:lstStyle/>
                    <a:p>
                      <a:r>
                        <a:rPr lang="en-US" sz="1050"/>
                        <a:t>R</a:t>
                      </a:r>
                    </a:p>
                  </a:txBody>
                  <a:tcPr marT="0" marB="0"/>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050"/>
                        <a:t>Read Counter 1</a:t>
                      </a:r>
                    </a:p>
                  </a:txBody>
                  <a:tcPr marT="0" marB="0"/>
                </a:tc>
                <a:extLst>
                  <a:ext uri="{0D108BD9-81ED-4DB2-BD59-A6C34878D82A}">
                    <a16:rowId xmlns:a16="http://schemas.microsoft.com/office/drawing/2014/main" val="3795764851"/>
                  </a:ext>
                </a:extLst>
              </a:tr>
              <a:tr h="0">
                <a:tc>
                  <a:txBody>
                    <a:bodyPr/>
                    <a:lstStyle/>
                    <a:p>
                      <a:r>
                        <a:rPr lang="en-US" sz="1050"/>
                        <a:t>+4</a:t>
                      </a:r>
                    </a:p>
                  </a:txBody>
                  <a:tcPr marT="0" marB="0"/>
                </a:tc>
                <a:tc>
                  <a:txBody>
                    <a:bodyPr/>
                    <a:lstStyle/>
                    <a:p>
                      <a:r>
                        <a:rPr lang="en-US" sz="1050"/>
                        <a:t>R</a:t>
                      </a:r>
                    </a:p>
                  </a:txBody>
                  <a:tcPr marT="0" marB="0"/>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050"/>
                        <a:t>Read Counter 2</a:t>
                      </a:r>
                    </a:p>
                  </a:txBody>
                  <a:tcPr marT="0" marB="0"/>
                </a:tc>
                <a:extLst>
                  <a:ext uri="{0D108BD9-81ED-4DB2-BD59-A6C34878D82A}">
                    <a16:rowId xmlns:a16="http://schemas.microsoft.com/office/drawing/2014/main" val="1428668752"/>
                  </a:ext>
                </a:extLst>
              </a:tr>
              <a:tr h="0">
                <a:tc>
                  <a:txBody>
                    <a:bodyPr/>
                    <a:lstStyle/>
                    <a:p>
                      <a:r>
                        <a:rPr lang="en-US" sz="1050"/>
                        <a:t>+5</a:t>
                      </a:r>
                    </a:p>
                  </a:txBody>
                  <a:tcPr marT="0" marB="0"/>
                </a:tc>
                <a:tc>
                  <a:txBody>
                    <a:bodyPr/>
                    <a:lstStyle/>
                    <a:p>
                      <a:r>
                        <a:rPr lang="en-US" sz="1050"/>
                        <a:t>R</a:t>
                      </a:r>
                    </a:p>
                  </a:txBody>
                  <a:tcPr marT="0" marB="0"/>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050" dirty="0"/>
                        <a:t>Read Counter 3</a:t>
                      </a:r>
                    </a:p>
                  </a:txBody>
                  <a:tcPr marT="0" marB="0"/>
                </a:tc>
                <a:extLst>
                  <a:ext uri="{0D108BD9-81ED-4DB2-BD59-A6C34878D82A}">
                    <a16:rowId xmlns:a16="http://schemas.microsoft.com/office/drawing/2014/main" val="1305726383"/>
                  </a:ext>
                </a:extLst>
              </a:tr>
              <a:tr h="0">
                <a:tc>
                  <a:txBody>
                    <a:bodyPr/>
                    <a:lstStyle/>
                    <a:p>
                      <a:r>
                        <a:rPr lang="en-US" sz="1050" dirty="0"/>
                        <a:t>+6</a:t>
                      </a:r>
                    </a:p>
                  </a:txBody>
                  <a:tcPr marT="0" marB="0"/>
                </a:tc>
                <a:tc>
                  <a:txBody>
                    <a:bodyPr/>
                    <a:lstStyle/>
                    <a:p>
                      <a:r>
                        <a:rPr lang="en-US" sz="1050" dirty="0"/>
                        <a:t>R</a:t>
                      </a:r>
                    </a:p>
                  </a:txBody>
                  <a:tcPr marT="0" marB="0"/>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050" dirty="0"/>
                        <a:t>RNG Read</a:t>
                      </a:r>
                    </a:p>
                  </a:txBody>
                  <a:tcPr marT="0" marB="0"/>
                </a:tc>
                <a:extLst>
                  <a:ext uri="{0D108BD9-81ED-4DB2-BD59-A6C34878D82A}">
                    <a16:rowId xmlns:a16="http://schemas.microsoft.com/office/drawing/2014/main" val="1470370753"/>
                  </a:ext>
                </a:extLst>
              </a:tr>
            </a:tbl>
          </a:graphicData>
        </a:graphic>
      </p:graphicFrame>
      <p:sp>
        <p:nvSpPr>
          <p:cNvPr id="3" name="TextBox 2">
            <a:hlinkClick r:id="rId7" action="ppaction://hlinksldjump"/>
            <a:extLst>
              <a:ext uri="{FF2B5EF4-FFF2-40B4-BE49-F238E27FC236}">
                <a16:creationId xmlns:a16="http://schemas.microsoft.com/office/drawing/2014/main" id="{821EB742-4088-B57A-D274-B6FFFB36E7F8}"/>
              </a:ext>
            </a:extLst>
          </p:cNvPr>
          <p:cNvSpPr txBox="1"/>
          <p:nvPr/>
        </p:nvSpPr>
        <p:spPr>
          <a:xfrm>
            <a:off x="5821087" y="4796584"/>
            <a:ext cx="604653" cy="161583"/>
          </a:xfrm>
          <a:prstGeom prst="rect">
            <a:avLst/>
          </a:prstGeom>
          <a:solidFill>
            <a:schemeClr val="bg1"/>
          </a:solidFill>
          <a:ln>
            <a:solidFill>
              <a:schemeClr val="accent1"/>
            </a:solidFill>
          </a:ln>
        </p:spPr>
        <p:txBody>
          <a:bodyPr wrap="none" tIns="0" bIns="0" rtlCol="0">
            <a:spAutoFit/>
          </a:bodyPr>
          <a:lstStyle/>
          <a:p>
            <a:r>
              <a:rPr lang="en-US" sz="1050" dirty="0"/>
              <a:t>RNG Rd</a:t>
            </a:r>
          </a:p>
        </p:txBody>
      </p:sp>
      <p:cxnSp>
        <p:nvCxnSpPr>
          <p:cNvPr id="13" name="Connector: Elbow 12">
            <a:extLst>
              <a:ext uri="{FF2B5EF4-FFF2-40B4-BE49-F238E27FC236}">
                <a16:creationId xmlns:a16="http://schemas.microsoft.com/office/drawing/2014/main" id="{D40043E6-54EE-7D45-079B-A1662B12FB73}"/>
              </a:ext>
            </a:extLst>
          </p:cNvPr>
          <p:cNvCxnSpPr>
            <a:cxnSpLocks/>
            <a:endCxn id="3" idx="1"/>
          </p:cNvCxnSpPr>
          <p:nvPr/>
        </p:nvCxnSpPr>
        <p:spPr>
          <a:xfrm>
            <a:off x="5028915" y="4877375"/>
            <a:ext cx="792172" cy="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4453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Rectangle 132">
            <a:extLst>
              <a:ext uri="{FF2B5EF4-FFF2-40B4-BE49-F238E27FC236}">
                <a16:creationId xmlns:a16="http://schemas.microsoft.com/office/drawing/2014/main" id="{5653A127-B646-9F2A-6257-1786C7B6FAA8}"/>
              </a:ext>
            </a:extLst>
          </p:cNvPr>
          <p:cNvSpPr/>
          <p:nvPr/>
        </p:nvSpPr>
        <p:spPr>
          <a:xfrm>
            <a:off x="6531435" y="3578243"/>
            <a:ext cx="103921" cy="969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EC23F04E-08FF-55EB-1576-E7C84944EFCA}"/>
              </a:ext>
            </a:extLst>
          </p:cNvPr>
          <p:cNvSpPr/>
          <p:nvPr/>
        </p:nvSpPr>
        <p:spPr>
          <a:xfrm>
            <a:off x="6432256" y="3094214"/>
            <a:ext cx="151140" cy="2000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640913E9-2FA2-C3B6-4E08-B2A1B09BCB22}"/>
              </a:ext>
            </a:extLst>
          </p:cNvPr>
          <p:cNvSpPr/>
          <p:nvPr/>
        </p:nvSpPr>
        <p:spPr>
          <a:xfrm>
            <a:off x="6355484" y="1391840"/>
            <a:ext cx="206559" cy="1604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BDBE9E00-6C31-03A1-A603-E0744AE1CD11}"/>
              </a:ext>
            </a:extLst>
          </p:cNvPr>
          <p:cNvSpPr/>
          <p:nvPr/>
        </p:nvSpPr>
        <p:spPr>
          <a:xfrm>
            <a:off x="6395171" y="4011019"/>
            <a:ext cx="166872" cy="1085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88BC73F5-4515-D55F-AB94-0E5BEA303264}"/>
              </a:ext>
            </a:extLst>
          </p:cNvPr>
          <p:cNvSpPr/>
          <p:nvPr/>
        </p:nvSpPr>
        <p:spPr>
          <a:xfrm>
            <a:off x="5516625" y="5486401"/>
            <a:ext cx="151141" cy="1586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0DDE57BB-2358-AF9A-04C6-CA06F4E50E3A}"/>
              </a:ext>
            </a:extLst>
          </p:cNvPr>
          <p:cNvSpPr/>
          <p:nvPr/>
        </p:nvSpPr>
        <p:spPr>
          <a:xfrm>
            <a:off x="5691963" y="5486401"/>
            <a:ext cx="151141" cy="1586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2CA82604-1233-8D62-63ED-94CD0799DE6F}"/>
              </a:ext>
            </a:extLst>
          </p:cNvPr>
          <p:cNvSpPr/>
          <p:nvPr/>
        </p:nvSpPr>
        <p:spPr>
          <a:xfrm>
            <a:off x="4054631" y="4233863"/>
            <a:ext cx="148479" cy="2000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B87AACC-4510-723B-1AD5-1B9D33B340D1}"/>
              </a:ext>
            </a:extLst>
          </p:cNvPr>
          <p:cNvSpPr/>
          <p:nvPr/>
        </p:nvSpPr>
        <p:spPr>
          <a:xfrm>
            <a:off x="10442311" y="2481590"/>
            <a:ext cx="203546" cy="1615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6820DEB-E170-D5B3-CCA5-75B6ACE8E6CA}"/>
              </a:ext>
            </a:extLst>
          </p:cNvPr>
          <p:cNvSpPr/>
          <p:nvPr/>
        </p:nvSpPr>
        <p:spPr>
          <a:xfrm>
            <a:off x="8859048" y="2239216"/>
            <a:ext cx="203546" cy="1615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38D35F-511D-5B16-828A-2B5DDB052BE7}"/>
              </a:ext>
            </a:extLst>
          </p:cNvPr>
          <p:cNvSpPr>
            <a:spLocks noGrp="1"/>
          </p:cNvSpPr>
          <p:nvPr>
            <p:ph type="ctrTitle"/>
          </p:nvPr>
        </p:nvSpPr>
        <p:spPr>
          <a:xfrm>
            <a:off x="7480834" y="345705"/>
            <a:ext cx="3840480" cy="457200"/>
          </a:xfrm>
        </p:spPr>
        <p:txBody>
          <a:bodyPr/>
          <a:lstStyle/>
          <a:p>
            <a:r>
              <a:rPr lang="en-US" dirty="0"/>
              <a:t>RNG (V2.0)</a:t>
            </a:r>
          </a:p>
        </p:txBody>
      </p:sp>
      <p:sp>
        <p:nvSpPr>
          <p:cNvPr id="3" name="TextBox 2">
            <a:hlinkClick r:id="rId2" action="ppaction://hlinksldjump"/>
            <a:extLst>
              <a:ext uri="{FF2B5EF4-FFF2-40B4-BE49-F238E27FC236}">
                <a16:creationId xmlns:a16="http://schemas.microsoft.com/office/drawing/2014/main" id="{AB4CACE9-9AC0-11D0-4054-8838A9E7FB35}"/>
              </a:ext>
            </a:extLst>
          </p:cNvPr>
          <p:cNvSpPr txBox="1"/>
          <p:nvPr/>
        </p:nvSpPr>
        <p:spPr>
          <a:xfrm>
            <a:off x="7551638" y="1373252"/>
            <a:ext cx="604653" cy="161583"/>
          </a:xfrm>
          <a:prstGeom prst="rect">
            <a:avLst/>
          </a:prstGeom>
          <a:solidFill>
            <a:schemeClr val="bg1"/>
          </a:solidFill>
          <a:ln>
            <a:solidFill>
              <a:schemeClr val="accent1"/>
            </a:solidFill>
          </a:ln>
        </p:spPr>
        <p:txBody>
          <a:bodyPr wrap="none" tIns="0" bIns="0" rtlCol="0">
            <a:spAutoFit/>
          </a:bodyPr>
          <a:lstStyle/>
          <a:p>
            <a:r>
              <a:rPr lang="en-US" sz="1050" dirty="0"/>
              <a:t>RNG Rd</a:t>
            </a:r>
          </a:p>
        </p:txBody>
      </p:sp>
      <p:pic>
        <p:nvPicPr>
          <p:cNvPr id="5" name="Picture 4">
            <a:extLst>
              <a:ext uri="{FF2B5EF4-FFF2-40B4-BE49-F238E27FC236}">
                <a16:creationId xmlns:a16="http://schemas.microsoft.com/office/drawing/2014/main" id="{6FD4B29A-34F5-F16E-AB35-A9D0D08E7A53}"/>
              </a:ext>
            </a:extLst>
          </p:cNvPr>
          <p:cNvPicPr>
            <a:picLocks noChangeAspect="1"/>
          </p:cNvPicPr>
          <p:nvPr/>
        </p:nvPicPr>
        <p:blipFill>
          <a:blip r:embed="rId3"/>
          <a:srcRect b="2656"/>
          <a:stretch>
            <a:fillRect/>
          </a:stretch>
        </p:blipFill>
        <p:spPr>
          <a:xfrm>
            <a:off x="8396639" y="2083873"/>
            <a:ext cx="2540411" cy="2797965"/>
          </a:xfrm>
          <a:prstGeom prst="rect">
            <a:avLst/>
          </a:prstGeom>
        </p:spPr>
      </p:pic>
      <p:cxnSp>
        <p:nvCxnSpPr>
          <p:cNvPr id="7" name="Connector: Elbow 6">
            <a:extLst>
              <a:ext uri="{FF2B5EF4-FFF2-40B4-BE49-F238E27FC236}">
                <a16:creationId xmlns:a16="http://schemas.microsoft.com/office/drawing/2014/main" id="{291E178A-8FD3-F5BC-6603-7F666BB3148D}"/>
              </a:ext>
            </a:extLst>
          </p:cNvPr>
          <p:cNvCxnSpPr>
            <a:cxnSpLocks/>
            <a:stCxn id="3" idx="3"/>
            <a:endCxn id="8" idx="1"/>
          </p:cNvCxnSpPr>
          <p:nvPr/>
        </p:nvCxnSpPr>
        <p:spPr>
          <a:xfrm>
            <a:off x="8156291" y="1454044"/>
            <a:ext cx="702757" cy="86596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Connector: Elbow 10">
            <a:extLst>
              <a:ext uri="{FF2B5EF4-FFF2-40B4-BE49-F238E27FC236}">
                <a16:creationId xmlns:a16="http://schemas.microsoft.com/office/drawing/2014/main" id="{F737CF96-02C9-B5ED-A1B1-DC495316885C}"/>
              </a:ext>
            </a:extLst>
          </p:cNvPr>
          <p:cNvCxnSpPr>
            <a:cxnSpLocks/>
            <a:stCxn id="3" idx="3"/>
            <a:endCxn id="10" idx="3"/>
          </p:cNvCxnSpPr>
          <p:nvPr/>
        </p:nvCxnSpPr>
        <p:spPr>
          <a:xfrm>
            <a:off x="8156291" y="1454044"/>
            <a:ext cx="2489566" cy="1108338"/>
          </a:xfrm>
          <a:prstGeom prst="bentConnector3">
            <a:avLst>
              <a:gd name="adj1" fmla="val 109182"/>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5F609E10-1881-AE9D-749F-746921EDD488}"/>
              </a:ext>
            </a:extLst>
          </p:cNvPr>
          <p:cNvSpPr/>
          <p:nvPr/>
        </p:nvSpPr>
        <p:spPr>
          <a:xfrm>
            <a:off x="11652570" y="2400799"/>
            <a:ext cx="282975" cy="2052295"/>
          </a:xfrm>
          <a:prstGeom prst="rect">
            <a:avLst/>
          </a:prstGeom>
        </p:spPr>
        <p:style>
          <a:lnRef idx="1">
            <a:schemeClr val="accent6"/>
          </a:lnRef>
          <a:fillRef idx="2">
            <a:schemeClr val="accent6"/>
          </a:fillRef>
          <a:effectRef idx="1">
            <a:schemeClr val="accent6"/>
          </a:effectRef>
          <a:fontRef idx="minor">
            <a:schemeClr val="dk1"/>
          </a:fontRef>
        </p:style>
        <p:txBody>
          <a:bodyPr vert="vert" rtlCol="0" anchor="ctr"/>
          <a:lstStyle/>
          <a:p>
            <a:pPr algn="ctr"/>
            <a:r>
              <a:rPr lang="en-US" dirty="0"/>
              <a:t>Data   Bus </a:t>
            </a:r>
          </a:p>
        </p:txBody>
      </p:sp>
      <p:sp>
        <p:nvSpPr>
          <p:cNvPr id="17" name="Arrow: Left 16">
            <a:extLst>
              <a:ext uri="{FF2B5EF4-FFF2-40B4-BE49-F238E27FC236}">
                <a16:creationId xmlns:a16="http://schemas.microsoft.com/office/drawing/2014/main" id="{19733E4E-F669-85B2-0FBD-A30EFC06B8E4}"/>
              </a:ext>
            </a:extLst>
          </p:cNvPr>
          <p:cNvSpPr/>
          <p:nvPr/>
        </p:nvSpPr>
        <p:spPr>
          <a:xfrm rot="10800000">
            <a:off x="10800434" y="3299975"/>
            <a:ext cx="580673" cy="365760"/>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schemeClr val="dk1"/>
              </a:solidFill>
            </a:endParaRPr>
          </a:p>
        </p:txBody>
      </p:sp>
      <p:grpSp>
        <p:nvGrpSpPr>
          <p:cNvPr id="21" name="Group 20">
            <a:extLst>
              <a:ext uri="{FF2B5EF4-FFF2-40B4-BE49-F238E27FC236}">
                <a16:creationId xmlns:a16="http://schemas.microsoft.com/office/drawing/2014/main" id="{F3EE43A5-7C94-5802-4CA0-E8DA20CC96F3}"/>
              </a:ext>
            </a:extLst>
          </p:cNvPr>
          <p:cNvGrpSpPr/>
          <p:nvPr/>
        </p:nvGrpSpPr>
        <p:grpSpPr>
          <a:xfrm>
            <a:off x="5392843" y="1114841"/>
            <a:ext cx="1403554" cy="4624209"/>
            <a:chOff x="4561573" y="1114841"/>
            <a:chExt cx="1403554" cy="4624209"/>
          </a:xfrm>
        </p:grpSpPr>
        <p:pic>
          <p:nvPicPr>
            <p:cNvPr id="19" name="Picture 18">
              <a:extLst>
                <a:ext uri="{FF2B5EF4-FFF2-40B4-BE49-F238E27FC236}">
                  <a16:creationId xmlns:a16="http://schemas.microsoft.com/office/drawing/2014/main" id="{E9083C01-61D4-79DC-9A57-284F15DB4016}"/>
                </a:ext>
              </a:extLst>
            </p:cNvPr>
            <p:cNvPicPr>
              <a:picLocks noChangeAspect="1"/>
            </p:cNvPicPr>
            <p:nvPr/>
          </p:nvPicPr>
          <p:blipFill>
            <a:blip r:embed="rId4"/>
            <a:stretch>
              <a:fillRect/>
            </a:stretch>
          </p:blipFill>
          <p:spPr>
            <a:xfrm rot="16200000">
              <a:off x="2951246" y="2725169"/>
              <a:ext cx="4624208" cy="1403554"/>
            </a:xfrm>
            <a:prstGeom prst="rect">
              <a:avLst/>
            </a:prstGeom>
            <a:ln w="19050">
              <a:solidFill>
                <a:schemeClr val="bg1">
                  <a:lumMod val="50000"/>
                </a:schemeClr>
              </a:solidFill>
            </a:ln>
          </p:spPr>
        </p:pic>
        <p:sp>
          <p:nvSpPr>
            <p:cNvPr id="20" name="TextBox 19">
              <a:extLst>
                <a:ext uri="{FF2B5EF4-FFF2-40B4-BE49-F238E27FC236}">
                  <a16:creationId xmlns:a16="http://schemas.microsoft.com/office/drawing/2014/main" id="{3B2F3178-D842-6C2F-C589-5099A5A5FEF6}"/>
                </a:ext>
              </a:extLst>
            </p:cNvPr>
            <p:cNvSpPr txBox="1"/>
            <p:nvPr/>
          </p:nvSpPr>
          <p:spPr>
            <a:xfrm>
              <a:off x="4561573" y="1114841"/>
              <a:ext cx="598241" cy="276999"/>
            </a:xfrm>
            <a:prstGeom prst="rect">
              <a:avLst/>
            </a:prstGeom>
            <a:noFill/>
            <a:ln w="19050">
              <a:noFill/>
            </a:ln>
          </p:spPr>
          <p:txBody>
            <a:bodyPr wrap="none" rtlCol="0">
              <a:spAutoFit/>
            </a:bodyPr>
            <a:lstStyle/>
            <a:p>
              <a:r>
                <a:rPr lang="en-US" sz="1200" dirty="0"/>
                <a:t>HC164</a:t>
              </a:r>
            </a:p>
          </p:txBody>
        </p:sp>
      </p:grpSp>
      <p:sp>
        <p:nvSpPr>
          <p:cNvPr id="22" name="Arrow: Left 21">
            <a:extLst>
              <a:ext uri="{FF2B5EF4-FFF2-40B4-BE49-F238E27FC236}">
                <a16:creationId xmlns:a16="http://schemas.microsoft.com/office/drawing/2014/main" id="{DF25AA31-F387-8794-E812-1D3F9A7C3301}"/>
              </a:ext>
            </a:extLst>
          </p:cNvPr>
          <p:cNvSpPr/>
          <p:nvPr/>
        </p:nvSpPr>
        <p:spPr>
          <a:xfrm rot="10800000">
            <a:off x="7606238" y="3394297"/>
            <a:ext cx="580673" cy="365760"/>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schemeClr val="dk1"/>
              </a:solidFill>
            </a:endParaRPr>
          </a:p>
        </p:txBody>
      </p:sp>
      <p:pic>
        <p:nvPicPr>
          <p:cNvPr id="23" name="Picture 22" descr="Diagram&#10;&#10;Description automatically generated with low confidence">
            <a:extLst>
              <a:ext uri="{FF2B5EF4-FFF2-40B4-BE49-F238E27FC236}">
                <a16:creationId xmlns:a16="http://schemas.microsoft.com/office/drawing/2014/main" id="{417ABD77-3F5A-B593-A50D-18E6C9214AAD}"/>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r="58979" b="31050"/>
          <a:stretch/>
        </p:blipFill>
        <p:spPr>
          <a:xfrm rot="5400000">
            <a:off x="698792" y="2930835"/>
            <a:ext cx="563747" cy="370491"/>
          </a:xfrm>
          <a:prstGeom prst="rect">
            <a:avLst/>
          </a:prstGeom>
          <a:solidFill>
            <a:schemeClr val="bg1"/>
          </a:solidFill>
        </p:spPr>
      </p:pic>
      <p:pic>
        <p:nvPicPr>
          <p:cNvPr id="24" name="Picture 23" descr="Diagram&#10;&#10;Description automatically generated with low confidence">
            <a:extLst>
              <a:ext uri="{FF2B5EF4-FFF2-40B4-BE49-F238E27FC236}">
                <a16:creationId xmlns:a16="http://schemas.microsoft.com/office/drawing/2014/main" id="{CE74F64D-FFE4-6F52-3421-F35CD0D5C226}"/>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r="58979" b="31050"/>
          <a:stretch/>
        </p:blipFill>
        <p:spPr>
          <a:xfrm rot="5400000">
            <a:off x="698792" y="3472542"/>
            <a:ext cx="563747" cy="370491"/>
          </a:xfrm>
          <a:prstGeom prst="rect">
            <a:avLst/>
          </a:prstGeom>
          <a:solidFill>
            <a:schemeClr val="bg1"/>
          </a:solidFill>
        </p:spPr>
      </p:pic>
      <p:pic>
        <p:nvPicPr>
          <p:cNvPr id="25" name="Picture 24" descr="Diagram&#10;&#10;Description automatically generated with low confidence">
            <a:extLst>
              <a:ext uri="{FF2B5EF4-FFF2-40B4-BE49-F238E27FC236}">
                <a16:creationId xmlns:a16="http://schemas.microsoft.com/office/drawing/2014/main" id="{88F0AEAE-ED2B-D930-7CE1-2EDA8704C5D6}"/>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r="58979" b="31050"/>
          <a:stretch/>
        </p:blipFill>
        <p:spPr>
          <a:xfrm rot="5400000">
            <a:off x="694620" y="4036289"/>
            <a:ext cx="563747" cy="370491"/>
          </a:xfrm>
          <a:prstGeom prst="rect">
            <a:avLst/>
          </a:prstGeom>
          <a:solidFill>
            <a:schemeClr val="bg1"/>
          </a:solidFill>
        </p:spPr>
      </p:pic>
      <p:sp>
        <p:nvSpPr>
          <p:cNvPr id="26" name="TextBox 25">
            <a:extLst>
              <a:ext uri="{FF2B5EF4-FFF2-40B4-BE49-F238E27FC236}">
                <a16:creationId xmlns:a16="http://schemas.microsoft.com/office/drawing/2014/main" id="{ADA3CD0C-22D8-26C1-1420-1B232A0E7E16}"/>
              </a:ext>
            </a:extLst>
          </p:cNvPr>
          <p:cNvSpPr txBox="1"/>
          <p:nvPr/>
        </p:nvSpPr>
        <p:spPr>
          <a:xfrm>
            <a:off x="701258" y="2712139"/>
            <a:ext cx="229550" cy="200055"/>
          </a:xfrm>
          <a:prstGeom prst="rect">
            <a:avLst/>
          </a:prstGeom>
          <a:noFill/>
        </p:spPr>
        <p:txBody>
          <a:bodyPr wrap="none" rtlCol="0">
            <a:spAutoFit/>
          </a:bodyPr>
          <a:lstStyle/>
          <a:p>
            <a:r>
              <a:rPr lang="en-US" sz="700" dirty="0"/>
              <a:t>1</a:t>
            </a:r>
          </a:p>
        </p:txBody>
      </p:sp>
      <p:sp>
        <p:nvSpPr>
          <p:cNvPr id="27" name="TextBox 26">
            <a:extLst>
              <a:ext uri="{FF2B5EF4-FFF2-40B4-BE49-F238E27FC236}">
                <a16:creationId xmlns:a16="http://schemas.microsoft.com/office/drawing/2014/main" id="{97832061-794B-6D99-35BB-5CB62480B568}"/>
              </a:ext>
            </a:extLst>
          </p:cNvPr>
          <p:cNvSpPr txBox="1"/>
          <p:nvPr/>
        </p:nvSpPr>
        <p:spPr>
          <a:xfrm>
            <a:off x="701258" y="3194242"/>
            <a:ext cx="229550" cy="200055"/>
          </a:xfrm>
          <a:prstGeom prst="rect">
            <a:avLst/>
          </a:prstGeom>
          <a:noFill/>
        </p:spPr>
        <p:txBody>
          <a:bodyPr wrap="none" rtlCol="0">
            <a:spAutoFit/>
          </a:bodyPr>
          <a:lstStyle/>
          <a:p>
            <a:r>
              <a:rPr lang="en-US" sz="700" dirty="0"/>
              <a:t>2</a:t>
            </a:r>
          </a:p>
        </p:txBody>
      </p:sp>
      <p:sp>
        <p:nvSpPr>
          <p:cNvPr id="28" name="TextBox 27">
            <a:extLst>
              <a:ext uri="{FF2B5EF4-FFF2-40B4-BE49-F238E27FC236}">
                <a16:creationId xmlns:a16="http://schemas.microsoft.com/office/drawing/2014/main" id="{B8C972CE-7DF9-2D53-008D-1138884F939B}"/>
              </a:ext>
            </a:extLst>
          </p:cNvPr>
          <p:cNvSpPr txBox="1"/>
          <p:nvPr/>
        </p:nvSpPr>
        <p:spPr>
          <a:xfrm>
            <a:off x="701258" y="3295036"/>
            <a:ext cx="229550" cy="200055"/>
          </a:xfrm>
          <a:prstGeom prst="rect">
            <a:avLst/>
          </a:prstGeom>
          <a:noFill/>
        </p:spPr>
        <p:txBody>
          <a:bodyPr wrap="none" rtlCol="0">
            <a:spAutoFit/>
          </a:bodyPr>
          <a:lstStyle/>
          <a:p>
            <a:r>
              <a:rPr lang="en-US" sz="700" dirty="0"/>
              <a:t>3</a:t>
            </a:r>
          </a:p>
        </p:txBody>
      </p:sp>
      <p:sp>
        <p:nvSpPr>
          <p:cNvPr id="29" name="TextBox 28">
            <a:extLst>
              <a:ext uri="{FF2B5EF4-FFF2-40B4-BE49-F238E27FC236}">
                <a16:creationId xmlns:a16="http://schemas.microsoft.com/office/drawing/2014/main" id="{5EF998AB-5E12-20D4-FE53-16263F203ACD}"/>
              </a:ext>
            </a:extLst>
          </p:cNvPr>
          <p:cNvSpPr txBox="1"/>
          <p:nvPr/>
        </p:nvSpPr>
        <p:spPr>
          <a:xfrm>
            <a:off x="701258" y="3739606"/>
            <a:ext cx="229550" cy="200055"/>
          </a:xfrm>
          <a:prstGeom prst="rect">
            <a:avLst/>
          </a:prstGeom>
          <a:noFill/>
        </p:spPr>
        <p:txBody>
          <a:bodyPr wrap="none" rtlCol="0">
            <a:spAutoFit/>
          </a:bodyPr>
          <a:lstStyle/>
          <a:p>
            <a:r>
              <a:rPr lang="en-US" sz="700" dirty="0"/>
              <a:t>4</a:t>
            </a:r>
          </a:p>
        </p:txBody>
      </p:sp>
      <p:sp>
        <p:nvSpPr>
          <p:cNvPr id="30" name="TextBox 29">
            <a:extLst>
              <a:ext uri="{FF2B5EF4-FFF2-40B4-BE49-F238E27FC236}">
                <a16:creationId xmlns:a16="http://schemas.microsoft.com/office/drawing/2014/main" id="{6EB6427D-D208-94A3-255C-46298D071E66}"/>
              </a:ext>
            </a:extLst>
          </p:cNvPr>
          <p:cNvSpPr txBox="1"/>
          <p:nvPr/>
        </p:nvSpPr>
        <p:spPr>
          <a:xfrm>
            <a:off x="701258" y="3887496"/>
            <a:ext cx="229550" cy="200055"/>
          </a:xfrm>
          <a:prstGeom prst="rect">
            <a:avLst/>
          </a:prstGeom>
          <a:noFill/>
        </p:spPr>
        <p:txBody>
          <a:bodyPr wrap="none" rtlCol="0">
            <a:spAutoFit/>
          </a:bodyPr>
          <a:lstStyle/>
          <a:p>
            <a:r>
              <a:rPr lang="en-US" sz="700" dirty="0"/>
              <a:t>5</a:t>
            </a:r>
          </a:p>
        </p:txBody>
      </p:sp>
      <p:sp>
        <p:nvSpPr>
          <p:cNvPr id="31" name="TextBox 30">
            <a:extLst>
              <a:ext uri="{FF2B5EF4-FFF2-40B4-BE49-F238E27FC236}">
                <a16:creationId xmlns:a16="http://schemas.microsoft.com/office/drawing/2014/main" id="{A533B50C-193E-BBAC-D9BE-C53B4E900A86}"/>
              </a:ext>
            </a:extLst>
          </p:cNvPr>
          <p:cNvSpPr txBox="1"/>
          <p:nvPr/>
        </p:nvSpPr>
        <p:spPr>
          <a:xfrm>
            <a:off x="701258" y="4287606"/>
            <a:ext cx="229550" cy="200055"/>
          </a:xfrm>
          <a:prstGeom prst="rect">
            <a:avLst/>
          </a:prstGeom>
          <a:noFill/>
        </p:spPr>
        <p:txBody>
          <a:bodyPr wrap="none" rtlCol="0">
            <a:spAutoFit/>
          </a:bodyPr>
          <a:lstStyle/>
          <a:p>
            <a:r>
              <a:rPr lang="en-US" sz="700" dirty="0"/>
              <a:t>6</a:t>
            </a:r>
          </a:p>
        </p:txBody>
      </p:sp>
      <p:pic>
        <p:nvPicPr>
          <p:cNvPr id="32" name="Picture 31" descr="Diagram&#10;&#10;Description automatically generated with low confidence">
            <a:extLst>
              <a:ext uri="{FF2B5EF4-FFF2-40B4-BE49-F238E27FC236}">
                <a16:creationId xmlns:a16="http://schemas.microsoft.com/office/drawing/2014/main" id="{32D7DF3B-61BE-C0E8-8D3D-3A4F3726D026}"/>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r="58979" b="31050"/>
          <a:stretch/>
        </p:blipFill>
        <p:spPr>
          <a:xfrm rot="5400000">
            <a:off x="695880" y="4581653"/>
            <a:ext cx="563747" cy="370491"/>
          </a:xfrm>
          <a:prstGeom prst="rect">
            <a:avLst/>
          </a:prstGeom>
          <a:solidFill>
            <a:schemeClr val="bg1"/>
          </a:solidFill>
        </p:spPr>
      </p:pic>
      <p:sp>
        <p:nvSpPr>
          <p:cNvPr id="33" name="TextBox 32">
            <a:extLst>
              <a:ext uri="{FF2B5EF4-FFF2-40B4-BE49-F238E27FC236}">
                <a16:creationId xmlns:a16="http://schemas.microsoft.com/office/drawing/2014/main" id="{5077AF89-4BDF-9CF6-3AA1-ECDA3C744210}"/>
              </a:ext>
            </a:extLst>
          </p:cNvPr>
          <p:cNvSpPr txBox="1"/>
          <p:nvPr/>
        </p:nvSpPr>
        <p:spPr>
          <a:xfrm>
            <a:off x="701258" y="4847950"/>
            <a:ext cx="274434" cy="200055"/>
          </a:xfrm>
          <a:prstGeom prst="rect">
            <a:avLst/>
          </a:prstGeom>
          <a:noFill/>
        </p:spPr>
        <p:txBody>
          <a:bodyPr wrap="none" rtlCol="0">
            <a:spAutoFit/>
          </a:bodyPr>
          <a:lstStyle/>
          <a:p>
            <a:r>
              <a:rPr lang="en-US" sz="700" dirty="0"/>
              <a:t>10</a:t>
            </a:r>
          </a:p>
        </p:txBody>
      </p:sp>
      <p:sp>
        <p:nvSpPr>
          <p:cNvPr id="34" name="TextBox 33">
            <a:extLst>
              <a:ext uri="{FF2B5EF4-FFF2-40B4-BE49-F238E27FC236}">
                <a16:creationId xmlns:a16="http://schemas.microsoft.com/office/drawing/2014/main" id="{A9BEF7CC-5537-79A6-C26D-E6E955B0296B}"/>
              </a:ext>
            </a:extLst>
          </p:cNvPr>
          <p:cNvSpPr txBox="1"/>
          <p:nvPr/>
        </p:nvSpPr>
        <p:spPr>
          <a:xfrm>
            <a:off x="678816" y="4447840"/>
            <a:ext cx="274434" cy="200055"/>
          </a:xfrm>
          <a:prstGeom prst="rect">
            <a:avLst/>
          </a:prstGeom>
          <a:noFill/>
        </p:spPr>
        <p:txBody>
          <a:bodyPr wrap="none" rtlCol="0">
            <a:spAutoFit/>
          </a:bodyPr>
          <a:lstStyle/>
          <a:p>
            <a:r>
              <a:rPr lang="en-US" sz="700" dirty="0"/>
              <a:t>11</a:t>
            </a:r>
          </a:p>
        </p:txBody>
      </p:sp>
      <p:pic>
        <p:nvPicPr>
          <p:cNvPr id="35" name="Picture 34" descr="Diagram&#10;&#10;Description automatically generated with low confidence">
            <a:extLst>
              <a:ext uri="{FF2B5EF4-FFF2-40B4-BE49-F238E27FC236}">
                <a16:creationId xmlns:a16="http://schemas.microsoft.com/office/drawing/2014/main" id="{C8E059AD-F439-E5E4-FAF0-F0C152452969}"/>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r="58979" b="31050"/>
          <a:stretch/>
        </p:blipFill>
        <p:spPr>
          <a:xfrm rot="5400000">
            <a:off x="694620" y="5127017"/>
            <a:ext cx="563747" cy="370491"/>
          </a:xfrm>
          <a:prstGeom prst="rect">
            <a:avLst/>
          </a:prstGeom>
          <a:solidFill>
            <a:schemeClr val="bg1"/>
          </a:solidFill>
        </p:spPr>
      </p:pic>
      <p:sp>
        <p:nvSpPr>
          <p:cNvPr id="36" name="TextBox 35">
            <a:extLst>
              <a:ext uri="{FF2B5EF4-FFF2-40B4-BE49-F238E27FC236}">
                <a16:creationId xmlns:a16="http://schemas.microsoft.com/office/drawing/2014/main" id="{CB189703-F2F1-ECFF-A9B0-788E876E7DE4}"/>
              </a:ext>
            </a:extLst>
          </p:cNvPr>
          <p:cNvSpPr txBox="1"/>
          <p:nvPr/>
        </p:nvSpPr>
        <p:spPr>
          <a:xfrm>
            <a:off x="701258" y="5393314"/>
            <a:ext cx="229550" cy="200055"/>
          </a:xfrm>
          <a:prstGeom prst="rect">
            <a:avLst/>
          </a:prstGeom>
          <a:noFill/>
        </p:spPr>
        <p:txBody>
          <a:bodyPr wrap="none" rtlCol="0">
            <a:spAutoFit/>
          </a:bodyPr>
          <a:lstStyle/>
          <a:p>
            <a:r>
              <a:rPr lang="en-US" sz="700" dirty="0"/>
              <a:t>8</a:t>
            </a:r>
          </a:p>
        </p:txBody>
      </p:sp>
      <p:sp>
        <p:nvSpPr>
          <p:cNvPr id="37" name="TextBox 36">
            <a:extLst>
              <a:ext uri="{FF2B5EF4-FFF2-40B4-BE49-F238E27FC236}">
                <a16:creationId xmlns:a16="http://schemas.microsoft.com/office/drawing/2014/main" id="{46CE8A86-5076-5325-E275-030166DAEBED}"/>
              </a:ext>
            </a:extLst>
          </p:cNvPr>
          <p:cNvSpPr txBox="1"/>
          <p:nvPr/>
        </p:nvSpPr>
        <p:spPr>
          <a:xfrm>
            <a:off x="701258" y="4977029"/>
            <a:ext cx="229550" cy="200055"/>
          </a:xfrm>
          <a:prstGeom prst="rect">
            <a:avLst/>
          </a:prstGeom>
          <a:noFill/>
        </p:spPr>
        <p:txBody>
          <a:bodyPr wrap="none" rtlCol="0">
            <a:spAutoFit/>
          </a:bodyPr>
          <a:lstStyle/>
          <a:p>
            <a:r>
              <a:rPr lang="en-US" sz="700" dirty="0"/>
              <a:t>9</a:t>
            </a:r>
          </a:p>
        </p:txBody>
      </p:sp>
      <p:cxnSp>
        <p:nvCxnSpPr>
          <p:cNvPr id="39" name="Connector: Elbow 38">
            <a:extLst>
              <a:ext uri="{FF2B5EF4-FFF2-40B4-BE49-F238E27FC236}">
                <a16:creationId xmlns:a16="http://schemas.microsoft.com/office/drawing/2014/main" id="{B9EA1226-9FE5-EB8B-854B-85422F51006F}"/>
              </a:ext>
            </a:extLst>
          </p:cNvPr>
          <p:cNvCxnSpPr>
            <a:stCxn id="35" idx="3"/>
            <a:endCxn id="23" idx="1"/>
          </p:cNvCxnSpPr>
          <p:nvPr/>
        </p:nvCxnSpPr>
        <p:spPr>
          <a:xfrm rot="5400000" flipH="1" flipV="1">
            <a:off x="-401386" y="4212086"/>
            <a:ext cx="2759929" cy="4172"/>
          </a:xfrm>
          <a:prstGeom prst="bentConnector5">
            <a:avLst>
              <a:gd name="adj1" fmla="val -8283"/>
              <a:gd name="adj2" fmla="val -15015988"/>
              <a:gd name="adj3" fmla="val 10828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724E587-B45F-79AA-0A2A-2BB2FE4EBBC8}"/>
              </a:ext>
            </a:extLst>
          </p:cNvPr>
          <p:cNvCxnSpPr>
            <a:cxnSpLocks/>
            <a:stCxn id="32" idx="1"/>
            <a:endCxn id="44" idx="0"/>
          </p:cNvCxnSpPr>
          <p:nvPr/>
        </p:nvCxnSpPr>
        <p:spPr>
          <a:xfrm>
            <a:off x="977753" y="4485025"/>
            <a:ext cx="3078650" cy="1674"/>
          </a:xfrm>
          <a:prstGeom prst="line">
            <a:avLst/>
          </a:prstGeom>
        </p:spPr>
        <p:style>
          <a:lnRef idx="1">
            <a:schemeClr val="accent1"/>
          </a:lnRef>
          <a:fillRef idx="0">
            <a:schemeClr val="accent1"/>
          </a:fillRef>
          <a:effectRef idx="0">
            <a:schemeClr val="accent1"/>
          </a:effectRef>
          <a:fontRef idx="minor">
            <a:schemeClr val="tx1"/>
          </a:fontRef>
        </p:style>
      </p:cxnSp>
      <p:grpSp>
        <p:nvGrpSpPr>
          <p:cNvPr id="48" name="Group 47">
            <a:extLst>
              <a:ext uri="{FF2B5EF4-FFF2-40B4-BE49-F238E27FC236}">
                <a16:creationId xmlns:a16="http://schemas.microsoft.com/office/drawing/2014/main" id="{890B3E2B-BBE5-4DF6-6C0A-8B8DCF1B060F}"/>
              </a:ext>
            </a:extLst>
          </p:cNvPr>
          <p:cNvGrpSpPr/>
          <p:nvPr/>
        </p:nvGrpSpPr>
        <p:grpSpPr>
          <a:xfrm>
            <a:off x="3941628" y="4164907"/>
            <a:ext cx="708506" cy="521847"/>
            <a:chOff x="2520912" y="4164907"/>
            <a:chExt cx="708506" cy="521847"/>
          </a:xfrm>
        </p:grpSpPr>
        <p:pic>
          <p:nvPicPr>
            <p:cNvPr id="43" name="Picture 42" descr="A close up of the moon&#10;&#10;Description automatically generated with medium confidence">
              <a:extLst>
                <a:ext uri="{FF2B5EF4-FFF2-40B4-BE49-F238E27FC236}">
                  <a16:creationId xmlns:a16="http://schemas.microsoft.com/office/drawing/2014/main" id="{C2AC1743-9FE9-5956-25E7-2F7D1B56422C}"/>
                </a:ext>
              </a:extLst>
            </p:cNvPr>
            <p:cNvPicPr>
              <a:picLocks noChangeAspect="1"/>
            </p:cNvPicPr>
            <p:nvPr/>
          </p:nvPicPr>
          <p:blipFill rotWithShape="1">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l="13972" r="27394"/>
            <a:stretch/>
          </p:blipFill>
          <p:spPr>
            <a:xfrm>
              <a:off x="2590364" y="4229091"/>
              <a:ext cx="586165" cy="360244"/>
            </a:xfrm>
            <a:prstGeom prst="rect">
              <a:avLst/>
            </a:prstGeom>
          </p:spPr>
        </p:pic>
        <p:sp>
          <p:nvSpPr>
            <p:cNvPr id="44" name="TextBox 43">
              <a:extLst>
                <a:ext uri="{FF2B5EF4-FFF2-40B4-BE49-F238E27FC236}">
                  <a16:creationId xmlns:a16="http://schemas.microsoft.com/office/drawing/2014/main" id="{E156E6EC-DE7D-FB97-1A38-35BAD6A6FF37}"/>
                </a:ext>
              </a:extLst>
            </p:cNvPr>
            <p:cNvSpPr txBox="1"/>
            <p:nvPr/>
          </p:nvSpPr>
          <p:spPr>
            <a:xfrm>
              <a:off x="2520912" y="4486699"/>
              <a:ext cx="229550" cy="200055"/>
            </a:xfrm>
            <a:prstGeom prst="rect">
              <a:avLst/>
            </a:prstGeom>
            <a:noFill/>
          </p:spPr>
          <p:txBody>
            <a:bodyPr wrap="none" rtlCol="0">
              <a:spAutoFit/>
            </a:bodyPr>
            <a:lstStyle/>
            <a:p>
              <a:r>
                <a:rPr lang="en-US" sz="700" dirty="0"/>
                <a:t>1</a:t>
              </a:r>
            </a:p>
          </p:txBody>
        </p:sp>
        <p:sp>
          <p:nvSpPr>
            <p:cNvPr id="46" name="TextBox 45">
              <a:extLst>
                <a:ext uri="{FF2B5EF4-FFF2-40B4-BE49-F238E27FC236}">
                  <a16:creationId xmlns:a16="http://schemas.microsoft.com/office/drawing/2014/main" id="{B809B6CB-0A7C-87EE-9E21-0A21539CA173}"/>
                </a:ext>
              </a:extLst>
            </p:cNvPr>
            <p:cNvSpPr txBox="1"/>
            <p:nvPr/>
          </p:nvSpPr>
          <p:spPr>
            <a:xfrm>
              <a:off x="2520912" y="4164907"/>
              <a:ext cx="229550" cy="200055"/>
            </a:xfrm>
            <a:prstGeom prst="rect">
              <a:avLst/>
            </a:prstGeom>
            <a:noFill/>
          </p:spPr>
          <p:txBody>
            <a:bodyPr wrap="none" rtlCol="0">
              <a:spAutoFit/>
            </a:bodyPr>
            <a:lstStyle/>
            <a:p>
              <a:r>
                <a:rPr lang="en-US" sz="700" dirty="0"/>
                <a:t>2</a:t>
              </a:r>
            </a:p>
          </p:txBody>
        </p:sp>
        <p:sp>
          <p:nvSpPr>
            <p:cNvPr id="47" name="TextBox 46">
              <a:extLst>
                <a:ext uri="{FF2B5EF4-FFF2-40B4-BE49-F238E27FC236}">
                  <a16:creationId xmlns:a16="http://schemas.microsoft.com/office/drawing/2014/main" id="{ABDD5780-B42C-F06C-E0AD-9159A19ADB14}"/>
                </a:ext>
              </a:extLst>
            </p:cNvPr>
            <p:cNvSpPr txBox="1"/>
            <p:nvPr/>
          </p:nvSpPr>
          <p:spPr>
            <a:xfrm>
              <a:off x="2999868" y="4237650"/>
              <a:ext cx="229550" cy="200055"/>
            </a:xfrm>
            <a:prstGeom prst="rect">
              <a:avLst/>
            </a:prstGeom>
            <a:noFill/>
          </p:spPr>
          <p:txBody>
            <a:bodyPr wrap="none" rtlCol="0">
              <a:spAutoFit/>
            </a:bodyPr>
            <a:lstStyle/>
            <a:p>
              <a:r>
                <a:rPr lang="en-US" sz="700" dirty="0"/>
                <a:t>3</a:t>
              </a:r>
            </a:p>
          </p:txBody>
        </p:sp>
      </p:grpSp>
      <p:grpSp>
        <p:nvGrpSpPr>
          <p:cNvPr id="49" name="Group 48">
            <a:extLst>
              <a:ext uri="{FF2B5EF4-FFF2-40B4-BE49-F238E27FC236}">
                <a16:creationId xmlns:a16="http://schemas.microsoft.com/office/drawing/2014/main" id="{BBA707E0-4ECB-9510-CE73-06FDA4AAFD2F}"/>
              </a:ext>
            </a:extLst>
          </p:cNvPr>
          <p:cNvGrpSpPr/>
          <p:nvPr/>
        </p:nvGrpSpPr>
        <p:grpSpPr>
          <a:xfrm>
            <a:off x="3268194" y="3647405"/>
            <a:ext cx="629996" cy="517502"/>
            <a:chOff x="2590364" y="4118313"/>
            <a:chExt cx="629996" cy="517502"/>
          </a:xfrm>
        </p:grpSpPr>
        <p:pic>
          <p:nvPicPr>
            <p:cNvPr id="50" name="Picture 49" descr="A close up of the moon&#10;&#10;Description automatically generated with medium confidence">
              <a:extLst>
                <a:ext uri="{FF2B5EF4-FFF2-40B4-BE49-F238E27FC236}">
                  <a16:creationId xmlns:a16="http://schemas.microsoft.com/office/drawing/2014/main" id="{6424C6EB-F084-8A4E-D221-8612F78EFC8D}"/>
                </a:ext>
              </a:extLst>
            </p:cNvPr>
            <p:cNvPicPr>
              <a:picLocks noChangeAspect="1"/>
            </p:cNvPicPr>
            <p:nvPr/>
          </p:nvPicPr>
          <p:blipFill rotWithShape="1">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l="13972" r="27394"/>
            <a:stretch/>
          </p:blipFill>
          <p:spPr>
            <a:xfrm>
              <a:off x="2590364" y="4229091"/>
              <a:ext cx="586165" cy="360244"/>
            </a:xfrm>
            <a:prstGeom prst="rect">
              <a:avLst/>
            </a:prstGeom>
          </p:spPr>
        </p:pic>
        <p:sp>
          <p:nvSpPr>
            <p:cNvPr id="51" name="TextBox 50">
              <a:extLst>
                <a:ext uri="{FF2B5EF4-FFF2-40B4-BE49-F238E27FC236}">
                  <a16:creationId xmlns:a16="http://schemas.microsoft.com/office/drawing/2014/main" id="{004C14BE-EDD8-0F12-6A28-4C2333EFFDCE}"/>
                </a:ext>
              </a:extLst>
            </p:cNvPr>
            <p:cNvSpPr txBox="1"/>
            <p:nvPr/>
          </p:nvSpPr>
          <p:spPr>
            <a:xfrm>
              <a:off x="2590364" y="4328038"/>
              <a:ext cx="229550" cy="307777"/>
            </a:xfrm>
            <a:prstGeom prst="rect">
              <a:avLst/>
            </a:prstGeom>
            <a:noFill/>
          </p:spPr>
          <p:txBody>
            <a:bodyPr wrap="none" rtlCol="0">
              <a:spAutoFit/>
            </a:bodyPr>
            <a:lstStyle/>
            <a:p>
              <a:r>
                <a:rPr lang="en-US" sz="700" dirty="0"/>
                <a:t>4</a:t>
              </a:r>
            </a:p>
            <a:p>
              <a:endParaRPr lang="en-US" sz="700" dirty="0"/>
            </a:p>
          </p:txBody>
        </p:sp>
        <p:sp>
          <p:nvSpPr>
            <p:cNvPr id="52" name="TextBox 51">
              <a:extLst>
                <a:ext uri="{FF2B5EF4-FFF2-40B4-BE49-F238E27FC236}">
                  <a16:creationId xmlns:a16="http://schemas.microsoft.com/office/drawing/2014/main" id="{101A2EB4-0C70-32D4-CB45-9B646A2F4331}"/>
                </a:ext>
              </a:extLst>
            </p:cNvPr>
            <p:cNvSpPr txBox="1"/>
            <p:nvPr/>
          </p:nvSpPr>
          <p:spPr>
            <a:xfrm>
              <a:off x="2605853" y="4118313"/>
              <a:ext cx="271228" cy="415498"/>
            </a:xfrm>
            <a:prstGeom prst="rect">
              <a:avLst/>
            </a:prstGeom>
            <a:noFill/>
          </p:spPr>
          <p:txBody>
            <a:bodyPr wrap="none" rtlCol="0">
              <a:spAutoFit/>
            </a:bodyPr>
            <a:lstStyle/>
            <a:p>
              <a:r>
                <a:rPr lang="en-US" sz="700" dirty="0"/>
                <a:t>5  </a:t>
              </a:r>
            </a:p>
            <a:p>
              <a:endParaRPr lang="en-US" sz="700" dirty="0"/>
            </a:p>
            <a:p>
              <a:endParaRPr lang="en-US" sz="700" dirty="0"/>
            </a:p>
          </p:txBody>
        </p:sp>
        <p:sp>
          <p:nvSpPr>
            <p:cNvPr id="53" name="TextBox 52">
              <a:extLst>
                <a:ext uri="{FF2B5EF4-FFF2-40B4-BE49-F238E27FC236}">
                  <a16:creationId xmlns:a16="http://schemas.microsoft.com/office/drawing/2014/main" id="{D4F5BB2E-B013-73AB-3044-89C95D5ECF78}"/>
                </a:ext>
              </a:extLst>
            </p:cNvPr>
            <p:cNvSpPr txBox="1"/>
            <p:nvPr/>
          </p:nvSpPr>
          <p:spPr>
            <a:xfrm>
              <a:off x="2990810" y="4233863"/>
              <a:ext cx="229550" cy="200055"/>
            </a:xfrm>
            <a:prstGeom prst="rect">
              <a:avLst/>
            </a:prstGeom>
            <a:noFill/>
          </p:spPr>
          <p:txBody>
            <a:bodyPr wrap="none" rtlCol="0">
              <a:spAutoFit/>
            </a:bodyPr>
            <a:lstStyle/>
            <a:p>
              <a:r>
                <a:rPr lang="en-US" sz="700" dirty="0"/>
                <a:t>6</a:t>
              </a:r>
            </a:p>
          </p:txBody>
        </p:sp>
      </p:grpSp>
      <p:cxnSp>
        <p:nvCxnSpPr>
          <p:cNvPr id="55" name="Connector: Elbow 54">
            <a:extLst>
              <a:ext uri="{FF2B5EF4-FFF2-40B4-BE49-F238E27FC236}">
                <a16:creationId xmlns:a16="http://schemas.microsoft.com/office/drawing/2014/main" id="{33431290-B9B1-9D31-A3D9-762A7CA21C95}"/>
              </a:ext>
            </a:extLst>
          </p:cNvPr>
          <p:cNvCxnSpPr>
            <a:cxnSpLocks/>
            <a:stCxn id="50" idx="3"/>
            <a:endCxn id="57" idx="1"/>
          </p:cNvCxnSpPr>
          <p:nvPr/>
        </p:nvCxnSpPr>
        <p:spPr>
          <a:xfrm>
            <a:off x="3854359" y="3938305"/>
            <a:ext cx="200272" cy="395586"/>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62" name="Connector: Elbow 61">
            <a:extLst>
              <a:ext uri="{FF2B5EF4-FFF2-40B4-BE49-F238E27FC236}">
                <a16:creationId xmlns:a16="http://schemas.microsoft.com/office/drawing/2014/main" id="{231DA50B-97D7-B250-893D-691A07E3F8A3}"/>
              </a:ext>
            </a:extLst>
          </p:cNvPr>
          <p:cNvCxnSpPr>
            <a:cxnSpLocks/>
            <a:stCxn id="43" idx="3"/>
            <a:endCxn id="60" idx="2"/>
          </p:cNvCxnSpPr>
          <p:nvPr/>
        </p:nvCxnSpPr>
        <p:spPr>
          <a:xfrm>
            <a:off x="4597245" y="4409213"/>
            <a:ext cx="994951" cy="1235886"/>
          </a:xfrm>
          <a:prstGeom prst="bentConnector4">
            <a:avLst>
              <a:gd name="adj1" fmla="val 46202"/>
              <a:gd name="adj2" fmla="val 118497"/>
            </a:avLst>
          </a:prstGeom>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03B2A99E-DE92-A908-D1F6-B366D977591D}"/>
              </a:ext>
            </a:extLst>
          </p:cNvPr>
          <p:cNvCxnSpPr>
            <a:cxnSpLocks/>
            <a:stCxn id="43" idx="3"/>
            <a:endCxn id="61" idx="2"/>
          </p:cNvCxnSpPr>
          <p:nvPr/>
        </p:nvCxnSpPr>
        <p:spPr>
          <a:xfrm>
            <a:off x="4597245" y="4409213"/>
            <a:ext cx="1170289" cy="1235886"/>
          </a:xfrm>
          <a:prstGeom prst="bentConnector4">
            <a:avLst>
              <a:gd name="adj1" fmla="val 39022"/>
              <a:gd name="adj2" fmla="val 118497"/>
            </a:avLst>
          </a:prstGeom>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08ABF1D1-2F32-714A-DE88-EB3B47C125CB}"/>
              </a:ext>
            </a:extLst>
          </p:cNvPr>
          <p:cNvCxnSpPr>
            <a:cxnSpLocks/>
            <a:stCxn id="74" idx="3"/>
            <a:endCxn id="51" idx="1"/>
          </p:cNvCxnSpPr>
          <p:nvPr/>
        </p:nvCxnSpPr>
        <p:spPr>
          <a:xfrm flipH="1" flipV="1">
            <a:off x="3268194" y="4011019"/>
            <a:ext cx="3293849" cy="54299"/>
          </a:xfrm>
          <a:prstGeom prst="bentConnector5">
            <a:avLst>
              <a:gd name="adj1" fmla="val -16805"/>
              <a:gd name="adj2" fmla="val -4233697"/>
              <a:gd name="adj3" fmla="val 106940"/>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83" name="Group 82">
            <a:extLst>
              <a:ext uri="{FF2B5EF4-FFF2-40B4-BE49-F238E27FC236}">
                <a16:creationId xmlns:a16="http://schemas.microsoft.com/office/drawing/2014/main" id="{B4D4FFCD-065E-62B6-8AAF-2F752F5F645A}"/>
              </a:ext>
            </a:extLst>
          </p:cNvPr>
          <p:cNvGrpSpPr/>
          <p:nvPr/>
        </p:nvGrpSpPr>
        <p:grpSpPr>
          <a:xfrm>
            <a:off x="2388481" y="1899591"/>
            <a:ext cx="681859" cy="514357"/>
            <a:chOff x="2538501" y="4127310"/>
            <a:chExt cx="681859" cy="514357"/>
          </a:xfrm>
        </p:grpSpPr>
        <p:pic>
          <p:nvPicPr>
            <p:cNvPr id="84" name="Picture 83" descr="A close up of the moon&#10;&#10;Description automatically generated with medium confidence">
              <a:extLst>
                <a:ext uri="{FF2B5EF4-FFF2-40B4-BE49-F238E27FC236}">
                  <a16:creationId xmlns:a16="http://schemas.microsoft.com/office/drawing/2014/main" id="{91778882-83CC-1C5A-770A-7D98F7BD10DE}"/>
                </a:ext>
              </a:extLst>
            </p:cNvPr>
            <p:cNvPicPr>
              <a:picLocks noChangeAspect="1"/>
            </p:cNvPicPr>
            <p:nvPr/>
          </p:nvPicPr>
          <p:blipFill rotWithShape="1">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l="13972" r="27394"/>
            <a:stretch/>
          </p:blipFill>
          <p:spPr>
            <a:xfrm>
              <a:off x="2590364" y="4229091"/>
              <a:ext cx="586165" cy="360244"/>
            </a:xfrm>
            <a:prstGeom prst="rect">
              <a:avLst/>
            </a:prstGeom>
          </p:spPr>
        </p:pic>
        <p:sp>
          <p:nvSpPr>
            <p:cNvPr id="85" name="TextBox 84">
              <a:extLst>
                <a:ext uri="{FF2B5EF4-FFF2-40B4-BE49-F238E27FC236}">
                  <a16:creationId xmlns:a16="http://schemas.microsoft.com/office/drawing/2014/main" id="{EAA133D4-081D-85A8-677B-D521EED2ADE2}"/>
                </a:ext>
              </a:extLst>
            </p:cNvPr>
            <p:cNvSpPr txBox="1"/>
            <p:nvPr/>
          </p:nvSpPr>
          <p:spPr>
            <a:xfrm>
              <a:off x="2538501" y="4333890"/>
              <a:ext cx="229550" cy="307777"/>
            </a:xfrm>
            <a:prstGeom prst="rect">
              <a:avLst/>
            </a:prstGeom>
            <a:noFill/>
          </p:spPr>
          <p:txBody>
            <a:bodyPr wrap="none" rtlCol="0">
              <a:spAutoFit/>
            </a:bodyPr>
            <a:lstStyle/>
            <a:p>
              <a:r>
                <a:rPr lang="en-US" sz="700" dirty="0"/>
                <a:t>9</a:t>
              </a:r>
            </a:p>
            <a:p>
              <a:endParaRPr lang="en-US" sz="700" dirty="0"/>
            </a:p>
          </p:txBody>
        </p:sp>
        <p:sp>
          <p:nvSpPr>
            <p:cNvPr id="86" name="TextBox 85">
              <a:extLst>
                <a:ext uri="{FF2B5EF4-FFF2-40B4-BE49-F238E27FC236}">
                  <a16:creationId xmlns:a16="http://schemas.microsoft.com/office/drawing/2014/main" id="{BF2E7FEF-4CE1-DC1B-CA1D-3DDE464C180B}"/>
                </a:ext>
              </a:extLst>
            </p:cNvPr>
            <p:cNvSpPr txBox="1"/>
            <p:nvPr/>
          </p:nvSpPr>
          <p:spPr>
            <a:xfrm>
              <a:off x="2562490" y="4127310"/>
              <a:ext cx="274434" cy="415498"/>
            </a:xfrm>
            <a:prstGeom prst="rect">
              <a:avLst/>
            </a:prstGeom>
            <a:noFill/>
          </p:spPr>
          <p:txBody>
            <a:bodyPr wrap="none" rtlCol="0">
              <a:spAutoFit/>
            </a:bodyPr>
            <a:lstStyle/>
            <a:p>
              <a:pPr algn="ctr"/>
              <a:r>
                <a:rPr lang="en-US" sz="700" dirty="0"/>
                <a:t>10</a:t>
              </a:r>
            </a:p>
            <a:p>
              <a:pPr algn="ctr"/>
              <a:endParaRPr lang="en-US" sz="700" dirty="0"/>
            </a:p>
            <a:p>
              <a:pPr algn="ctr"/>
              <a:endParaRPr lang="en-US" sz="700" dirty="0"/>
            </a:p>
          </p:txBody>
        </p:sp>
        <p:sp>
          <p:nvSpPr>
            <p:cNvPr id="87" name="TextBox 86">
              <a:extLst>
                <a:ext uri="{FF2B5EF4-FFF2-40B4-BE49-F238E27FC236}">
                  <a16:creationId xmlns:a16="http://schemas.microsoft.com/office/drawing/2014/main" id="{85BCC2B3-2F3C-B64E-39E9-6FA38226CFB3}"/>
                </a:ext>
              </a:extLst>
            </p:cNvPr>
            <p:cNvSpPr txBox="1"/>
            <p:nvPr/>
          </p:nvSpPr>
          <p:spPr>
            <a:xfrm>
              <a:off x="2990810" y="4233863"/>
              <a:ext cx="229550" cy="200055"/>
            </a:xfrm>
            <a:prstGeom prst="rect">
              <a:avLst/>
            </a:prstGeom>
            <a:noFill/>
          </p:spPr>
          <p:txBody>
            <a:bodyPr wrap="none" rtlCol="0">
              <a:spAutoFit/>
            </a:bodyPr>
            <a:lstStyle/>
            <a:p>
              <a:r>
                <a:rPr lang="en-US" sz="700" dirty="0"/>
                <a:t>8</a:t>
              </a:r>
            </a:p>
          </p:txBody>
        </p:sp>
      </p:grpSp>
      <p:cxnSp>
        <p:nvCxnSpPr>
          <p:cNvPr id="90" name="Connector: Elbow 89">
            <a:extLst>
              <a:ext uri="{FF2B5EF4-FFF2-40B4-BE49-F238E27FC236}">
                <a16:creationId xmlns:a16="http://schemas.microsoft.com/office/drawing/2014/main" id="{7BA813D0-D89D-F725-858F-EEB2E410A39F}"/>
              </a:ext>
            </a:extLst>
          </p:cNvPr>
          <p:cNvCxnSpPr>
            <a:cxnSpLocks/>
            <a:stCxn id="84" idx="3"/>
            <a:endCxn id="52" idx="1"/>
          </p:cNvCxnSpPr>
          <p:nvPr/>
        </p:nvCxnSpPr>
        <p:spPr>
          <a:xfrm>
            <a:off x="3026509" y="2181494"/>
            <a:ext cx="257174" cy="167366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grpSp>
        <p:nvGrpSpPr>
          <p:cNvPr id="96" name="Group 95">
            <a:extLst>
              <a:ext uri="{FF2B5EF4-FFF2-40B4-BE49-F238E27FC236}">
                <a16:creationId xmlns:a16="http://schemas.microsoft.com/office/drawing/2014/main" id="{A8A4B4B0-A45B-97E0-8E40-50E9718745DE}"/>
              </a:ext>
            </a:extLst>
          </p:cNvPr>
          <p:cNvGrpSpPr/>
          <p:nvPr/>
        </p:nvGrpSpPr>
        <p:grpSpPr>
          <a:xfrm>
            <a:off x="1671826" y="2521283"/>
            <a:ext cx="695302" cy="521156"/>
            <a:chOff x="2538501" y="4120511"/>
            <a:chExt cx="695302" cy="521156"/>
          </a:xfrm>
        </p:grpSpPr>
        <p:pic>
          <p:nvPicPr>
            <p:cNvPr id="97" name="Picture 96" descr="A close up of the moon&#10;&#10;Description automatically generated with medium confidence">
              <a:extLst>
                <a:ext uri="{FF2B5EF4-FFF2-40B4-BE49-F238E27FC236}">
                  <a16:creationId xmlns:a16="http://schemas.microsoft.com/office/drawing/2014/main" id="{1085B1AB-76B2-1CBD-A2BC-4C851F28F0FA}"/>
                </a:ext>
              </a:extLst>
            </p:cNvPr>
            <p:cNvPicPr>
              <a:picLocks noChangeAspect="1"/>
            </p:cNvPicPr>
            <p:nvPr/>
          </p:nvPicPr>
          <p:blipFill rotWithShape="1">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l="13972" r="27394"/>
            <a:stretch/>
          </p:blipFill>
          <p:spPr>
            <a:xfrm>
              <a:off x="2590364" y="4229091"/>
              <a:ext cx="586165" cy="360244"/>
            </a:xfrm>
            <a:prstGeom prst="rect">
              <a:avLst/>
            </a:prstGeom>
          </p:spPr>
        </p:pic>
        <p:sp>
          <p:nvSpPr>
            <p:cNvPr id="98" name="TextBox 97">
              <a:extLst>
                <a:ext uri="{FF2B5EF4-FFF2-40B4-BE49-F238E27FC236}">
                  <a16:creationId xmlns:a16="http://schemas.microsoft.com/office/drawing/2014/main" id="{E9EA722F-7DFB-FB0A-7F3B-882136D39182}"/>
                </a:ext>
              </a:extLst>
            </p:cNvPr>
            <p:cNvSpPr txBox="1"/>
            <p:nvPr/>
          </p:nvSpPr>
          <p:spPr>
            <a:xfrm>
              <a:off x="2538501" y="4333890"/>
              <a:ext cx="274434" cy="307777"/>
            </a:xfrm>
            <a:prstGeom prst="rect">
              <a:avLst/>
            </a:prstGeom>
            <a:noFill/>
          </p:spPr>
          <p:txBody>
            <a:bodyPr wrap="none" rtlCol="0">
              <a:spAutoFit/>
            </a:bodyPr>
            <a:lstStyle/>
            <a:p>
              <a:r>
                <a:rPr lang="en-US" sz="700" dirty="0"/>
                <a:t>13</a:t>
              </a:r>
            </a:p>
            <a:p>
              <a:endParaRPr lang="en-US" sz="700" dirty="0"/>
            </a:p>
          </p:txBody>
        </p:sp>
        <p:sp>
          <p:nvSpPr>
            <p:cNvPr id="99" name="TextBox 98">
              <a:extLst>
                <a:ext uri="{FF2B5EF4-FFF2-40B4-BE49-F238E27FC236}">
                  <a16:creationId xmlns:a16="http://schemas.microsoft.com/office/drawing/2014/main" id="{1C3B66E2-70BE-DF2D-40B0-94D35F4B350F}"/>
                </a:ext>
              </a:extLst>
            </p:cNvPr>
            <p:cNvSpPr txBox="1"/>
            <p:nvPr/>
          </p:nvSpPr>
          <p:spPr>
            <a:xfrm>
              <a:off x="2572536" y="4120511"/>
              <a:ext cx="274434" cy="415498"/>
            </a:xfrm>
            <a:prstGeom prst="rect">
              <a:avLst/>
            </a:prstGeom>
            <a:noFill/>
          </p:spPr>
          <p:txBody>
            <a:bodyPr wrap="none" rtlCol="0">
              <a:spAutoFit/>
            </a:bodyPr>
            <a:lstStyle/>
            <a:p>
              <a:r>
                <a:rPr lang="en-US" sz="700" dirty="0"/>
                <a:t>12</a:t>
              </a:r>
            </a:p>
            <a:p>
              <a:endParaRPr lang="en-US" sz="700" dirty="0"/>
            </a:p>
            <a:p>
              <a:endParaRPr lang="en-US" sz="700" dirty="0"/>
            </a:p>
          </p:txBody>
        </p:sp>
        <p:sp>
          <p:nvSpPr>
            <p:cNvPr id="100" name="TextBox 99">
              <a:extLst>
                <a:ext uri="{FF2B5EF4-FFF2-40B4-BE49-F238E27FC236}">
                  <a16:creationId xmlns:a16="http://schemas.microsoft.com/office/drawing/2014/main" id="{3B73B231-8EBF-4D5B-8C43-06816AF0BED5}"/>
                </a:ext>
              </a:extLst>
            </p:cNvPr>
            <p:cNvSpPr txBox="1"/>
            <p:nvPr/>
          </p:nvSpPr>
          <p:spPr>
            <a:xfrm>
              <a:off x="2959369" y="4224859"/>
              <a:ext cx="274434" cy="200055"/>
            </a:xfrm>
            <a:prstGeom prst="rect">
              <a:avLst/>
            </a:prstGeom>
            <a:noFill/>
          </p:spPr>
          <p:txBody>
            <a:bodyPr wrap="none" rtlCol="0">
              <a:spAutoFit/>
            </a:bodyPr>
            <a:lstStyle/>
            <a:p>
              <a:r>
                <a:rPr lang="en-US" sz="700" dirty="0"/>
                <a:t>11</a:t>
              </a:r>
            </a:p>
          </p:txBody>
        </p:sp>
      </p:grpSp>
      <p:cxnSp>
        <p:nvCxnSpPr>
          <p:cNvPr id="101" name="Connector: Elbow 100">
            <a:extLst>
              <a:ext uri="{FF2B5EF4-FFF2-40B4-BE49-F238E27FC236}">
                <a16:creationId xmlns:a16="http://schemas.microsoft.com/office/drawing/2014/main" id="{21B1EF47-D092-79E0-4787-794ABA4D3F2E}"/>
              </a:ext>
            </a:extLst>
          </p:cNvPr>
          <p:cNvCxnSpPr>
            <a:cxnSpLocks/>
            <a:stCxn id="97" idx="3"/>
            <a:endCxn id="85" idx="1"/>
          </p:cNvCxnSpPr>
          <p:nvPr/>
        </p:nvCxnSpPr>
        <p:spPr>
          <a:xfrm flipV="1">
            <a:off x="2309854" y="2260060"/>
            <a:ext cx="78627" cy="549925"/>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06" name="Connector: Elbow 105">
            <a:extLst>
              <a:ext uri="{FF2B5EF4-FFF2-40B4-BE49-F238E27FC236}">
                <a16:creationId xmlns:a16="http://schemas.microsoft.com/office/drawing/2014/main" id="{E595AC69-6C7F-EFE9-6D18-77D6AF460005}"/>
              </a:ext>
            </a:extLst>
          </p:cNvPr>
          <p:cNvCxnSpPr>
            <a:cxnSpLocks/>
            <a:stCxn id="109" idx="3"/>
            <a:endCxn id="86" idx="1"/>
          </p:cNvCxnSpPr>
          <p:nvPr/>
        </p:nvCxnSpPr>
        <p:spPr>
          <a:xfrm flipH="1">
            <a:off x="2412470" y="1472074"/>
            <a:ext cx="4149573" cy="635266"/>
          </a:xfrm>
          <a:prstGeom prst="bentConnector5">
            <a:avLst>
              <a:gd name="adj1" fmla="val -10426"/>
              <a:gd name="adj2" fmla="val -81374"/>
              <a:gd name="adj3" fmla="val 105509"/>
            </a:avLst>
          </a:prstGeom>
          <a:ln>
            <a:tailEnd type="triangle"/>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3D8E7E8E-1F22-C4E2-7EF6-8573F782BDA4}"/>
              </a:ext>
            </a:extLst>
          </p:cNvPr>
          <p:cNvSpPr txBox="1"/>
          <p:nvPr/>
        </p:nvSpPr>
        <p:spPr>
          <a:xfrm>
            <a:off x="5834773" y="5892939"/>
            <a:ext cx="519694" cy="276999"/>
          </a:xfrm>
          <a:prstGeom prst="rect">
            <a:avLst/>
          </a:prstGeom>
          <a:noFill/>
          <a:ln>
            <a:solidFill>
              <a:schemeClr val="accent1">
                <a:lumMod val="75000"/>
              </a:schemeClr>
            </a:solidFill>
          </a:ln>
        </p:spPr>
        <p:txBody>
          <a:bodyPr wrap="none" rtlCol="0">
            <a:spAutoFit/>
          </a:bodyPr>
          <a:lstStyle/>
          <a:p>
            <a:r>
              <a:rPr lang="en-US" sz="1200"/>
              <a:t>Clock</a:t>
            </a:r>
          </a:p>
        </p:txBody>
      </p:sp>
      <p:cxnSp>
        <p:nvCxnSpPr>
          <p:cNvPr id="116" name="Connector: Elbow 115">
            <a:extLst>
              <a:ext uri="{FF2B5EF4-FFF2-40B4-BE49-F238E27FC236}">
                <a16:creationId xmlns:a16="http://schemas.microsoft.com/office/drawing/2014/main" id="{F2B5087B-82A5-1BA2-586D-88DA8C649B38}"/>
              </a:ext>
            </a:extLst>
          </p:cNvPr>
          <p:cNvCxnSpPr>
            <a:stCxn id="114" idx="0"/>
          </p:cNvCxnSpPr>
          <p:nvPr/>
        </p:nvCxnSpPr>
        <p:spPr>
          <a:xfrm rot="16200000" flipV="1">
            <a:off x="5789346" y="5587665"/>
            <a:ext cx="507013" cy="103536"/>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2DC991FA-2953-C9D5-81E7-30A3A91E176A}"/>
              </a:ext>
            </a:extLst>
          </p:cNvPr>
          <p:cNvSpPr txBox="1"/>
          <p:nvPr/>
        </p:nvSpPr>
        <p:spPr>
          <a:xfrm>
            <a:off x="6421213" y="5892939"/>
            <a:ext cx="332142" cy="276999"/>
          </a:xfrm>
          <a:prstGeom prst="rect">
            <a:avLst/>
          </a:prstGeom>
          <a:noFill/>
          <a:ln>
            <a:solidFill>
              <a:schemeClr val="accent1">
                <a:lumMod val="75000"/>
              </a:schemeClr>
            </a:solidFill>
          </a:ln>
        </p:spPr>
        <p:txBody>
          <a:bodyPr wrap="none" rtlCol="0">
            <a:spAutoFit/>
          </a:bodyPr>
          <a:lstStyle/>
          <a:p>
            <a:r>
              <a:rPr lang="en-US" sz="1200" dirty="0"/>
              <a:t>5v</a:t>
            </a:r>
          </a:p>
        </p:txBody>
      </p:sp>
      <p:cxnSp>
        <p:nvCxnSpPr>
          <p:cNvPr id="118" name="Connector: Elbow 117">
            <a:extLst>
              <a:ext uri="{FF2B5EF4-FFF2-40B4-BE49-F238E27FC236}">
                <a16:creationId xmlns:a16="http://schemas.microsoft.com/office/drawing/2014/main" id="{A6474CE5-C1E9-FC36-4F1C-194DEFE2FDA5}"/>
              </a:ext>
            </a:extLst>
          </p:cNvPr>
          <p:cNvCxnSpPr>
            <a:cxnSpLocks/>
            <a:stCxn id="117" idx="0"/>
          </p:cNvCxnSpPr>
          <p:nvPr/>
        </p:nvCxnSpPr>
        <p:spPr>
          <a:xfrm rot="16200000" flipV="1">
            <a:off x="6077487" y="5383141"/>
            <a:ext cx="655921" cy="363675"/>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21" name="Connector: Elbow 120">
            <a:extLst>
              <a:ext uri="{FF2B5EF4-FFF2-40B4-BE49-F238E27FC236}">
                <a16:creationId xmlns:a16="http://schemas.microsoft.com/office/drawing/2014/main" id="{E6707E4C-41F6-B792-E27A-34A6EADAE5C6}"/>
              </a:ext>
            </a:extLst>
          </p:cNvPr>
          <p:cNvCxnSpPr>
            <a:cxnSpLocks/>
            <a:stCxn id="124" idx="3"/>
            <a:endCxn id="99" idx="1"/>
          </p:cNvCxnSpPr>
          <p:nvPr/>
        </p:nvCxnSpPr>
        <p:spPr>
          <a:xfrm flipH="1" flipV="1">
            <a:off x="1705861" y="2729032"/>
            <a:ext cx="4877535" cy="465210"/>
          </a:xfrm>
          <a:prstGeom prst="bentConnector5">
            <a:avLst>
              <a:gd name="adj1" fmla="val -12589"/>
              <a:gd name="adj2" fmla="val 512757"/>
              <a:gd name="adj3" fmla="val 10468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0" name="Connector: Elbow 129">
            <a:extLst>
              <a:ext uri="{FF2B5EF4-FFF2-40B4-BE49-F238E27FC236}">
                <a16:creationId xmlns:a16="http://schemas.microsoft.com/office/drawing/2014/main" id="{7378B406-E509-32A2-F88B-D8F951ACCD07}"/>
              </a:ext>
            </a:extLst>
          </p:cNvPr>
          <p:cNvCxnSpPr>
            <a:cxnSpLocks/>
            <a:stCxn id="133" idx="3"/>
            <a:endCxn id="98" idx="1"/>
          </p:cNvCxnSpPr>
          <p:nvPr/>
        </p:nvCxnSpPr>
        <p:spPr>
          <a:xfrm flipH="1" flipV="1">
            <a:off x="1671826" y="2888551"/>
            <a:ext cx="4963530" cy="738178"/>
          </a:xfrm>
          <a:prstGeom prst="bentConnector5">
            <a:avLst>
              <a:gd name="adj1" fmla="val -14350"/>
              <a:gd name="adj2" fmla="val -398371"/>
              <a:gd name="adj3" fmla="val 104606"/>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74834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 name="Group 68">
            <a:extLst>
              <a:ext uri="{FF2B5EF4-FFF2-40B4-BE49-F238E27FC236}">
                <a16:creationId xmlns:a16="http://schemas.microsoft.com/office/drawing/2014/main" id="{1B15F30C-569A-12B1-A7BE-A5C29A1FAD03}"/>
              </a:ext>
            </a:extLst>
          </p:cNvPr>
          <p:cNvGrpSpPr/>
          <p:nvPr/>
        </p:nvGrpSpPr>
        <p:grpSpPr>
          <a:xfrm>
            <a:off x="117664" y="1756600"/>
            <a:ext cx="2304680" cy="3276083"/>
            <a:chOff x="4294936" y="1053547"/>
            <a:chExt cx="2301769" cy="3972732"/>
          </a:xfrm>
        </p:grpSpPr>
        <p:pic>
          <p:nvPicPr>
            <p:cNvPr id="70" name="Picture 69">
              <a:extLst>
                <a:ext uri="{FF2B5EF4-FFF2-40B4-BE49-F238E27FC236}">
                  <a16:creationId xmlns:a16="http://schemas.microsoft.com/office/drawing/2014/main" id="{D10EA23C-BAC7-23DD-21A1-E3A74C2631D4}"/>
                </a:ext>
              </a:extLst>
            </p:cNvPr>
            <p:cNvPicPr>
              <a:picLocks noChangeAspect="1"/>
            </p:cNvPicPr>
            <p:nvPr/>
          </p:nvPicPr>
          <p:blipFill>
            <a:blip r:embed="rId3"/>
            <a:stretch>
              <a:fillRect/>
            </a:stretch>
          </p:blipFill>
          <p:spPr>
            <a:xfrm rot="16200000">
              <a:off x="3459455" y="1889028"/>
              <a:ext cx="3972732" cy="2301769"/>
            </a:xfrm>
            <a:prstGeom prst="rect">
              <a:avLst/>
            </a:prstGeom>
          </p:spPr>
        </p:pic>
        <p:sp>
          <p:nvSpPr>
            <p:cNvPr id="73" name="TextBox 72">
              <a:extLst>
                <a:ext uri="{FF2B5EF4-FFF2-40B4-BE49-F238E27FC236}">
                  <a16:creationId xmlns:a16="http://schemas.microsoft.com/office/drawing/2014/main" id="{AFB6AED5-A82A-9757-BFA3-7ACFE2A2214B}"/>
                </a:ext>
              </a:extLst>
            </p:cNvPr>
            <p:cNvSpPr txBox="1"/>
            <p:nvPr/>
          </p:nvSpPr>
          <p:spPr>
            <a:xfrm>
              <a:off x="4439774" y="2855246"/>
              <a:ext cx="1301916" cy="634481"/>
            </a:xfrm>
            <a:prstGeom prst="rect">
              <a:avLst/>
            </a:prstGeom>
            <a:noFill/>
          </p:spPr>
          <p:txBody>
            <a:bodyPr wrap="none" rtlCol="0">
              <a:spAutoFit/>
            </a:bodyPr>
            <a:lstStyle/>
            <a:p>
              <a:pPr algn="ctr"/>
              <a:r>
                <a:rPr lang="en-US" sz="1400" dirty="0"/>
                <a:t>74HC138</a:t>
              </a:r>
            </a:p>
            <a:p>
              <a:pPr algn="ctr"/>
              <a:r>
                <a:rPr lang="en-US" sz="1400" dirty="0" err="1"/>
                <a:t>OpCodes</a:t>
              </a:r>
              <a:r>
                <a:rPr lang="en-US" sz="1400" dirty="0"/>
                <a:t> 24-31</a:t>
              </a:r>
            </a:p>
          </p:txBody>
        </p:sp>
      </p:grpSp>
      <p:sp>
        <p:nvSpPr>
          <p:cNvPr id="76" name="Rectangle 75">
            <a:extLst>
              <a:ext uri="{FF2B5EF4-FFF2-40B4-BE49-F238E27FC236}">
                <a16:creationId xmlns:a16="http://schemas.microsoft.com/office/drawing/2014/main" id="{7F0A9FD7-CCD4-54A3-A324-CDAD47C3D2C3}"/>
              </a:ext>
            </a:extLst>
          </p:cNvPr>
          <p:cNvSpPr/>
          <p:nvPr/>
        </p:nvSpPr>
        <p:spPr>
          <a:xfrm>
            <a:off x="224438" y="4308924"/>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0</a:t>
            </a:r>
          </a:p>
        </p:txBody>
      </p:sp>
      <p:sp>
        <p:nvSpPr>
          <p:cNvPr id="86" name="Rectangle 85">
            <a:extLst>
              <a:ext uri="{FF2B5EF4-FFF2-40B4-BE49-F238E27FC236}">
                <a16:creationId xmlns:a16="http://schemas.microsoft.com/office/drawing/2014/main" id="{BFCAAD69-6877-F27B-0403-90175346F373}"/>
              </a:ext>
            </a:extLst>
          </p:cNvPr>
          <p:cNvSpPr/>
          <p:nvPr/>
        </p:nvSpPr>
        <p:spPr>
          <a:xfrm>
            <a:off x="508161" y="4308924"/>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1</a:t>
            </a:r>
          </a:p>
        </p:txBody>
      </p:sp>
      <p:sp>
        <p:nvSpPr>
          <p:cNvPr id="87" name="Rectangle 86">
            <a:extLst>
              <a:ext uri="{FF2B5EF4-FFF2-40B4-BE49-F238E27FC236}">
                <a16:creationId xmlns:a16="http://schemas.microsoft.com/office/drawing/2014/main" id="{244083D2-F937-CDAC-90CB-37BB56B3BA15}"/>
              </a:ext>
            </a:extLst>
          </p:cNvPr>
          <p:cNvSpPr/>
          <p:nvPr/>
        </p:nvSpPr>
        <p:spPr>
          <a:xfrm>
            <a:off x="791884" y="4308924"/>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2</a:t>
            </a:r>
          </a:p>
        </p:txBody>
      </p:sp>
      <p:sp>
        <p:nvSpPr>
          <p:cNvPr id="44" name="Rectangle 43">
            <a:extLst>
              <a:ext uri="{FF2B5EF4-FFF2-40B4-BE49-F238E27FC236}">
                <a16:creationId xmlns:a16="http://schemas.microsoft.com/office/drawing/2014/main" id="{AA509D7D-83CC-4D21-9FD6-38EF2ECCAAD5}"/>
              </a:ext>
            </a:extLst>
          </p:cNvPr>
          <p:cNvSpPr/>
          <p:nvPr/>
        </p:nvSpPr>
        <p:spPr>
          <a:xfrm>
            <a:off x="4325805" y="4163477"/>
            <a:ext cx="223736" cy="1390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7D584294-6B47-A59D-F1B4-CFECDEEEFEC3}"/>
              </a:ext>
            </a:extLst>
          </p:cNvPr>
          <p:cNvSpPr/>
          <p:nvPr/>
        </p:nvSpPr>
        <p:spPr>
          <a:xfrm>
            <a:off x="4539791" y="3861019"/>
            <a:ext cx="223736" cy="1390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643E9DA6-BE87-E164-D98A-97D477FD353F}"/>
              </a:ext>
            </a:extLst>
          </p:cNvPr>
          <p:cNvSpPr/>
          <p:nvPr/>
        </p:nvSpPr>
        <p:spPr>
          <a:xfrm>
            <a:off x="7013888" y="3815867"/>
            <a:ext cx="223736" cy="1390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AE1A8201-018F-44A8-3DB0-64E26DBC713B}"/>
              </a:ext>
            </a:extLst>
          </p:cNvPr>
          <p:cNvSpPr/>
          <p:nvPr/>
        </p:nvSpPr>
        <p:spPr>
          <a:xfrm>
            <a:off x="7200784" y="3958831"/>
            <a:ext cx="223736" cy="1390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B984DC9-F557-C222-5ED7-ABDF8644A02B}"/>
              </a:ext>
            </a:extLst>
          </p:cNvPr>
          <p:cNvSpPr/>
          <p:nvPr/>
        </p:nvSpPr>
        <p:spPr>
          <a:xfrm>
            <a:off x="9867111" y="4024433"/>
            <a:ext cx="223736" cy="1390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873D541-CBCE-14BE-DDAA-A71614BD4DB4}"/>
              </a:ext>
            </a:extLst>
          </p:cNvPr>
          <p:cNvSpPr/>
          <p:nvPr/>
        </p:nvSpPr>
        <p:spPr>
          <a:xfrm>
            <a:off x="10131071" y="3885389"/>
            <a:ext cx="223736" cy="1390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2CCC9F-04F2-6984-5C76-5D42F02A75D6}"/>
              </a:ext>
            </a:extLst>
          </p:cNvPr>
          <p:cNvSpPr>
            <a:spLocks noGrp="1"/>
          </p:cNvSpPr>
          <p:nvPr>
            <p:ph type="ctrTitle"/>
          </p:nvPr>
        </p:nvSpPr>
        <p:spPr>
          <a:prstGeom prst="rect">
            <a:avLst/>
          </a:prstGeom>
        </p:spPr>
        <p:txBody>
          <a:bodyPr/>
          <a:lstStyle/>
          <a:p>
            <a:r>
              <a:rPr lang="en-US"/>
              <a:t>OpCode Decoder (v2.0)</a:t>
            </a:r>
          </a:p>
        </p:txBody>
      </p:sp>
      <p:grpSp>
        <p:nvGrpSpPr>
          <p:cNvPr id="7" name="Group 6">
            <a:extLst>
              <a:ext uri="{FF2B5EF4-FFF2-40B4-BE49-F238E27FC236}">
                <a16:creationId xmlns:a16="http://schemas.microsoft.com/office/drawing/2014/main" id="{03C00095-BA96-519F-F41D-4516DF393FAC}"/>
              </a:ext>
            </a:extLst>
          </p:cNvPr>
          <p:cNvGrpSpPr/>
          <p:nvPr/>
        </p:nvGrpSpPr>
        <p:grpSpPr>
          <a:xfrm>
            <a:off x="5422436" y="1750196"/>
            <a:ext cx="2304681" cy="3276083"/>
            <a:chOff x="4294936" y="1053547"/>
            <a:chExt cx="2301769" cy="3972732"/>
          </a:xfrm>
        </p:grpSpPr>
        <p:pic>
          <p:nvPicPr>
            <p:cNvPr id="5" name="Picture 4">
              <a:extLst>
                <a:ext uri="{FF2B5EF4-FFF2-40B4-BE49-F238E27FC236}">
                  <a16:creationId xmlns:a16="http://schemas.microsoft.com/office/drawing/2014/main" id="{A4E13DF8-2427-B20A-9954-DF53004665D6}"/>
                </a:ext>
              </a:extLst>
            </p:cNvPr>
            <p:cNvPicPr>
              <a:picLocks noChangeAspect="1"/>
            </p:cNvPicPr>
            <p:nvPr/>
          </p:nvPicPr>
          <p:blipFill>
            <a:blip r:embed="rId3"/>
            <a:stretch>
              <a:fillRect/>
            </a:stretch>
          </p:blipFill>
          <p:spPr>
            <a:xfrm rot="16200000">
              <a:off x="3459455" y="1889028"/>
              <a:ext cx="3972732" cy="2301769"/>
            </a:xfrm>
            <a:prstGeom prst="rect">
              <a:avLst/>
            </a:prstGeom>
          </p:spPr>
        </p:pic>
        <p:sp>
          <p:nvSpPr>
            <p:cNvPr id="6" name="TextBox 5">
              <a:extLst>
                <a:ext uri="{FF2B5EF4-FFF2-40B4-BE49-F238E27FC236}">
                  <a16:creationId xmlns:a16="http://schemas.microsoft.com/office/drawing/2014/main" id="{DF559045-B017-B5CE-B1DE-791A6B09B7DB}"/>
                </a:ext>
              </a:extLst>
            </p:cNvPr>
            <p:cNvSpPr txBox="1"/>
            <p:nvPr/>
          </p:nvSpPr>
          <p:spPr>
            <a:xfrm>
              <a:off x="4485401" y="2855246"/>
              <a:ext cx="1210660" cy="634481"/>
            </a:xfrm>
            <a:prstGeom prst="rect">
              <a:avLst/>
            </a:prstGeom>
            <a:noFill/>
          </p:spPr>
          <p:txBody>
            <a:bodyPr wrap="none" rtlCol="0">
              <a:spAutoFit/>
            </a:bodyPr>
            <a:lstStyle/>
            <a:p>
              <a:pPr algn="ctr"/>
              <a:r>
                <a:rPr lang="en-US" sz="1400"/>
                <a:t>74HC138</a:t>
              </a:r>
            </a:p>
            <a:p>
              <a:pPr algn="ctr"/>
              <a:r>
                <a:rPr lang="en-US" sz="1400" err="1"/>
                <a:t>OpCodes</a:t>
              </a:r>
              <a:r>
                <a:rPr lang="en-US" sz="1400"/>
                <a:t> 8-15</a:t>
              </a:r>
            </a:p>
          </p:txBody>
        </p:sp>
      </p:grpSp>
      <p:grpSp>
        <p:nvGrpSpPr>
          <p:cNvPr id="8" name="Group 7">
            <a:extLst>
              <a:ext uri="{FF2B5EF4-FFF2-40B4-BE49-F238E27FC236}">
                <a16:creationId xmlns:a16="http://schemas.microsoft.com/office/drawing/2014/main" id="{5FD5BA3B-D093-58D1-6488-0050421B3908}"/>
              </a:ext>
            </a:extLst>
          </p:cNvPr>
          <p:cNvGrpSpPr/>
          <p:nvPr/>
        </p:nvGrpSpPr>
        <p:grpSpPr>
          <a:xfrm>
            <a:off x="8097995" y="1750196"/>
            <a:ext cx="2304680" cy="3276083"/>
            <a:chOff x="4294936" y="1053547"/>
            <a:chExt cx="2301769" cy="3972732"/>
          </a:xfrm>
        </p:grpSpPr>
        <p:pic>
          <p:nvPicPr>
            <p:cNvPr id="9" name="Picture 8">
              <a:extLst>
                <a:ext uri="{FF2B5EF4-FFF2-40B4-BE49-F238E27FC236}">
                  <a16:creationId xmlns:a16="http://schemas.microsoft.com/office/drawing/2014/main" id="{B2FD7B7E-2A87-91B2-5FDF-1EE37715E6B7}"/>
                </a:ext>
              </a:extLst>
            </p:cNvPr>
            <p:cNvPicPr>
              <a:picLocks noChangeAspect="1"/>
            </p:cNvPicPr>
            <p:nvPr/>
          </p:nvPicPr>
          <p:blipFill>
            <a:blip r:embed="rId3"/>
            <a:stretch>
              <a:fillRect/>
            </a:stretch>
          </p:blipFill>
          <p:spPr>
            <a:xfrm rot="16200000">
              <a:off x="3459455" y="1889028"/>
              <a:ext cx="3972732" cy="2301769"/>
            </a:xfrm>
            <a:prstGeom prst="rect">
              <a:avLst/>
            </a:prstGeom>
          </p:spPr>
        </p:pic>
        <p:sp>
          <p:nvSpPr>
            <p:cNvPr id="10" name="TextBox 9">
              <a:extLst>
                <a:ext uri="{FF2B5EF4-FFF2-40B4-BE49-F238E27FC236}">
                  <a16:creationId xmlns:a16="http://schemas.microsoft.com/office/drawing/2014/main" id="{C82D2793-219F-7310-4590-58DBC57DB91E}"/>
                </a:ext>
              </a:extLst>
            </p:cNvPr>
            <p:cNvSpPr txBox="1"/>
            <p:nvPr/>
          </p:nvSpPr>
          <p:spPr>
            <a:xfrm>
              <a:off x="4560642" y="2855246"/>
              <a:ext cx="1119404" cy="634481"/>
            </a:xfrm>
            <a:prstGeom prst="rect">
              <a:avLst/>
            </a:prstGeom>
            <a:noFill/>
          </p:spPr>
          <p:txBody>
            <a:bodyPr wrap="none" rtlCol="0">
              <a:spAutoFit/>
            </a:bodyPr>
            <a:lstStyle/>
            <a:p>
              <a:pPr algn="ctr"/>
              <a:r>
                <a:rPr lang="en-US" sz="1400"/>
                <a:t>74HC138</a:t>
              </a:r>
            </a:p>
            <a:p>
              <a:pPr algn="ctr"/>
              <a:r>
                <a:rPr lang="en-US" sz="1400" err="1"/>
                <a:t>OpCodes</a:t>
              </a:r>
              <a:r>
                <a:rPr lang="en-US" sz="1400"/>
                <a:t> 0-7</a:t>
              </a:r>
            </a:p>
          </p:txBody>
        </p:sp>
      </p:grpSp>
      <p:grpSp>
        <p:nvGrpSpPr>
          <p:cNvPr id="11" name="Group 10">
            <a:extLst>
              <a:ext uri="{FF2B5EF4-FFF2-40B4-BE49-F238E27FC236}">
                <a16:creationId xmlns:a16="http://schemas.microsoft.com/office/drawing/2014/main" id="{49AA1D57-4AA0-8215-9565-F29C82EA2CD1}"/>
              </a:ext>
            </a:extLst>
          </p:cNvPr>
          <p:cNvGrpSpPr/>
          <p:nvPr/>
        </p:nvGrpSpPr>
        <p:grpSpPr>
          <a:xfrm>
            <a:off x="2746872" y="1750196"/>
            <a:ext cx="2304680" cy="3276083"/>
            <a:chOff x="4294936" y="1053547"/>
            <a:chExt cx="2301769" cy="3972732"/>
          </a:xfrm>
        </p:grpSpPr>
        <p:pic>
          <p:nvPicPr>
            <p:cNvPr id="12" name="Picture 11">
              <a:extLst>
                <a:ext uri="{FF2B5EF4-FFF2-40B4-BE49-F238E27FC236}">
                  <a16:creationId xmlns:a16="http://schemas.microsoft.com/office/drawing/2014/main" id="{D17FBA61-0C5A-8677-891C-E7E4243F233D}"/>
                </a:ext>
              </a:extLst>
            </p:cNvPr>
            <p:cNvPicPr>
              <a:picLocks noChangeAspect="1"/>
            </p:cNvPicPr>
            <p:nvPr/>
          </p:nvPicPr>
          <p:blipFill>
            <a:blip r:embed="rId3"/>
            <a:stretch>
              <a:fillRect/>
            </a:stretch>
          </p:blipFill>
          <p:spPr>
            <a:xfrm rot="16200000">
              <a:off x="3459455" y="1889028"/>
              <a:ext cx="3972732" cy="2301769"/>
            </a:xfrm>
            <a:prstGeom prst="rect">
              <a:avLst/>
            </a:prstGeom>
          </p:spPr>
        </p:pic>
        <p:sp>
          <p:nvSpPr>
            <p:cNvPr id="13" name="TextBox 12">
              <a:extLst>
                <a:ext uri="{FF2B5EF4-FFF2-40B4-BE49-F238E27FC236}">
                  <a16:creationId xmlns:a16="http://schemas.microsoft.com/office/drawing/2014/main" id="{47BC0A8C-CD52-202B-7A11-02E8A9488E0F}"/>
                </a:ext>
              </a:extLst>
            </p:cNvPr>
            <p:cNvSpPr txBox="1"/>
            <p:nvPr/>
          </p:nvSpPr>
          <p:spPr>
            <a:xfrm>
              <a:off x="4439774" y="2855246"/>
              <a:ext cx="1301916" cy="634481"/>
            </a:xfrm>
            <a:prstGeom prst="rect">
              <a:avLst/>
            </a:prstGeom>
            <a:noFill/>
          </p:spPr>
          <p:txBody>
            <a:bodyPr wrap="none" rtlCol="0">
              <a:spAutoFit/>
            </a:bodyPr>
            <a:lstStyle/>
            <a:p>
              <a:pPr algn="ctr"/>
              <a:r>
                <a:rPr lang="en-US" sz="1400"/>
                <a:t>74HC138</a:t>
              </a:r>
            </a:p>
            <a:p>
              <a:pPr algn="ctr"/>
              <a:r>
                <a:rPr lang="en-US" sz="1400" err="1"/>
                <a:t>OpCodes</a:t>
              </a:r>
              <a:r>
                <a:rPr lang="en-US" sz="1400"/>
                <a:t> 16-23</a:t>
              </a:r>
            </a:p>
          </p:txBody>
        </p:sp>
      </p:grpSp>
      <p:sp>
        <p:nvSpPr>
          <p:cNvPr id="14" name="Arrow: Right 13">
            <a:hlinkClick r:id="rId4" action="ppaction://hlinksldjump"/>
            <a:extLst>
              <a:ext uri="{FF2B5EF4-FFF2-40B4-BE49-F238E27FC236}">
                <a16:creationId xmlns:a16="http://schemas.microsoft.com/office/drawing/2014/main" id="{B59447E2-4B84-C2AD-681B-DE43918A0715}"/>
              </a:ext>
            </a:extLst>
          </p:cNvPr>
          <p:cNvSpPr/>
          <p:nvPr/>
        </p:nvSpPr>
        <p:spPr>
          <a:xfrm rot="16200000">
            <a:off x="6019091" y="6096459"/>
            <a:ext cx="731520" cy="731520"/>
          </a:xfrm>
          <a:prstGeom prst="rightArrow">
            <a:avLst/>
          </a:prstGeom>
        </p:spPr>
        <p:style>
          <a:lnRef idx="1">
            <a:schemeClr val="accent5"/>
          </a:lnRef>
          <a:fillRef idx="2">
            <a:schemeClr val="accent5"/>
          </a:fillRef>
          <a:effectRef idx="1">
            <a:schemeClr val="accent5"/>
          </a:effectRef>
          <a:fontRef idx="minor">
            <a:schemeClr val="dk1"/>
          </a:fontRef>
        </p:style>
        <p:txBody>
          <a:bodyPr wrap="none" lIns="0" tIns="0" rIns="0" bIns="0" rtlCol="0" anchor="ctr"/>
          <a:lstStyle/>
          <a:p>
            <a:pPr algn="ctr"/>
            <a:r>
              <a:rPr lang="en-US" sz="1200" dirty="0"/>
              <a:t>OpCode</a:t>
            </a:r>
          </a:p>
          <a:p>
            <a:pPr algn="ctr"/>
            <a:r>
              <a:rPr lang="en-US" sz="1200" dirty="0">
                <a:hlinkClick r:id="rId5" action="ppaction://hlinksldjump"/>
              </a:rPr>
              <a:t>[</a:t>
            </a:r>
            <a:r>
              <a:rPr lang="en-US" sz="1200" dirty="0"/>
              <a:t>4:0]</a:t>
            </a:r>
          </a:p>
        </p:txBody>
      </p:sp>
      <p:grpSp>
        <p:nvGrpSpPr>
          <p:cNvPr id="20" name="Group 19">
            <a:extLst>
              <a:ext uri="{FF2B5EF4-FFF2-40B4-BE49-F238E27FC236}">
                <a16:creationId xmlns:a16="http://schemas.microsoft.com/office/drawing/2014/main" id="{12C92D83-20B9-92B8-88FC-47D0B5E5DB76}"/>
              </a:ext>
            </a:extLst>
          </p:cNvPr>
          <p:cNvGrpSpPr/>
          <p:nvPr/>
        </p:nvGrpSpPr>
        <p:grpSpPr>
          <a:xfrm>
            <a:off x="5612132" y="5830394"/>
            <a:ext cx="1388675" cy="292004"/>
            <a:chOff x="4344272" y="5830393"/>
            <a:chExt cx="1388674" cy="292004"/>
          </a:xfrm>
        </p:grpSpPr>
        <p:sp>
          <p:nvSpPr>
            <p:cNvPr id="15" name="Rectangle 14">
              <a:extLst>
                <a:ext uri="{FF2B5EF4-FFF2-40B4-BE49-F238E27FC236}">
                  <a16:creationId xmlns:a16="http://schemas.microsoft.com/office/drawing/2014/main" id="{28050B28-F9C9-F85C-BE25-4A1B3AC3909C}"/>
                </a:ext>
              </a:extLst>
            </p:cNvPr>
            <p:cNvSpPr/>
            <p:nvPr/>
          </p:nvSpPr>
          <p:spPr>
            <a:xfrm>
              <a:off x="4344272" y="5830393"/>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0</a:t>
              </a:r>
            </a:p>
          </p:txBody>
        </p:sp>
        <p:sp>
          <p:nvSpPr>
            <p:cNvPr id="16" name="Rectangle 15">
              <a:extLst>
                <a:ext uri="{FF2B5EF4-FFF2-40B4-BE49-F238E27FC236}">
                  <a16:creationId xmlns:a16="http://schemas.microsoft.com/office/drawing/2014/main" id="{13BEF38C-8351-58B4-306A-BEBBE12FA1D6}"/>
                </a:ext>
              </a:extLst>
            </p:cNvPr>
            <p:cNvSpPr/>
            <p:nvPr/>
          </p:nvSpPr>
          <p:spPr>
            <a:xfrm>
              <a:off x="4627995" y="5830393"/>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1</a:t>
              </a:r>
            </a:p>
          </p:txBody>
        </p:sp>
        <p:sp>
          <p:nvSpPr>
            <p:cNvPr id="17" name="Rectangle 16">
              <a:extLst>
                <a:ext uri="{FF2B5EF4-FFF2-40B4-BE49-F238E27FC236}">
                  <a16:creationId xmlns:a16="http://schemas.microsoft.com/office/drawing/2014/main" id="{D1717254-9513-209A-FBB0-6E3AF8CF318E}"/>
                </a:ext>
              </a:extLst>
            </p:cNvPr>
            <p:cNvSpPr/>
            <p:nvPr/>
          </p:nvSpPr>
          <p:spPr>
            <a:xfrm>
              <a:off x="4911718" y="5830393"/>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2</a:t>
              </a:r>
            </a:p>
          </p:txBody>
        </p:sp>
        <p:sp>
          <p:nvSpPr>
            <p:cNvPr id="18" name="Rectangle 17">
              <a:extLst>
                <a:ext uri="{FF2B5EF4-FFF2-40B4-BE49-F238E27FC236}">
                  <a16:creationId xmlns:a16="http://schemas.microsoft.com/office/drawing/2014/main" id="{E88FB8F7-4997-A3E7-3ABB-3D9B85DA5DF4}"/>
                </a:ext>
              </a:extLst>
            </p:cNvPr>
            <p:cNvSpPr/>
            <p:nvPr/>
          </p:nvSpPr>
          <p:spPr>
            <a:xfrm>
              <a:off x="5195441" y="5830393"/>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3</a:t>
              </a:r>
            </a:p>
          </p:txBody>
        </p:sp>
        <p:sp>
          <p:nvSpPr>
            <p:cNvPr id="19" name="Rectangle 18">
              <a:extLst>
                <a:ext uri="{FF2B5EF4-FFF2-40B4-BE49-F238E27FC236}">
                  <a16:creationId xmlns:a16="http://schemas.microsoft.com/office/drawing/2014/main" id="{89E974A7-F613-C2CD-6EFF-C0612EF6C200}"/>
                </a:ext>
              </a:extLst>
            </p:cNvPr>
            <p:cNvSpPr/>
            <p:nvPr/>
          </p:nvSpPr>
          <p:spPr>
            <a:xfrm>
              <a:off x="5479164" y="5830393"/>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4</a:t>
              </a:r>
            </a:p>
          </p:txBody>
        </p:sp>
      </p:grpSp>
      <p:cxnSp>
        <p:nvCxnSpPr>
          <p:cNvPr id="22" name="Connector: Elbow 21">
            <a:extLst>
              <a:ext uri="{FF2B5EF4-FFF2-40B4-BE49-F238E27FC236}">
                <a16:creationId xmlns:a16="http://schemas.microsoft.com/office/drawing/2014/main" id="{06131CB3-25E0-EBD1-3D30-2B6BB0E31AFA}"/>
              </a:ext>
            </a:extLst>
          </p:cNvPr>
          <p:cNvCxnSpPr>
            <a:cxnSpLocks/>
            <a:stCxn id="19" idx="0"/>
            <a:endCxn id="27" idx="2"/>
          </p:cNvCxnSpPr>
          <p:nvPr/>
        </p:nvCxnSpPr>
        <p:spPr>
          <a:xfrm rot="5400000" flipH="1" flipV="1">
            <a:off x="7655449" y="3242901"/>
            <a:ext cx="1805961" cy="3369024"/>
          </a:xfrm>
          <a:prstGeom prst="bentConnector3">
            <a:avLst>
              <a:gd name="adj1" fmla="val 31147"/>
            </a:avLst>
          </a:prstGeom>
        </p:spPr>
        <p:style>
          <a:lnRef idx="3">
            <a:schemeClr val="accent6"/>
          </a:lnRef>
          <a:fillRef idx="0">
            <a:schemeClr val="accent6"/>
          </a:fillRef>
          <a:effectRef idx="2">
            <a:schemeClr val="accent6"/>
          </a:effectRef>
          <a:fontRef idx="minor">
            <a:schemeClr val="tx1"/>
          </a:fontRef>
        </p:style>
      </p:cxnSp>
      <p:cxnSp>
        <p:nvCxnSpPr>
          <p:cNvPr id="24" name="Connector: Elbow 23">
            <a:extLst>
              <a:ext uri="{FF2B5EF4-FFF2-40B4-BE49-F238E27FC236}">
                <a16:creationId xmlns:a16="http://schemas.microsoft.com/office/drawing/2014/main" id="{BBC1051B-72A5-F3D3-E542-97601B4EF99F}"/>
              </a:ext>
            </a:extLst>
          </p:cNvPr>
          <p:cNvCxnSpPr>
            <a:cxnSpLocks/>
            <a:stCxn id="18" idx="0"/>
            <a:endCxn id="25" idx="2"/>
          </p:cNvCxnSpPr>
          <p:nvPr/>
        </p:nvCxnSpPr>
        <p:spPr>
          <a:xfrm rot="5400000" flipH="1" flipV="1">
            <a:off x="7451128" y="3302543"/>
            <a:ext cx="1666917" cy="338878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209E270A-67E5-1BB0-B7BE-272C6C286482}"/>
              </a:ext>
            </a:extLst>
          </p:cNvPr>
          <p:cNvCxnSpPr>
            <a:cxnSpLocks/>
            <a:stCxn id="18" idx="0"/>
            <a:endCxn id="32" idx="2"/>
          </p:cNvCxnSpPr>
          <p:nvPr/>
        </p:nvCxnSpPr>
        <p:spPr>
          <a:xfrm rot="5400000" flipH="1" flipV="1">
            <a:off x="5920233" y="4624871"/>
            <a:ext cx="1875483" cy="535564"/>
          </a:xfrm>
          <a:prstGeom prst="bentConnector3">
            <a:avLst>
              <a:gd name="adj1" fmla="val 44674"/>
            </a:avLst>
          </a:prstGeom>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679DE348-9C72-663A-2B29-C9456B8CAB04}"/>
              </a:ext>
            </a:extLst>
          </p:cNvPr>
          <p:cNvCxnSpPr>
            <a:cxnSpLocks/>
            <a:stCxn id="19" idx="0"/>
            <a:endCxn id="33" idx="2"/>
          </p:cNvCxnSpPr>
          <p:nvPr/>
        </p:nvCxnSpPr>
        <p:spPr>
          <a:xfrm rot="5400000" flipH="1" flipV="1">
            <a:off x="6227025" y="4744768"/>
            <a:ext cx="1732519" cy="438737"/>
          </a:xfrm>
          <a:prstGeom prst="bentConnector3">
            <a:avLst>
              <a:gd name="adj1" fmla="val 32259"/>
            </a:avLst>
          </a:prstGeom>
        </p:spPr>
        <p:style>
          <a:lnRef idx="3">
            <a:schemeClr val="accent6"/>
          </a:lnRef>
          <a:fillRef idx="0">
            <a:schemeClr val="accent6"/>
          </a:fillRef>
          <a:effectRef idx="2">
            <a:schemeClr val="accent6"/>
          </a:effectRef>
          <a:fontRef idx="minor">
            <a:schemeClr val="tx1"/>
          </a:fontRef>
        </p:style>
      </p:cxnSp>
      <p:cxnSp>
        <p:nvCxnSpPr>
          <p:cNvPr id="47" name="Connector: Elbow 46">
            <a:extLst>
              <a:ext uri="{FF2B5EF4-FFF2-40B4-BE49-F238E27FC236}">
                <a16:creationId xmlns:a16="http://schemas.microsoft.com/office/drawing/2014/main" id="{009BB0E9-79AD-1F77-76F9-83DF339E8647}"/>
              </a:ext>
            </a:extLst>
          </p:cNvPr>
          <p:cNvCxnSpPr>
            <a:stCxn id="18" idx="0"/>
            <a:endCxn id="45" idx="2"/>
          </p:cNvCxnSpPr>
          <p:nvPr/>
        </p:nvCxnSpPr>
        <p:spPr>
          <a:xfrm rot="16200000" flipV="1">
            <a:off x="4705761" y="3945962"/>
            <a:ext cx="1830331" cy="1938535"/>
          </a:xfrm>
          <a:prstGeom prst="bentConnector3">
            <a:avLst>
              <a:gd name="adj1" fmla="val 8018"/>
            </a:avLst>
          </a:prstGeom>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692FB3D3-E1AC-3B57-4FDA-6ED7A5D375D5}"/>
              </a:ext>
            </a:extLst>
          </p:cNvPr>
          <p:cNvCxnSpPr>
            <a:cxnSpLocks/>
            <a:stCxn id="19" idx="0"/>
            <a:endCxn id="44" idx="2"/>
          </p:cNvCxnSpPr>
          <p:nvPr/>
        </p:nvCxnSpPr>
        <p:spPr>
          <a:xfrm rot="16200000" flipV="1">
            <a:off x="4891860" y="3848336"/>
            <a:ext cx="1527873" cy="2436243"/>
          </a:xfrm>
          <a:prstGeom prst="bentConnector3">
            <a:avLst>
              <a:gd name="adj1" fmla="val 26866"/>
            </a:avLst>
          </a:prstGeom>
        </p:spPr>
        <p:style>
          <a:lnRef idx="3">
            <a:schemeClr val="accent6"/>
          </a:lnRef>
          <a:fillRef idx="0">
            <a:schemeClr val="accent6"/>
          </a:fillRef>
          <a:effectRef idx="2">
            <a:schemeClr val="accent6"/>
          </a:effectRef>
          <a:fontRef idx="minor">
            <a:schemeClr val="tx1"/>
          </a:fontRef>
        </p:style>
      </p:cxnSp>
      <p:grpSp>
        <p:nvGrpSpPr>
          <p:cNvPr id="54" name="Group 53">
            <a:extLst>
              <a:ext uri="{FF2B5EF4-FFF2-40B4-BE49-F238E27FC236}">
                <a16:creationId xmlns:a16="http://schemas.microsoft.com/office/drawing/2014/main" id="{D8792E6D-A39A-B74B-1393-F386123D4CB2}"/>
              </a:ext>
            </a:extLst>
          </p:cNvPr>
          <p:cNvGrpSpPr/>
          <p:nvPr/>
        </p:nvGrpSpPr>
        <p:grpSpPr>
          <a:xfrm>
            <a:off x="9700579" y="1595145"/>
            <a:ext cx="787395" cy="169278"/>
            <a:chOff x="1992327" y="3559447"/>
            <a:chExt cx="787395" cy="169276"/>
          </a:xfrm>
        </p:grpSpPr>
        <p:sp>
          <p:nvSpPr>
            <p:cNvPr id="55" name="TextBox 54">
              <a:hlinkClick r:id="rId6" action="ppaction://hlinksldjump"/>
              <a:extLst>
                <a:ext uri="{FF2B5EF4-FFF2-40B4-BE49-F238E27FC236}">
                  <a16:creationId xmlns:a16="http://schemas.microsoft.com/office/drawing/2014/main" id="{F0D2F408-3AAF-461B-E5F9-FACDE0B6FC09}"/>
                </a:ext>
              </a:extLst>
            </p:cNvPr>
            <p:cNvSpPr txBox="1"/>
            <p:nvPr/>
          </p:nvSpPr>
          <p:spPr>
            <a:xfrm>
              <a:off x="1992327" y="3559447"/>
              <a:ext cx="787395" cy="169276"/>
            </a:xfrm>
            <a:prstGeom prst="rect">
              <a:avLst/>
            </a:prstGeom>
            <a:noFill/>
            <a:ln>
              <a:solidFill>
                <a:schemeClr val="accent1"/>
              </a:solidFill>
            </a:ln>
          </p:spPr>
          <p:txBody>
            <a:bodyPr wrap="none" tIns="0" bIns="0" rtlCol="0">
              <a:spAutoFit/>
            </a:bodyPr>
            <a:lstStyle/>
            <a:p>
              <a:r>
                <a:rPr lang="en-US" sz="1100"/>
                <a:t>OpCode_6</a:t>
              </a:r>
            </a:p>
          </p:txBody>
        </p:sp>
        <p:cxnSp>
          <p:nvCxnSpPr>
            <p:cNvPr id="56" name="Straight Connector 55">
              <a:extLst>
                <a:ext uri="{FF2B5EF4-FFF2-40B4-BE49-F238E27FC236}">
                  <a16:creationId xmlns:a16="http://schemas.microsoft.com/office/drawing/2014/main" id="{08793A79-EB51-A283-C912-ADF7F0122842}"/>
                </a:ext>
              </a:extLst>
            </p:cNvPr>
            <p:cNvCxnSpPr>
              <a:cxnSpLocks/>
            </p:cNvCxnSpPr>
            <p:nvPr/>
          </p:nvCxnSpPr>
          <p:spPr>
            <a:xfrm>
              <a:off x="2080151" y="3587638"/>
              <a:ext cx="6400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8" name="Connector: Elbow 57">
            <a:extLst>
              <a:ext uri="{FF2B5EF4-FFF2-40B4-BE49-F238E27FC236}">
                <a16:creationId xmlns:a16="http://schemas.microsoft.com/office/drawing/2014/main" id="{9E0B2843-1C2D-74F9-38FB-039845EEFA01}"/>
              </a:ext>
            </a:extLst>
          </p:cNvPr>
          <p:cNvCxnSpPr>
            <a:cxnSpLocks/>
            <a:endCxn id="55" idx="1"/>
          </p:cNvCxnSpPr>
          <p:nvPr/>
        </p:nvCxnSpPr>
        <p:spPr>
          <a:xfrm rot="5400000" flipH="1" flipV="1">
            <a:off x="9011216" y="1965084"/>
            <a:ext cx="974662" cy="404063"/>
          </a:xfrm>
          <a:prstGeom prst="bentConnector2">
            <a:avLst/>
          </a:prstGeom>
        </p:spPr>
        <p:style>
          <a:lnRef idx="1">
            <a:schemeClr val="accent1"/>
          </a:lnRef>
          <a:fillRef idx="0">
            <a:schemeClr val="accent1"/>
          </a:fillRef>
          <a:effectRef idx="0">
            <a:schemeClr val="accent1"/>
          </a:effectRef>
          <a:fontRef idx="minor">
            <a:schemeClr val="tx1"/>
          </a:fontRef>
        </p:style>
      </p:cxnSp>
      <p:grpSp>
        <p:nvGrpSpPr>
          <p:cNvPr id="59" name="Group 58">
            <a:extLst>
              <a:ext uri="{FF2B5EF4-FFF2-40B4-BE49-F238E27FC236}">
                <a16:creationId xmlns:a16="http://schemas.microsoft.com/office/drawing/2014/main" id="{9E30D876-B5E7-000B-9D6D-621704367BF6}"/>
              </a:ext>
            </a:extLst>
          </p:cNvPr>
          <p:cNvGrpSpPr/>
          <p:nvPr/>
        </p:nvGrpSpPr>
        <p:grpSpPr>
          <a:xfrm>
            <a:off x="6227632" y="892672"/>
            <a:ext cx="859531" cy="169278"/>
            <a:chOff x="1992327" y="3559447"/>
            <a:chExt cx="859531" cy="169276"/>
          </a:xfrm>
        </p:grpSpPr>
        <p:sp>
          <p:nvSpPr>
            <p:cNvPr id="60" name="TextBox 59">
              <a:hlinkClick r:id="rId7" action="ppaction://hlinksldjump"/>
              <a:extLst>
                <a:ext uri="{FF2B5EF4-FFF2-40B4-BE49-F238E27FC236}">
                  <a16:creationId xmlns:a16="http://schemas.microsoft.com/office/drawing/2014/main" id="{3F4CF60A-128A-C71C-739C-107A115381D4}"/>
                </a:ext>
              </a:extLst>
            </p:cNvPr>
            <p:cNvSpPr txBox="1"/>
            <p:nvPr/>
          </p:nvSpPr>
          <p:spPr>
            <a:xfrm>
              <a:off x="1992327" y="3559447"/>
              <a:ext cx="859531" cy="169276"/>
            </a:xfrm>
            <a:prstGeom prst="rect">
              <a:avLst/>
            </a:prstGeom>
            <a:noFill/>
            <a:ln>
              <a:solidFill>
                <a:schemeClr val="accent1"/>
              </a:solidFill>
            </a:ln>
          </p:spPr>
          <p:txBody>
            <a:bodyPr wrap="none" tIns="0" bIns="0" rtlCol="0">
              <a:spAutoFit/>
            </a:bodyPr>
            <a:lstStyle/>
            <a:p>
              <a:r>
                <a:rPr lang="en-US" sz="1100"/>
                <a:t>OpCode_08</a:t>
              </a:r>
            </a:p>
          </p:txBody>
        </p:sp>
        <p:cxnSp>
          <p:nvCxnSpPr>
            <p:cNvPr id="61" name="Straight Connector 60">
              <a:extLst>
                <a:ext uri="{FF2B5EF4-FFF2-40B4-BE49-F238E27FC236}">
                  <a16:creationId xmlns:a16="http://schemas.microsoft.com/office/drawing/2014/main" id="{0A2371F2-BB6D-C94F-D3B0-4B04444DAB35}"/>
                </a:ext>
              </a:extLst>
            </p:cNvPr>
            <p:cNvCxnSpPr>
              <a:cxnSpLocks/>
            </p:cNvCxnSpPr>
            <p:nvPr/>
          </p:nvCxnSpPr>
          <p:spPr>
            <a:xfrm flipV="1">
              <a:off x="2080151" y="3585961"/>
              <a:ext cx="731520" cy="16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2" name="Group 61">
            <a:extLst>
              <a:ext uri="{FF2B5EF4-FFF2-40B4-BE49-F238E27FC236}">
                <a16:creationId xmlns:a16="http://schemas.microsoft.com/office/drawing/2014/main" id="{21F5C2B6-7A74-6E47-404F-245125B83811}"/>
              </a:ext>
            </a:extLst>
          </p:cNvPr>
          <p:cNvGrpSpPr/>
          <p:nvPr/>
        </p:nvGrpSpPr>
        <p:grpSpPr>
          <a:xfrm>
            <a:off x="6907377" y="1408525"/>
            <a:ext cx="873957" cy="169278"/>
            <a:chOff x="1992327" y="3559447"/>
            <a:chExt cx="873957" cy="169276"/>
          </a:xfrm>
        </p:grpSpPr>
        <p:sp>
          <p:nvSpPr>
            <p:cNvPr id="63" name="TextBox 62">
              <a:hlinkClick r:id="rId7" action="ppaction://hlinksldjump"/>
              <a:extLst>
                <a:ext uri="{FF2B5EF4-FFF2-40B4-BE49-F238E27FC236}">
                  <a16:creationId xmlns:a16="http://schemas.microsoft.com/office/drawing/2014/main" id="{1A1B7551-3568-70F2-18EB-1C82F06C5E5E}"/>
                </a:ext>
              </a:extLst>
            </p:cNvPr>
            <p:cNvSpPr txBox="1"/>
            <p:nvPr/>
          </p:nvSpPr>
          <p:spPr>
            <a:xfrm>
              <a:off x="1992327" y="3559447"/>
              <a:ext cx="873957" cy="169276"/>
            </a:xfrm>
            <a:prstGeom prst="rect">
              <a:avLst/>
            </a:prstGeom>
            <a:noFill/>
            <a:ln>
              <a:solidFill>
                <a:schemeClr val="accent1"/>
              </a:solidFill>
            </a:ln>
          </p:spPr>
          <p:txBody>
            <a:bodyPr wrap="none" tIns="0" bIns="0" rtlCol="0">
              <a:spAutoFit/>
            </a:bodyPr>
            <a:lstStyle/>
            <a:p>
              <a:r>
                <a:rPr lang="en-US" sz="1100"/>
                <a:t>OpCode_0D</a:t>
              </a:r>
            </a:p>
          </p:txBody>
        </p:sp>
        <p:cxnSp>
          <p:nvCxnSpPr>
            <p:cNvPr id="64" name="Straight Connector 63">
              <a:extLst>
                <a:ext uri="{FF2B5EF4-FFF2-40B4-BE49-F238E27FC236}">
                  <a16:creationId xmlns:a16="http://schemas.microsoft.com/office/drawing/2014/main" id="{48FD23DE-7B06-3CC2-3869-7CC36C782E74}"/>
                </a:ext>
              </a:extLst>
            </p:cNvPr>
            <p:cNvCxnSpPr>
              <a:cxnSpLocks/>
            </p:cNvCxnSpPr>
            <p:nvPr/>
          </p:nvCxnSpPr>
          <p:spPr>
            <a:xfrm>
              <a:off x="2080151" y="3587638"/>
              <a:ext cx="7315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6" name="Connector: Elbow 65">
            <a:extLst>
              <a:ext uri="{FF2B5EF4-FFF2-40B4-BE49-F238E27FC236}">
                <a16:creationId xmlns:a16="http://schemas.microsoft.com/office/drawing/2014/main" id="{CC318778-07D7-328B-B8F2-C2DE6153F960}"/>
              </a:ext>
            </a:extLst>
          </p:cNvPr>
          <p:cNvCxnSpPr>
            <a:cxnSpLocks/>
            <a:endCxn id="60" idx="1"/>
          </p:cNvCxnSpPr>
          <p:nvPr/>
        </p:nvCxnSpPr>
        <p:spPr>
          <a:xfrm rot="5400000" flipH="1" flipV="1">
            <a:off x="5114445" y="1517506"/>
            <a:ext cx="1653382" cy="572992"/>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71" name="Connector: Elbow 70">
            <a:extLst>
              <a:ext uri="{FF2B5EF4-FFF2-40B4-BE49-F238E27FC236}">
                <a16:creationId xmlns:a16="http://schemas.microsoft.com/office/drawing/2014/main" id="{BD2810E2-05D9-DE5E-2F61-742C00B5D81A}"/>
              </a:ext>
            </a:extLst>
          </p:cNvPr>
          <p:cNvCxnSpPr>
            <a:cxnSpLocks/>
            <a:stCxn id="63" idx="1"/>
          </p:cNvCxnSpPr>
          <p:nvPr/>
        </p:nvCxnSpPr>
        <p:spPr>
          <a:xfrm rot="10800000" flipV="1">
            <a:off x="6459841" y="1493163"/>
            <a:ext cx="447537" cy="1153011"/>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74" name="Connector: Elbow 73">
            <a:extLst>
              <a:ext uri="{FF2B5EF4-FFF2-40B4-BE49-F238E27FC236}">
                <a16:creationId xmlns:a16="http://schemas.microsoft.com/office/drawing/2014/main" id="{CA46E3AE-745F-5082-3ED9-EC386C0A6183}"/>
              </a:ext>
            </a:extLst>
          </p:cNvPr>
          <p:cNvCxnSpPr>
            <a:cxnSpLocks/>
            <a:endCxn id="72" idx="1"/>
          </p:cNvCxnSpPr>
          <p:nvPr/>
        </p:nvCxnSpPr>
        <p:spPr>
          <a:xfrm rot="5400000" flipH="1" flipV="1">
            <a:off x="8014527" y="1457171"/>
            <a:ext cx="1653399" cy="693647"/>
          </a:xfrm>
          <a:prstGeom prst="bentConnector2">
            <a:avLst/>
          </a:prstGeom>
        </p:spPr>
        <p:style>
          <a:lnRef idx="1">
            <a:schemeClr val="accent1"/>
          </a:lnRef>
          <a:fillRef idx="0">
            <a:schemeClr val="accent1"/>
          </a:fillRef>
          <a:effectRef idx="0">
            <a:schemeClr val="accent1"/>
          </a:effectRef>
          <a:fontRef idx="minor">
            <a:schemeClr val="tx1"/>
          </a:fontRef>
        </p:style>
      </p:cxnSp>
      <p:grpSp>
        <p:nvGrpSpPr>
          <p:cNvPr id="77" name="Group 76">
            <a:extLst>
              <a:ext uri="{FF2B5EF4-FFF2-40B4-BE49-F238E27FC236}">
                <a16:creationId xmlns:a16="http://schemas.microsoft.com/office/drawing/2014/main" id="{B842E5C1-87C2-A9C6-BFF7-414ED6999FF6}"/>
              </a:ext>
            </a:extLst>
          </p:cNvPr>
          <p:cNvGrpSpPr/>
          <p:nvPr/>
        </p:nvGrpSpPr>
        <p:grpSpPr>
          <a:xfrm>
            <a:off x="9829681" y="1824837"/>
            <a:ext cx="787395" cy="169278"/>
            <a:chOff x="1992327" y="3559447"/>
            <a:chExt cx="787395" cy="169276"/>
          </a:xfrm>
        </p:grpSpPr>
        <p:sp>
          <p:nvSpPr>
            <p:cNvPr id="78" name="TextBox 77">
              <a:hlinkClick r:id="rId8" action="ppaction://hlinksldjump"/>
              <a:extLst>
                <a:ext uri="{FF2B5EF4-FFF2-40B4-BE49-F238E27FC236}">
                  <a16:creationId xmlns:a16="http://schemas.microsoft.com/office/drawing/2014/main" id="{AD13E39E-DA9A-9C20-A1CA-4CB2FADBB845}"/>
                </a:ext>
              </a:extLst>
            </p:cNvPr>
            <p:cNvSpPr txBox="1"/>
            <p:nvPr/>
          </p:nvSpPr>
          <p:spPr>
            <a:xfrm>
              <a:off x="1992327" y="3559447"/>
              <a:ext cx="787395" cy="169276"/>
            </a:xfrm>
            <a:prstGeom prst="rect">
              <a:avLst/>
            </a:prstGeom>
            <a:noFill/>
            <a:ln>
              <a:solidFill>
                <a:schemeClr val="accent1"/>
              </a:solidFill>
            </a:ln>
          </p:spPr>
          <p:txBody>
            <a:bodyPr wrap="none" tIns="0" bIns="0" rtlCol="0">
              <a:spAutoFit/>
            </a:bodyPr>
            <a:lstStyle/>
            <a:p>
              <a:r>
                <a:rPr lang="en-US" sz="1100"/>
                <a:t>OpCode_7</a:t>
              </a:r>
            </a:p>
          </p:txBody>
        </p:sp>
        <p:cxnSp>
          <p:nvCxnSpPr>
            <p:cNvPr id="79" name="Straight Connector 78">
              <a:extLst>
                <a:ext uri="{FF2B5EF4-FFF2-40B4-BE49-F238E27FC236}">
                  <a16:creationId xmlns:a16="http://schemas.microsoft.com/office/drawing/2014/main" id="{8122529B-E798-9DD5-03AF-0225C227791E}"/>
                </a:ext>
              </a:extLst>
            </p:cNvPr>
            <p:cNvCxnSpPr>
              <a:cxnSpLocks/>
            </p:cNvCxnSpPr>
            <p:nvPr/>
          </p:nvCxnSpPr>
          <p:spPr>
            <a:xfrm>
              <a:off x="2080151" y="3581107"/>
              <a:ext cx="65110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1" name="Connector: Elbow 80">
            <a:extLst>
              <a:ext uri="{FF2B5EF4-FFF2-40B4-BE49-F238E27FC236}">
                <a16:creationId xmlns:a16="http://schemas.microsoft.com/office/drawing/2014/main" id="{61FE2743-CFA7-79A6-2EC1-7EDEE0BDEAF5}"/>
              </a:ext>
            </a:extLst>
          </p:cNvPr>
          <p:cNvCxnSpPr>
            <a:cxnSpLocks/>
            <a:endCxn id="78" idx="1"/>
          </p:cNvCxnSpPr>
          <p:nvPr/>
        </p:nvCxnSpPr>
        <p:spPr>
          <a:xfrm rot="5400000" flipH="1" flipV="1">
            <a:off x="9285140" y="2109902"/>
            <a:ext cx="744966" cy="344115"/>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17519B60-2B43-61BD-6218-9EDE618AC48C}"/>
              </a:ext>
            </a:extLst>
          </p:cNvPr>
          <p:cNvSpPr txBox="1"/>
          <p:nvPr/>
        </p:nvSpPr>
        <p:spPr>
          <a:xfrm>
            <a:off x="4713542" y="4233000"/>
            <a:ext cx="365806" cy="307777"/>
          </a:xfrm>
          <a:prstGeom prst="rect">
            <a:avLst/>
          </a:prstGeom>
          <a:solidFill>
            <a:schemeClr val="bg1"/>
          </a:solidFill>
        </p:spPr>
        <p:txBody>
          <a:bodyPr wrap="none" rtlCol="0">
            <a:spAutoFit/>
          </a:bodyPr>
          <a:lstStyle/>
          <a:p>
            <a:r>
              <a:rPr lang="en-US" sz="1400" dirty="0"/>
              <a:t>‘0’</a:t>
            </a:r>
          </a:p>
        </p:txBody>
      </p:sp>
      <p:sp>
        <p:nvSpPr>
          <p:cNvPr id="83" name="TextBox 82">
            <a:extLst>
              <a:ext uri="{FF2B5EF4-FFF2-40B4-BE49-F238E27FC236}">
                <a16:creationId xmlns:a16="http://schemas.microsoft.com/office/drawing/2014/main" id="{9F512770-151B-C7F5-EDFA-1D2038726EB7}"/>
              </a:ext>
            </a:extLst>
          </p:cNvPr>
          <p:cNvSpPr txBox="1"/>
          <p:nvPr/>
        </p:nvSpPr>
        <p:spPr>
          <a:xfrm>
            <a:off x="7354800" y="4192156"/>
            <a:ext cx="365806" cy="307777"/>
          </a:xfrm>
          <a:prstGeom prst="rect">
            <a:avLst/>
          </a:prstGeom>
          <a:solidFill>
            <a:schemeClr val="bg1"/>
          </a:solidFill>
        </p:spPr>
        <p:txBody>
          <a:bodyPr wrap="none" rtlCol="0">
            <a:spAutoFit/>
          </a:bodyPr>
          <a:lstStyle/>
          <a:p>
            <a:r>
              <a:rPr lang="en-US" sz="1400"/>
              <a:t>‘0’</a:t>
            </a:r>
          </a:p>
        </p:txBody>
      </p:sp>
      <p:sp>
        <p:nvSpPr>
          <p:cNvPr id="84" name="TextBox 83">
            <a:extLst>
              <a:ext uri="{FF2B5EF4-FFF2-40B4-BE49-F238E27FC236}">
                <a16:creationId xmlns:a16="http://schemas.microsoft.com/office/drawing/2014/main" id="{5815AD2C-DE15-D41A-775C-D7C8596FFE6F}"/>
              </a:ext>
            </a:extLst>
          </p:cNvPr>
          <p:cNvSpPr txBox="1"/>
          <p:nvPr/>
        </p:nvSpPr>
        <p:spPr>
          <a:xfrm>
            <a:off x="9562251" y="4192154"/>
            <a:ext cx="365806" cy="307777"/>
          </a:xfrm>
          <a:prstGeom prst="rect">
            <a:avLst/>
          </a:prstGeom>
          <a:solidFill>
            <a:schemeClr val="bg1"/>
          </a:solidFill>
        </p:spPr>
        <p:txBody>
          <a:bodyPr wrap="none" rtlCol="0">
            <a:spAutoFit/>
          </a:bodyPr>
          <a:lstStyle/>
          <a:p>
            <a:r>
              <a:rPr lang="en-US" sz="1400"/>
              <a:t>‘1’</a:t>
            </a:r>
          </a:p>
        </p:txBody>
      </p:sp>
      <p:pic>
        <p:nvPicPr>
          <p:cNvPr id="21" name="Picture 20">
            <a:hlinkClick r:id="rId9" action="ppaction://hlinksldjump"/>
            <a:extLst>
              <a:ext uri="{FF2B5EF4-FFF2-40B4-BE49-F238E27FC236}">
                <a16:creationId xmlns:a16="http://schemas.microsoft.com/office/drawing/2014/main" id="{C77C69D5-514F-6EB3-AA78-969C4AE310B9}"/>
              </a:ext>
            </a:extLst>
          </p:cNvPr>
          <p:cNvPicPr>
            <a:picLocks noChangeAspect="1"/>
          </p:cNvPicPr>
          <p:nvPr/>
        </p:nvPicPr>
        <p:blipFill>
          <a:blip r:embed="rId10"/>
          <a:stretch>
            <a:fillRect/>
          </a:stretch>
        </p:blipFill>
        <p:spPr>
          <a:xfrm>
            <a:off x="11038384" y="6427540"/>
            <a:ext cx="1076851" cy="222744"/>
          </a:xfrm>
          <a:prstGeom prst="rect">
            <a:avLst/>
          </a:prstGeom>
        </p:spPr>
      </p:pic>
      <p:sp>
        <p:nvSpPr>
          <p:cNvPr id="3" name="Slide Number Placeholder 4">
            <a:extLst>
              <a:ext uri="{FF2B5EF4-FFF2-40B4-BE49-F238E27FC236}">
                <a16:creationId xmlns:a16="http://schemas.microsoft.com/office/drawing/2014/main" id="{4A4E2C87-FA7E-CC6F-77DC-2251AC8D3FAF}"/>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35</a:t>
            </a:fld>
            <a:endParaRPr lang="en-US" b="1">
              <a:solidFill>
                <a:schemeClr val="bg1"/>
              </a:solidFill>
            </a:endParaRPr>
          </a:p>
        </p:txBody>
      </p:sp>
      <p:grpSp>
        <p:nvGrpSpPr>
          <p:cNvPr id="4" name="Group 3">
            <a:extLst>
              <a:ext uri="{FF2B5EF4-FFF2-40B4-BE49-F238E27FC236}">
                <a16:creationId xmlns:a16="http://schemas.microsoft.com/office/drawing/2014/main" id="{E47C0D07-BBA6-9FCE-0B59-5B5FDF3D9278}"/>
              </a:ext>
            </a:extLst>
          </p:cNvPr>
          <p:cNvGrpSpPr/>
          <p:nvPr/>
        </p:nvGrpSpPr>
        <p:grpSpPr>
          <a:xfrm>
            <a:off x="9499340" y="1365433"/>
            <a:ext cx="859531" cy="169277"/>
            <a:chOff x="1992327" y="3559447"/>
            <a:chExt cx="859531" cy="284882"/>
          </a:xfrm>
        </p:grpSpPr>
        <p:sp>
          <p:nvSpPr>
            <p:cNvPr id="26" name="TextBox 25">
              <a:hlinkClick r:id="rId11" action="ppaction://hlinksldjump"/>
              <a:extLst>
                <a:ext uri="{FF2B5EF4-FFF2-40B4-BE49-F238E27FC236}">
                  <a16:creationId xmlns:a16="http://schemas.microsoft.com/office/drawing/2014/main" id="{9C931972-7BF2-2645-A577-FE6870370B07}"/>
                </a:ext>
              </a:extLst>
            </p:cNvPr>
            <p:cNvSpPr txBox="1"/>
            <p:nvPr/>
          </p:nvSpPr>
          <p:spPr>
            <a:xfrm>
              <a:off x="1992327" y="3559447"/>
              <a:ext cx="859531" cy="284882"/>
            </a:xfrm>
            <a:prstGeom prst="rect">
              <a:avLst/>
            </a:prstGeom>
            <a:noFill/>
            <a:ln>
              <a:solidFill>
                <a:schemeClr val="accent1"/>
              </a:solidFill>
            </a:ln>
          </p:spPr>
          <p:txBody>
            <a:bodyPr wrap="none" tIns="0" bIns="0" rtlCol="0">
              <a:spAutoFit/>
            </a:bodyPr>
            <a:lstStyle/>
            <a:p>
              <a:r>
                <a:rPr lang="en-US" sz="1100"/>
                <a:t>OpCode_05</a:t>
              </a:r>
            </a:p>
          </p:txBody>
        </p:sp>
        <p:cxnSp>
          <p:nvCxnSpPr>
            <p:cNvPr id="28" name="Straight Connector 27">
              <a:extLst>
                <a:ext uri="{FF2B5EF4-FFF2-40B4-BE49-F238E27FC236}">
                  <a16:creationId xmlns:a16="http://schemas.microsoft.com/office/drawing/2014/main" id="{37F10CE4-80EC-1EC1-523A-164D658EC14F}"/>
                </a:ext>
              </a:extLst>
            </p:cNvPr>
            <p:cNvCxnSpPr>
              <a:cxnSpLocks/>
            </p:cNvCxnSpPr>
            <p:nvPr/>
          </p:nvCxnSpPr>
          <p:spPr>
            <a:xfrm>
              <a:off x="2080151" y="3604841"/>
              <a:ext cx="731520"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A6B2EB2E-24B5-752E-58F1-E29E7A247122}"/>
              </a:ext>
            </a:extLst>
          </p:cNvPr>
          <p:cNvGrpSpPr/>
          <p:nvPr/>
        </p:nvGrpSpPr>
        <p:grpSpPr>
          <a:xfrm>
            <a:off x="3216547" y="1002019"/>
            <a:ext cx="859531" cy="169277"/>
            <a:chOff x="1992327" y="3559447"/>
            <a:chExt cx="859531" cy="256394"/>
          </a:xfrm>
        </p:grpSpPr>
        <p:sp>
          <p:nvSpPr>
            <p:cNvPr id="30" name="TextBox 29">
              <a:hlinkClick r:id="rId5" action="ppaction://hlinksldjump"/>
              <a:extLst>
                <a:ext uri="{FF2B5EF4-FFF2-40B4-BE49-F238E27FC236}">
                  <a16:creationId xmlns:a16="http://schemas.microsoft.com/office/drawing/2014/main" id="{9DB00FF8-DAE8-FAAD-C659-34F801E845F6}"/>
                </a:ext>
              </a:extLst>
            </p:cNvPr>
            <p:cNvSpPr txBox="1"/>
            <p:nvPr/>
          </p:nvSpPr>
          <p:spPr>
            <a:xfrm>
              <a:off x="1992327" y="3559447"/>
              <a:ext cx="859531" cy="256394"/>
            </a:xfrm>
            <a:prstGeom prst="rect">
              <a:avLst/>
            </a:prstGeom>
            <a:noFill/>
            <a:ln>
              <a:solidFill>
                <a:schemeClr val="accent1"/>
              </a:solidFill>
            </a:ln>
          </p:spPr>
          <p:txBody>
            <a:bodyPr wrap="none" tIns="0" bIns="0" rtlCol="0">
              <a:spAutoFit/>
            </a:bodyPr>
            <a:lstStyle/>
            <a:p>
              <a:r>
                <a:rPr lang="en-US" sz="1100"/>
                <a:t>OpCode_10</a:t>
              </a:r>
            </a:p>
          </p:txBody>
        </p:sp>
        <p:cxnSp>
          <p:nvCxnSpPr>
            <p:cNvPr id="31" name="Straight Connector 30">
              <a:extLst>
                <a:ext uri="{FF2B5EF4-FFF2-40B4-BE49-F238E27FC236}">
                  <a16:creationId xmlns:a16="http://schemas.microsoft.com/office/drawing/2014/main" id="{39DF623D-9B6D-874F-54FD-9547E50A59C2}"/>
                </a:ext>
              </a:extLst>
            </p:cNvPr>
            <p:cNvCxnSpPr>
              <a:cxnSpLocks/>
            </p:cNvCxnSpPr>
            <p:nvPr/>
          </p:nvCxnSpPr>
          <p:spPr>
            <a:xfrm>
              <a:off x="2080151" y="3597148"/>
              <a:ext cx="7315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029BEEE7-DE8E-A6F6-12B2-E619388FA1D3}"/>
              </a:ext>
            </a:extLst>
          </p:cNvPr>
          <p:cNvGrpSpPr/>
          <p:nvPr/>
        </p:nvGrpSpPr>
        <p:grpSpPr>
          <a:xfrm>
            <a:off x="3350793" y="1227091"/>
            <a:ext cx="859531" cy="169277"/>
            <a:chOff x="1992327" y="3559447"/>
            <a:chExt cx="859531" cy="256394"/>
          </a:xfrm>
        </p:grpSpPr>
        <p:sp>
          <p:nvSpPr>
            <p:cNvPr id="36" name="TextBox 35">
              <a:hlinkClick r:id="rId5" action="ppaction://hlinksldjump"/>
              <a:extLst>
                <a:ext uri="{FF2B5EF4-FFF2-40B4-BE49-F238E27FC236}">
                  <a16:creationId xmlns:a16="http://schemas.microsoft.com/office/drawing/2014/main" id="{BE0DFEE8-2764-ED24-03D2-EA50DC50CA08}"/>
                </a:ext>
              </a:extLst>
            </p:cNvPr>
            <p:cNvSpPr txBox="1"/>
            <p:nvPr/>
          </p:nvSpPr>
          <p:spPr>
            <a:xfrm>
              <a:off x="1992327" y="3559447"/>
              <a:ext cx="859531" cy="256394"/>
            </a:xfrm>
            <a:prstGeom prst="rect">
              <a:avLst/>
            </a:prstGeom>
            <a:noFill/>
            <a:ln>
              <a:solidFill>
                <a:schemeClr val="accent1"/>
              </a:solidFill>
            </a:ln>
          </p:spPr>
          <p:txBody>
            <a:bodyPr wrap="none" tIns="0" bIns="0" rtlCol="0">
              <a:spAutoFit/>
            </a:bodyPr>
            <a:lstStyle/>
            <a:p>
              <a:r>
                <a:rPr lang="en-US" sz="1100"/>
                <a:t>OpCode_11</a:t>
              </a:r>
            </a:p>
          </p:txBody>
        </p:sp>
        <p:cxnSp>
          <p:nvCxnSpPr>
            <p:cNvPr id="37" name="Straight Connector 36">
              <a:extLst>
                <a:ext uri="{FF2B5EF4-FFF2-40B4-BE49-F238E27FC236}">
                  <a16:creationId xmlns:a16="http://schemas.microsoft.com/office/drawing/2014/main" id="{390A6C63-2974-D30E-B037-4E4F7648C5E9}"/>
                </a:ext>
              </a:extLst>
            </p:cNvPr>
            <p:cNvCxnSpPr>
              <a:cxnSpLocks/>
            </p:cNvCxnSpPr>
            <p:nvPr/>
          </p:nvCxnSpPr>
          <p:spPr>
            <a:xfrm>
              <a:off x="2080151" y="3607040"/>
              <a:ext cx="7315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8" name="TextBox 37">
            <a:extLst>
              <a:ext uri="{FF2B5EF4-FFF2-40B4-BE49-F238E27FC236}">
                <a16:creationId xmlns:a16="http://schemas.microsoft.com/office/drawing/2014/main" id="{DF673673-E635-CE3B-6B1C-499B8AD45D9E}"/>
              </a:ext>
            </a:extLst>
          </p:cNvPr>
          <p:cNvSpPr txBox="1"/>
          <p:nvPr/>
        </p:nvSpPr>
        <p:spPr>
          <a:xfrm>
            <a:off x="10354807" y="1331622"/>
            <a:ext cx="1184299" cy="261610"/>
          </a:xfrm>
          <a:prstGeom prst="rect">
            <a:avLst/>
          </a:prstGeom>
          <a:noFill/>
        </p:spPr>
        <p:txBody>
          <a:bodyPr wrap="square" rtlCol="0">
            <a:spAutoFit/>
          </a:bodyPr>
          <a:lstStyle/>
          <a:p>
            <a:r>
              <a:rPr lang="en-US" sz="1100"/>
              <a:t>Branch Absolute</a:t>
            </a:r>
          </a:p>
        </p:txBody>
      </p:sp>
      <p:sp>
        <p:nvSpPr>
          <p:cNvPr id="39" name="TextBox 38">
            <a:extLst>
              <a:ext uri="{FF2B5EF4-FFF2-40B4-BE49-F238E27FC236}">
                <a16:creationId xmlns:a16="http://schemas.microsoft.com/office/drawing/2014/main" id="{B60D1FCB-C1A4-505C-B90E-3060EF18A51F}"/>
              </a:ext>
            </a:extLst>
          </p:cNvPr>
          <p:cNvSpPr txBox="1"/>
          <p:nvPr/>
        </p:nvSpPr>
        <p:spPr>
          <a:xfrm>
            <a:off x="4016704" y="965481"/>
            <a:ext cx="387241" cy="261610"/>
          </a:xfrm>
          <a:prstGeom prst="rect">
            <a:avLst/>
          </a:prstGeom>
          <a:noFill/>
        </p:spPr>
        <p:txBody>
          <a:bodyPr wrap="square" rtlCol="0">
            <a:spAutoFit/>
          </a:bodyPr>
          <a:lstStyle/>
          <a:p>
            <a:pPr algn="r"/>
            <a:r>
              <a:rPr lang="en-US" sz="1100" dirty="0"/>
              <a:t>JSR</a:t>
            </a:r>
          </a:p>
        </p:txBody>
      </p:sp>
      <p:sp>
        <p:nvSpPr>
          <p:cNvPr id="41" name="TextBox 40">
            <a:extLst>
              <a:ext uri="{FF2B5EF4-FFF2-40B4-BE49-F238E27FC236}">
                <a16:creationId xmlns:a16="http://schemas.microsoft.com/office/drawing/2014/main" id="{DEB16C09-DB02-F5CC-4C26-630EB38D06D0}"/>
              </a:ext>
            </a:extLst>
          </p:cNvPr>
          <p:cNvSpPr txBox="1"/>
          <p:nvPr/>
        </p:nvSpPr>
        <p:spPr>
          <a:xfrm>
            <a:off x="4136700" y="1188462"/>
            <a:ext cx="412841" cy="261610"/>
          </a:xfrm>
          <a:prstGeom prst="rect">
            <a:avLst/>
          </a:prstGeom>
          <a:noFill/>
        </p:spPr>
        <p:txBody>
          <a:bodyPr wrap="square" rtlCol="0">
            <a:spAutoFit/>
          </a:bodyPr>
          <a:lstStyle/>
          <a:p>
            <a:pPr algn="r"/>
            <a:r>
              <a:rPr lang="en-US" sz="1100" dirty="0"/>
              <a:t>RTS</a:t>
            </a:r>
          </a:p>
        </p:txBody>
      </p:sp>
      <p:sp>
        <p:nvSpPr>
          <p:cNvPr id="43" name="TextBox 42">
            <a:extLst>
              <a:ext uri="{FF2B5EF4-FFF2-40B4-BE49-F238E27FC236}">
                <a16:creationId xmlns:a16="http://schemas.microsoft.com/office/drawing/2014/main" id="{C2B2FA4B-79B7-F1AD-4806-7A6EA78E94D3}"/>
              </a:ext>
            </a:extLst>
          </p:cNvPr>
          <p:cNvSpPr txBox="1"/>
          <p:nvPr/>
        </p:nvSpPr>
        <p:spPr>
          <a:xfrm>
            <a:off x="10562271" y="1780130"/>
            <a:ext cx="1184299" cy="261610"/>
          </a:xfrm>
          <a:prstGeom prst="rect">
            <a:avLst/>
          </a:prstGeom>
          <a:noFill/>
        </p:spPr>
        <p:txBody>
          <a:bodyPr wrap="square" rtlCol="0">
            <a:spAutoFit/>
          </a:bodyPr>
          <a:lstStyle/>
          <a:p>
            <a:r>
              <a:rPr lang="en-US" sz="1100"/>
              <a:t>Branch Relative</a:t>
            </a:r>
          </a:p>
        </p:txBody>
      </p:sp>
      <p:grpSp>
        <p:nvGrpSpPr>
          <p:cNvPr id="52" name="Group 51">
            <a:extLst>
              <a:ext uri="{FF2B5EF4-FFF2-40B4-BE49-F238E27FC236}">
                <a16:creationId xmlns:a16="http://schemas.microsoft.com/office/drawing/2014/main" id="{F830B0BC-FBD0-6A77-CABE-6717BC453B4A}"/>
              </a:ext>
            </a:extLst>
          </p:cNvPr>
          <p:cNvGrpSpPr/>
          <p:nvPr/>
        </p:nvGrpSpPr>
        <p:grpSpPr>
          <a:xfrm>
            <a:off x="9188050" y="892655"/>
            <a:ext cx="787395" cy="169278"/>
            <a:chOff x="8214098" y="345813"/>
            <a:chExt cx="787395" cy="169276"/>
          </a:xfrm>
        </p:grpSpPr>
        <p:sp>
          <p:nvSpPr>
            <p:cNvPr id="72" name="TextBox 71">
              <a:hlinkClick r:id="rId4" action="ppaction://hlinksldjump"/>
              <a:extLst>
                <a:ext uri="{FF2B5EF4-FFF2-40B4-BE49-F238E27FC236}">
                  <a16:creationId xmlns:a16="http://schemas.microsoft.com/office/drawing/2014/main" id="{65606891-B5E7-8179-6960-042FA940AB1D}"/>
                </a:ext>
              </a:extLst>
            </p:cNvPr>
            <p:cNvSpPr txBox="1"/>
            <p:nvPr/>
          </p:nvSpPr>
          <p:spPr>
            <a:xfrm>
              <a:off x="8214098" y="345813"/>
              <a:ext cx="787395" cy="169276"/>
            </a:xfrm>
            <a:prstGeom prst="rect">
              <a:avLst/>
            </a:prstGeom>
            <a:solidFill>
              <a:schemeClr val="bg1"/>
            </a:solidFill>
            <a:ln>
              <a:solidFill>
                <a:schemeClr val="tx2"/>
              </a:solidFill>
            </a:ln>
          </p:spPr>
          <p:txBody>
            <a:bodyPr wrap="none" tIns="0" bIns="0" rtlCol="0">
              <a:spAutoFit/>
            </a:bodyPr>
            <a:lstStyle/>
            <a:p>
              <a:r>
                <a:rPr lang="en-US" sz="1100"/>
                <a:t>OpCode_1</a:t>
              </a:r>
            </a:p>
          </p:txBody>
        </p:sp>
        <p:cxnSp>
          <p:nvCxnSpPr>
            <p:cNvPr id="51" name="Straight Connector 50">
              <a:extLst>
                <a:ext uri="{FF2B5EF4-FFF2-40B4-BE49-F238E27FC236}">
                  <a16:creationId xmlns:a16="http://schemas.microsoft.com/office/drawing/2014/main" id="{A55E9741-7E39-156D-BA23-2A9340D9996D}"/>
                </a:ext>
              </a:extLst>
            </p:cNvPr>
            <p:cNvCxnSpPr>
              <a:cxnSpLocks/>
            </p:cNvCxnSpPr>
            <p:nvPr/>
          </p:nvCxnSpPr>
          <p:spPr>
            <a:xfrm>
              <a:off x="8294390" y="379092"/>
              <a:ext cx="6400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3" name="TextBox 52">
            <a:extLst>
              <a:ext uri="{FF2B5EF4-FFF2-40B4-BE49-F238E27FC236}">
                <a16:creationId xmlns:a16="http://schemas.microsoft.com/office/drawing/2014/main" id="{611FF404-3454-13DA-FFBC-DE78AF6CFFE0}"/>
              </a:ext>
            </a:extLst>
          </p:cNvPr>
          <p:cNvSpPr txBox="1"/>
          <p:nvPr/>
        </p:nvSpPr>
        <p:spPr>
          <a:xfrm>
            <a:off x="9918139" y="846486"/>
            <a:ext cx="1184299" cy="261610"/>
          </a:xfrm>
          <a:prstGeom prst="rect">
            <a:avLst/>
          </a:prstGeom>
          <a:noFill/>
        </p:spPr>
        <p:txBody>
          <a:bodyPr wrap="square" rtlCol="0">
            <a:spAutoFit/>
          </a:bodyPr>
          <a:lstStyle/>
          <a:p>
            <a:r>
              <a:rPr lang="en-US" sz="1100"/>
              <a:t>BRK</a:t>
            </a:r>
          </a:p>
        </p:txBody>
      </p:sp>
      <p:cxnSp>
        <p:nvCxnSpPr>
          <p:cNvPr id="75" name="Connector: Elbow 74">
            <a:extLst>
              <a:ext uri="{FF2B5EF4-FFF2-40B4-BE49-F238E27FC236}">
                <a16:creationId xmlns:a16="http://schemas.microsoft.com/office/drawing/2014/main" id="{179D2716-BFFB-8889-E595-BC4F1BE9E92E}"/>
              </a:ext>
            </a:extLst>
          </p:cNvPr>
          <p:cNvCxnSpPr>
            <a:cxnSpLocks/>
            <a:endCxn id="26" idx="1"/>
          </p:cNvCxnSpPr>
          <p:nvPr/>
        </p:nvCxnSpPr>
        <p:spPr>
          <a:xfrm rot="5400000" flipH="1" flipV="1">
            <a:off x="8707564" y="1884445"/>
            <a:ext cx="1226149" cy="357404"/>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0A77ECC5-AF44-E23C-4024-5BF0325CBB67}"/>
              </a:ext>
            </a:extLst>
          </p:cNvPr>
          <p:cNvSpPr txBox="1"/>
          <p:nvPr/>
        </p:nvSpPr>
        <p:spPr>
          <a:xfrm>
            <a:off x="10458539" y="1555877"/>
            <a:ext cx="1184299" cy="261610"/>
          </a:xfrm>
          <a:prstGeom prst="rect">
            <a:avLst/>
          </a:prstGeom>
          <a:noFill/>
        </p:spPr>
        <p:txBody>
          <a:bodyPr wrap="square" rtlCol="0">
            <a:spAutoFit/>
          </a:bodyPr>
          <a:lstStyle/>
          <a:p>
            <a:r>
              <a:rPr lang="en-US" sz="1100"/>
              <a:t>ALU Immediate</a:t>
            </a:r>
          </a:p>
        </p:txBody>
      </p:sp>
      <p:cxnSp>
        <p:nvCxnSpPr>
          <p:cNvPr id="85" name="Connector: Elbow 84">
            <a:extLst>
              <a:ext uri="{FF2B5EF4-FFF2-40B4-BE49-F238E27FC236}">
                <a16:creationId xmlns:a16="http://schemas.microsoft.com/office/drawing/2014/main" id="{413A21D6-D4CB-42CF-82A9-2D574D80DED6}"/>
              </a:ext>
            </a:extLst>
          </p:cNvPr>
          <p:cNvCxnSpPr>
            <a:cxnSpLocks/>
            <a:endCxn id="36" idx="1"/>
          </p:cNvCxnSpPr>
          <p:nvPr/>
        </p:nvCxnSpPr>
        <p:spPr>
          <a:xfrm rot="5400000" flipH="1" flipV="1">
            <a:off x="2546864" y="1872294"/>
            <a:ext cx="1364492" cy="243365"/>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88" name="Connector: Elbow 87">
            <a:extLst>
              <a:ext uri="{FF2B5EF4-FFF2-40B4-BE49-F238E27FC236}">
                <a16:creationId xmlns:a16="http://schemas.microsoft.com/office/drawing/2014/main" id="{80CD719C-467A-C203-49C8-760A4CFC3833}"/>
              </a:ext>
            </a:extLst>
          </p:cNvPr>
          <p:cNvCxnSpPr>
            <a:cxnSpLocks/>
            <a:endCxn id="30" idx="1"/>
          </p:cNvCxnSpPr>
          <p:nvPr/>
        </p:nvCxnSpPr>
        <p:spPr>
          <a:xfrm rot="5400000" flipH="1" flipV="1">
            <a:off x="2314650" y="1752546"/>
            <a:ext cx="1567785" cy="236010"/>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8C7757CF-A5E6-AE8D-0F2B-0106A955D073}"/>
              </a:ext>
            </a:extLst>
          </p:cNvPr>
          <p:cNvSpPr txBox="1"/>
          <p:nvPr/>
        </p:nvSpPr>
        <p:spPr>
          <a:xfrm>
            <a:off x="7052473" y="846486"/>
            <a:ext cx="859531" cy="261610"/>
          </a:xfrm>
          <a:prstGeom prst="rect">
            <a:avLst/>
          </a:prstGeom>
          <a:noFill/>
        </p:spPr>
        <p:txBody>
          <a:bodyPr wrap="square" rtlCol="0">
            <a:spAutoFit/>
          </a:bodyPr>
          <a:lstStyle/>
          <a:p>
            <a:r>
              <a:rPr lang="en-US" sz="1100"/>
              <a:t>Out Reg</a:t>
            </a:r>
          </a:p>
        </p:txBody>
      </p:sp>
      <p:sp>
        <p:nvSpPr>
          <p:cNvPr id="93" name="TextBox 92">
            <a:extLst>
              <a:ext uri="{FF2B5EF4-FFF2-40B4-BE49-F238E27FC236}">
                <a16:creationId xmlns:a16="http://schemas.microsoft.com/office/drawing/2014/main" id="{235234A3-DAF6-10A7-E34F-57D506C758CE}"/>
              </a:ext>
            </a:extLst>
          </p:cNvPr>
          <p:cNvSpPr txBox="1"/>
          <p:nvPr/>
        </p:nvSpPr>
        <p:spPr>
          <a:xfrm>
            <a:off x="7707529" y="1365147"/>
            <a:ext cx="859531" cy="261610"/>
          </a:xfrm>
          <a:prstGeom prst="rect">
            <a:avLst/>
          </a:prstGeom>
          <a:noFill/>
        </p:spPr>
        <p:txBody>
          <a:bodyPr wrap="square" rtlCol="0">
            <a:spAutoFit/>
          </a:bodyPr>
          <a:lstStyle/>
          <a:p>
            <a:r>
              <a:rPr lang="en-US" sz="1100"/>
              <a:t>Out </a:t>
            </a:r>
            <a:r>
              <a:rPr lang="en-US" sz="1100" err="1"/>
              <a:t>Imm</a:t>
            </a:r>
            <a:endParaRPr lang="en-US" sz="1100"/>
          </a:p>
        </p:txBody>
      </p:sp>
      <p:sp>
        <p:nvSpPr>
          <p:cNvPr id="23" name="Rectangle 22">
            <a:extLst>
              <a:ext uri="{FF2B5EF4-FFF2-40B4-BE49-F238E27FC236}">
                <a16:creationId xmlns:a16="http://schemas.microsoft.com/office/drawing/2014/main" id="{454D078F-F12F-C183-5E00-378DC9646968}"/>
              </a:ext>
            </a:extLst>
          </p:cNvPr>
          <p:cNvSpPr/>
          <p:nvPr/>
        </p:nvSpPr>
        <p:spPr>
          <a:xfrm>
            <a:off x="8129889" y="4302520"/>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0</a:t>
            </a:r>
          </a:p>
        </p:txBody>
      </p:sp>
      <p:sp>
        <p:nvSpPr>
          <p:cNvPr id="42" name="Rectangle 41">
            <a:extLst>
              <a:ext uri="{FF2B5EF4-FFF2-40B4-BE49-F238E27FC236}">
                <a16:creationId xmlns:a16="http://schemas.microsoft.com/office/drawing/2014/main" id="{F8C72D02-3FF0-35C1-070D-72175EDD5E1A}"/>
              </a:ext>
            </a:extLst>
          </p:cNvPr>
          <p:cNvSpPr/>
          <p:nvPr/>
        </p:nvSpPr>
        <p:spPr>
          <a:xfrm>
            <a:off x="8413612" y="4302520"/>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1</a:t>
            </a:r>
          </a:p>
        </p:txBody>
      </p:sp>
      <p:sp>
        <p:nvSpPr>
          <p:cNvPr id="46" name="Rectangle 45">
            <a:extLst>
              <a:ext uri="{FF2B5EF4-FFF2-40B4-BE49-F238E27FC236}">
                <a16:creationId xmlns:a16="http://schemas.microsoft.com/office/drawing/2014/main" id="{5A275A6F-6DEF-5BCF-9F6D-324F056A3D05}"/>
              </a:ext>
            </a:extLst>
          </p:cNvPr>
          <p:cNvSpPr/>
          <p:nvPr/>
        </p:nvSpPr>
        <p:spPr>
          <a:xfrm>
            <a:off x="8697335" y="4302520"/>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2</a:t>
            </a:r>
          </a:p>
        </p:txBody>
      </p:sp>
      <p:sp>
        <p:nvSpPr>
          <p:cNvPr id="49" name="Rectangle 48">
            <a:extLst>
              <a:ext uri="{FF2B5EF4-FFF2-40B4-BE49-F238E27FC236}">
                <a16:creationId xmlns:a16="http://schemas.microsoft.com/office/drawing/2014/main" id="{A50607B1-9DEB-367B-A415-E7E4E9940DC4}"/>
              </a:ext>
            </a:extLst>
          </p:cNvPr>
          <p:cNvSpPr/>
          <p:nvPr/>
        </p:nvSpPr>
        <p:spPr>
          <a:xfrm>
            <a:off x="5470271" y="4307332"/>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0</a:t>
            </a:r>
          </a:p>
        </p:txBody>
      </p:sp>
      <p:sp>
        <p:nvSpPr>
          <p:cNvPr id="50" name="Rectangle 49">
            <a:extLst>
              <a:ext uri="{FF2B5EF4-FFF2-40B4-BE49-F238E27FC236}">
                <a16:creationId xmlns:a16="http://schemas.microsoft.com/office/drawing/2014/main" id="{FB341B0C-56EE-A0B4-A70C-D14BAEC67699}"/>
              </a:ext>
            </a:extLst>
          </p:cNvPr>
          <p:cNvSpPr/>
          <p:nvPr/>
        </p:nvSpPr>
        <p:spPr>
          <a:xfrm>
            <a:off x="5753994" y="4307332"/>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1</a:t>
            </a:r>
          </a:p>
        </p:txBody>
      </p:sp>
      <p:sp>
        <p:nvSpPr>
          <p:cNvPr id="57" name="Rectangle 56">
            <a:extLst>
              <a:ext uri="{FF2B5EF4-FFF2-40B4-BE49-F238E27FC236}">
                <a16:creationId xmlns:a16="http://schemas.microsoft.com/office/drawing/2014/main" id="{1BB3895B-2C34-441A-ED76-F1F53472232A}"/>
              </a:ext>
            </a:extLst>
          </p:cNvPr>
          <p:cNvSpPr/>
          <p:nvPr/>
        </p:nvSpPr>
        <p:spPr>
          <a:xfrm>
            <a:off x="6037717" y="4307332"/>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2</a:t>
            </a:r>
          </a:p>
        </p:txBody>
      </p:sp>
      <p:sp>
        <p:nvSpPr>
          <p:cNvPr id="65" name="Rectangle 64">
            <a:extLst>
              <a:ext uri="{FF2B5EF4-FFF2-40B4-BE49-F238E27FC236}">
                <a16:creationId xmlns:a16="http://schemas.microsoft.com/office/drawing/2014/main" id="{F8F050CE-C690-907A-D6A6-FC211934B5C7}"/>
              </a:ext>
            </a:extLst>
          </p:cNvPr>
          <p:cNvSpPr/>
          <p:nvPr/>
        </p:nvSpPr>
        <p:spPr>
          <a:xfrm>
            <a:off x="2853646" y="4302520"/>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0</a:t>
            </a:r>
          </a:p>
        </p:txBody>
      </p:sp>
      <p:sp>
        <p:nvSpPr>
          <p:cNvPr id="67" name="Rectangle 66">
            <a:extLst>
              <a:ext uri="{FF2B5EF4-FFF2-40B4-BE49-F238E27FC236}">
                <a16:creationId xmlns:a16="http://schemas.microsoft.com/office/drawing/2014/main" id="{B98535E4-5206-F08D-FA45-66DD78C32379}"/>
              </a:ext>
            </a:extLst>
          </p:cNvPr>
          <p:cNvSpPr/>
          <p:nvPr/>
        </p:nvSpPr>
        <p:spPr>
          <a:xfrm>
            <a:off x="3137369" y="4302520"/>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1</a:t>
            </a:r>
          </a:p>
        </p:txBody>
      </p:sp>
      <p:sp>
        <p:nvSpPr>
          <p:cNvPr id="68" name="Rectangle 67">
            <a:extLst>
              <a:ext uri="{FF2B5EF4-FFF2-40B4-BE49-F238E27FC236}">
                <a16:creationId xmlns:a16="http://schemas.microsoft.com/office/drawing/2014/main" id="{A94DBC4F-1180-17AB-7134-2EB56019BB8E}"/>
              </a:ext>
            </a:extLst>
          </p:cNvPr>
          <p:cNvSpPr/>
          <p:nvPr/>
        </p:nvSpPr>
        <p:spPr>
          <a:xfrm>
            <a:off x="3421092" y="4302520"/>
            <a:ext cx="253782" cy="292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2</a:t>
            </a:r>
          </a:p>
        </p:txBody>
      </p:sp>
      <p:pic>
        <p:nvPicPr>
          <p:cNvPr id="89" name="Picture 88" descr="Diagram&#10;&#10;Description automatically generated with low confidence">
            <a:extLst>
              <a:ext uri="{FF2B5EF4-FFF2-40B4-BE49-F238E27FC236}">
                <a16:creationId xmlns:a16="http://schemas.microsoft.com/office/drawing/2014/main" id="{3FAA2D87-8568-C151-1C4A-51F9F9F7F05A}"/>
              </a:ext>
            </a:extLst>
          </p:cNvPr>
          <p:cNvPicPr>
            <a:picLocks noChangeAspect="1"/>
          </p:cNvPicPr>
          <p:nvPr/>
        </p:nvPicPr>
        <p:blipFill rotWithShape="1">
          <a:blip r:embed="rId12">
            <a:extLst>
              <a:ext uri="{28A0092B-C50C-407E-A947-70E740481C1C}">
                <a14:useLocalDpi xmlns:a14="http://schemas.microsoft.com/office/drawing/2010/main" val="0"/>
              </a:ext>
              <a:ext uri="{837473B0-CC2E-450A-ABE3-18F120FF3D39}">
                <a1611:picAttrSrcUrl xmlns:a1611="http://schemas.microsoft.com/office/drawing/2016/11/main" r:id="rId13"/>
              </a:ext>
            </a:extLst>
          </a:blip>
          <a:srcRect l="50000" t="19257" r="4045" b="-1180"/>
          <a:stretch/>
        </p:blipFill>
        <p:spPr>
          <a:xfrm rot="10800000">
            <a:off x="2109724" y="5325912"/>
            <a:ext cx="659287" cy="459531"/>
          </a:xfrm>
          <a:prstGeom prst="rect">
            <a:avLst/>
          </a:prstGeom>
        </p:spPr>
      </p:pic>
      <p:cxnSp>
        <p:nvCxnSpPr>
          <p:cNvPr id="90" name="Connector: Elbow 89">
            <a:extLst>
              <a:ext uri="{FF2B5EF4-FFF2-40B4-BE49-F238E27FC236}">
                <a16:creationId xmlns:a16="http://schemas.microsoft.com/office/drawing/2014/main" id="{1BDA7E04-D76E-2A9B-0115-A11FCD91F192}"/>
              </a:ext>
            </a:extLst>
          </p:cNvPr>
          <p:cNvCxnSpPr>
            <a:cxnSpLocks/>
            <a:stCxn id="19" idx="0"/>
          </p:cNvCxnSpPr>
          <p:nvPr/>
        </p:nvCxnSpPr>
        <p:spPr>
          <a:xfrm rot="16200000" flipV="1">
            <a:off x="4592838" y="3549316"/>
            <a:ext cx="411147" cy="4151010"/>
          </a:xfrm>
          <a:prstGeom prst="bentConnector2">
            <a:avLst/>
          </a:prstGeom>
        </p:spPr>
        <p:style>
          <a:lnRef idx="3">
            <a:schemeClr val="accent6"/>
          </a:lnRef>
          <a:fillRef idx="0">
            <a:schemeClr val="accent6"/>
          </a:fillRef>
          <a:effectRef idx="2">
            <a:schemeClr val="accent6"/>
          </a:effectRef>
          <a:fontRef idx="minor">
            <a:schemeClr val="tx1"/>
          </a:fontRef>
        </p:style>
      </p:cxnSp>
      <p:cxnSp>
        <p:nvCxnSpPr>
          <p:cNvPr id="95" name="Connector: Elbow 94">
            <a:extLst>
              <a:ext uri="{FF2B5EF4-FFF2-40B4-BE49-F238E27FC236}">
                <a16:creationId xmlns:a16="http://schemas.microsoft.com/office/drawing/2014/main" id="{27A39E71-93E5-5258-6578-782651244230}"/>
              </a:ext>
            </a:extLst>
          </p:cNvPr>
          <p:cNvCxnSpPr>
            <a:cxnSpLocks/>
            <a:stCxn id="18" idx="0"/>
          </p:cNvCxnSpPr>
          <p:nvPr/>
        </p:nvCxnSpPr>
        <p:spPr>
          <a:xfrm rot="16200000" flipV="1">
            <a:off x="4602601" y="3842801"/>
            <a:ext cx="136525" cy="3838661"/>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102" name="TextBox 101">
            <a:extLst>
              <a:ext uri="{FF2B5EF4-FFF2-40B4-BE49-F238E27FC236}">
                <a16:creationId xmlns:a16="http://schemas.microsoft.com/office/drawing/2014/main" id="{3D2A422C-63C6-ADB1-54DB-9E891D0E5434}"/>
              </a:ext>
            </a:extLst>
          </p:cNvPr>
          <p:cNvSpPr txBox="1"/>
          <p:nvPr/>
        </p:nvSpPr>
        <p:spPr>
          <a:xfrm>
            <a:off x="2078534" y="4346042"/>
            <a:ext cx="365806" cy="307777"/>
          </a:xfrm>
          <a:prstGeom prst="rect">
            <a:avLst/>
          </a:prstGeom>
          <a:solidFill>
            <a:schemeClr val="bg1"/>
          </a:solidFill>
        </p:spPr>
        <p:txBody>
          <a:bodyPr wrap="none" rtlCol="0">
            <a:spAutoFit/>
          </a:bodyPr>
          <a:lstStyle/>
          <a:p>
            <a:r>
              <a:rPr lang="en-US" sz="1400" dirty="0"/>
              <a:t>‘0’</a:t>
            </a:r>
          </a:p>
        </p:txBody>
      </p:sp>
      <p:sp>
        <p:nvSpPr>
          <p:cNvPr id="103" name="TextBox 102">
            <a:extLst>
              <a:ext uri="{FF2B5EF4-FFF2-40B4-BE49-F238E27FC236}">
                <a16:creationId xmlns:a16="http://schemas.microsoft.com/office/drawing/2014/main" id="{A3B28D21-D224-1F10-6DEB-0C1B3B239536}"/>
              </a:ext>
            </a:extLst>
          </p:cNvPr>
          <p:cNvSpPr txBox="1"/>
          <p:nvPr/>
        </p:nvSpPr>
        <p:spPr>
          <a:xfrm>
            <a:off x="1823861" y="4346041"/>
            <a:ext cx="365806" cy="307777"/>
          </a:xfrm>
          <a:prstGeom prst="rect">
            <a:avLst/>
          </a:prstGeom>
          <a:solidFill>
            <a:schemeClr val="bg1"/>
          </a:solidFill>
        </p:spPr>
        <p:txBody>
          <a:bodyPr wrap="none" rtlCol="0">
            <a:spAutoFit/>
          </a:bodyPr>
          <a:lstStyle/>
          <a:p>
            <a:r>
              <a:rPr lang="en-US" sz="1400" dirty="0"/>
              <a:t>‘0’</a:t>
            </a:r>
          </a:p>
        </p:txBody>
      </p:sp>
      <p:cxnSp>
        <p:nvCxnSpPr>
          <p:cNvPr id="104" name="Connector: Elbow 103">
            <a:extLst>
              <a:ext uri="{FF2B5EF4-FFF2-40B4-BE49-F238E27FC236}">
                <a16:creationId xmlns:a16="http://schemas.microsoft.com/office/drawing/2014/main" id="{4C52E210-FE82-654E-47D2-BF6AC6E94946}"/>
              </a:ext>
            </a:extLst>
          </p:cNvPr>
          <p:cNvCxnSpPr>
            <a:cxnSpLocks/>
            <a:stCxn id="89" idx="3"/>
          </p:cNvCxnSpPr>
          <p:nvPr/>
        </p:nvCxnSpPr>
        <p:spPr>
          <a:xfrm rot="10800000">
            <a:off x="1808468" y="4453335"/>
            <a:ext cx="301257" cy="1102343"/>
          </a:xfrm>
          <a:prstGeom prst="bentConnector2">
            <a:avLst/>
          </a:prstGeom>
        </p:spPr>
        <p:style>
          <a:lnRef idx="3">
            <a:schemeClr val="accent6"/>
          </a:lnRef>
          <a:fillRef idx="0">
            <a:schemeClr val="accent6"/>
          </a:fillRef>
          <a:effectRef idx="2">
            <a:schemeClr val="accent6"/>
          </a:effectRef>
          <a:fontRef idx="minor">
            <a:schemeClr val="tx1"/>
          </a:fontRef>
        </p:style>
      </p:cxnSp>
      <p:grpSp>
        <p:nvGrpSpPr>
          <p:cNvPr id="98" name="Group 97">
            <a:extLst>
              <a:ext uri="{FF2B5EF4-FFF2-40B4-BE49-F238E27FC236}">
                <a16:creationId xmlns:a16="http://schemas.microsoft.com/office/drawing/2014/main" id="{EC59A4F0-E310-3AE8-014F-301637818FAC}"/>
              </a:ext>
            </a:extLst>
          </p:cNvPr>
          <p:cNvGrpSpPr/>
          <p:nvPr/>
        </p:nvGrpSpPr>
        <p:grpSpPr>
          <a:xfrm>
            <a:off x="556823" y="1019185"/>
            <a:ext cx="830677" cy="161583"/>
            <a:chOff x="1992327" y="3559447"/>
            <a:chExt cx="830677" cy="283170"/>
          </a:xfrm>
        </p:grpSpPr>
        <p:sp>
          <p:nvSpPr>
            <p:cNvPr id="99" name="TextBox 98">
              <a:hlinkClick r:id="rId5" action="ppaction://hlinksldjump"/>
              <a:extLst>
                <a:ext uri="{FF2B5EF4-FFF2-40B4-BE49-F238E27FC236}">
                  <a16:creationId xmlns:a16="http://schemas.microsoft.com/office/drawing/2014/main" id="{D640444D-D5D0-957B-58D6-1850248371E6}"/>
                </a:ext>
              </a:extLst>
            </p:cNvPr>
            <p:cNvSpPr txBox="1"/>
            <p:nvPr/>
          </p:nvSpPr>
          <p:spPr>
            <a:xfrm>
              <a:off x="1992327" y="3559447"/>
              <a:ext cx="830677" cy="283170"/>
            </a:xfrm>
            <a:prstGeom prst="rect">
              <a:avLst/>
            </a:prstGeom>
            <a:noFill/>
            <a:ln>
              <a:solidFill>
                <a:schemeClr val="accent1"/>
              </a:solidFill>
            </a:ln>
          </p:spPr>
          <p:txBody>
            <a:bodyPr wrap="none" tIns="0" bIns="0" rtlCol="0">
              <a:spAutoFit/>
            </a:bodyPr>
            <a:lstStyle/>
            <a:p>
              <a:r>
                <a:rPr lang="en-US" sz="1050" dirty="0"/>
                <a:t>OpCode_18</a:t>
              </a:r>
            </a:p>
          </p:txBody>
        </p:sp>
        <p:cxnSp>
          <p:nvCxnSpPr>
            <p:cNvPr id="100" name="Straight Connector 99">
              <a:extLst>
                <a:ext uri="{FF2B5EF4-FFF2-40B4-BE49-F238E27FC236}">
                  <a16:creationId xmlns:a16="http://schemas.microsoft.com/office/drawing/2014/main" id="{A7BE2ED5-D1F0-6406-89CF-E7CADB4D6B42}"/>
                </a:ext>
              </a:extLst>
            </p:cNvPr>
            <p:cNvCxnSpPr>
              <a:cxnSpLocks/>
            </p:cNvCxnSpPr>
            <p:nvPr/>
          </p:nvCxnSpPr>
          <p:spPr>
            <a:xfrm>
              <a:off x="2080151" y="3607040"/>
              <a:ext cx="7315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1" name="Group 100">
            <a:extLst>
              <a:ext uri="{FF2B5EF4-FFF2-40B4-BE49-F238E27FC236}">
                <a16:creationId xmlns:a16="http://schemas.microsoft.com/office/drawing/2014/main" id="{7B67A54F-402B-3694-1943-C7A34A6EE695}"/>
              </a:ext>
            </a:extLst>
          </p:cNvPr>
          <p:cNvGrpSpPr/>
          <p:nvPr/>
        </p:nvGrpSpPr>
        <p:grpSpPr>
          <a:xfrm>
            <a:off x="709223" y="1200805"/>
            <a:ext cx="830677" cy="161583"/>
            <a:chOff x="1992327" y="3559447"/>
            <a:chExt cx="830677" cy="283170"/>
          </a:xfrm>
        </p:grpSpPr>
        <p:sp>
          <p:nvSpPr>
            <p:cNvPr id="105" name="TextBox 104">
              <a:hlinkClick r:id="rId5" action="ppaction://hlinksldjump"/>
              <a:extLst>
                <a:ext uri="{FF2B5EF4-FFF2-40B4-BE49-F238E27FC236}">
                  <a16:creationId xmlns:a16="http://schemas.microsoft.com/office/drawing/2014/main" id="{1BE56B9B-51BA-2570-03D3-F5BCCB587A72}"/>
                </a:ext>
              </a:extLst>
            </p:cNvPr>
            <p:cNvSpPr txBox="1"/>
            <p:nvPr/>
          </p:nvSpPr>
          <p:spPr>
            <a:xfrm>
              <a:off x="1992327" y="3559447"/>
              <a:ext cx="830677" cy="283170"/>
            </a:xfrm>
            <a:prstGeom prst="rect">
              <a:avLst/>
            </a:prstGeom>
            <a:noFill/>
            <a:ln>
              <a:solidFill>
                <a:schemeClr val="accent1"/>
              </a:solidFill>
            </a:ln>
          </p:spPr>
          <p:txBody>
            <a:bodyPr wrap="none" tIns="0" bIns="0" rtlCol="0">
              <a:spAutoFit/>
            </a:bodyPr>
            <a:lstStyle/>
            <a:p>
              <a:r>
                <a:rPr lang="en-US" sz="1050" dirty="0"/>
                <a:t>OpCode_19</a:t>
              </a:r>
            </a:p>
          </p:txBody>
        </p:sp>
        <p:cxnSp>
          <p:nvCxnSpPr>
            <p:cNvPr id="106" name="Straight Connector 105">
              <a:extLst>
                <a:ext uri="{FF2B5EF4-FFF2-40B4-BE49-F238E27FC236}">
                  <a16:creationId xmlns:a16="http://schemas.microsoft.com/office/drawing/2014/main" id="{B2D818AC-4883-3B4A-B3F1-CB2444606393}"/>
                </a:ext>
              </a:extLst>
            </p:cNvPr>
            <p:cNvCxnSpPr>
              <a:cxnSpLocks/>
            </p:cNvCxnSpPr>
            <p:nvPr/>
          </p:nvCxnSpPr>
          <p:spPr>
            <a:xfrm>
              <a:off x="2080151" y="3607040"/>
              <a:ext cx="7315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7" name="Group 106">
            <a:extLst>
              <a:ext uri="{FF2B5EF4-FFF2-40B4-BE49-F238E27FC236}">
                <a16:creationId xmlns:a16="http://schemas.microsoft.com/office/drawing/2014/main" id="{2FB9DA42-872C-EA0D-5D4D-3EFD25885A6F}"/>
              </a:ext>
            </a:extLst>
          </p:cNvPr>
          <p:cNvGrpSpPr/>
          <p:nvPr/>
        </p:nvGrpSpPr>
        <p:grpSpPr>
          <a:xfrm>
            <a:off x="861623" y="1382425"/>
            <a:ext cx="971741" cy="161583"/>
            <a:chOff x="1992327" y="3559447"/>
            <a:chExt cx="971741" cy="283170"/>
          </a:xfrm>
        </p:grpSpPr>
        <p:sp>
          <p:nvSpPr>
            <p:cNvPr id="108" name="TextBox 107">
              <a:hlinkClick r:id="rId5" action="ppaction://hlinksldjump"/>
              <a:extLst>
                <a:ext uri="{FF2B5EF4-FFF2-40B4-BE49-F238E27FC236}">
                  <a16:creationId xmlns:a16="http://schemas.microsoft.com/office/drawing/2014/main" id="{1267D7BF-B962-FD94-AE9D-E1FD3717AEE6}"/>
                </a:ext>
              </a:extLst>
            </p:cNvPr>
            <p:cNvSpPr txBox="1"/>
            <p:nvPr/>
          </p:nvSpPr>
          <p:spPr>
            <a:xfrm>
              <a:off x="1992327" y="3559447"/>
              <a:ext cx="971741" cy="283170"/>
            </a:xfrm>
            <a:prstGeom prst="rect">
              <a:avLst/>
            </a:prstGeom>
            <a:noFill/>
            <a:ln>
              <a:solidFill>
                <a:schemeClr val="accent1"/>
              </a:solidFill>
            </a:ln>
          </p:spPr>
          <p:txBody>
            <a:bodyPr wrap="none" tIns="0" bIns="0" rtlCol="0">
              <a:spAutoFit/>
            </a:bodyPr>
            <a:lstStyle/>
            <a:p>
              <a:r>
                <a:rPr lang="en-US" sz="1050" dirty="0" err="1"/>
                <a:t>OpCode_MAG</a:t>
              </a:r>
              <a:endParaRPr lang="en-US" sz="1050" dirty="0"/>
            </a:p>
          </p:txBody>
        </p:sp>
        <p:cxnSp>
          <p:nvCxnSpPr>
            <p:cNvPr id="109" name="Straight Connector 108">
              <a:extLst>
                <a:ext uri="{FF2B5EF4-FFF2-40B4-BE49-F238E27FC236}">
                  <a16:creationId xmlns:a16="http://schemas.microsoft.com/office/drawing/2014/main" id="{CF768B05-2100-117D-3BE2-6B16A78543FC}"/>
                </a:ext>
              </a:extLst>
            </p:cNvPr>
            <p:cNvCxnSpPr>
              <a:cxnSpLocks/>
            </p:cNvCxnSpPr>
            <p:nvPr/>
          </p:nvCxnSpPr>
          <p:spPr>
            <a:xfrm>
              <a:off x="2080151" y="3607040"/>
              <a:ext cx="7315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0" name="Group 109">
            <a:extLst>
              <a:ext uri="{FF2B5EF4-FFF2-40B4-BE49-F238E27FC236}">
                <a16:creationId xmlns:a16="http://schemas.microsoft.com/office/drawing/2014/main" id="{3EDCA1E8-433C-5870-B233-6A358F65A285}"/>
              </a:ext>
            </a:extLst>
          </p:cNvPr>
          <p:cNvGrpSpPr/>
          <p:nvPr/>
        </p:nvGrpSpPr>
        <p:grpSpPr>
          <a:xfrm>
            <a:off x="1014023" y="1564045"/>
            <a:ext cx="835485" cy="161583"/>
            <a:chOff x="1992327" y="3559447"/>
            <a:chExt cx="835485" cy="283170"/>
          </a:xfrm>
        </p:grpSpPr>
        <p:sp>
          <p:nvSpPr>
            <p:cNvPr id="111" name="TextBox 110">
              <a:hlinkClick r:id="rId5" action="ppaction://hlinksldjump"/>
              <a:extLst>
                <a:ext uri="{FF2B5EF4-FFF2-40B4-BE49-F238E27FC236}">
                  <a16:creationId xmlns:a16="http://schemas.microsoft.com/office/drawing/2014/main" id="{F1701D29-0CCE-23CA-814F-4DB2968892B7}"/>
                </a:ext>
              </a:extLst>
            </p:cNvPr>
            <p:cNvSpPr txBox="1"/>
            <p:nvPr/>
          </p:nvSpPr>
          <p:spPr>
            <a:xfrm>
              <a:off x="1992327" y="3559447"/>
              <a:ext cx="835485" cy="283170"/>
            </a:xfrm>
            <a:prstGeom prst="rect">
              <a:avLst/>
            </a:prstGeom>
            <a:noFill/>
            <a:ln>
              <a:solidFill>
                <a:schemeClr val="accent1"/>
              </a:solidFill>
            </a:ln>
          </p:spPr>
          <p:txBody>
            <a:bodyPr wrap="none" tIns="0" bIns="0" rtlCol="0">
              <a:spAutoFit/>
            </a:bodyPr>
            <a:lstStyle/>
            <a:p>
              <a:r>
                <a:rPr lang="en-US" sz="1050" dirty="0"/>
                <a:t>OpCode_1B</a:t>
              </a:r>
            </a:p>
          </p:txBody>
        </p:sp>
        <p:cxnSp>
          <p:nvCxnSpPr>
            <p:cNvPr id="112" name="Straight Connector 111">
              <a:extLst>
                <a:ext uri="{FF2B5EF4-FFF2-40B4-BE49-F238E27FC236}">
                  <a16:creationId xmlns:a16="http://schemas.microsoft.com/office/drawing/2014/main" id="{75E853CF-A042-1B4A-638E-6FC3B5C2CC7F}"/>
                </a:ext>
              </a:extLst>
            </p:cNvPr>
            <p:cNvCxnSpPr>
              <a:cxnSpLocks/>
            </p:cNvCxnSpPr>
            <p:nvPr/>
          </p:nvCxnSpPr>
          <p:spPr>
            <a:xfrm>
              <a:off x="2080151" y="3607040"/>
              <a:ext cx="7315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3" name="Group 112">
            <a:extLst>
              <a:ext uri="{FF2B5EF4-FFF2-40B4-BE49-F238E27FC236}">
                <a16:creationId xmlns:a16="http://schemas.microsoft.com/office/drawing/2014/main" id="{0E9B7DAF-7B1A-FD31-8C96-09467A78E6D3}"/>
              </a:ext>
            </a:extLst>
          </p:cNvPr>
          <p:cNvGrpSpPr/>
          <p:nvPr/>
        </p:nvGrpSpPr>
        <p:grpSpPr>
          <a:xfrm>
            <a:off x="1166423" y="1745665"/>
            <a:ext cx="833883" cy="161583"/>
            <a:chOff x="1992327" y="3559447"/>
            <a:chExt cx="833883" cy="283170"/>
          </a:xfrm>
        </p:grpSpPr>
        <p:sp>
          <p:nvSpPr>
            <p:cNvPr id="114" name="TextBox 113">
              <a:hlinkClick r:id="rId5" action="ppaction://hlinksldjump"/>
              <a:extLst>
                <a:ext uri="{FF2B5EF4-FFF2-40B4-BE49-F238E27FC236}">
                  <a16:creationId xmlns:a16="http://schemas.microsoft.com/office/drawing/2014/main" id="{E08F9BA8-8634-5785-BB43-A97FD7714F7A}"/>
                </a:ext>
              </a:extLst>
            </p:cNvPr>
            <p:cNvSpPr txBox="1"/>
            <p:nvPr/>
          </p:nvSpPr>
          <p:spPr>
            <a:xfrm>
              <a:off x="1992327" y="3559447"/>
              <a:ext cx="833883" cy="283170"/>
            </a:xfrm>
            <a:prstGeom prst="rect">
              <a:avLst/>
            </a:prstGeom>
            <a:noFill/>
            <a:ln>
              <a:solidFill>
                <a:schemeClr val="accent1"/>
              </a:solidFill>
            </a:ln>
          </p:spPr>
          <p:txBody>
            <a:bodyPr wrap="none" tIns="0" bIns="0" rtlCol="0">
              <a:spAutoFit/>
            </a:bodyPr>
            <a:lstStyle/>
            <a:p>
              <a:r>
                <a:rPr lang="en-US" sz="1050" dirty="0"/>
                <a:t>OpCode_1C</a:t>
              </a:r>
            </a:p>
          </p:txBody>
        </p:sp>
        <p:cxnSp>
          <p:nvCxnSpPr>
            <p:cNvPr id="115" name="Straight Connector 114">
              <a:extLst>
                <a:ext uri="{FF2B5EF4-FFF2-40B4-BE49-F238E27FC236}">
                  <a16:creationId xmlns:a16="http://schemas.microsoft.com/office/drawing/2014/main" id="{1FCFCF94-2F63-DA46-F1F1-96E374CB7FF9}"/>
                </a:ext>
              </a:extLst>
            </p:cNvPr>
            <p:cNvCxnSpPr>
              <a:cxnSpLocks/>
            </p:cNvCxnSpPr>
            <p:nvPr/>
          </p:nvCxnSpPr>
          <p:spPr>
            <a:xfrm>
              <a:off x="2080151" y="3607040"/>
              <a:ext cx="7315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6" name="Group 115">
            <a:extLst>
              <a:ext uri="{FF2B5EF4-FFF2-40B4-BE49-F238E27FC236}">
                <a16:creationId xmlns:a16="http://schemas.microsoft.com/office/drawing/2014/main" id="{8C552068-8412-91E3-21C4-0E9B5B565EB2}"/>
              </a:ext>
            </a:extLst>
          </p:cNvPr>
          <p:cNvGrpSpPr/>
          <p:nvPr/>
        </p:nvGrpSpPr>
        <p:grpSpPr>
          <a:xfrm>
            <a:off x="1318823" y="1927285"/>
            <a:ext cx="845103" cy="161583"/>
            <a:chOff x="1992327" y="3559447"/>
            <a:chExt cx="845103" cy="283170"/>
          </a:xfrm>
        </p:grpSpPr>
        <p:sp>
          <p:nvSpPr>
            <p:cNvPr id="117" name="TextBox 116">
              <a:hlinkClick r:id="rId5" action="ppaction://hlinksldjump"/>
              <a:extLst>
                <a:ext uri="{FF2B5EF4-FFF2-40B4-BE49-F238E27FC236}">
                  <a16:creationId xmlns:a16="http://schemas.microsoft.com/office/drawing/2014/main" id="{C8DBE9DF-F8C5-C957-6636-40CE739F5EF8}"/>
                </a:ext>
              </a:extLst>
            </p:cNvPr>
            <p:cNvSpPr txBox="1"/>
            <p:nvPr/>
          </p:nvSpPr>
          <p:spPr>
            <a:xfrm>
              <a:off x="1992327" y="3559447"/>
              <a:ext cx="845103" cy="283170"/>
            </a:xfrm>
            <a:prstGeom prst="rect">
              <a:avLst/>
            </a:prstGeom>
            <a:noFill/>
            <a:ln>
              <a:solidFill>
                <a:schemeClr val="accent1"/>
              </a:solidFill>
            </a:ln>
          </p:spPr>
          <p:txBody>
            <a:bodyPr wrap="none" tIns="0" bIns="0" rtlCol="0">
              <a:spAutoFit/>
            </a:bodyPr>
            <a:lstStyle/>
            <a:p>
              <a:r>
                <a:rPr lang="en-US" sz="1050" dirty="0"/>
                <a:t>OpCode_1D</a:t>
              </a:r>
            </a:p>
          </p:txBody>
        </p:sp>
        <p:cxnSp>
          <p:nvCxnSpPr>
            <p:cNvPr id="118" name="Straight Connector 117">
              <a:extLst>
                <a:ext uri="{FF2B5EF4-FFF2-40B4-BE49-F238E27FC236}">
                  <a16:creationId xmlns:a16="http://schemas.microsoft.com/office/drawing/2014/main" id="{379ECE65-2FFF-5BAF-C5FE-542F219D594A}"/>
                </a:ext>
              </a:extLst>
            </p:cNvPr>
            <p:cNvCxnSpPr>
              <a:cxnSpLocks/>
            </p:cNvCxnSpPr>
            <p:nvPr/>
          </p:nvCxnSpPr>
          <p:spPr>
            <a:xfrm>
              <a:off x="2080151" y="3607040"/>
              <a:ext cx="7315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9" name="Group 118">
            <a:extLst>
              <a:ext uri="{FF2B5EF4-FFF2-40B4-BE49-F238E27FC236}">
                <a16:creationId xmlns:a16="http://schemas.microsoft.com/office/drawing/2014/main" id="{55329A26-4AEA-6618-7155-72BA354CE11B}"/>
              </a:ext>
            </a:extLst>
          </p:cNvPr>
          <p:cNvGrpSpPr/>
          <p:nvPr/>
        </p:nvGrpSpPr>
        <p:grpSpPr>
          <a:xfrm>
            <a:off x="1471223" y="2108905"/>
            <a:ext cx="827471" cy="161583"/>
            <a:chOff x="1992327" y="3559447"/>
            <a:chExt cx="827471" cy="283170"/>
          </a:xfrm>
        </p:grpSpPr>
        <p:sp>
          <p:nvSpPr>
            <p:cNvPr id="120" name="TextBox 119">
              <a:hlinkClick r:id="rId5" action="ppaction://hlinksldjump"/>
              <a:extLst>
                <a:ext uri="{FF2B5EF4-FFF2-40B4-BE49-F238E27FC236}">
                  <a16:creationId xmlns:a16="http://schemas.microsoft.com/office/drawing/2014/main" id="{989B634F-8875-5FD6-5FC7-8EE3F202B202}"/>
                </a:ext>
              </a:extLst>
            </p:cNvPr>
            <p:cNvSpPr txBox="1"/>
            <p:nvPr/>
          </p:nvSpPr>
          <p:spPr>
            <a:xfrm>
              <a:off x="1992327" y="3559447"/>
              <a:ext cx="827471" cy="283170"/>
            </a:xfrm>
            <a:prstGeom prst="rect">
              <a:avLst/>
            </a:prstGeom>
            <a:noFill/>
            <a:ln>
              <a:solidFill>
                <a:schemeClr val="accent1"/>
              </a:solidFill>
            </a:ln>
          </p:spPr>
          <p:txBody>
            <a:bodyPr wrap="none" tIns="0" bIns="0" rtlCol="0">
              <a:spAutoFit/>
            </a:bodyPr>
            <a:lstStyle/>
            <a:p>
              <a:r>
                <a:rPr lang="en-US" sz="1050" dirty="0"/>
                <a:t>OpCode_1E</a:t>
              </a:r>
            </a:p>
          </p:txBody>
        </p:sp>
        <p:cxnSp>
          <p:nvCxnSpPr>
            <p:cNvPr id="121" name="Straight Connector 120">
              <a:extLst>
                <a:ext uri="{FF2B5EF4-FFF2-40B4-BE49-F238E27FC236}">
                  <a16:creationId xmlns:a16="http://schemas.microsoft.com/office/drawing/2014/main" id="{F2B7DBD1-D406-6A7D-E5B6-8D977FAC02F1}"/>
                </a:ext>
              </a:extLst>
            </p:cNvPr>
            <p:cNvCxnSpPr>
              <a:cxnSpLocks/>
            </p:cNvCxnSpPr>
            <p:nvPr/>
          </p:nvCxnSpPr>
          <p:spPr>
            <a:xfrm>
              <a:off x="2080151" y="3607040"/>
              <a:ext cx="7315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2" name="Group 121">
            <a:extLst>
              <a:ext uri="{FF2B5EF4-FFF2-40B4-BE49-F238E27FC236}">
                <a16:creationId xmlns:a16="http://schemas.microsoft.com/office/drawing/2014/main" id="{B2C4BDB1-A36A-F902-33FF-3BE2AD1E2589}"/>
              </a:ext>
            </a:extLst>
          </p:cNvPr>
          <p:cNvGrpSpPr/>
          <p:nvPr/>
        </p:nvGrpSpPr>
        <p:grpSpPr>
          <a:xfrm>
            <a:off x="1623623" y="2290522"/>
            <a:ext cx="824265" cy="161583"/>
            <a:chOff x="1992327" y="3559447"/>
            <a:chExt cx="824265" cy="283170"/>
          </a:xfrm>
        </p:grpSpPr>
        <p:sp>
          <p:nvSpPr>
            <p:cNvPr id="123" name="TextBox 122">
              <a:hlinkClick r:id="rId5" action="ppaction://hlinksldjump"/>
              <a:extLst>
                <a:ext uri="{FF2B5EF4-FFF2-40B4-BE49-F238E27FC236}">
                  <a16:creationId xmlns:a16="http://schemas.microsoft.com/office/drawing/2014/main" id="{889591CF-D09F-DDF4-570E-A7634E9A2880}"/>
                </a:ext>
              </a:extLst>
            </p:cNvPr>
            <p:cNvSpPr txBox="1"/>
            <p:nvPr/>
          </p:nvSpPr>
          <p:spPr>
            <a:xfrm>
              <a:off x="1992327" y="3559447"/>
              <a:ext cx="824265" cy="283170"/>
            </a:xfrm>
            <a:prstGeom prst="rect">
              <a:avLst/>
            </a:prstGeom>
            <a:noFill/>
            <a:ln>
              <a:solidFill>
                <a:schemeClr val="accent1"/>
              </a:solidFill>
            </a:ln>
          </p:spPr>
          <p:txBody>
            <a:bodyPr wrap="none" tIns="0" bIns="0" rtlCol="0">
              <a:spAutoFit/>
            </a:bodyPr>
            <a:lstStyle/>
            <a:p>
              <a:r>
                <a:rPr lang="en-US" sz="1050" dirty="0"/>
                <a:t>OpCode_1F</a:t>
              </a:r>
            </a:p>
          </p:txBody>
        </p:sp>
        <p:cxnSp>
          <p:nvCxnSpPr>
            <p:cNvPr id="124" name="Straight Connector 123">
              <a:extLst>
                <a:ext uri="{FF2B5EF4-FFF2-40B4-BE49-F238E27FC236}">
                  <a16:creationId xmlns:a16="http://schemas.microsoft.com/office/drawing/2014/main" id="{7EA0E2DC-D6A5-0579-522C-FEC0932A63D6}"/>
                </a:ext>
              </a:extLst>
            </p:cNvPr>
            <p:cNvCxnSpPr>
              <a:cxnSpLocks/>
            </p:cNvCxnSpPr>
            <p:nvPr/>
          </p:nvCxnSpPr>
          <p:spPr>
            <a:xfrm>
              <a:off x="2080151" y="3607040"/>
              <a:ext cx="7315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7" name="Connector: Elbow 126">
            <a:extLst>
              <a:ext uri="{FF2B5EF4-FFF2-40B4-BE49-F238E27FC236}">
                <a16:creationId xmlns:a16="http://schemas.microsoft.com/office/drawing/2014/main" id="{A3828AEE-265B-F1B0-99BE-D20A397BEBF5}"/>
              </a:ext>
            </a:extLst>
          </p:cNvPr>
          <p:cNvCxnSpPr>
            <a:stCxn id="99" idx="1"/>
          </p:cNvCxnSpPr>
          <p:nvPr/>
        </p:nvCxnSpPr>
        <p:spPr>
          <a:xfrm rot="10800000" flipV="1">
            <a:off x="351329" y="1099977"/>
            <a:ext cx="205494" cy="1554466"/>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28" name="Connector: Elbow 127">
            <a:extLst>
              <a:ext uri="{FF2B5EF4-FFF2-40B4-BE49-F238E27FC236}">
                <a16:creationId xmlns:a16="http://schemas.microsoft.com/office/drawing/2014/main" id="{E7A7BBB2-814D-0208-003B-BF0D6D9659B7}"/>
              </a:ext>
            </a:extLst>
          </p:cNvPr>
          <p:cNvCxnSpPr>
            <a:cxnSpLocks/>
            <a:stCxn id="105" idx="1"/>
          </p:cNvCxnSpPr>
          <p:nvPr/>
        </p:nvCxnSpPr>
        <p:spPr>
          <a:xfrm rot="10800000" flipV="1">
            <a:off x="515761" y="1281597"/>
            <a:ext cx="193462" cy="1386880"/>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30" name="Connector: Elbow 129">
            <a:extLst>
              <a:ext uri="{FF2B5EF4-FFF2-40B4-BE49-F238E27FC236}">
                <a16:creationId xmlns:a16="http://schemas.microsoft.com/office/drawing/2014/main" id="{E132ED23-65DF-56BD-5AEA-6475873C8376}"/>
              </a:ext>
            </a:extLst>
          </p:cNvPr>
          <p:cNvCxnSpPr>
            <a:cxnSpLocks/>
            <a:stCxn id="108" idx="1"/>
          </p:cNvCxnSpPr>
          <p:nvPr/>
        </p:nvCxnSpPr>
        <p:spPr>
          <a:xfrm rot="10800000" flipV="1">
            <a:off x="672185" y="1463217"/>
            <a:ext cx="189439" cy="1199244"/>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32" name="Connector: Elbow 131">
            <a:extLst>
              <a:ext uri="{FF2B5EF4-FFF2-40B4-BE49-F238E27FC236}">
                <a16:creationId xmlns:a16="http://schemas.microsoft.com/office/drawing/2014/main" id="{7E82D69C-8BCC-9C78-9700-5E8B3090C232}"/>
              </a:ext>
            </a:extLst>
          </p:cNvPr>
          <p:cNvCxnSpPr>
            <a:cxnSpLocks/>
            <a:stCxn id="111" idx="1"/>
          </p:cNvCxnSpPr>
          <p:nvPr/>
        </p:nvCxnSpPr>
        <p:spPr>
          <a:xfrm rot="10800000" flipV="1">
            <a:off x="830599" y="1644837"/>
            <a:ext cx="183425" cy="1019628"/>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36" name="Connector: Elbow 135">
            <a:extLst>
              <a:ext uri="{FF2B5EF4-FFF2-40B4-BE49-F238E27FC236}">
                <a16:creationId xmlns:a16="http://schemas.microsoft.com/office/drawing/2014/main" id="{102DA0D4-76C0-9DCD-C965-57EE1D65F63F}"/>
              </a:ext>
            </a:extLst>
          </p:cNvPr>
          <p:cNvCxnSpPr>
            <a:cxnSpLocks/>
            <a:stCxn id="114" idx="1"/>
          </p:cNvCxnSpPr>
          <p:nvPr/>
        </p:nvCxnSpPr>
        <p:spPr>
          <a:xfrm rot="10800000" flipV="1">
            <a:off x="1001051" y="1826457"/>
            <a:ext cx="165373" cy="846030"/>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38" name="Connector: Elbow 137">
            <a:extLst>
              <a:ext uri="{FF2B5EF4-FFF2-40B4-BE49-F238E27FC236}">
                <a16:creationId xmlns:a16="http://schemas.microsoft.com/office/drawing/2014/main" id="{B0B3F4EC-DD2A-C854-5839-3E3A8CCFBCDB}"/>
              </a:ext>
            </a:extLst>
          </p:cNvPr>
          <p:cNvCxnSpPr>
            <a:cxnSpLocks/>
            <a:stCxn id="117" idx="1"/>
          </p:cNvCxnSpPr>
          <p:nvPr/>
        </p:nvCxnSpPr>
        <p:spPr>
          <a:xfrm rot="10800000" flipV="1">
            <a:off x="1153455" y="2008077"/>
            <a:ext cx="165369" cy="642350"/>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40" name="Connector: Elbow 139">
            <a:extLst>
              <a:ext uri="{FF2B5EF4-FFF2-40B4-BE49-F238E27FC236}">
                <a16:creationId xmlns:a16="http://schemas.microsoft.com/office/drawing/2014/main" id="{66333EF6-5AA8-C614-2776-9BF87C4DD80C}"/>
              </a:ext>
            </a:extLst>
          </p:cNvPr>
          <p:cNvCxnSpPr>
            <a:cxnSpLocks/>
            <a:stCxn id="120" idx="1"/>
          </p:cNvCxnSpPr>
          <p:nvPr/>
        </p:nvCxnSpPr>
        <p:spPr>
          <a:xfrm rot="10800000" flipV="1">
            <a:off x="1317889" y="2189697"/>
            <a:ext cx="153334" cy="486796"/>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43" name="Connector: Elbow 142">
            <a:extLst>
              <a:ext uri="{FF2B5EF4-FFF2-40B4-BE49-F238E27FC236}">
                <a16:creationId xmlns:a16="http://schemas.microsoft.com/office/drawing/2014/main" id="{08F6377C-6EDA-DDE7-3359-72FAD0AE0E7E}"/>
              </a:ext>
            </a:extLst>
          </p:cNvPr>
          <p:cNvCxnSpPr>
            <a:cxnSpLocks/>
            <a:stCxn id="123" idx="1"/>
          </p:cNvCxnSpPr>
          <p:nvPr/>
        </p:nvCxnSpPr>
        <p:spPr>
          <a:xfrm rot="10800000" flipV="1">
            <a:off x="1482321" y="2371313"/>
            <a:ext cx="141302" cy="319217"/>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145" name="TextBox 144">
            <a:hlinkClick r:id="rId14" action="ppaction://hlinksldjump"/>
            <a:extLst>
              <a:ext uri="{FF2B5EF4-FFF2-40B4-BE49-F238E27FC236}">
                <a16:creationId xmlns:a16="http://schemas.microsoft.com/office/drawing/2014/main" id="{9B5F8B9C-726A-6AB1-06E8-A4C5F44494AE}"/>
              </a:ext>
            </a:extLst>
          </p:cNvPr>
          <p:cNvSpPr txBox="1"/>
          <p:nvPr/>
        </p:nvSpPr>
        <p:spPr>
          <a:xfrm>
            <a:off x="1368176" y="961598"/>
            <a:ext cx="495649" cy="246221"/>
          </a:xfrm>
          <a:prstGeom prst="rect">
            <a:avLst/>
          </a:prstGeom>
          <a:noFill/>
        </p:spPr>
        <p:txBody>
          <a:bodyPr wrap="none" rtlCol="0">
            <a:spAutoFit/>
          </a:bodyPr>
          <a:lstStyle/>
          <a:p>
            <a:r>
              <a:rPr lang="en-US" sz="1000" dirty="0"/>
              <a:t>MAAL</a:t>
            </a:r>
          </a:p>
        </p:txBody>
      </p:sp>
      <p:sp>
        <p:nvSpPr>
          <p:cNvPr id="146" name="TextBox 145">
            <a:hlinkClick r:id="rId15" action="ppaction://hlinksldjump"/>
            <a:extLst>
              <a:ext uri="{FF2B5EF4-FFF2-40B4-BE49-F238E27FC236}">
                <a16:creationId xmlns:a16="http://schemas.microsoft.com/office/drawing/2014/main" id="{4538B22B-158B-42E6-F5DB-2DD3CBC20A36}"/>
              </a:ext>
            </a:extLst>
          </p:cNvPr>
          <p:cNvSpPr txBox="1"/>
          <p:nvPr/>
        </p:nvSpPr>
        <p:spPr>
          <a:xfrm>
            <a:off x="1520576" y="1162126"/>
            <a:ext cx="521297" cy="246221"/>
          </a:xfrm>
          <a:prstGeom prst="rect">
            <a:avLst/>
          </a:prstGeom>
          <a:noFill/>
        </p:spPr>
        <p:txBody>
          <a:bodyPr wrap="none" rtlCol="0">
            <a:spAutoFit/>
          </a:bodyPr>
          <a:lstStyle/>
          <a:p>
            <a:r>
              <a:rPr lang="en-US" sz="1000" dirty="0"/>
              <a:t>MAAH</a:t>
            </a:r>
          </a:p>
        </p:txBody>
      </p:sp>
      <p:sp>
        <p:nvSpPr>
          <p:cNvPr id="147" name="TextBox 146">
            <a:hlinkClick r:id="rId16" action="ppaction://hlinksldjump"/>
            <a:extLst>
              <a:ext uri="{FF2B5EF4-FFF2-40B4-BE49-F238E27FC236}">
                <a16:creationId xmlns:a16="http://schemas.microsoft.com/office/drawing/2014/main" id="{C3EF2A60-6A4C-C119-00A8-678197310B9D}"/>
              </a:ext>
            </a:extLst>
          </p:cNvPr>
          <p:cNvSpPr txBox="1"/>
          <p:nvPr/>
        </p:nvSpPr>
        <p:spPr>
          <a:xfrm>
            <a:off x="1781103" y="1338783"/>
            <a:ext cx="324128" cy="246221"/>
          </a:xfrm>
          <a:prstGeom prst="rect">
            <a:avLst/>
          </a:prstGeom>
          <a:noFill/>
        </p:spPr>
        <p:txBody>
          <a:bodyPr wrap="none" rtlCol="0">
            <a:spAutoFit/>
          </a:bodyPr>
          <a:lstStyle/>
          <a:p>
            <a:r>
              <a:rPr lang="en-US" sz="1000" dirty="0"/>
              <a:t>1A</a:t>
            </a:r>
          </a:p>
        </p:txBody>
      </p:sp>
      <p:sp>
        <p:nvSpPr>
          <p:cNvPr id="148" name="TextBox 147">
            <a:hlinkClick r:id="rId17" action="ppaction://hlinksldjump"/>
            <a:extLst>
              <a:ext uri="{FF2B5EF4-FFF2-40B4-BE49-F238E27FC236}">
                <a16:creationId xmlns:a16="http://schemas.microsoft.com/office/drawing/2014/main" id="{D6B11A41-6C0F-2785-D7DB-540CA4260A3C}"/>
              </a:ext>
            </a:extLst>
          </p:cNvPr>
          <p:cNvSpPr txBox="1"/>
          <p:nvPr/>
        </p:nvSpPr>
        <p:spPr>
          <a:xfrm>
            <a:off x="1807170" y="1521263"/>
            <a:ext cx="391454" cy="246221"/>
          </a:xfrm>
          <a:prstGeom prst="rect">
            <a:avLst/>
          </a:prstGeom>
          <a:noFill/>
        </p:spPr>
        <p:txBody>
          <a:bodyPr wrap="none" rtlCol="0">
            <a:spAutoFit/>
          </a:bodyPr>
          <a:lstStyle/>
          <a:p>
            <a:r>
              <a:rPr lang="en-US" sz="1000" dirty="0"/>
              <a:t>LDA</a:t>
            </a:r>
          </a:p>
        </p:txBody>
      </p:sp>
      <p:sp>
        <p:nvSpPr>
          <p:cNvPr id="149" name="TextBox 148">
            <a:hlinkClick r:id="rId18" action="ppaction://hlinksldjump"/>
            <a:extLst>
              <a:ext uri="{FF2B5EF4-FFF2-40B4-BE49-F238E27FC236}">
                <a16:creationId xmlns:a16="http://schemas.microsoft.com/office/drawing/2014/main" id="{1E0E6D9F-7D3A-F084-EF46-E45BAD01AA94}"/>
              </a:ext>
            </a:extLst>
          </p:cNvPr>
          <p:cNvSpPr txBox="1"/>
          <p:nvPr/>
        </p:nvSpPr>
        <p:spPr>
          <a:xfrm>
            <a:off x="1959570" y="1703743"/>
            <a:ext cx="447558" cy="246221"/>
          </a:xfrm>
          <a:prstGeom prst="rect">
            <a:avLst/>
          </a:prstGeom>
          <a:noFill/>
        </p:spPr>
        <p:txBody>
          <a:bodyPr wrap="none" rtlCol="0">
            <a:spAutoFit/>
          </a:bodyPr>
          <a:lstStyle/>
          <a:p>
            <a:r>
              <a:rPr lang="en-US" sz="1000" dirty="0"/>
              <a:t>MGA</a:t>
            </a:r>
          </a:p>
        </p:txBody>
      </p:sp>
      <p:sp>
        <p:nvSpPr>
          <p:cNvPr id="150" name="TextBox 149">
            <a:hlinkClick r:id="rId18" action="ppaction://hlinksldjump"/>
            <a:extLst>
              <a:ext uri="{FF2B5EF4-FFF2-40B4-BE49-F238E27FC236}">
                <a16:creationId xmlns:a16="http://schemas.microsoft.com/office/drawing/2014/main" id="{DF751EA0-8ABB-5505-86C4-5B75AB451C1F}"/>
              </a:ext>
            </a:extLst>
          </p:cNvPr>
          <p:cNvSpPr txBox="1"/>
          <p:nvPr/>
        </p:nvSpPr>
        <p:spPr>
          <a:xfrm>
            <a:off x="2111970" y="1874191"/>
            <a:ext cx="582211" cy="246221"/>
          </a:xfrm>
          <a:prstGeom prst="rect">
            <a:avLst/>
          </a:prstGeom>
          <a:noFill/>
        </p:spPr>
        <p:txBody>
          <a:bodyPr wrap="none" rtlCol="0">
            <a:spAutoFit/>
          </a:bodyPr>
          <a:lstStyle/>
          <a:p>
            <a:r>
              <a:rPr lang="en-US" sz="1000" dirty="0"/>
              <a:t>Unused</a:t>
            </a:r>
          </a:p>
        </p:txBody>
      </p:sp>
      <p:sp>
        <p:nvSpPr>
          <p:cNvPr id="151" name="TextBox 150">
            <a:hlinkClick r:id="rId18" action="ppaction://hlinksldjump"/>
            <a:extLst>
              <a:ext uri="{FF2B5EF4-FFF2-40B4-BE49-F238E27FC236}">
                <a16:creationId xmlns:a16="http://schemas.microsoft.com/office/drawing/2014/main" id="{39C9A7AD-D9E5-D0EB-DECF-073152418362}"/>
              </a:ext>
            </a:extLst>
          </p:cNvPr>
          <p:cNvSpPr txBox="1"/>
          <p:nvPr/>
        </p:nvSpPr>
        <p:spPr>
          <a:xfrm>
            <a:off x="2252338" y="2068703"/>
            <a:ext cx="582211" cy="246221"/>
          </a:xfrm>
          <a:prstGeom prst="rect">
            <a:avLst/>
          </a:prstGeom>
          <a:noFill/>
        </p:spPr>
        <p:txBody>
          <a:bodyPr wrap="none" rtlCol="0">
            <a:spAutoFit/>
          </a:bodyPr>
          <a:lstStyle/>
          <a:p>
            <a:r>
              <a:rPr lang="en-US" sz="1000" dirty="0"/>
              <a:t>Unused</a:t>
            </a:r>
          </a:p>
        </p:txBody>
      </p:sp>
      <p:sp>
        <p:nvSpPr>
          <p:cNvPr id="152" name="TextBox 151">
            <a:hlinkClick r:id="rId18" action="ppaction://hlinksldjump"/>
            <a:extLst>
              <a:ext uri="{FF2B5EF4-FFF2-40B4-BE49-F238E27FC236}">
                <a16:creationId xmlns:a16="http://schemas.microsoft.com/office/drawing/2014/main" id="{113294D3-FDE6-7E8B-44F7-9400A88BCF6D}"/>
              </a:ext>
            </a:extLst>
          </p:cNvPr>
          <p:cNvSpPr txBox="1"/>
          <p:nvPr/>
        </p:nvSpPr>
        <p:spPr>
          <a:xfrm>
            <a:off x="2392706" y="2245167"/>
            <a:ext cx="582211" cy="246221"/>
          </a:xfrm>
          <a:prstGeom prst="rect">
            <a:avLst/>
          </a:prstGeom>
          <a:noFill/>
        </p:spPr>
        <p:txBody>
          <a:bodyPr wrap="none" rtlCol="0">
            <a:spAutoFit/>
          </a:bodyPr>
          <a:lstStyle/>
          <a:p>
            <a:r>
              <a:rPr lang="en-US" sz="1000" dirty="0"/>
              <a:t>Unused</a:t>
            </a:r>
          </a:p>
        </p:txBody>
      </p:sp>
      <p:grpSp>
        <p:nvGrpSpPr>
          <p:cNvPr id="91" name="Group 90">
            <a:extLst>
              <a:ext uri="{FF2B5EF4-FFF2-40B4-BE49-F238E27FC236}">
                <a16:creationId xmlns:a16="http://schemas.microsoft.com/office/drawing/2014/main" id="{E778AD35-2E34-C18C-47A8-D362CCFB243E}"/>
              </a:ext>
            </a:extLst>
          </p:cNvPr>
          <p:cNvGrpSpPr/>
          <p:nvPr/>
        </p:nvGrpSpPr>
        <p:grpSpPr>
          <a:xfrm>
            <a:off x="3540906" y="1554814"/>
            <a:ext cx="859531" cy="169277"/>
            <a:chOff x="1992327" y="3559447"/>
            <a:chExt cx="859531" cy="256394"/>
          </a:xfrm>
        </p:grpSpPr>
        <p:sp>
          <p:nvSpPr>
            <p:cNvPr id="94" name="TextBox 93">
              <a:hlinkClick r:id="rId6" action="ppaction://hlinksldjump"/>
              <a:extLst>
                <a:ext uri="{FF2B5EF4-FFF2-40B4-BE49-F238E27FC236}">
                  <a16:creationId xmlns:a16="http://schemas.microsoft.com/office/drawing/2014/main" id="{E90AFE00-3DDA-67E5-5E8E-9810BBC1A851}"/>
                </a:ext>
              </a:extLst>
            </p:cNvPr>
            <p:cNvSpPr txBox="1"/>
            <p:nvPr/>
          </p:nvSpPr>
          <p:spPr>
            <a:xfrm>
              <a:off x="1992327" y="3559447"/>
              <a:ext cx="859531" cy="256394"/>
            </a:xfrm>
            <a:prstGeom prst="rect">
              <a:avLst/>
            </a:prstGeom>
            <a:noFill/>
            <a:ln>
              <a:solidFill>
                <a:schemeClr val="accent1"/>
              </a:solidFill>
            </a:ln>
          </p:spPr>
          <p:txBody>
            <a:bodyPr wrap="none" tIns="0" bIns="0" rtlCol="0">
              <a:spAutoFit/>
            </a:bodyPr>
            <a:lstStyle/>
            <a:p>
              <a:r>
                <a:rPr lang="en-US" sz="1100" dirty="0"/>
                <a:t>OpCode_13</a:t>
              </a:r>
            </a:p>
          </p:txBody>
        </p:sp>
        <p:cxnSp>
          <p:nvCxnSpPr>
            <p:cNvPr id="96" name="Straight Connector 95">
              <a:extLst>
                <a:ext uri="{FF2B5EF4-FFF2-40B4-BE49-F238E27FC236}">
                  <a16:creationId xmlns:a16="http://schemas.microsoft.com/office/drawing/2014/main" id="{B76E67E8-5CAD-C918-FE1C-60E554106436}"/>
                </a:ext>
              </a:extLst>
            </p:cNvPr>
            <p:cNvCxnSpPr>
              <a:cxnSpLocks/>
            </p:cNvCxnSpPr>
            <p:nvPr/>
          </p:nvCxnSpPr>
          <p:spPr>
            <a:xfrm>
              <a:off x="2080151" y="3607040"/>
              <a:ext cx="7315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7" name="TextBox 96">
            <a:extLst>
              <a:ext uri="{FF2B5EF4-FFF2-40B4-BE49-F238E27FC236}">
                <a16:creationId xmlns:a16="http://schemas.microsoft.com/office/drawing/2014/main" id="{CE40A682-433D-5952-6101-27043AC8CCE3}"/>
              </a:ext>
            </a:extLst>
          </p:cNvPr>
          <p:cNvSpPr txBox="1"/>
          <p:nvPr/>
        </p:nvSpPr>
        <p:spPr>
          <a:xfrm>
            <a:off x="4330941" y="1503331"/>
            <a:ext cx="630011" cy="261610"/>
          </a:xfrm>
          <a:prstGeom prst="rect">
            <a:avLst/>
          </a:prstGeom>
          <a:noFill/>
        </p:spPr>
        <p:txBody>
          <a:bodyPr wrap="square" rtlCol="0">
            <a:spAutoFit/>
          </a:bodyPr>
          <a:lstStyle/>
          <a:p>
            <a:pPr algn="r"/>
            <a:r>
              <a:rPr lang="en-US" sz="1100" dirty="0"/>
              <a:t>TST </a:t>
            </a:r>
            <a:r>
              <a:rPr lang="en-US" sz="1100" dirty="0" err="1"/>
              <a:t>Im</a:t>
            </a:r>
            <a:endParaRPr lang="en-US" sz="1100" dirty="0"/>
          </a:p>
        </p:txBody>
      </p:sp>
    </p:spTree>
    <p:extLst>
      <p:ext uri="{BB962C8B-B14F-4D97-AF65-F5344CB8AC3E}">
        <p14:creationId xmlns:p14="http://schemas.microsoft.com/office/powerpoint/2010/main" val="982022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Oval 130">
            <a:extLst>
              <a:ext uri="{FF2B5EF4-FFF2-40B4-BE49-F238E27FC236}">
                <a16:creationId xmlns:a16="http://schemas.microsoft.com/office/drawing/2014/main" id="{9886224F-CAA2-4EBC-A58B-02FD24426156}"/>
              </a:ext>
            </a:extLst>
          </p:cNvPr>
          <p:cNvSpPr/>
          <p:nvPr/>
        </p:nvSpPr>
        <p:spPr>
          <a:xfrm>
            <a:off x="1380006" y="1859929"/>
            <a:ext cx="80156" cy="425017"/>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 name="Subtitle 2">
            <a:extLst>
              <a:ext uri="{FF2B5EF4-FFF2-40B4-BE49-F238E27FC236}">
                <a16:creationId xmlns:a16="http://schemas.microsoft.com/office/drawing/2014/main" id="{A2120283-D86F-4ABD-85B3-501710FBE72B}"/>
              </a:ext>
            </a:extLst>
          </p:cNvPr>
          <p:cNvSpPr txBox="1">
            <a:spLocks/>
          </p:cNvSpPr>
          <p:nvPr/>
        </p:nvSpPr>
        <p:spPr>
          <a:xfrm>
            <a:off x="1524000" y="276949"/>
            <a:ext cx="9144000" cy="425017"/>
          </a:xfrm>
          <a:prstGeom prst="rect">
            <a:avLst/>
          </a:prstGeom>
          <a:solidFill>
            <a:schemeClr val="accent6">
              <a:lumMod val="20000"/>
              <a:lumOff val="80000"/>
            </a:schemeClr>
          </a:solidFill>
        </p:spPr>
        <p:txBody>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atin typeface="+mj-lt"/>
              </a:rPr>
              <a:t>ALU Interface – Flags, A,B Registers, Op Code selection (v2.0)</a:t>
            </a:r>
          </a:p>
        </p:txBody>
      </p:sp>
      <p:sp>
        <p:nvSpPr>
          <p:cNvPr id="5" name="Rectangle 4">
            <a:extLst>
              <a:ext uri="{FF2B5EF4-FFF2-40B4-BE49-F238E27FC236}">
                <a16:creationId xmlns:a16="http://schemas.microsoft.com/office/drawing/2014/main" id="{438E741D-940C-49CF-A062-A3AD42708A8B}"/>
              </a:ext>
            </a:extLst>
          </p:cNvPr>
          <p:cNvSpPr/>
          <p:nvPr/>
        </p:nvSpPr>
        <p:spPr>
          <a:xfrm>
            <a:off x="9889158" y="1242646"/>
            <a:ext cx="1787028" cy="5438073"/>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t>ALU</a:t>
            </a:r>
          </a:p>
        </p:txBody>
      </p:sp>
      <p:sp>
        <p:nvSpPr>
          <p:cNvPr id="8" name="Arrow: Right 7">
            <a:extLst>
              <a:ext uri="{FF2B5EF4-FFF2-40B4-BE49-F238E27FC236}">
                <a16:creationId xmlns:a16="http://schemas.microsoft.com/office/drawing/2014/main" id="{28071295-7FBE-431D-A512-56AF088F8291}"/>
              </a:ext>
            </a:extLst>
          </p:cNvPr>
          <p:cNvSpPr/>
          <p:nvPr/>
        </p:nvSpPr>
        <p:spPr>
          <a:xfrm>
            <a:off x="6979137" y="3123316"/>
            <a:ext cx="2809347" cy="515816"/>
          </a:xfrm>
          <a:prstGeom prst="rightArrow">
            <a:avLst/>
          </a:prstGeom>
          <a:solidFill>
            <a:schemeClr val="bg2"/>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ALU OpCode</a:t>
            </a:r>
          </a:p>
        </p:txBody>
      </p:sp>
      <p:cxnSp>
        <p:nvCxnSpPr>
          <p:cNvPr id="10" name="Straight Arrow Connector 9">
            <a:extLst>
              <a:ext uri="{FF2B5EF4-FFF2-40B4-BE49-F238E27FC236}">
                <a16:creationId xmlns:a16="http://schemas.microsoft.com/office/drawing/2014/main" id="{10C437D5-7B7B-4D7C-B0C5-7791AA9C0D79}"/>
              </a:ext>
            </a:extLst>
          </p:cNvPr>
          <p:cNvCxnSpPr>
            <a:cxnSpLocks/>
            <a:stCxn id="93" idx="3"/>
          </p:cNvCxnSpPr>
          <p:nvPr/>
        </p:nvCxnSpPr>
        <p:spPr>
          <a:xfrm flipV="1">
            <a:off x="3371514" y="4103280"/>
            <a:ext cx="6479292" cy="5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Arrow: Right 12">
            <a:extLst>
              <a:ext uri="{FF2B5EF4-FFF2-40B4-BE49-F238E27FC236}">
                <a16:creationId xmlns:a16="http://schemas.microsoft.com/office/drawing/2014/main" id="{ACA768EA-8559-406C-9F9A-ACEC8CE3E13D}"/>
              </a:ext>
            </a:extLst>
          </p:cNvPr>
          <p:cNvSpPr/>
          <p:nvPr/>
        </p:nvSpPr>
        <p:spPr>
          <a:xfrm flipH="1">
            <a:off x="10439785" y="5628597"/>
            <a:ext cx="798179" cy="515816"/>
          </a:xfrm>
          <a:prstGeom prst="rightArrow">
            <a:avLst/>
          </a:prstGeom>
          <a:solidFill>
            <a:schemeClr val="bg2"/>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Flags</a:t>
            </a:r>
          </a:p>
        </p:txBody>
      </p:sp>
      <p:sp>
        <p:nvSpPr>
          <p:cNvPr id="15" name="TextBox 14">
            <a:extLst>
              <a:ext uri="{FF2B5EF4-FFF2-40B4-BE49-F238E27FC236}">
                <a16:creationId xmlns:a16="http://schemas.microsoft.com/office/drawing/2014/main" id="{F81B56AE-EEE1-4601-81F1-D4BA1DBF3818}"/>
              </a:ext>
            </a:extLst>
          </p:cNvPr>
          <p:cNvSpPr txBox="1"/>
          <p:nvPr/>
        </p:nvSpPr>
        <p:spPr>
          <a:xfrm>
            <a:off x="10668000" y="6365609"/>
            <a:ext cx="569964" cy="215444"/>
          </a:xfrm>
          <a:prstGeom prst="rect">
            <a:avLst/>
          </a:prstGeom>
          <a:solidFill>
            <a:schemeClr val="bg1"/>
          </a:solidFill>
          <a:ln>
            <a:solidFill>
              <a:schemeClr val="accent1"/>
            </a:solidFill>
          </a:ln>
        </p:spPr>
        <p:txBody>
          <a:bodyPr wrap="none" lIns="0" tIns="0" rIns="0" bIns="0" rtlCol="0">
            <a:spAutoFit/>
          </a:bodyPr>
          <a:lstStyle/>
          <a:p>
            <a:r>
              <a:rPr lang="en-US" sz="1400"/>
              <a:t>Carry In</a:t>
            </a:r>
          </a:p>
        </p:txBody>
      </p:sp>
      <p:sp>
        <p:nvSpPr>
          <p:cNvPr id="16" name="Trapezoid 15">
            <a:extLst>
              <a:ext uri="{FF2B5EF4-FFF2-40B4-BE49-F238E27FC236}">
                <a16:creationId xmlns:a16="http://schemas.microsoft.com/office/drawing/2014/main" id="{E17F45E1-B5B3-4B1D-AFD6-AC5E7FEB2ACF}"/>
              </a:ext>
            </a:extLst>
          </p:cNvPr>
          <p:cNvSpPr/>
          <p:nvPr/>
        </p:nvSpPr>
        <p:spPr>
          <a:xfrm rot="16200000">
            <a:off x="10395880" y="4714721"/>
            <a:ext cx="1097049" cy="366417"/>
          </a:xfrm>
          <a:prstGeom prst="trapezoid">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dirty="0"/>
              <a:t>74HC251</a:t>
            </a:r>
          </a:p>
        </p:txBody>
      </p:sp>
      <p:cxnSp>
        <p:nvCxnSpPr>
          <p:cNvPr id="18" name="Connector: Elbow 17">
            <a:extLst>
              <a:ext uri="{FF2B5EF4-FFF2-40B4-BE49-F238E27FC236}">
                <a16:creationId xmlns:a16="http://schemas.microsoft.com/office/drawing/2014/main" id="{AF85FB46-8BD9-4C02-95A2-03038E0FC06F}"/>
              </a:ext>
            </a:extLst>
          </p:cNvPr>
          <p:cNvCxnSpPr>
            <a:cxnSpLocks/>
            <a:endCxn id="16" idx="3"/>
          </p:cNvCxnSpPr>
          <p:nvPr/>
        </p:nvCxnSpPr>
        <p:spPr>
          <a:xfrm>
            <a:off x="9804425" y="4095263"/>
            <a:ext cx="1139979" cy="299943"/>
          </a:xfrm>
          <a:prstGeom prst="bentConnector2">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52EA69A9-A280-4BAD-AB66-AE6A1494E3AF}"/>
              </a:ext>
            </a:extLst>
          </p:cNvPr>
          <p:cNvSpPr/>
          <p:nvPr/>
        </p:nvSpPr>
        <p:spPr>
          <a:xfrm rot="16200000">
            <a:off x="9843181" y="5688988"/>
            <a:ext cx="942000" cy="29286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a:t>74HC161</a:t>
            </a:r>
          </a:p>
        </p:txBody>
      </p:sp>
      <p:cxnSp>
        <p:nvCxnSpPr>
          <p:cNvPr id="23" name="Connector: Elbow 22">
            <a:extLst>
              <a:ext uri="{FF2B5EF4-FFF2-40B4-BE49-F238E27FC236}">
                <a16:creationId xmlns:a16="http://schemas.microsoft.com/office/drawing/2014/main" id="{BFD92FED-91CF-4735-AAB3-96A25615893A}"/>
              </a:ext>
            </a:extLst>
          </p:cNvPr>
          <p:cNvCxnSpPr>
            <a:cxnSpLocks/>
            <a:stCxn id="21" idx="0"/>
            <a:endCxn id="15" idx="1"/>
          </p:cNvCxnSpPr>
          <p:nvPr/>
        </p:nvCxnSpPr>
        <p:spPr>
          <a:xfrm rot="10800000" flipH="1" flipV="1">
            <a:off x="10167746" y="5835423"/>
            <a:ext cx="500253" cy="637908"/>
          </a:xfrm>
          <a:prstGeom prst="bentConnector3">
            <a:avLst>
              <a:gd name="adj1" fmla="val -11057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9916795-CAE7-4965-9DEF-F413C2624194}"/>
              </a:ext>
            </a:extLst>
          </p:cNvPr>
          <p:cNvCxnSpPr>
            <a:cxnSpLocks/>
          </p:cNvCxnSpPr>
          <p:nvPr/>
        </p:nvCxnSpPr>
        <p:spPr>
          <a:xfrm>
            <a:off x="5769205" y="5416623"/>
            <a:ext cx="4398543" cy="0"/>
          </a:xfrm>
          <a:prstGeom prst="line">
            <a:avLst/>
          </a:prstGeom>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F41F89F2-C680-4820-B376-72B5BCD40754}"/>
              </a:ext>
            </a:extLst>
          </p:cNvPr>
          <p:cNvSpPr txBox="1"/>
          <p:nvPr/>
        </p:nvSpPr>
        <p:spPr>
          <a:xfrm>
            <a:off x="6138946" y="5217727"/>
            <a:ext cx="3081293" cy="254044"/>
          </a:xfrm>
          <a:prstGeom prst="rect">
            <a:avLst/>
          </a:prstGeom>
          <a:noFill/>
        </p:spPr>
        <p:txBody>
          <a:bodyPr wrap="none" rtlCol="0">
            <a:spAutoFit/>
          </a:bodyPr>
          <a:lstStyle/>
          <a:p>
            <a:r>
              <a:rPr lang="en-US" sz="1051" dirty="0"/>
              <a:t>Flags captured on ALU Out (161 Parallel Load Enable)</a:t>
            </a:r>
          </a:p>
        </p:txBody>
      </p:sp>
      <p:cxnSp>
        <p:nvCxnSpPr>
          <p:cNvPr id="43" name="Connector: Elbow 42">
            <a:extLst>
              <a:ext uri="{FF2B5EF4-FFF2-40B4-BE49-F238E27FC236}">
                <a16:creationId xmlns:a16="http://schemas.microsoft.com/office/drawing/2014/main" id="{9EBF51E4-73DC-4DCC-A52A-7FCAD472FB1B}"/>
              </a:ext>
            </a:extLst>
          </p:cNvPr>
          <p:cNvCxnSpPr>
            <a:cxnSpLocks/>
            <a:stCxn id="48" idx="4"/>
            <a:endCxn id="68" idx="1"/>
          </p:cNvCxnSpPr>
          <p:nvPr/>
        </p:nvCxnSpPr>
        <p:spPr>
          <a:xfrm rot="16200000" flipH="1">
            <a:off x="4112697" y="4604753"/>
            <a:ext cx="1146284" cy="236819"/>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48" name="Oval 47">
            <a:extLst>
              <a:ext uri="{FF2B5EF4-FFF2-40B4-BE49-F238E27FC236}">
                <a16:creationId xmlns:a16="http://schemas.microsoft.com/office/drawing/2014/main" id="{527252F1-02EB-42EA-8625-76BCDBE2C9A5}"/>
              </a:ext>
            </a:extLst>
          </p:cNvPr>
          <p:cNvSpPr/>
          <p:nvPr/>
        </p:nvSpPr>
        <p:spPr>
          <a:xfrm>
            <a:off x="4521949" y="4058581"/>
            <a:ext cx="90960" cy="9144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3" name="Trapezoid 52">
            <a:extLst>
              <a:ext uri="{FF2B5EF4-FFF2-40B4-BE49-F238E27FC236}">
                <a16:creationId xmlns:a16="http://schemas.microsoft.com/office/drawing/2014/main" id="{233A8CB9-402D-465D-98B7-D5952E3F26F9}"/>
              </a:ext>
            </a:extLst>
          </p:cNvPr>
          <p:cNvSpPr/>
          <p:nvPr/>
        </p:nvSpPr>
        <p:spPr>
          <a:xfrm rot="5400000">
            <a:off x="6386545" y="3217973"/>
            <a:ext cx="836729" cy="366417"/>
          </a:xfrm>
          <a:prstGeom prst="trapezoid">
            <a:avLst/>
          </a:prstGeom>
        </p:spPr>
        <p:style>
          <a:lnRef idx="2">
            <a:schemeClr val="accent6">
              <a:shade val="50000"/>
            </a:schemeClr>
          </a:lnRef>
          <a:fillRef idx="1">
            <a:schemeClr val="accent6"/>
          </a:fillRef>
          <a:effectRef idx="0">
            <a:schemeClr val="accent6"/>
          </a:effectRef>
          <a:fontRef idx="minor">
            <a:schemeClr val="lt1"/>
          </a:fontRef>
        </p:style>
        <p:txBody>
          <a:bodyPr wrap="none" rtlCol="0" anchor="ctr"/>
          <a:lstStyle/>
          <a:p>
            <a:pPr algn="ctr"/>
            <a:r>
              <a:rPr lang="en-US" sz="1200" dirty="0"/>
              <a:t>74HC157</a:t>
            </a:r>
          </a:p>
        </p:txBody>
      </p:sp>
      <p:sp>
        <p:nvSpPr>
          <p:cNvPr id="57" name="Arrow: Right 56">
            <a:extLst>
              <a:ext uri="{FF2B5EF4-FFF2-40B4-BE49-F238E27FC236}">
                <a16:creationId xmlns:a16="http://schemas.microsoft.com/office/drawing/2014/main" id="{303E707C-DAB0-4224-B779-23C920C80A64}"/>
              </a:ext>
            </a:extLst>
          </p:cNvPr>
          <p:cNvSpPr/>
          <p:nvPr/>
        </p:nvSpPr>
        <p:spPr>
          <a:xfrm>
            <a:off x="5220491" y="3076692"/>
            <a:ext cx="1390125" cy="219469"/>
          </a:xfrm>
          <a:prstGeom prst="rightArrow">
            <a:avLst/>
          </a:prstGeom>
          <a:solidFill>
            <a:schemeClr val="bg2"/>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a:t>4b’0110 (ADD)</a:t>
            </a:r>
          </a:p>
        </p:txBody>
      </p:sp>
      <p:sp>
        <p:nvSpPr>
          <p:cNvPr id="58" name="Arrow: Right 57">
            <a:extLst>
              <a:ext uri="{FF2B5EF4-FFF2-40B4-BE49-F238E27FC236}">
                <a16:creationId xmlns:a16="http://schemas.microsoft.com/office/drawing/2014/main" id="{7A175B8C-7C4C-438D-96C2-3443FBDFA711}"/>
              </a:ext>
            </a:extLst>
          </p:cNvPr>
          <p:cNvSpPr/>
          <p:nvPr/>
        </p:nvSpPr>
        <p:spPr>
          <a:xfrm>
            <a:off x="5215591" y="3461416"/>
            <a:ext cx="1390125" cy="219469"/>
          </a:xfrm>
          <a:prstGeom prst="rightArrow">
            <a:avLst/>
          </a:prstGeom>
          <a:solidFill>
            <a:schemeClr val="bg2"/>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dirty="0"/>
              <a:t>Function H[3:0]</a:t>
            </a:r>
          </a:p>
        </p:txBody>
      </p:sp>
      <p:grpSp>
        <p:nvGrpSpPr>
          <p:cNvPr id="59" name="Group 58">
            <a:extLst>
              <a:ext uri="{FF2B5EF4-FFF2-40B4-BE49-F238E27FC236}">
                <a16:creationId xmlns:a16="http://schemas.microsoft.com/office/drawing/2014/main" id="{7EFE7581-7C2B-4E9B-8B5D-339CF83307B7}"/>
              </a:ext>
            </a:extLst>
          </p:cNvPr>
          <p:cNvGrpSpPr/>
          <p:nvPr/>
        </p:nvGrpSpPr>
        <p:grpSpPr>
          <a:xfrm>
            <a:off x="2034537" y="2621657"/>
            <a:ext cx="843501" cy="184666"/>
            <a:chOff x="1992327" y="3559447"/>
            <a:chExt cx="843501" cy="184667"/>
          </a:xfrm>
        </p:grpSpPr>
        <p:sp>
          <p:nvSpPr>
            <p:cNvPr id="60" name="TextBox 59">
              <a:hlinkClick r:id="rId3" action="ppaction://hlinksldjump"/>
              <a:extLst>
                <a:ext uri="{FF2B5EF4-FFF2-40B4-BE49-F238E27FC236}">
                  <a16:creationId xmlns:a16="http://schemas.microsoft.com/office/drawing/2014/main" id="{240250E3-A821-4528-8E04-10F76620023F}"/>
                </a:ext>
              </a:extLst>
            </p:cNvPr>
            <p:cNvSpPr txBox="1"/>
            <p:nvPr/>
          </p:nvSpPr>
          <p:spPr>
            <a:xfrm>
              <a:off x="1992327" y="3559447"/>
              <a:ext cx="843501" cy="184667"/>
            </a:xfrm>
            <a:prstGeom prst="rect">
              <a:avLst/>
            </a:prstGeom>
            <a:noFill/>
            <a:ln>
              <a:solidFill>
                <a:schemeClr val="accent1"/>
              </a:solidFill>
            </a:ln>
          </p:spPr>
          <p:txBody>
            <a:bodyPr wrap="none" tIns="0" bIns="0" rtlCol="0">
              <a:spAutoFit/>
            </a:bodyPr>
            <a:lstStyle/>
            <a:p>
              <a:r>
                <a:rPr lang="en-US" sz="1200"/>
                <a:t>OpCode_7</a:t>
              </a:r>
            </a:p>
          </p:txBody>
        </p:sp>
        <p:cxnSp>
          <p:nvCxnSpPr>
            <p:cNvPr id="61" name="Straight Connector 60">
              <a:extLst>
                <a:ext uri="{FF2B5EF4-FFF2-40B4-BE49-F238E27FC236}">
                  <a16:creationId xmlns:a16="http://schemas.microsoft.com/office/drawing/2014/main" id="{F1ACBF9A-4714-4715-AE28-4EBE518D064E}"/>
                </a:ext>
              </a:extLst>
            </p:cNvPr>
            <p:cNvCxnSpPr>
              <a:cxnSpLocks/>
            </p:cNvCxnSpPr>
            <p:nvPr/>
          </p:nvCxnSpPr>
          <p:spPr>
            <a:xfrm>
              <a:off x="2080151" y="3581107"/>
              <a:ext cx="6400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3" name="Connector: Elbow 62">
            <a:extLst>
              <a:ext uri="{FF2B5EF4-FFF2-40B4-BE49-F238E27FC236}">
                <a16:creationId xmlns:a16="http://schemas.microsoft.com/office/drawing/2014/main" id="{F4996657-AE1C-49A6-8479-184C10DA6E75}"/>
              </a:ext>
            </a:extLst>
          </p:cNvPr>
          <p:cNvCxnSpPr>
            <a:cxnSpLocks/>
            <a:stCxn id="60" idx="3"/>
            <a:endCxn id="53" idx="1"/>
          </p:cNvCxnSpPr>
          <p:nvPr/>
        </p:nvCxnSpPr>
        <p:spPr>
          <a:xfrm>
            <a:off x="2878038" y="2713990"/>
            <a:ext cx="3926871" cy="314629"/>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199BFEF6-30D7-4A47-82CA-2FB57C936693}"/>
              </a:ext>
            </a:extLst>
          </p:cNvPr>
          <p:cNvSpPr txBox="1"/>
          <p:nvPr/>
        </p:nvSpPr>
        <p:spPr>
          <a:xfrm>
            <a:off x="4307619" y="2541223"/>
            <a:ext cx="404278" cy="230832"/>
          </a:xfrm>
          <a:prstGeom prst="rect">
            <a:avLst/>
          </a:prstGeom>
          <a:noFill/>
        </p:spPr>
        <p:txBody>
          <a:bodyPr wrap="none" rtlCol="0">
            <a:spAutoFit/>
          </a:bodyPr>
          <a:lstStyle/>
          <a:p>
            <a:r>
              <a:rPr lang="en-US" sz="900"/>
              <a:t>Gray</a:t>
            </a:r>
          </a:p>
        </p:txBody>
      </p:sp>
      <p:sp>
        <p:nvSpPr>
          <p:cNvPr id="66" name="TextBox 65">
            <a:extLst>
              <a:ext uri="{FF2B5EF4-FFF2-40B4-BE49-F238E27FC236}">
                <a16:creationId xmlns:a16="http://schemas.microsoft.com/office/drawing/2014/main" id="{BD728FE5-CDBC-499D-8C71-18C7E0D1FA58}"/>
              </a:ext>
            </a:extLst>
          </p:cNvPr>
          <p:cNvSpPr txBox="1"/>
          <p:nvPr/>
        </p:nvSpPr>
        <p:spPr>
          <a:xfrm>
            <a:off x="6555284" y="3042832"/>
            <a:ext cx="253596" cy="254044"/>
          </a:xfrm>
          <a:prstGeom prst="rect">
            <a:avLst/>
          </a:prstGeom>
          <a:noFill/>
        </p:spPr>
        <p:txBody>
          <a:bodyPr wrap="none" rtlCol="0">
            <a:spAutoFit/>
          </a:bodyPr>
          <a:lstStyle/>
          <a:p>
            <a:r>
              <a:rPr lang="en-US" sz="1051"/>
              <a:t>0</a:t>
            </a:r>
          </a:p>
        </p:txBody>
      </p:sp>
      <p:sp>
        <p:nvSpPr>
          <p:cNvPr id="67" name="TextBox 66">
            <a:extLst>
              <a:ext uri="{FF2B5EF4-FFF2-40B4-BE49-F238E27FC236}">
                <a16:creationId xmlns:a16="http://schemas.microsoft.com/office/drawing/2014/main" id="{1D947DB4-137A-4816-ADC4-6E0512B9C9E2}"/>
              </a:ext>
            </a:extLst>
          </p:cNvPr>
          <p:cNvSpPr txBox="1"/>
          <p:nvPr/>
        </p:nvSpPr>
        <p:spPr>
          <a:xfrm>
            <a:off x="6555284" y="3444616"/>
            <a:ext cx="253596" cy="254044"/>
          </a:xfrm>
          <a:prstGeom prst="rect">
            <a:avLst/>
          </a:prstGeom>
          <a:noFill/>
        </p:spPr>
        <p:txBody>
          <a:bodyPr wrap="none" rtlCol="0">
            <a:spAutoFit/>
          </a:bodyPr>
          <a:lstStyle/>
          <a:p>
            <a:r>
              <a:rPr lang="en-US" sz="1051"/>
              <a:t>1</a:t>
            </a:r>
          </a:p>
        </p:txBody>
      </p:sp>
      <p:pic>
        <p:nvPicPr>
          <p:cNvPr id="68" name="Picture 67" descr="Shape&#10;&#10;Description automatically generated with medium confidence">
            <a:extLst>
              <a:ext uri="{FF2B5EF4-FFF2-40B4-BE49-F238E27FC236}">
                <a16:creationId xmlns:a16="http://schemas.microsoft.com/office/drawing/2014/main" id="{033C3C8A-E755-406D-A760-451FCACC9727}"/>
              </a:ext>
            </a:extLst>
          </p:cNvPr>
          <p:cNvPicPr>
            <a:picLocks noChangeAspect="1"/>
          </p:cNvPicPr>
          <p:nvPr/>
        </p:nvPicPr>
        <p:blipFill rotWithShape="1">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45226" r="11520"/>
          <a:stretch/>
        </p:blipFill>
        <p:spPr>
          <a:xfrm>
            <a:off x="4804250" y="5092366"/>
            <a:ext cx="705703" cy="407879"/>
          </a:xfrm>
          <a:prstGeom prst="rect">
            <a:avLst/>
          </a:prstGeom>
        </p:spPr>
      </p:pic>
      <p:cxnSp>
        <p:nvCxnSpPr>
          <p:cNvPr id="70" name="Connector: Elbow 69">
            <a:extLst>
              <a:ext uri="{FF2B5EF4-FFF2-40B4-BE49-F238E27FC236}">
                <a16:creationId xmlns:a16="http://schemas.microsoft.com/office/drawing/2014/main" id="{91CD06F2-E1A4-43BA-BC65-A1A42FD96D3A}"/>
              </a:ext>
            </a:extLst>
          </p:cNvPr>
          <p:cNvCxnSpPr>
            <a:cxnSpLocks/>
            <a:stCxn id="68" idx="3"/>
          </p:cNvCxnSpPr>
          <p:nvPr/>
        </p:nvCxnSpPr>
        <p:spPr>
          <a:xfrm>
            <a:off x="5509952" y="5296306"/>
            <a:ext cx="225237" cy="74597"/>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D3488E9E-0387-462B-9173-8670588367EA}"/>
              </a:ext>
            </a:extLst>
          </p:cNvPr>
          <p:cNvCxnSpPr>
            <a:cxnSpLocks/>
            <a:stCxn id="60" idx="3"/>
          </p:cNvCxnSpPr>
          <p:nvPr/>
        </p:nvCxnSpPr>
        <p:spPr>
          <a:xfrm>
            <a:off x="2878038" y="2713990"/>
            <a:ext cx="2863113" cy="2813019"/>
          </a:xfrm>
          <a:prstGeom prst="bentConnector3">
            <a:avLst>
              <a:gd name="adj1" fmla="val 50000"/>
            </a:avLst>
          </a:prstGeom>
          <a:ln>
            <a:tailEnd type="none"/>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037780A8-F1FC-4B41-A1EC-FA61E6D62F56}"/>
              </a:ext>
            </a:extLst>
          </p:cNvPr>
          <p:cNvSpPr txBox="1"/>
          <p:nvPr/>
        </p:nvSpPr>
        <p:spPr>
          <a:xfrm>
            <a:off x="2531301" y="5296732"/>
            <a:ext cx="1981633" cy="254044"/>
          </a:xfrm>
          <a:prstGeom prst="rect">
            <a:avLst/>
          </a:prstGeom>
          <a:noFill/>
        </p:spPr>
        <p:txBody>
          <a:bodyPr wrap="none" rtlCol="0">
            <a:spAutoFit/>
          </a:bodyPr>
          <a:lstStyle/>
          <a:p>
            <a:r>
              <a:rPr lang="en-US" sz="1051"/>
              <a:t>Don’t update flags on BR relative</a:t>
            </a:r>
          </a:p>
        </p:txBody>
      </p:sp>
      <p:sp>
        <p:nvSpPr>
          <p:cNvPr id="84" name="TextBox 83">
            <a:extLst>
              <a:ext uri="{FF2B5EF4-FFF2-40B4-BE49-F238E27FC236}">
                <a16:creationId xmlns:a16="http://schemas.microsoft.com/office/drawing/2014/main" id="{B62CEA64-E7DD-40DC-B037-433307F67662}"/>
              </a:ext>
            </a:extLst>
          </p:cNvPr>
          <p:cNvSpPr txBox="1"/>
          <p:nvPr/>
        </p:nvSpPr>
        <p:spPr>
          <a:xfrm>
            <a:off x="8445829" y="883631"/>
            <a:ext cx="276417" cy="161711"/>
          </a:xfrm>
          <a:prstGeom prst="rect">
            <a:avLst/>
          </a:prstGeom>
          <a:solidFill>
            <a:srgbClr val="FFC000"/>
          </a:solidFill>
        </p:spPr>
        <p:txBody>
          <a:bodyPr wrap="square" lIns="0" tIns="0" rIns="0" bIns="0" rtlCol="0" anchor="ctr">
            <a:spAutoFit/>
          </a:bodyPr>
          <a:lstStyle/>
          <a:p>
            <a:pPr algn="ctr"/>
            <a:r>
              <a:rPr lang="en-US" sz="1051"/>
              <a:t>MR</a:t>
            </a:r>
          </a:p>
        </p:txBody>
      </p:sp>
      <p:cxnSp>
        <p:nvCxnSpPr>
          <p:cNvPr id="85" name="Connector: Elbow 84">
            <a:extLst>
              <a:ext uri="{FF2B5EF4-FFF2-40B4-BE49-F238E27FC236}">
                <a16:creationId xmlns:a16="http://schemas.microsoft.com/office/drawing/2014/main" id="{61B7A3C6-6599-45B7-90F3-B357C3FDE01E}"/>
              </a:ext>
            </a:extLst>
          </p:cNvPr>
          <p:cNvCxnSpPr>
            <a:cxnSpLocks/>
            <a:stCxn id="84" idx="3"/>
            <a:endCxn id="100" idx="1"/>
          </p:cNvCxnSpPr>
          <p:nvPr/>
        </p:nvCxnSpPr>
        <p:spPr>
          <a:xfrm>
            <a:off x="8722246" y="964487"/>
            <a:ext cx="2434501" cy="701286"/>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87" name="Connector: Elbow 86">
            <a:extLst>
              <a:ext uri="{FF2B5EF4-FFF2-40B4-BE49-F238E27FC236}">
                <a16:creationId xmlns:a16="http://schemas.microsoft.com/office/drawing/2014/main" id="{F18AEC42-BF15-4599-A492-A9AE13027B6D}"/>
              </a:ext>
            </a:extLst>
          </p:cNvPr>
          <p:cNvCxnSpPr>
            <a:cxnSpLocks/>
            <a:stCxn id="100" idx="1"/>
            <a:endCxn id="97" idx="3"/>
          </p:cNvCxnSpPr>
          <p:nvPr/>
        </p:nvCxnSpPr>
        <p:spPr>
          <a:xfrm rot="16200000" flipV="1">
            <a:off x="7803754" y="-1687222"/>
            <a:ext cx="144252" cy="6561735"/>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89" name="Connector: Elbow 88">
            <a:extLst>
              <a:ext uri="{FF2B5EF4-FFF2-40B4-BE49-F238E27FC236}">
                <a16:creationId xmlns:a16="http://schemas.microsoft.com/office/drawing/2014/main" id="{0A8F2BD3-D87A-435E-8F7E-BC9C9519DE97}"/>
              </a:ext>
            </a:extLst>
          </p:cNvPr>
          <p:cNvCxnSpPr>
            <a:cxnSpLocks/>
            <a:stCxn id="75" idx="1"/>
            <a:endCxn id="98" idx="3"/>
          </p:cNvCxnSpPr>
          <p:nvPr/>
        </p:nvCxnSpPr>
        <p:spPr>
          <a:xfrm rot="16200000" flipV="1">
            <a:off x="7732091" y="-2063685"/>
            <a:ext cx="439979" cy="6714135"/>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764C4AA9-CCD7-4E75-BDEE-5431C168B7D6}"/>
              </a:ext>
            </a:extLst>
          </p:cNvPr>
          <p:cNvSpPr txBox="1"/>
          <p:nvPr/>
        </p:nvSpPr>
        <p:spPr>
          <a:xfrm>
            <a:off x="3504702" y="934894"/>
            <a:ext cx="519694" cy="276999"/>
          </a:xfrm>
          <a:prstGeom prst="rect">
            <a:avLst/>
          </a:prstGeom>
          <a:noFill/>
          <a:ln>
            <a:solidFill>
              <a:schemeClr val="accent1">
                <a:lumMod val="75000"/>
              </a:schemeClr>
            </a:solidFill>
          </a:ln>
        </p:spPr>
        <p:txBody>
          <a:bodyPr wrap="none" rtlCol="0">
            <a:spAutoFit/>
          </a:bodyPr>
          <a:lstStyle/>
          <a:p>
            <a:r>
              <a:rPr lang="en-US" sz="1200"/>
              <a:t>Clock</a:t>
            </a:r>
          </a:p>
        </p:txBody>
      </p:sp>
      <p:cxnSp>
        <p:nvCxnSpPr>
          <p:cNvPr id="102" name="Connector: Elbow 101">
            <a:extLst>
              <a:ext uri="{FF2B5EF4-FFF2-40B4-BE49-F238E27FC236}">
                <a16:creationId xmlns:a16="http://schemas.microsoft.com/office/drawing/2014/main" id="{83211141-BFF3-49B4-A39D-8DC90BA00252}"/>
              </a:ext>
            </a:extLst>
          </p:cNvPr>
          <p:cNvCxnSpPr>
            <a:cxnSpLocks/>
            <a:endCxn id="97" idx="1"/>
          </p:cNvCxnSpPr>
          <p:nvPr/>
        </p:nvCxnSpPr>
        <p:spPr>
          <a:xfrm>
            <a:off x="3651951" y="1493700"/>
            <a:ext cx="502240" cy="2782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119" name="TextBox 118">
            <a:extLst>
              <a:ext uri="{FF2B5EF4-FFF2-40B4-BE49-F238E27FC236}">
                <a16:creationId xmlns:a16="http://schemas.microsoft.com/office/drawing/2014/main" id="{F8154FDF-C0D7-46F7-9F5B-2C4BDBF09D00}"/>
              </a:ext>
            </a:extLst>
          </p:cNvPr>
          <p:cNvSpPr txBox="1"/>
          <p:nvPr/>
        </p:nvSpPr>
        <p:spPr>
          <a:xfrm>
            <a:off x="396188" y="1888249"/>
            <a:ext cx="340158" cy="246221"/>
          </a:xfrm>
          <a:prstGeom prst="rect">
            <a:avLst/>
          </a:prstGeom>
          <a:noFill/>
        </p:spPr>
        <p:txBody>
          <a:bodyPr wrap="none" rtlCol="0">
            <a:spAutoFit/>
          </a:bodyPr>
          <a:lstStyle/>
          <a:p>
            <a:r>
              <a:rPr lang="en-US" sz="1000"/>
              <a:t>Clk</a:t>
            </a:r>
          </a:p>
        </p:txBody>
      </p:sp>
      <p:graphicFrame>
        <p:nvGraphicFramePr>
          <p:cNvPr id="122" name="Table 110">
            <a:extLst>
              <a:ext uri="{FF2B5EF4-FFF2-40B4-BE49-F238E27FC236}">
                <a16:creationId xmlns:a16="http://schemas.microsoft.com/office/drawing/2014/main" id="{00D55C70-2B32-4E4F-9764-4E1639103CA2}"/>
              </a:ext>
            </a:extLst>
          </p:cNvPr>
          <p:cNvGraphicFramePr>
            <a:graphicFrameLocks noGrp="1"/>
          </p:cNvGraphicFramePr>
          <p:nvPr/>
        </p:nvGraphicFramePr>
        <p:xfrm>
          <a:off x="735025" y="1434212"/>
          <a:ext cx="1378332" cy="247176"/>
        </p:xfrm>
        <a:graphic>
          <a:graphicData uri="http://schemas.openxmlformats.org/drawingml/2006/table">
            <a:tbl>
              <a:tblPr bandRow="1">
                <a:tableStyleId>{5C22544A-7EE6-4342-B048-85BDC9FD1C3A}</a:tableStyleId>
              </a:tblPr>
              <a:tblGrid>
                <a:gridCol w="344583">
                  <a:extLst>
                    <a:ext uri="{9D8B030D-6E8A-4147-A177-3AD203B41FA5}">
                      <a16:colId xmlns:a16="http://schemas.microsoft.com/office/drawing/2014/main" val="866373483"/>
                    </a:ext>
                  </a:extLst>
                </a:gridCol>
                <a:gridCol w="344583">
                  <a:extLst>
                    <a:ext uri="{9D8B030D-6E8A-4147-A177-3AD203B41FA5}">
                      <a16:colId xmlns:a16="http://schemas.microsoft.com/office/drawing/2014/main" val="2024381536"/>
                    </a:ext>
                  </a:extLst>
                </a:gridCol>
                <a:gridCol w="344583">
                  <a:extLst>
                    <a:ext uri="{9D8B030D-6E8A-4147-A177-3AD203B41FA5}">
                      <a16:colId xmlns:a16="http://schemas.microsoft.com/office/drawing/2014/main" val="158804817"/>
                    </a:ext>
                  </a:extLst>
                </a:gridCol>
                <a:gridCol w="344583">
                  <a:extLst>
                    <a:ext uri="{9D8B030D-6E8A-4147-A177-3AD203B41FA5}">
                      <a16:colId xmlns:a16="http://schemas.microsoft.com/office/drawing/2014/main" val="1655900654"/>
                    </a:ext>
                  </a:extLst>
                </a:gridCol>
              </a:tblGrid>
              <a:tr h="247176">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891770497"/>
                  </a:ext>
                </a:extLst>
              </a:tr>
            </a:tbl>
          </a:graphicData>
        </a:graphic>
      </p:graphicFrame>
      <p:graphicFrame>
        <p:nvGraphicFramePr>
          <p:cNvPr id="123" name="Table 110">
            <a:extLst>
              <a:ext uri="{FF2B5EF4-FFF2-40B4-BE49-F238E27FC236}">
                <a16:creationId xmlns:a16="http://schemas.microsoft.com/office/drawing/2014/main" id="{CE1D6F67-8776-4D02-B706-EEF5F261FC8E}"/>
              </a:ext>
            </a:extLst>
          </p:cNvPr>
          <p:cNvGraphicFramePr>
            <a:graphicFrameLocks noGrp="1"/>
          </p:cNvGraphicFramePr>
          <p:nvPr/>
        </p:nvGraphicFramePr>
        <p:xfrm>
          <a:off x="871607" y="1550171"/>
          <a:ext cx="1378332" cy="247176"/>
        </p:xfrm>
        <a:graphic>
          <a:graphicData uri="http://schemas.openxmlformats.org/drawingml/2006/table">
            <a:tbl>
              <a:tblPr bandRow="1">
                <a:tableStyleId>{5C22544A-7EE6-4342-B048-85BDC9FD1C3A}</a:tableStyleId>
              </a:tblPr>
              <a:tblGrid>
                <a:gridCol w="344583">
                  <a:extLst>
                    <a:ext uri="{9D8B030D-6E8A-4147-A177-3AD203B41FA5}">
                      <a16:colId xmlns:a16="http://schemas.microsoft.com/office/drawing/2014/main" val="866373483"/>
                    </a:ext>
                  </a:extLst>
                </a:gridCol>
                <a:gridCol w="344583">
                  <a:extLst>
                    <a:ext uri="{9D8B030D-6E8A-4147-A177-3AD203B41FA5}">
                      <a16:colId xmlns:a16="http://schemas.microsoft.com/office/drawing/2014/main" val="2024381536"/>
                    </a:ext>
                  </a:extLst>
                </a:gridCol>
                <a:gridCol w="344583">
                  <a:extLst>
                    <a:ext uri="{9D8B030D-6E8A-4147-A177-3AD203B41FA5}">
                      <a16:colId xmlns:a16="http://schemas.microsoft.com/office/drawing/2014/main" val="158804817"/>
                    </a:ext>
                  </a:extLst>
                </a:gridCol>
                <a:gridCol w="344583">
                  <a:extLst>
                    <a:ext uri="{9D8B030D-6E8A-4147-A177-3AD203B41FA5}">
                      <a16:colId xmlns:a16="http://schemas.microsoft.com/office/drawing/2014/main" val="1655900654"/>
                    </a:ext>
                  </a:extLst>
                </a:gridCol>
              </a:tblGrid>
              <a:tr h="247176">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891770497"/>
                  </a:ext>
                </a:extLst>
              </a:tr>
            </a:tbl>
          </a:graphicData>
        </a:graphic>
      </p:graphicFrame>
      <p:sp>
        <p:nvSpPr>
          <p:cNvPr id="124" name="TextBox 123">
            <a:extLst>
              <a:ext uri="{FF2B5EF4-FFF2-40B4-BE49-F238E27FC236}">
                <a16:creationId xmlns:a16="http://schemas.microsoft.com/office/drawing/2014/main" id="{42788A31-ED29-43BB-9B63-A634FCC6C30B}"/>
              </a:ext>
            </a:extLst>
          </p:cNvPr>
          <p:cNvSpPr txBox="1"/>
          <p:nvPr/>
        </p:nvSpPr>
        <p:spPr>
          <a:xfrm>
            <a:off x="391565" y="1434213"/>
            <a:ext cx="340158" cy="246221"/>
          </a:xfrm>
          <a:prstGeom prst="rect">
            <a:avLst/>
          </a:prstGeom>
          <a:noFill/>
        </p:spPr>
        <p:txBody>
          <a:bodyPr wrap="none" rtlCol="0">
            <a:spAutoFit/>
          </a:bodyPr>
          <a:lstStyle/>
          <a:p>
            <a:r>
              <a:rPr lang="en-US" sz="1000"/>
              <a:t>Clk</a:t>
            </a:r>
          </a:p>
        </p:txBody>
      </p:sp>
      <p:grpSp>
        <p:nvGrpSpPr>
          <p:cNvPr id="129" name="Group 128">
            <a:extLst>
              <a:ext uri="{FF2B5EF4-FFF2-40B4-BE49-F238E27FC236}">
                <a16:creationId xmlns:a16="http://schemas.microsoft.com/office/drawing/2014/main" id="{1EDE5662-3D72-4EE3-90EF-2C0A72DB5C7D}"/>
              </a:ext>
            </a:extLst>
          </p:cNvPr>
          <p:cNvGrpSpPr/>
          <p:nvPr/>
        </p:nvGrpSpPr>
        <p:grpSpPr>
          <a:xfrm>
            <a:off x="391561" y="1634256"/>
            <a:ext cx="354584" cy="246221"/>
            <a:chOff x="411018" y="1634251"/>
            <a:chExt cx="354583" cy="246220"/>
          </a:xfrm>
        </p:grpSpPr>
        <p:sp>
          <p:nvSpPr>
            <p:cNvPr id="125" name="TextBox 124">
              <a:extLst>
                <a:ext uri="{FF2B5EF4-FFF2-40B4-BE49-F238E27FC236}">
                  <a16:creationId xmlns:a16="http://schemas.microsoft.com/office/drawing/2014/main" id="{93700EAD-5DB7-4546-8613-7A6AE4E5302D}"/>
                </a:ext>
              </a:extLst>
            </p:cNvPr>
            <p:cNvSpPr txBox="1"/>
            <p:nvPr/>
          </p:nvSpPr>
          <p:spPr>
            <a:xfrm>
              <a:off x="411018" y="1634251"/>
              <a:ext cx="354583" cy="246220"/>
            </a:xfrm>
            <a:prstGeom prst="rect">
              <a:avLst/>
            </a:prstGeom>
            <a:noFill/>
          </p:spPr>
          <p:txBody>
            <a:bodyPr wrap="none" rtlCol="0">
              <a:spAutoFit/>
            </a:bodyPr>
            <a:lstStyle/>
            <a:p>
              <a:r>
                <a:rPr lang="en-US" sz="1000"/>
                <a:t>A_I</a:t>
              </a:r>
            </a:p>
          </p:txBody>
        </p:sp>
        <p:cxnSp>
          <p:nvCxnSpPr>
            <p:cNvPr id="127" name="Straight Connector 126">
              <a:extLst>
                <a:ext uri="{FF2B5EF4-FFF2-40B4-BE49-F238E27FC236}">
                  <a16:creationId xmlns:a16="http://schemas.microsoft.com/office/drawing/2014/main" id="{1D34C0FE-8A45-4EE2-994D-23DFFB8829AE}"/>
                </a:ext>
              </a:extLst>
            </p:cNvPr>
            <p:cNvCxnSpPr>
              <a:cxnSpLocks/>
            </p:cNvCxnSpPr>
            <p:nvPr/>
          </p:nvCxnSpPr>
          <p:spPr>
            <a:xfrm>
              <a:off x="511696" y="1680431"/>
              <a:ext cx="18288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35" name="Picture 134" descr="Shape&#10;&#10;Description automatically generated with medium confidence">
            <a:extLst>
              <a:ext uri="{FF2B5EF4-FFF2-40B4-BE49-F238E27FC236}">
                <a16:creationId xmlns:a16="http://schemas.microsoft.com/office/drawing/2014/main" id="{DBC153C2-D7F9-4F31-AB7F-2820C0F249F2}"/>
              </a:ext>
            </a:extLst>
          </p:cNvPr>
          <p:cNvPicPr>
            <a:picLocks noChangeAspect="1"/>
          </p:cNvPicPr>
          <p:nvPr/>
        </p:nvPicPr>
        <p:blipFill rotWithShape="1">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10289" r="54774"/>
          <a:stretch/>
        </p:blipFill>
        <p:spPr>
          <a:xfrm>
            <a:off x="5638092" y="5232381"/>
            <a:ext cx="581411" cy="416051"/>
          </a:xfrm>
          <a:prstGeom prst="rect">
            <a:avLst/>
          </a:prstGeom>
        </p:spPr>
      </p:pic>
      <p:cxnSp>
        <p:nvCxnSpPr>
          <p:cNvPr id="161" name="Connector: Elbow 160">
            <a:extLst>
              <a:ext uri="{FF2B5EF4-FFF2-40B4-BE49-F238E27FC236}">
                <a16:creationId xmlns:a16="http://schemas.microsoft.com/office/drawing/2014/main" id="{778AA801-D66B-4754-8657-B0A4C8055EB0}"/>
              </a:ext>
            </a:extLst>
          </p:cNvPr>
          <p:cNvCxnSpPr>
            <a:cxnSpLocks/>
            <a:endCxn id="92" idx="1"/>
          </p:cNvCxnSpPr>
          <p:nvPr/>
        </p:nvCxnSpPr>
        <p:spPr>
          <a:xfrm flipV="1">
            <a:off x="3645539" y="2002024"/>
            <a:ext cx="508652" cy="39925"/>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grpSp>
        <p:nvGrpSpPr>
          <p:cNvPr id="88" name="Group 87">
            <a:extLst>
              <a:ext uri="{FF2B5EF4-FFF2-40B4-BE49-F238E27FC236}">
                <a16:creationId xmlns:a16="http://schemas.microsoft.com/office/drawing/2014/main" id="{278FE2BF-4231-9A53-7DD3-8A2281454D5C}"/>
              </a:ext>
            </a:extLst>
          </p:cNvPr>
          <p:cNvGrpSpPr/>
          <p:nvPr/>
        </p:nvGrpSpPr>
        <p:grpSpPr>
          <a:xfrm>
            <a:off x="1908473" y="4012387"/>
            <a:ext cx="1463040" cy="182880"/>
            <a:chOff x="9859776" y="1158931"/>
            <a:chExt cx="1463040" cy="182880"/>
          </a:xfrm>
        </p:grpSpPr>
        <p:sp>
          <p:nvSpPr>
            <p:cNvPr id="93" name="Rectangle 92">
              <a:hlinkClick r:id="rId6" action="ppaction://hlinksldjump"/>
              <a:extLst>
                <a:ext uri="{FF2B5EF4-FFF2-40B4-BE49-F238E27FC236}">
                  <a16:creationId xmlns:a16="http://schemas.microsoft.com/office/drawing/2014/main" id="{ECE18F15-615D-68B3-9423-D92F1D079D08}"/>
                </a:ext>
              </a:extLst>
            </p:cNvPr>
            <p:cNvSpPr/>
            <p:nvPr/>
          </p:nvSpPr>
          <p:spPr>
            <a:xfrm>
              <a:off x="9859776" y="115893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2. ALU Out </a:t>
              </a:r>
              <a:r>
                <a:rPr lang="en-US" sz="1200" err="1"/>
                <a:t>En</a:t>
              </a:r>
              <a:endParaRPr lang="en-US" sz="1200"/>
            </a:p>
          </p:txBody>
        </p:sp>
        <p:cxnSp>
          <p:nvCxnSpPr>
            <p:cNvPr id="94" name="Straight Connector 93">
              <a:extLst>
                <a:ext uri="{FF2B5EF4-FFF2-40B4-BE49-F238E27FC236}">
                  <a16:creationId xmlns:a16="http://schemas.microsoft.com/office/drawing/2014/main" id="{8AC2CF9E-6FE4-F4B9-F971-5E22F12D0FF1}"/>
                </a:ext>
              </a:extLst>
            </p:cNvPr>
            <p:cNvCxnSpPr>
              <a:cxnSpLocks/>
            </p:cNvCxnSpPr>
            <p:nvPr/>
          </p:nvCxnSpPr>
          <p:spPr>
            <a:xfrm flipV="1">
              <a:off x="10068793" y="1186643"/>
              <a:ext cx="5987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5" name="Rectangle 94">
            <a:hlinkClick r:id="rId6" action="ppaction://hlinksldjump"/>
            <a:extLst>
              <a:ext uri="{FF2B5EF4-FFF2-40B4-BE49-F238E27FC236}">
                <a16:creationId xmlns:a16="http://schemas.microsoft.com/office/drawing/2014/main" id="{C4F08B23-90F7-C379-198D-00D2327DC27A}"/>
              </a:ext>
            </a:extLst>
          </p:cNvPr>
          <p:cNvSpPr/>
          <p:nvPr/>
        </p:nvSpPr>
        <p:spPr>
          <a:xfrm>
            <a:off x="2544191" y="1422887"/>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1: ALU Load A</a:t>
            </a:r>
          </a:p>
        </p:txBody>
      </p:sp>
      <p:sp>
        <p:nvSpPr>
          <p:cNvPr id="96" name="Rectangle 95">
            <a:hlinkClick r:id="rId6" action="ppaction://hlinksldjump"/>
            <a:extLst>
              <a:ext uri="{FF2B5EF4-FFF2-40B4-BE49-F238E27FC236}">
                <a16:creationId xmlns:a16="http://schemas.microsoft.com/office/drawing/2014/main" id="{82CD5E2C-2199-A8DB-1C7C-ECD984C7C02F}"/>
              </a:ext>
            </a:extLst>
          </p:cNvPr>
          <p:cNvSpPr/>
          <p:nvPr/>
        </p:nvSpPr>
        <p:spPr>
          <a:xfrm>
            <a:off x="2542985" y="1910328"/>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0: ALU Load B</a:t>
            </a:r>
          </a:p>
        </p:txBody>
      </p:sp>
      <p:pic>
        <p:nvPicPr>
          <p:cNvPr id="92" name="Picture 91" descr="Diagram&#10;&#10;Description automatically generated with low confidence">
            <a:extLst>
              <a:ext uri="{FF2B5EF4-FFF2-40B4-BE49-F238E27FC236}">
                <a16:creationId xmlns:a16="http://schemas.microsoft.com/office/drawing/2014/main" id="{6FF29213-7C9E-2E3C-36DD-5B955D5D591E}"/>
              </a:ext>
            </a:extLst>
          </p:cNvPr>
          <p:cNvPicPr>
            <a:picLocks noChangeAspect="1"/>
          </p:cNvPicPr>
          <p:nvPr/>
        </p:nvPicPr>
        <p:blipFill rotWithShape="1">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t="-3588" r="58979" b="29396"/>
          <a:stretch/>
        </p:blipFill>
        <p:spPr>
          <a:xfrm>
            <a:off x="4154192" y="1846162"/>
            <a:ext cx="440821" cy="311727"/>
          </a:xfrm>
          <a:prstGeom prst="rect">
            <a:avLst/>
          </a:prstGeom>
          <a:solidFill>
            <a:schemeClr val="bg1"/>
          </a:solidFill>
        </p:spPr>
      </p:pic>
      <p:pic>
        <p:nvPicPr>
          <p:cNvPr id="97" name="Picture 96" descr="Diagram&#10;&#10;Description automatically generated with low confidence">
            <a:extLst>
              <a:ext uri="{FF2B5EF4-FFF2-40B4-BE49-F238E27FC236}">
                <a16:creationId xmlns:a16="http://schemas.microsoft.com/office/drawing/2014/main" id="{0C3362D1-F9D0-A5F4-F06D-6E08DDE4335D}"/>
              </a:ext>
            </a:extLst>
          </p:cNvPr>
          <p:cNvPicPr>
            <a:picLocks noChangeAspect="1"/>
          </p:cNvPicPr>
          <p:nvPr/>
        </p:nvPicPr>
        <p:blipFill rotWithShape="1">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t="-3588" r="58979" b="29396"/>
          <a:stretch/>
        </p:blipFill>
        <p:spPr>
          <a:xfrm>
            <a:off x="4154192" y="1365658"/>
            <a:ext cx="440821" cy="311727"/>
          </a:xfrm>
          <a:prstGeom prst="rect">
            <a:avLst/>
          </a:prstGeom>
          <a:solidFill>
            <a:schemeClr val="bg1"/>
          </a:solidFill>
        </p:spPr>
      </p:pic>
      <p:pic>
        <p:nvPicPr>
          <p:cNvPr id="98" name="Picture 97" descr="Diagram&#10;&#10;Description automatically generated with low confidence">
            <a:extLst>
              <a:ext uri="{FF2B5EF4-FFF2-40B4-BE49-F238E27FC236}">
                <a16:creationId xmlns:a16="http://schemas.microsoft.com/office/drawing/2014/main" id="{0DF5CBFF-28ED-9557-F9C6-78930A20EB62}"/>
              </a:ext>
            </a:extLst>
          </p:cNvPr>
          <p:cNvPicPr>
            <a:picLocks noChangeAspect="1"/>
          </p:cNvPicPr>
          <p:nvPr/>
        </p:nvPicPr>
        <p:blipFill rotWithShape="1">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t="-3588" r="58979" b="29396"/>
          <a:stretch/>
        </p:blipFill>
        <p:spPr>
          <a:xfrm>
            <a:off x="4154192" y="917530"/>
            <a:ext cx="440821" cy="311727"/>
          </a:xfrm>
          <a:prstGeom prst="rect">
            <a:avLst/>
          </a:prstGeom>
          <a:solidFill>
            <a:schemeClr val="bg1"/>
          </a:solidFill>
        </p:spPr>
      </p:pic>
      <p:cxnSp>
        <p:nvCxnSpPr>
          <p:cNvPr id="3" name="Straight Connector 2">
            <a:extLst>
              <a:ext uri="{FF2B5EF4-FFF2-40B4-BE49-F238E27FC236}">
                <a16:creationId xmlns:a16="http://schemas.microsoft.com/office/drawing/2014/main" id="{409AAEC1-5FAB-681A-429D-C665458AB967}"/>
              </a:ext>
            </a:extLst>
          </p:cNvPr>
          <p:cNvCxnSpPr>
            <a:cxnSpLocks/>
            <a:stCxn id="90" idx="3"/>
            <a:endCxn id="98" idx="1"/>
          </p:cNvCxnSpPr>
          <p:nvPr/>
        </p:nvCxnSpPr>
        <p:spPr>
          <a:xfrm>
            <a:off x="4024396" y="1073394"/>
            <a:ext cx="129796"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57E7623F-AD97-6EDA-0551-C3C7E9305099}"/>
              </a:ext>
            </a:extLst>
          </p:cNvPr>
          <p:cNvGrpSpPr/>
          <p:nvPr/>
        </p:nvGrpSpPr>
        <p:grpSpPr>
          <a:xfrm rot="5400000">
            <a:off x="10685747" y="1837938"/>
            <a:ext cx="1094400" cy="445269"/>
            <a:chOff x="10355007" y="1964399"/>
            <a:chExt cx="1094400" cy="445269"/>
          </a:xfrm>
        </p:grpSpPr>
        <p:sp>
          <p:nvSpPr>
            <p:cNvPr id="75" name="Rectangle 74">
              <a:extLst>
                <a:ext uri="{FF2B5EF4-FFF2-40B4-BE49-F238E27FC236}">
                  <a16:creationId xmlns:a16="http://schemas.microsoft.com/office/drawing/2014/main" id="{8DCEAE88-4D07-42C5-BCD7-30E76D4A7652}"/>
                </a:ext>
              </a:extLst>
            </p:cNvPr>
            <p:cNvSpPr/>
            <p:nvPr/>
          </p:nvSpPr>
          <p:spPr>
            <a:xfrm>
              <a:off x="10355007" y="1964399"/>
              <a:ext cx="942000" cy="29286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a:t>74HC161</a:t>
              </a:r>
            </a:p>
          </p:txBody>
        </p:sp>
        <p:sp>
          <p:nvSpPr>
            <p:cNvPr id="100" name="Rectangle 99">
              <a:extLst>
                <a:ext uri="{FF2B5EF4-FFF2-40B4-BE49-F238E27FC236}">
                  <a16:creationId xmlns:a16="http://schemas.microsoft.com/office/drawing/2014/main" id="{7A8DA342-9C83-B68C-7569-7B290BA80BE9}"/>
                </a:ext>
              </a:extLst>
            </p:cNvPr>
            <p:cNvSpPr/>
            <p:nvPr/>
          </p:nvSpPr>
          <p:spPr>
            <a:xfrm>
              <a:off x="10507407" y="2116799"/>
              <a:ext cx="942000" cy="29286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a:t>74HC161</a:t>
              </a:r>
            </a:p>
          </p:txBody>
        </p:sp>
      </p:grpSp>
      <p:sp>
        <p:nvSpPr>
          <p:cNvPr id="101" name="Rectangle 100">
            <a:extLst>
              <a:ext uri="{FF2B5EF4-FFF2-40B4-BE49-F238E27FC236}">
                <a16:creationId xmlns:a16="http://schemas.microsoft.com/office/drawing/2014/main" id="{268D48FB-4F27-20C5-A3ED-CE6B4EA750EE}"/>
              </a:ext>
            </a:extLst>
          </p:cNvPr>
          <p:cNvSpPr/>
          <p:nvPr/>
        </p:nvSpPr>
        <p:spPr>
          <a:xfrm>
            <a:off x="10020856" y="1982779"/>
            <a:ext cx="303885" cy="3168243"/>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t>Data </a:t>
            </a:r>
          </a:p>
          <a:p>
            <a:pPr algn="ctr"/>
            <a:endParaRPr lang="en-US"/>
          </a:p>
          <a:p>
            <a:pPr algn="ctr"/>
            <a:r>
              <a:rPr lang="en-US"/>
              <a:t>  Bus </a:t>
            </a:r>
          </a:p>
          <a:p>
            <a:pPr algn="ctr"/>
            <a:r>
              <a:rPr lang="en-US"/>
              <a:t> </a:t>
            </a:r>
          </a:p>
        </p:txBody>
      </p:sp>
      <p:sp>
        <p:nvSpPr>
          <p:cNvPr id="22" name="Arrow: Left-Right 21">
            <a:extLst>
              <a:ext uri="{FF2B5EF4-FFF2-40B4-BE49-F238E27FC236}">
                <a16:creationId xmlns:a16="http://schemas.microsoft.com/office/drawing/2014/main" id="{26EBF11D-6019-51BE-DA8D-73632A1DB9D2}"/>
              </a:ext>
            </a:extLst>
          </p:cNvPr>
          <p:cNvSpPr/>
          <p:nvPr/>
        </p:nvSpPr>
        <p:spPr>
          <a:xfrm>
            <a:off x="7464512" y="4579448"/>
            <a:ext cx="2543635" cy="489280"/>
          </a:xfrm>
          <a:prstGeom prst="lef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t>Data Bus</a:t>
            </a:r>
          </a:p>
        </p:txBody>
      </p:sp>
      <p:grpSp>
        <p:nvGrpSpPr>
          <p:cNvPr id="103" name="Group 102">
            <a:extLst>
              <a:ext uri="{FF2B5EF4-FFF2-40B4-BE49-F238E27FC236}">
                <a16:creationId xmlns:a16="http://schemas.microsoft.com/office/drawing/2014/main" id="{E2C23304-8E77-781D-4A9E-0F62993E81DC}"/>
              </a:ext>
            </a:extLst>
          </p:cNvPr>
          <p:cNvGrpSpPr/>
          <p:nvPr/>
        </p:nvGrpSpPr>
        <p:grpSpPr>
          <a:xfrm rot="5400000">
            <a:off x="10351761" y="3011746"/>
            <a:ext cx="1094400" cy="445269"/>
            <a:chOff x="10355007" y="1964399"/>
            <a:chExt cx="1094400" cy="445269"/>
          </a:xfrm>
        </p:grpSpPr>
        <p:sp>
          <p:nvSpPr>
            <p:cNvPr id="105" name="Rectangle 104">
              <a:extLst>
                <a:ext uri="{FF2B5EF4-FFF2-40B4-BE49-F238E27FC236}">
                  <a16:creationId xmlns:a16="http://schemas.microsoft.com/office/drawing/2014/main" id="{5BE2DBF8-20CF-6FD1-7735-E751C2154C17}"/>
                </a:ext>
              </a:extLst>
            </p:cNvPr>
            <p:cNvSpPr/>
            <p:nvPr/>
          </p:nvSpPr>
          <p:spPr>
            <a:xfrm>
              <a:off x="10355007" y="1964399"/>
              <a:ext cx="942000" cy="29286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a:t>74HC161</a:t>
              </a:r>
            </a:p>
          </p:txBody>
        </p:sp>
        <p:sp>
          <p:nvSpPr>
            <p:cNvPr id="106" name="Rectangle 105">
              <a:extLst>
                <a:ext uri="{FF2B5EF4-FFF2-40B4-BE49-F238E27FC236}">
                  <a16:creationId xmlns:a16="http://schemas.microsoft.com/office/drawing/2014/main" id="{AFA3E3BB-2875-6FA8-AA5B-8666ED3CAE72}"/>
                </a:ext>
              </a:extLst>
            </p:cNvPr>
            <p:cNvSpPr/>
            <p:nvPr/>
          </p:nvSpPr>
          <p:spPr>
            <a:xfrm>
              <a:off x="10507407" y="2116799"/>
              <a:ext cx="942000" cy="29286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a:t>74HC161</a:t>
              </a:r>
            </a:p>
          </p:txBody>
        </p:sp>
      </p:grpSp>
      <p:sp>
        <p:nvSpPr>
          <p:cNvPr id="25" name="Arrow: Right 24">
            <a:extLst>
              <a:ext uri="{FF2B5EF4-FFF2-40B4-BE49-F238E27FC236}">
                <a16:creationId xmlns:a16="http://schemas.microsoft.com/office/drawing/2014/main" id="{241588B4-01B1-F3F8-1DB3-EACFD7CFEEBD}"/>
              </a:ext>
            </a:extLst>
          </p:cNvPr>
          <p:cNvSpPr/>
          <p:nvPr/>
        </p:nvSpPr>
        <p:spPr>
          <a:xfrm>
            <a:off x="10320017" y="2134468"/>
            <a:ext cx="744827" cy="239029"/>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11" name="Arrow: Right 110">
            <a:extLst>
              <a:ext uri="{FF2B5EF4-FFF2-40B4-BE49-F238E27FC236}">
                <a16:creationId xmlns:a16="http://schemas.microsoft.com/office/drawing/2014/main" id="{AE4E3701-F81D-17B5-B880-B1D553DA6F06}"/>
              </a:ext>
            </a:extLst>
          </p:cNvPr>
          <p:cNvSpPr/>
          <p:nvPr/>
        </p:nvSpPr>
        <p:spPr>
          <a:xfrm>
            <a:off x="10320017" y="3202640"/>
            <a:ext cx="408883" cy="241976"/>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cxnSp>
        <p:nvCxnSpPr>
          <p:cNvPr id="112" name="Connector: Elbow 111">
            <a:extLst>
              <a:ext uri="{FF2B5EF4-FFF2-40B4-BE49-F238E27FC236}">
                <a16:creationId xmlns:a16="http://schemas.microsoft.com/office/drawing/2014/main" id="{65BE50C3-C538-A46A-8E59-175F2CC1F396}"/>
              </a:ext>
            </a:extLst>
          </p:cNvPr>
          <p:cNvCxnSpPr>
            <a:cxnSpLocks/>
            <a:stCxn id="106" idx="1"/>
            <a:endCxn id="92" idx="3"/>
          </p:cNvCxnSpPr>
          <p:nvPr/>
        </p:nvCxnSpPr>
        <p:spPr>
          <a:xfrm rot="16200000" flipV="1">
            <a:off x="7290110" y="-693072"/>
            <a:ext cx="837556" cy="6227749"/>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BE0B8B7B-EAC3-FC3A-9A5D-940AA75F8470}"/>
              </a:ext>
            </a:extLst>
          </p:cNvPr>
          <p:cNvSpPr txBox="1"/>
          <p:nvPr/>
        </p:nvSpPr>
        <p:spPr>
          <a:xfrm>
            <a:off x="11396822" y="1798113"/>
            <a:ext cx="317716" cy="369332"/>
          </a:xfrm>
          <a:prstGeom prst="rect">
            <a:avLst/>
          </a:prstGeom>
          <a:noFill/>
        </p:spPr>
        <p:txBody>
          <a:bodyPr wrap="none" rtlCol="0">
            <a:spAutoFit/>
          </a:bodyPr>
          <a:lstStyle/>
          <a:p>
            <a:r>
              <a:rPr lang="en-US"/>
              <a:t>A</a:t>
            </a:r>
          </a:p>
        </p:txBody>
      </p:sp>
      <p:sp>
        <p:nvSpPr>
          <p:cNvPr id="126" name="TextBox 125">
            <a:extLst>
              <a:ext uri="{FF2B5EF4-FFF2-40B4-BE49-F238E27FC236}">
                <a16:creationId xmlns:a16="http://schemas.microsoft.com/office/drawing/2014/main" id="{8A320021-FE64-2EF7-6BDA-2496CBED7FA5}"/>
              </a:ext>
            </a:extLst>
          </p:cNvPr>
          <p:cNvSpPr txBox="1"/>
          <p:nvPr/>
        </p:nvSpPr>
        <p:spPr>
          <a:xfrm>
            <a:off x="11094294" y="3081459"/>
            <a:ext cx="309700" cy="369332"/>
          </a:xfrm>
          <a:prstGeom prst="rect">
            <a:avLst/>
          </a:prstGeom>
          <a:noFill/>
        </p:spPr>
        <p:txBody>
          <a:bodyPr wrap="none" rtlCol="0">
            <a:spAutoFit/>
          </a:bodyPr>
          <a:lstStyle/>
          <a:p>
            <a:r>
              <a:rPr lang="en-US"/>
              <a:t>B</a:t>
            </a:r>
          </a:p>
        </p:txBody>
      </p:sp>
      <p:sp>
        <p:nvSpPr>
          <p:cNvPr id="128" name="TextBox 127">
            <a:extLst>
              <a:ext uri="{FF2B5EF4-FFF2-40B4-BE49-F238E27FC236}">
                <a16:creationId xmlns:a16="http://schemas.microsoft.com/office/drawing/2014/main" id="{6D07568C-F4C4-4ECD-E2F9-C8578759DBD2}"/>
              </a:ext>
            </a:extLst>
          </p:cNvPr>
          <p:cNvSpPr txBox="1"/>
          <p:nvPr/>
        </p:nvSpPr>
        <p:spPr>
          <a:xfrm>
            <a:off x="11153027" y="4781697"/>
            <a:ext cx="308098" cy="369332"/>
          </a:xfrm>
          <a:prstGeom prst="rect">
            <a:avLst/>
          </a:prstGeom>
          <a:noFill/>
        </p:spPr>
        <p:txBody>
          <a:bodyPr wrap="none" rtlCol="0">
            <a:spAutoFit/>
          </a:bodyPr>
          <a:lstStyle/>
          <a:p>
            <a:r>
              <a:rPr lang="en-US"/>
              <a:t>C</a:t>
            </a:r>
          </a:p>
        </p:txBody>
      </p:sp>
      <p:sp>
        <p:nvSpPr>
          <p:cNvPr id="132" name="Arrow: Right 131">
            <a:extLst>
              <a:ext uri="{FF2B5EF4-FFF2-40B4-BE49-F238E27FC236}">
                <a16:creationId xmlns:a16="http://schemas.microsoft.com/office/drawing/2014/main" id="{8DDC8F4B-0EFA-C8C6-9A49-4B7A996DF7AD}"/>
              </a:ext>
            </a:extLst>
          </p:cNvPr>
          <p:cNvSpPr/>
          <p:nvPr/>
        </p:nvSpPr>
        <p:spPr>
          <a:xfrm rot="10800000">
            <a:off x="10279011" y="4802630"/>
            <a:ext cx="469475" cy="243223"/>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9B25A7D6-F049-3DA1-3547-9853EECB3B0F}"/>
              </a:ext>
            </a:extLst>
          </p:cNvPr>
          <p:cNvCxnSpPr>
            <a:cxnSpLocks/>
          </p:cNvCxnSpPr>
          <p:nvPr/>
        </p:nvCxnSpPr>
        <p:spPr>
          <a:xfrm>
            <a:off x="478717" y="1936887"/>
            <a:ext cx="182880"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133" name="Table 110">
            <a:extLst>
              <a:ext uri="{FF2B5EF4-FFF2-40B4-BE49-F238E27FC236}">
                <a16:creationId xmlns:a16="http://schemas.microsoft.com/office/drawing/2014/main" id="{34D2FAB7-D586-F192-D66B-2E93A886D477}"/>
              </a:ext>
            </a:extLst>
          </p:cNvPr>
          <p:cNvGraphicFramePr>
            <a:graphicFrameLocks noGrp="1"/>
          </p:cNvGraphicFramePr>
          <p:nvPr/>
        </p:nvGraphicFramePr>
        <p:xfrm>
          <a:off x="731777" y="1936805"/>
          <a:ext cx="1378332" cy="247176"/>
        </p:xfrm>
        <a:graphic>
          <a:graphicData uri="http://schemas.openxmlformats.org/drawingml/2006/table">
            <a:tbl>
              <a:tblPr bandRow="1">
                <a:tableStyleId>{5C22544A-7EE6-4342-B048-85BDC9FD1C3A}</a:tableStyleId>
              </a:tblPr>
              <a:tblGrid>
                <a:gridCol w="344583">
                  <a:extLst>
                    <a:ext uri="{9D8B030D-6E8A-4147-A177-3AD203B41FA5}">
                      <a16:colId xmlns:a16="http://schemas.microsoft.com/office/drawing/2014/main" val="866373483"/>
                    </a:ext>
                  </a:extLst>
                </a:gridCol>
                <a:gridCol w="344583">
                  <a:extLst>
                    <a:ext uri="{9D8B030D-6E8A-4147-A177-3AD203B41FA5}">
                      <a16:colId xmlns:a16="http://schemas.microsoft.com/office/drawing/2014/main" val="2024381536"/>
                    </a:ext>
                  </a:extLst>
                </a:gridCol>
                <a:gridCol w="344583">
                  <a:extLst>
                    <a:ext uri="{9D8B030D-6E8A-4147-A177-3AD203B41FA5}">
                      <a16:colId xmlns:a16="http://schemas.microsoft.com/office/drawing/2014/main" val="158804817"/>
                    </a:ext>
                  </a:extLst>
                </a:gridCol>
                <a:gridCol w="344583">
                  <a:extLst>
                    <a:ext uri="{9D8B030D-6E8A-4147-A177-3AD203B41FA5}">
                      <a16:colId xmlns:a16="http://schemas.microsoft.com/office/drawing/2014/main" val="1655900654"/>
                    </a:ext>
                  </a:extLst>
                </a:gridCol>
              </a:tblGrid>
              <a:tr h="247176">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91770497"/>
                  </a:ext>
                </a:extLst>
              </a:tr>
            </a:tbl>
          </a:graphicData>
        </a:graphic>
      </p:graphicFrame>
      <p:sp>
        <p:nvSpPr>
          <p:cNvPr id="82" name="Arrow: Right 81">
            <a:hlinkClick r:id="rId9" action="ppaction://hlinksldjump"/>
            <a:extLst>
              <a:ext uri="{FF2B5EF4-FFF2-40B4-BE49-F238E27FC236}">
                <a16:creationId xmlns:a16="http://schemas.microsoft.com/office/drawing/2014/main" id="{465DA97F-4A4E-C0E5-53D6-91CCB3C6CD5C}"/>
              </a:ext>
            </a:extLst>
          </p:cNvPr>
          <p:cNvSpPr/>
          <p:nvPr/>
        </p:nvSpPr>
        <p:spPr>
          <a:xfrm flipH="1">
            <a:off x="7968343" y="5618061"/>
            <a:ext cx="2175453" cy="515816"/>
          </a:xfrm>
          <a:prstGeom prst="rightArrow">
            <a:avLst/>
          </a:prstGeom>
          <a:solidFill>
            <a:schemeClr val="bg2"/>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Flags</a:t>
            </a:r>
          </a:p>
        </p:txBody>
      </p:sp>
      <p:sp>
        <p:nvSpPr>
          <p:cNvPr id="2" name="TextBox 1">
            <a:extLst>
              <a:ext uri="{FF2B5EF4-FFF2-40B4-BE49-F238E27FC236}">
                <a16:creationId xmlns:a16="http://schemas.microsoft.com/office/drawing/2014/main" id="{93AB52C5-87D7-5764-DD5D-9D29A085472D}"/>
              </a:ext>
            </a:extLst>
          </p:cNvPr>
          <p:cNvSpPr txBox="1"/>
          <p:nvPr/>
        </p:nvSpPr>
        <p:spPr>
          <a:xfrm>
            <a:off x="280505" y="5911425"/>
            <a:ext cx="7595377" cy="769441"/>
          </a:xfrm>
          <a:prstGeom prst="rect">
            <a:avLst/>
          </a:prstGeom>
          <a:solidFill>
            <a:srgbClr val="FFFFCC"/>
          </a:solidFill>
        </p:spPr>
        <p:txBody>
          <a:bodyPr wrap="square" rtlCol="0">
            <a:spAutoFit/>
          </a:bodyPr>
          <a:lstStyle/>
          <a:p>
            <a:r>
              <a:rPr lang="en-US" sz="1100" dirty="0"/>
              <a:t>Notes: Registers A and B are implemented by two HC161s, each stores 4 bits as the typical HC273 and HC347 won't fit into the 16pin sockets on the ALU </a:t>
            </a:r>
            <a:r>
              <a:rPr lang="en-US" sz="1100" dirty="0" err="1"/>
              <a:t>wirewrap</a:t>
            </a:r>
            <a:r>
              <a:rPr lang="en-US" sz="1100" dirty="0"/>
              <a:t> board.</a:t>
            </a:r>
          </a:p>
          <a:p>
            <a:r>
              <a:rPr lang="en-US" sz="1100" strike="sngStrike" dirty="0"/>
              <a:t>The branch relative instruction (Obsolete) doesn’t update flag bits to avoid corrupting the flag register state when executing a branch instruction (which may occur due to the ADD operation performed)</a:t>
            </a:r>
          </a:p>
        </p:txBody>
      </p:sp>
      <p:sp>
        <p:nvSpPr>
          <p:cNvPr id="6" name="TextBox 5">
            <a:extLst>
              <a:ext uri="{FF2B5EF4-FFF2-40B4-BE49-F238E27FC236}">
                <a16:creationId xmlns:a16="http://schemas.microsoft.com/office/drawing/2014/main" id="{D2BA562A-ABE7-D2B4-5A47-73EF785CD0E9}"/>
              </a:ext>
            </a:extLst>
          </p:cNvPr>
          <p:cNvSpPr txBox="1"/>
          <p:nvPr/>
        </p:nvSpPr>
        <p:spPr>
          <a:xfrm>
            <a:off x="1006053" y="2563902"/>
            <a:ext cx="1184299" cy="261610"/>
          </a:xfrm>
          <a:prstGeom prst="rect">
            <a:avLst/>
          </a:prstGeom>
          <a:noFill/>
        </p:spPr>
        <p:txBody>
          <a:bodyPr wrap="square" rtlCol="0">
            <a:spAutoFit/>
          </a:bodyPr>
          <a:lstStyle/>
          <a:p>
            <a:r>
              <a:rPr lang="en-US" sz="1100"/>
              <a:t>Branch Relative</a:t>
            </a:r>
          </a:p>
        </p:txBody>
      </p:sp>
    </p:spTree>
    <p:extLst>
      <p:ext uri="{BB962C8B-B14F-4D97-AF65-F5344CB8AC3E}">
        <p14:creationId xmlns:p14="http://schemas.microsoft.com/office/powerpoint/2010/main" val="1576743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67C80-5CD9-F99A-90F9-2542C8B7D5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A49A97-F821-434A-E772-56F774F1AD0B}"/>
              </a:ext>
            </a:extLst>
          </p:cNvPr>
          <p:cNvSpPr>
            <a:spLocks noGrp="1"/>
          </p:cNvSpPr>
          <p:nvPr>
            <p:ph type="ctrTitle"/>
          </p:nvPr>
        </p:nvSpPr>
        <p:spPr>
          <a:prstGeom prst="rect">
            <a:avLst/>
          </a:prstGeom>
          <a:solidFill>
            <a:schemeClr val="accent6">
              <a:lumMod val="20000"/>
              <a:lumOff val="80000"/>
            </a:schemeClr>
          </a:solidFill>
        </p:spPr>
        <p:txBody>
          <a:bodyPr/>
          <a:lstStyle/>
          <a:p>
            <a:r>
              <a:rPr lang="en-US"/>
              <a:t>ALU </a:t>
            </a:r>
            <a:r>
              <a:rPr lang="en-US" err="1"/>
              <a:t>OpCodes</a:t>
            </a:r>
            <a:r>
              <a:rPr lang="en-US"/>
              <a:t> 2,3,7</a:t>
            </a:r>
          </a:p>
        </p:txBody>
      </p:sp>
      <p:sp>
        <p:nvSpPr>
          <p:cNvPr id="3" name="Subtitle 2">
            <a:extLst>
              <a:ext uri="{FF2B5EF4-FFF2-40B4-BE49-F238E27FC236}">
                <a16:creationId xmlns:a16="http://schemas.microsoft.com/office/drawing/2014/main" id="{294F516D-ECC9-4DAA-0F17-8358710AAE7A}"/>
              </a:ext>
            </a:extLst>
          </p:cNvPr>
          <p:cNvSpPr>
            <a:spLocks noGrp="1"/>
          </p:cNvSpPr>
          <p:nvPr>
            <p:ph type="subTitle" idx="4294967295"/>
          </p:nvPr>
        </p:nvSpPr>
        <p:spPr>
          <a:xfrm>
            <a:off x="0" y="1181101"/>
            <a:ext cx="9144000" cy="901700"/>
          </a:xfrm>
          <a:prstGeom prst="rect">
            <a:avLst/>
          </a:prstGeom>
        </p:spPr>
        <p:txBody>
          <a:bodyPr/>
          <a:lstStyle/>
          <a:p>
            <a:pPr algn="l"/>
            <a:r>
              <a:rPr lang="en-US" sz="2000"/>
              <a:t>ALU opcode(010), SF(0 / 1) – A XOR B / !B</a:t>
            </a:r>
          </a:p>
          <a:p>
            <a:pPr algn="l"/>
            <a:r>
              <a:rPr lang="en-US" sz="2000"/>
              <a:t>No change to the source SF for ADD/SUB/ADC/SBC/!B</a:t>
            </a:r>
          </a:p>
          <a:p>
            <a:pPr marL="0" indent="0">
              <a:buNone/>
            </a:pPr>
            <a:endParaRPr lang="en-US" sz="2000"/>
          </a:p>
        </p:txBody>
      </p:sp>
      <p:sp>
        <p:nvSpPr>
          <p:cNvPr id="4" name="Trapezoid 3">
            <a:extLst>
              <a:ext uri="{FF2B5EF4-FFF2-40B4-BE49-F238E27FC236}">
                <a16:creationId xmlns:a16="http://schemas.microsoft.com/office/drawing/2014/main" id="{8E310B51-1230-B352-A77B-0D2415B26E18}"/>
              </a:ext>
            </a:extLst>
          </p:cNvPr>
          <p:cNvSpPr/>
          <p:nvPr/>
        </p:nvSpPr>
        <p:spPr>
          <a:xfrm rot="5400000">
            <a:off x="4612945" y="4218297"/>
            <a:ext cx="1137313" cy="436728"/>
          </a:xfrm>
          <a:prstGeom prst="trapezoid">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x8</a:t>
            </a:r>
          </a:p>
        </p:txBody>
      </p:sp>
      <p:sp>
        <p:nvSpPr>
          <p:cNvPr id="5" name="TextBox 4">
            <a:extLst>
              <a:ext uri="{FF2B5EF4-FFF2-40B4-BE49-F238E27FC236}">
                <a16:creationId xmlns:a16="http://schemas.microsoft.com/office/drawing/2014/main" id="{CDF81C7E-58E4-31AE-C547-59197228DC9D}"/>
              </a:ext>
            </a:extLst>
          </p:cNvPr>
          <p:cNvSpPr txBox="1"/>
          <p:nvPr/>
        </p:nvSpPr>
        <p:spPr>
          <a:xfrm>
            <a:off x="2739700" y="2575369"/>
            <a:ext cx="388248" cy="307777"/>
          </a:xfrm>
          <a:prstGeom prst="rect">
            <a:avLst/>
          </a:prstGeom>
          <a:noFill/>
          <a:ln>
            <a:solidFill>
              <a:schemeClr val="tx2"/>
            </a:solidFill>
          </a:ln>
        </p:spPr>
        <p:txBody>
          <a:bodyPr wrap="none" rtlCol="0">
            <a:spAutoFit/>
          </a:bodyPr>
          <a:lstStyle/>
          <a:p>
            <a:r>
              <a:rPr lang="en-US" sz="1400"/>
              <a:t>SF </a:t>
            </a:r>
          </a:p>
        </p:txBody>
      </p:sp>
      <p:cxnSp>
        <p:nvCxnSpPr>
          <p:cNvPr id="7" name="Connector: Elbow 6">
            <a:extLst>
              <a:ext uri="{FF2B5EF4-FFF2-40B4-BE49-F238E27FC236}">
                <a16:creationId xmlns:a16="http://schemas.microsoft.com/office/drawing/2014/main" id="{31145B3B-F6FE-CC31-E18F-9638FE20CEEC}"/>
              </a:ext>
            </a:extLst>
          </p:cNvPr>
          <p:cNvCxnSpPr>
            <a:cxnSpLocks/>
            <a:endCxn id="4" idx="1"/>
          </p:cNvCxnSpPr>
          <p:nvPr/>
        </p:nvCxnSpPr>
        <p:spPr>
          <a:xfrm>
            <a:off x="4561801" y="2972190"/>
            <a:ext cx="619801" cy="950407"/>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17C51D6-65E7-2D9B-010E-C45B9FBB3733}"/>
              </a:ext>
            </a:extLst>
          </p:cNvPr>
          <p:cNvSpPr txBox="1"/>
          <p:nvPr/>
        </p:nvSpPr>
        <p:spPr>
          <a:xfrm>
            <a:off x="2304435" y="4007177"/>
            <a:ext cx="396262" cy="369332"/>
          </a:xfrm>
          <a:prstGeom prst="rect">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txBody>
          <a:bodyPr wrap="none" rtlCol="0">
            <a:spAutoFit/>
          </a:bodyPr>
          <a:lstStyle/>
          <a:p>
            <a:r>
              <a:rPr lang="en-US"/>
              <a:t>SF</a:t>
            </a:r>
          </a:p>
        </p:txBody>
      </p:sp>
      <p:cxnSp>
        <p:nvCxnSpPr>
          <p:cNvPr id="10" name="Straight Connector 9">
            <a:extLst>
              <a:ext uri="{FF2B5EF4-FFF2-40B4-BE49-F238E27FC236}">
                <a16:creationId xmlns:a16="http://schemas.microsoft.com/office/drawing/2014/main" id="{C13A15E8-1C7C-2C94-5BD1-BCE787FA7862}"/>
              </a:ext>
            </a:extLst>
          </p:cNvPr>
          <p:cNvCxnSpPr>
            <a:cxnSpLocks/>
            <a:stCxn id="8" idx="3"/>
          </p:cNvCxnSpPr>
          <p:nvPr/>
        </p:nvCxnSpPr>
        <p:spPr>
          <a:xfrm>
            <a:off x="2700697" y="4191843"/>
            <a:ext cx="2262540" cy="1"/>
          </a:xfrm>
          <a:prstGeom prst="line">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2BC77FA-E319-1A43-AAA4-DCDFA4706683}"/>
              </a:ext>
            </a:extLst>
          </p:cNvPr>
          <p:cNvSpPr txBox="1"/>
          <p:nvPr/>
        </p:nvSpPr>
        <p:spPr>
          <a:xfrm>
            <a:off x="2659246" y="3673648"/>
            <a:ext cx="2286203" cy="369332"/>
          </a:xfrm>
          <a:prstGeom prst="rect">
            <a:avLst/>
          </a:prstGeom>
          <a:noFill/>
        </p:spPr>
        <p:txBody>
          <a:bodyPr wrap="none" rtlCol="0">
            <a:spAutoFit/>
          </a:bodyPr>
          <a:lstStyle/>
          <a:p>
            <a:r>
              <a:rPr lang="en-US"/>
              <a:t>ADD/SUB/ADC/SBC/!B</a:t>
            </a:r>
          </a:p>
        </p:txBody>
      </p:sp>
      <p:cxnSp>
        <p:nvCxnSpPr>
          <p:cNvPr id="12" name="Straight Connector 11">
            <a:extLst>
              <a:ext uri="{FF2B5EF4-FFF2-40B4-BE49-F238E27FC236}">
                <a16:creationId xmlns:a16="http://schemas.microsoft.com/office/drawing/2014/main" id="{244FAB48-8789-4C5F-4BE5-9B9E6CDE8343}"/>
              </a:ext>
            </a:extLst>
          </p:cNvPr>
          <p:cNvCxnSpPr>
            <a:cxnSpLocks/>
            <a:stCxn id="43" idx="3"/>
            <a:endCxn id="13" idx="1"/>
          </p:cNvCxnSpPr>
          <p:nvPr/>
        </p:nvCxnSpPr>
        <p:spPr>
          <a:xfrm>
            <a:off x="6614866" y="4433179"/>
            <a:ext cx="1074540" cy="3482"/>
          </a:xfrm>
          <a:prstGeom prst="line">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CCB9E97-BA47-FBFD-AEC1-9790A54B895A}"/>
              </a:ext>
            </a:extLst>
          </p:cNvPr>
          <p:cNvSpPr txBox="1"/>
          <p:nvPr/>
        </p:nvSpPr>
        <p:spPr>
          <a:xfrm>
            <a:off x="7689406" y="4251995"/>
            <a:ext cx="817853" cy="369332"/>
          </a:xfrm>
          <a:prstGeom prst="rect">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txBody>
          <a:bodyPr wrap="none" rtlCol="0">
            <a:spAutoFit/>
          </a:bodyPr>
          <a:lstStyle/>
          <a:p>
            <a:r>
              <a:rPr lang="en-US"/>
              <a:t>B or !B</a:t>
            </a:r>
          </a:p>
        </p:txBody>
      </p:sp>
      <p:sp>
        <p:nvSpPr>
          <p:cNvPr id="15" name="TextBox 14">
            <a:extLst>
              <a:ext uri="{FF2B5EF4-FFF2-40B4-BE49-F238E27FC236}">
                <a16:creationId xmlns:a16="http://schemas.microsoft.com/office/drawing/2014/main" id="{63F43E05-FE39-2C8A-1CF2-7A491CC65FDC}"/>
              </a:ext>
            </a:extLst>
          </p:cNvPr>
          <p:cNvSpPr txBox="1"/>
          <p:nvPr/>
        </p:nvSpPr>
        <p:spPr>
          <a:xfrm>
            <a:off x="2382982" y="4515137"/>
            <a:ext cx="317716" cy="369332"/>
          </a:xfrm>
          <a:prstGeom prst="rect">
            <a:avLst/>
          </a:prstGeom>
          <a:noFill/>
          <a:ln>
            <a:solidFill>
              <a:schemeClr val="tx2"/>
            </a:solidFill>
          </a:ln>
        </p:spPr>
        <p:txBody>
          <a:bodyPr wrap="none" rtlCol="0">
            <a:spAutoFit/>
          </a:bodyPr>
          <a:lstStyle/>
          <a:p>
            <a:r>
              <a:rPr lang="en-US"/>
              <a:t>A</a:t>
            </a:r>
          </a:p>
        </p:txBody>
      </p:sp>
      <p:cxnSp>
        <p:nvCxnSpPr>
          <p:cNvPr id="17" name="Straight Connector 16">
            <a:extLst>
              <a:ext uri="{FF2B5EF4-FFF2-40B4-BE49-F238E27FC236}">
                <a16:creationId xmlns:a16="http://schemas.microsoft.com/office/drawing/2014/main" id="{E683E32B-F889-D288-899C-AA545C2551F1}"/>
              </a:ext>
            </a:extLst>
          </p:cNvPr>
          <p:cNvCxnSpPr>
            <a:cxnSpLocks/>
            <a:stCxn id="15" idx="3"/>
          </p:cNvCxnSpPr>
          <p:nvPr/>
        </p:nvCxnSpPr>
        <p:spPr>
          <a:xfrm>
            <a:off x="2700698" y="4699803"/>
            <a:ext cx="2262539" cy="3"/>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BADE563-B1C0-003D-7F76-B668732ADF1B}"/>
              </a:ext>
            </a:extLst>
          </p:cNvPr>
          <p:cNvCxnSpPr/>
          <p:nvPr/>
        </p:nvCxnSpPr>
        <p:spPr>
          <a:xfrm flipH="1">
            <a:off x="3234519" y="4547657"/>
            <a:ext cx="200168" cy="304904"/>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BEE7E3D-0C9E-840C-C6F2-46F294117C59}"/>
              </a:ext>
            </a:extLst>
          </p:cNvPr>
          <p:cNvSpPr txBox="1"/>
          <p:nvPr/>
        </p:nvSpPr>
        <p:spPr>
          <a:xfrm>
            <a:off x="3212612" y="4730533"/>
            <a:ext cx="301686" cy="369332"/>
          </a:xfrm>
          <a:prstGeom prst="rect">
            <a:avLst/>
          </a:prstGeom>
          <a:noFill/>
        </p:spPr>
        <p:txBody>
          <a:bodyPr wrap="none" rtlCol="0">
            <a:spAutoFit/>
          </a:bodyPr>
          <a:lstStyle/>
          <a:p>
            <a:r>
              <a:rPr lang="en-US"/>
              <a:t>8</a:t>
            </a:r>
          </a:p>
        </p:txBody>
      </p:sp>
      <p:cxnSp>
        <p:nvCxnSpPr>
          <p:cNvPr id="18" name="Straight Connector 17">
            <a:extLst>
              <a:ext uri="{FF2B5EF4-FFF2-40B4-BE49-F238E27FC236}">
                <a16:creationId xmlns:a16="http://schemas.microsoft.com/office/drawing/2014/main" id="{1A0F05B1-1713-63A7-474F-1B51D723B53D}"/>
              </a:ext>
            </a:extLst>
          </p:cNvPr>
          <p:cNvCxnSpPr/>
          <p:nvPr/>
        </p:nvCxnSpPr>
        <p:spPr>
          <a:xfrm flipH="1">
            <a:off x="6494517" y="4286435"/>
            <a:ext cx="200168" cy="304904"/>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467F2CC-26E8-D988-B139-8FCD086B18D1}"/>
              </a:ext>
            </a:extLst>
          </p:cNvPr>
          <p:cNvSpPr txBox="1"/>
          <p:nvPr/>
        </p:nvSpPr>
        <p:spPr>
          <a:xfrm>
            <a:off x="6411049" y="4113865"/>
            <a:ext cx="387812" cy="369332"/>
          </a:xfrm>
          <a:prstGeom prst="rect">
            <a:avLst/>
          </a:prstGeom>
          <a:noFill/>
          <a:ln w="12700">
            <a:noFill/>
          </a:ln>
        </p:spPr>
        <p:txBody>
          <a:bodyPr wrap="square" rtlCol="0">
            <a:spAutoFit/>
          </a:bodyPr>
          <a:lstStyle/>
          <a:p>
            <a:r>
              <a:rPr lang="en-US"/>
              <a:t>8</a:t>
            </a:r>
          </a:p>
        </p:txBody>
      </p:sp>
      <p:sp>
        <p:nvSpPr>
          <p:cNvPr id="22" name="TextBox 21">
            <a:extLst>
              <a:ext uri="{FF2B5EF4-FFF2-40B4-BE49-F238E27FC236}">
                <a16:creationId xmlns:a16="http://schemas.microsoft.com/office/drawing/2014/main" id="{036921AC-1B26-ED0B-4BB0-6DBF22838275}"/>
              </a:ext>
            </a:extLst>
          </p:cNvPr>
          <p:cNvSpPr txBox="1"/>
          <p:nvPr/>
        </p:nvSpPr>
        <p:spPr>
          <a:xfrm>
            <a:off x="5598776" y="3453083"/>
            <a:ext cx="309700" cy="369332"/>
          </a:xfrm>
          <a:prstGeom prst="rect">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txBody>
          <a:bodyPr wrap="none" rtlCol="0">
            <a:spAutoFit/>
          </a:bodyPr>
          <a:lstStyle/>
          <a:p>
            <a:r>
              <a:rPr lang="en-US"/>
              <a:t>B</a:t>
            </a:r>
          </a:p>
        </p:txBody>
      </p:sp>
      <p:cxnSp>
        <p:nvCxnSpPr>
          <p:cNvPr id="23" name="Straight Connector 22">
            <a:extLst>
              <a:ext uri="{FF2B5EF4-FFF2-40B4-BE49-F238E27FC236}">
                <a16:creationId xmlns:a16="http://schemas.microsoft.com/office/drawing/2014/main" id="{97F0FFB3-8550-10CF-16AF-BE0B19596B95}"/>
              </a:ext>
            </a:extLst>
          </p:cNvPr>
          <p:cNvCxnSpPr>
            <a:cxnSpLocks/>
            <a:endCxn id="22" idx="2"/>
          </p:cNvCxnSpPr>
          <p:nvPr/>
        </p:nvCxnSpPr>
        <p:spPr>
          <a:xfrm flipH="1" flipV="1">
            <a:off x="5753626" y="3822415"/>
            <a:ext cx="1" cy="529297"/>
          </a:xfrm>
          <a:prstGeom prst="line">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47FA0EE-38EB-A1FB-098C-5392944786E6}"/>
              </a:ext>
            </a:extLst>
          </p:cNvPr>
          <p:cNvCxnSpPr>
            <a:cxnSpLocks/>
            <a:stCxn id="34" idx="2"/>
          </p:cNvCxnSpPr>
          <p:nvPr/>
        </p:nvCxnSpPr>
        <p:spPr>
          <a:xfrm flipH="1">
            <a:off x="6876054" y="5070545"/>
            <a:ext cx="0" cy="364559"/>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F04FA88B-20C6-C744-825A-4989FAD657D9}"/>
              </a:ext>
            </a:extLst>
          </p:cNvPr>
          <p:cNvSpPr txBox="1"/>
          <p:nvPr/>
        </p:nvSpPr>
        <p:spPr>
          <a:xfrm>
            <a:off x="5321770" y="5435103"/>
            <a:ext cx="2260555" cy="369332"/>
          </a:xfrm>
          <a:prstGeom prst="rect">
            <a:avLst/>
          </a:prstGeom>
          <a:noFill/>
          <a:ln w="12700">
            <a:solidFill>
              <a:srgbClr val="00B050"/>
            </a:solidFill>
          </a:ln>
        </p:spPr>
        <p:txBody>
          <a:bodyPr wrap="none" rtlCol="0">
            <a:spAutoFit/>
          </a:bodyPr>
          <a:lstStyle/>
          <a:p>
            <a:r>
              <a:rPr lang="en-US"/>
              <a:t>Op Code  ‘010’ output</a:t>
            </a:r>
          </a:p>
        </p:txBody>
      </p:sp>
      <p:sp>
        <p:nvSpPr>
          <p:cNvPr id="31" name="Rectangle: Rounded Corners 30">
            <a:extLst>
              <a:ext uri="{FF2B5EF4-FFF2-40B4-BE49-F238E27FC236}">
                <a16:creationId xmlns:a16="http://schemas.microsoft.com/office/drawing/2014/main" id="{39F05FAD-1678-DE49-266A-3B87A5826BAA}"/>
              </a:ext>
            </a:extLst>
          </p:cNvPr>
          <p:cNvSpPr/>
          <p:nvPr/>
        </p:nvSpPr>
        <p:spPr>
          <a:xfrm>
            <a:off x="9133983" y="3378960"/>
            <a:ext cx="1291988" cy="1555845"/>
          </a:xfrm>
          <a:prstGeom prst="roundRect">
            <a:avLst/>
          </a:prstGeom>
          <a:ln w="19050">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t>Adder</a:t>
            </a:r>
          </a:p>
        </p:txBody>
      </p:sp>
      <p:sp>
        <p:nvSpPr>
          <p:cNvPr id="32" name="TextBox 31">
            <a:extLst>
              <a:ext uri="{FF2B5EF4-FFF2-40B4-BE49-F238E27FC236}">
                <a16:creationId xmlns:a16="http://schemas.microsoft.com/office/drawing/2014/main" id="{3EE92B88-F21B-A4C1-BA0C-1E31317E7B79}"/>
              </a:ext>
            </a:extLst>
          </p:cNvPr>
          <p:cNvSpPr txBox="1"/>
          <p:nvPr/>
        </p:nvSpPr>
        <p:spPr>
          <a:xfrm>
            <a:off x="8191514" y="3770197"/>
            <a:ext cx="317716" cy="369332"/>
          </a:xfrm>
          <a:prstGeom prst="rect">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txBody>
          <a:bodyPr wrap="square" rtlCol="0">
            <a:spAutoFit/>
          </a:bodyPr>
          <a:lstStyle/>
          <a:p>
            <a:r>
              <a:rPr lang="en-US"/>
              <a:t>A</a:t>
            </a:r>
          </a:p>
        </p:txBody>
      </p:sp>
      <p:cxnSp>
        <p:nvCxnSpPr>
          <p:cNvPr id="33" name="Straight Connector 32">
            <a:extLst>
              <a:ext uri="{FF2B5EF4-FFF2-40B4-BE49-F238E27FC236}">
                <a16:creationId xmlns:a16="http://schemas.microsoft.com/office/drawing/2014/main" id="{F4F79706-D981-9331-7284-D7385EFD8B83}"/>
              </a:ext>
            </a:extLst>
          </p:cNvPr>
          <p:cNvCxnSpPr>
            <a:cxnSpLocks/>
            <a:stCxn id="32" idx="3"/>
          </p:cNvCxnSpPr>
          <p:nvPr/>
        </p:nvCxnSpPr>
        <p:spPr>
          <a:xfrm>
            <a:off x="8509230" y="3954863"/>
            <a:ext cx="634770" cy="3"/>
          </a:xfrm>
          <a:prstGeom prst="line">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7D6247D-22CA-3405-7263-A749EBF15AB7}"/>
              </a:ext>
            </a:extLst>
          </p:cNvPr>
          <p:cNvCxnSpPr>
            <a:cxnSpLocks/>
            <a:endCxn id="13" idx="3"/>
          </p:cNvCxnSpPr>
          <p:nvPr/>
        </p:nvCxnSpPr>
        <p:spPr>
          <a:xfrm flipH="1">
            <a:off x="8507259" y="4419509"/>
            <a:ext cx="626724" cy="17152"/>
          </a:xfrm>
          <a:prstGeom prst="line">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cxnSp>
      <p:sp>
        <p:nvSpPr>
          <p:cNvPr id="37" name="TextBox 36">
            <a:hlinkClick r:id="rId2" action="ppaction://hlinksldjump"/>
            <a:extLst>
              <a:ext uri="{FF2B5EF4-FFF2-40B4-BE49-F238E27FC236}">
                <a16:creationId xmlns:a16="http://schemas.microsoft.com/office/drawing/2014/main" id="{83BBB2FF-A7F9-E77B-7102-6148DC44813C}"/>
              </a:ext>
            </a:extLst>
          </p:cNvPr>
          <p:cNvSpPr txBox="1"/>
          <p:nvPr/>
        </p:nvSpPr>
        <p:spPr>
          <a:xfrm>
            <a:off x="8877871" y="5369261"/>
            <a:ext cx="1804212" cy="369332"/>
          </a:xfrm>
          <a:prstGeom prst="rect">
            <a:avLst/>
          </a:prstGeom>
          <a:noFill/>
          <a:ln w="19050">
            <a:solidFill>
              <a:srgbClr val="00B050"/>
            </a:solidFill>
          </a:ln>
        </p:spPr>
        <p:txBody>
          <a:bodyPr wrap="none" rtlCol="0">
            <a:spAutoFit/>
          </a:bodyPr>
          <a:lstStyle/>
          <a:p>
            <a:r>
              <a:rPr lang="en-US"/>
              <a:t>Carry-in to Adder</a:t>
            </a:r>
          </a:p>
        </p:txBody>
      </p:sp>
      <p:sp>
        <p:nvSpPr>
          <p:cNvPr id="38" name="TextBox 37">
            <a:extLst>
              <a:ext uri="{FF2B5EF4-FFF2-40B4-BE49-F238E27FC236}">
                <a16:creationId xmlns:a16="http://schemas.microsoft.com/office/drawing/2014/main" id="{AFCA6C8B-A3CA-7EC3-0357-4A9B44B740D5}"/>
              </a:ext>
            </a:extLst>
          </p:cNvPr>
          <p:cNvSpPr txBox="1"/>
          <p:nvPr/>
        </p:nvSpPr>
        <p:spPr>
          <a:xfrm>
            <a:off x="10781794" y="3833718"/>
            <a:ext cx="1334020" cy="646331"/>
          </a:xfrm>
          <a:prstGeom prst="rect">
            <a:avLst/>
          </a:prstGeom>
          <a:noFill/>
          <a:ln w="19050">
            <a:solidFill>
              <a:srgbClr val="00B050"/>
            </a:solidFill>
          </a:ln>
        </p:spPr>
        <p:txBody>
          <a:bodyPr wrap="none" rtlCol="0">
            <a:spAutoFit/>
          </a:bodyPr>
          <a:lstStyle/>
          <a:p>
            <a:r>
              <a:rPr lang="en-US"/>
              <a:t>Op Codes </a:t>
            </a:r>
          </a:p>
          <a:p>
            <a:r>
              <a:rPr lang="en-US"/>
              <a:t> ‘011’ , ‘111’</a:t>
            </a:r>
          </a:p>
        </p:txBody>
      </p:sp>
      <p:cxnSp>
        <p:nvCxnSpPr>
          <p:cNvPr id="40" name="Straight Arrow Connector 39">
            <a:extLst>
              <a:ext uri="{FF2B5EF4-FFF2-40B4-BE49-F238E27FC236}">
                <a16:creationId xmlns:a16="http://schemas.microsoft.com/office/drawing/2014/main" id="{E240819E-36B8-7A79-702E-54E1D5096F2F}"/>
              </a:ext>
            </a:extLst>
          </p:cNvPr>
          <p:cNvCxnSpPr>
            <a:cxnSpLocks/>
            <a:stCxn id="31" idx="3"/>
            <a:endCxn id="38" idx="1"/>
          </p:cNvCxnSpPr>
          <p:nvPr/>
        </p:nvCxnSpPr>
        <p:spPr>
          <a:xfrm>
            <a:off x="10425971" y="4156883"/>
            <a:ext cx="355823" cy="1"/>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46BF4122-704A-6231-8A6D-38A03C950D9F}"/>
              </a:ext>
            </a:extLst>
          </p:cNvPr>
          <p:cNvCxnSpPr>
            <a:cxnSpLocks/>
            <a:stCxn id="37" idx="0"/>
            <a:endCxn id="31" idx="2"/>
          </p:cNvCxnSpPr>
          <p:nvPr/>
        </p:nvCxnSpPr>
        <p:spPr>
          <a:xfrm flipV="1">
            <a:off x="9779977" y="4934805"/>
            <a:ext cx="0" cy="434456"/>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D9F1534D-5D0C-8B30-F1B1-AE9B8EE93BE8}"/>
              </a:ext>
            </a:extLst>
          </p:cNvPr>
          <p:cNvSpPr txBox="1"/>
          <p:nvPr/>
        </p:nvSpPr>
        <p:spPr>
          <a:xfrm>
            <a:off x="4572000" y="2686313"/>
            <a:ext cx="3178884" cy="307777"/>
          </a:xfrm>
          <a:prstGeom prst="rect">
            <a:avLst/>
          </a:prstGeom>
          <a:noFill/>
          <a:ln>
            <a:noFill/>
          </a:ln>
        </p:spPr>
        <p:txBody>
          <a:bodyPr wrap="none" rtlCol="0">
            <a:spAutoFit/>
          </a:bodyPr>
          <a:lstStyle/>
          <a:p>
            <a:r>
              <a:rPr lang="en-US" sz="1400"/>
              <a:t>{Op =XX0, SF = 0} </a:t>
            </a:r>
            <a:r>
              <a:rPr lang="en-US" sz="1400">
                <a:sym typeface="Wingdings" panose="05000000000000000000" pitchFamily="2" charset="2"/>
              </a:rPr>
              <a:t> A XOR B; Else B or !B</a:t>
            </a:r>
            <a:endParaRPr lang="en-US" sz="1400"/>
          </a:p>
        </p:txBody>
      </p:sp>
      <p:sp>
        <p:nvSpPr>
          <p:cNvPr id="61" name="TextBox 60">
            <a:extLst>
              <a:ext uri="{FF2B5EF4-FFF2-40B4-BE49-F238E27FC236}">
                <a16:creationId xmlns:a16="http://schemas.microsoft.com/office/drawing/2014/main" id="{2A39C83B-2FA4-AFD3-5CC1-4A9A4B252D1D}"/>
              </a:ext>
            </a:extLst>
          </p:cNvPr>
          <p:cNvSpPr txBox="1"/>
          <p:nvPr/>
        </p:nvSpPr>
        <p:spPr>
          <a:xfrm>
            <a:off x="2739700" y="3007340"/>
            <a:ext cx="979114" cy="307777"/>
          </a:xfrm>
          <a:prstGeom prst="rect">
            <a:avLst/>
          </a:prstGeom>
          <a:noFill/>
          <a:ln>
            <a:solidFill>
              <a:schemeClr val="tx2"/>
            </a:solidFill>
          </a:ln>
        </p:spPr>
        <p:txBody>
          <a:bodyPr wrap="none" rtlCol="0">
            <a:spAutoFit/>
          </a:bodyPr>
          <a:lstStyle/>
          <a:p>
            <a:r>
              <a:rPr lang="en-US" sz="1400" err="1"/>
              <a:t>ALU_Op</a:t>
            </a:r>
            <a:r>
              <a:rPr lang="en-US" sz="1400"/>
              <a:t>[0]</a:t>
            </a:r>
          </a:p>
        </p:txBody>
      </p:sp>
      <p:pic>
        <p:nvPicPr>
          <p:cNvPr id="16" name="Picture 15" descr="A picture containing silhouette, clipart&#10;&#10;Description automatically generated">
            <a:extLst>
              <a:ext uri="{FF2B5EF4-FFF2-40B4-BE49-F238E27FC236}">
                <a16:creationId xmlns:a16="http://schemas.microsoft.com/office/drawing/2014/main" id="{04517BCE-497B-0C97-D04E-C88720FB7D94}"/>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rot="5400000">
            <a:off x="4028495" y="2594502"/>
            <a:ext cx="504959" cy="776860"/>
          </a:xfrm>
          <a:prstGeom prst="rect">
            <a:avLst/>
          </a:prstGeom>
        </p:spPr>
      </p:pic>
      <p:cxnSp>
        <p:nvCxnSpPr>
          <p:cNvPr id="30" name="Connector: Elbow 29">
            <a:extLst>
              <a:ext uri="{FF2B5EF4-FFF2-40B4-BE49-F238E27FC236}">
                <a16:creationId xmlns:a16="http://schemas.microsoft.com/office/drawing/2014/main" id="{78F067C5-96DD-FCEF-B0C7-FD32859F60C1}"/>
              </a:ext>
            </a:extLst>
          </p:cNvPr>
          <p:cNvCxnSpPr>
            <a:stCxn id="61" idx="3"/>
          </p:cNvCxnSpPr>
          <p:nvPr/>
        </p:nvCxnSpPr>
        <p:spPr>
          <a:xfrm flipV="1">
            <a:off x="3718814" y="3039478"/>
            <a:ext cx="295769" cy="12175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1D305C53-3324-2972-4360-40118C2E3401}"/>
              </a:ext>
            </a:extLst>
          </p:cNvPr>
          <p:cNvCxnSpPr>
            <a:cxnSpLocks/>
            <a:stCxn id="5" idx="3"/>
          </p:cNvCxnSpPr>
          <p:nvPr/>
        </p:nvCxnSpPr>
        <p:spPr>
          <a:xfrm>
            <a:off x="3127948" y="2729258"/>
            <a:ext cx="875832" cy="161169"/>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A51F407F-4A52-9875-8C6F-D44DCD512A25}"/>
              </a:ext>
            </a:extLst>
          </p:cNvPr>
          <p:cNvSpPr txBox="1"/>
          <p:nvPr/>
        </p:nvSpPr>
        <p:spPr>
          <a:xfrm>
            <a:off x="4923671" y="4008726"/>
            <a:ext cx="256802" cy="261610"/>
          </a:xfrm>
          <a:prstGeom prst="rect">
            <a:avLst/>
          </a:prstGeom>
          <a:noFill/>
        </p:spPr>
        <p:txBody>
          <a:bodyPr wrap="none" rtlCol="0">
            <a:spAutoFit/>
          </a:bodyPr>
          <a:lstStyle/>
          <a:p>
            <a:r>
              <a:rPr lang="en-US" sz="1100"/>
              <a:t>0</a:t>
            </a:r>
          </a:p>
        </p:txBody>
      </p:sp>
      <p:sp>
        <p:nvSpPr>
          <p:cNvPr id="49" name="TextBox 48">
            <a:extLst>
              <a:ext uri="{FF2B5EF4-FFF2-40B4-BE49-F238E27FC236}">
                <a16:creationId xmlns:a16="http://schemas.microsoft.com/office/drawing/2014/main" id="{84FC91FD-6A3C-868D-F37A-0513514C7D9B}"/>
              </a:ext>
            </a:extLst>
          </p:cNvPr>
          <p:cNvSpPr txBox="1"/>
          <p:nvPr/>
        </p:nvSpPr>
        <p:spPr>
          <a:xfrm>
            <a:off x="4927509" y="4534315"/>
            <a:ext cx="256802" cy="261610"/>
          </a:xfrm>
          <a:prstGeom prst="rect">
            <a:avLst/>
          </a:prstGeom>
          <a:noFill/>
        </p:spPr>
        <p:txBody>
          <a:bodyPr wrap="none" rtlCol="0">
            <a:spAutoFit/>
          </a:bodyPr>
          <a:lstStyle/>
          <a:p>
            <a:r>
              <a:rPr lang="en-US" sz="1100"/>
              <a:t>1</a:t>
            </a:r>
          </a:p>
        </p:txBody>
      </p:sp>
      <p:pic>
        <p:nvPicPr>
          <p:cNvPr id="43" name="Picture 42" descr="A close up of the moon&#10;&#10;Description automatically generated with medium confidence">
            <a:extLst>
              <a:ext uri="{FF2B5EF4-FFF2-40B4-BE49-F238E27FC236}">
                <a16:creationId xmlns:a16="http://schemas.microsoft.com/office/drawing/2014/main" id="{C6D5BB19-4468-EC31-C601-ECD2ABCED85A}"/>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13972" r="27394"/>
          <a:stretch/>
        </p:blipFill>
        <p:spPr>
          <a:xfrm>
            <a:off x="5753627" y="4168529"/>
            <a:ext cx="861239" cy="529299"/>
          </a:xfrm>
          <a:prstGeom prst="rect">
            <a:avLst/>
          </a:prstGeom>
        </p:spPr>
      </p:pic>
      <p:sp>
        <p:nvSpPr>
          <p:cNvPr id="54" name="TextBox 53">
            <a:extLst>
              <a:ext uri="{FF2B5EF4-FFF2-40B4-BE49-F238E27FC236}">
                <a16:creationId xmlns:a16="http://schemas.microsoft.com/office/drawing/2014/main" id="{2DE51E7C-07EB-6155-8134-BE6F675C21EA}"/>
              </a:ext>
            </a:extLst>
          </p:cNvPr>
          <p:cNvSpPr txBox="1"/>
          <p:nvPr/>
        </p:nvSpPr>
        <p:spPr>
          <a:xfrm>
            <a:off x="6041967" y="4271226"/>
            <a:ext cx="401072" cy="369332"/>
          </a:xfrm>
          <a:prstGeom prst="rect">
            <a:avLst/>
          </a:prstGeom>
          <a:noFill/>
          <a:ln w="12700">
            <a:noFill/>
          </a:ln>
        </p:spPr>
        <p:txBody>
          <a:bodyPr wrap="square" rtlCol="0">
            <a:spAutoFit/>
          </a:bodyPr>
          <a:lstStyle/>
          <a:p>
            <a:r>
              <a:rPr lang="en-US"/>
              <a:t>x8</a:t>
            </a:r>
          </a:p>
        </p:txBody>
      </p:sp>
      <p:cxnSp>
        <p:nvCxnSpPr>
          <p:cNvPr id="50" name="Connector: Elbow 49">
            <a:extLst>
              <a:ext uri="{FF2B5EF4-FFF2-40B4-BE49-F238E27FC236}">
                <a16:creationId xmlns:a16="http://schemas.microsoft.com/office/drawing/2014/main" id="{2A8A09DD-54D4-EA03-EA3D-B8F97579CCAC}"/>
              </a:ext>
            </a:extLst>
          </p:cNvPr>
          <p:cNvCxnSpPr>
            <a:cxnSpLocks/>
            <a:stCxn id="4" idx="0"/>
          </p:cNvCxnSpPr>
          <p:nvPr/>
        </p:nvCxnSpPr>
        <p:spPr>
          <a:xfrm>
            <a:off x="5399965" y="4436663"/>
            <a:ext cx="363083" cy="123029"/>
          </a:xfrm>
          <a:prstGeom prst="bentConnector3">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cxnSp>
      <p:pic>
        <p:nvPicPr>
          <p:cNvPr id="21" name="Picture 20">
            <a:hlinkClick r:id="rId7" action="ppaction://hlinksldjump"/>
            <a:extLst>
              <a:ext uri="{FF2B5EF4-FFF2-40B4-BE49-F238E27FC236}">
                <a16:creationId xmlns:a16="http://schemas.microsoft.com/office/drawing/2014/main" id="{B5454885-8405-62CE-A697-9845F0DF0D64}"/>
              </a:ext>
            </a:extLst>
          </p:cNvPr>
          <p:cNvPicPr>
            <a:picLocks noChangeAspect="1"/>
          </p:cNvPicPr>
          <p:nvPr/>
        </p:nvPicPr>
        <p:blipFill>
          <a:blip r:embed="rId8"/>
          <a:stretch>
            <a:fillRect/>
          </a:stretch>
        </p:blipFill>
        <p:spPr>
          <a:xfrm>
            <a:off x="11038384" y="6427540"/>
            <a:ext cx="1076851" cy="222744"/>
          </a:xfrm>
          <a:prstGeom prst="rect">
            <a:avLst/>
          </a:prstGeom>
        </p:spPr>
      </p:pic>
      <p:sp>
        <p:nvSpPr>
          <p:cNvPr id="24" name="Slide Number Placeholder 4">
            <a:extLst>
              <a:ext uri="{FF2B5EF4-FFF2-40B4-BE49-F238E27FC236}">
                <a16:creationId xmlns:a16="http://schemas.microsoft.com/office/drawing/2014/main" id="{E7991ED5-457C-30D3-F251-9A53B71D40D5}"/>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37</a:t>
            </a:fld>
            <a:endParaRPr lang="en-US" b="1">
              <a:solidFill>
                <a:schemeClr val="bg1"/>
              </a:solidFill>
            </a:endParaRPr>
          </a:p>
        </p:txBody>
      </p:sp>
      <p:graphicFrame>
        <p:nvGraphicFramePr>
          <p:cNvPr id="25" name="Table 4">
            <a:extLst>
              <a:ext uri="{FF2B5EF4-FFF2-40B4-BE49-F238E27FC236}">
                <a16:creationId xmlns:a16="http://schemas.microsoft.com/office/drawing/2014/main" id="{D371FD4C-76CF-6CC0-28C9-A2985C45686B}"/>
              </a:ext>
            </a:extLst>
          </p:cNvPr>
          <p:cNvGraphicFramePr>
            <a:graphicFrameLocks noGrp="1"/>
          </p:cNvGraphicFramePr>
          <p:nvPr/>
        </p:nvGraphicFramePr>
        <p:xfrm>
          <a:off x="5642015" y="34437"/>
          <a:ext cx="6106641" cy="1250628"/>
        </p:xfrm>
        <a:graphic>
          <a:graphicData uri="http://schemas.openxmlformats.org/drawingml/2006/table">
            <a:tbl>
              <a:tblPr firstRow="1" bandRow="1">
                <a:tableStyleId>{5C22544A-7EE6-4342-B048-85BDC9FD1C3A}</a:tableStyleId>
              </a:tblPr>
              <a:tblGrid>
                <a:gridCol w="878888">
                  <a:extLst>
                    <a:ext uri="{9D8B030D-6E8A-4147-A177-3AD203B41FA5}">
                      <a16:colId xmlns:a16="http://schemas.microsoft.com/office/drawing/2014/main" val="321351132"/>
                    </a:ext>
                  </a:extLst>
                </a:gridCol>
                <a:gridCol w="1145809">
                  <a:extLst>
                    <a:ext uri="{9D8B030D-6E8A-4147-A177-3AD203B41FA5}">
                      <a16:colId xmlns:a16="http://schemas.microsoft.com/office/drawing/2014/main" val="947167074"/>
                    </a:ext>
                  </a:extLst>
                </a:gridCol>
                <a:gridCol w="735663">
                  <a:extLst>
                    <a:ext uri="{9D8B030D-6E8A-4147-A177-3AD203B41FA5}">
                      <a16:colId xmlns:a16="http://schemas.microsoft.com/office/drawing/2014/main" val="1277270301"/>
                    </a:ext>
                  </a:extLst>
                </a:gridCol>
                <a:gridCol w="1367157">
                  <a:extLst>
                    <a:ext uri="{9D8B030D-6E8A-4147-A177-3AD203B41FA5}">
                      <a16:colId xmlns:a16="http://schemas.microsoft.com/office/drawing/2014/main" val="3038520054"/>
                    </a:ext>
                  </a:extLst>
                </a:gridCol>
                <a:gridCol w="781233">
                  <a:extLst>
                    <a:ext uri="{9D8B030D-6E8A-4147-A177-3AD203B41FA5}">
                      <a16:colId xmlns:a16="http://schemas.microsoft.com/office/drawing/2014/main" val="3406501913"/>
                    </a:ext>
                  </a:extLst>
                </a:gridCol>
                <a:gridCol w="1197891">
                  <a:extLst>
                    <a:ext uri="{9D8B030D-6E8A-4147-A177-3AD203B41FA5}">
                      <a16:colId xmlns:a16="http://schemas.microsoft.com/office/drawing/2014/main" val="3358223032"/>
                    </a:ext>
                  </a:extLst>
                </a:gridCol>
              </a:tblGrid>
              <a:tr h="312657">
                <a:tc>
                  <a:txBody>
                    <a:bodyPr/>
                    <a:lstStyle/>
                    <a:p>
                      <a:pPr algn="ctr"/>
                      <a:r>
                        <a:rPr lang="en-US" sz="1200"/>
                        <a:t>Op Select</a:t>
                      </a:r>
                    </a:p>
                  </a:txBody>
                  <a:tcPr/>
                </a:tc>
                <a:tc gridSpan="2">
                  <a:txBody>
                    <a:bodyPr/>
                    <a:lstStyle/>
                    <a:p>
                      <a:pPr algn="ctr"/>
                      <a:r>
                        <a:rPr lang="en-US" sz="1200"/>
                        <a:t>Special </a:t>
                      </a:r>
                      <a:r>
                        <a:rPr lang="en-US" sz="1200" err="1"/>
                        <a:t>Func</a:t>
                      </a:r>
                      <a:r>
                        <a:rPr lang="en-US" sz="1200"/>
                        <a:t>. = 0</a:t>
                      </a:r>
                    </a:p>
                  </a:txBody>
                  <a:tcPr/>
                </a:tc>
                <a:tc hMerge="1">
                  <a:txBody>
                    <a:bodyPr/>
                    <a:lstStyle/>
                    <a:p>
                      <a:endParaRPr lang="en-US"/>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Special </a:t>
                      </a:r>
                      <a:r>
                        <a:rPr lang="en-US" sz="1200" err="1"/>
                        <a:t>Func</a:t>
                      </a:r>
                      <a:r>
                        <a:rPr lang="en-US" sz="1200"/>
                        <a:t>. = 1</a:t>
                      </a:r>
                    </a:p>
                  </a:txBody>
                  <a:tcPr/>
                </a:tc>
                <a:tc hMerge="1">
                  <a:txBody>
                    <a:bodyPr/>
                    <a:lstStyle/>
                    <a:p>
                      <a:endParaRPr lang="en-US"/>
                    </a:p>
                  </a:txBody>
                  <a:tcPr/>
                </a:tc>
                <a:tc>
                  <a:txBody>
                    <a:bodyPr/>
                    <a:lstStyle/>
                    <a:p>
                      <a:pPr algn="ctr"/>
                      <a:r>
                        <a:rPr lang="en-US" sz="1200"/>
                        <a:t>Flag in</a:t>
                      </a:r>
                    </a:p>
                  </a:txBody>
                  <a:tcPr/>
                </a:tc>
                <a:extLst>
                  <a:ext uri="{0D108BD9-81ED-4DB2-BD59-A6C34878D82A}">
                    <a16:rowId xmlns:a16="http://schemas.microsoft.com/office/drawing/2014/main" val="1172704005"/>
                  </a:ext>
                </a:extLst>
              </a:tr>
              <a:tr h="312657">
                <a:tc>
                  <a:txBody>
                    <a:bodyPr/>
                    <a:lstStyle/>
                    <a:p>
                      <a:pPr algn="ctr"/>
                      <a:r>
                        <a:rPr lang="en-US" sz="1200"/>
                        <a:t>010 - 2</a:t>
                      </a:r>
                    </a:p>
                  </a:txBody>
                  <a:tcPr/>
                </a:tc>
                <a:tc>
                  <a:txBody>
                    <a:bodyPr/>
                    <a:lstStyle/>
                    <a:p>
                      <a:pPr algn="ctr"/>
                      <a:r>
                        <a:rPr lang="en-US" sz="1200" b="0">
                          <a:solidFill>
                            <a:schemeClr val="tx1"/>
                          </a:solidFill>
                        </a:rPr>
                        <a:t>A XOR B</a:t>
                      </a:r>
                    </a:p>
                  </a:txBody>
                  <a:tcPr>
                    <a:lnR w="12700" cap="flat" cmpd="sng" algn="ctr">
                      <a:solidFill>
                        <a:schemeClr val="bg1"/>
                      </a:solidFill>
                      <a:prstDash val="solid"/>
                      <a:round/>
                      <a:headEnd type="none" w="med" len="med"/>
                      <a:tailEnd type="none" w="med" len="med"/>
                    </a:lnR>
                  </a:tcPr>
                </a:tc>
                <a:tc>
                  <a:txBody>
                    <a:bodyPr/>
                    <a:lstStyle/>
                    <a:p>
                      <a:pPr algn="l"/>
                      <a:r>
                        <a:rPr lang="en-US" sz="1200" b="0">
                          <a:solidFill>
                            <a:schemeClr val="tx1"/>
                          </a:solidFill>
                        </a:rPr>
                        <a:t>XOR:  4</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200"/>
                        <a:t>!B</a:t>
                      </a:r>
                    </a:p>
                  </a:txBody>
                  <a:tcPr>
                    <a:lnR w="12700" cap="flat" cmpd="sng" algn="ctr">
                      <a:solidFill>
                        <a:schemeClr val="bg1"/>
                      </a:solidFill>
                      <a:prstDash val="solid"/>
                      <a:round/>
                      <a:headEnd type="none" w="med" len="med"/>
                      <a:tailEnd type="none" w="med" len="med"/>
                    </a:lnR>
                  </a:tcPr>
                </a:tc>
                <a:tc>
                  <a:txBody>
                    <a:bodyPr/>
                    <a:lstStyle/>
                    <a:p>
                      <a:pPr algn="l"/>
                      <a:r>
                        <a:rPr lang="en-US" sz="1200"/>
                        <a:t>NOT:  5</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200"/>
                        <a:t>-</a:t>
                      </a:r>
                    </a:p>
                  </a:txBody>
                  <a:tcPr/>
                </a:tc>
                <a:extLst>
                  <a:ext uri="{0D108BD9-81ED-4DB2-BD59-A6C34878D82A}">
                    <a16:rowId xmlns:a16="http://schemas.microsoft.com/office/drawing/2014/main" val="1360638868"/>
                  </a:ext>
                </a:extLst>
              </a:tr>
              <a:tr h="312657">
                <a:tc>
                  <a:txBody>
                    <a:bodyPr/>
                    <a:lstStyle/>
                    <a:p>
                      <a:pPr algn="ctr"/>
                      <a:r>
                        <a:rPr lang="en-US" sz="1200"/>
                        <a:t>011 - 3</a:t>
                      </a:r>
                    </a:p>
                  </a:txBody>
                  <a:tcPr/>
                </a:tc>
                <a:tc>
                  <a:txBody>
                    <a:bodyPr/>
                    <a:lstStyle/>
                    <a:p>
                      <a:pPr algn="ctr"/>
                      <a:r>
                        <a:rPr lang="en-US" sz="1200"/>
                        <a:t>A + B</a:t>
                      </a:r>
                    </a:p>
                  </a:txBody>
                  <a:tcPr>
                    <a:lnR w="12700" cap="flat" cmpd="sng" algn="ctr">
                      <a:solidFill>
                        <a:schemeClr val="bg1"/>
                      </a:solidFill>
                      <a:prstDash val="solid"/>
                      <a:round/>
                      <a:headEnd type="none" w="med" len="med"/>
                      <a:tailEnd type="none" w="med" len="med"/>
                    </a:lnR>
                  </a:tcPr>
                </a:tc>
                <a:tc>
                  <a:txBody>
                    <a:bodyPr/>
                    <a:lstStyle/>
                    <a:p>
                      <a:pPr algn="l"/>
                      <a:r>
                        <a:rPr lang="en-US" sz="1200"/>
                        <a:t>ADD:  6</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200"/>
                        <a:t>A – B</a:t>
                      </a:r>
                    </a:p>
                  </a:txBody>
                  <a:tcPr>
                    <a:lnR w="12700" cap="flat" cmpd="sng" algn="ctr">
                      <a:solidFill>
                        <a:schemeClr val="bg1"/>
                      </a:solidFill>
                      <a:prstDash val="solid"/>
                      <a:round/>
                      <a:headEnd type="none" w="med" len="med"/>
                      <a:tailEnd type="none" w="med" len="med"/>
                    </a:lnR>
                  </a:tcPr>
                </a:tc>
                <a:tc>
                  <a:txBody>
                    <a:bodyPr/>
                    <a:lstStyle/>
                    <a:p>
                      <a:pPr algn="l"/>
                      <a:r>
                        <a:rPr lang="en-US" sz="1200"/>
                        <a:t>SUB:  7</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200"/>
                        <a:t>- </a:t>
                      </a:r>
                    </a:p>
                  </a:txBody>
                  <a:tcPr/>
                </a:tc>
                <a:extLst>
                  <a:ext uri="{0D108BD9-81ED-4DB2-BD59-A6C34878D82A}">
                    <a16:rowId xmlns:a16="http://schemas.microsoft.com/office/drawing/2014/main" val="4155580310"/>
                  </a:ext>
                </a:extLst>
              </a:tr>
              <a:tr h="312657">
                <a:tc>
                  <a:txBody>
                    <a:bodyPr/>
                    <a:lstStyle/>
                    <a:p>
                      <a:pPr algn="ctr"/>
                      <a:r>
                        <a:rPr lang="en-US" sz="1200">
                          <a:solidFill>
                            <a:schemeClr val="tx1"/>
                          </a:solidFill>
                        </a:rPr>
                        <a:t>111- 7</a:t>
                      </a:r>
                    </a:p>
                  </a:txBody>
                  <a:tcPr/>
                </a:tc>
                <a:tc>
                  <a:txBody>
                    <a:bodyPr/>
                    <a:lstStyle/>
                    <a:p>
                      <a:pPr algn="ctr"/>
                      <a:r>
                        <a:rPr lang="en-US" sz="1200">
                          <a:solidFill>
                            <a:schemeClr val="tx1"/>
                          </a:solidFill>
                        </a:rPr>
                        <a:t>A + B + </a:t>
                      </a:r>
                      <a:r>
                        <a:rPr lang="en-US" sz="1200" err="1">
                          <a:solidFill>
                            <a:schemeClr val="tx1"/>
                          </a:solidFill>
                        </a:rPr>
                        <a:t>Cin</a:t>
                      </a:r>
                      <a:endParaRPr lang="en-US" sz="1200">
                        <a:solidFill>
                          <a:schemeClr val="tx1"/>
                        </a:solidFill>
                      </a:endParaRPr>
                    </a:p>
                  </a:txBody>
                  <a:tcPr>
                    <a:lnR w="12700" cap="flat" cmpd="sng" algn="ctr">
                      <a:solidFill>
                        <a:schemeClr val="bg1"/>
                      </a:solidFill>
                      <a:prstDash val="solid"/>
                      <a:round/>
                      <a:headEnd type="none" w="med" len="med"/>
                      <a:tailEnd type="none" w="med" len="med"/>
                    </a:lnR>
                  </a:tcPr>
                </a:tc>
                <a:tc>
                  <a:txBody>
                    <a:bodyPr/>
                    <a:lstStyle/>
                    <a:p>
                      <a:pPr algn="l"/>
                      <a:r>
                        <a:rPr lang="en-US" sz="1200">
                          <a:solidFill>
                            <a:schemeClr val="tx1"/>
                          </a:solidFill>
                        </a:rPr>
                        <a:t>ADC:  E </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200">
                          <a:solidFill>
                            <a:schemeClr val="tx1"/>
                          </a:solidFill>
                        </a:rPr>
                        <a:t>A – B + </a:t>
                      </a:r>
                      <a:r>
                        <a:rPr lang="en-US" sz="1200" err="1">
                          <a:solidFill>
                            <a:schemeClr val="tx1"/>
                          </a:solidFill>
                        </a:rPr>
                        <a:t>Cin</a:t>
                      </a:r>
                      <a:endParaRPr lang="en-US" sz="1200">
                        <a:solidFill>
                          <a:schemeClr val="tx1"/>
                        </a:solidFill>
                      </a:endParaRPr>
                    </a:p>
                  </a:txBody>
                  <a:tcPr>
                    <a:lnR w="12700" cap="flat" cmpd="sng" algn="ctr">
                      <a:solidFill>
                        <a:schemeClr val="bg1"/>
                      </a:solidFill>
                      <a:prstDash val="solid"/>
                      <a:round/>
                      <a:headEnd type="none" w="med" len="med"/>
                      <a:tailEnd type="none" w="med" len="med"/>
                    </a:lnR>
                  </a:tcPr>
                </a:tc>
                <a:tc>
                  <a:txBody>
                    <a:bodyPr/>
                    <a:lstStyle/>
                    <a:p>
                      <a:pPr algn="l"/>
                      <a:r>
                        <a:rPr lang="en-US" sz="1200">
                          <a:solidFill>
                            <a:schemeClr val="tx1"/>
                          </a:solidFill>
                        </a:rPr>
                        <a:t>SBC:  F</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200" err="1">
                          <a:solidFill>
                            <a:schemeClr val="tx1"/>
                          </a:solidFill>
                        </a:rPr>
                        <a:t>Cin</a:t>
                      </a:r>
                      <a:endParaRPr lang="en-US" sz="1200">
                        <a:solidFill>
                          <a:schemeClr val="tx1"/>
                        </a:solidFill>
                      </a:endParaRPr>
                    </a:p>
                  </a:txBody>
                  <a:tcPr/>
                </a:tc>
                <a:extLst>
                  <a:ext uri="{0D108BD9-81ED-4DB2-BD59-A6C34878D82A}">
                    <a16:rowId xmlns:a16="http://schemas.microsoft.com/office/drawing/2014/main" val="3768586301"/>
                  </a:ext>
                </a:extLst>
              </a:tr>
            </a:tbl>
          </a:graphicData>
        </a:graphic>
      </p:graphicFrame>
      <p:sp>
        <p:nvSpPr>
          <p:cNvPr id="34" name="TextBox 33">
            <a:extLst>
              <a:ext uri="{FF2B5EF4-FFF2-40B4-BE49-F238E27FC236}">
                <a16:creationId xmlns:a16="http://schemas.microsoft.com/office/drawing/2014/main" id="{8ED365AE-9BC2-45CE-FC90-00D58CDB7347}"/>
              </a:ext>
            </a:extLst>
          </p:cNvPr>
          <p:cNvSpPr txBox="1"/>
          <p:nvPr/>
        </p:nvSpPr>
        <p:spPr>
          <a:xfrm>
            <a:off x="6278382" y="4762768"/>
            <a:ext cx="1272913" cy="307777"/>
          </a:xfrm>
          <a:prstGeom prst="rect">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txBody>
          <a:bodyPr wrap="none" rtlCol="0">
            <a:spAutoFit/>
          </a:bodyPr>
          <a:lstStyle/>
          <a:p>
            <a:r>
              <a:rPr lang="en-US" sz="1400" dirty="0"/>
              <a:t>!B or (A XOR B)</a:t>
            </a:r>
          </a:p>
        </p:txBody>
      </p:sp>
      <p:cxnSp>
        <p:nvCxnSpPr>
          <p:cNvPr id="44" name="Straight Arrow Connector 43">
            <a:extLst>
              <a:ext uri="{FF2B5EF4-FFF2-40B4-BE49-F238E27FC236}">
                <a16:creationId xmlns:a16="http://schemas.microsoft.com/office/drawing/2014/main" id="{7CCBC318-37F1-4EFC-9639-1D91A9558EBF}"/>
              </a:ext>
            </a:extLst>
          </p:cNvPr>
          <p:cNvCxnSpPr>
            <a:cxnSpLocks/>
            <a:endCxn id="34" idx="0"/>
          </p:cNvCxnSpPr>
          <p:nvPr/>
        </p:nvCxnSpPr>
        <p:spPr>
          <a:xfrm>
            <a:off x="6887586" y="4419508"/>
            <a:ext cx="0" cy="34326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8377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31FEA-EDA4-FF12-90F5-0A10EC5C08F9}"/>
              </a:ext>
            </a:extLst>
          </p:cNvPr>
          <p:cNvSpPr>
            <a:spLocks noGrp="1"/>
          </p:cNvSpPr>
          <p:nvPr>
            <p:ph type="ctrTitle"/>
          </p:nvPr>
        </p:nvSpPr>
        <p:spPr>
          <a:prstGeom prst="rect">
            <a:avLst/>
          </a:prstGeom>
        </p:spPr>
        <p:txBody>
          <a:bodyPr/>
          <a:lstStyle/>
          <a:p>
            <a:r>
              <a:rPr lang="en-US"/>
              <a:t>Branch (v2.0)</a:t>
            </a:r>
          </a:p>
        </p:txBody>
      </p:sp>
      <p:sp>
        <p:nvSpPr>
          <p:cNvPr id="4" name="Trapezoid 3">
            <a:extLst>
              <a:ext uri="{FF2B5EF4-FFF2-40B4-BE49-F238E27FC236}">
                <a16:creationId xmlns:a16="http://schemas.microsoft.com/office/drawing/2014/main" id="{C1806882-918C-D9C8-DE8A-90D47ADD5F9C}"/>
              </a:ext>
            </a:extLst>
          </p:cNvPr>
          <p:cNvSpPr/>
          <p:nvPr/>
        </p:nvSpPr>
        <p:spPr>
          <a:xfrm rot="16200000">
            <a:off x="4909478" y="3268612"/>
            <a:ext cx="1097049" cy="366417"/>
          </a:xfrm>
          <a:prstGeom prst="trapezoid">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a:t>74HC151</a:t>
            </a:r>
          </a:p>
        </p:txBody>
      </p:sp>
      <p:sp>
        <p:nvSpPr>
          <p:cNvPr id="5" name="Arrow: Right 4">
            <a:hlinkClick r:id="rId2" action="ppaction://hlinksldjump"/>
            <a:extLst>
              <a:ext uri="{FF2B5EF4-FFF2-40B4-BE49-F238E27FC236}">
                <a16:creationId xmlns:a16="http://schemas.microsoft.com/office/drawing/2014/main" id="{835F1750-F4C7-1FFB-BFAF-C1CBE7F0AA7F}"/>
              </a:ext>
            </a:extLst>
          </p:cNvPr>
          <p:cNvSpPr/>
          <p:nvPr/>
        </p:nvSpPr>
        <p:spPr>
          <a:xfrm flipH="1">
            <a:off x="7601619" y="3171092"/>
            <a:ext cx="2484911" cy="515816"/>
          </a:xfrm>
          <a:prstGeom prst="rightArrow">
            <a:avLst/>
          </a:prstGeom>
          <a:solidFill>
            <a:schemeClr val="bg2"/>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Flags</a:t>
            </a:r>
          </a:p>
        </p:txBody>
      </p:sp>
      <p:sp>
        <p:nvSpPr>
          <p:cNvPr id="6" name="Rectangle 5">
            <a:extLst>
              <a:ext uri="{FF2B5EF4-FFF2-40B4-BE49-F238E27FC236}">
                <a16:creationId xmlns:a16="http://schemas.microsoft.com/office/drawing/2014/main" id="{7FCD47CA-1292-8015-F0BF-CF84F1E46CA4}"/>
              </a:ext>
            </a:extLst>
          </p:cNvPr>
          <p:cNvSpPr/>
          <p:nvPr/>
        </p:nvSpPr>
        <p:spPr>
          <a:xfrm rot="16200000">
            <a:off x="6997879" y="3227860"/>
            <a:ext cx="942000" cy="29286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a:t>74HC161</a:t>
            </a:r>
          </a:p>
        </p:txBody>
      </p:sp>
      <p:cxnSp>
        <p:nvCxnSpPr>
          <p:cNvPr id="8" name="Straight Arrow Connector 7">
            <a:extLst>
              <a:ext uri="{FF2B5EF4-FFF2-40B4-BE49-F238E27FC236}">
                <a16:creationId xmlns:a16="http://schemas.microsoft.com/office/drawing/2014/main" id="{1289A0DD-7502-E07F-7CEB-246A5C7F1685}"/>
              </a:ext>
            </a:extLst>
          </p:cNvPr>
          <p:cNvCxnSpPr>
            <a:cxnSpLocks/>
          </p:cNvCxnSpPr>
          <p:nvPr/>
        </p:nvCxnSpPr>
        <p:spPr>
          <a:xfrm flipH="1">
            <a:off x="5632315" y="3217569"/>
            <a:ext cx="16901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96D04DD7-392E-3E44-3984-D4E99A176DE9}"/>
              </a:ext>
            </a:extLst>
          </p:cNvPr>
          <p:cNvCxnSpPr>
            <a:cxnSpLocks/>
          </p:cNvCxnSpPr>
          <p:nvPr/>
        </p:nvCxnSpPr>
        <p:spPr>
          <a:xfrm flipH="1">
            <a:off x="5632315" y="3439144"/>
            <a:ext cx="16901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32440070-FDEC-8BDA-14EC-88E8AB92C90F}"/>
              </a:ext>
            </a:extLst>
          </p:cNvPr>
          <p:cNvCxnSpPr>
            <a:cxnSpLocks/>
          </p:cNvCxnSpPr>
          <p:nvPr/>
        </p:nvCxnSpPr>
        <p:spPr>
          <a:xfrm flipH="1">
            <a:off x="5632315" y="3660720"/>
            <a:ext cx="16901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92CB849-26A2-724D-5EBD-1AC65A4504A3}"/>
              </a:ext>
            </a:extLst>
          </p:cNvPr>
          <p:cNvCxnSpPr>
            <a:cxnSpLocks/>
          </p:cNvCxnSpPr>
          <p:nvPr/>
        </p:nvCxnSpPr>
        <p:spPr>
          <a:xfrm flipH="1">
            <a:off x="5632316" y="2995995"/>
            <a:ext cx="5674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8DF15A4F-7FD5-6CE3-0F19-0CA2C7373B7A}"/>
              </a:ext>
            </a:extLst>
          </p:cNvPr>
          <p:cNvSpPr txBox="1"/>
          <p:nvPr/>
        </p:nvSpPr>
        <p:spPr>
          <a:xfrm>
            <a:off x="6140185" y="2797639"/>
            <a:ext cx="417102" cy="369332"/>
          </a:xfrm>
          <a:prstGeom prst="rect">
            <a:avLst/>
          </a:prstGeom>
          <a:noFill/>
        </p:spPr>
        <p:txBody>
          <a:bodyPr wrap="none" rtlCol="0">
            <a:spAutoFit/>
          </a:bodyPr>
          <a:lstStyle/>
          <a:p>
            <a:r>
              <a:rPr lang="en-US"/>
              <a:t>‘1’</a:t>
            </a:r>
          </a:p>
        </p:txBody>
      </p:sp>
      <p:sp>
        <p:nvSpPr>
          <p:cNvPr id="14" name="TextBox 13">
            <a:extLst>
              <a:ext uri="{FF2B5EF4-FFF2-40B4-BE49-F238E27FC236}">
                <a16:creationId xmlns:a16="http://schemas.microsoft.com/office/drawing/2014/main" id="{440E6CE4-BFD9-9990-D08A-44EE797FEDE0}"/>
              </a:ext>
            </a:extLst>
          </p:cNvPr>
          <p:cNvSpPr txBox="1"/>
          <p:nvPr/>
        </p:nvSpPr>
        <p:spPr>
          <a:xfrm>
            <a:off x="6565773" y="2942997"/>
            <a:ext cx="449162" cy="369332"/>
          </a:xfrm>
          <a:prstGeom prst="rect">
            <a:avLst/>
          </a:prstGeom>
          <a:noFill/>
        </p:spPr>
        <p:txBody>
          <a:bodyPr wrap="none" rtlCol="0">
            <a:spAutoFit/>
          </a:bodyPr>
          <a:lstStyle/>
          <a:p>
            <a:r>
              <a:rPr lang="en-US"/>
              <a:t>‘N’</a:t>
            </a:r>
          </a:p>
        </p:txBody>
      </p:sp>
      <p:sp>
        <p:nvSpPr>
          <p:cNvPr id="15" name="TextBox 14">
            <a:extLst>
              <a:ext uri="{FF2B5EF4-FFF2-40B4-BE49-F238E27FC236}">
                <a16:creationId xmlns:a16="http://schemas.microsoft.com/office/drawing/2014/main" id="{4EEC24B4-7C48-A0A4-AFF9-76EEA52C23A3}"/>
              </a:ext>
            </a:extLst>
          </p:cNvPr>
          <p:cNvSpPr txBox="1"/>
          <p:nvPr/>
        </p:nvSpPr>
        <p:spPr>
          <a:xfrm>
            <a:off x="6550843" y="3152116"/>
            <a:ext cx="433517" cy="369332"/>
          </a:xfrm>
          <a:prstGeom prst="rect">
            <a:avLst/>
          </a:prstGeom>
          <a:noFill/>
        </p:spPr>
        <p:txBody>
          <a:bodyPr wrap="none" rtlCol="0">
            <a:spAutoFit/>
          </a:bodyPr>
          <a:lstStyle/>
          <a:p>
            <a:r>
              <a:rPr lang="en-US"/>
              <a:t>‘C’</a:t>
            </a:r>
          </a:p>
        </p:txBody>
      </p:sp>
      <p:sp>
        <p:nvSpPr>
          <p:cNvPr id="16" name="TextBox 15">
            <a:extLst>
              <a:ext uri="{FF2B5EF4-FFF2-40B4-BE49-F238E27FC236}">
                <a16:creationId xmlns:a16="http://schemas.microsoft.com/office/drawing/2014/main" id="{3564D57F-A434-1F6E-541B-4BC5E6BBCA51}"/>
              </a:ext>
            </a:extLst>
          </p:cNvPr>
          <p:cNvSpPr txBox="1"/>
          <p:nvPr/>
        </p:nvSpPr>
        <p:spPr>
          <a:xfrm>
            <a:off x="6569086" y="3387380"/>
            <a:ext cx="412677" cy="369332"/>
          </a:xfrm>
          <a:prstGeom prst="rect">
            <a:avLst/>
          </a:prstGeom>
          <a:noFill/>
        </p:spPr>
        <p:txBody>
          <a:bodyPr wrap="none" rtlCol="0">
            <a:spAutoFit/>
          </a:bodyPr>
          <a:lstStyle/>
          <a:p>
            <a:r>
              <a:rPr lang="en-US"/>
              <a:t>‘Z’</a:t>
            </a:r>
          </a:p>
        </p:txBody>
      </p:sp>
      <p:sp>
        <p:nvSpPr>
          <p:cNvPr id="17" name="TextBox 16">
            <a:extLst>
              <a:ext uri="{FF2B5EF4-FFF2-40B4-BE49-F238E27FC236}">
                <a16:creationId xmlns:a16="http://schemas.microsoft.com/office/drawing/2014/main" id="{4CC0C3FA-DEB7-C9BC-4460-0E3963C407A0}"/>
              </a:ext>
            </a:extLst>
          </p:cNvPr>
          <p:cNvSpPr txBox="1"/>
          <p:nvPr/>
        </p:nvSpPr>
        <p:spPr>
          <a:xfrm>
            <a:off x="5636211" y="2766105"/>
            <a:ext cx="386644" cy="954107"/>
          </a:xfrm>
          <a:prstGeom prst="rect">
            <a:avLst/>
          </a:prstGeom>
          <a:noFill/>
        </p:spPr>
        <p:txBody>
          <a:bodyPr wrap="none" rtlCol="0">
            <a:spAutoFit/>
          </a:bodyPr>
          <a:lstStyle/>
          <a:p>
            <a:r>
              <a:rPr lang="en-US" sz="1400"/>
              <a:t>D4</a:t>
            </a:r>
          </a:p>
          <a:p>
            <a:r>
              <a:rPr lang="en-US" sz="1400"/>
              <a:t>D5</a:t>
            </a:r>
          </a:p>
          <a:p>
            <a:r>
              <a:rPr lang="en-US" sz="1400"/>
              <a:t>D6</a:t>
            </a:r>
          </a:p>
          <a:p>
            <a:r>
              <a:rPr lang="en-US" sz="1400"/>
              <a:t>D7</a:t>
            </a:r>
          </a:p>
        </p:txBody>
      </p:sp>
      <p:pic>
        <p:nvPicPr>
          <p:cNvPr id="19" name="Picture 18">
            <a:extLst>
              <a:ext uri="{FF2B5EF4-FFF2-40B4-BE49-F238E27FC236}">
                <a16:creationId xmlns:a16="http://schemas.microsoft.com/office/drawing/2014/main" id="{DC6E3A0E-3B37-6FF6-F82C-15E756E7B41B}"/>
              </a:ext>
            </a:extLst>
          </p:cNvPr>
          <p:cNvPicPr>
            <a:picLocks noChangeAspect="1"/>
          </p:cNvPicPr>
          <p:nvPr/>
        </p:nvPicPr>
        <p:blipFill>
          <a:blip r:embed="rId3"/>
          <a:stretch>
            <a:fillRect/>
          </a:stretch>
        </p:blipFill>
        <p:spPr>
          <a:xfrm>
            <a:off x="4161491" y="1234175"/>
            <a:ext cx="2404283" cy="871615"/>
          </a:xfrm>
          <a:prstGeom prst="rect">
            <a:avLst/>
          </a:prstGeom>
        </p:spPr>
      </p:pic>
      <p:cxnSp>
        <p:nvCxnSpPr>
          <p:cNvPr id="21" name="Connector: Elbow 20">
            <a:extLst>
              <a:ext uri="{FF2B5EF4-FFF2-40B4-BE49-F238E27FC236}">
                <a16:creationId xmlns:a16="http://schemas.microsoft.com/office/drawing/2014/main" id="{DB68A079-241C-8336-2DAF-8C1146613D80}"/>
              </a:ext>
            </a:extLst>
          </p:cNvPr>
          <p:cNvCxnSpPr>
            <a:cxnSpLocks/>
          </p:cNvCxnSpPr>
          <p:nvPr/>
        </p:nvCxnSpPr>
        <p:spPr>
          <a:xfrm rot="5400000">
            <a:off x="5351823" y="2574621"/>
            <a:ext cx="448039" cy="4188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751919E6-BDC2-8284-2309-8F92527FB5E4}"/>
              </a:ext>
            </a:extLst>
          </p:cNvPr>
          <p:cNvCxnSpPr>
            <a:cxnSpLocks/>
          </p:cNvCxnSpPr>
          <p:nvPr/>
        </p:nvCxnSpPr>
        <p:spPr>
          <a:xfrm rot="5400000">
            <a:off x="5051599" y="2637264"/>
            <a:ext cx="544139" cy="1269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AD0B6F1C-479C-64F2-44B3-42F217263FEA}"/>
              </a:ext>
            </a:extLst>
          </p:cNvPr>
          <p:cNvCxnSpPr>
            <a:cxnSpLocks/>
          </p:cNvCxnSpPr>
          <p:nvPr/>
        </p:nvCxnSpPr>
        <p:spPr>
          <a:xfrm rot="10800000" flipV="1">
            <a:off x="3709439" y="2371544"/>
            <a:ext cx="1376647" cy="871613"/>
          </a:xfrm>
          <a:prstGeom prst="bentConnector3">
            <a:avLst>
              <a:gd name="adj1" fmla="val 1243"/>
            </a:avLst>
          </a:prstGeom>
          <a:ln>
            <a:tailEnd type="triangle"/>
          </a:ln>
        </p:spPr>
        <p:style>
          <a:lnRef idx="1">
            <a:schemeClr val="accent1"/>
          </a:lnRef>
          <a:fillRef idx="0">
            <a:schemeClr val="accent1"/>
          </a:fillRef>
          <a:effectRef idx="0">
            <a:schemeClr val="accent1"/>
          </a:effectRef>
          <a:fontRef idx="minor">
            <a:schemeClr val="tx1"/>
          </a:fontRef>
        </p:style>
      </p:cxnSp>
      <p:pic>
        <p:nvPicPr>
          <p:cNvPr id="26" name="Picture 25" descr="A picture containing text, ax, clipart&#10;&#10;Description automatically generated">
            <a:extLst>
              <a:ext uri="{FF2B5EF4-FFF2-40B4-BE49-F238E27FC236}">
                <a16:creationId xmlns:a16="http://schemas.microsoft.com/office/drawing/2014/main" id="{61E96A45-179F-0A86-C1A3-0F1EF4996D0F}"/>
              </a:ext>
            </a:extLst>
          </p:cNvPr>
          <p:cNvPicPr>
            <a:picLocks noChangeAspect="1"/>
          </p:cNvPicPr>
          <p:nvPr/>
        </p:nvPicPr>
        <p:blipFill rotWithShape="1">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19288" r="31715"/>
          <a:stretch/>
        </p:blipFill>
        <p:spPr>
          <a:xfrm rot="10800000">
            <a:off x="2990803" y="3132931"/>
            <a:ext cx="694381" cy="508900"/>
          </a:xfrm>
          <a:prstGeom prst="rect">
            <a:avLst/>
          </a:prstGeom>
        </p:spPr>
      </p:pic>
      <p:cxnSp>
        <p:nvCxnSpPr>
          <p:cNvPr id="29" name="Connector: Elbow 28">
            <a:extLst>
              <a:ext uri="{FF2B5EF4-FFF2-40B4-BE49-F238E27FC236}">
                <a16:creationId xmlns:a16="http://schemas.microsoft.com/office/drawing/2014/main" id="{51B3D0FF-7D26-CD22-72EC-63A94752CADA}"/>
              </a:ext>
            </a:extLst>
          </p:cNvPr>
          <p:cNvCxnSpPr>
            <a:stCxn id="4" idx="0"/>
          </p:cNvCxnSpPr>
          <p:nvPr/>
        </p:nvCxnSpPr>
        <p:spPr>
          <a:xfrm rot="10800000" flipV="1">
            <a:off x="3689281" y="3451818"/>
            <a:ext cx="1585512" cy="6963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A0836999-E371-5438-2A90-07D2CA4B9DBE}"/>
              </a:ext>
            </a:extLst>
          </p:cNvPr>
          <p:cNvSpPr txBox="1"/>
          <p:nvPr/>
        </p:nvSpPr>
        <p:spPr>
          <a:xfrm>
            <a:off x="4898602" y="2142698"/>
            <a:ext cx="1197399" cy="276999"/>
          </a:xfrm>
          <a:prstGeom prst="rect">
            <a:avLst/>
          </a:prstGeom>
          <a:noFill/>
        </p:spPr>
        <p:txBody>
          <a:bodyPr wrap="square" rtlCol="0">
            <a:spAutoFit/>
          </a:bodyPr>
          <a:lstStyle/>
          <a:p>
            <a:r>
              <a:rPr lang="en-US" sz="1200"/>
              <a:t>Q7  Q6  Q5</a:t>
            </a:r>
          </a:p>
        </p:txBody>
      </p:sp>
      <p:sp>
        <p:nvSpPr>
          <p:cNvPr id="38" name="TextBox 37">
            <a:extLst>
              <a:ext uri="{FF2B5EF4-FFF2-40B4-BE49-F238E27FC236}">
                <a16:creationId xmlns:a16="http://schemas.microsoft.com/office/drawing/2014/main" id="{50522DED-E479-CDCD-86BA-76E4D2097383}"/>
              </a:ext>
            </a:extLst>
          </p:cNvPr>
          <p:cNvSpPr txBox="1"/>
          <p:nvPr/>
        </p:nvSpPr>
        <p:spPr>
          <a:xfrm>
            <a:off x="6371541" y="1510451"/>
            <a:ext cx="1583126" cy="369332"/>
          </a:xfrm>
          <a:prstGeom prst="rect">
            <a:avLst/>
          </a:prstGeom>
          <a:noFill/>
        </p:spPr>
        <p:txBody>
          <a:bodyPr wrap="none" rtlCol="0">
            <a:spAutoFit/>
          </a:bodyPr>
          <a:lstStyle/>
          <a:p>
            <a:r>
              <a:rPr lang="en-US"/>
              <a:t>Instruction LSB</a:t>
            </a:r>
          </a:p>
        </p:txBody>
      </p:sp>
      <p:graphicFrame>
        <p:nvGraphicFramePr>
          <p:cNvPr id="39" name="Table 6">
            <a:extLst>
              <a:ext uri="{FF2B5EF4-FFF2-40B4-BE49-F238E27FC236}">
                <a16:creationId xmlns:a16="http://schemas.microsoft.com/office/drawing/2014/main" id="{19F45AEA-21A5-0404-629E-B4497B3892C3}"/>
              </a:ext>
            </a:extLst>
          </p:cNvPr>
          <p:cNvGraphicFramePr>
            <a:graphicFrameLocks noGrp="1"/>
          </p:cNvGraphicFramePr>
          <p:nvPr/>
        </p:nvGraphicFramePr>
        <p:xfrm>
          <a:off x="5763237" y="3998417"/>
          <a:ext cx="5206979" cy="2670147"/>
        </p:xfrm>
        <a:graphic>
          <a:graphicData uri="http://schemas.openxmlformats.org/drawingml/2006/table">
            <a:tbl>
              <a:tblPr firstRow="1" bandRow="1">
                <a:tableStyleId>{5C22544A-7EE6-4342-B048-85BDC9FD1C3A}</a:tableStyleId>
              </a:tblPr>
              <a:tblGrid>
                <a:gridCol w="352337">
                  <a:extLst>
                    <a:ext uri="{9D8B030D-6E8A-4147-A177-3AD203B41FA5}">
                      <a16:colId xmlns:a16="http://schemas.microsoft.com/office/drawing/2014/main" val="3129483676"/>
                    </a:ext>
                  </a:extLst>
                </a:gridCol>
                <a:gridCol w="369116">
                  <a:extLst>
                    <a:ext uri="{9D8B030D-6E8A-4147-A177-3AD203B41FA5}">
                      <a16:colId xmlns:a16="http://schemas.microsoft.com/office/drawing/2014/main" val="3639428745"/>
                    </a:ext>
                  </a:extLst>
                </a:gridCol>
                <a:gridCol w="402671">
                  <a:extLst>
                    <a:ext uri="{9D8B030D-6E8A-4147-A177-3AD203B41FA5}">
                      <a16:colId xmlns:a16="http://schemas.microsoft.com/office/drawing/2014/main" val="136219337"/>
                    </a:ext>
                  </a:extLst>
                </a:gridCol>
                <a:gridCol w="838899">
                  <a:extLst>
                    <a:ext uri="{9D8B030D-6E8A-4147-A177-3AD203B41FA5}">
                      <a16:colId xmlns:a16="http://schemas.microsoft.com/office/drawing/2014/main" val="4010529361"/>
                    </a:ext>
                  </a:extLst>
                </a:gridCol>
                <a:gridCol w="1169693">
                  <a:extLst>
                    <a:ext uri="{9D8B030D-6E8A-4147-A177-3AD203B41FA5}">
                      <a16:colId xmlns:a16="http://schemas.microsoft.com/office/drawing/2014/main" val="3300204691"/>
                    </a:ext>
                  </a:extLst>
                </a:gridCol>
                <a:gridCol w="2074263">
                  <a:extLst>
                    <a:ext uri="{9D8B030D-6E8A-4147-A177-3AD203B41FA5}">
                      <a16:colId xmlns:a16="http://schemas.microsoft.com/office/drawing/2014/main" val="322570224"/>
                    </a:ext>
                  </a:extLst>
                </a:gridCol>
              </a:tblGrid>
              <a:tr h="475587">
                <a:tc>
                  <a:txBody>
                    <a:bodyPr/>
                    <a:lstStyle/>
                    <a:p>
                      <a:r>
                        <a:rPr lang="en-US" sz="1200"/>
                        <a:t>C2</a:t>
                      </a:r>
                    </a:p>
                  </a:txBody>
                  <a:tcPr/>
                </a:tc>
                <a:tc>
                  <a:txBody>
                    <a:bodyPr/>
                    <a:lstStyle/>
                    <a:p>
                      <a:r>
                        <a:rPr lang="en-US" sz="1200"/>
                        <a:t>C1</a:t>
                      </a:r>
                    </a:p>
                  </a:txBody>
                  <a:tcPr/>
                </a:tc>
                <a:tc>
                  <a:txBody>
                    <a:bodyPr/>
                    <a:lstStyle/>
                    <a:p>
                      <a:r>
                        <a:rPr lang="en-US" sz="1200"/>
                        <a:t>C0</a:t>
                      </a:r>
                    </a:p>
                  </a:txBody>
                  <a:tcPr/>
                </a:tc>
                <a:tc>
                  <a:txBody>
                    <a:bodyPr/>
                    <a:lstStyle/>
                    <a:p>
                      <a:r>
                        <a:rPr lang="en-US" sz="1200"/>
                        <a:t>Condition</a:t>
                      </a:r>
                    </a:p>
                  </a:txBody>
                  <a:tcPr/>
                </a:tc>
                <a:tc>
                  <a:txBody>
                    <a:bodyPr/>
                    <a:lstStyle/>
                    <a:p>
                      <a:r>
                        <a:rPr lang="en-US" sz="1200"/>
                        <a:t>Instruction LSB</a:t>
                      </a:r>
                    </a:p>
                  </a:txBody>
                  <a:tcPr/>
                </a:tc>
                <a:tc>
                  <a:txBody>
                    <a:bodyPr/>
                    <a:lstStyle/>
                    <a:p>
                      <a:r>
                        <a:rPr lang="en-US" sz="1200"/>
                        <a:t>Equivalent Assembly Instruction</a:t>
                      </a:r>
                    </a:p>
                  </a:txBody>
                  <a:tcPr/>
                </a:tc>
                <a:extLst>
                  <a:ext uri="{0D108BD9-81ED-4DB2-BD59-A6C34878D82A}">
                    <a16:rowId xmlns:a16="http://schemas.microsoft.com/office/drawing/2014/main" val="727245786"/>
                  </a:ext>
                </a:extLst>
              </a:tr>
              <a:tr h="274320">
                <a:tc>
                  <a:txBody>
                    <a:bodyPr/>
                    <a:lstStyle/>
                    <a:p>
                      <a:r>
                        <a:rPr lang="en-US" sz="1200"/>
                        <a:t>0</a:t>
                      </a:r>
                    </a:p>
                  </a:txBody>
                  <a:tcPr/>
                </a:tc>
                <a:tc>
                  <a:txBody>
                    <a:bodyPr/>
                    <a:lstStyle/>
                    <a:p>
                      <a:r>
                        <a:rPr lang="en-US" sz="1200"/>
                        <a:t>0</a:t>
                      </a:r>
                    </a:p>
                  </a:txBody>
                  <a:tcPr/>
                </a:tc>
                <a:tc>
                  <a:txBody>
                    <a:bodyPr/>
                    <a:lstStyle/>
                    <a:p>
                      <a:r>
                        <a:rPr lang="en-US" sz="1200"/>
                        <a:t>0</a:t>
                      </a:r>
                    </a:p>
                  </a:txBody>
                  <a:tcPr/>
                </a:tc>
                <a:tc>
                  <a:txBody>
                    <a:bodyPr/>
                    <a:lstStyle/>
                    <a:p>
                      <a:r>
                        <a:rPr lang="en-US" sz="1200"/>
                        <a:t>JMP</a:t>
                      </a:r>
                    </a:p>
                  </a:txBody>
                  <a:tcPr/>
                </a:tc>
                <a:tc>
                  <a:txBody>
                    <a:bodyPr/>
                    <a:lstStyle/>
                    <a:p>
                      <a:pPr algn="ctr"/>
                      <a:r>
                        <a:rPr lang="en-US" sz="1200"/>
                        <a:t>05</a:t>
                      </a:r>
                    </a:p>
                  </a:txBody>
                  <a:tcPr>
                    <a:solidFill>
                      <a:schemeClr val="accent6">
                        <a:lumMod val="60000"/>
                        <a:lumOff val="40000"/>
                      </a:schemeClr>
                    </a:solidFill>
                  </a:tcPr>
                </a:tc>
                <a:tc>
                  <a:txBody>
                    <a:bodyPr/>
                    <a:lstStyle/>
                    <a:p>
                      <a:r>
                        <a:rPr lang="en-US" sz="1200"/>
                        <a:t>JMP</a:t>
                      </a:r>
                    </a:p>
                  </a:txBody>
                  <a:tcPr>
                    <a:solidFill>
                      <a:schemeClr val="accent6">
                        <a:lumMod val="60000"/>
                        <a:lumOff val="40000"/>
                      </a:schemeClr>
                    </a:solidFill>
                  </a:tcPr>
                </a:tc>
                <a:extLst>
                  <a:ext uri="{0D108BD9-81ED-4DB2-BD59-A6C34878D82A}">
                    <a16:rowId xmlns:a16="http://schemas.microsoft.com/office/drawing/2014/main" val="3427146651"/>
                  </a:ext>
                </a:extLst>
              </a:tr>
              <a:tr h="274320">
                <a:tc>
                  <a:txBody>
                    <a:bodyPr/>
                    <a:lstStyle/>
                    <a:p>
                      <a:r>
                        <a:rPr lang="en-US" sz="1200"/>
                        <a:t>0</a:t>
                      </a:r>
                    </a:p>
                  </a:txBody>
                  <a:tcPr/>
                </a:tc>
                <a:tc>
                  <a:txBody>
                    <a:bodyPr/>
                    <a:lstStyle/>
                    <a:p>
                      <a:r>
                        <a:rPr lang="en-US" sz="1200"/>
                        <a:t>0</a:t>
                      </a:r>
                    </a:p>
                  </a:txBody>
                  <a:tcPr/>
                </a:tc>
                <a:tc>
                  <a:txBody>
                    <a:bodyPr/>
                    <a:lstStyle/>
                    <a:p>
                      <a:r>
                        <a:rPr lang="en-US" sz="1200"/>
                        <a:t>1</a:t>
                      </a:r>
                    </a:p>
                  </a:txBody>
                  <a:tcPr/>
                </a:tc>
                <a:tc>
                  <a:txBody>
                    <a:bodyPr/>
                    <a:lstStyle/>
                    <a:p>
                      <a:r>
                        <a:rPr lang="en-US" sz="1200"/>
                        <a:t>N</a:t>
                      </a:r>
                    </a:p>
                  </a:txBody>
                  <a:tcPr/>
                </a:tc>
                <a:tc>
                  <a:txBody>
                    <a:bodyPr/>
                    <a:lstStyle/>
                    <a:p>
                      <a:pPr algn="ctr"/>
                      <a:r>
                        <a:rPr lang="en-US" sz="1200"/>
                        <a:t>25</a:t>
                      </a:r>
                    </a:p>
                  </a:txBody>
                  <a:tcPr>
                    <a:solidFill>
                      <a:schemeClr val="accent6">
                        <a:lumMod val="60000"/>
                        <a:lumOff val="40000"/>
                      </a:schemeClr>
                    </a:solidFill>
                  </a:tcPr>
                </a:tc>
                <a:tc>
                  <a:txBody>
                    <a:bodyPr/>
                    <a:lstStyle/>
                    <a:p>
                      <a:r>
                        <a:rPr lang="en-US" sz="1200"/>
                        <a:t>BMI – Branch on Minus</a:t>
                      </a:r>
                    </a:p>
                  </a:txBody>
                  <a:tcPr>
                    <a:solidFill>
                      <a:schemeClr val="accent6">
                        <a:lumMod val="60000"/>
                        <a:lumOff val="40000"/>
                      </a:schemeClr>
                    </a:solidFill>
                  </a:tcPr>
                </a:tc>
                <a:extLst>
                  <a:ext uri="{0D108BD9-81ED-4DB2-BD59-A6C34878D82A}">
                    <a16:rowId xmlns:a16="http://schemas.microsoft.com/office/drawing/2014/main" val="1942712580"/>
                  </a:ext>
                </a:extLst>
              </a:tr>
              <a:tr h="274320">
                <a:tc>
                  <a:txBody>
                    <a:bodyPr/>
                    <a:lstStyle/>
                    <a:p>
                      <a:r>
                        <a:rPr lang="en-US" sz="1200"/>
                        <a:t>0</a:t>
                      </a:r>
                    </a:p>
                  </a:txBody>
                  <a:tcPr/>
                </a:tc>
                <a:tc>
                  <a:txBody>
                    <a:bodyPr/>
                    <a:lstStyle/>
                    <a:p>
                      <a:r>
                        <a:rPr lang="en-US" sz="1200"/>
                        <a:t>1</a:t>
                      </a:r>
                    </a:p>
                  </a:txBody>
                  <a:tcPr/>
                </a:tc>
                <a:tc>
                  <a:txBody>
                    <a:bodyPr/>
                    <a:lstStyle/>
                    <a:p>
                      <a:r>
                        <a:rPr lang="en-US" sz="1200"/>
                        <a:t>0</a:t>
                      </a:r>
                    </a:p>
                  </a:txBody>
                  <a:tcPr/>
                </a:tc>
                <a:tc>
                  <a:txBody>
                    <a:bodyPr/>
                    <a:lstStyle/>
                    <a:p>
                      <a:r>
                        <a:rPr lang="en-US" sz="1200"/>
                        <a:t>C</a:t>
                      </a:r>
                    </a:p>
                  </a:txBody>
                  <a:tcPr/>
                </a:tc>
                <a:tc>
                  <a:txBody>
                    <a:bodyPr/>
                    <a:lstStyle/>
                    <a:p>
                      <a:pPr algn="ctr"/>
                      <a:r>
                        <a:rPr lang="en-US" sz="1200"/>
                        <a:t>45</a:t>
                      </a:r>
                    </a:p>
                  </a:txBody>
                  <a:tcPr>
                    <a:solidFill>
                      <a:schemeClr val="accent6">
                        <a:lumMod val="60000"/>
                        <a:lumOff val="40000"/>
                      </a:schemeClr>
                    </a:solidFill>
                  </a:tcPr>
                </a:tc>
                <a:tc>
                  <a:txBody>
                    <a:bodyPr/>
                    <a:lstStyle/>
                    <a:p>
                      <a:r>
                        <a:rPr lang="en-US" sz="1200"/>
                        <a:t>BCS – Branch Carry Set</a:t>
                      </a:r>
                    </a:p>
                  </a:txBody>
                  <a:tcPr>
                    <a:solidFill>
                      <a:schemeClr val="accent6">
                        <a:lumMod val="60000"/>
                        <a:lumOff val="40000"/>
                      </a:schemeClr>
                    </a:solidFill>
                  </a:tcPr>
                </a:tc>
                <a:extLst>
                  <a:ext uri="{0D108BD9-81ED-4DB2-BD59-A6C34878D82A}">
                    <a16:rowId xmlns:a16="http://schemas.microsoft.com/office/drawing/2014/main" val="4217135763"/>
                  </a:ext>
                </a:extLst>
              </a:tr>
              <a:tr h="274320">
                <a:tc>
                  <a:txBody>
                    <a:bodyPr/>
                    <a:lstStyle/>
                    <a:p>
                      <a:r>
                        <a:rPr lang="en-US" sz="1200"/>
                        <a:t>0</a:t>
                      </a:r>
                    </a:p>
                  </a:txBody>
                  <a:tcPr/>
                </a:tc>
                <a:tc>
                  <a:txBody>
                    <a:bodyPr/>
                    <a:lstStyle/>
                    <a:p>
                      <a:r>
                        <a:rPr lang="en-US" sz="1200"/>
                        <a:t>1</a:t>
                      </a:r>
                    </a:p>
                  </a:txBody>
                  <a:tcPr/>
                </a:tc>
                <a:tc>
                  <a:txBody>
                    <a:bodyPr/>
                    <a:lstStyle/>
                    <a:p>
                      <a:r>
                        <a:rPr lang="en-US" sz="1200"/>
                        <a:t>1</a:t>
                      </a:r>
                    </a:p>
                  </a:txBody>
                  <a:tcPr/>
                </a:tc>
                <a:tc>
                  <a:txBody>
                    <a:bodyPr/>
                    <a:lstStyle/>
                    <a:p>
                      <a:r>
                        <a:rPr lang="en-US" sz="1200"/>
                        <a:t>Z</a:t>
                      </a:r>
                    </a:p>
                  </a:txBody>
                  <a:tcPr/>
                </a:tc>
                <a:tc>
                  <a:txBody>
                    <a:bodyPr/>
                    <a:lstStyle/>
                    <a:p>
                      <a:pPr algn="ctr"/>
                      <a:r>
                        <a:rPr lang="en-US" sz="1200"/>
                        <a:t>65</a:t>
                      </a:r>
                    </a:p>
                  </a:txBody>
                  <a:tcPr>
                    <a:solidFill>
                      <a:schemeClr val="accent6">
                        <a:lumMod val="60000"/>
                        <a:lumOff val="40000"/>
                      </a:schemeClr>
                    </a:solidFill>
                  </a:tcPr>
                </a:tc>
                <a:tc>
                  <a:txBody>
                    <a:bodyPr/>
                    <a:lstStyle/>
                    <a:p>
                      <a:r>
                        <a:rPr lang="en-US" sz="1200"/>
                        <a:t>BEQ – Branch Equal</a:t>
                      </a:r>
                    </a:p>
                  </a:txBody>
                  <a:tcPr>
                    <a:solidFill>
                      <a:schemeClr val="accent6">
                        <a:lumMod val="60000"/>
                        <a:lumOff val="40000"/>
                      </a:schemeClr>
                    </a:solidFill>
                  </a:tcPr>
                </a:tc>
                <a:extLst>
                  <a:ext uri="{0D108BD9-81ED-4DB2-BD59-A6C34878D82A}">
                    <a16:rowId xmlns:a16="http://schemas.microsoft.com/office/drawing/2014/main" val="1144018381"/>
                  </a:ext>
                </a:extLst>
              </a:tr>
              <a:tr h="274320">
                <a:tc>
                  <a:txBody>
                    <a:bodyPr/>
                    <a:lstStyle/>
                    <a:p>
                      <a:r>
                        <a:rPr lang="en-US" sz="1200"/>
                        <a:t>1</a:t>
                      </a:r>
                    </a:p>
                  </a:txBody>
                  <a:tcPr/>
                </a:tc>
                <a:tc>
                  <a:txBody>
                    <a:bodyPr/>
                    <a:lstStyle/>
                    <a:p>
                      <a:r>
                        <a:rPr lang="en-US" sz="1200"/>
                        <a:t>0</a:t>
                      </a:r>
                    </a:p>
                  </a:txBody>
                  <a:tcPr/>
                </a:tc>
                <a:tc>
                  <a:txBody>
                    <a:bodyPr/>
                    <a:lstStyle/>
                    <a:p>
                      <a:r>
                        <a:rPr lang="en-US" sz="1200"/>
                        <a:t>0</a:t>
                      </a:r>
                    </a:p>
                  </a:txBody>
                  <a:tcPr/>
                </a:tc>
                <a:tc>
                  <a:txBody>
                    <a:bodyPr/>
                    <a:lstStyle/>
                    <a:p>
                      <a:r>
                        <a:rPr lang="en-US" sz="1200"/>
                        <a:t>Never</a:t>
                      </a:r>
                    </a:p>
                  </a:txBody>
                  <a:tcPr/>
                </a:tc>
                <a:tc>
                  <a:txBody>
                    <a:bodyPr/>
                    <a:lstStyle/>
                    <a:p>
                      <a:pPr algn="ctr"/>
                      <a:r>
                        <a:rPr lang="en-US" sz="1200"/>
                        <a:t>85</a:t>
                      </a:r>
                    </a:p>
                  </a:txBody>
                  <a:tcPr>
                    <a:solidFill>
                      <a:schemeClr val="accent6">
                        <a:lumMod val="60000"/>
                        <a:lumOff val="40000"/>
                      </a:schemeClr>
                    </a:solidFill>
                  </a:tcPr>
                </a:tc>
                <a:tc>
                  <a:txBody>
                    <a:bodyPr/>
                    <a:lstStyle/>
                    <a:p>
                      <a:r>
                        <a:rPr lang="en-US" sz="1200"/>
                        <a:t>NOP</a:t>
                      </a:r>
                    </a:p>
                  </a:txBody>
                  <a:tcPr>
                    <a:solidFill>
                      <a:schemeClr val="accent6">
                        <a:lumMod val="60000"/>
                        <a:lumOff val="40000"/>
                      </a:schemeClr>
                    </a:solidFill>
                  </a:tcPr>
                </a:tc>
                <a:extLst>
                  <a:ext uri="{0D108BD9-81ED-4DB2-BD59-A6C34878D82A}">
                    <a16:rowId xmlns:a16="http://schemas.microsoft.com/office/drawing/2014/main" val="1247815021"/>
                  </a:ext>
                </a:extLst>
              </a:tr>
              <a:tr h="274320">
                <a:tc>
                  <a:txBody>
                    <a:bodyPr/>
                    <a:lstStyle/>
                    <a:p>
                      <a:r>
                        <a:rPr lang="en-US" sz="1200"/>
                        <a:t>1</a:t>
                      </a:r>
                    </a:p>
                  </a:txBody>
                  <a:tcPr/>
                </a:tc>
                <a:tc>
                  <a:txBody>
                    <a:bodyPr/>
                    <a:lstStyle/>
                    <a:p>
                      <a:r>
                        <a:rPr lang="en-US" sz="1200"/>
                        <a:t>0</a:t>
                      </a:r>
                    </a:p>
                  </a:txBody>
                  <a:tcPr/>
                </a:tc>
                <a:tc>
                  <a:txBody>
                    <a:bodyPr/>
                    <a:lstStyle/>
                    <a:p>
                      <a:r>
                        <a:rPr lang="en-US" sz="1200"/>
                        <a:t>1</a:t>
                      </a:r>
                    </a:p>
                  </a:txBody>
                  <a:tcPr/>
                </a:tc>
                <a:tc>
                  <a:txBody>
                    <a:bodyPr/>
                    <a:lstStyle/>
                    <a:p>
                      <a:r>
                        <a:rPr lang="en-US" sz="1200"/>
                        <a:t>!N</a:t>
                      </a:r>
                    </a:p>
                  </a:txBody>
                  <a:tcPr/>
                </a:tc>
                <a:tc>
                  <a:txBody>
                    <a:bodyPr/>
                    <a:lstStyle/>
                    <a:p>
                      <a:pPr algn="ctr"/>
                      <a:r>
                        <a:rPr lang="en-US" sz="1200"/>
                        <a:t>A5</a:t>
                      </a:r>
                    </a:p>
                  </a:txBody>
                  <a:tcPr>
                    <a:solidFill>
                      <a:schemeClr val="accent6">
                        <a:lumMod val="60000"/>
                        <a:lumOff val="40000"/>
                      </a:schemeClr>
                    </a:solidFill>
                  </a:tcPr>
                </a:tc>
                <a:tc>
                  <a:txBody>
                    <a:bodyPr/>
                    <a:lstStyle/>
                    <a:p>
                      <a:r>
                        <a:rPr lang="en-US" sz="1200"/>
                        <a:t>BPL – Branch on Plus</a:t>
                      </a:r>
                    </a:p>
                  </a:txBody>
                  <a:tcPr>
                    <a:solidFill>
                      <a:schemeClr val="accent6">
                        <a:lumMod val="60000"/>
                        <a:lumOff val="40000"/>
                      </a:schemeClr>
                    </a:solidFill>
                  </a:tcPr>
                </a:tc>
                <a:extLst>
                  <a:ext uri="{0D108BD9-81ED-4DB2-BD59-A6C34878D82A}">
                    <a16:rowId xmlns:a16="http://schemas.microsoft.com/office/drawing/2014/main" val="516787940"/>
                  </a:ext>
                </a:extLst>
              </a:tr>
              <a:tr h="274320">
                <a:tc>
                  <a:txBody>
                    <a:bodyPr/>
                    <a:lstStyle/>
                    <a:p>
                      <a:r>
                        <a:rPr lang="en-US" sz="1200"/>
                        <a:t>1</a:t>
                      </a:r>
                    </a:p>
                  </a:txBody>
                  <a:tcPr/>
                </a:tc>
                <a:tc>
                  <a:txBody>
                    <a:bodyPr/>
                    <a:lstStyle/>
                    <a:p>
                      <a:r>
                        <a:rPr lang="en-US" sz="1200"/>
                        <a:t>1</a:t>
                      </a:r>
                    </a:p>
                  </a:txBody>
                  <a:tcPr/>
                </a:tc>
                <a:tc>
                  <a:txBody>
                    <a:bodyPr/>
                    <a:lstStyle/>
                    <a:p>
                      <a:r>
                        <a:rPr lang="en-US" sz="1200"/>
                        <a:t>0</a:t>
                      </a:r>
                    </a:p>
                  </a:txBody>
                  <a:tcPr/>
                </a:tc>
                <a:tc>
                  <a:txBody>
                    <a:bodyPr/>
                    <a:lstStyle/>
                    <a:p>
                      <a:r>
                        <a:rPr lang="en-US" sz="1200"/>
                        <a:t>!C</a:t>
                      </a:r>
                    </a:p>
                  </a:txBody>
                  <a:tcPr/>
                </a:tc>
                <a:tc>
                  <a:txBody>
                    <a:bodyPr/>
                    <a:lstStyle/>
                    <a:p>
                      <a:pPr algn="ctr"/>
                      <a:r>
                        <a:rPr lang="en-US" sz="1200"/>
                        <a:t>C5</a:t>
                      </a:r>
                    </a:p>
                  </a:txBody>
                  <a:tcPr>
                    <a:solidFill>
                      <a:schemeClr val="accent6">
                        <a:lumMod val="60000"/>
                        <a:lumOff val="40000"/>
                      </a:schemeClr>
                    </a:solidFill>
                  </a:tcPr>
                </a:tc>
                <a:tc>
                  <a:txBody>
                    <a:bodyPr/>
                    <a:lstStyle/>
                    <a:p>
                      <a:r>
                        <a:rPr lang="en-US" sz="1200"/>
                        <a:t>BCC – Branch Carry Clear</a:t>
                      </a:r>
                    </a:p>
                  </a:txBody>
                  <a:tcPr>
                    <a:solidFill>
                      <a:schemeClr val="accent6">
                        <a:lumMod val="60000"/>
                        <a:lumOff val="40000"/>
                      </a:schemeClr>
                    </a:solidFill>
                  </a:tcPr>
                </a:tc>
                <a:extLst>
                  <a:ext uri="{0D108BD9-81ED-4DB2-BD59-A6C34878D82A}">
                    <a16:rowId xmlns:a16="http://schemas.microsoft.com/office/drawing/2014/main" val="3876475581"/>
                  </a:ext>
                </a:extLst>
              </a:tr>
              <a:tr h="274320">
                <a:tc>
                  <a:txBody>
                    <a:bodyPr/>
                    <a:lstStyle/>
                    <a:p>
                      <a:r>
                        <a:rPr lang="en-US" sz="1200"/>
                        <a:t>1</a:t>
                      </a:r>
                    </a:p>
                  </a:txBody>
                  <a:tcPr/>
                </a:tc>
                <a:tc>
                  <a:txBody>
                    <a:bodyPr/>
                    <a:lstStyle/>
                    <a:p>
                      <a:r>
                        <a:rPr lang="en-US" sz="1200"/>
                        <a:t>1</a:t>
                      </a:r>
                    </a:p>
                  </a:txBody>
                  <a:tcPr/>
                </a:tc>
                <a:tc>
                  <a:txBody>
                    <a:bodyPr/>
                    <a:lstStyle/>
                    <a:p>
                      <a:r>
                        <a:rPr lang="en-US" sz="1200"/>
                        <a:t>1</a:t>
                      </a:r>
                    </a:p>
                  </a:txBody>
                  <a:tcPr/>
                </a:tc>
                <a:tc>
                  <a:txBody>
                    <a:bodyPr/>
                    <a:lstStyle/>
                    <a:p>
                      <a:r>
                        <a:rPr lang="en-US" sz="1200"/>
                        <a:t>!Z</a:t>
                      </a:r>
                    </a:p>
                  </a:txBody>
                  <a:tcPr/>
                </a:tc>
                <a:tc>
                  <a:txBody>
                    <a:bodyPr/>
                    <a:lstStyle/>
                    <a:p>
                      <a:pPr algn="ctr"/>
                      <a:r>
                        <a:rPr lang="en-US" sz="1200"/>
                        <a:t>E5</a:t>
                      </a:r>
                    </a:p>
                  </a:txBody>
                  <a:tcPr>
                    <a:solidFill>
                      <a:schemeClr val="accent6">
                        <a:lumMod val="60000"/>
                        <a:lumOff val="40000"/>
                      </a:schemeClr>
                    </a:solidFill>
                  </a:tcPr>
                </a:tc>
                <a:tc>
                  <a:txBody>
                    <a:bodyPr/>
                    <a:lstStyle/>
                    <a:p>
                      <a:r>
                        <a:rPr lang="en-US" sz="1200"/>
                        <a:t>BNE</a:t>
                      </a:r>
                    </a:p>
                  </a:txBody>
                  <a:tcPr>
                    <a:solidFill>
                      <a:schemeClr val="accent6">
                        <a:lumMod val="60000"/>
                        <a:lumOff val="40000"/>
                      </a:schemeClr>
                    </a:solidFill>
                  </a:tcPr>
                </a:tc>
                <a:extLst>
                  <a:ext uri="{0D108BD9-81ED-4DB2-BD59-A6C34878D82A}">
                    <a16:rowId xmlns:a16="http://schemas.microsoft.com/office/drawing/2014/main" val="2778710779"/>
                  </a:ext>
                </a:extLst>
              </a:tr>
            </a:tbl>
          </a:graphicData>
        </a:graphic>
      </p:graphicFrame>
      <p:cxnSp>
        <p:nvCxnSpPr>
          <p:cNvPr id="43" name="Connector: Elbow 42">
            <a:extLst>
              <a:ext uri="{FF2B5EF4-FFF2-40B4-BE49-F238E27FC236}">
                <a16:creationId xmlns:a16="http://schemas.microsoft.com/office/drawing/2014/main" id="{4557EA64-4F37-7FCE-D5D3-6944631520AA}"/>
              </a:ext>
            </a:extLst>
          </p:cNvPr>
          <p:cNvCxnSpPr>
            <a:cxnSpLocks/>
            <a:stCxn id="7" idx="3"/>
            <a:endCxn id="20" idx="3"/>
          </p:cNvCxnSpPr>
          <p:nvPr/>
        </p:nvCxnSpPr>
        <p:spPr>
          <a:xfrm flipV="1">
            <a:off x="1912381" y="3258611"/>
            <a:ext cx="473504" cy="30016"/>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F05B297B-5DF9-1606-5B4B-6B151E3CDD74}"/>
              </a:ext>
            </a:extLst>
          </p:cNvPr>
          <p:cNvCxnSpPr>
            <a:cxnSpLocks/>
            <a:stCxn id="30" idx="3"/>
          </p:cNvCxnSpPr>
          <p:nvPr/>
        </p:nvCxnSpPr>
        <p:spPr>
          <a:xfrm flipH="1">
            <a:off x="2951375" y="2435067"/>
            <a:ext cx="914993" cy="697864"/>
          </a:xfrm>
          <a:prstGeom prst="bentConnector3">
            <a:avLst>
              <a:gd name="adj1" fmla="val -24984"/>
            </a:avLst>
          </a:prstGeom>
        </p:spPr>
        <p:style>
          <a:lnRef idx="1">
            <a:schemeClr val="accent1"/>
          </a:lnRef>
          <a:fillRef idx="0">
            <a:schemeClr val="accent1"/>
          </a:fillRef>
          <a:effectRef idx="0">
            <a:schemeClr val="accent1"/>
          </a:effectRef>
          <a:fontRef idx="minor">
            <a:schemeClr val="tx1"/>
          </a:fontRef>
        </p:style>
      </p:cxnSp>
      <p:sp>
        <p:nvSpPr>
          <p:cNvPr id="30" name="Rectangle 29">
            <a:hlinkClick r:id="rId6" action="ppaction://hlinksldjump"/>
            <a:extLst>
              <a:ext uri="{FF2B5EF4-FFF2-40B4-BE49-F238E27FC236}">
                <a16:creationId xmlns:a16="http://schemas.microsoft.com/office/drawing/2014/main" id="{CCA07D93-4E00-A212-7F46-9F7812A40FD0}"/>
              </a:ext>
            </a:extLst>
          </p:cNvPr>
          <p:cNvSpPr/>
          <p:nvPr/>
        </p:nvSpPr>
        <p:spPr>
          <a:xfrm>
            <a:off x="2403328" y="2343627"/>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dirty="0"/>
              <a:t>µC 8: PC Load</a:t>
            </a:r>
          </a:p>
        </p:txBody>
      </p:sp>
      <p:sp>
        <p:nvSpPr>
          <p:cNvPr id="31" name="Arrow: Right 30">
            <a:hlinkClick r:id="rId2" action="ppaction://hlinksldjump"/>
            <a:extLst>
              <a:ext uri="{FF2B5EF4-FFF2-40B4-BE49-F238E27FC236}">
                <a16:creationId xmlns:a16="http://schemas.microsoft.com/office/drawing/2014/main" id="{38A6B86E-F84D-2AE7-B899-5B04785389ED}"/>
              </a:ext>
            </a:extLst>
          </p:cNvPr>
          <p:cNvSpPr/>
          <p:nvPr/>
        </p:nvSpPr>
        <p:spPr>
          <a:xfrm rot="5400000">
            <a:off x="4997871" y="1476531"/>
            <a:ext cx="731520" cy="731520"/>
          </a:xfrm>
          <a:prstGeom prst="rightArrow">
            <a:avLst/>
          </a:prstGeom>
        </p:spPr>
        <p:style>
          <a:lnRef idx="1">
            <a:schemeClr val="accent5"/>
          </a:lnRef>
          <a:fillRef idx="2">
            <a:schemeClr val="accent5"/>
          </a:fillRef>
          <a:effectRef idx="1">
            <a:schemeClr val="accent5"/>
          </a:effectRef>
          <a:fontRef idx="minor">
            <a:schemeClr val="dk1"/>
          </a:fontRef>
        </p:style>
        <p:txBody>
          <a:bodyPr wrap="none" lIns="0" tIns="0" rIns="0" bIns="0" rtlCol="0" anchor="ctr"/>
          <a:lstStyle/>
          <a:p>
            <a:pPr algn="ctr"/>
            <a:r>
              <a:rPr lang="en-US" sz="1200"/>
              <a:t>OpCode</a:t>
            </a:r>
          </a:p>
          <a:p>
            <a:pPr algn="ctr"/>
            <a:r>
              <a:rPr lang="en-US" sz="1200"/>
              <a:t>[7:5]</a:t>
            </a:r>
          </a:p>
        </p:txBody>
      </p:sp>
      <p:sp>
        <p:nvSpPr>
          <p:cNvPr id="7" name="TextBox 6">
            <a:hlinkClick r:id="rId7" action="ppaction://hlinksldjump"/>
            <a:extLst>
              <a:ext uri="{FF2B5EF4-FFF2-40B4-BE49-F238E27FC236}">
                <a16:creationId xmlns:a16="http://schemas.microsoft.com/office/drawing/2014/main" id="{AEFB5F2E-B77F-A30F-C397-DE8D111B1065}"/>
              </a:ext>
            </a:extLst>
          </p:cNvPr>
          <p:cNvSpPr txBox="1"/>
          <p:nvPr/>
        </p:nvSpPr>
        <p:spPr>
          <a:xfrm>
            <a:off x="918134" y="3196294"/>
            <a:ext cx="994247" cy="184666"/>
          </a:xfrm>
          <a:prstGeom prst="rect">
            <a:avLst/>
          </a:prstGeom>
          <a:solidFill>
            <a:srgbClr val="FFFFFF"/>
          </a:solidFill>
          <a:ln>
            <a:solidFill>
              <a:schemeClr val="accent1"/>
            </a:solidFill>
          </a:ln>
        </p:spPr>
        <p:txBody>
          <a:bodyPr wrap="none" tIns="0" bIns="0" rtlCol="0">
            <a:spAutoFit/>
          </a:bodyPr>
          <a:lstStyle/>
          <a:p>
            <a:r>
              <a:rPr lang="en-US" sz="1200" dirty="0"/>
              <a:t>PC </a:t>
            </a:r>
            <a:r>
              <a:rPr lang="en-US" sz="1200" dirty="0" err="1"/>
              <a:t>Ld</a:t>
            </a:r>
            <a:r>
              <a:rPr lang="en-US" sz="1200" dirty="0"/>
              <a:t> Branch</a:t>
            </a:r>
          </a:p>
        </p:txBody>
      </p:sp>
      <p:sp>
        <p:nvSpPr>
          <p:cNvPr id="18" name="TextBox 17">
            <a:extLst>
              <a:ext uri="{FF2B5EF4-FFF2-40B4-BE49-F238E27FC236}">
                <a16:creationId xmlns:a16="http://schemas.microsoft.com/office/drawing/2014/main" id="{9BBD5450-F88C-90BF-6110-5027CFBD630A}"/>
              </a:ext>
            </a:extLst>
          </p:cNvPr>
          <p:cNvSpPr txBox="1"/>
          <p:nvPr/>
        </p:nvSpPr>
        <p:spPr>
          <a:xfrm>
            <a:off x="382067" y="1367099"/>
            <a:ext cx="3729790" cy="276999"/>
          </a:xfrm>
          <a:prstGeom prst="rect">
            <a:avLst/>
          </a:prstGeom>
          <a:solidFill>
            <a:srgbClr val="FFC000"/>
          </a:solidFill>
        </p:spPr>
        <p:txBody>
          <a:bodyPr wrap="square" rtlCol="0">
            <a:spAutoFit/>
          </a:bodyPr>
          <a:lstStyle/>
          <a:p>
            <a:r>
              <a:rPr lang="en-US" sz="1200" b="1" dirty="0"/>
              <a:t>Note: </a:t>
            </a:r>
            <a:r>
              <a:rPr lang="en-US" sz="1200" dirty="0"/>
              <a:t>PC </a:t>
            </a:r>
            <a:r>
              <a:rPr lang="en-US" sz="1200" dirty="0" err="1"/>
              <a:t>Ld</a:t>
            </a:r>
            <a:r>
              <a:rPr lang="en-US" sz="1200" dirty="0"/>
              <a:t> Lo is renamed to PC Load Branch.</a:t>
            </a:r>
            <a:endParaRPr lang="en-US" sz="1200" b="1" dirty="0"/>
          </a:p>
        </p:txBody>
      </p:sp>
      <p:pic>
        <p:nvPicPr>
          <p:cNvPr id="20" name="Picture 19" descr="Diagram&#10;&#10;Description automatically generated with low confidence">
            <a:extLst>
              <a:ext uri="{FF2B5EF4-FFF2-40B4-BE49-F238E27FC236}">
                <a16:creationId xmlns:a16="http://schemas.microsoft.com/office/drawing/2014/main" id="{3F4C3A96-B475-3E39-6A8A-7F65EF791043}"/>
              </a:ext>
            </a:extLst>
          </p:cNvPr>
          <p:cNvPicPr>
            <a:picLocks noChangeAspect="1"/>
          </p:cNvPicPr>
          <p:nvPr/>
        </p:nvPicPr>
        <p:blipFill rotWithShape="1">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rcRect l="50000" t="19257" r="4045" b="-1180"/>
          <a:stretch/>
        </p:blipFill>
        <p:spPr>
          <a:xfrm flipH="1">
            <a:off x="2385885" y="3046160"/>
            <a:ext cx="609604" cy="424902"/>
          </a:xfrm>
          <a:prstGeom prst="rect">
            <a:avLst/>
          </a:prstGeom>
        </p:spPr>
      </p:pic>
    </p:spTree>
    <p:extLst>
      <p:ext uri="{BB962C8B-B14F-4D97-AF65-F5344CB8AC3E}">
        <p14:creationId xmlns:p14="http://schemas.microsoft.com/office/powerpoint/2010/main" val="1845910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D67FF-85A9-8C5A-B277-62448C3ED2FE}"/>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129A80E9-A46F-C3B0-2351-1D7852DA5F2B}"/>
              </a:ext>
            </a:extLst>
          </p:cNvPr>
          <p:cNvSpPr/>
          <p:nvPr/>
        </p:nvSpPr>
        <p:spPr>
          <a:xfrm>
            <a:off x="7707957" y="1961261"/>
            <a:ext cx="79469" cy="680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06C0FE8-4611-F92E-72C1-69B62D1C4E58}"/>
              </a:ext>
            </a:extLst>
          </p:cNvPr>
          <p:cNvSpPr/>
          <p:nvPr/>
        </p:nvSpPr>
        <p:spPr>
          <a:xfrm>
            <a:off x="7491174" y="1948366"/>
            <a:ext cx="160343" cy="680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Arrow: Right 56">
            <a:hlinkClick r:id="rId3" action="ppaction://hlinksldjump"/>
            <a:extLst>
              <a:ext uri="{FF2B5EF4-FFF2-40B4-BE49-F238E27FC236}">
                <a16:creationId xmlns:a16="http://schemas.microsoft.com/office/drawing/2014/main" id="{29FC7B64-60D0-C12B-E97C-0643145D9021}"/>
              </a:ext>
            </a:extLst>
          </p:cNvPr>
          <p:cNvSpPr/>
          <p:nvPr/>
        </p:nvSpPr>
        <p:spPr>
          <a:xfrm>
            <a:off x="7248293" y="481803"/>
            <a:ext cx="3938611"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r>
              <a:rPr lang="en-US" sz="1600" err="1"/>
              <a:t>Disp</a:t>
            </a:r>
            <a:r>
              <a:rPr lang="en-US" sz="1600"/>
              <a:t> Char</a:t>
            </a:r>
          </a:p>
        </p:txBody>
      </p:sp>
      <p:sp>
        <p:nvSpPr>
          <p:cNvPr id="30" name="Rectangle 29">
            <a:extLst>
              <a:ext uri="{FF2B5EF4-FFF2-40B4-BE49-F238E27FC236}">
                <a16:creationId xmlns:a16="http://schemas.microsoft.com/office/drawing/2014/main" id="{17E14DA0-F4B3-C7F6-F66B-06C414F2361E}"/>
              </a:ext>
            </a:extLst>
          </p:cNvPr>
          <p:cNvSpPr/>
          <p:nvPr/>
        </p:nvSpPr>
        <p:spPr>
          <a:xfrm>
            <a:off x="8969314" y="4602733"/>
            <a:ext cx="199685" cy="1653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125991D0-C0AA-27C3-AD00-D2FBDCD17D4A}"/>
              </a:ext>
            </a:extLst>
          </p:cNvPr>
          <p:cNvSpPr/>
          <p:nvPr/>
        </p:nvSpPr>
        <p:spPr>
          <a:xfrm>
            <a:off x="9228307" y="4803859"/>
            <a:ext cx="199685" cy="1653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4" name="Picture 10" descr="Arduino NANO Pinout">
            <a:extLst>
              <a:ext uri="{FF2B5EF4-FFF2-40B4-BE49-F238E27FC236}">
                <a16:creationId xmlns:a16="http://schemas.microsoft.com/office/drawing/2014/main" id="{7833A6C2-0955-CB9B-EEA4-E065C08355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5507377" y="2394987"/>
            <a:ext cx="6106943" cy="305347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9CBDB4A-A4B5-28D4-D7A8-43A80CF1C730}"/>
              </a:ext>
            </a:extLst>
          </p:cNvPr>
          <p:cNvSpPr>
            <a:spLocks noGrp="1"/>
          </p:cNvSpPr>
          <p:nvPr>
            <p:ph type="ctrTitle"/>
          </p:nvPr>
        </p:nvSpPr>
        <p:spPr>
          <a:xfrm>
            <a:off x="914400" y="457200"/>
            <a:ext cx="3840480" cy="457200"/>
          </a:xfrm>
          <a:prstGeom prst="rect">
            <a:avLst/>
          </a:prstGeom>
          <a:solidFill>
            <a:schemeClr val="accent6">
              <a:lumMod val="20000"/>
              <a:lumOff val="80000"/>
            </a:schemeClr>
          </a:solidFill>
        </p:spPr>
        <p:txBody>
          <a:bodyPr/>
          <a:lstStyle/>
          <a:p>
            <a:r>
              <a:rPr lang="en-US" sz="2400" dirty="0"/>
              <a:t>Display (V2.0)</a:t>
            </a:r>
          </a:p>
        </p:txBody>
      </p:sp>
      <p:pic>
        <p:nvPicPr>
          <p:cNvPr id="1028" name="Picture 4">
            <a:extLst>
              <a:ext uri="{FF2B5EF4-FFF2-40B4-BE49-F238E27FC236}">
                <a16:creationId xmlns:a16="http://schemas.microsoft.com/office/drawing/2014/main" id="{7E03F309-3140-85C6-57B3-1B2511516F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5400000">
            <a:off x="-899328" y="2076876"/>
            <a:ext cx="4132558" cy="260833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Connector 6">
            <a:extLst>
              <a:ext uri="{FF2B5EF4-FFF2-40B4-BE49-F238E27FC236}">
                <a16:creationId xmlns:a16="http://schemas.microsoft.com/office/drawing/2014/main" id="{899F3E58-335E-99AD-C15E-53A6E1E9E43C}"/>
              </a:ext>
            </a:extLst>
          </p:cNvPr>
          <p:cNvCxnSpPr/>
          <p:nvPr/>
        </p:nvCxnSpPr>
        <p:spPr>
          <a:xfrm flipH="1">
            <a:off x="2305456" y="1228905"/>
            <a:ext cx="564205" cy="563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F305794-CBCF-F687-3409-9283A52E56EF}"/>
              </a:ext>
            </a:extLst>
          </p:cNvPr>
          <p:cNvCxnSpPr/>
          <p:nvPr/>
        </p:nvCxnSpPr>
        <p:spPr>
          <a:xfrm flipH="1" flipV="1">
            <a:off x="2302933" y="3341607"/>
            <a:ext cx="475339" cy="86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28A9CC0-8C0B-CCE4-6D96-1A31C82A285F}"/>
              </a:ext>
            </a:extLst>
          </p:cNvPr>
          <p:cNvCxnSpPr/>
          <p:nvPr/>
        </p:nvCxnSpPr>
        <p:spPr>
          <a:xfrm flipH="1">
            <a:off x="2305457" y="1453541"/>
            <a:ext cx="472817" cy="4491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9F510A0-6724-3719-FA34-9DE5B2E71D3A}"/>
              </a:ext>
            </a:extLst>
          </p:cNvPr>
          <p:cNvCxnSpPr>
            <a:cxnSpLocks/>
          </p:cNvCxnSpPr>
          <p:nvPr/>
        </p:nvCxnSpPr>
        <p:spPr>
          <a:xfrm flipV="1">
            <a:off x="2302934" y="1648274"/>
            <a:ext cx="472817" cy="381000"/>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0013C78B-F64A-A986-3B98-FACC81F1B65E}"/>
              </a:ext>
            </a:extLst>
          </p:cNvPr>
          <p:cNvPicPr>
            <a:picLocks noChangeAspect="1"/>
          </p:cNvPicPr>
          <p:nvPr/>
        </p:nvPicPr>
        <p:blipFill>
          <a:blip r:embed="rId6"/>
          <a:stretch>
            <a:fillRect/>
          </a:stretch>
        </p:blipFill>
        <p:spPr>
          <a:xfrm>
            <a:off x="2778273" y="1118800"/>
            <a:ext cx="2319023" cy="3183743"/>
          </a:xfrm>
          <a:prstGeom prst="rect">
            <a:avLst/>
          </a:prstGeom>
        </p:spPr>
      </p:pic>
      <p:cxnSp>
        <p:nvCxnSpPr>
          <p:cNvPr id="20" name="Straight Connector 19">
            <a:extLst>
              <a:ext uri="{FF2B5EF4-FFF2-40B4-BE49-F238E27FC236}">
                <a16:creationId xmlns:a16="http://schemas.microsoft.com/office/drawing/2014/main" id="{630D5228-E7BF-BA2F-8D9E-8557C78BD48E}"/>
              </a:ext>
            </a:extLst>
          </p:cNvPr>
          <p:cNvCxnSpPr/>
          <p:nvPr/>
        </p:nvCxnSpPr>
        <p:spPr>
          <a:xfrm>
            <a:off x="9426101" y="749811"/>
            <a:ext cx="0" cy="398053"/>
          </a:xfrm>
          <a:prstGeom prst="line">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80B93FB-FCA0-B562-2DD8-CE3779440875}"/>
              </a:ext>
            </a:extLst>
          </p:cNvPr>
          <p:cNvCxnSpPr/>
          <p:nvPr/>
        </p:nvCxnSpPr>
        <p:spPr>
          <a:xfrm>
            <a:off x="9189392" y="746566"/>
            <a:ext cx="0" cy="398053"/>
          </a:xfrm>
          <a:prstGeom prst="line">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AE46A0B-79C0-79A4-F0DC-68A48575B0E8}"/>
              </a:ext>
            </a:extLst>
          </p:cNvPr>
          <p:cNvCxnSpPr/>
          <p:nvPr/>
        </p:nvCxnSpPr>
        <p:spPr>
          <a:xfrm>
            <a:off x="8985112" y="756292"/>
            <a:ext cx="0" cy="398053"/>
          </a:xfrm>
          <a:prstGeom prst="line">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5212DB6-E05E-1272-DE92-0512E4D9B054}"/>
              </a:ext>
            </a:extLst>
          </p:cNvPr>
          <p:cNvCxnSpPr/>
          <p:nvPr/>
        </p:nvCxnSpPr>
        <p:spPr>
          <a:xfrm>
            <a:off x="8780833" y="756294"/>
            <a:ext cx="0" cy="398053"/>
          </a:xfrm>
          <a:prstGeom prst="line">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23A087B-08EA-B460-4296-D8E856B53FDC}"/>
              </a:ext>
            </a:extLst>
          </p:cNvPr>
          <p:cNvCxnSpPr/>
          <p:nvPr/>
        </p:nvCxnSpPr>
        <p:spPr>
          <a:xfrm>
            <a:off x="8547371" y="756292"/>
            <a:ext cx="0" cy="398053"/>
          </a:xfrm>
          <a:prstGeom prst="line">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1A62759-4EA6-4170-802B-C330B439C1A1}"/>
              </a:ext>
            </a:extLst>
          </p:cNvPr>
          <p:cNvCxnSpPr/>
          <p:nvPr/>
        </p:nvCxnSpPr>
        <p:spPr>
          <a:xfrm>
            <a:off x="8333360" y="756291"/>
            <a:ext cx="0" cy="398053"/>
          </a:xfrm>
          <a:prstGeom prst="line">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50EC9AA5-495D-D08E-6670-2E36C54E9FC6}"/>
              </a:ext>
            </a:extLst>
          </p:cNvPr>
          <p:cNvSpPr txBox="1"/>
          <p:nvPr/>
        </p:nvSpPr>
        <p:spPr>
          <a:xfrm>
            <a:off x="8237744" y="513514"/>
            <a:ext cx="1334020" cy="307777"/>
          </a:xfrm>
          <a:prstGeom prst="rect">
            <a:avLst/>
          </a:prstGeom>
          <a:noFill/>
        </p:spPr>
        <p:txBody>
          <a:bodyPr wrap="none" rtlCol="0">
            <a:spAutoFit/>
          </a:bodyPr>
          <a:lstStyle/>
          <a:p>
            <a:r>
              <a:rPr lang="en-US" sz="1400"/>
              <a:t>5   4   3   2   1   0</a:t>
            </a:r>
          </a:p>
        </p:txBody>
      </p:sp>
      <p:cxnSp>
        <p:nvCxnSpPr>
          <p:cNvPr id="24" name="Connector: Elbow 23">
            <a:extLst>
              <a:ext uri="{FF2B5EF4-FFF2-40B4-BE49-F238E27FC236}">
                <a16:creationId xmlns:a16="http://schemas.microsoft.com/office/drawing/2014/main" id="{6C828EA7-F161-FF16-3169-C269629EB8DC}"/>
              </a:ext>
            </a:extLst>
          </p:cNvPr>
          <p:cNvCxnSpPr>
            <a:cxnSpLocks/>
            <a:endCxn id="30" idx="3"/>
          </p:cNvCxnSpPr>
          <p:nvPr/>
        </p:nvCxnSpPr>
        <p:spPr>
          <a:xfrm rot="5400000">
            <a:off x="7786323" y="1989167"/>
            <a:ext cx="4078928" cy="131357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9E49A8A0-233F-D2F3-BEF3-E02404B5CEF7}"/>
              </a:ext>
            </a:extLst>
          </p:cNvPr>
          <p:cNvCxnSpPr>
            <a:cxnSpLocks/>
            <a:endCxn id="38" idx="3"/>
          </p:cNvCxnSpPr>
          <p:nvPr/>
        </p:nvCxnSpPr>
        <p:spPr>
          <a:xfrm rot="5400000">
            <a:off x="7923423" y="2103805"/>
            <a:ext cx="4287308" cy="127817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B03BF135-F8BE-7A2B-6B61-73061B4DF67A}"/>
              </a:ext>
            </a:extLst>
          </p:cNvPr>
          <p:cNvSpPr txBox="1"/>
          <p:nvPr/>
        </p:nvSpPr>
        <p:spPr>
          <a:xfrm>
            <a:off x="10355135" y="500544"/>
            <a:ext cx="487634" cy="307777"/>
          </a:xfrm>
          <a:prstGeom prst="rect">
            <a:avLst/>
          </a:prstGeom>
          <a:noFill/>
        </p:spPr>
        <p:txBody>
          <a:bodyPr wrap="none" rtlCol="0">
            <a:spAutoFit/>
          </a:bodyPr>
          <a:lstStyle/>
          <a:p>
            <a:r>
              <a:rPr lang="en-US" sz="1400"/>
              <a:t>6   7</a:t>
            </a:r>
          </a:p>
        </p:txBody>
      </p:sp>
      <p:pic>
        <p:nvPicPr>
          <p:cNvPr id="42" name="Picture 10" descr="Arduino NANO Pinout">
            <a:extLst>
              <a:ext uri="{FF2B5EF4-FFF2-40B4-BE49-F238E27FC236}">
                <a16:creationId xmlns:a16="http://schemas.microsoft.com/office/drawing/2014/main" id="{37B3ECC2-8E04-8359-499E-E823839C76F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9585" t="32384" r="22785" b="40883"/>
          <a:stretch>
            <a:fillRect/>
          </a:stretch>
        </p:blipFill>
        <p:spPr bwMode="auto">
          <a:xfrm rot="10800000">
            <a:off x="5251604" y="3113492"/>
            <a:ext cx="465894" cy="816265"/>
          </a:xfrm>
          <a:prstGeom prst="rect">
            <a:avLst/>
          </a:prstGeom>
          <a:noFill/>
          <a:extLst>
            <a:ext uri="{909E8E84-426E-40DD-AFC4-6F175D3DCCD1}">
              <a14:hiddenFill xmlns:a14="http://schemas.microsoft.com/office/drawing/2010/main">
                <a:solidFill>
                  <a:srgbClr val="FFFFFF"/>
                </a:solidFill>
              </a14:hiddenFill>
            </a:ext>
          </a:extLst>
        </p:spPr>
      </p:pic>
      <p:cxnSp>
        <p:nvCxnSpPr>
          <p:cNvPr id="50" name="Straight Arrow Connector 49">
            <a:extLst>
              <a:ext uri="{FF2B5EF4-FFF2-40B4-BE49-F238E27FC236}">
                <a16:creationId xmlns:a16="http://schemas.microsoft.com/office/drawing/2014/main" id="{AA588A0F-CEFA-1FA3-4547-6232A21E0970}"/>
              </a:ext>
            </a:extLst>
          </p:cNvPr>
          <p:cNvCxnSpPr>
            <a:cxnSpLocks/>
          </p:cNvCxnSpPr>
          <p:nvPr/>
        </p:nvCxnSpPr>
        <p:spPr>
          <a:xfrm flipH="1">
            <a:off x="5087567" y="3204545"/>
            <a:ext cx="204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4C67CC09-C2C6-A897-7617-948214A95F7C}"/>
              </a:ext>
            </a:extLst>
          </p:cNvPr>
          <p:cNvCxnSpPr>
            <a:cxnSpLocks/>
          </p:cNvCxnSpPr>
          <p:nvPr/>
        </p:nvCxnSpPr>
        <p:spPr>
          <a:xfrm flipH="1">
            <a:off x="5087567" y="3404193"/>
            <a:ext cx="204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F407363C-91A7-579D-5E33-C4E5324059DB}"/>
              </a:ext>
            </a:extLst>
          </p:cNvPr>
          <p:cNvCxnSpPr>
            <a:cxnSpLocks/>
          </p:cNvCxnSpPr>
          <p:nvPr/>
        </p:nvCxnSpPr>
        <p:spPr>
          <a:xfrm flipH="1">
            <a:off x="5087567" y="3603841"/>
            <a:ext cx="204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CFFD3188-A98F-B90D-7CFF-B00867CF8D37}"/>
              </a:ext>
            </a:extLst>
          </p:cNvPr>
          <p:cNvCxnSpPr>
            <a:cxnSpLocks/>
          </p:cNvCxnSpPr>
          <p:nvPr/>
        </p:nvCxnSpPr>
        <p:spPr>
          <a:xfrm flipH="1">
            <a:off x="5087567" y="3803490"/>
            <a:ext cx="204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35" name="Picture 1034">
            <a:extLst>
              <a:ext uri="{FF2B5EF4-FFF2-40B4-BE49-F238E27FC236}">
                <a16:creationId xmlns:a16="http://schemas.microsoft.com/office/drawing/2014/main" id="{90B88315-DA27-C92F-7B8F-995A21E721CA}"/>
              </a:ext>
            </a:extLst>
          </p:cNvPr>
          <p:cNvPicPr>
            <a:picLocks noChangeAspect="1"/>
          </p:cNvPicPr>
          <p:nvPr/>
        </p:nvPicPr>
        <p:blipFill>
          <a:blip r:embed="rId7"/>
          <a:srcRect l="1" r="13169"/>
          <a:stretch>
            <a:fillRect/>
          </a:stretch>
        </p:blipFill>
        <p:spPr>
          <a:xfrm>
            <a:off x="5383103" y="1744215"/>
            <a:ext cx="388770" cy="476316"/>
          </a:xfrm>
          <a:prstGeom prst="rect">
            <a:avLst/>
          </a:prstGeom>
        </p:spPr>
      </p:pic>
      <p:cxnSp>
        <p:nvCxnSpPr>
          <p:cNvPr id="1037" name="Connector: Elbow 1036">
            <a:extLst>
              <a:ext uri="{FF2B5EF4-FFF2-40B4-BE49-F238E27FC236}">
                <a16:creationId xmlns:a16="http://schemas.microsoft.com/office/drawing/2014/main" id="{4A3B6E2B-54BF-6782-821C-57E2F34D44F6}"/>
              </a:ext>
            </a:extLst>
          </p:cNvPr>
          <p:cNvCxnSpPr>
            <a:cxnSpLocks/>
          </p:cNvCxnSpPr>
          <p:nvPr/>
        </p:nvCxnSpPr>
        <p:spPr>
          <a:xfrm rot="10800000">
            <a:off x="5070924" y="1838776"/>
            <a:ext cx="333529" cy="3123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Connector: Elbow 59">
            <a:extLst>
              <a:ext uri="{FF2B5EF4-FFF2-40B4-BE49-F238E27FC236}">
                <a16:creationId xmlns:a16="http://schemas.microsoft.com/office/drawing/2014/main" id="{2401CE51-5C08-DCAF-6C60-A4E3F992AF67}"/>
              </a:ext>
            </a:extLst>
          </p:cNvPr>
          <p:cNvCxnSpPr>
            <a:cxnSpLocks/>
          </p:cNvCxnSpPr>
          <p:nvPr/>
        </p:nvCxnSpPr>
        <p:spPr>
          <a:xfrm rot="10800000" flipV="1">
            <a:off x="5042327" y="2131380"/>
            <a:ext cx="362125" cy="12333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3" name="Connector: Elbow 1042">
            <a:extLst>
              <a:ext uri="{FF2B5EF4-FFF2-40B4-BE49-F238E27FC236}">
                <a16:creationId xmlns:a16="http://schemas.microsoft.com/office/drawing/2014/main" id="{E6190A0A-54E6-EFB2-E623-94803CD73D04}"/>
              </a:ext>
            </a:extLst>
          </p:cNvPr>
          <p:cNvCxnSpPr>
            <a:cxnSpLocks/>
            <a:stCxn id="8" idx="1"/>
          </p:cNvCxnSpPr>
          <p:nvPr/>
        </p:nvCxnSpPr>
        <p:spPr>
          <a:xfrm rot="10800000">
            <a:off x="9627411" y="5020098"/>
            <a:ext cx="1105240" cy="11311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AC61FD9F-AB6D-EF99-19EB-6263092ACFB7}"/>
              </a:ext>
            </a:extLst>
          </p:cNvPr>
          <p:cNvCxnSpPr>
            <a:cxnSpLocks/>
            <a:endCxn id="15" idx="0"/>
          </p:cNvCxnSpPr>
          <p:nvPr/>
        </p:nvCxnSpPr>
        <p:spPr>
          <a:xfrm rot="16200000" flipH="1">
            <a:off x="6685030" y="1062050"/>
            <a:ext cx="1003220" cy="769411"/>
          </a:xfrm>
          <a:prstGeom prst="bentConnector3">
            <a:avLst>
              <a:gd name="adj1" fmla="val 7167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Connector: Elbow 70">
            <a:extLst>
              <a:ext uri="{FF2B5EF4-FFF2-40B4-BE49-F238E27FC236}">
                <a16:creationId xmlns:a16="http://schemas.microsoft.com/office/drawing/2014/main" id="{99CA7E54-D355-817E-8DC4-5AD780D89FE1}"/>
              </a:ext>
            </a:extLst>
          </p:cNvPr>
          <p:cNvCxnSpPr>
            <a:cxnSpLocks/>
            <a:stCxn id="73" idx="0"/>
          </p:cNvCxnSpPr>
          <p:nvPr/>
        </p:nvCxnSpPr>
        <p:spPr>
          <a:xfrm rot="5400000" flipH="1" flipV="1">
            <a:off x="6397856" y="4368393"/>
            <a:ext cx="964897" cy="221686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73" name="TextBox 72">
            <a:hlinkClick r:id="rId8" action="ppaction://hlinksldjump"/>
            <a:extLst>
              <a:ext uri="{FF2B5EF4-FFF2-40B4-BE49-F238E27FC236}">
                <a16:creationId xmlns:a16="http://schemas.microsoft.com/office/drawing/2014/main" id="{6F3DEA44-073B-832C-C473-E304A058EE17}"/>
              </a:ext>
            </a:extLst>
          </p:cNvPr>
          <p:cNvSpPr txBox="1"/>
          <p:nvPr/>
        </p:nvSpPr>
        <p:spPr>
          <a:xfrm>
            <a:off x="5221945" y="5959273"/>
            <a:ext cx="1099853" cy="307777"/>
          </a:xfrm>
          <a:prstGeom prst="rect">
            <a:avLst/>
          </a:prstGeom>
          <a:noFill/>
          <a:ln w="12700">
            <a:solidFill>
              <a:srgbClr val="00B050"/>
            </a:solidFill>
          </a:ln>
        </p:spPr>
        <p:txBody>
          <a:bodyPr wrap="none" rtlCol="0">
            <a:spAutoFit/>
          </a:bodyPr>
          <a:lstStyle/>
          <a:p>
            <a:r>
              <a:rPr lang="en-US" sz="1400" dirty="0"/>
              <a:t>Display Load</a:t>
            </a:r>
          </a:p>
        </p:txBody>
      </p:sp>
      <p:sp>
        <p:nvSpPr>
          <p:cNvPr id="4" name="TextBox 3">
            <a:extLst>
              <a:ext uri="{FF2B5EF4-FFF2-40B4-BE49-F238E27FC236}">
                <a16:creationId xmlns:a16="http://schemas.microsoft.com/office/drawing/2014/main" id="{3948DEBE-2BF0-5435-B4F8-DC38B7FCC185}"/>
              </a:ext>
            </a:extLst>
          </p:cNvPr>
          <p:cNvSpPr txBox="1"/>
          <p:nvPr/>
        </p:nvSpPr>
        <p:spPr>
          <a:xfrm>
            <a:off x="6452077" y="4750471"/>
            <a:ext cx="476412" cy="276999"/>
          </a:xfrm>
          <a:prstGeom prst="rect">
            <a:avLst/>
          </a:prstGeom>
          <a:noFill/>
        </p:spPr>
        <p:txBody>
          <a:bodyPr wrap="none" rtlCol="0">
            <a:spAutoFit/>
          </a:bodyPr>
          <a:lstStyle/>
          <a:p>
            <a:r>
              <a:rPr lang="en-US" sz="1200"/>
              <a:t>INT0</a:t>
            </a:r>
          </a:p>
        </p:txBody>
      </p:sp>
      <p:pic>
        <p:nvPicPr>
          <p:cNvPr id="3" name="Picture 2">
            <a:hlinkClick r:id="rId9" action="ppaction://hlinksldjump"/>
            <a:extLst>
              <a:ext uri="{FF2B5EF4-FFF2-40B4-BE49-F238E27FC236}">
                <a16:creationId xmlns:a16="http://schemas.microsoft.com/office/drawing/2014/main" id="{2A12D890-F9B9-4493-A1EF-036C158A8FED}"/>
              </a:ext>
            </a:extLst>
          </p:cNvPr>
          <p:cNvPicPr>
            <a:picLocks noChangeAspect="1"/>
          </p:cNvPicPr>
          <p:nvPr/>
        </p:nvPicPr>
        <p:blipFill>
          <a:blip r:embed="rId10"/>
          <a:stretch>
            <a:fillRect/>
          </a:stretch>
        </p:blipFill>
        <p:spPr>
          <a:xfrm>
            <a:off x="11038384" y="6427540"/>
            <a:ext cx="1076851" cy="222744"/>
          </a:xfrm>
          <a:prstGeom prst="rect">
            <a:avLst/>
          </a:prstGeom>
        </p:spPr>
      </p:pic>
      <p:sp>
        <p:nvSpPr>
          <p:cNvPr id="6" name="TextBox 5">
            <a:extLst>
              <a:ext uri="{FF2B5EF4-FFF2-40B4-BE49-F238E27FC236}">
                <a16:creationId xmlns:a16="http://schemas.microsoft.com/office/drawing/2014/main" id="{F4F2A5E3-AABF-FDD8-48DF-152ECD55187C}"/>
              </a:ext>
            </a:extLst>
          </p:cNvPr>
          <p:cNvSpPr txBox="1"/>
          <p:nvPr/>
        </p:nvSpPr>
        <p:spPr>
          <a:xfrm>
            <a:off x="356727" y="5487290"/>
            <a:ext cx="4349268" cy="1477328"/>
          </a:xfrm>
          <a:prstGeom prst="rect">
            <a:avLst/>
          </a:prstGeom>
          <a:noFill/>
        </p:spPr>
        <p:txBody>
          <a:bodyPr wrap="none" rtlCol="0">
            <a:spAutoFit/>
          </a:bodyPr>
          <a:lstStyle/>
          <a:p>
            <a:r>
              <a:rPr lang="en-US" sz="900" dirty="0"/>
              <a:t>Notes: </a:t>
            </a:r>
          </a:p>
          <a:p>
            <a:pPr marL="228600" indent="-228600">
              <a:buAutoNum type="arabicPeriod"/>
            </a:pPr>
            <a:r>
              <a:rPr lang="en-US" sz="900" dirty="0"/>
              <a:t>To free up 4 GPIOs, Display is configured to use 4b which requires two writes</a:t>
            </a:r>
          </a:p>
          <a:p>
            <a:pPr marL="228600" indent="-228600">
              <a:buAutoNum type="arabicPeriod"/>
            </a:pPr>
            <a:r>
              <a:rPr lang="en-US" sz="900" dirty="0"/>
              <a:t>5v was added to allow independence of USB connection. </a:t>
            </a:r>
            <a:br>
              <a:rPr lang="en-US" sz="900" dirty="0"/>
            </a:br>
            <a:r>
              <a:rPr lang="en-US" sz="900" dirty="0"/>
              <a:t>When USB is connected, it helps the main supply</a:t>
            </a:r>
          </a:p>
          <a:p>
            <a:pPr marL="228600" indent="-228600">
              <a:buAutoNum type="arabicPeriod"/>
            </a:pPr>
            <a:r>
              <a:rPr lang="en-US" sz="900" dirty="0"/>
              <a:t>To enable programing, the reset line need to be disconnected </a:t>
            </a:r>
            <a:br>
              <a:rPr lang="en-US" sz="900" dirty="0"/>
            </a:br>
            <a:r>
              <a:rPr lang="en-US" sz="900" dirty="0"/>
              <a:t>– proposed to add a 3state on its path</a:t>
            </a:r>
          </a:p>
          <a:p>
            <a:pPr marL="228600" indent="-228600">
              <a:buAutoNum type="arabicPeriod"/>
            </a:pPr>
            <a:r>
              <a:rPr lang="en-US" sz="900" dirty="0"/>
              <a:t>“A/I” is now latched and stay valid for multiple clocks and does not fail at MAX clock</a:t>
            </a:r>
          </a:p>
          <a:p>
            <a:pPr marL="228600" indent="-228600">
              <a:buFontTx/>
              <a:buAutoNum type="arabicPeriod"/>
            </a:pPr>
            <a:r>
              <a:rPr lang="en-US" sz="900" dirty="0"/>
              <a:t>IDE Setup: Board "Arduino NANO“;   CPU "ATmega328p (old bootloader)"</a:t>
            </a:r>
          </a:p>
          <a:p>
            <a:endParaRPr lang="en-US" sz="900" dirty="0"/>
          </a:p>
          <a:p>
            <a:pPr marL="228600" indent="-228600">
              <a:buAutoNum type="arabicPeriod"/>
            </a:pPr>
            <a:endParaRPr lang="en-US" sz="900" dirty="0"/>
          </a:p>
        </p:txBody>
      </p:sp>
      <p:sp>
        <p:nvSpPr>
          <p:cNvPr id="18" name="TextBox 17">
            <a:extLst>
              <a:ext uri="{FF2B5EF4-FFF2-40B4-BE49-F238E27FC236}">
                <a16:creationId xmlns:a16="http://schemas.microsoft.com/office/drawing/2014/main" id="{42698B82-DC10-DC36-6B40-894E307A4C4D}"/>
              </a:ext>
            </a:extLst>
          </p:cNvPr>
          <p:cNvSpPr txBox="1"/>
          <p:nvPr/>
        </p:nvSpPr>
        <p:spPr>
          <a:xfrm>
            <a:off x="3641162" y="4540228"/>
            <a:ext cx="1319528" cy="307777"/>
          </a:xfrm>
          <a:prstGeom prst="rect">
            <a:avLst/>
          </a:prstGeom>
          <a:noFill/>
          <a:ln w="12700">
            <a:solidFill>
              <a:srgbClr val="00B050"/>
            </a:solidFill>
          </a:ln>
        </p:spPr>
        <p:txBody>
          <a:bodyPr wrap="none" rtlCol="0">
            <a:spAutoFit/>
          </a:bodyPr>
          <a:lstStyle>
            <a:defPPr>
              <a:defRPr lang="en-US"/>
            </a:defPPr>
            <a:lvl1pPr>
              <a:defRPr sz="1400"/>
            </a:lvl1pPr>
          </a:lstStyle>
          <a:p>
            <a:r>
              <a:rPr lang="en-US" dirty="0"/>
              <a:t>USB </a:t>
            </a:r>
            <a:r>
              <a:rPr lang="en-US" dirty="0" err="1"/>
              <a:t>Serial.Print</a:t>
            </a:r>
            <a:endParaRPr lang="en-US" dirty="0"/>
          </a:p>
        </p:txBody>
      </p:sp>
      <p:cxnSp>
        <p:nvCxnSpPr>
          <p:cNvPr id="19" name="Connector: Elbow 18">
            <a:extLst>
              <a:ext uri="{FF2B5EF4-FFF2-40B4-BE49-F238E27FC236}">
                <a16:creationId xmlns:a16="http://schemas.microsoft.com/office/drawing/2014/main" id="{05ABE436-1C66-A007-8192-5566190207F5}"/>
              </a:ext>
            </a:extLst>
          </p:cNvPr>
          <p:cNvCxnSpPr>
            <a:cxnSpLocks/>
            <a:endCxn id="18" idx="3"/>
          </p:cNvCxnSpPr>
          <p:nvPr/>
        </p:nvCxnSpPr>
        <p:spPr>
          <a:xfrm rot="10800000" flipV="1">
            <a:off x="4960690" y="4464247"/>
            <a:ext cx="2226218" cy="229870"/>
          </a:xfrm>
          <a:prstGeom prst="bentConnector3">
            <a:avLst>
              <a:gd name="adj1" fmla="val -239"/>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34114B33-D8A4-CAA3-AE2D-6153F54C87A4}"/>
              </a:ext>
            </a:extLst>
          </p:cNvPr>
          <p:cNvSpPr txBox="1"/>
          <p:nvPr/>
        </p:nvSpPr>
        <p:spPr>
          <a:xfrm>
            <a:off x="6356569" y="1207040"/>
            <a:ext cx="276417" cy="215444"/>
          </a:xfrm>
          <a:prstGeom prst="rect">
            <a:avLst/>
          </a:prstGeom>
          <a:solidFill>
            <a:srgbClr val="FF0000"/>
          </a:solidFill>
        </p:spPr>
        <p:txBody>
          <a:bodyPr wrap="square" lIns="0" tIns="0" rIns="0" bIns="0" rtlCol="0" anchor="ctr">
            <a:spAutoFit/>
          </a:bodyPr>
          <a:lstStyle/>
          <a:p>
            <a:pPr algn="ctr"/>
            <a:r>
              <a:rPr lang="en-US" sz="1400" dirty="0"/>
              <a:t>5V</a:t>
            </a:r>
          </a:p>
        </p:txBody>
      </p:sp>
      <p:cxnSp>
        <p:nvCxnSpPr>
          <p:cNvPr id="34" name="Connector: Elbow 33">
            <a:extLst>
              <a:ext uri="{FF2B5EF4-FFF2-40B4-BE49-F238E27FC236}">
                <a16:creationId xmlns:a16="http://schemas.microsoft.com/office/drawing/2014/main" id="{266098C8-B38E-A24A-E06C-55E46F255120}"/>
              </a:ext>
            </a:extLst>
          </p:cNvPr>
          <p:cNvCxnSpPr>
            <a:stCxn id="32" idx="2"/>
          </p:cNvCxnSpPr>
          <p:nvPr/>
        </p:nvCxnSpPr>
        <p:spPr>
          <a:xfrm rot="5400000">
            <a:off x="5767323" y="726085"/>
            <a:ext cx="31057" cy="142385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61373CFC-0BE6-C75E-5DD7-0880D90A4374}"/>
              </a:ext>
            </a:extLst>
          </p:cNvPr>
          <p:cNvCxnSpPr>
            <a:cxnSpLocks/>
            <a:stCxn id="32" idx="2"/>
          </p:cNvCxnSpPr>
          <p:nvPr/>
        </p:nvCxnSpPr>
        <p:spPr>
          <a:xfrm rot="5400000">
            <a:off x="4489552" y="2030228"/>
            <a:ext cx="2612970" cy="1397482"/>
          </a:xfrm>
          <a:prstGeom prst="bentConnector3">
            <a:avLst>
              <a:gd name="adj1" fmla="val 10003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9305152B-FC3B-0E43-2F42-35A1C3FBE343}"/>
              </a:ext>
            </a:extLst>
          </p:cNvPr>
          <p:cNvCxnSpPr>
            <a:cxnSpLocks/>
            <a:stCxn id="32" idx="2"/>
            <a:endCxn id="54" idx="0"/>
          </p:cNvCxnSpPr>
          <p:nvPr/>
        </p:nvCxnSpPr>
        <p:spPr>
          <a:xfrm rot="16200000" flipH="1">
            <a:off x="6851847" y="1065415"/>
            <a:ext cx="538777" cy="1252914"/>
          </a:xfrm>
          <a:prstGeom prst="bentConnector3">
            <a:avLst>
              <a:gd name="adj1" fmla="val 65429"/>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4" name="Group 63">
            <a:extLst>
              <a:ext uri="{FF2B5EF4-FFF2-40B4-BE49-F238E27FC236}">
                <a16:creationId xmlns:a16="http://schemas.microsoft.com/office/drawing/2014/main" id="{C466E660-EB96-B246-EBBB-03A7F78CF4CE}"/>
              </a:ext>
            </a:extLst>
          </p:cNvPr>
          <p:cNvGrpSpPr/>
          <p:nvPr/>
        </p:nvGrpSpPr>
        <p:grpSpPr>
          <a:xfrm rot="16200000">
            <a:off x="8590201" y="4783567"/>
            <a:ext cx="204280" cy="598945"/>
            <a:chOff x="5239967" y="4611407"/>
            <a:chExt cx="204280" cy="598945"/>
          </a:xfrm>
        </p:grpSpPr>
        <p:cxnSp>
          <p:nvCxnSpPr>
            <p:cNvPr id="59" name="Straight Arrow Connector 58">
              <a:extLst>
                <a:ext uri="{FF2B5EF4-FFF2-40B4-BE49-F238E27FC236}">
                  <a16:creationId xmlns:a16="http://schemas.microsoft.com/office/drawing/2014/main" id="{20D6C9C5-BE56-28B3-04A9-52C22EF2EB0D}"/>
                </a:ext>
              </a:extLst>
            </p:cNvPr>
            <p:cNvCxnSpPr>
              <a:cxnSpLocks/>
            </p:cNvCxnSpPr>
            <p:nvPr/>
          </p:nvCxnSpPr>
          <p:spPr>
            <a:xfrm flipH="1">
              <a:off x="5239967" y="4611407"/>
              <a:ext cx="204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D9735630-EEC9-5F4A-2BF6-236313B7C0C6}"/>
                </a:ext>
              </a:extLst>
            </p:cNvPr>
            <p:cNvCxnSpPr>
              <a:cxnSpLocks/>
            </p:cNvCxnSpPr>
            <p:nvPr/>
          </p:nvCxnSpPr>
          <p:spPr>
            <a:xfrm flipH="1">
              <a:off x="5239967" y="4811055"/>
              <a:ext cx="204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B36A6BE0-8E3C-8AE7-7975-DFEE80BB118A}"/>
                </a:ext>
              </a:extLst>
            </p:cNvPr>
            <p:cNvCxnSpPr>
              <a:cxnSpLocks/>
            </p:cNvCxnSpPr>
            <p:nvPr/>
          </p:nvCxnSpPr>
          <p:spPr>
            <a:xfrm flipH="1">
              <a:off x="5239967" y="5010703"/>
              <a:ext cx="204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2CBE911D-0C8C-1555-5B14-2BD9B1CC3FE5}"/>
                </a:ext>
              </a:extLst>
            </p:cNvPr>
            <p:cNvCxnSpPr>
              <a:cxnSpLocks/>
            </p:cNvCxnSpPr>
            <p:nvPr/>
          </p:nvCxnSpPr>
          <p:spPr>
            <a:xfrm flipH="1">
              <a:off x="5239967" y="5210352"/>
              <a:ext cx="204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70" name="Slide Number Placeholder 4">
            <a:extLst>
              <a:ext uri="{FF2B5EF4-FFF2-40B4-BE49-F238E27FC236}">
                <a16:creationId xmlns:a16="http://schemas.microsoft.com/office/drawing/2014/main" id="{30145B55-0BCA-DB9E-C03D-E76F05A8EB51}"/>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39</a:t>
            </a:fld>
            <a:endParaRPr lang="en-US" b="1" dirty="0">
              <a:solidFill>
                <a:schemeClr val="bg1"/>
              </a:solidFill>
            </a:endParaRPr>
          </a:p>
        </p:txBody>
      </p:sp>
      <p:sp>
        <p:nvSpPr>
          <p:cNvPr id="8" name="TextBox 7">
            <a:hlinkClick r:id="rId8" action="ppaction://hlinksldjump"/>
            <a:extLst>
              <a:ext uri="{FF2B5EF4-FFF2-40B4-BE49-F238E27FC236}">
                <a16:creationId xmlns:a16="http://schemas.microsoft.com/office/drawing/2014/main" id="{C13F752D-B4AD-A95F-D9AB-22E6187FF989}"/>
              </a:ext>
            </a:extLst>
          </p:cNvPr>
          <p:cNvSpPr txBox="1"/>
          <p:nvPr/>
        </p:nvSpPr>
        <p:spPr>
          <a:xfrm>
            <a:off x="10732651" y="4979327"/>
            <a:ext cx="402674" cy="307777"/>
          </a:xfrm>
          <a:prstGeom prst="rect">
            <a:avLst/>
          </a:prstGeom>
          <a:solidFill>
            <a:srgbClr val="FFFFFF"/>
          </a:solidFill>
          <a:ln w="12700">
            <a:solidFill>
              <a:srgbClr val="00B050"/>
            </a:solidFill>
          </a:ln>
        </p:spPr>
        <p:txBody>
          <a:bodyPr wrap="none" rtlCol="0">
            <a:spAutoFit/>
          </a:bodyPr>
          <a:lstStyle/>
          <a:p>
            <a:r>
              <a:rPr lang="en-US" sz="1400" dirty="0"/>
              <a:t>A/I</a:t>
            </a:r>
          </a:p>
        </p:txBody>
      </p:sp>
      <p:cxnSp>
        <p:nvCxnSpPr>
          <p:cNvPr id="10" name="Straight Arrow Connector 9">
            <a:extLst>
              <a:ext uri="{FF2B5EF4-FFF2-40B4-BE49-F238E27FC236}">
                <a16:creationId xmlns:a16="http://schemas.microsoft.com/office/drawing/2014/main" id="{7A60811C-4A8D-814D-77A8-F343A6B948DC}"/>
              </a:ext>
            </a:extLst>
          </p:cNvPr>
          <p:cNvCxnSpPr>
            <a:cxnSpLocks/>
          </p:cNvCxnSpPr>
          <p:nvPr/>
        </p:nvCxnSpPr>
        <p:spPr>
          <a:xfrm rot="16200000" flipH="1">
            <a:off x="9933177" y="5107308"/>
            <a:ext cx="204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85EA345-52F7-4F92-AC19-AFD82774958C}"/>
              </a:ext>
            </a:extLst>
          </p:cNvPr>
          <p:cNvCxnSpPr>
            <a:cxnSpLocks/>
          </p:cNvCxnSpPr>
          <p:nvPr/>
        </p:nvCxnSpPr>
        <p:spPr>
          <a:xfrm rot="16200000" flipH="1">
            <a:off x="9718658" y="5079160"/>
            <a:ext cx="204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DCC7E37A-022B-2A9E-17B6-0592576AA296}"/>
              </a:ext>
            </a:extLst>
          </p:cNvPr>
          <p:cNvCxnSpPr>
            <a:cxnSpLocks/>
            <a:endCxn id="23" idx="2"/>
          </p:cNvCxnSpPr>
          <p:nvPr/>
        </p:nvCxnSpPr>
        <p:spPr>
          <a:xfrm flipV="1">
            <a:off x="10035317" y="1898371"/>
            <a:ext cx="1174923" cy="102462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99F8BCA7-BFD2-8734-37B0-5B0430155CF2}"/>
              </a:ext>
            </a:extLst>
          </p:cNvPr>
          <p:cNvCxnSpPr>
            <a:cxnSpLocks/>
            <a:endCxn id="55" idx="2"/>
          </p:cNvCxnSpPr>
          <p:nvPr/>
        </p:nvCxnSpPr>
        <p:spPr>
          <a:xfrm flipV="1">
            <a:off x="8204754" y="1892873"/>
            <a:ext cx="3248545" cy="292609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AEBB4CFB-FC6F-2D78-FC53-4D725CA37A12}"/>
              </a:ext>
            </a:extLst>
          </p:cNvPr>
          <p:cNvSpPr/>
          <p:nvPr/>
        </p:nvSpPr>
        <p:spPr>
          <a:xfrm>
            <a:off x="11380496" y="1811335"/>
            <a:ext cx="145605" cy="815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77FD13FD-00AA-E8DA-2B35-202A9D568F26}"/>
              </a:ext>
            </a:extLst>
          </p:cNvPr>
          <p:cNvSpPr txBox="1"/>
          <p:nvPr/>
        </p:nvSpPr>
        <p:spPr>
          <a:xfrm rot="16200000">
            <a:off x="10987055" y="2258688"/>
            <a:ext cx="797013" cy="276999"/>
          </a:xfrm>
          <a:prstGeom prst="rect">
            <a:avLst/>
          </a:prstGeom>
          <a:noFill/>
        </p:spPr>
        <p:txBody>
          <a:bodyPr wrap="none" rtlCol="0">
            <a:spAutoFit/>
          </a:bodyPr>
          <a:lstStyle/>
          <a:p>
            <a:r>
              <a:rPr lang="en-US" sz="1200" dirty="0"/>
              <a:t>KBD clock</a:t>
            </a:r>
          </a:p>
        </p:txBody>
      </p:sp>
      <p:sp>
        <p:nvSpPr>
          <p:cNvPr id="67" name="TextBox 66">
            <a:extLst>
              <a:ext uri="{FF2B5EF4-FFF2-40B4-BE49-F238E27FC236}">
                <a16:creationId xmlns:a16="http://schemas.microsoft.com/office/drawing/2014/main" id="{8420BB39-4240-114C-BA37-63B8FE0EB8D2}"/>
              </a:ext>
            </a:extLst>
          </p:cNvPr>
          <p:cNvSpPr txBox="1"/>
          <p:nvPr/>
        </p:nvSpPr>
        <p:spPr>
          <a:xfrm rot="16200000">
            <a:off x="10759259" y="2265487"/>
            <a:ext cx="753668" cy="276999"/>
          </a:xfrm>
          <a:prstGeom prst="rect">
            <a:avLst/>
          </a:prstGeom>
          <a:noFill/>
        </p:spPr>
        <p:txBody>
          <a:bodyPr wrap="none" rtlCol="0">
            <a:spAutoFit/>
          </a:bodyPr>
          <a:lstStyle/>
          <a:p>
            <a:r>
              <a:rPr lang="en-US" sz="1200" dirty="0"/>
              <a:t>KBD data</a:t>
            </a:r>
          </a:p>
        </p:txBody>
      </p:sp>
      <p:sp>
        <p:nvSpPr>
          <p:cNvPr id="23" name="TextBox 22">
            <a:hlinkClick r:id="rId11" action="ppaction://hlinksldjump"/>
            <a:extLst>
              <a:ext uri="{FF2B5EF4-FFF2-40B4-BE49-F238E27FC236}">
                <a16:creationId xmlns:a16="http://schemas.microsoft.com/office/drawing/2014/main" id="{303A8823-1326-9427-E57E-B7BA5B3510C5}"/>
              </a:ext>
            </a:extLst>
          </p:cNvPr>
          <p:cNvSpPr txBox="1"/>
          <p:nvPr/>
        </p:nvSpPr>
        <p:spPr>
          <a:xfrm>
            <a:off x="10795369" y="1590594"/>
            <a:ext cx="829742" cy="307777"/>
          </a:xfrm>
          <a:prstGeom prst="rect">
            <a:avLst/>
          </a:prstGeom>
          <a:solidFill>
            <a:srgbClr val="FFFFFF"/>
          </a:solidFill>
          <a:ln w="12700">
            <a:solidFill>
              <a:srgbClr val="00B050"/>
            </a:solidFill>
          </a:ln>
        </p:spPr>
        <p:txBody>
          <a:bodyPr wrap="square" rtlCol="0">
            <a:spAutoFit/>
          </a:bodyPr>
          <a:lstStyle/>
          <a:p>
            <a:pPr algn="ctr"/>
            <a:r>
              <a:rPr lang="en-US" sz="1400" dirty="0"/>
              <a:t>KBD</a:t>
            </a:r>
          </a:p>
        </p:txBody>
      </p:sp>
      <p:cxnSp>
        <p:nvCxnSpPr>
          <p:cNvPr id="74" name="Straight Arrow Connector 73">
            <a:extLst>
              <a:ext uri="{FF2B5EF4-FFF2-40B4-BE49-F238E27FC236}">
                <a16:creationId xmlns:a16="http://schemas.microsoft.com/office/drawing/2014/main" id="{3AD4984F-7850-DED7-898F-1849339EBD39}"/>
              </a:ext>
            </a:extLst>
          </p:cNvPr>
          <p:cNvCxnSpPr/>
          <p:nvPr/>
        </p:nvCxnSpPr>
        <p:spPr>
          <a:xfrm flipV="1">
            <a:off x="11454173" y="1048358"/>
            <a:ext cx="0" cy="548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9DC64BE5-0C19-F03C-F54D-EEEA0A09FAEA}"/>
              </a:ext>
            </a:extLst>
          </p:cNvPr>
          <p:cNvCxnSpPr/>
          <p:nvPr/>
        </p:nvCxnSpPr>
        <p:spPr>
          <a:xfrm flipV="1">
            <a:off x="11210529" y="1031858"/>
            <a:ext cx="0" cy="548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49BDD901-2E6B-5429-A720-E4A129AF36DE}"/>
              </a:ext>
            </a:extLst>
          </p:cNvPr>
          <p:cNvSpPr txBox="1"/>
          <p:nvPr/>
        </p:nvSpPr>
        <p:spPr>
          <a:xfrm rot="16200000">
            <a:off x="11081781" y="1112294"/>
            <a:ext cx="562911" cy="276999"/>
          </a:xfrm>
          <a:prstGeom prst="rect">
            <a:avLst/>
          </a:prstGeom>
          <a:noFill/>
        </p:spPr>
        <p:txBody>
          <a:bodyPr wrap="none" rtlCol="0">
            <a:spAutoFit/>
          </a:bodyPr>
          <a:lstStyle/>
          <a:p>
            <a:r>
              <a:rPr lang="en-US" sz="1200" dirty="0"/>
              <a:t>White</a:t>
            </a:r>
          </a:p>
        </p:txBody>
      </p:sp>
      <p:sp>
        <p:nvSpPr>
          <p:cNvPr id="77" name="TextBox 76">
            <a:extLst>
              <a:ext uri="{FF2B5EF4-FFF2-40B4-BE49-F238E27FC236}">
                <a16:creationId xmlns:a16="http://schemas.microsoft.com/office/drawing/2014/main" id="{E98FF03A-005F-25EB-A097-E755FBFA8035}"/>
              </a:ext>
            </a:extLst>
          </p:cNvPr>
          <p:cNvSpPr txBox="1"/>
          <p:nvPr/>
        </p:nvSpPr>
        <p:spPr>
          <a:xfrm rot="16200000">
            <a:off x="10877774" y="1119093"/>
            <a:ext cx="471989" cy="276999"/>
          </a:xfrm>
          <a:prstGeom prst="rect">
            <a:avLst/>
          </a:prstGeom>
          <a:noFill/>
        </p:spPr>
        <p:txBody>
          <a:bodyPr wrap="none" rtlCol="0">
            <a:spAutoFit/>
          </a:bodyPr>
          <a:lstStyle/>
          <a:p>
            <a:r>
              <a:rPr lang="en-US" sz="1200"/>
              <a:t>Gray</a:t>
            </a:r>
            <a:endParaRPr lang="en-US" sz="1200" dirty="0"/>
          </a:p>
        </p:txBody>
      </p:sp>
      <p:sp>
        <p:nvSpPr>
          <p:cNvPr id="14" name="TextBox 13">
            <a:hlinkClick r:id="rId12" action="ppaction://hlinksldjump"/>
            <a:extLst>
              <a:ext uri="{FF2B5EF4-FFF2-40B4-BE49-F238E27FC236}">
                <a16:creationId xmlns:a16="http://schemas.microsoft.com/office/drawing/2014/main" id="{1CA25521-4CE1-3659-A016-E342AC63092C}"/>
              </a:ext>
            </a:extLst>
          </p:cNvPr>
          <p:cNvSpPr txBox="1"/>
          <p:nvPr/>
        </p:nvSpPr>
        <p:spPr>
          <a:xfrm>
            <a:off x="6062503" y="772437"/>
            <a:ext cx="931665" cy="182880"/>
          </a:xfrm>
          <a:prstGeom prst="rect">
            <a:avLst/>
          </a:prstGeom>
          <a:solidFill>
            <a:schemeClr val="bg1"/>
          </a:solidFill>
          <a:ln>
            <a:solidFill>
              <a:schemeClr val="accent1"/>
            </a:solidFill>
          </a:ln>
        </p:spPr>
        <p:txBody>
          <a:bodyPr wrap="none" rtlCol="0" anchor="ctr">
            <a:spAutoFit/>
          </a:bodyPr>
          <a:lstStyle/>
          <a:p>
            <a:r>
              <a:rPr lang="en-US" sz="1100"/>
              <a:t># Main Reset</a:t>
            </a:r>
          </a:p>
        </p:txBody>
      </p:sp>
    </p:spTree>
    <p:extLst>
      <p:ext uri="{BB962C8B-B14F-4D97-AF65-F5344CB8AC3E}">
        <p14:creationId xmlns:p14="http://schemas.microsoft.com/office/powerpoint/2010/main" val="2863691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B8BC1-BB97-3B50-8F58-7ECD2A431C2B}"/>
            </a:ext>
          </a:extLst>
        </p:cNvPr>
        <p:cNvGrpSpPr/>
        <p:nvPr/>
      </p:nvGrpSpPr>
      <p:grpSpPr>
        <a:xfrm>
          <a:off x="0" y="0"/>
          <a:ext cx="0" cy="0"/>
          <a:chOff x="0" y="0"/>
          <a:chExt cx="0" cy="0"/>
        </a:xfrm>
      </p:grpSpPr>
      <p:sp>
        <p:nvSpPr>
          <p:cNvPr id="46" name="Rectangle 45">
            <a:extLst>
              <a:ext uri="{FF2B5EF4-FFF2-40B4-BE49-F238E27FC236}">
                <a16:creationId xmlns:a16="http://schemas.microsoft.com/office/drawing/2014/main" id="{DEBBC5D9-DE0A-18CD-DFBB-C4BAC6C995AF}"/>
              </a:ext>
            </a:extLst>
          </p:cNvPr>
          <p:cNvSpPr/>
          <p:nvPr/>
        </p:nvSpPr>
        <p:spPr>
          <a:xfrm>
            <a:off x="7508050" y="4224622"/>
            <a:ext cx="105798" cy="974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D03012-1E18-602F-0985-21CEBAB128C9}"/>
              </a:ext>
            </a:extLst>
          </p:cNvPr>
          <p:cNvSpPr>
            <a:spLocks noGrp="1"/>
          </p:cNvSpPr>
          <p:nvPr>
            <p:ph type="ctrTitle"/>
          </p:nvPr>
        </p:nvSpPr>
        <p:spPr>
          <a:xfrm>
            <a:off x="914400" y="457200"/>
            <a:ext cx="3840480" cy="457200"/>
          </a:xfrm>
          <a:prstGeom prst="rect">
            <a:avLst/>
          </a:prstGeom>
          <a:solidFill>
            <a:schemeClr val="accent6">
              <a:lumMod val="20000"/>
              <a:lumOff val="80000"/>
            </a:schemeClr>
          </a:solidFill>
        </p:spPr>
        <p:txBody>
          <a:bodyPr/>
          <a:lstStyle/>
          <a:p>
            <a:r>
              <a:rPr lang="en-US" sz="2400" dirty="0"/>
              <a:t>Display Load (V2.0)</a:t>
            </a:r>
          </a:p>
        </p:txBody>
      </p:sp>
      <p:sp>
        <p:nvSpPr>
          <p:cNvPr id="4" name="TextBox 3">
            <a:hlinkClick r:id="rId2" action="ppaction://hlinksldjump"/>
            <a:extLst>
              <a:ext uri="{FF2B5EF4-FFF2-40B4-BE49-F238E27FC236}">
                <a16:creationId xmlns:a16="http://schemas.microsoft.com/office/drawing/2014/main" id="{9E3422B4-9292-4CDD-D0DB-44E303284DBD}"/>
              </a:ext>
            </a:extLst>
          </p:cNvPr>
          <p:cNvSpPr txBox="1"/>
          <p:nvPr/>
        </p:nvSpPr>
        <p:spPr>
          <a:xfrm>
            <a:off x="9564371" y="4046710"/>
            <a:ext cx="1099853" cy="307777"/>
          </a:xfrm>
          <a:prstGeom prst="rect">
            <a:avLst/>
          </a:prstGeom>
          <a:noFill/>
          <a:ln w="12700">
            <a:solidFill>
              <a:srgbClr val="00B050"/>
            </a:solidFill>
          </a:ln>
        </p:spPr>
        <p:txBody>
          <a:bodyPr wrap="none" rtlCol="0">
            <a:spAutoFit/>
          </a:bodyPr>
          <a:lstStyle/>
          <a:p>
            <a:r>
              <a:rPr lang="en-US" sz="1400"/>
              <a:t>Display Load</a:t>
            </a:r>
          </a:p>
        </p:txBody>
      </p:sp>
      <p:sp>
        <p:nvSpPr>
          <p:cNvPr id="5" name="Rectangle 4">
            <a:hlinkClick r:id="rId3" action="ppaction://hlinksldjump"/>
            <a:extLst>
              <a:ext uri="{FF2B5EF4-FFF2-40B4-BE49-F238E27FC236}">
                <a16:creationId xmlns:a16="http://schemas.microsoft.com/office/drawing/2014/main" id="{398EB453-D4B1-F192-9047-0AA753C16D51}"/>
              </a:ext>
            </a:extLst>
          </p:cNvPr>
          <p:cNvSpPr/>
          <p:nvPr/>
        </p:nvSpPr>
        <p:spPr>
          <a:xfrm>
            <a:off x="2351512" y="268310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400"/>
              <a:t>µC 6: Out Reg H</a:t>
            </a:r>
          </a:p>
        </p:txBody>
      </p:sp>
      <p:sp>
        <p:nvSpPr>
          <p:cNvPr id="6" name="Rectangle 5">
            <a:hlinkClick r:id="rId3" action="ppaction://hlinksldjump"/>
            <a:extLst>
              <a:ext uri="{FF2B5EF4-FFF2-40B4-BE49-F238E27FC236}">
                <a16:creationId xmlns:a16="http://schemas.microsoft.com/office/drawing/2014/main" id="{7079FD68-7384-28C4-C655-DE03E304F6DC}"/>
              </a:ext>
            </a:extLst>
          </p:cNvPr>
          <p:cNvSpPr/>
          <p:nvPr/>
        </p:nvSpPr>
        <p:spPr>
          <a:xfrm>
            <a:off x="2351512" y="346430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wrap="none" rtlCol="0" anchor="ctr"/>
          <a:lstStyle/>
          <a:p>
            <a:pPr algn="ctr"/>
            <a:r>
              <a:rPr lang="en-US" sz="1400"/>
              <a:t>µC 3: Reg Out Select</a:t>
            </a:r>
          </a:p>
        </p:txBody>
      </p:sp>
      <p:grpSp>
        <p:nvGrpSpPr>
          <p:cNvPr id="7" name="Group 6">
            <a:extLst>
              <a:ext uri="{FF2B5EF4-FFF2-40B4-BE49-F238E27FC236}">
                <a16:creationId xmlns:a16="http://schemas.microsoft.com/office/drawing/2014/main" id="{21D4ABAB-18F8-5D30-80D0-816A9ED6C284}"/>
              </a:ext>
            </a:extLst>
          </p:cNvPr>
          <p:cNvGrpSpPr/>
          <p:nvPr/>
        </p:nvGrpSpPr>
        <p:grpSpPr>
          <a:xfrm>
            <a:off x="2523815" y="4245493"/>
            <a:ext cx="1067229" cy="307777"/>
            <a:chOff x="1992327" y="3559447"/>
            <a:chExt cx="1067229" cy="307778"/>
          </a:xfrm>
        </p:grpSpPr>
        <p:sp>
          <p:nvSpPr>
            <p:cNvPr id="8" name="TextBox 7">
              <a:hlinkClick r:id="rId4" action="ppaction://hlinksldjump"/>
              <a:extLst>
                <a:ext uri="{FF2B5EF4-FFF2-40B4-BE49-F238E27FC236}">
                  <a16:creationId xmlns:a16="http://schemas.microsoft.com/office/drawing/2014/main" id="{FD69DE1D-7805-31A6-F9A0-D893250FB0F1}"/>
                </a:ext>
              </a:extLst>
            </p:cNvPr>
            <p:cNvSpPr txBox="1"/>
            <p:nvPr/>
          </p:nvSpPr>
          <p:spPr>
            <a:xfrm>
              <a:off x="1992327" y="3559447"/>
              <a:ext cx="1045479" cy="307778"/>
            </a:xfrm>
            <a:prstGeom prst="rect">
              <a:avLst/>
            </a:prstGeom>
            <a:noFill/>
            <a:ln>
              <a:solidFill>
                <a:schemeClr val="accent1"/>
              </a:solidFill>
            </a:ln>
          </p:spPr>
          <p:txBody>
            <a:bodyPr wrap="none" rtlCol="0">
              <a:spAutoFit/>
            </a:bodyPr>
            <a:lstStyle/>
            <a:p>
              <a:r>
                <a:rPr lang="en-US" sz="1400"/>
                <a:t>OpCode_08</a:t>
              </a:r>
            </a:p>
          </p:txBody>
        </p:sp>
        <p:cxnSp>
          <p:nvCxnSpPr>
            <p:cNvPr id="9" name="Straight Connector 8">
              <a:extLst>
                <a:ext uri="{FF2B5EF4-FFF2-40B4-BE49-F238E27FC236}">
                  <a16:creationId xmlns:a16="http://schemas.microsoft.com/office/drawing/2014/main" id="{B0900AE7-3080-40CE-CA4C-F4352EC69DE7}"/>
                </a:ext>
              </a:extLst>
            </p:cNvPr>
            <p:cNvCxnSpPr>
              <a:cxnSpLocks/>
            </p:cNvCxnSpPr>
            <p:nvPr/>
          </p:nvCxnSpPr>
          <p:spPr>
            <a:xfrm>
              <a:off x="2080151" y="3626824"/>
              <a:ext cx="979405"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53BE3A22-2359-B718-2EAD-ED95BA3BA9CE}"/>
              </a:ext>
            </a:extLst>
          </p:cNvPr>
          <p:cNvGrpSpPr/>
          <p:nvPr/>
        </p:nvGrpSpPr>
        <p:grpSpPr>
          <a:xfrm>
            <a:off x="2498167" y="5213143"/>
            <a:ext cx="1067229" cy="307777"/>
            <a:chOff x="1992327" y="3559447"/>
            <a:chExt cx="1067229" cy="307778"/>
          </a:xfrm>
        </p:grpSpPr>
        <p:sp>
          <p:nvSpPr>
            <p:cNvPr id="11" name="TextBox 10">
              <a:hlinkClick r:id="rId4" action="ppaction://hlinksldjump"/>
              <a:extLst>
                <a:ext uri="{FF2B5EF4-FFF2-40B4-BE49-F238E27FC236}">
                  <a16:creationId xmlns:a16="http://schemas.microsoft.com/office/drawing/2014/main" id="{74941D57-4FA9-137E-8097-BF57A221F08E}"/>
                </a:ext>
              </a:extLst>
            </p:cNvPr>
            <p:cNvSpPr txBox="1"/>
            <p:nvPr/>
          </p:nvSpPr>
          <p:spPr>
            <a:xfrm>
              <a:off x="1992327" y="3559447"/>
              <a:ext cx="1064715" cy="307778"/>
            </a:xfrm>
            <a:prstGeom prst="rect">
              <a:avLst/>
            </a:prstGeom>
            <a:noFill/>
            <a:ln>
              <a:solidFill>
                <a:schemeClr val="accent1"/>
              </a:solidFill>
            </a:ln>
          </p:spPr>
          <p:txBody>
            <a:bodyPr wrap="none" rtlCol="0">
              <a:spAutoFit/>
            </a:bodyPr>
            <a:lstStyle/>
            <a:p>
              <a:r>
                <a:rPr lang="en-US" sz="1400"/>
                <a:t>OpCode_0D</a:t>
              </a:r>
            </a:p>
          </p:txBody>
        </p:sp>
        <p:cxnSp>
          <p:nvCxnSpPr>
            <p:cNvPr id="12" name="Straight Connector 11">
              <a:extLst>
                <a:ext uri="{FF2B5EF4-FFF2-40B4-BE49-F238E27FC236}">
                  <a16:creationId xmlns:a16="http://schemas.microsoft.com/office/drawing/2014/main" id="{6C3FFC01-5EDE-52B1-AF93-6E3F744A5841}"/>
                </a:ext>
              </a:extLst>
            </p:cNvPr>
            <p:cNvCxnSpPr>
              <a:cxnSpLocks/>
            </p:cNvCxnSpPr>
            <p:nvPr/>
          </p:nvCxnSpPr>
          <p:spPr>
            <a:xfrm>
              <a:off x="2080151" y="3626824"/>
              <a:ext cx="979405"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3" name="Picture 12" descr="Diagram&#10;&#10;Description automatically generated with low confidence">
            <a:extLst>
              <a:ext uri="{FF2B5EF4-FFF2-40B4-BE49-F238E27FC236}">
                <a16:creationId xmlns:a16="http://schemas.microsoft.com/office/drawing/2014/main" id="{CDD60752-DA7D-4BCB-47D6-8E00865348FC}"/>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50000" t="19257" r="4045" b="-1180"/>
          <a:stretch/>
        </p:blipFill>
        <p:spPr>
          <a:xfrm>
            <a:off x="4877562" y="4753621"/>
            <a:ext cx="659287" cy="459531"/>
          </a:xfrm>
          <a:prstGeom prst="rect">
            <a:avLst/>
          </a:prstGeom>
        </p:spPr>
      </p:pic>
      <p:cxnSp>
        <p:nvCxnSpPr>
          <p:cNvPr id="15" name="Connector: Elbow 14">
            <a:extLst>
              <a:ext uri="{FF2B5EF4-FFF2-40B4-BE49-F238E27FC236}">
                <a16:creationId xmlns:a16="http://schemas.microsoft.com/office/drawing/2014/main" id="{550DAD81-58A6-7DE3-FDDD-251AD2823FF7}"/>
              </a:ext>
            </a:extLst>
          </p:cNvPr>
          <p:cNvCxnSpPr>
            <a:stCxn id="8" idx="3"/>
          </p:cNvCxnSpPr>
          <p:nvPr/>
        </p:nvCxnSpPr>
        <p:spPr>
          <a:xfrm>
            <a:off x="3569294" y="4399382"/>
            <a:ext cx="1362629" cy="435266"/>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6809BF18-4B1E-DED2-D844-9E877E7BC50E}"/>
              </a:ext>
            </a:extLst>
          </p:cNvPr>
          <p:cNvCxnSpPr>
            <a:stCxn id="11" idx="3"/>
          </p:cNvCxnSpPr>
          <p:nvPr/>
        </p:nvCxnSpPr>
        <p:spPr>
          <a:xfrm flipV="1">
            <a:off x="3562882" y="5126478"/>
            <a:ext cx="1417681" cy="240554"/>
          </a:xfrm>
          <a:prstGeom prst="bentConnector3">
            <a:avLst/>
          </a:prstGeom>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A48296F9-BF81-3A60-93AF-B999036AFE2C}"/>
              </a:ext>
            </a:extLst>
          </p:cNvPr>
          <p:cNvPicPr>
            <a:picLocks noChangeAspect="1"/>
          </p:cNvPicPr>
          <p:nvPr/>
        </p:nvPicPr>
        <p:blipFill rotWithShape="1">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l="65790" t="23028" r="7330" b="48750"/>
          <a:stretch/>
        </p:blipFill>
        <p:spPr>
          <a:xfrm>
            <a:off x="4877561" y="2865981"/>
            <a:ext cx="778849" cy="604563"/>
          </a:xfrm>
          <a:prstGeom prst="rect">
            <a:avLst/>
          </a:prstGeom>
        </p:spPr>
      </p:pic>
      <p:cxnSp>
        <p:nvCxnSpPr>
          <p:cNvPr id="20" name="Connector: Elbow 19">
            <a:extLst>
              <a:ext uri="{FF2B5EF4-FFF2-40B4-BE49-F238E27FC236}">
                <a16:creationId xmlns:a16="http://schemas.microsoft.com/office/drawing/2014/main" id="{8D786A98-6E3C-C3B1-BBD3-D9DB69452BEE}"/>
              </a:ext>
            </a:extLst>
          </p:cNvPr>
          <p:cNvCxnSpPr>
            <a:stCxn id="5" idx="3"/>
          </p:cNvCxnSpPr>
          <p:nvPr/>
        </p:nvCxnSpPr>
        <p:spPr>
          <a:xfrm>
            <a:off x="3814552" y="2774542"/>
            <a:ext cx="1166011" cy="260489"/>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C3E214B5-DBF2-F21E-E89E-F53B97222FD4}"/>
              </a:ext>
            </a:extLst>
          </p:cNvPr>
          <p:cNvCxnSpPr>
            <a:stCxn id="6" idx="3"/>
          </p:cNvCxnSpPr>
          <p:nvPr/>
        </p:nvCxnSpPr>
        <p:spPr>
          <a:xfrm flipV="1">
            <a:off x="3814552" y="3238837"/>
            <a:ext cx="1166011" cy="316905"/>
          </a:xfrm>
          <a:prstGeom prst="bentConnector3">
            <a:avLst/>
          </a:prstGeom>
        </p:spPr>
        <p:style>
          <a:lnRef idx="1">
            <a:schemeClr val="accent1"/>
          </a:lnRef>
          <a:fillRef idx="0">
            <a:schemeClr val="accent1"/>
          </a:fillRef>
          <a:effectRef idx="0">
            <a:schemeClr val="accent1"/>
          </a:effectRef>
          <a:fontRef idx="minor">
            <a:schemeClr val="tx1"/>
          </a:fontRef>
        </p:style>
      </p:cxnSp>
      <p:pic>
        <p:nvPicPr>
          <p:cNvPr id="23" name="Picture 22" descr="Diagram&#10;&#10;Description automatically generated with low confidence">
            <a:extLst>
              <a:ext uri="{FF2B5EF4-FFF2-40B4-BE49-F238E27FC236}">
                <a16:creationId xmlns:a16="http://schemas.microsoft.com/office/drawing/2014/main" id="{1C210C75-3BD0-88D9-935B-DD266FFECD00}"/>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t="-3588" r="58979" b="29396"/>
          <a:stretch/>
        </p:blipFill>
        <p:spPr>
          <a:xfrm>
            <a:off x="5642656" y="2937749"/>
            <a:ext cx="612149" cy="432883"/>
          </a:xfrm>
          <a:prstGeom prst="rect">
            <a:avLst/>
          </a:prstGeom>
          <a:solidFill>
            <a:schemeClr val="bg1"/>
          </a:solidFill>
        </p:spPr>
      </p:pic>
      <p:pic>
        <p:nvPicPr>
          <p:cNvPr id="24" name="Picture 23">
            <a:extLst>
              <a:ext uri="{FF2B5EF4-FFF2-40B4-BE49-F238E27FC236}">
                <a16:creationId xmlns:a16="http://schemas.microsoft.com/office/drawing/2014/main" id="{CBB88F34-FA0F-43BB-C5DC-3E15843297FC}"/>
              </a:ext>
            </a:extLst>
          </p:cNvPr>
          <p:cNvPicPr>
            <a:picLocks noChangeAspect="1"/>
          </p:cNvPicPr>
          <p:nvPr/>
        </p:nvPicPr>
        <p:blipFill rotWithShape="1">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l="65790" t="23028" r="7330" b="48750"/>
          <a:stretch/>
        </p:blipFill>
        <p:spPr>
          <a:xfrm>
            <a:off x="6625297" y="3794827"/>
            <a:ext cx="778849" cy="604563"/>
          </a:xfrm>
          <a:prstGeom prst="rect">
            <a:avLst/>
          </a:prstGeom>
        </p:spPr>
      </p:pic>
      <p:cxnSp>
        <p:nvCxnSpPr>
          <p:cNvPr id="26" name="Connector: Elbow 25">
            <a:extLst>
              <a:ext uri="{FF2B5EF4-FFF2-40B4-BE49-F238E27FC236}">
                <a16:creationId xmlns:a16="http://schemas.microsoft.com/office/drawing/2014/main" id="{4E1437E2-343E-3D67-FCC1-A195059EBABB}"/>
              </a:ext>
            </a:extLst>
          </p:cNvPr>
          <p:cNvCxnSpPr>
            <a:stCxn id="23" idx="3"/>
          </p:cNvCxnSpPr>
          <p:nvPr/>
        </p:nvCxnSpPr>
        <p:spPr>
          <a:xfrm>
            <a:off x="6254805" y="3154191"/>
            <a:ext cx="369732" cy="824423"/>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6D5BFB1B-C04A-2438-E2D1-B9F1DD87CC8E}"/>
              </a:ext>
            </a:extLst>
          </p:cNvPr>
          <p:cNvCxnSpPr>
            <a:cxnSpLocks/>
            <a:stCxn id="13" idx="3"/>
          </p:cNvCxnSpPr>
          <p:nvPr/>
        </p:nvCxnSpPr>
        <p:spPr>
          <a:xfrm flipV="1">
            <a:off x="5536847" y="4207563"/>
            <a:ext cx="1118308" cy="775824"/>
          </a:xfrm>
          <a:prstGeom prst="bentConnector3">
            <a:avLst/>
          </a:prstGeom>
        </p:spPr>
        <p:style>
          <a:lnRef idx="1">
            <a:schemeClr val="accent1"/>
          </a:lnRef>
          <a:fillRef idx="0">
            <a:schemeClr val="accent1"/>
          </a:fillRef>
          <a:effectRef idx="0">
            <a:schemeClr val="accent1"/>
          </a:effectRef>
          <a:fontRef idx="minor">
            <a:schemeClr val="tx1"/>
          </a:fontRef>
        </p:style>
      </p:cxnSp>
      <p:pic>
        <p:nvPicPr>
          <p:cNvPr id="30" name="Picture 29">
            <a:extLst>
              <a:ext uri="{FF2B5EF4-FFF2-40B4-BE49-F238E27FC236}">
                <a16:creationId xmlns:a16="http://schemas.microsoft.com/office/drawing/2014/main" id="{5207AF63-42E6-4120-9691-E6D27701A402}"/>
              </a:ext>
            </a:extLst>
          </p:cNvPr>
          <p:cNvPicPr>
            <a:picLocks noChangeAspect="1"/>
          </p:cNvPicPr>
          <p:nvPr/>
        </p:nvPicPr>
        <p:blipFill rotWithShape="1">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l="65790" t="23028" r="7330" b="48750"/>
          <a:stretch/>
        </p:blipFill>
        <p:spPr>
          <a:xfrm>
            <a:off x="7399425" y="3894039"/>
            <a:ext cx="778849" cy="604563"/>
          </a:xfrm>
          <a:prstGeom prst="rect">
            <a:avLst/>
          </a:prstGeom>
        </p:spPr>
      </p:pic>
      <p:sp>
        <p:nvSpPr>
          <p:cNvPr id="31" name="TextBox 30">
            <a:hlinkClick r:id="rId3" action="ppaction://hlinksldjump"/>
            <a:extLst>
              <a:ext uri="{FF2B5EF4-FFF2-40B4-BE49-F238E27FC236}">
                <a16:creationId xmlns:a16="http://schemas.microsoft.com/office/drawing/2014/main" id="{707FE731-0B66-DC39-2E8F-C1BABA808941}"/>
              </a:ext>
            </a:extLst>
          </p:cNvPr>
          <p:cNvSpPr txBox="1"/>
          <p:nvPr/>
        </p:nvSpPr>
        <p:spPr>
          <a:xfrm>
            <a:off x="5378162" y="5525906"/>
            <a:ext cx="865943" cy="307777"/>
          </a:xfrm>
          <a:prstGeom prst="rect">
            <a:avLst/>
          </a:prstGeom>
          <a:solidFill>
            <a:schemeClr val="bg1"/>
          </a:solidFill>
          <a:ln>
            <a:solidFill>
              <a:schemeClr val="accent1"/>
            </a:solidFill>
          </a:ln>
        </p:spPr>
        <p:txBody>
          <a:bodyPr wrap="none" rtlCol="0">
            <a:spAutoFit/>
          </a:bodyPr>
          <a:lstStyle/>
          <a:p>
            <a:r>
              <a:rPr lang="en-US" sz="1400"/>
              <a:t>Main CLK</a:t>
            </a:r>
          </a:p>
        </p:txBody>
      </p:sp>
      <p:cxnSp>
        <p:nvCxnSpPr>
          <p:cNvPr id="33" name="Connector: Elbow 32">
            <a:extLst>
              <a:ext uri="{FF2B5EF4-FFF2-40B4-BE49-F238E27FC236}">
                <a16:creationId xmlns:a16="http://schemas.microsoft.com/office/drawing/2014/main" id="{FC4E1B32-972D-8B34-6F42-B43508B4E52F}"/>
              </a:ext>
            </a:extLst>
          </p:cNvPr>
          <p:cNvCxnSpPr>
            <a:cxnSpLocks/>
            <a:stCxn id="31" idx="3"/>
            <a:endCxn id="46" idx="1"/>
          </p:cNvCxnSpPr>
          <p:nvPr/>
        </p:nvCxnSpPr>
        <p:spPr>
          <a:xfrm flipV="1">
            <a:off x="6244105" y="4273341"/>
            <a:ext cx="1263945" cy="1406454"/>
          </a:xfrm>
          <a:prstGeom prst="bentConnector3">
            <a:avLst>
              <a:gd name="adj1" fmla="val 71524"/>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C8E3037-4C26-D42A-8DE0-D07CADEF87FC}"/>
              </a:ext>
            </a:extLst>
          </p:cNvPr>
          <p:cNvCxnSpPr>
            <a:stCxn id="30" idx="3"/>
            <a:endCxn id="4" idx="1"/>
          </p:cNvCxnSpPr>
          <p:nvPr/>
        </p:nvCxnSpPr>
        <p:spPr>
          <a:xfrm>
            <a:off x="8178274" y="4196321"/>
            <a:ext cx="1386097" cy="4278"/>
          </a:xfrm>
          <a:prstGeom prst="line">
            <a:avLst/>
          </a:prstGeom>
        </p:spPr>
        <p:style>
          <a:lnRef idx="1">
            <a:schemeClr val="accent1"/>
          </a:lnRef>
          <a:fillRef idx="0">
            <a:schemeClr val="accent1"/>
          </a:fillRef>
          <a:effectRef idx="0">
            <a:schemeClr val="accent1"/>
          </a:effectRef>
          <a:fontRef idx="minor">
            <a:schemeClr val="tx1"/>
          </a:fontRef>
        </p:style>
      </p:cxnSp>
      <p:pic>
        <p:nvPicPr>
          <p:cNvPr id="27" name="Picture 26" descr="Diagram&#10;&#10;Description automatically generated with low confidence">
            <a:extLst>
              <a:ext uri="{FF2B5EF4-FFF2-40B4-BE49-F238E27FC236}">
                <a16:creationId xmlns:a16="http://schemas.microsoft.com/office/drawing/2014/main" id="{2B0C2312-4365-0E23-9068-F63A8008B23A}"/>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t="-3588" r="58979" b="29396"/>
          <a:stretch/>
        </p:blipFill>
        <p:spPr>
          <a:xfrm>
            <a:off x="8109203" y="3966507"/>
            <a:ext cx="612149" cy="432883"/>
          </a:xfrm>
          <a:prstGeom prst="rect">
            <a:avLst/>
          </a:prstGeom>
          <a:solidFill>
            <a:schemeClr val="bg1"/>
          </a:solidFill>
        </p:spPr>
      </p:pic>
      <p:grpSp>
        <p:nvGrpSpPr>
          <p:cNvPr id="29" name="Group 28">
            <a:extLst>
              <a:ext uri="{FF2B5EF4-FFF2-40B4-BE49-F238E27FC236}">
                <a16:creationId xmlns:a16="http://schemas.microsoft.com/office/drawing/2014/main" id="{C0CBF290-98C3-99B3-74C9-E89CA8A072B3}"/>
              </a:ext>
            </a:extLst>
          </p:cNvPr>
          <p:cNvGrpSpPr/>
          <p:nvPr/>
        </p:nvGrpSpPr>
        <p:grpSpPr>
          <a:xfrm rot="16200000">
            <a:off x="7549790" y="1445382"/>
            <a:ext cx="3010195" cy="981899"/>
            <a:chOff x="6995144" y="1610024"/>
            <a:chExt cx="4445079" cy="1697837"/>
          </a:xfrm>
        </p:grpSpPr>
        <p:pic>
          <p:nvPicPr>
            <p:cNvPr id="32" name="Picture 31">
              <a:extLst>
                <a:ext uri="{FF2B5EF4-FFF2-40B4-BE49-F238E27FC236}">
                  <a16:creationId xmlns:a16="http://schemas.microsoft.com/office/drawing/2014/main" id="{6477A37D-0E9D-697F-3713-728255601EBC}"/>
                </a:ext>
              </a:extLst>
            </p:cNvPr>
            <p:cNvPicPr>
              <a:picLocks noChangeAspect="1"/>
            </p:cNvPicPr>
            <p:nvPr/>
          </p:nvPicPr>
          <p:blipFill>
            <a:blip r:embed="rId9"/>
            <a:stretch>
              <a:fillRect/>
            </a:stretch>
          </p:blipFill>
          <p:spPr>
            <a:xfrm>
              <a:off x="6995145" y="2117968"/>
              <a:ext cx="4445078" cy="1189893"/>
            </a:xfrm>
            <a:prstGeom prst="rect">
              <a:avLst/>
            </a:prstGeom>
            <a:ln>
              <a:solidFill>
                <a:schemeClr val="accent1">
                  <a:lumMod val="75000"/>
                </a:schemeClr>
              </a:solidFill>
            </a:ln>
          </p:spPr>
        </p:pic>
        <p:sp>
          <p:nvSpPr>
            <p:cNvPr id="34" name="TextBox 33">
              <a:extLst>
                <a:ext uri="{FF2B5EF4-FFF2-40B4-BE49-F238E27FC236}">
                  <a16:creationId xmlns:a16="http://schemas.microsoft.com/office/drawing/2014/main" id="{C489338F-818E-CF99-87F6-E24C842BB153}"/>
                </a:ext>
              </a:extLst>
            </p:cNvPr>
            <p:cNvSpPr txBox="1"/>
            <p:nvPr/>
          </p:nvSpPr>
          <p:spPr>
            <a:xfrm>
              <a:off x="6995144" y="1610024"/>
              <a:ext cx="1346222" cy="532188"/>
            </a:xfrm>
            <a:prstGeom prst="rect">
              <a:avLst/>
            </a:prstGeom>
            <a:noFill/>
            <a:ln>
              <a:solidFill>
                <a:schemeClr val="accent1">
                  <a:lumMod val="75000"/>
                </a:schemeClr>
              </a:solidFill>
            </a:ln>
          </p:spPr>
          <p:txBody>
            <a:bodyPr wrap="square" rtlCol="0">
              <a:spAutoFit/>
            </a:bodyPr>
            <a:lstStyle/>
            <a:p>
              <a:r>
                <a:rPr lang="en-US" sz="1400"/>
                <a:t>273 Char</a:t>
              </a:r>
            </a:p>
          </p:txBody>
        </p:sp>
      </p:grpSp>
      <p:cxnSp>
        <p:nvCxnSpPr>
          <p:cNvPr id="14" name="Connector: Elbow 13">
            <a:extLst>
              <a:ext uri="{FF2B5EF4-FFF2-40B4-BE49-F238E27FC236}">
                <a16:creationId xmlns:a16="http://schemas.microsoft.com/office/drawing/2014/main" id="{531E30E4-B025-2A64-2EA4-D741311FD01D}"/>
              </a:ext>
            </a:extLst>
          </p:cNvPr>
          <p:cNvCxnSpPr>
            <a:stCxn id="27" idx="3"/>
          </p:cNvCxnSpPr>
          <p:nvPr/>
        </p:nvCxnSpPr>
        <p:spPr>
          <a:xfrm flipV="1">
            <a:off x="8721351" y="3035030"/>
            <a:ext cx="253151" cy="1147919"/>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C02175B8-CAA8-C8E0-C5C6-E403395369B0}"/>
              </a:ext>
            </a:extLst>
          </p:cNvPr>
          <p:cNvSpPr/>
          <p:nvPr/>
        </p:nvSpPr>
        <p:spPr>
          <a:xfrm>
            <a:off x="7746602" y="385280"/>
            <a:ext cx="282975" cy="3102105"/>
          </a:xfrm>
          <a:prstGeom prst="rect">
            <a:avLst/>
          </a:prstGeom>
        </p:spPr>
        <p:style>
          <a:lnRef idx="1">
            <a:schemeClr val="accent6"/>
          </a:lnRef>
          <a:fillRef idx="2">
            <a:schemeClr val="accent6"/>
          </a:fillRef>
          <a:effectRef idx="1">
            <a:schemeClr val="accent6"/>
          </a:effectRef>
          <a:fontRef idx="minor">
            <a:schemeClr val="dk1"/>
          </a:fontRef>
        </p:style>
        <p:txBody>
          <a:bodyPr vert="vert" rtlCol="0" anchor="ctr"/>
          <a:lstStyle/>
          <a:p>
            <a:r>
              <a:rPr lang="en-US"/>
              <a:t>Data  Bus </a:t>
            </a:r>
          </a:p>
        </p:txBody>
      </p:sp>
      <p:cxnSp>
        <p:nvCxnSpPr>
          <p:cNvPr id="19" name="Straight Connector 18">
            <a:extLst>
              <a:ext uri="{FF2B5EF4-FFF2-40B4-BE49-F238E27FC236}">
                <a16:creationId xmlns:a16="http://schemas.microsoft.com/office/drawing/2014/main" id="{79E5FC90-11F6-EF04-467D-E3DAD2887C8F}"/>
              </a:ext>
            </a:extLst>
          </p:cNvPr>
          <p:cNvCxnSpPr>
            <a:cxnSpLocks/>
          </p:cNvCxnSpPr>
          <p:nvPr/>
        </p:nvCxnSpPr>
        <p:spPr>
          <a:xfrm flipV="1">
            <a:off x="8028879" y="811803"/>
            <a:ext cx="8190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1BD5E5E-DB2E-4C16-BDB0-18911CA575B4}"/>
              </a:ext>
            </a:extLst>
          </p:cNvPr>
          <p:cNvCxnSpPr>
            <a:cxnSpLocks/>
          </p:cNvCxnSpPr>
          <p:nvPr/>
        </p:nvCxnSpPr>
        <p:spPr>
          <a:xfrm flipV="1">
            <a:off x="8028879" y="1096743"/>
            <a:ext cx="8190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CFF4207-FA66-F7F0-3473-E05B436A2E7F}"/>
              </a:ext>
            </a:extLst>
          </p:cNvPr>
          <p:cNvCxnSpPr>
            <a:cxnSpLocks/>
          </p:cNvCxnSpPr>
          <p:nvPr/>
        </p:nvCxnSpPr>
        <p:spPr>
          <a:xfrm flipV="1">
            <a:off x="8028879" y="1381681"/>
            <a:ext cx="8190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2383795-457D-1326-CCC8-75D5D68CD5B6}"/>
              </a:ext>
            </a:extLst>
          </p:cNvPr>
          <p:cNvCxnSpPr>
            <a:cxnSpLocks/>
          </p:cNvCxnSpPr>
          <p:nvPr/>
        </p:nvCxnSpPr>
        <p:spPr>
          <a:xfrm flipV="1">
            <a:off x="8028879" y="1666620"/>
            <a:ext cx="8190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1D10DDE-40BF-A7E5-F2BC-3897AFBC2EE7}"/>
              </a:ext>
            </a:extLst>
          </p:cNvPr>
          <p:cNvCxnSpPr>
            <a:cxnSpLocks/>
          </p:cNvCxnSpPr>
          <p:nvPr/>
        </p:nvCxnSpPr>
        <p:spPr>
          <a:xfrm flipV="1">
            <a:off x="8028879" y="1951559"/>
            <a:ext cx="8190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629FB7F-0187-CED6-E8FA-97F4E356DB6A}"/>
              </a:ext>
            </a:extLst>
          </p:cNvPr>
          <p:cNvCxnSpPr>
            <a:cxnSpLocks/>
          </p:cNvCxnSpPr>
          <p:nvPr/>
        </p:nvCxnSpPr>
        <p:spPr>
          <a:xfrm flipV="1">
            <a:off x="8028879" y="2236499"/>
            <a:ext cx="8190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A490B1F-A4F3-655F-A436-483127C94CFD}"/>
              </a:ext>
            </a:extLst>
          </p:cNvPr>
          <p:cNvCxnSpPr>
            <a:cxnSpLocks/>
          </p:cNvCxnSpPr>
          <p:nvPr/>
        </p:nvCxnSpPr>
        <p:spPr>
          <a:xfrm flipV="1">
            <a:off x="8028879" y="2521437"/>
            <a:ext cx="8190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7090EC3-31E7-271E-732C-9079341B818B}"/>
              </a:ext>
            </a:extLst>
          </p:cNvPr>
          <p:cNvCxnSpPr>
            <a:cxnSpLocks/>
          </p:cNvCxnSpPr>
          <p:nvPr/>
        </p:nvCxnSpPr>
        <p:spPr>
          <a:xfrm flipV="1">
            <a:off x="8028879" y="2806379"/>
            <a:ext cx="819048" cy="0"/>
          </a:xfrm>
          <a:prstGeom prst="line">
            <a:avLst/>
          </a:prstGeom>
        </p:spPr>
        <p:style>
          <a:lnRef idx="1">
            <a:schemeClr val="accent1"/>
          </a:lnRef>
          <a:fillRef idx="0">
            <a:schemeClr val="accent1"/>
          </a:fillRef>
          <a:effectRef idx="0">
            <a:schemeClr val="accent1"/>
          </a:effectRef>
          <a:fontRef idx="minor">
            <a:schemeClr val="tx1"/>
          </a:fontRef>
        </p:style>
      </p:cxnSp>
      <p:sp>
        <p:nvSpPr>
          <p:cNvPr id="44" name="Arrow: Right 43">
            <a:hlinkClick r:id="rId2" action="ppaction://hlinksldjump"/>
            <a:extLst>
              <a:ext uri="{FF2B5EF4-FFF2-40B4-BE49-F238E27FC236}">
                <a16:creationId xmlns:a16="http://schemas.microsoft.com/office/drawing/2014/main" id="{99B106A4-5021-A829-3553-15417FB5031D}"/>
              </a:ext>
            </a:extLst>
          </p:cNvPr>
          <p:cNvSpPr/>
          <p:nvPr/>
        </p:nvSpPr>
        <p:spPr>
          <a:xfrm>
            <a:off x="9555601" y="1650563"/>
            <a:ext cx="1372595"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err="1"/>
              <a:t>Disp</a:t>
            </a:r>
            <a:r>
              <a:rPr lang="en-US"/>
              <a:t> Char</a:t>
            </a:r>
          </a:p>
        </p:txBody>
      </p:sp>
      <p:pic>
        <p:nvPicPr>
          <p:cNvPr id="3" name="Picture 2">
            <a:hlinkClick r:id="rId10" action="ppaction://hlinksldjump"/>
            <a:extLst>
              <a:ext uri="{FF2B5EF4-FFF2-40B4-BE49-F238E27FC236}">
                <a16:creationId xmlns:a16="http://schemas.microsoft.com/office/drawing/2014/main" id="{F1C467EA-6A76-93CD-5CE6-9AEAD3337951}"/>
              </a:ext>
            </a:extLst>
          </p:cNvPr>
          <p:cNvPicPr>
            <a:picLocks noChangeAspect="1"/>
          </p:cNvPicPr>
          <p:nvPr/>
        </p:nvPicPr>
        <p:blipFill>
          <a:blip r:embed="rId11"/>
          <a:stretch>
            <a:fillRect/>
          </a:stretch>
        </p:blipFill>
        <p:spPr>
          <a:xfrm>
            <a:off x="11038384" y="6427540"/>
            <a:ext cx="1076851" cy="222744"/>
          </a:xfrm>
          <a:prstGeom prst="rect">
            <a:avLst/>
          </a:prstGeom>
        </p:spPr>
      </p:pic>
      <p:sp>
        <p:nvSpPr>
          <p:cNvPr id="16" name="Slide Number Placeholder 4">
            <a:extLst>
              <a:ext uri="{FF2B5EF4-FFF2-40B4-BE49-F238E27FC236}">
                <a16:creationId xmlns:a16="http://schemas.microsoft.com/office/drawing/2014/main" id="{12DE631F-819E-683F-0AFD-A47BA09951D6}"/>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40</a:t>
            </a:fld>
            <a:endParaRPr lang="en-US" b="1" dirty="0">
              <a:solidFill>
                <a:schemeClr val="bg1"/>
              </a:solidFill>
            </a:endParaRPr>
          </a:p>
        </p:txBody>
      </p:sp>
      <p:grpSp>
        <p:nvGrpSpPr>
          <p:cNvPr id="21" name="Group 20">
            <a:extLst>
              <a:ext uri="{FF2B5EF4-FFF2-40B4-BE49-F238E27FC236}">
                <a16:creationId xmlns:a16="http://schemas.microsoft.com/office/drawing/2014/main" id="{DB2F65B9-CD1E-EF59-AC1B-D2CAC6C6B4C6}"/>
              </a:ext>
            </a:extLst>
          </p:cNvPr>
          <p:cNvGrpSpPr/>
          <p:nvPr/>
        </p:nvGrpSpPr>
        <p:grpSpPr>
          <a:xfrm rot="16200000">
            <a:off x="8455434" y="5005919"/>
            <a:ext cx="1198906" cy="981900"/>
            <a:chOff x="6995144" y="1610024"/>
            <a:chExt cx="1770395" cy="1697837"/>
          </a:xfrm>
        </p:grpSpPr>
        <p:pic>
          <p:nvPicPr>
            <p:cNvPr id="25" name="Picture 24">
              <a:extLst>
                <a:ext uri="{FF2B5EF4-FFF2-40B4-BE49-F238E27FC236}">
                  <a16:creationId xmlns:a16="http://schemas.microsoft.com/office/drawing/2014/main" id="{E6ADF808-1A83-B330-6A4A-98EF2DECAE10}"/>
                </a:ext>
              </a:extLst>
            </p:cNvPr>
            <p:cNvPicPr>
              <a:picLocks noChangeAspect="1"/>
            </p:cNvPicPr>
            <p:nvPr/>
          </p:nvPicPr>
          <p:blipFill>
            <a:blip r:embed="rId9"/>
            <a:srcRect r="60172"/>
            <a:stretch>
              <a:fillRect/>
            </a:stretch>
          </p:blipFill>
          <p:spPr>
            <a:xfrm>
              <a:off x="6995148" y="2117969"/>
              <a:ext cx="1770391" cy="1189892"/>
            </a:xfrm>
            <a:prstGeom prst="rect">
              <a:avLst/>
            </a:prstGeom>
            <a:ln>
              <a:solidFill>
                <a:schemeClr val="accent1">
                  <a:lumMod val="75000"/>
                </a:schemeClr>
              </a:solidFill>
            </a:ln>
          </p:spPr>
        </p:pic>
        <p:sp>
          <p:nvSpPr>
            <p:cNvPr id="45" name="TextBox 44">
              <a:extLst>
                <a:ext uri="{FF2B5EF4-FFF2-40B4-BE49-F238E27FC236}">
                  <a16:creationId xmlns:a16="http://schemas.microsoft.com/office/drawing/2014/main" id="{928A5D71-A80E-B34D-D078-11BDE31BCBB0}"/>
                </a:ext>
              </a:extLst>
            </p:cNvPr>
            <p:cNvSpPr txBox="1"/>
            <p:nvPr/>
          </p:nvSpPr>
          <p:spPr>
            <a:xfrm>
              <a:off x="6995144" y="1610024"/>
              <a:ext cx="1346222" cy="532188"/>
            </a:xfrm>
            <a:prstGeom prst="rect">
              <a:avLst/>
            </a:prstGeom>
            <a:noFill/>
            <a:ln>
              <a:solidFill>
                <a:schemeClr val="accent1">
                  <a:lumMod val="75000"/>
                </a:schemeClr>
              </a:solidFill>
            </a:ln>
          </p:spPr>
          <p:txBody>
            <a:bodyPr wrap="square" rtlCol="0">
              <a:spAutoFit/>
            </a:bodyPr>
            <a:lstStyle/>
            <a:p>
              <a:r>
                <a:rPr lang="en-US" sz="1400" dirty="0"/>
                <a:t>273 A/I</a:t>
              </a:r>
            </a:p>
          </p:txBody>
        </p:sp>
      </p:grpSp>
      <p:sp>
        <p:nvSpPr>
          <p:cNvPr id="78" name="Arrow: Right 77">
            <a:hlinkClick r:id="rId12" action="ppaction://hlinksldjump"/>
            <a:extLst>
              <a:ext uri="{FF2B5EF4-FFF2-40B4-BE49-F238E27FC236}">
                <a16:creationId xmlns:a16="http://schemas.microsoft.com/office/drawing/2014/main" id="{F175A8FC-2A27-6666-3652-7C07886849A5}"/>
              </a:ext>
            </a:extLst>
          </p:cNvPr>
          <p:cNvSpPr/>
          <p:nvPr/>
        </p:nvSpPr>
        <p:spPr>
          <a:xfrm>
            <a:off x="7399425" y="4934529"/>
            <a:ext cx="1053793" cy="394164"/>
          </a:xfrm>
          <a:prstGeom prst="rightArrow">
            <a:avLst/>
          </a:prstGeom>
          <a:solidFill>
            <a:schemeClr val="accent5">
              <a:lumMod val="75000"/>
            </a:schemeClr>
          </a:solidFill>
        </p:spPr>
        <p:style>
          <a:lnRef idx="1">
            <a:schemeClr val="accent5"/>
          </a:lnRef>
          <a:fillRef idx="2">
            <a:schemeClr val="accent5"/>
          </a:fillRef>
          <a:effectRef idx="1">
            <a:schemeClr val="accent5"/>
          </a:effectRef>
          <a:fontRef idx="minor">
            <a:schemeClr val="dk1"/>
          </a:fontRef>
        </p:style>
        <p:txBody>
          <a:bodyPr wrap="none" lIns="0" tIns="0" rIns="0" bIns="0" rtlCol="0" anchor="ctr"/>
          <a:lstStyle/>
          <a:p>
            <a:pPr algn="ctr"/>
            <a:r>
              <a:rPr lang="en-US" sz="1200" dirty="0">
                <a:solidFill>
                  <a:schemeClr val="bg1"/>
                </a:solidFill>
              </a:rPr>
              <a:t>OpCode [5] A/I</a:t>
            </a:r>
          </a:p>
        </p:txBody>
      </p:sp>
      <p:cxnSp>
        <p:nvCxnSpPr>
          <p:cNvPr id="51" name="Straight Arrow Connector 50">
            <a:extLst>
              <a:ext uri="{FF2B5EF4-FFF2-40B4-BE49-F238E27FC236}">
                <a16:creationId xmlns:a16="http://schemas.microsoft.com/office/drawing/2014/main" id="{93EBF98D-6ACD-67AB-1CEB-1CD0D033AAB2}"/>
              </a:ext>
            </a:extLst>
          </p:cNvPr>
          <p:cNvCxnSpPr>
            <a:cxnSpLocks/>
            <a:stCxn id="78" idx="3"/>
          </p:cNvCxnSpPr>
          <p:nvPr/>
        </p:nvCxnSpPr>
        <p:spPr>
          <a:xfrm>
            <a:off x="8453218" y="5131611"/>
            <a:ext cx="4181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4558825A-8EDA-16CA-A2CC-C0913D417930}"/>
              </a:ext>
            </a:extLst>
          </p:cNvPr>
          <p:cNvCxnSpPr>
            <a:cxnSpLocks/>
          </p:cNvCxnSpPr>
          <p:nvPr/>
        </p:nvCxnSpPr>
        <p:spPr>
          <a:xfrm>
            <a:off x="9545837" y="4934529"/>
            <a:ext cx="4181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TextBox 53">
            <a:hlinkClick r:id="rId13" action="ppaction://hlinksldjump"/>
            <a:extLst>
              <a:ext uri="{FF2B5EF4-FFF2-40B4-BE49-F238E27FC236}">
                <a16:creationId xmlns:a16="http://schemas.microsoft.com/office/drawing/2014/main" id="{2132BCDB-6A82-BD0C-084D-7DA19FFE40C0}"/>
              </a:ext>
            </a:extLst>
          </p:cNvPr>
          <p:cNvSpPr txBox="1"/>
          <p:nvPr/>
        </p:nvSpPr>
        <p:spPr>
          <a:xfrm>
            <a:off x="9966939" y="4770907"/>
            <a:ext cx="402674" cy="307777"/>
          </a:xfrm>
          <a:prstGeom prst="rect">
            <a:avLst/>
          </a:prstGeom>
          <a:solidFill>
            <a:srgbClr val="FFFFFF"/>
          </a:solidFill>
          <a:ln w="12700">
            <a:solidFill>
              <a:srgbClr val="00B050"/>
            </a:solidFill>
          </a:ln>
        </p:spPr>
        <p:txBody>
          <a:bodyPr wrap="none" rtlCol="0">
            <a:spAutoFit/>
          </a:bodyPr>
          <a:lstStyle/>
          <a:p>
            <a:r>
              <a:rPr lang="en-US" sz="1400" dirty="0"/>
              <a:t>A/I</a:t>
            </a:r>
          </a:p>
        </p:txBody>
      </p:sp>
      <p:cxnSp>
        <p:nvCxnSpPr>
          <p:cNvPr id="55" name="Connector: Elbow 54">
            <a:extLst>
              <a:ext uri="{FF2B5EF4-FFF2-40B4-BE49-F238E27FC236}">
                <a16:creationId xmlns:a16="http://schemas.microsoft.com/office/drawing/2014/main" id="{26D4B1DC-97EE-5B4C-463F-17985AA445FC}"/>
              </a:ext>
            </a:extLst>
          </p:cNvPr>
          <p:cNvCxnSpPr>
            <a:cxnSpLocks/>
            <a:stCxn id="27" idx="3"/>
          </p:cNvCxnSpPr>
          <p:nvPr/>
        </p:nvCxnSpPr>
        <p:spPr>
          <a:xfrm>
            <a:off x="8721352" y="4182949"/>
            <a:ext cx="253150" cy="800438"/>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B9308E2B-BD69-A53C-5368-BD922286D870}"/>
              </a:ext>
            </a:extLst>
          </p:cNvPr>
          <p:cNvSpPr/>
          <p:nvPr/>
        </p:nvSpPr>
        <p:spPr>
          <a:xfrm>
            <a:off x="8944274" y="4171524"/>
            <a:ext cx="60456" cy="530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0034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B32142E9-BCF7-D1AE-E207-6C8E7B6B4AC6}"/>
              </a:ext>
            </a:extLst>
          </p:cNvPr>
          <p:cNvSpPr/>
          <p:nvPr/>
        </p:nvSpPr>
        <p:spPr>
          <a:xfrm>
            <a:off x="6706252" y="1702531"/>
            <a:ext cx="78661" cy="183396"/>
          </a:xfrm>
          <a:prstGeom prst="rect">
            <a:avLst/>
          </a:prstGeom>
          <a:solidFill>
            <a:schemeClr val="tx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4091D14C-4717-CD81-C5EE-482F2A4153F1}"/>
              </a:ext>
            </a:extLst>
          </p:cNvPr>
          <p:cNvSpPr/>
          <p:nvPr/>
        </p:nvSpPr>
        <p:spPr>
          <a:xfrm>
            <a:off x="6625535" y="1515226"/>
            <a:ext cx="136027" cy="12090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36">
            <a:extLst>
              <a:ext uri="{FF2B5EF4-FFF2-40B4-BE49-F238E27FC236}">
                <a16:creationId xmlns:a16="http://schemas.microsoft.com/office/drawing/2014/main" id="{88F3C0B3-A4AC-E9E0-0A66-0BE71BE0CA14}"/>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65790" t="23028" r="7330" b="48750"/>
          <a:stretch/>
        </p:blipFill>
        <p:spPr>
          <a:xfrm rot="10800000">
            <a:off x="5996615" y="1367259"/>
            <a:ext cx="778849" cy="604563"/>
          </a:xfrm>
          <a:prstGeom prst="rect">
            <a:avLst/>
          </a:prstGeom>
          <a:solidFill>
            <a:schemeClr val="bg1"/>
          </a:solidFill>
        </p:spPr>
      </p:pic>
      <p:sp>
        <p:nvSpPr>
          <p:cNvPr id="31" name="Rectangle 30">
            <a:extLst>
              <a:ext uri="{FF2B5EF4-FFF2-40B4-BE49-F238E27FC236}">
                <a16:creationId xmlns:a16="http://schemas.microsoft.com/office/drawing/2014/main" id="{6F30D174-D129-C620-5B57-1571C787C307}"/>
              </a:ext>
            </a:extLst>
          </p:cNvPr>
          <p:cNvSpPr/>
          <p:nvPr/>
        </p:nvSpPr>
        <p:spPr>
          <a:xfrm>
            <a:off x="4403976" y="4891713"/>
            <a:ext cx="136027" cy="1209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3162ECE-1630-5685-170A-B4C84B51FC8D}"/>
              </a:ext>
            </a:extLst>
          </p:cNvPr>
          <p:cNvSpPr/>
          <p:nvPr/>
        </p:nvSpPr>
        <p:spPr>
          <a:xfrm>
            <a:off x="4403976" y="5220738"/>
            <a:ext cx="136027" cy="1209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C2805C4A-2AFA-09DD-6595-2469669F698C}"/>
              </a:ext>
            </a:extLst>
          </p:cNvPr>
          <p:cNvSpPr/>
          <p:nvPr/>
        </p:nvSpPr>
        <p:spPr>
          <a:xfrm>
            <a:off x="4403976" y="5549763"/>
            <a:ext cx="136027" cy="1209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1085F18-1D02-FBFA-D6DA-14E7DE7CDA76}"/>
              </a:ext>
            </a:extLst>
          </p:cNvPr>
          <p:cNvSpPr/>
          <p:nvPr/>
        </p:nvSpPr>
        <p:spPr>
          <a:xfrm>
            <a:off x="4403976" y="5878788"/>
            <a:ext cx="136027" cy="1209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199D92AE-308A-762E-D076-AE08CDE7FE4C}"/>
              </a:ext>
            </a:extLst>
          </p:cNvPr>
          <p:cNvSpPr/>
          <p:nvPr/>
        </p:nvSpPr>
        <p:spPr>
          <a:xfrm>
            <a:off x="4403976" y="6207813"/>
            <a:ext cx="136027" cy="1209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129">
            <a:extLst>
              <a:ext uri="{FF2B5EF4-FFF2-40B4-BE49-F238E27FC236}">
                <a16:creationId xmlns:a16="http://schemas.microsoft.com/office/drawing/2014/main" id="{50E11970-71B4-E8F5-3F72-E566B1F34709}"/>
              </a:ext>
            </a:extLst>
          </p:cNvPr>
          <p:cNvSpPr/>
          <p:nvPr/>
        </p:nvSpPr>
        <p:spPr>
          <a:xfrm>
            <a:off x="4431895" y="1669539"/>
            <a:ext cx="136027" cy="1209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AE35286-59BE-FC39-54FF-C7A08C9647F0}"/>
              </a:ext>
            </a:extLst>
          </p:cNvPr>
          <p:cNvSpPr/>
          <p:nvPr/>
        </p:nvSpPr>
        <p:spPr>
          <a:xfrm>
            <a:off x="4431895" y="2006072"/>
            <a:ext cx="136027" cy="1209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9F1D960-4DA1-FC35-55B9-3DF6FA0EBFE9}"/>
              </a:ext>
            </a:extLst>
          </p:cNvPr>
          <p:cNvSpPr/>
          <p:nvPr/>
        </p:nvSpPr>
        <p:spPr>
          <a:xfrm>
            <a:off x="4431895" y="2331503"/>
            <a:ext cx="136027" cy="1209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5701A7C-C970-DD99-80BB-29C6A021630E}"/>
              </a:ext>
            </a:extLst>
          </p:cNvPr>
          <p:cNvSpPr/>
          <p:nvPr/>
        </p:nvSpPr>
        <p:spPr>
          <a:xfrm>
            <a:off x="4431895" y="2656934"/>
            <a:ext cx="136027" cy="1209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B9F928D-3FDD-A656-0C15-81A983E2B221}"/>
              </a:ext>
            </a:extLst>
          </p:cNvPr>
          <p:cNvSpPr/>
          <p:nvPr/>
        </p:nvSpPr>
        <p:spPr>
          <a:xfrm>
            <a:off x="4431895" y="2982365"/>
            <a:ext cx="136027" cy="1209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94BC51E-BB0B-0F81-E455-93D4B5F09FBA}"/>
              </a:ext>
            </a:extLst>
          </p:cNvPr>
          <p:cNvSpPr/>
          <p:nvPr/>
        </p:nvSpPr>
        <p:spPr>
          <a:xfrm>
            <a:off x="4431895" y="3307796"/>
            <a:ext cx="136027" cy="1209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4374991-049C-8E45-5204-F09C09C27569}"/>
              </a:ext>
            </a:extLst>
          </p:cNvPr>
          <p:cNvSpPr/>
          <p:nvPr/>
        </p:nvSpPr>
        <p:spPr>
          <a:xfrm>
            <a:off x="4410326" y="6570891"/>
            <a:ext cx="136027" cy="1209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Rectangle 242">
            <a:extLst>
              <a:ext uri="{FF2B5EF4-FFF2-40B4-BE49-F238E27FC236}">
                <a16:creationId xmlns:a16="http://schemas.microsoft.com/office/drawing/2014/main" id="{F4B38F73-276A-C680-836D-C121F3619381}"/>
              </a:ext>
            </a:extLst>
          </p:cNvPr>
          <p:cNvSpPr/>
          <p:nvPr/>
        </p:nvSpPr>
        <p:spPr>
          <a:xfrm>
            <a:off x="6857347" y="3635124"/>
            <a:ext cx="101243" cy="1165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1" name="Picture 210" descr="Diagram&#10;&#10;Description automatically generated with low confidence">
            <a:extLst>
              <a:ext uri="{FF2B5EF4-FFF2-40B4-BE49-F238E27FC236}">
                <a16:creationId xmlns:a16="http://schemas.microsoft.com/office/drawing/2014/main" id="{E4AC2FAA-8746-D607-A3AB-465D8B350651}"/>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t="-3588" r="58979" b="29396"/>
          <a:stretch/>
        </p:blipFill>
        <p:spPr>
          <a:xfrm flipH="1">
            <a:off x="6975317" y="3387489"/>
            <a:ext cx="362619" cy="256427"/>
          </a:xfrm>
          <a:prstGeom prst="rect">
            <a:avLst/>
          </a:prstGeom>
          <a:solidFill>
            <a:schemeClr val="bg1"/>
          </a:solidFill>
        </p:spPr>
      </p:pic>
      <p:pic>
        <p:nvPicPr>
          <p:cNvPr id="13" name="Picture 12">
            <a:extLst>
              <a:ext uri="{FF2B5EF4-FFF2-40B4-BE49-F238E27FC236}">
                <a16:creationId xmlns:a16="http://schemas.microsoft.com/office/drawing/2014/main" id="{47CF3CF1-1E9F-DC04-0E4E-49D0BFDAA356}"/>
              </a:ext>
            </a:extLst>
          </p:cNvPr>
          <p:cNvPicPr>
            <a:picLocks noChangeAspect="1"/>
          </p:cNvPicPr>
          <p:nvPr/>
        </p:nvPicPr>
        <p:blipFill>
          <a:blip r:embed="rId7"/>
          <a:srcRect l="1596" b="4125"/>
          <a:stretch>
            <a:fillRect/>
          </a:stretch>
        </p:blipFill>
        <p:spPr>
          <a:xfrm>
            <a:off x="1954141" y="1003954"/>
            <a:ext cx="2864383" cy="2997757"/>
          </a:xfrm>
          <a:prstGeom prst="rect">
            <a:avLst/>
          </a:prstGeom>
        </p:spPr>
      </p:pic>
      <p:pic>
        <p:nvPicPr>
          <p:cNvPr id="12" name="Picture 11">
            <a:extLst>
              <a:ext uri="{FF2B5EF4-FFF2-40B4-BE49-F238E27FC236}">
                <a16:creationId xmlns:a16="http://schemas.microsoft.com/office/drawing/2014/main" id="{62D08638-8CF9-6960-DE9E-1B5C7D8C4B61}"/>
              </a:ext>
            </a:extLst>
          </p:cNvPr>
          <p:cNvPicPr>
            <a:picLocks noChangeAspect="1"/>
          </p:cNvPicPr>
          <p:nvPr/>
        </p:nvPicPr>
        <p:blipFill>
          <a:blip r:embed="rId7"/>
          <a:srcRect l="1596" b="4125"/>
          <a:stretch>
            <a:fillRect/>
          </a:stretch>
        </p:blipFill>
        <p:spPr>
          <a:xfrm>
            <a:off x="1954140" y="3904968"/>
            <a:ext cx="2864383" cy="2997758"/>
          </a:xfrm>
          <a:prstGeom prst="rect">
            <a:avLst/>
          </a:prstGeom>
        </p:spPr>
      </p:pic>
      <p:sp>
        <p:nvSpPr>
          <p:cNvPr id="85" name="TextBox 84">
            <a:extLst>
              <a:ext uri="{FF2B5EF4-FFF2-40B4-BE49-F238E27FC236}">
                <a16:creationId xmlns:a16="http://schemas.microsoft.com/office/drawing/2014/main" id="{B7CDC86E-547C-D02C-FEDA-8E78D0B04F11}"/>
              </a:ext>
            </a:extLst>
          </p:cNvPr>
          <p:cNvSpPr txBox="1"/>
          <p:nvPr/>
        </p:nvSpPr>
        <p:spPr>
          <a:xfrm>
            <a:off x="4494777" y="2282031"/>
            <a:ext cx="338554" cy="230832"/>
          </a:xfrm>
          <a:prstGeom prst="rect">
            <a:avLst/>
          </a:prstGeom>
          <a:noFill/>
        </p:spPr>
        <p:txBody>
          <a:bodyPr wrap="none" rtlCol="0">
            <a:spAutoFit/>
          </a:bodyPr>
          <a:lstStyle/>
          <a:p>
            <a:r>
              <a:rPr lang="en-US" sz="900" dirty="0"/>
              <a:t>“1”</a:t>
            </a:r>
          </a:p>
        </p:txBody>
      </p:sp>
      <p:cxnSp>
        <p:nvCxnSpPr>
          <p:cNvPr id="72" name="Connector: Elbow 71">
            <a:extLst>
              <a:ext uri="{FF2B5EF4-FFF2-40B4-BE49-F238E27FC236}">
                <a16:creationId xmlns:a16="http://schemas.microsoft.com/office/drawing/2014/main" id="{CB205A01-2EFB-B103-95E4-5CC5AB01F607}"/>
              </a:ext>
            </a:extLst>
          </p:cNvPr>
          <p:cNvCxnSpPr>
            <a:cxnSpLocks/>
            <a:stCxn id="151" idx="0"/>
            <a:endCxn id="20" idx="3"/>
          </p:cNvCxnSpPr>
          <p:nvPr/>
        </p:nvCxnSpPr>
        <p:spPr>
          <a:xfrm rot="16200000" flipV="1">
            <a:off x="4012576" y="3598164"/>
            <a:ext cx="2620980" cy="151028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39D9F80-B6D0-5790-A9DD-049C33B137D2}"/>
              </a:ext>
            </a:extLst>
          </p:cNvPr>
          <p:cNvSpPr>
            <a:spLocks noGrp="1"/>
          </p:cNvSpPr>
          <p:nvPr>
            <p:ph type="ctrTitle"/>
          </p:nvPr>
        </p:nvSpPr>
        <p:spPr/>
        <p:txBody>
          <a:bodyPr/>
          <a:lstStyle/>
          <a:p>
            <a:pPr>
              <a:lnSpc>
                <a:spcPts val="1425"/>
              </a:lnSpc>
            </a:pPr>
            <a:r>
              <a:rPr lang="en-US" b="0" dirty="0">
                <a:solidFill>
                  <a:srgbClr val="4E5B61"/>
                </a:solidFill>
                <a:effectLst/>
                <a:latin typeface="Consolas" panose="020B0609020204030204" pitchFamily="49" charset="0"/>
              </a:rPr>
              <a:t>Keyboard </a:t>
            </a:r>
            <a:endParaRPr lang="en-US" dirty="0"/>
          </a:p>
        </p:txBody>
      </p:sp>
      <p:grpSp>
        <p:nvGrpSpPr>
          <p:cNvPr id="9" name="Group 8">
            <a:extLst>
              <a:ext uri="{FF2B5EF4-FFF2-40B4-BE49-F238E27FC236}">
                <a16:creationId xmlns:a16="http://schemas.microsoft.com/office/drawing/2014/main" id="{E0D6E56C-7F4D-E727-ABFC-0C9E1C9B4EA5}"/>
              </a:ext>
            </a:extLst>
          </p:cNvPr>
          <p:cNvGrpSpPr/>
          <p:nvPr/>
        </p:nvGrpSpPr>
        <p:grpSpPr>
          <a:xfrm rot="16200000" flipH="1">
            <a:off x="6893462" y="4748267"/>
            <a:ext cx="829742" cy="1370585"/>
            <a:chOff x="1348517" y="1988227"/>
            <a:chExt cx="829742" cy="1370585"/>
          </a:xfrm>
        </p:grpSpPr>
        <p:sp>
          <p:nvSpPr>
            <p:cNvPr id="3" name="Rectangle 2">
              <a:extLst>
                <a:ext uri="{FF2B5EF4-FFF2-40B4-BE49-F238E27FC236}">
                  <a16:creationId xmlns:a16="http://schemas.microsoft.com/office/drawing/2014/main" id="{A31AC300-DF49-4660-F110-68E662CF1C14}"/>
                </a:ext>
              </a:extLst>
            </p:cNvPr>
            <p:cNvSpPr/>
            <p:nvPr/>
          </p:nvSpPr>
          <p:spPr>
            <a:xfrm>
              <a:off x="1933644" y="3185846"/>
              <a:ext cx="145605" cy="815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hlinkClick r:id="rId8" action="ppaction://hlinksldjump"/>
              <a:extLst>
                <a:ext uri="{FF2B5EF4-FFF2-40B4-BE49-F238E27FC236}">
                  <a16:creationId xmlns:a16="http://schemas.microsoft.com/office/drawing/2014/main" id="{39CDF4C7-B306-FD6E-55B7-E254A6EB77C9}"/>
                </a:ext>
              </a:extLst>
            </p:cNvPr>
            <p:cNvSpPr txBox="1"/>
            <p:nvPr/>
          </p:nvSpPr>
          <p:spPr>
            <a:xfrm>
              <a:off x="1348517" y="2965105"/>
              <a:ext cx="829742" cy="307777"/>
            </a:xfrm>
            <a:prstGeom prst="rect">
              <a:avLst/>
            </a:prstGeom>
            <a:solidFill>
              <a:srgbClr val="FFFFFF"/>
            </a:solidFill>
            <a:ln w="12700">
              <a:solidFill>
                <a:srgbClr val="00B050"/>
              </a:solidFill>
            </a:ln>
          </p:spPr>
          <p:txBody>
            <a:bodyPr wrap="square" rtlCol="0">
              <a:spAutoFit/>
            </a:bodyPr>
            <a:lstStyle/>
            <a:p>
              <a:pPr algn="ctr"/>
              <a:r>
                <a:rPr lang="en-US" sz="1400" dirty="0"/>
                <a:t>KBD</a:t>
              </a:r>
            </a:p>
          </p:txBody>
        </p:sp>
        <p:cxnSp>
          <p:nvCxnSpPr>
            <p:cNvPr id="5" name="Straight Arrow Connector 4">
              <a:extLst>
                <a:ext uri="{FF2B5EF4-FFF2-40B4-BE49-F238E27FC236}">
                  <a16:creationId xmlns:a16="http://schemas.microsoft.com/office/drawing/2014/main" id="{30E4868E-DEAF-6693-A64F-13E58899930E}"/>
                </a:ext>
              </a:extLst>
            </p:cNvPr>
            <p:cNvCxnSpPr/>
            <p:nvPr/>
          </p:nvCxnSpPr>
          <p:spPr>
            <a:xfrm flipV="1">
              <a:off x="2007321" y="2422869"/>
              <a:ext cx="0" cy="548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1C61C1EC-404A-3833-07D1-5610C0632627}"/>
                </a:ext>
              </a:extLst>
            </p:cNvPr>
            <p:cNvCxnSpPr/>
            <p:nvPr/>
          </p:nvCxnSpPr>
          <p:spPr>
            <a:xfrm flipV="1">
              <a:off x="1763677" y="2406369"/>
              <a:ext cx="0" cy="548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D04D44C-0746-4C26-B8C6-BFC8749E4FBE}"/>
                </a:ext>
              </a:extLst>
            </p:cNvPr>
            <p:cNvSpPr txBox="1"/>
            <p:nvPr/>
          </p:nvSpPr>
          <p:spPr>
            <a:xfrm rot="16200000">
              <a:off x="1231092" y="2535020"/>
              <a:ext cx="1370585" cy="276999"/>
            </a:xfrm>
            <a:prstGeom prst="rect">
              <a:avLst/>
            </a:prstGeom>
            <a:noFill/>
          </p:spPr>
          <p:txBody>
            <a:bodyPr wrap="square" rtlCol="0">
              <a:spAutoFit/>
            </a:bodyPr>
            <a:lstStyle/>
            <a:p>
              <a:r>
                <a:rPr lang="en-US" sz="1200" dirty="0"/>
                <a:t>Clock - White</a:t>
              </a:r>
            </a:p>
          </p:txBody>
        </p:sp>
        <p:sp>
          <p:nvSpPr>
            <p:cNvPr id="8" name="TextBox 7">
              <a:extLst>
                <a:ext uri="{FF2B5EF4-FFF2-40B4-BE49-F238E27FC236}">
                  <a16:creationId xmlns:a16="http://schemas.microsoft.com/office/drawing/2014/main" id="{CEA9B98E-98FA-C2FD-3B3F-A358411B129B}"/>
                </a:ext>
              </a:extLst>
            </p:cNvPr>
            <p:cNvSpPr txBox="1"/>
            <p:nvPr/>
          </p:nvSpPr>
          <p:spPr>
            <a:xfrm rot="16200000">
              <a:off x="1023430" y="2493215"/>
              <a:ext cx="1286974" cy="276999"/>
            </a:xfrm>
            <a:prstGeom prst="rect">
              <a:avLst/>
            </a:prstGeom>
            <a:noFill/>
          </p:spPr>
          <p:txBody>
            <a:bodyPr wrap="square" rtlCol="0">
              <a:spAutoFit/>
            </a:bodyPr>
            <a:lstStyle/>
            <a:p>
              <a:r>
                <a:rPr lang="en-US" sz="1200" dirty="0"/>
                <a:t>Data - Gray</a:t>
              </a:r>
            </a:p>
          </p:txBody>
        </p:sp>
      </p:grpSp>
      <p:cxnSp>
        <p:nvCxnSpPr>
          <p:cNvPr id="15" name="Connector: Elbow 14">
            <a:extLst>
              <a:ext uri="{FF2B5EF4-FFF2-40B4-BE49-F238E27FC236}">
                <a16:creationId xmlns:a16="http://schemas.microsoft.com/office/drawing/2014/main" id="{55D66067-D796-CD4F-784B-51521CD27601}"/>
              </a:ext>
            </a:extLst>
          </p:cNvPr>
          <p:cNvCxnSpPr>
            <a:cxnSpLocks/>
            <a:endCxn id="34" idx="3"/>
          </p:cNvCxnSpPr>
          <p:nvPr/>
        </p:nvCxnSpPr>
        <p:spPr>
          <a:xfrm rot="10800000" flipV="1">
            <a:off x="4540003" y="5686659"/>
            <a:ext cx="3049244" cy="25258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8265C203-45D2-CA3C-57FF-568B0EF519F3}"/>
              </a:ext>
            </a:extLst>
          </p:cNvPr>
          <p:cNvPicPr>
            <a:picLocks noChangeAspect="1"/>
          </p:cNvPicPr>
          <p:nvPr/>
        </p:nvPicPr>
        <p:blipFill>
          <a:blip r:embed="rId9"/>
          <a:stretch>
            <a:fillRect/>
          </a:stretch>
        </p:blipFill>
        <p:spPr>
          <a:xfrm>
            <a:off x="7697408" y="638291"/>
            <a:ext cx="4112790" cy="2065672"/>
          </a:xfrm>
          <a:prstGeom prst="rect">
            <a:avLst/>
          </a:prstGeom>
        </p:spPr>
      </p:pic>
      <p:cxnSp>
        <p:nvCxnSpPr>
          <p:cNvPr id="18" name="Connector: Elbow 17">
            <a:extLst>
              <a:ext uri="{FF2B5EF4-FFF2-40B4-BE49-F238E27FC236}">
                <a16:creationId xmlns:a16="http://schemas.microsoft.com/office/drawing/2014/main" id="{A151620B-76E3-96C6-AD79-65E12382CBAC}"/>
              </a:ext>
            </a:extLst>
          </p:cNvPr>
          <p:cNvCxnSpPr>
            <a:cxnSpLocks/>
            <a:endCxn id="31" idx="3"/>
          </p:cNvCxnSpPr>
          <p:nvPr/>
        </p:nvCxnSpPr>
        <p:spPr>
          <a:xfrm rot="10800000">
            <a:off x="4540004" y="4952166"/>
            <a:ext cx="2857847" cy="48877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96E03A89-6E26-7D89-519B-76E9492F4F2A}"/>
              </a:ext>
            </a:extLst>
          </p:cNvPr>
          <p:cNvCxnSpPr>
            <a:cxnSpLocks/>
            <a:stCxn id="37" idx="3"/>
            <a:endCxn id="170" idx="6"/>
          </p:cNvCxnSpPr>
          <p:nvPr/>
        </p:nvCxnSpPr>
        <p:spPr>
          <a:xfrm rot="10800000" flipV="1">
            <a:off x="5036355" y="1669540"/>
            <a:ext cx="960261" cy="3618838"/>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A1DB3A19-EEA7-44B2-6F53-F24AD2D46021}"/>
              </a:ext>
            </a:extLst>
          </p:cNvPr>
          <p:cNvCxnSpPr>
            <a:cxnSpLocks/>
            <a:stCxn id="128" idx="3"/>
            <a:endCxn id="45" idx="3"/>
          </p:cNvCxnSpPr>
          <p:nvPr/>
        </p:nvCxnSpPr>
        <p:spPr>
          <a:xfrm flipV="1">
            <a:off x="5991271" y="1794229"/>
            <a:ext cx="793642" cy="183790"/>
          </a:xfrm>
          <a:prstGeom prst="bentConnector3">
            <a:avLst>
              <a:gd name="adj1" fmla="val 128804"/>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3CB9E0FE-F1D2-5815-4F74-35D72E160F00}"/>
              </a:ext>
            </a:extLst>
          </p:cNvPr>
          <p:cNvSpPr txBox="1"/>
          <p:nvPr/>
        </p:nvSpPr>
        <p:spPr>
          <a:xfrm>
            <a:off x="6871933" y="1618973"/>
            <a:ext cx="530915" cy="230832"/>
          </a:xfrm>
          <a:prstGeom prst="rect">
            <a:avLst/>
          </a:prstGeom>
          <a:noFill/>
        </p:spPr>
        <p:txBody>
          <a:bodyPr wrap="none" rtlCol="0">
            <a:spAutoFit/>
          </a:bodyPr>
          <a:lstStyle/>
          <a:p>
            <a:r>
              <a:rPr lang="en-US" sz="900" dirty="0"/>
              <a:t>#Ready</a:t>
            </a:r>
          </a:p>
        </p:txBody>
      </p:sp>
      <p:sp>
        <p:nvSpPr>
          <p:cNvPr id="118" name="TextBox 117">
            <a:extLst>
              <a:ext uri="{FF2B5EF4-FFF2-40B4-BE49-F238E27FC236}">
                <a16:creationId xmlns:a16="http://schemas.microsoft.com/office/drawing/2014/main" id="{7F7F0BA1-8634-3648-5BE3-E5F2210D06BF}"/>
              </a:ext>
            </a:extLst>
          </p:cNvPr>
          <p:cNvSpPr txBox="1"/>
          <p:nvPr/>
        </p:nvSpPr>
        <p:spPr>
          <a:xfrm>
            <a:off x="6953377" y="1138500"/>
            <a:ext cx="593432" cy="230832"/>
          </a:xfrm>
          <a:prstGeom prst="rect">
            <a:avLst/>
          </a:prstGeom>
          <a:noFill/>
        </p:spPr>
        <p:txBody>
          <a:bodyPr wrap="none" rtlCol="0">
            <a:spAutoFit/>
          </a:bodyPr>
          <a:lstStyle/>
          <a:p>
            <a:r>
              <a:rPr lang="en-US" sz="900" dirty="0"/>
              <a:t>KBD #OE</a:t>
            </a:r>
          </a:p>
        </p:txBody>
      </p:sp>
      <p:cxnSp>
        <p:nvCxnSpPr>
          <p:cNvPr id="125" name="Connector: Elbow 124">
            <a:extLst>
              <a:ext uri="{FF2B5EF4-FFF2-40B4-BE49-F238E27FC236}">
                <a16:creationId xmlns:a16="http://schemas.microsoft.com/office/drawing/2014/main" id="{D0074325-3C9D-BF85-6187-110CE4CEBA8A}"/>
              </a:ext>
            </a:extLst>
          </p:cNvPr>
          <p:cNvCxnSpPr>
            <a:cxnSpLocks/>
            <a:stCxn id="118" idx="2"/>
            <a:endCxn id="122" idx="3"/>
          </p:cNvCxnSpPr>
          <p:nvPr/>
        </p:nvCxnSpPr>
        <p:spPr>
          <a:xfrm rot="5400000">
            <a:off x="6902655" y="1228240"/>
            <a:ext cx="206347" cy="48853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pic>
        <p:nvPicPr>
          <p:cNvPr id="128" name="Picture 127" descr="Diagram&#10;&#10;Description automatically generated with low confidence">
            <a:extLst>
              <a:ext uri="{FF2B5EF4-FFF2-40B4-BE49-F238E27FC236}">
                <a16:creationId xmlns:a16="http://schemas.microsoft.com/office/drawing/2014/main" id="{93B34EC9-4CF8-DF39-E1E8-4B3491EA6F23}"/>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t="-3588" r="58979" b="29396"/>
          <a:stretch/>
        </p:blipFill>
        <p:spPr>
          <a:xfrm>
            <a:off x="5628652" y="1849805"/>
            <a:ext cx="362619" cy="256427"/>
          </a:xfrm>
          <a:prstGeom prst="rect">
            <a:avLst/>
          </a:prstGeom>
          <a:solidFill>
            <a:schemeClr val="bg1"/>
          </a:solidFill>
        </p:spPr>
      </p:pic>
      <p:sp>
        <p:nvSpPr>
          <p:cNvPr id="144" name="TextBox 143">
            <a:extLst>
              <a:ext uri="{FF2B5EF4-FFF2-40B4-BE49-F238E27FC236}">
                <a16:creationId xmlns:a16="http://schemas.microsoft.com/office/drawing/2014/main" id="{3BD2AE6B-074D-18A6-C34A-38F66801D8DA}"/>
              </a:ext>
            </a:extLst>
          </p:cNvPr>
          <p:cNvSpPr txBox="1"/>
          <p:nvPr/>
        </p:nvSpPr>
        <p:spPr>
          <a:xfrm>
            <a:off x="5901531" y="1496764"/>
            <a:ext cx="300082" cy="230832"/>
          </a:xfrm>
          <a:prstGeom prst="rect">
            <a:avLst/>
          </a:prstGeom>
          <a:noFill/>
        </p:spPr>
        <p:txBody>
          <a:bodyPr wrap="none" rtlCol="0">
            <a:spAutoFit/>
          </a:bodyPr>
          <a:lstStyle/>
          <a:p>
            <a:r>
              <a:rPr lang="en-US" sz="900" dirty="0"/>
              <a:t>11</a:t>
            </a:r>
          </a:p>
        </p:txBody>
      </p:sp>
      <p:sp>
        <p:nvSpPr>
          <p:cNvPr id="145" name="TextBox 144">
            <a:extLst>
              <a:ext uri="{FF2B5EF4-FFF2-40B4-BE49-F238E27FC236}">
                <a16:creationId xmlns:a16="http://schemas.microsoft.com/office/drawing/2014/main" id="{3CB8A583-09BF-ABBD-FEA4-4F6C9AD32F2F}"/>
              </a:ext>
            </a:extLst>
          </p:cNvPr>
          <p:cNvSpPr txBox="1"/>
          <p:nvPr/>
        </p:nvSpPr>
        <p:spPr>
          <a:xfrm>
            <a:off x="6659292" y="1597652"/>
            <a:ext cx="300082" cy="230832"/>
          </a:xfrm>
          <a:prstGeom prst="rect">
            <a:avLst/>
          </a:prstGeom>
          <a:noFill/>
        </p:spPr>
        <p:txBody>
          <a:bodyPr wrap="none" rtlCol="0">
            <a:spAutoFit/>
          </a:bodyPr>
          <a:lstStyle/>
          <a:p>
            <a:r>
              <a:rPr lang="en-US" sz="900" dirty="0"/>
              <a:t>13</a:t>
            </a:r>
          </a:p>
        </p:txBody>
      </p:sp>
      <p:sp>
        <p:nvSpPr>
          <p:cNvPr id="146" name="TextBox 145">
            <a:extLst>
              <a:ext uri="{FF2B5EF4-FFF2-40B4-BE49-F238E27FC236}">
                <a16:creationId xmlns:a16="http://schemas.microsoft.com/office/drawing/2014/main" id="{6AAC61B9-F918-2C21-9EAE-4AE2C3C09AF5}"/>
              </a:ext>
            </a:extLst>
          </p:cNvPr>
          <p:cNvSpPr txBox="1"/>
          <p:nvPr/>
        </p:nvSpPr>
        <p:spPr>
          <a:xfrm>
            <a:off x="6652725" y="1325585"/>
            <a:ext cx="300082" cy="230832"/>
          </a:xfrm>
          <a:prstGeom prst="rect">
            <a:avLst/>
          </a:prstGeom>
          <a:noFill/>
        </p:spPr>
        <p:txBody>
          <a:bodyPr wrap="none" rtlCol="0">
            <a:spAutoFit/>
          </a:bodyPr>
          <a:lstStyle/>
          <a:p>
            <a:r>
              <a:rPr lang="en-US" sz="900" dirty="0"/>
              <a:t>12</a:t>
            </a:r>
          </a:p>
        </p:txBody>
      </p:sp>
      <p:sp>
        <p:nvSpPr>
          <p:cNvPr id="149" name="Oval 148">
            <a:extLst>
              <a:ext uri="{FF2B5EF4-FFF2-40B4-BE49-F238E27FC236}">
                <a16:creationId xmlns:a16="http://schemas.microsoft.com/office/drawing/2014/main" id="{95BFA716-9FE4-7D46-4126-41C1A0466ABC}"/>
              </a:ext>
            </a:extLst>
          </p:cNvPr>
          <p:cNvSpPr/>
          <p:nvPr/>
        </p:nvSpPr>
        <p:spPr>
          <a:xfrm>
            <a:off x="5343410" y="3573276"/>
            <a:ext cx="45719" cy="45719"/>
          </a:xfrm>
          <a:prstGeom prst="ellips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a:extLst>
              <a:ext uri="{FF2B5EF4-FFF2-40B4-BE49-F238E27FC236}">
                <a16:creationId xmlns:a16="http://schemas.microsoft.com/office/drawing/2014/main" id="{9ABD57AB-BFEE-9552-6749-2BD8FCE2357E}"/>
              </a:ext>
            </a:extLst>
          </p:cNvPr>
          <p:cNvSpPr/>
          <p:nvPr/>
        </p:nvSpPr>
        <p:spPr>
          <a:xfrm>
            <a:off x="5496282" y="2331435"/>
            <a:ext cx="45719" cy="45719"/>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Oval 150">
            <a:extLst>
              <a:ext uri="{FF2B5EF4-FFF2-40B4-BE49-F238E27FC236}">
                <a16:creationId xmlns:a16="http://schemas.microsoft.com/office/drawing/2014/main" id="{A5C39D0F-6DB6-6E3B-6EE0-25BCED460382}"/>
              </a:ext>
            </a:extLst>
          </p:cNvPr>
          <p:cNvSpPr/>
          <p:nvPr/>
        </p:nvSpPr>
        <p:spPr>
          <a:xfrm>
            <a:off x="6055350" y="5663798"/>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2" name="Connector: Elbow 151">
            <a:extLst>
              <a:ext uri="{FF2B5EF4-FFF2-40B4-BE49-F238E27FC236}">
                <a16:creationId xmlns:a16="http://schemas.microsoft.com/office/drawing/2014/main" id="{E8750BEE-D99F-EF8D-CB64-103EC61A01FB}"/>
              </a:ext>
            </a:extLst>
          </p:cNvPr>
          <p:cNvCxnSpPr>
            <a:cxnSpLocks/>
            <a:stCxn id="130" idx="3"/>
            <a:endCxn id="128" idx="1"/>
          </p:cNvCxnSpPr>
          <p:nvPr/>
        </p:nvCxnSpPr>
        <p:spPr>
          <a:xfrm>
            <a:off x="4567922" y="1729992"/>
            <a:ext cx="1060730" cy="24802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68" name="Oval 167">
            <a:extLst>
              <a:ext uri="{FF2B5EF4-FFF2-40B4-BE49-F238E27FC236}">
                <a16:creationId xmlns:a16="http://schemas.microsoft.com/office/drawing/2014/main" id="{A3ECF72C-9D35-B1CA-9525-65B93D6B9149}"/>
              </a:ext>
            </a:extLst>
          </p:cNvPr>
          <p:cNvSpPr/>
          <p:nvPr/>
        </p:nvSpPr>
        <p:spPr>
          <a:xfrm>
            <a:off x="6068760" y="4686205"/>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Oval 169">
            <a:extLst>
              <a:ext uri="{FF2B5EF4-FFF2-40B4-BE49-F238E27FC236}">
                <a16:creationId xmlns:a16="http://schemas.microsoft.com/office/drawing/2014/main" id="{3B742241-85B5-5802-786F-45245278A201}"/>
              </a:ext>
            </a:extLst>
          </p:cNvPr>
          <p:cNvSpPr/>
          <p:nvPr/>
        </p:nvSpPr>
        <p:spPr>
          <a:xfrm>
            <a:off x="4990635" y="5265518"/>
            <a:ext cx="45719" cy="45719"/>
          </a:xfrm>
          <a:prstGeom prst="ellipse">
            <a:avLst/>
          </a:prstGeom>
          <a:solidFill>
            <a:schemeClr val="accent2"/>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TextBox 171">
            <a:extLst>
              <a:ext uri="{FF2B5EF4-FFF2-40B4-BE49-F238E27FC236}">
                <a16:creationId xmlns:a16="http://schemas.microsoft.com/office/drawing/2014/main" id="{72E234DA-4885-8B90-3D07-13DB4BBABCA8}"/>
              </a:ext>
            </a:extLst>
          </p:cNvPr>
          <p:cNvSpPr txBox="1"/>
          <p:nvPr/>
        </p:nvSpPr>
        <p:spPr>
          <a:xfrm>
            <a:off x="3024575" y="2565351"/>
            <a:ext cx="518988" cy="338554"/>
          </a:xfrm>
          <a:prstGeom prst="rect">
            <a:avLst/>
          </a:prstGeom>
          <a:noFill/>
        </p:spPr>
        <p:txBody>
          <a:bodyPr wrap="none" rtlCol="0">
            <a:spAutoFit/>
          </a:bodyPr>
          <a:lstStyle/>
          <a:p>
            <a:r>
              <a:rPr lang="en-US" sz="1600" dirty="0"/>
              <a:t>RDY</a:t>
            </a:r>
          </a:p>
        </p:txBody>
      </p:sp>
      <p:sp>
        <p:nvSpPr>
          <p:cNvPr id="173" name="TextBox 172">
            <a:extLst>
              <a:ext uri="{FF2B5EF4-FFF2-40B4-BE49-F238E27FC236}">
                <a16:creationId xmlns:a16="http://schemas.microsoft.com/office/drawing/2014/main" id="{328FC752-44E2-F94F-5D2D-182C5FC314A8}"/>
              </a:ext>
            </a:extLst>
          </p:cNvPr>
          <p:cNvSpPr txBox="1"/>
          <p:nvPr/>
        </p:nvSpPr>
        <p:spPr>
          <a:xfrm>
            <a:off x="3043311" y="5440938"/>
            <a:ext cx="530915" cy="338554"/>
          </a:xfrm>
          <a:prstGeom prst="rect">
            <a:avLst/>
          </a:prstGeom>
          <a:noFill/>
        </p:spPr>
        <p:txBody>
          <a:bodyPr wrap="none" rtlCol="0">
            <a:spAutoFit/>
          </a:bodyPr>
          <a:lstStyle/>
          <a:p>
            <a:r>
              <a:rPr lang="en-US" sz="1600" dirty="0"/>
              <a:t>KBD</a:t>
            </a:r>
          </a:p>
        </p:txBody>
      </p:sp>
      <p:sp>
        <p:nvSpPr>
          <p:cNvPr id="174" name="Rectangle 173">
            <a:extLst>
              <a:ext uri="{FF2B5EF4-FFF2-40B4-BE49-F238E27FC236}">
                <a16:creationId xmlns:a16="http://schemas.microsoft.com/office/drawing/2014/main" id="{53B27D4E-8C74-A11E-587E-146B3A29CE1B}"/>
              </a:ext>
            </a:extLst>
          </p:cNvPr>
          <p:cNvSpPr/>
          <p:nvPr/>
        </p:nvSpPr>
        <p:spPr>
          <a:xfrm>
            <a:off x="879211" y="4118580"/>
            <a:ext cx="282975" cy="2379566"/>
          </a:xfrm>
          <a:prstGeom prst="rect">
            <a:avLst/>
          </a:prstGeom>
        </p:spPr>
        <p:style>
          <a:lnRef idx="1">
            <a:schemeClr val="accent6"/>
          </a:lnRef>
          <a:fillRef idx="2">
            <a:schemeClr val="accent6"/>
          </a:fillRef>
          <a:effectRef idx="1">
            <a:schemeClr val="accent6"/>
          </a:effectRef>
          <a:fontRef idx="minor">
            <a:schemeClr val="dk1"/>
          </a:fontRef>
        </p:style>
        <p:txBody>
          <a:bodyPr vert="vert" rtlCol="0" anchor="ctr"/>
          <a:lstStyle/>
          <a:p>
            <a:pPr algn="ctr"/>
            <a:r>
              <a:rPr lang="en-US"/>
              <a:t>Data  Bus </a:t>
            </a:r>
          </a:p>
        </p:txBody>
      </p:sp>
      <p:sp>
        <p:nvSpPr>
          <p:cNvPr id="176" name="Arrow: Left 175">
            <a:extLst>
              <a:ext uri="{FF2B5EF4-FFF2-40B4-BE49-F238E27FC236}">
                <a16:creationId xmlns:a16="http://schemas.microsoft.com/office/drawing/2014/main" id="{F123C27C-DB4B-D5BF-65D9-59B7B6CD85B2}"/>
              </a:ext>
            </a:extLst>
          </p:cNvPr>
          <p:cNvSpPr/>
          <p:nvPr/>
        </p:nvSpPr>
        <p:spPr>
          <a:xfrm>
            <a:off x="1267826" y="5341644"/>
            <a:ext cx="580673" cy="365760"/>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schemeClr val="dk1"/>
              </a:solidFill>
            </a:endParaRPr>
          </a:p>
        </p:txBody>
      </p:sp>
      <p:cxnSp>
        <p:nvCxnSpPr>
          <p:cNvPr id="177" name="Connector: Elbow 176">
            <a:extLst>
              <a:ext uri="{FF2B5EF4-FFF2-40B4-BE49-F238E27FC236}">
                <a16:creationId xmlns:a16="http://schemas.microsoft.com/office/drawing/2014/main" id="{AFD3DD1C-0E84-BD87-B507-09DCE21F2CEA}"/>
              </a:ext>
            </a:extLst>
          </p:cNvPr>
          <p:cNvCxnSpPr>
            <a:cxnSpLocks/>
            <a:stCxn id="170" idx="2"/>
            <a:endCxn id="32" idx="3"/>
          </p:cNvCxnSpPr>
          <p:nvPr/>
        </p:nvCxnSpPr>
        <p:spPr>
          <a:xfrm rot="10800000">
            <a:off x="4540003" y="5281192"/>
            <a:ext cx="450632" cy="7187"/>
          </a:xfrm>
          <a:prstGeom prst="bentConnector3">
            <a:avLst>
              <a:gd name="adj1" fmla="val 5000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4" name="TextBox 193">
            <a:extLst>
              <a:ext uri="{FF2B5EF4-FFF2-40B4-BE49-F238E27FC236}">
                <a16:creationId xmlns:a16="http://schemas.microsoft.com/office/drawing/2014/main" id="{323EFC23-2DC4-7722-C721-918DC7A46F15}"/>
              </a:ext>
            </a:extLst>
          </p:cNvPr>
          <p:cNvSpPr txBox="1"/>
          <p:nvPr/>
        </p:nvSpPr>
        <p:spPr>
          <a:xfrm>
            <a:off x="5921206" y="1813820"/>
            <a:ext cx="242374" cy="230832"/>
          </a:xfrm>
          <a:prstGeom prst="rect">
            <a:avLst/>
          </a:prstGeom>
          <a:noFill/>
        </p:spPr>
        <p:txBody>
          <a:bodyPr wrap="none" rtlCol="0">
            <a:spAutoFit/>
          </a:bodyPr>
          <a:lstStyle/>
          <a:p>
            <a:r>
              <a:rPr lang="en-US" sz="900" dirty="0"/>
              <a:t>8</a:t>
            </a:r>
          </a:p>
        </p:txBody>
      </p:sp>
      <p:sp>
        <p:nvSpPr>
          <p:cNvPr id="196" name="TextBox 195">
            <a:extLst>
              <a:ext uri="{FF2B5EF4-FFF2-40B4-BE49-F238E27FC236}">
                <a16:creationId xmlns:a16="http://schemas.microsoft.com/office/drawing/2014/main" id="{1279487C-A60A-6844-05A3-17445DBE6EBE}"/>
              </a:ext>
            </a:extLst>
          </p:cNvPr>
          <p:cNvSpPr txBox="1"/>
          <p:nvPr/>
        </p:nvSpPr>
        <p:spPr>
          <a:xfrm>
            <a:off x="5508539" y="1789352"/>
            <a:ext cx="242374" cy="230832"/>
          </a:xfrm>
          <a:prstGeom prst="rect">
            <a:avLst/>
          </a:prstGeom>
          <a:noFill/>
        </p:spPr>
        <p:txBody>
          <a:bodyPr wrap="none" rtlCol="0">
            <a:spAutoFit/>
          </a:bodyPr>
          <a:lstStyle/>
          <a:p>
            <a:r>
              <a:rPr lang="en-US" sz="900" dirty="0"/>
              <a:t>9</a:t>
            </a:r>
          </a:p>
        </p:txBody>
      </p:sp>
      <p:sp>
        <p:nvSpPr>
          <p:cNvPr id="212" name="TextBox 211">
            <a:extLst>
              <a:ext uri="{FF2B5EF4-FFF2-40B4-BE49-F238E27FC236}">
                <a16:creationId xmlns:a16="http://schemas.microsoft.com/office/drawing/2014/main" id="{8069AE80-5044-B1CD-28AF-ED143751C17E}"/>
              </a:ext>
            </a:extLst>
          </p:cNvPr>
          <p:cNvSpPr txBox="1"/>
          <p:nvPr/>
        </p:nvSpPr>
        <p:spPr>
          <a:xfrm>
            <a:off x="7200907" y="3329090"/>
            <a:ext cx="242374" cy="230832"/>
          </a:xfrm>
          <a:prstGeom prst="rect">
            <a:avLst/>
          </a:prstGeom>
          <a:noFill/>
        </p:spPr>
        <p:txBody>
          <a:bodyPr wrap="none" rtlCol="0">
            <a:spAutoFit/>
          </a:bodyPr>
          <a:lstStyle/>
          <a:p>
            <a:r>
              <a:rPr lang="en-US" sz="900" dirty="0"/>
              <a:t>1</a:t>
            </a:r>
          </a:p>
        </p:txBody>
      </p:sp>
      <p:sp>
        <p:nvSpPr>
          <p:cNvPr id="213" name="TextBox 212">
            <a:extLst>
              <a:ext uri="{FF2B5EF4-FFF2-40B4-BE49-F238E27FC236}">
                <a16:creationId xmlns:a16="http://schemas.microsoft.com/office/drawing/2014/main" id="{611568E8-6E68-B853-E9EE-95D33160372B}"/>
              </a:ext>
            </a:extLst>
          </p:cNvPr>
          <p:cNvSpPr txBox="1"/>
          <p:nvPr/>
        </p:nvSpPr>
        <p:spPr>
          <a:xfrm>
            <a:off x="6909513" y="3322198"/>
            <a:ext cx="242374" cy="230832"/>
          </a:xfrm>
          <a:prstGeom prst="rect">
            <a:avLst/>
          </a:prstGeom>
          <a:noFill/>
        </p:spPr>
        <p:txBody>
          <a:bodyPr wrap="none" rtlCol="0">
            <a:spAutoFit/>
          </a:bodyPr>
          <a:lstStyle/>
          <a:p>
            <a:r>
              <a:rPr lang="en-US" sz="900" dirty="0"/>
              <a:t>2</a:t>
            </a:r>
          </a:p>
        </p:txBody>
      </p:sp>
      <p:pic>
        <p:nvPicPr>
          <p:cNvPr id="214" name="Picture 213">
            <a:extLst>
              <a:ext uri="{FF2B5EF4-FFF2-40B4-BE49-F238E27FC236}">
                <a16:creationId xmlns:a16="http://schemas.microsoft.com/office/drawing/2014/main" id="{854830D3-9606-0117-1546-48174366B5E2}"/>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65790" t="23028" r="7330" b="48750"/>
          <a:stretch/>
        </p:blipFill>
        <p:spPr>
          <a:xfrm rot="10800000">
            <a:off x="6196468" y="3287193"/>
            <a:ext cx="778849" cy="604563"/>
          </a:xfrm>
          <a:prstGeom prst="rect">
            <a:avLst/>
          </a:prstGeom>
          <a:solidFill>
            <a:schemeClr val="bg1"/>
          </a:solidFill>
        </p:spPr>
      </p:pic>
      <p:sp>
        <p:nvSpPr>
          <p:cNvPr id="195" name="TextBox 194">
            <a:extLst>
              <a:ext uri="{FF2B5EF4-FFF2-40B4-BE49-F238E27FC236}">
                <a16:creationId xmlns:a16="http://schemas.microsoft.com/office/drawing/2014/main" id="{AE33BEA6-F963-8977-F8AD-38D20D67F2FD}"/>
              </a:ext>
            </a:extLst>
          </p:cNvPr>
          <p:cNvSpPr txBox="1"/>
          <p:nvPr/>
        </p:nvSpPr>
        <p:spPr>
          <a:xfrm>
            <a:off x="6801506" y="3322198"/>
            <a:ext cx="242374" cy="230832"/>
          </a:xfrm>
          <a:prstGeom prst="rect">
            <a:avLst/>
          </a:prstGeom>
          <a:noFill/>
        </p:spPr>
        <p:txBody>
          <a:bodyPr wrap="none" rtlCol="0">
            <a:spAutoFit/>
          </a:bodyPr>
          <a:lstStyle/>
          <a:p>
            <a:r>
              <a:rPr lang="en-US" sz="900" dirty="0"/>
              <a:t>1</a:t>
            </a:r>
          </a:p>
        </p:txBody>
      </p:sp>
      <p:sp>
        <p:nvSpPr>
          <p:cNvPr id="217" name="TextBox 216">
            <a:extLst>
              <a:ext uri="{FF2B5EF4-FFF2-40B4-BE49-F238E27FC236}">
                <a16:creationId xmlns:a16="http://schemas.microsoft.com/office/drawing/2014/main" id="{9B4480F8-CDD8-6AB9-5828-5B2B16D737E2}"/>
              </a:ext>
            </a:extLst>
          </p:cNvPr>
          <p:cNvSpPr txBox="1"/>
          <p:nvPr/>
        </p:nvSpPr>
        <p:spPr>
          <a:xfrm>
            <a:off x="6167978" y="3406585"/>
            <a:ext cx="242374" cy="230832"/>
          </a:xfrm>
          <a:prstGeom prst="rect">
            <a:avLst/>
          </a:prstGeom>
          <a:noFill/>
        </p:spPr>
        <p:txBody>
          <a:bodyPr wrap="none" rtlCol="0">
            <a:spAutoFit/>
          </a:bodyPr>
          <a:lstStyle/>
          <a:p>
            <a:r>
              <a:rPr lang="en-US" sz="900" dirty="0"/>
              <a:t>3</a:t>
            </a:r>
          </a:p>
        </p:txBody>
      </p:sp>
      <p:cxnSp>
        <p:nvCxnSpPr>
          <p:cNvPr id="218" name="Connector: Elbow 217">
            <a:extLst>
              <a:ext uri="{FF2B5EF4-FFF2-40B4-BE49-F238E27FC236}">
                <a16:creationId xmlns:a16="http://schemas.microsoft.com/office/drawing/2014/main" id="{B2AB5125-6466-9E12-E5FC-0475F3927374}"/>
              </a:ext>
            </a:extLst>
          </p:cNvPr>
          <p:cNvCxnSpPr>
            <a:cxnSpLocks/>
            <a:stCxn id="150" idx="6"/>
            <a:endCxn id="211" idx="1"/>
          </p:cNvCxnSpPr>
          <p:nvPr/>
        </p:nvCxnSpPr>
        <p:spPr>
          <a:xfrm>
            <a:off x="5542001" y="2354295"/>
            <a:ext cx="1795935" cy="1161408"/>
          </a:xfrm>
          <a:prstGeom prst="bentConnector3">
            <a:avLst>
              <a:gd name="adj1" fmla="val 112729"/>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0" name="Connector: Elbow 229">
            <a:extLst>
              <a:ext uri="{FF2B5EF4-FFF2-40B4-BE49-F238E27FC236}">
                <a16:creationId xmlns:a16="http://schemas.microsoft.com/office/drawing/2014/main" id="{795582DD-4319-27FD-5B22-D73F40DB578B}"/>
              </a:ext>
            </a:extLst>
          </p:cNvPr>
          <p:cNvCxnSpPr>
            <a:cxnSpLocks/>
            <a:stCxn id="214" idx="3"/>
            <a:endCxn id="33" idx="3"/>
          </p:cNvCxnSpPr>
          <p:nvPr/>
        </p:nvCxnSpPr>
        <p:spPr>
          <a:xfrm rot="10800000" flipV="1">
            <a:off x="4540004" y="3589474"/>
            <a:ext cx="1656465" cy="2020742"/>
          </a:xfrm>
          <a:prstGeom prst="bentConnector3">
            <a:avLst>
              <a:gd name="adj1" fmla="val 50000"/>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33" name="Connector: Elbow 232">
            <a:extLst>
              <a:ext uri="{FF2B5EF4-FFF2-40B4-BE49-F238E27FC236}">
                <a16:creationId xmlns:a16="http://schemas.microsoft.com/office/drawing/2014/main" id="{47E80369-8806-59F4-801F-8E1522692761}"/>
              </a:ext>
            </a:extLst>
          </p:cNvPr>
          <p:cNvCxnSpPr>
            <a:cxnSpLocks/>
            <a:stCxn id="214" idx="3"/>
            <a:endCxn id="19" idx="3"/>
          </p:cNvCxnSpPr>
          <p:nvPr/>
        </p:nvCxnSpPr>
        <p:spPr>
          <a:xfrm rot="10800000">
            <a:off x="4567922" y="2717388"/>
            <a:ext cx="1628546" cy="872087"/>
          </a:xfrm>
          <a:prstGeom prst="bentConnector3">
            <a:avLst>
              <a:gd name="adj1" fmla="val 50000"/>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38" name="TextBox 237">
            <a:extLst>
              <a:ext uri="{FF2B5EF4-FFF2-40B4-BE49-F238E27FC236}">
                <a16:creationId xmlns:a16="http://schemas.microsoft.com/office/drawing/2014/main" id="{0207CD66-9396-72B1-B225-5F525D7D8238}"/>
              </a:ext>
            </a:extLst>
          </p:cNvPr>
          <p:cNvSpPr txBox="1"/>
          <p:nvPr/>
        </p:nvSpPr>
        <p:spPr>
          <a:xfrm>
            <a:off x="8199372" y="3522001"/>
            <a:ext cx="4065537" cy="2092881"/>
          </a:xfrm>
          <a:prstGeom prst="rect">
            <a:avLst/>
          </a:prstGeom>
          <a:noFill/>
        </p:spPr>
        <p:txBody>
          <a:bodyPr wrap="none" rtlCol="0">
            <a:spAutoFit/>
          </a:bodyPr>
          <a:lstStyle/>
          <a:p>
            <a:r>
              <a:rPr lang="en-US" sz="1000" dirty="0"/>
              <a:t>Notes:</a:t>
            </a:r>
          </a:p>
          <a:p>
            <a:pPr marL="228600" indent="-228600">
              <a:buFont typeface="+mj-lt"/>
              <a:buAutoNum type="arabicPeriod"/>
            </a:pPr>
            <a:r>
              <a:rPr lang="en-US" sz="1000" dirty="0"/>
              <a:t>The format of the character is 1 READY bit followed by 8b char</a:t>
            </a:r>
          </a:p>
          <a:p>
            <a:pPr marL="228600" indent="-228600">
              <a:buFont typeface="+mj-lt"/>
              <a:buAutoNum type="arabicPeriod"/>
            </a:pPr>
            <a:r>
              <a:rPr lang="en-US" sz="1000" dirty="0"/>
              <a:t>Once the READY bit reaches the 9</a:t>
            </a:r>
            <a:r>
              <a:rPr lang="en-US" sz="1000" baseline="30000" dirty="0"/>
              <a:t>th</a:t>
            </a:r>
            <a:r>
              <a:rPr lang="en-US" sz="1000" dirty="0"/>
              <a:t> spot (RDY Q0) the Char is ready</a:t>
            </a:r>
          </a:p>
          <a:p>
            <a:pPr marL="228600" indent="-228600">
              <a:buFont typeface="+mj-lt"/>
              <a:buAutoNum type="arabicPeriod"/>
            </a:pPr>
            <a:r>
              <a:rPr lang="en-US" sz="1000" dirty="0"/>
              <a:t>Once Ready, the Read to KBD generate #OE and the Char is out</a:t>
            </a:r>
          </a:p>
          <a:p>
            <a:pPr marL="228600" indent="-228600">
              <a:buFont typeface="+mj-lt"/>
              <a:buAutoNum type="arabicPeriod"/>
            </a:pPr>
            <a:r>
              <a:rPr lang="en-US" sz="1000" dirty="0"/>
              <a:t>If there is no Char, the #OE does not happen, and the CPU read 0</a:t>
            </a:r>
          </a:p>
          <a:p>
            <a:pPr marL="228600" indent="-228600">
              <a:buFont typeface="+mj-lt"/>
              <a:buAutoNum type="arabicPeriod"/>
            </a:pPr>
            <a:r>
              <a:rPr lang="en-US" sz="1000" dirty="0"/>
              <a:t>CPU ignores 0 as it is not an ASCII</a:t>
            </a:r>
          </a:p>
          <a:p>
            <a:pPr marL="228600" indent="-228600">
              <a:buFont typeface="+mj-lt"/>
              <a:buAutoNum type="arabicPeriod"/>
            </a:pPr>
            <a:r>
              <a:rPr lang="en-US" sz="1000" dirty="0"/>
              <a:t>The #OE also generates a reset that empty the SR but not the register</a:t>
            </a:r>
          </a:p>
          <a:p>
            <a:pPr marL="228600" indent="-228600">
              <a:buFont typeface="+mj-lt"/>
              <a:buAutoNum type="arabicPeriod"/>
            </a:pPr>
            <a:r>
              <a:rPr lang="en-US" sz="1000" dirty="0"/>
              <a:t>The end of the #OE generates a Reg clk (RCL),  to load 0 to the register</a:t>
            </a:r>
          </a:p>
          <a:p>
            <a:pPr marL="228600" indent="-228600">
              <a:buFont typeface="+mj-lt"/>
              <a:buAutoNum type="arabicPeriod"/>
            </a:pPr>
            <a:r>
              <a:rPr lang="en-US" sz="1000" dirty="0"/>
              <a:t>The clock of the SR is inversed as clock to the Register (RCL) </a:t>
            </a:r>
            <a:br>
              <a:rPr lang="en-US" sz="1000" dirty="0"/>
            </a:br>
            <a:r>
              <a:rPr lang="en-US" sz="1000" dirty="0"/>
              <a:t>(if not inverted, the register get the previous SR)</a:t>
            </a:r>
          </a:p>
          <a:p>
            <a:pPr marL="228600" indent="-228600">
              <a:buFont typeface="+mj-lt"/>
              <a:buAutoNum type="arabicPeriod"/>
            </a:pPr>
            <a:r>
              <a:rPr lang="en-US" sz="1000" dirty="0"/>
              <a:t>The RCL combines both clock and #OE through OR 123</a:t>
            </a:r>
          </a:p>
          <a:p>
            <a:pPr marL="228600" indent="-228600">
              <a:buFont typeface="+mj-lt"/>
              <a:buAutoNum type="arabicPeriod"/>
            </a:pPr>
            <a:r>
              <a:rPr lang="en-US" sz="1000" dirty="0"/>
              <a:t>It is important that the clock from the display is 0 when not active </a:t>
            </a:r>
            <a:br>
              <a:rPr lang="en-US" sz="1000" dirty="0"/>
            </a:br>
            <a:r>
              <a:rPr lang="en-US" sz="1000" dirty="0"/>
              <a:t>so it wont block the OR.</a:t>
            </a:r>
          </a:p>
        </p:txBody>
      </p:sp>
      <p:cxnSp>
        <p:nvCxnSpPr>
          <p:cNvPr id="247" name="Connector: Elbow 246">
            <a:extLst>
              <a:ext uri="{FF2B5EF4-FFF2-40B4-BE49-F238E27FC236}">
                <a16:creationId xmlns:a16="http://schemas.microsoft.com/office/drawing/2014/main" id="{DA1E0CE8-35B4-E6F8-938D-1909A2F16708}"/>
              </a:ext>
            </a:extLst>
          </p:cNvPr>
          <p:cNvCxnSpPr>
            <a:cxnSpLocks/>
            <a:stCxn id="151" idx="0"/>
            <a:endCxn id="243" idx="3"/>
          </p:cNvCxnSpPr>
          <p:nvPr/>
        </p:nvCxnSpPr>
        <p:spPr>
          <a:xfrm rot="5400000" flipH="1" flipV="1">
            <a:off x="5533194" y="4238402"/>
            <a:ext cx="1970412" cy="880380"/>
          </a:xfrm>
          <a:prstGeom prst="bentConnector4">
            <a:avLst>
              <a:gd name="adj1" fmla="val 48522"/>
              <a:gd name="adj2" fmla="val 125966"/>
            </a:avLst>
          </a:prstGeom>
          <a:ln>
            <a:tailEnd type="triangle"/>
          </a:ln>
        </p:spPr>
        <p:style>
          <a:lnRef idx="1">
            <a:schemeClr val="accent1"/>
          </a:lnRef>
          <a:fillRef idx="0">
            <a:schemeClr val="accent1"/>
          </a:fillRef>
          <a:effectRef idx="0">
            <a:schemeClr val="accent1"/>
          </a:effectRef>
          <a:fontRef idx="minor">
            <a:schemeClr val="tx1"/>
          </a:fontRef>
        </p:style>
      </p:cxnSp>
      <p:sp>
        <p:nvSpPr>
          <p:cNvPr id="216" name="TextBox 215">
            <a:extLst>
              <a:ext uri="{FF2B5EF4-FFF2-40B4-BE49-F238E27FC236}">
                <a16:creationId xmlns:a16="http://schemas.microsoft.com/office/drawing/2014/main" id="{5A033FEA-6AF6-9FC7-E3D4-990252F2E585}"/>
              </a:ext>
            </a:extLst>
          </p:cNvPr>
          <p:cNvSpPr txBox="1"/>
          <p:nvPr/>
        </p:nvSpPr>
        <p:spPr>
          <a:xfrm>
            <a:off x="6802054" y="3489526"/>
            <a:ext cx="242374" cy="230832"/>
          </a:xfrm>
          <a:prstGeom prst="rect">
            <a:avLst/>
          </a:prstGeom>
          <a:noFill/>
        </p:spPr>
        <p:txBody>
          <a:bodyPr wrap="none" rtlCol="0">
            <a:spAutoFit/>
          </a:bodyPr>
          <a:lstStyle/>
          <a:p>
            <a:r>
              <a:rPr lang="en-US" sz="900" dirty="0"/>
              <a:t>2</a:t>
            </a:r>
          </a:p>
        </p:txBody>
      </p:sp>
      <p:cxnSp>
        <p:nvCxnSpPr>
          <p:cNvPr id="25" name="Connector: Elbow 24">
            <a:extLst>
              <a:ext uri="{FF2B5EF4-FFF2-40B4-BE49-F238E27FC236}">
                <a16:creationId xmlns:a16="http://schemas.microsoft.com/office/drawing/2014/main" id="{BC58A723-78B7-8254-9A2A-5FE6FEE361C6}"/>
              </a:ext>
            </a:extLst>
          </p:cNvPr>
          <p:cNvCxnSpPr>
            <a:cxnSpLocks/>
            <a:stCxn id="27" idx="3"/>
            <a:endCxn id="14" idx="3"/>
          </p:cNvCxnSpPr>
          <p:nvPr/>
        </p:nvCxnSpPr>
        <p:spPr>
          <a:xfrm flipV="1">
            <a:off x="4546353" y="2066525"/>
            <a:ext cx="21569" cy="4564819"/>
          </a:xfrm>
          <a:prstGeom prst="bentConnector3">
            <a:avLst>
              <a:gd name="adj1" fmla="val 312189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Connector: Elbow 88">
            <a:extLst>
              <a:ext uri="{FF2B5EF4-FFF2-40B4-BE49-F238E27FC236}">
                <a16:creationId xmlns:a16="http://schemas.microsoft.com/office/drawing/2014/main" id="{69DB359E-3C70-73D3-E1A3-30B9E8FFD9A7}"/>
              </a:ext>
            </a:extLst>
          </p:cNvPr>
          <p:cNvCxnSpPr>
            <a:cxnSpLocks/>
            <a:stCxn id="35" idx="3"/>
            <a:endCxn id="24" idx="3"/>
          </p:cNvCxnSpPr>
          <p:nvPr/>
        </p:nvCxnSpPr>
        <p:spPr>
          <a:xfrm flipV="1">
            <a:off x="4540003" y="3368249"/>
            <a:ext cx="27919" cy="2900017"/>
          </a:xfrm>
          <a:prstGeom prst="bentConnector3">
            <a:avLst>
              <a:gd name="adj1" fmla="val 1703757"/>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80" name="Group 179">
            <a:extLst>
              <a:ext uri="{FF2B5EF4-FFF2-40B4-BE49-F238E27FC236}">
                <a16:creationId xmlns:a16="http://schemas.microsoft.com/office/drawing/2014/main" id="{3D173823-67FC-1E35-1936-D658EC8331A2}"/>
              </a:ext>
            </a:extLst>
          </p:cNvPr>
          <p:cNvGrpSpPr/>
          <p:nvPr/>
        </p:nvGrpSpPr>
        <p:grpSpPr>
          <a:xfrm>
            <a:off x="5476209" y="3414365"/>
            <a:ext cx="636933" cy="304495"/>
            <a:chOff x="8558644" y="4083964"/>
            <a:chExt cx="636933" cy="304495"/>
          </a:xfrm>
        </p:grpSpPr>
        <p:pic>
          <p:nvPicPr>
            <p:cNvPr id="10" name="Picture 9" descr="Diagram&#10;&#10;Description automatically generated with low confidence">
              <a:extLst>
                <a:ext uri="{FF2B5EF4-FFF2-40B4-BE49-F238E27FC236}">
                  <a16:creationId xmlns:a16="http://schemas.microsoft.com/office/drawing/2014/main" id="{C6E08BCC-5653-DC5A-91F3-4DACA420A754}"/>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t="-3588" r="58979" b="29396"/>
            <a:stretch/>
          </p:blipFill>
          <p:spPr>
            <a:xfrm flipH="1">
              <a:off x="8677417" y="4132032"/>
              <a:ext cx="362619" cy="256427"/>
            </a:xfrm>
            <a:prstGeom prst="rect">
              <a:avLst/>
            </a:prstGeom>
            <a:solidFill>
              <a:schemeClr val="bg1"/>
            </a:solidFill>
          </p:spPr>
        </p:pic>
        <p:sp>
          <p:nvSpPr>
            <p:cNvPr id="159" name="TextBox 158">
              <a:extLst>
                <a:ext uri="{FF2B5EF4-FFF2-40B4-BE49-F238E27FC236}">
                  <a16:creationId xmlns:a16="http://schemas.microsoft.com/office/drawing/2014/main" id="{176DAA07-ED5B-EBFC-BD10-3708E3FF0B22}"/>
                </a:ext>
              </a:extLst>
            </p:cNvPr>
            <p:cNvSpPr txBox="1"/>
            <p:nvPr/>
          </p:nvSpPr>
          <p:spPr>
            <a:xfrm>
              <a:off x="8895495" y="4083964"/>
              <a:ext cx="300082" cy="230832"/>
            </a:xfrm>
            <a:prstGeom prst="rect">
              <a:avLst/>
            </a:prstGeom>
            <a:noFill/>
          </p:spPr>
          <p:txBody>
            <a:bodyPr wrap="none" rtlCol="0">
              <a:spAutoFit/>
            </a:bodyPr>
            <a:lstStyle/>
            <a:p>
              <a:r>
                <a:rPr lang="en-US" sz="900" dirty="0"/>
                <a:t>13</a:t>
              </a:r>
            </a:p>
          </p:txBody>
        </p:sp>
        <p:sp>
          <p:nvSpPr>
            <p:cNvPr id="160" name="TextBox 159">
              <a:extLst>
                <a:ext uri="{FF2B5EF4-FFF2-40B4-BE49-F238E27FC236}">
                  <a16:creationId xmlns:a16="http://schemas.microsoft.com/office/drawing/2014/main" id="{D2FCF1FC-BC43-5A5F-1B6D-10AA649FFD95}"/>
                </a:ext>
              </a:extLst>
            </p:cNvPr>
            <p:cNvSpPr txBox="1"/>
            <p:nvPr/>
          </p:nvSpPr>
          <p:spPr>
            <a:xfrm>
              <a:off x="8558644" y="4083964"/>
              <a:ext cx="300082" cy="230832"/>
            </a:xfrm>
            <a:prstGeom prst="rect">
              <a:avLst/>
            </a:prstGeom>
            <a:noFill/>
          </p:spPr>
          <p:txBody>
            <a:bodyPr wrap="none" rtlCol="0">
              <a:spAutoFit/>
            </a:bodyPr>
            <a:lstStyle/>
            <a:p>
              <a:r>
                <a:rPr lang="en-US" sz="900" dirty="0"/>
                <a:t>12</a:t>
              </a:r>
            </a:p>
          </p:txBody>
        </p:sp>
      </p:grpSp>
    </p:spTree>
    <p:extLst>
      <p:ext uri="{BB962C8B-B14F-4D97-AF65-F5344CB8AC3E}">
        <p14:creationId xmlns:p14="http://schemas.microsoft.com/office/powerpoint/2010/main" val="28106383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1096DC7C-89BE-BA4B-8B51-D5934B84585A}"/>
              </a:ext>
            </a:extLst>
          </p:cNvPr>
          <p:cNvSpPr>
            <a:spLocks noGrp="1"/>
          </p:cNvSpPr>
          <p:nvPr>
            <p:ph type="ctrTitle"/>
          </p:nvPr>
        </p:nvSpPr>
        <p:spPr>
          <a:xfrm>
            <a:off x="914400" y="182880"/>
            <a:ext cx="3840480" cy="457200"/>
          </a:xfrm>
        </p:spPr>
        <p:txBody>
          <a:bodyPr/>
          <a:lstStyle/>
          <a:p>
            <a:r>
              <a:rPr lang="en-US"/>
              <a:t>Instruction set (v2.0)</a:t>
            </a:r>
          </a:p>
        </p:txBody>
      </p:sp>
      <p:graphicFrame>
        <p:nvGraphicFramePr>
          <p:cNvPr id="6" name="Table 6">
            <a:extLst>
              <a:ext uri="{FF2B5EF4-FFF2-40B4-BE49-F238E27FC236}">
                <a16:creationId xmlns:a16="http://schemas.microsoft.com/office/drawing/2014/main" id="{B69B0FE0-152E-4AE3-86E0-8D1D6A8843E4}"/>
              </a:ext>
            </a:extLst>
          </p:cNvPr>
          <p:cNvGraphicFramePr>
            <a:graphicFrameLocks noGrp="1"/>
          </p:cNvGraphicFramePr>
          <p:nvPr>
            <p:extLst>
              <p:ext uri="{D42A27DB-BD31-4B8C-83A1-F6EECF244321}">
                <p14:modId xmlns:p14="http://schemas.microsoft.com/office/powerpoint/2010/main" val="154306019"/>
              </p:ext>
            </p:extLst>
          </p:nvPr>
        </p:nvGraphicFramePr>
        <p:xfrm>
          <a:off x="763069" y="691687"/>
          <a:ext cx="8128002" cy="5984902"/>
        </p:xfrm>
        <a:graphic>
          <a:graphicData uri="http://schemas.openxmlformats.org/drawingml/2006/table">
            <a:tbl>
              <a:tblPr firstRow="1" bandRow="1">
                <a:tableStyleId>{5C22544A-7EE6-4342-B048-85BDC9FD1C3A}</a:tableStyleId>
              </a:tblPr>
              <a:tblGrid>
                <a:gridCol w="668171">
                  <a:extLst>
                    <a:ext uri="{9D8B030D-6E8A-4147-A177-3AD203B41FA5}">
                      <a16:colId xmlns:a16="http://schemas.microsoft.com/office/drawing/2014/main" val="2453504952"/>
                    </a:ext>
                  </a:extLst>
                </a:gridCol>
                <a:gridCol w="2609407">
                  <a:extLst>
                    <a:ext uri="{9D8B030D-6E8A-4147-A177-3AD203B41FA5}">
                      <a16:colId xmlns:a16="http://schemas.microsoft.com/office/drawing/2014/main" val="4034550085"/>
                    </a:ext>
                  </a:extLst>
                </a:gridCol>
                <a:gridCol w="4850424">
                  <a:extLst>
                    <a:ext uri="{9D8B030D-6E8A-4147-A177-3AD203B41FA5}">
                      <a16:colId xmlns:a16="http://schemas.microsoft.com/office/drawing/2014/main" val="2366930874"/>
                    </a:ext>
                  </a:extLst>
                </a:gridCol>
              </a:tblGrid>
              <a:tr h="154173">
                <a:tc>
                  <a:txBody>
                    <a:bodyPr/>
                    <a:lstStyle/>
                    <a:p>
                      <a:r>
                        <a:rPr lang="en-US" sz="1000" dirty="0"/>
                        <a:t>Op code</a:t>
                      </a:r>
                    </a:p>
                  </a:txBody>
                  <a:tcPr marT="18288" marB="18288"/>
                </a:tc>
                <a:tc>
                  <a:txBody>
                    <a:bodyPr/>
                    <a:lstStyle/>
                    <a:p>
                      <a:r>
                        <a:rPr lang="en-US" sz="1000"/>
                        <a:t>Instruction</a:t>
                      </a:r>
                    </a:p>
                  </a:txBody>
                  <a:tcPr marT="18288" marB="18288">
                    <a:lnB w="12700" cap="flat" cmpd="sng" algn="ctr">
                      <a:solidFill>
                        <a:schemeClr val="accent1">
                          <a:lumMod val="75000"/>
                        </a:schemeClr>
                      </a:solidFill>
                      <a:prstDash val="solid"/>
                      <a:round/>
                      <a:headEnd type="none" w="med" len="med"/>
                      <a:tailEnd type="none" w="med" len="med"/>
                    </a:lnB>
                  </a:tcPr>
                </a:tc>
                <a:tc>
                  <a:txBody>
                    <a:bodyPr/>
                    <a:lstStyle/>
                    <a:p>
                      <a:r>
                        <a:rPr lang="en-US" sz="1000" dirty="0"/>
                        <a:t>Details</a:t>
                      </a:r>
                    </a:p>
                  </a:txBody>
                  <a:tcPr marT="18288" marB="18288">
                    <a:lnB w="12700" cap="flat" cmpd="sng" algn="ctr">
                      <a:solidFill>
                        <a:schemeClr val="accent1">
                          <a:lumMod val="75000"/>
                        </a:schemeClr>
                      </a:solidFill>
                      <a:prstDash val="solid"/>
                      <a:round/>
                      <a:headEnd type="none" w="med" len="med"/>
                      <a:tailEnd type="none" w="med" len="med"/>
                    </a:lnB>
                  </a:tcPr>
                </a:tc>
                <a:extLst>
                  <a:ext uri="{0D108BD9-81ED-4DB2-BD59-A6C34878D82A}">
                    <a16:rowId xmlns:a16="http://schemas.microsoft.com/office/drawing/2014/main" val="3598191119"/>
                  </a:ext>
                </a:extLst>
              </a:tr>
              <a:tr h="154173">
                <a:tc>
                  <a:txBody>
                    <a:bodyPr/>
                    <a:lstStyle/>
                    <a:p>
                      <a:r>
                        <a:rPr lang="en-US" sz="1000"/>
                        <a:t>0x00</a:t>
                      </a:r>
                    </a:p>
                  </a:txBody>
                  <a:tcPr marT="18288" marB="18288">
                    <a:lnR w="12700" cap="flat" cmpd="sng" algn="ctr">
                      <a:solidFill>
                        <a:schemeClr val="accent1">
                          <a:lumMod val="75000"/>
                        </a:schemeClr>
                      </a:solidFill>
                      <a:prstDash val="solid"/>
                      <a:round/>
                      <a:headEnd type="none" w="med" len="med"/>
                      <a:tailEnd type="none" w="med" len="med"/>
                    </a:lnR>
                  </a:tcPr>
                </a:tc>
                <a:tc>
                  <a:txBody>
                    <a:bodyPr/>
                    <a:lstStyle/>
                    <a:p>
                      <a:r>
                        <a:rPr lang="en-US" sz="1000" dirty="0">
                          <a:hlinkClick r:id="rId2" action="ppaction://hlinksldjump"/>
                        </a:rPr>
                        <a:t>NOP</a:t>
                      </a:r>
                      <a:endParaRPr lang="en-US" sz="1000" dirty="0"/>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chemeClr val="accent6">
                        <a:lumMod val="40000"/>
                        <a:lumOff val="60000"/>
                      </a:schemeClr>
                    </a:solidFill>
                  </a:tcPr>
                </a:tc>
                <a:tc>
                  <a:txBody>
                    <a:bodyPr/>
                    <a:lstStyle/>
                    <a:p>
                      <a:r>
                        <a:rPr lang="en-US" sz="1000" dirty="0"/>
                        <a:t>No operation</a:t>
                      </a:r>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723224024"/>
                  </a:ext>
                </a:extLst>
              </a:tr>
              <a:tr h="154173">
                <a:tc>
                  <a:txBody>
                    <a:bodyPr/>
                    <a:lstStyle/>
                    <a:p>
                      <a:r>
                        <a:rPr lang="en-US" sz="1000"/>
                        <a:t>0x01</a:t>
                      </a:r>
                    </a:p>
                  </a:txBody>
                  <a:tcPr marT="18288" marB="18288">
                    <a:lnR w="12700" cap="flat" cmpd="sng" algn="ctr">
                      <a:solidFill>
                        <a:schemeClr val="accent1">
                          <a:lumMod val="75000"/>
                        </a:schemeClr>
                      </a:solidFill>
                      <a:prstDash val="solid"/>
                      <a:round/>
                      <a:headEnd type="none" w="med" len="med"/>
                      <a:tailEnd type="none" w="med" len="med"/>
                    </a:lnR>
                  </a:tcPr>
                </a:tc>
                <a:tc>
                  <a:txBody>
                    <a:bodyPr/>
                    <a:lstStyle/>
                    <a:p>
                      <a:r>
                        <a:rPr lang="en-US" sz="1000" dirty="0">
                          <a:hlinkClick r:id="rId3" action="ppaction://hlinksldjump"/>
                        </a:rPr>
                        <a:t>BRK</a:t>
                      </a:r>
                      <a:endParaRPr lang="en-US" sz="1000" dirty="0"/>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chemeClr val="accent6">
                        <a:lumMod val="40000"/>
                        <a:lumOff val="60000"/>
                      </a:schemeClr>
                    </a:solidFill>
                  </a:tcPr>
                </a:tc>
                <a:tc>
                  <a:txBody>
                    <a:bodyPr/>
                    <a:lstStyle/>
                    <a:p>
                      <a:r>
                        <a:rPr lang="en-US" sz="1000" dirty="0"/>
                        <a:t>Halt the </a:t>
                      </a:r>
                      <a:r>
                        <a:rPr lang="en-US" sz="1000" dirty="0">
                          <a:solidFill>
                            <a:schemeClr val="tx1"/>
                          </a:solidFill>
                        </a:rPr>
                        <a:t>program</a:t>
                      </a:r>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805155652"/>
                  </a:ext>
                </a:extLst>
              </a:tr>
              <a:tr h="279663">
                <a:tc>
                  <a:txBody>
                    <a:bodyPr/>
                    <a:lstStyle/>
                    <a:p>
                      <a:r>
                        <a:rPr lang="en-US" sz="1000"/>
                        <a:t>0x02</a:t>
                      </a:r>
                    </a:p>
                  </a:txBody>
                  <a:tcPr marT="18288" marB="18288">
                    <a:lnR w="12700" cap="flat" cmpd="sng" algn="ctr">
                      <a:solidFill>
                        <a:schemeClr val="accent1">
                          <a:lumMod val="75000"/>
                        </a:schemeClr>
                      </a:solidFill>
                      <a:prstDash val="solid"/>
                      <a:round/>
                      <a:headEnd type="none" w="med" len="med"/>
                      <a:tailEnd type="none" w="med" len="med"/>
                    </a:lnR>
                  </a:tcPr>
                </a:tc>
                <a:tc>
                  <a:txBody>
                    <a:bodyPr/>
                    <a:lstStyle/>
                    <a:p>
                      <a:r>
                        <a:rPr lang="en-US" sz="1000" dirty="0">
                          <a:hlinkClick r:id="rId4" action="ppaction://hlinksldjump"/>
                        </a:rPr>
                        <a:t>ALU</a:t>
                      </a:r>
                      <a:r>
                        <a:rPr lang="en-US" sz="1000" dirty="0"/>
                        <a:t> (Format ALU Rd, Rs1, Rs2)</a:t>
                      </a:r>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chemeClr val="accent6">
                        <a:lumMod val="40000"/>
                        <a:lumOff val="60000"/>
                      </a:schemeClr>
                    </a:solidFill>
                  </a:tcPr>
                </a:tc>
                <a:tc>
                  <a:txBody>
                    <a:bodyPr/>
                    <a:lstStyle/>
                    <a:p>
                      <a:r>
                        <a:rPr lang="en-US" sz="1000" dirty="0"/>
                        <a:t>ALU instruction </a:t>
                      </a:r>
                    </a:p>
                    <a:p>
                      <a:r>
                        <a:rPr lang="en-US" sz="1000" dirty="0"/>
                        <a:t>(OR, AND, XOR, NO</a:t>
                      </a:r>
                      <a:r>
                        <a:rPr lang="en-US" sz="1000" dirty="0">
                          <a:solidFill>
                            <a:schemeClr val="tx1"/>
                          </a:solidFill>
                        </a:rPr>
                        <a:t>T, ADD, SUB, ASL, ROL, LSR, ASR, ROR, </a:t>
                      </a:r>
                      <a:r>
                        <a:rPr lang="en-US" sz="1000" dirty="0"/>
                        <a:t>ADC, SBC)</a:t>
                      </a:r>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922400386"/>
                  </a:ext>
                </a:extLst>
              </a:tr>
              <a:tr h="154173">
                <a:tc>
                  <a:txBody>
                    <a:bodyPr/>
                    <a:lstStyle/>
                    <a:p>
                      <a:r>
                        <a:rPr lang="en-US" sz="1000"/>
                        <a:t>0x03</a:t>
                      </a:r>
                    </a:p>
                  </a:txBody>
                  <a:tcPr marT="18288" marB="18288">
                    <a:lnR w="12700" cap="flat" cmpd="sng" algn="ctr">
                      <a:solidFill>
                        <a:schemeClr val="accent1">
                          <a:lumMod val="75000"/>
                        </a:schemeClr>
                      </a:solidFill>
                      <a:prstDash val="solid"/>
                      <a:round/>
                      <a:headEnd type="none" w="med" len="med"/>
                      <a:tailEnd type="none" w="med" len="med"/>
                    </a:lnR>
                  </a:tcPr>
                </a:tc>
                <a:tc>
                  <a:txBody>
                    <a:bodyPr/>
                    <a:lstStyle/>
                    <a:p>
                      <a:r>
                        <a:rPr lang="en-US" sz="1000" dirty="0"/>
                        <a:t>LDR</a:t>
                      </a:r>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chemeClr val="accent6">
                        <a:lumMod val="40000"/>
                        <a:lumOff val="60000"/>
                      </a:schemeClr>
                    </a:solidFill>
                  </a:tcPr>
                </a:tc>
                <a:tc>
                  <a:txBody>
                    <a:bodyPr/>
                    <a:lstStyle/>
                    <a:p>
                      <a:r>
                        <a:rPr lang="en-US" sz="1000" dirty="0"/>
                        <a:t>Load Register from immediate</a:t>
                      </a:r>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936262272"/>
                  </a:ext>
                </a:extLst>
              </a:tr>
              <a:tr h="154173">
                <a:tc>
                  <a:txBody>
                    <a:bodyPr/>
                    <a:lstStyle/>
                    <a:p>
                      <a:r>
                        <a:rPr lang="en-US" sz="1000"/>
                        <a:t>0x04</a:t>
                      </a:r>
                    </a:p>
                  </a:txBody>
                  <a:tcPr marT="18288" marB="18288">
                    <a:lnR w="12700" cap="flat" cmpd="sng" algn="ctr">
                      <a:solidFill>
                        <a:schemeClr val="accent1">
                          <a:lumMod val="75000"/>
                        </a:schemeClr>
                      </a:solidFill>
                      <a:prstDash val="solid"/>
                      <a:round/>
                      <a:headEnd type="none" w="med" len="med"/>
                      <a:tailEnd type="none" w="med" len="med"/>
                    </a:lnR>
                  </a:tcPr>
                </a:tc>
                <a:tc>
                  <a:txBody>
                    <a:bodyPr/>
                    <a:lstStyle/>
                    <a:p>
                      <a:r>
                        <a:rPr lang="en-US" sz="1000" dirty="0"/>
                        <a:t>MOV</a:t>
                      </a:r>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chemeClr val="accent6">
                        <a:lumMod val="40000"/>
                        <a:lumOff val="60000"/>
                      </a:schemeClr>
                    </a:solidFill>
                  </a:tcPr>
                </a:tc>
                <a:tc>
                  <a:txBody>
                    <a:bodyPr/>
                    <a:lstStyle/>
                    <a:p>
                      <a:r>
                        <a:rPr lang="en-US" sz="1000" dirty="0"/>
                        <a:t>Copy Register (MOV instruction in ARM)</a:t>
                      </a:r>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9230928"/>
                  </a:ext>
                </a:extLst>
              </a:tr>
              <a:tr h="154173">
                <a:tc>
                  <a:txBody>
                    <a:bodyPr/>
                    <a:lstStyle/>
                    <a:p>
                      <a:r>
                        <a:rPr lang="en-US" sz="1000" dirty="0"/>
                        <a:t>0x05</a:t>
                      </a:r>
                    </a:p>
                  </a:txBody>
                  <a:tcPr marT="18288" marB="18288">
                    <a:lnR w="12700" cap="flat" cmpd="sng" algn="ctr">
                      <a:solidFill>
                        <a:schemeClr val="accent1">
                          <a:lumMod val="75000"/>
                        </a:schemeClr>
                      </a:solidFill>
                      <a:prstDash val="solid"/>
                      <a:round/>
                      <a:headEnd type="none" w="med" len="med"/>
                      <a:tailEnd type="none" w="med" len="med"/>
                    </a:lnR>
                  </a:tcPr>
                </a:tc>
                <a:tc>
                  <a:txBody>
                    <a:bodyPr/>
                    <a:lstStyle/>
                    <a:p>
                      <a:pPr lvl="0">
                        <a:buNone/>
                      </a:pPr>
                      <a:r>
                        <a:rPr lang="en-US" sz="1000" dirty="0"/>
                        <a:t>Branch Absolute</a:t>
                      </a:r>
                      <a:endParaRPr lang="en-US" sz="1050" dirty="0"/>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chemeClr val="accent6">
                        <a:lumMod val="40000"/>
                        <a:lumOff val="60000"/>
                      </a:schemeClr>
                    </a:solidFill>
                  </a:tcPr>
                </a:tc>
                <a:tc>
                  <a:txBody>
                    <a:bodyPr/>
                    <a:lstStyle/>
                    <a:p>
                      <a:pPr lvl="0">
                        <a:buNone/>
                      </a:pPr>
                      <a:r>
                        <a:rPr lang="en-US" sz="1000" kern="1200" dirty="0">
                          <a:solidFill>
                            <a:schemeClr val="dk1"/>
                          </a:solidFill>
                          <a:latin typeface="+mn-lt"/>
                          <a:ea typeface="+mn-ea"/>
                          <a:cs typeface="+mn-cs"/>
                        </a:rPr>
                        <a:t>Conditional/Unconditional Jump to a 16-bit address</a:t>
                      </a:r>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647306687"/>
                  </a:ext>
                </a:extLst>
              </a:tr>
              <a:tr h="352198">
                <a:tc>
                  <a:txBody>
                    <a:bodyPr/>
                    <a:lstStyle/>
                    <a:p>
                      <a:r>
                        <a:rPr lang="en-US" sz="1000"/>
                        <a:t>0x06</a:t>
                      </a:r>
                    </a:p>
                  </a:txBody>
                  <a:tcPr marT="18288" marB="18288">
                    <a:lnR w="12700" cap="flat" cmpd="sng" algn="ctr">
                      <a:solidFill>
                        <a:schemeClr val="accent1">
                          <a:lumMod val="75000"/>
                        </a:schemeClr>
                      </a:solidFill>
                      <a:prstDash val="solid"/>
                      <a:round/>
                      <a:headEnd type="none" w="med" len="med"/>
                      <a:tailEnd type="none" w="med" len="med"/>
                    </a:lnR>
                  </a:tcPr>
                </a:tc>
                <a:tc>
                  <a:txBody>
                    <a:bodyPr/>
                    <a:lstStyle/>
                    <a:p>
                      <a:r>
                        <a:rPr lang="en-US" sz="1000" dirty="0"/>
                        <a:t>ALU Immediate </a:t>
                      </a:r>
                    </a:p>
                    <a:p>
                      <a:r>
                        <a:rPr lang="en-US" sz="1000" dirty="0"/>
                        <a:t>(Format: ALU Rd, Rd, </a:t>
                      </a:r>
                      <a:r>
                        <a:rPr lang="en-US" sz="1000" dirty="0" err="1"/>
                        <a:t>imm</a:t>
                      </a:r>
                      <a:r>
                        <a:rPr lang="en-US" sz="1000" dirty="0"/>
                        <a:t>)</a:t>
                      </a:r>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chemeClr val="accent6">
                        <a:lumMod val="40000"/>
                        <a:lumOff val="60000"/>
                      </a:schemeClr>
                    </a:solidFill>
                  </a:tcPr>
                </a:tc>
                <a:tc>
                  <a:txBody>
                    <a:bodyPr/>
                    <a:lstStyle/>
                    <a:p>
                      <a:r>
                        <a:rPr lang="en-US" sz="1000" dirty="0"/>
                        <a:t>ALU instruction with value from immediate</a:t>
                      </a:r>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749180966"/>
                  </a:ext>
                </a:extLst>
              </a:tr>
              <a:tr h="154173">
                <a:tc>
                  <a:txBody>
                    <a:bodyPr/>
                    <a:lstStyle/>
                    <a:p>
                      <a:r>
                        <a:rPr lang="en-US" sz="1000"/>
                        <a:t>0x07</a:t>
                      </a:r>
                    </a:p>
                  </a:txBody>
                  <a:tcPr marT="18288" marB="18288">
                    <a:lnR w="12700" cap="flat" cmpd="sng" algn="ctr">
                      <a:solidFill>
                        <a:schemeClr val="accent1">
                          <a:lumMod val="75000"/>
                        </a:schemeClr>
                      </a:solidFill>
                      <a:prstDash val="solid"/>
                      <a:round/>
                      <a:headEnd type="none" w="med" len="med"/>
                      <a:tailEnd type="none" w="med" len="med"/>
                    </a:lnR>
                  </a:tcPr>
                </a:tc>
                <a:tc>
                  <a:txBody>
                    <a:bodyPr/>
                    <a:lstStyle/>
                    <a:p>
                      <a:endParaRPr lang="en-US" sz="1000" dirty="0"/>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chemeClr val="bg2"/>
                    </a:solidFill>
                  </a:tcPr>
                </a:tc>
                <a:tc>
                  <a:txBody>
                    <a:bodyPr/>
                    <a:lstStyle/>
                    <a:p>
                      <a:endParaRPr lang="en-US" sz="1000" dirty="0"/>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2385156511"/>
                  </a:ext>
                </a:extLst>
              </a:tr>
              <a:tr h="154173">
                <a:tc>
                  <a:txBody>
                    <a:bodyPr/>
                    <a:lstStyle/>
                    <a:p>
                      <a:r>
                        <a:rPr lang="en-US" sz="1000"/>
                        <a:t>0x08</a:t>
                      </a:r>
                    </a:p>
                  </a:txBody>
                  <a:tcPr marT="18288" marB="18288">
                    <a:lnR w="12700" cap="flat" cmpd="sng" algn="ctr">
                      <a:solidFill>
                        <a:schemeClr val="accent1">
                          <a:lumMod val="75000"/>
                        </a:schemeClr>
                      </a:solidFill>
                      <a:prstDash val="solid"/>
                      <a:round/>
                      <a:headEnd type="none" w="med" len="med"/>
                      <a:tailEnd type="none" w="med" len="med"/>
                    </a:lnR>
                  </a:tcPr>
                </a:tc>
                <a:tc>
                  <a:txBody>
                    <a:bodyPr/>
                    <a:lstStyle/>
                    <a:p>
                      <a:pPr lvl="0">
                        <a:buNone/>
                      </a:pPr>
                      <a:r>
                        <a:rPr lang="en-US" sz="1000" dirty="0"/>
                        <a:t>OUT register</a:t>
                      </a:r>
                      <a:endParaRPr lang="en-US" sz="1050" dirty="0"/>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chemeClr val="accent6">
                        <a:lumMod val="40000"/>
                        <a:lumOff val="60000"/>
                      </a:schemeClr>
                    </a:solidFill>
                  </a:tcPr>
                </a:tc>
                <a:tc>
                  <a:txBody>
                    <a:bodyPr/>
                    <a:lstStyle/>
                    <a:p>
                      <a:pPr lvl="0">
                        <a:buNone/>
                      </a:pPr>
                      <a:r>
                        <a:rPr lang="en-US" sz="1000" dirty="0"/>
                        <a:t>Print a register as a character or integer  </a:t>
                      </a:r>
                      <a:endParaRPr lang="en-US" sz="1050" dirty="0"/>
                    </a:p>
                  </a:txBody>
                  <a:tcPr marT="18288" marB="18288">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966176449"/>
                  </a:ext>
                </a:extLst>
              </a:tr>
              <a:tr h="154173">
                <a:tc>
                  <a:txBody>
                    <a:bodyPr/>
                    <a:lstStyle/>
                    <a:p>
                      <a:r>
                        <a:rPr lang="en-US" sz="1000"/>
                        <a:t>0x09</a:t>
                      </a:r>
                    </a:p>
                  </a:txBody>
                  <a:tcPr marT="18288" marB="18288">
                    <a:lnR w="12700" cap="flat" cmpd="sng" algn="ctr">
                      <a:solidFill>
                        <a:srgbClr val="002060"/>
                      </a:solidFill>
                      <a:prstDash val="solid"/>
                      <a:round/>
                      <a:headEnd type="none" w="med" len="med"/>
                      <a:tailEnd type="none" w="med" len="med"/>
                    </a:lnR>
                  </a:tcPr>
                </a:tc>
                <a:tc>
                  <a:txBody>
                    <a:bodyPr/>
                    <a:lstStyle/>
                    <a:p>
                      <a:endParaRPr lang="en-US" sz="1000" strike="sngStrike" dirty="0"/>
                    </a:p>
                  </a:txBody>
                  <a:tcPr marT="18288" marB="18288">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chemeClr val="bg1">
                        <a:lumMod val="95000"/>
                      </a:schemeClr>
                    </a:solidFill>
                  </a:tcPr>
                </a:tc>
                <a:tc>
                  <a:txBody>
                    <a:bodyPr/>
                    <a:lstStyle/>
                    <a:p>
                      <a:endParaRPr lang="en-US" sz="1000" strike="sngStrike" dirty="0"/>
                    </a:p>
                  </a:txBody>
                  <a:tcPr marT="18288" marB="18288">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12318366"/>
                  </a:ext>
                </a:extLst>
              </a:tr>
              <a:tr h="154173">
                <a:tc>
                  <a:txBody>
                    <a:bodyPr/>
                    <a:lstStyle/>
                    <a:p>
                      <a:r>
                        <a:rPr lang="en-US" sz="1000"/>
                        <a:t>0x0A</a:t>
                      </a:r>
                    </a:p>
                  </a:txBody>
                  <a:tcPr marT="18288" marB="18288">
                    <a:lnR w="12700" cap="flat" cmpd="sng" algn="ctr">
                      <a:solidFill>
                        <a:srgbClr val="002060"/>
                      </a:solidFill>
                      <a:prstDash val="solid"/>
                      <a:round/>
                      <a:headEnd type="none" w="med" len="med"/>
                      <a:tailEnd type="none" w="med" len="med"/>
                    </a:lnR>
                  </a:tcPr>
                </a:tc>
                <a:tc>
                  <a:txBody>
                    <a:bodyPr/>
                    <a:lstStyle/>
                    <a:p>
                      <a:pPr lvl="0">
                        <a:buNone/>
                      </a:pPr>
                      <a:endParaRPr lang="en-US" sz="1000" strike="sngStrike" dirty="0"/>
                    </a:p>
                  </a:txBody>
                  <a:tcPr marT="18288" marB="18288">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chemeClr val="bg1">
                        <a:lumMod val="95000"/>
                      </a:schemeClr>
                    </a:solidFill>
                  </a:tcPr>
                </a:tc>
                <a:tc>
                  <a:txBody>
                    <a:bodyPr/>
                    <a:lstStyle/>
                    <a:p>
                      <a:pPr lvl="0">
                        <a:buNone/>
                      </a:pPr>
                      <a:endParaRPr lang="en-US" sz="1000" strike="sngStrike" dirty="0"/>
                    </a:p>
                  </a:txBody>
                  <a:tcPr marT="18288" marB="18288">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915956243"/>
                  </a:ext>
                </a:extLst>
              </a:tr>
              <a:tr h="154173">
                <a:tc>
                  <a:txBody>
                    <a:bodyPr/>
                    <a:lstStyle/>
                    <a:p>
                      <a:r>
                        <a:rPr lang="en-US" sz="1000"/>
                        <a:t>0x0B</a:t>
                      </a:r>
                    </a:p>
                  </a:txBody>
                  <a:tcPr marT="18288" marB="18288">
                    <a:lnR w="12700" cap="flat" cmpd="sng" algn="ctr">
                      <a:solidFill>
                        <a:srgbClr val="002060"/>
                      </a:solidFill>
                      <a:prstDash val="solid"/>
                      <a:round/>
                      <a:headEnd type="none" w="med" len="med"/>
                      <a:tailEnd type="none" w="med" len="med"/>
                    </a:lnR>
                  </a:tcPr>
                </a:tc>
                <a:tc>
                  <a:txBody>
                    <a:bodyPr/>
                    <a:lstStyle/>
                    <a:p>
                      <a:endParaRPr lang="en-US" sz="1000" strike="sngStrike" dirty="0"/>
                    </a:p>
                  </a:txBody>
                  <a:tcPr marT="18288" marB="18288">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chemeClr val="bg1">
                        <a:lumMod val="95000"/>
                      </a:schemeClr>
                    </a:solidFill>
                  </a:tcPr>
                </a:tc>
                <a:tc>
                  <a:txBody>
                    <a:bodyPr/>
                    <a:lstStyle/>
                    <a:p>
                      <a:endParaRPr lang="en-US" sz="1000" strike="sngStrike" dirty="0"/>
                    </a:p>
                  </a:txBody>
                  <a:tcPr marT="18288" marB="18288">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96940021"/>
                  </a:ext>
                </a:extLst>
              </a:tr>
              <a:tr h="154173">
                <a:tc>
                  <a:txBody>
                    <a:bodyPr/>
                    <a:lstStyle/>
                    <a:p>
                      <a:r>
                        <a:rPr lang="en-US" sz="1000"/>
                        <a:t>0x0C</a:t>
                      </a:r>
                    </a:p>
                  </a:txBody>
                  <a:tcPr marT="18288" marB="18288">
                    <a:lnR w="12700" cap="flat" cmpd="sng" algn="ctr">
                      <a:solidFill>
                        <a:srgbClr val="002060"/>
                      </a:solidFill>
                      <a:prstDash val="solid"/>
                      <a:round/>
                      <a:headEnd type="none" w="med" len="med"/>
                      <a:tailEnd type="none" w="med" len="med"/>
                    </a:lnR>
                  </a:tcPr>
                </a:tc>
                <a:tc>
                  <a:txBody>
                    <a:bodyPr/>
                    <a:lstStyle/>
                    <a:p>
                      <a:pPr lvl="0">
                        <a:buNone/>
                      </a:pPr>
                      <a:endParaRPr lang="en-US" sz="1000" strike="sngStrike"/>
                    </a:p>
                  </a:txBody>
                  <a:tcPr marT="18288" marB="18288">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lvl="0">
                        <a:buNone/>
                      </a:pPr>
                      <a:endParaRPr lang="en-US" sz="1000" strike="sngStrike" dirty="0"/>
                    </a:p>
                  </a:txBody>
                  <a:tcPr marT="18288" marB="18288">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06420400"/>
                  </a:ext>
                </a:extLst>
              </a:tr>
              <a:tr h="154173">
                <a:tc>
                  <a:txBody>
                    <a:bodyPr/>
                    <a:lstStyle/>
                    <a:p>
                      <a:r>
                        <a:rPr lang="en-US" sz="1000"/>
                        <a:t>0x0D</a:t>
                      </a:r>
                    </a:p>
                  </a:txBody>
                  <a:tcPr marT="18288" marB="18288">
                    <a:lnR w="12700" cap="flat" cmpd="sng" algn="ctr">
                      <a:solidFill>
                        <a:srgbClr val="002060"/>
                      </a:solidFill>
                      <a:prstDash val="solid"/>
                      <a:round/>
                      <a:headEnd type="none" w="med" len="med"/>
                      <a:tailEnd type="none" w="med" len="med"/>
                    </a:lnR>
                  </a:tcPr>
                </a:tc>
                <a:tc>
                  <a:txBody>
                    <a:bodyPr/>
                    <a:lstStyle/>
                    <a:p>
                      <a:pPr lvl="0">
                        <a:buNone/>
                      </a:pPr>
                      <a:r>
                        <a:rPr lang="en-US" sz="1000"/>
                        <a:t>OUT Immediate</a:t>
                      </a:r>
                    </a:p>
                  </a:txBody>
                  <a:tcPr marT="18288" marB="18288">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lvl="0">
                        <a:buNone/>
                      </a:pPr>
                      <a:r>
                        <a:rPr lang="en-US" sz="1000" dirty="0"/>
                        <a:t>Print the immediate next byte as a character or integer </a:t>
                      </a:r>
                    </a:p>
                  </a:txBody>
                  <a:tcPr marT="18288" marB="18288">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350462680"/>
                  </a:ext>
                </a:extLst>
              </a:tr>
              <a:tr h="154173">
                <a:tc>
                  <a:txBody>
                    <a:bodyPr/>
                    <a:lstStyle/>
                    <a:p>
                      <a:r>
                        <a:rPr lang="en-US" sz="1000"/>
                        <a:t>0x0E</a:t>
                      </a:r>
                    </a:p>
                  </a:txBody>
                  <a:tcPr marT="18288" marB="18288">
                    <a:lnR w="12700" cap="flat" cmpd="sng" algn="ctr">
                      <a:solidFill>
                        <a:srgbClr val="002060"/>
                      </a:solidFill>
                      <a:prstDash val="solid"/>
                      <a:round/>
                      <a:headEnd type="none" w="med" len="med"/>
                      <a:tailEnd type="none" w="med" len="med"/>
                    </a:lnR>
                  </a:tcPr>
                </a:tc>
                <a:tc>
                  <a:txBody>
                    <a:bodyPr/>
                    <a:lstStyle/>
                    <a:p>
                      <a:pPr lvl="0">
                        <a:buNone/>
                      </a:pPr>
                      <a:r>
                        <a:rPr lang="en-US" sz="1000" strike="noStrike" dirty="0"/>
                        <a:t>PUSH</a:t>
                      </a:r>
                    </a:p>
                  </a:txBody>
                  <a:tcPr marT="18288" marB="18288">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lvl="0">
                        <a:buNone/>
                      </a:pPr>
                      <a:endParaRPr lang="en-US" sz="1000" strike="noStrike" dirty="0"/>
                    </a:p>
                  </a:txBody>
                  <a:tcPr marT="18288" marB="18288">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920202441"/>
                  </a:ext>
                </a:extLst>
              </a:tr>
              <a:tr h="173763">
                <a:tc>
                  <a:txBody>
                    <a:bodyPr/>
                    <a:lstStyle/>
                    <a:p>
                      <a:r>
                        <a:rPr lang="en-US" sz="1000"/>
                        <a:t>0x0F</a:t>
                      </a:r>
                    </a:p>
                  </a:txBody>
                  <a:tcPr marT="18288" marB="18288">
                    <a:lnR w="12700" cap="flat" cmpd="sng" algn="ctr">
                      <a:solidFill>
                        <a:srgbClr val="002060"/>
                      </a:solidFill>
                      <a:prstDash val="solid"/>
                      <a:round/>
                      <a:headEnd type="none" w="med" len="med"/>
                      <a:tailEnd type="none" w="med" len="med"/>
                    </a:lnR>
                  </a:tcPr>
                </a:tc>
                <a:tc>
                  <a:txBody>
                    <a:bodyPr/>
                    <a:lstStyle/>
                    <a:p>
                      <a:pPr lvl="0">
                        <a:buNone/>
                      </a:pPr>
                      <a:r>
                        <a:rPr lang="en-US" sz="1000" strike="noStrike" dirty="0"/>
                        <a:t>POP</a:t>
                      </a:r>
                    </a:p>
                  </a:txBody>
                  <a:tcPr marT="18288" marB="18288">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lvl="0">
                        <a:buNone/>
                      </a:pPr>
                      <a:endParaRPr lang="en-US" sz="1000" strike="noStrike" dirty="0"/>
                    </a:p>
                  </a:txBody>
                  <a:tcPr marT="18288" marB="18288">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340991939"/>
                  </a:ext>
                </a:extLst>
              </a:tr>
              <a:tr h="154173">
                <a:tc>
                  <a:txBody>
                    <a:bodyPr/>
                    <a:lstStyle/>
                    <a:p>
                      <a:r>
                        <a:rPr lang="en-US" sz="1000"/>
                        <a:t>0x10</a:t>
                      </a:r>
                    </a:p>
                  </a:txBody>
                  <a:tcPr marT="18288" marB="18288">
                    <a:lnR w="12700" cap="flat" cmpd="sng" algn="ctr">
                      <a:solidFill>
                        <a:schemeClr val="tx1"/>
                      </a:solidFill>
                      <a:prstDash val="solid"/>
                      <a:round/>
                      <a:headEnd type="none" w="med" len="med"/>
                      <a:tailEnd type="none" w="med" len="med"/>
                    </a:lnR>
                  </a:tcPr>
                </a:tc>
                <a:tc>
                  <a:txBody>
                    <a:bodyPr/>
                    <a:lstStyle/>
                    <a:p>
                      <a:r>
                        <a:rPr lang="en-US" sz="1000" strike="noStrike" kern="1200" dirty="0">
                          <a:solidFill>
                            <a:schemeClr val="dk1"/>
                          </a:solidFill>
                          <a:latin typeface="+mn-lt"/>
                          <a:ea typeface="+mn-ea"/>
                          <a:cs typeface="+mn-cs"/>
                        </a:rPr>
                        <a:t>JSR</a:t>
                      </a: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strike="noStrike" kern="1200" dirty="0">
                          <a:solidFill>
                            <a:schemeClr val="dk1"/>
                          </a:solidFill>
                          <a:latin typeface="+mn-lt"/>
                          <a:ea typeface="+mn-ea"/>
                          <a:cs typeface="+mn-cs"/>
                        </a:rPr>
                        <a:t>Jump Subroutine, store current PC in stack</a:t>
                      </a: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203302657"/>
                  </a:ext>
                </a:extLst>
              </a:tr>
              <a:tr h="154173">
                <a:tc>
                  <a:txBody>
                    <a:bodyPr/>
                    <a:lstStyle/>
                    <a:p>
                      <a:r>
                        <a:rPr lang="en-US" sz="1000"/>
                        <a:t>0x11</a:t>
                      </a:r>
                    </a:p>
                  </a:txBody>
                  <a:tcPr marT="18288" marB="18288">
                    <a:lnR w="12700" cap="flat" cmpd="sng" algn="ctr">
                      <a:solidFill>
                        <a:schemeClr val="tx1"/>
                      </a:solidFill>
                      <a:prstDash val="solid"/>
                      <a:round/>
                      <a:headEnd type="none" w="med" len="med"/>
                      <a:tailEnd type="none" w="med" len="med"/>
                    </a:lnR>
                  </a:tcPr>
                </a:tc>
                <a:tc>
                  <a:txBody>
                    <a:bodyPr/>
                    <a:lstStyle/>
                    <a:p>
                      <a:r>
                        <a:rPr lang="en-US" sz="1000" kern="1200">
                          <a:solidFill>
                            <a:schemeClr val="dk1"/>
                          </a:solidFill>
                          <a:latin typeface="+mn-lt"/>
                          <a:ea typeface="+mn-ea"/>
                          <a:cs typeface="+mn-cs"/>
                        </a:rPr>
                        <a:t>RTS</a:t>
                      </a: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kern="1200" dirty="0">
                          <a:solidFill>
                            <a:schemeClr val="dk1"/>
                          </a:solidFill>
                          <a:latin typeface="+mn-lt"/>
                          <a:ea typeface="+mn-ea"/>
                          <a:cs typeface="+mn-cs"/>
                        </a:rPr>
                        <a:t>Return Subroutine, Load PC from stack</a:t>
                      </a: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345109218"/>
                  </a:ext>
                </a:extLst>
              </a:tr>
              <a:tr h="154173">
                <a:tc>
                  <a:txBody>
                    <a:bodyPr/>
                    <a:lstStyle/>
                    <a:p>
                      <a:r>
                        <a:rPr lang="en-US" sz="1000"/>
                        <a:t>0x12</a:t>
                      </a:r>
                    </a:p>
                  </a:txBody>
                  <a:tcPr marT="18288" marB="18288">
                    <a:lnR w="12700" cap="flat" cmpd="sng" algn="ctr">
                      <a:solidFill>
                        <a:schemeClr val="tx1"/>
                      </a:solidFill>
                      <a:prstDash val="solid"/>
                      <a:round/>
                      <a:headEnd type="none" w="med" len="med"/>
                      <a:tailEnd type="none" w="med" len="med"/>
                    </a:lnR>
                  </a:tcPr>
                </a:tc>
                <a:tc>
                  <a:txBody>
                    <a:bodyPr/>
                    <a:lstStyle/>
                    <a:p>
                      <a:r>
                        <a:rPr lang="en-US" sz="1000" kern="1200" dirty="0">
                          <a:solidFill>
                            <a:schemeClr val="dk1"/>
                          </a:solidFill>
                          <a:latin typeface="+mn-lt"/>
                          <a:ea typeface="+mn-ea"/>
                          <a:cs typeface="+mn-cs"/>
                          <a:hlinkClick r:id="rId5" action="ppaction://hlinksldjump"/>
                        </a:rPr>
                        <a:t>TST Registers</a:t>
                      </a:r>
                      <a:endParaRPr lang="en-US" sz="1000" kern="1200" dirty="0">
                        <a:solidFill>
                          <a:schemeClr val="dk1"/>
                        </a:solidFill>
                        <a:latin typeface="+mn-lt"/>
                        <a:ea typeface="+mn-ea"/>
                        <a:cs typeface="+mn-cs"/>
                      </a:endParaRP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kern="1200" dirty="0">
                          <a:solidFill>
                            <a:schemeClr val="dk1"/>
                          </a:solidFill>
                          <a:latin typeface="+mn-lt"/>
                          <a:ea typeface="+mn-ea"/>
                          <a:cs typeface="+mn-cs"/>
                        </a:rPr>
                        <a:t>Compare registers</a:t>
                      </a: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041925619"/>
                  </a:ext>
                </a:extLst>
              </a:tr>
              <a:tr h="154173">
                <a:tc>
                  <a:txBody>
                    <a:bodyPr/>
                    <a:lstStyle/>
                    <a:p>
                      <a:r>
                        <a:rPr lang="en-US" sz="1000"/>
                        <a:t>0x13</a:t>
                      </a:r>
                    </a:p>
                  </a:txBody>
                  <a:tcPr marT="18288" marB="18288">
                    <a:lnR w="12700" cap="flat" cmpd="sng" algn="ctr">
                      <a:solidFill>
                        <a:schemeClr val="tx1"/>
                      </a:solidFill>
                      <a:prstDash val="solid"/>
                      <a:round/>
                      <a:headEnd type="none" w="med" len="med"/>
                      <a:tailEnd type="none" w="med" len="med"/>
                    </a:lnR>
                  </a:tcPr>
                </a:tc>
                <a:tc>
                  <a:txBody>
                    <a:bodyPr/>
                    <a:lstStyle/>
                    <a:p>
                      <a:r>
                        <a:rPr lang="en-US" sz="1000" kern="1200" dirty="0">
                          <a:solidFill>
                            <a:schemeClr val="dk1"/>
                          </a:solidFill>
                          <a:latin typeface="+mn-lt"/>
                          <a:ea typeface="+mn-ea"/>
                          <a:cs typeface="+mn-cs"/>
                          <a:hlinkClick r:id="rId6" action="ppaction://hlinksldjump"/>
                        </a:rPr>
                        <a:t>TST Register</a:t>
                      </a:r>
                      <a:endParaRPr lang="en-US" sz="1000" kern="1200" dirty="0">
                        <a:solidFill>
                          <a:schemeClr val="dk1"/>
                        </a:solidFill>
                        <a:latin typeface="+mn-lt"/>
                        <a:ea typeface="+mn-ea"/>
                        <a:cs typeface="+mn-cs"/>
                      </a:endParaRP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kern="1200" dirty="0">
                          <a:solidFill>
                            <a:schemeClr val="dk1"/>
                          </a:solidFill>
                          <a:latin typeface="+mn-lt"/>
                          <a:ea typeface="+mn-ea"/>
                          <a:cs typeface="+mn-cs"/>
                        </a:rPr>
                        <a:t>Compare register and immediate</a:t>
                      </a: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2826039150"/>
                  </a:ext>
                </a:extLst>
              </a:tr>
              <a:tr h="154173">
                <a:tc>
                  <a:txBody>
                    <a:bodyPr/>
                    <a:lstStyle/>
                    <a:p>
                      <a:r>
                        <a:rPr lang="en-US" sz="1000"/>
                        <a:t>0x14</a:t>
                      </a:r>
                    </a:p>
                  </a:txBody>
                  <a:tcPr marT="18288" marB="18288">
                    <a:lnR w="12700" cap="flat" cmpd="sng" algn="ctr">
                      <a:solidFill>
                        <a:schemeClr val="tx1"/>
                      </a:solidFill>
                      <a:prstDash val="solid"/>
                      <a:round/>
                      <a:headEnd type="none" w="med" len="med"/>
                      <a:tailEnd type="none" w="med" len="med"/>
                    </a:lnR>
                  </a:tcPr>
                </a:tc>
                <a:tc>
                  <a:txBody>
                    <a:bodyPr/>
                    <a:lstStyle/>
                    <a:p>
                      <a:r>
                        <a:rPr lang="en-US" sz="1000" kern="1200" dirty="0">
                          <a:solidFill>
                            <a:schemeClr val="dk1"/>
                          </a:solidFill>
                          <a:latin typeface="+mn-lt"/>
                          <a:ea typeface="+mn-ea"/>
                          <a:cs typeface="+mn-cs"/>
                          <a:hlinkClick r:id="rId7" action="ppaction://hlinksldjump"/>
                        </a:rPr>
                        <a:t>LDW1</a:t>
                      </a:r>
                      <a:endParaRPr lang="en-US" sz="1000" kern="1200" dirty="0">
                        <a:solidFill>
                          <a:schemeClr val="dk1"/>
                        </a:solidFill>
                        <a:latin typeface="+mn-lt"/>
                        <a:ea typeface="+mn-ea"/>
                        <a:cs typeface="+mn-cs"/>
                      </a:endParaRP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kern="1200" dirty="0">
                          <a:solidFill>
                            <a:schemeClr val="dk1"/>
                          </a:solidFill>
                          <a:latin typeface="+mn-lt"/>
                          <a:ea typeface="+mn-ea"/>
                          <a:cs typeface="+mn-cs"/>
                        </a:rPr>
                        <a:t>Load Data Byte with Offset 1 (PC or SP)</a:t>
                      </a: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2276295529"/>
                  </a:ext>
                </a:extLst>
              </a:tr>
              <a:tr h="154173">
                <a:tc>
                  <a:txBody>
                    <a:bodyPr/>
                    <a:lstStyle/>
                    <a:p>
                      <a:r>
                        <a:rPr lang="en-US" sz="1000"/>
                        <a:t>0x15</a:t>
                      </a:r>
                    </a:p>
                  </a:txBody>
                  <a:tcPr marT="18288" marB="18288">
                    <a:lnR w="12700" cap="flat" cmpd="sng" algn="ctr">
                      <a:solidFill>
                        <a:schemeClr val="tx1"/>
                      </a:solidFill>
                      <a:prstDash val="solid"/>
                      <a:round/>
                      <a:headEnd type="none" w="med" len="med"/>
                      <a:tailEnd type="none" w="med" len="med"/>
                    </a:lnR>
                  </a:tcPr>
                </a:tc>
                <a:tc>
                  <a:txBody>
                    <a:bodyPr/>
                    <a:lstStyle/>
                    <a:p>
                      <a:r>
                        <a:rPr lang="en-US" sz="1000" kern="1200" dirty="0">
                          <a:solidFill>
                            <a:schemeClr val="dk1"/>
                          </a:solidFill>
                          <a:latin typeface="+mn-lt"/>
                          <a:ea typeface="+mn-ea"/>
                          <a:cs typeface="+mn-cs"/>
                          <a:hlinkClick r:id="rId8" action="ppaction://hlinksldjump"/>
                        </a:rPr>
                        <a:t>LDW2</a:t>
                      </a:r>
                      <a:endParaRPr lang="en-US" sz="1000" kern="1200" dirty="0">
                        <a:solidFill>
                          <a:schemeClr val="dk1"/>
                        </a:solidFill>
                        <a:latin typeface="+mn-lt"/>
                        <a:ea typeface="+mn-ea"/>
                        <a:cs typeface="+mn-cs"/>
                      </a:endParaRP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000" kern="1200" dirty="0">
                          <a:solidFill>
                            <a:schemeClr val="dk1"/>
                          </a:solidFill>
                          <a:latin typeface="+mn-lt"/>
                          <a:ea typeface="+mn-ea"/>
                          <a:cs typeface="+mn-cs"/>
                        </a:rPr>
                        <a:t>Load Data Byte with Offset 2 (DP or BP)</a:t>
                      </a: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2196712712"/>
                  </a:ext>
                </a:extLst>
              </a:tr>
              <a:tr h="154173">
                <a:tc>
                  <a:txBody>
                    <a:bodyPr/>
                    <a:lstStyle/>
                    <a:p>
                      <a:r>
                        <a:rPr lang="en-US" sz="1000" dirty="0"/>
                        <a:t>0x16</a:t>
                      </a:r>
                    </a:p>
                  </a:txBody>
                  <a:tcPr marT="18288" marB="18288">
                    <a:lnR w="12700" cap="flat" cmpd="sng" algn="ctr">
                      <a:solidFill>
                        <a:schemeClr val="tx1"/>
                      </a:solidFill>
                      <a:prstDash val="solid"/>
                      <a:round/>
                      <a:headEnd type="none" w="med" len="med"/>
                      <a:tailEnd type="none" w="med" len="med"/>
                    </a:lnR>
                  </a:tcPr>
                </a:tc>
                <a:tc>
                  <a:txBody>
                    <a:bodyPr/>
                    <a:lstStyle/>
                    <a:p>
                      <a:r>
                        <a:rPr lang="en-US" sz="1000" kern="1200" dirty="0">
                          <a:solidFill>
                            <a:schemeClr val="dk1"/>
                          </a:solidFill>
                          <a:latin typeface="+mn-lt"/>
                          <a:ea typeface="+mn-ea"/>
                          <a:cs typeface="+mn-cs"/>
                          <a:hlinkClick r:id="rId9" action="ppaction://hlinksldjump"/>
                        </a:rPr>
                        <a:t>SDW1</a:t>
                      </a:r>
                      <a:endParaRPr lang="en-US" sz="1000" kern="1200" dirty="0">
                        <a:solidFill>
                          <a:schemeClr val="dk1"/>
                        </a:solidFill>
                        <a:latin typeface="+mn-lt"/>
                        <a:ea typeface="+mn-ea"/>
                        <a:cs typeface="+mn-cs"/>
                      </a:endParaRP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kern="1200" dirty="0">
                          <a:solidFill>
                            <a:schemeClr val="dk1"/>
                          </a:solidFill>
                          <a:latin typeface="+mn-lt"/>
                          <a:ea typeface="+mn-ea"/>
                          <a:cs typeface="+mn-cs"/>
                        </a:rPr>
                        <a:t>Store Data Byte with Offset 1 (PC or SP)</a:t>
                      </a: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2036416252"/>
                  </a:ext>
                </a:extLst>
              </a:tr>
              <a:tr h="154173">
                <a:tc>
                  <a:txBody>
                    <a:bodyPr/>
                    <a:lstStyle/>
                    <a:p>
                      <a:r>
                        <a:rPr lang="en-US" sz="1000" dirty="0"/>
                        <a:t>0x17</a:t>
                      </a:r>
                    </a:p>
                  </a:txBody>
                  <a:tcPr marT="18288" marB="18288">
                    <a:lnR w="12700" cap="flat" cmpd="sng" algn="ctr">
                      <a:solidFill>
                        <a:schemeClr val="tx1"/>
                      </a:solidFill>
                      <a:prstDash val="solid"/>
                      <a:round/>
                      <a:headEnd type="none" w="med" len="med"/>
                      <a:tailEnd type="none" w="med" len="med"/>
                    </a:lnR>
                  </a:tcPr>
                </a:tc>
                <a:tc>
                  <a:txBody>
                    <a:bodyPr/>
                    <a:lstStyle/>
                    <a:p>
                      <a:r>
                        <a:rPr lang="en-US" sz="1000" kern="1200" dirty="0">
                          <a:solidFill>
                            <a:schemeClr val="dk1"/>
                          </a:solidFill>
                          <a:latin typeface="+mn-lt"/>
                          <a:ea typeface="+mn-ea"/>
                          <a:cs typeface="+mn-cs"/>
                          <a:hlinkClick r:id="rId10" action="ppaction://hlinksldjump"/>
                        </a:rPr>
                        <a:t>SDW2</a:t>
                      </a:r>
                      <a:endParaRPr lang="en-US" sz="1000" kern="1200" dirty="0">
                        <a:solidFill>
                          <a:schemeClr val="dk1"/>
                        </a:solidFill>
                        <a:latin typeface="+mn-lt"/>
                        <a:ea typeface="+mn-ea"/>
                        <a:cs typeface="+mn-cs"/>
                      </a:endParaRP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kern="1200" dirty="0">
                          <a:solidFill>
                            <a:schemeClr val="dk1"/>
                          </a:solidFill>
                          <a:latin typeface="+mn-lt"/>
                          <a:ea typeface="+mn-ea"/>
                          <a:cs typeface="+mn-cs"/>
                        </a:rPr>
                        <a:t>Store Data Byte with Offset 2 (DP or BP)</a:t>
                      </a: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2050593332"/>
                  </a:ext>
                </a:extLst>
              </a:tr>
              <a:tr h="154173">
                <a:tc>
                  <a:txBody>
                    <a:bodyPr/>
                    <a:lstStyle/>
                    <a:p>
                      <a:r>
                        <a:rPr lang="en-US" sz="1000" dirty="0"/>
                        <a:t>0x18</a:t>
                      </a:r>
                    </a:p>
                  </a:txBody>
                  <a:tcPr marT="18288" marB="18288">
                    <a:lnR w="12700" cap="flat" cmpd="sng" algn="ctr">
                      <a:solidFill>
                        <a:schemeClr val="tx1"/>
                      </a:solidFill>
                      <a:prstDash val="solid"/>
                      <a:round/>
                      <a:headEnd type="none" w="med" len="med"/>
                      <a:tailEnd type="none" w="med" len="med"/>
                    </a:lnR>
                  </a:tcPr>
                </a:tc>
                <a:tc>
                  <a:txBody>
                    <a:bodyPr/>
                    <a:lstStyle/>
                    <a:p>
                      <a:r>
                        <a:rPr lang="en-US" sz="1000" kern="1200" dirty="0">
                          <a:solidFill>
                            <a:schemeClr val="dk1"/>
                          </a:solidFill>
                          <a:latin typeface="+mn-lt"/>
                          <a:ea typeface="+mn-ea"/>
                          <a:cs typeface="+mn-cs"/>
                          <a:hlinkClick r:id="rId11" action="ppaction://hlinksldjump"/>
                        </a:rPr>
                        <a:t>MAA1</a:t>
                      </a:r>
                      <a:endParaRPr lang="en-US" sz="1000" kern="1200" dirty="0">
                        <a:solidFill>
                          <a:schemeClr val="dk1"/>
                        </a:solidFill>
                        <a:latin typeface="+mn-lt"/>
                        <a:ea typeface="+mn-ea"/>
                        <a:cs typeface="+mn-cs"/>
                      </a:endParaRP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kern="1200" dirty="0">
                          <a:solidFill>
                            <a:schemeClr val="dk1"/>
                          </a:solidFill>
                          <a:latin typeface="+mn-lt"/>
                          <a:ea typeface="+mn-ea"/>
                          <a:cs typeface="+mn-cs"/>
                        </a:rPr>
                        <a:t>Move Address with Offset to Address 1 (PC or SP)</a:t>
                      </a: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516436746"/>
                  </a:ext>
                </a:extLst>
              </a:tr>
              <a:tr h="154173">
                <a:tc>
                  <a:txBody>
                    <a:bodyPr/>
                    <a:lstStyle/>
                    <a:p>
                      <a:r>
                        <a:rPr lang="en-US" sz="1000" dirty="0"/>
                        <a:t>0x19</a:t>
                      </a:r>
                    </a:p>
                  </a:txBody>
                  <a:tcPr marT="18288" marB="18288">
                    <a:lnR w="12700" cap="flat" cmpd="sng" algn="ctr">
                      <a:solidFill>
                        <a:schemeClr val="tx1"/>
                      </a:solidFill>
                      <a:prstDash val="solid"/>
                      <a:round/>
                      <a:headEnd type="none" w="med" len="med"/>
                      <a:tailEnd type="none" w="med" len="med"/>
                    </a:lnR>
                  </a:tcPr>
                </a:tc>
                <a:tc>
                  <a:txBody>
                    <a:bodyPr/>
                    <a:lstStyle/>
                    <a:p>
                      <a:r>
                        <a:rPr lang="en-US" sz="1000" kern="1200" dirty="0">
                          <a:solidFill>
                            <a:schemeClr val="dk1"/>
                          </a:solidFill>
                          <a:latin typeface="+mn-lt"/>
                          <a:ea typeface="+mn-ea"/>
                          <a:cs typeface="+mn-cs"/>
                          <a:hlinkClick r:id="rId12" action="ppaction://hlinksldjump"/>
                        </a:rPr>
                        <a:t>MAA2</a:t>
                      </a:r>
                      <a:endParaRPr lang="en-US" sz="1000" kern="1200" dirty="0">
                        <a:solidFill>
                          <a:schemeClr val="dk1"/>
                        </a:solidFill>
                        <a:latin typeface="+mn-lt"/>
                        <a:ea typeface="+mn-ea"/>
                        <a:cs typeface="+mn-cs"/>
                      </a:endParaRP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000" kern="1200" dirty="0">
                          <a:solidFill>
                            <a:schemeClr val="dk1"/>
                          </a:solidFill>
                          <a:latin typeface="+mn-lt"/>
                          <a:ea typeface="+mn-ea"/>
                          <a:cs typeface="+mn-cs"/>
                        </a:rPr>
                        <a:t>Move Address with Offset to Address 2 (DP or BP)</a:t>
                      </a: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2536880445"/>
                  </a:ext>
                </a:extLst>
              </a:tr>
              <a:tr h="154173">
                <a:tc>
                  <a:txBody>
                    <a:bodyPr/>
                    <a:lstStyle/>
                    <a:p>
                      <a:r>
                        <a:rPr lang="en-US" sz="1000" dirty="0"/>
                        <a:t>0x1A</a:t>
                      </a:r>
                    </a:p>
                  </a:txBody>
                  <a:tcPr marT="18288" marB="18288">
                    <a:lnR w="12700" cap="flat" cmpd="sng" algn="ctr">
                      <a:solidFill>
                        <a:schemeClr val="tx1"/>
                      </a:solidFill>
                      <a:prstDash val="solid"/>
                      <a:round/>
                      <a:headEnd type="none" w="med" len="med"/>
                      <a:tailEnd type="none" w="med" len="med"/>
                    </a:lnR>
                  </a:tcPr>
                </a:tc>
                <a:tc>
                  <a:txBody>
                    <a:bodyPr/>
                    <a:lstStyle/>
                    <a:p>
                      <a:r>
                        <a:rPr lang="en-US" sz="1000" kern="1200" dirty="0">
                          <a:solidFill>
                            <a:schemeClr val="dk1"/>
                          </a:solidFill>
                          <a:latin typeface="+mn-lt"/>
                          <a:ea typeface="+mn-ea"/>
                          <a:cs typeface="+mn-cs"/>
                          <a:hlinkClick r:id="rId13" action="ppaction://hlinksldjump"/>
                        </a:rPr>
                        <a:t>MAG</a:t>
                      </a:r>
                      <a:endParaRPr lang="en-US" sz="1000" kern="1200" dirty="0">
                        <a:solidFill>
                          <a:schemeClr val="dk1"/>
                        </a:solidFill>
                        <a:latin typeface="+mn-lt"/>
                        <a:ea typeface="+mn-ea"/>
                        <a:cs typeface="+mn-cs"/>
                      </a:endParaRP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kern="1200" dirty="0">
                          <a:solidFill>
                            <a:schemeClr val="dk1"/>
                          </a:solidFill>
                          <a:latin typeface="+mn-lt"/>
                          <a:ea typeface="+mn-ea"/>
                          <a:cs typeface="+mn-cs"/>
                        </a:rPr>
                        <a:t>Move Address to General register </a:t>
                      </a: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2162022510"/>
                  </a:ext>
                </a:extLst>
              </a:tr>
              <a:tr h="154173">
                <a:tc>
                  <a:txBody>
                    <a:bodyPr/>
                    <a:lstStyle/>
                    <a:p>
                      <a:r>
                        <a:rPr lang="en-US" sz="1000" dirty="0"/>
                        <a:t>0x1B</a:t>
                      </a:r>
                    </a:p>
                  </a:txBody>
                  <a:tcPr marT="18288" marB="18288">
                    <a:lnR w="12700" cap="flat" cmpd="sng" algn="ctr">
                      <a:solidFill>
                        <a:schemeClr val="tx1"/>
                      </a:solidFill>
                      <a:prstDash val="solid"/>
                      <a:round/>
                      <a:headEnd type="none" w="med" len="med"/>
                      <a:tailEnd type="none" w="med" len="med"/>
                    </a:lnR>
                  </a:tcPr>
                </a:tc>
                <a:tc>
                  <a:txBody>
                    <a:bodyPr/>
                    <a:lstStyle/>
                    <a:p>
                      <a:r>
                        <a:rPr lang="en-US" sz="1000" kern="1200" dirty="0">
                          <a:solidFill>
                            <a:schemeClr val="dk1"/>
                          </a:solidFill>
                          <a:latin typeface="+mn-lt"/>
                          <a:ea typeface="+mn-ea"/>
                          <a:cs typeface="+mn-cs"/>
                          <a:hlinkClick r:id="rId14" action="ppaction://hlinksldjump"/>
                        </a:rPr>
                        <a:t>LDA</a:t>
                      </a:r>
                      <a:endParaRPr lang="en-US" sz="1000" kern="1200" dirty="0">
                        <a:solidFill>
                          <a:schemeClr val="dk1"/>
                        </a:solidFill>
                        <a:latin typeface="+mn-lt"/>
                        <a:ea typeface="+mn-ea"/>
                        <a:cs typeface="+mn-cs"/>
                      </a:endParaRP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kern="1200" dirty="0">
                          <a:solidFill>
                            <a:schemeClr val="dk1"/>
                          </a:solidFill>
                          <a:latin typeface="+mn-lt"/>
                          <a:ea typeface="+mn-ea"/>
                          <a:cs typeface="+mn-cs"/>
                        </a:rPr>
                        <a:t>Load Address register</a:t>
                      </a: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874565637"/>
                  </a:ext>
                </a:extLst>
              </a:tr>
              <a:tr h="154173">
                <a:tc>
                  <a:txBody>
                    <a:bodyPr/>
                    <a:lstStyle/>
                    <a:p>
                      <a:r>
                        <a:rPr lang="en-US" sz="1000" dirty="0"/>
                        <a:t>0x1C</a:t>
                      </a:r>
                    </a:p>
                  </a:txBody>
                  <a:tcPr marT="18288" marB="18288">
                    <a:lnR w="12700" cap="flat" cmpd="sng" algn="ctr">
                      <a:solidFill>
                        <a:schemeClr val="tx1"/>
                      </a:solidFill>
                      <a:prstDash val="solid"/>
                      <a:round/>
                      <a:headEnd type="none" w="med" len="med"/>
                      <a:tailEnd type="none" w="med" len="med"/>
                    </a:lnR>
                  </a:tcPr>
                </a:tc>
                <a:tc>
                  <a:txBody>
                    <a:bodyPr/>
                    <a:lstStyle/>
                    <a:p>
                      <a:r>
                        <a:rPr lang="en-US" sz="1000" kern="1200" dirty="0">
                          <a:solidFill>
                            <a:schemeClr val="dk1"/>
                          </a:solidFill>
                          <a:latin typeface="+mn-lt"/>
                          <a:ea typeface="+mn-ea"/>
                          <a:cs typeface="+mn-cs"/>
                          <a:hlinkClick r:id="rId15" action="ppaction://hlinksldjump"/>
                        </a:rPr>
                        <a:t>MGA</a:t>
                      </a:r>
                      <a:endParaRPr lang="en-US" sz="1000" kern="1200" dirty="0">
                        <a:solidFill>
                          <a:schemeClr val="dk1"/>
                        </a:solidFill>
                        <a:latin typeface="+mn-lt"/>
                        <a:ea typeface="+mn-ea"/>
                        <a:cs typeface="+mn-cs"/>
                      </a:endParaRP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kern="1200" dirty="0">
                          <a:solidFill>
                            <a:schemeClr val="dk1"/>
                          </a:solidFill>
                          <a:latin typeface="+mn-lt"/>
                          <a:ea typeface="+mn-ea"/>
                          <a:cs typeface="+mn-cs"/>
                        </a:rPr>
                        <a:t>Move General to Address register </a:t>
                      </a:r>
                    </a:p>
                  </a:txBody>
                  <a:tcPr marT="18288" marB="182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540134254"/>
                  </a:ext>
                </a:extLst>
              </a:tr>
            </a:tbl>
          </a:graphicData>
        </a:graphic>
      </p:graphicFrame>
      <p:graphicFrame>
        <p:nvGraphicFramePr>
          <p:cNvPr id="2" name="Table 6">
            <a:extLst>
              <a:ext uri="{FF2B5EF4-FFF2-40B4-BE49-F238E27FC236}">
                <a16:creationId xmlns:a16="http://schemas.microsoft.com/office/drawing/2014/main" id="{E3026912-513B-4F02-93D0-080596564A87}"/>
              </a:ext>
            </a:extLst>
          </p:cNvPr>
          <p:cNvGraphicFramePr>
            <a:graphicFrameLocks noGrp="1"/>
          </p:cNvGraphicFramePr>
          <p:nvPr>
            <p:extLst>
              <p:ext uri="{D42A27DB-BD31-4B8C-83A1-F6EECF244321}">
                <p14:modId xmlns:p14="http://schemas.microsoft.com/office/powerpoint/2010/main" val="2376868963"/>
              </p:ext>
            </p:extLst>
          </p:nvPr>
        </p:nvGraphicFramePr>
        <p:xfrm>
          <a:off x="9516208" y="790004"/>
          <a:ext cx="1399443" cy="2032000"/>
        </p:xfrm>
        <a:graphic>
          <a:graphicData uri="http://schemas.openxmlformats.org/drawingml/2006/table">
            <a:tbl>
              <a:tblPr>
                <a:tableStyleId>{5C22544A-7EE6-4342-B048-85BDC9FD1C3A}</a:tableStyleId>
              </a:tblPr>
              <a:tblGrid>
                <a:gridCol w="1399443">
                  <a:extLst>
                    <a:ext uri="{9D8B030D-6E8A-4147-A177-3AD203B41FA5}">
                      <a16:colId xmlns:a16="http://schemas.microsoft.com/office/drawing/2014/main" val="2963748656"/>
                    </a:ext>
                  </a:extLst>
                </a:gridCol>
              </a:tblGrid>
              <a:tr h="5384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dirty="0"/>
                        <a:t>Covered by BIST</a:t>
                      </a:r>
                    </a:p>
                  </a:txBody>
                  <a:tcPr>
                    <a:solidFill>
                      <a:schemeClr val="accent6">
                        <a:lumMod val="40000"/>
                        <a:lumOff val="60000"/>
                      </a:schemeClr>
                    </a:solidFill>
                  </a:tcPr>
                </a:tc>
                <a:extLst>
                  <a:ext uri="{0D108BD9-81ED-4DB2-BD59-A6C34878D82A}">
                    <a16:rowId xmlns:a16="http://schemas.microsoft.com/office/drawing/2014/main" val="276225573"/>
                  </a:ext>
                </a:extLst>
              </a:tr>
              <a:tr h="370840">
                <a:tc>
                  <a:txBody>
                    <a:bodyPr/>
                    <a:lstStyle/>
                    <a:p>
                      <a:r>
                        <a:rPr lang="en-US" sz="1500" dirty="0"/>
                        <a:t>Implemented </a:t>
                      </a:r>
                    </a:p>
                  </a:txBody>
                  <a:tcPr>
                    <a:solidFill>
                      <a:srgbClr val="FFFFCC"/>
                    </a:solidFill>
                  </a:tcPr>
                </a:tc>
                <a:extLst>
                  <a:ext uri="{0D108BD9-81ED-4DB2-BD59-A6C34878D82A}">
                    <a16:rowId xmlns:a16="http://schemas.microsoft.com/office/drawing/2014/main" val="4117074726"/>
                  </a:ext>
                </a:extLst>
              </a:tr>
              <a:tr h="370840">
                <a:tc>
                  <a:txBody>
                    <a:bodyPr/>
                    <a:lstStyle/>
                    <a:p>
                      <a:r>
                        <a:rPr lang="en-US" sz="1500" dirty="0"/>
                        <a:t>Planned</a:t>
                      </a:r>
                    </a:p>
                  </a:txBody>
                  <a:tcPr>
                    <a:solidFill>
                      <a:srgbClr val="CC99FF"/>
                    </a:solidFill>
                  </a:tcPr>
                </a:tc>
                <a:extLst>
                  <a:ext uri="{0D108BD9-81ED-4DB2-BD59-A6C34878D82A}">
                    <a16:rowId xmlns:a16="http://schemas.microsoft.com/office/drawing/2014/main" val="3014389022"/>
                  </a:ext>
                </a:extLst>
              </a:tr>
              <a:tr h="370840">
                <a:tc>
                  <a:txBody>
                    <a:bodyPr/>
                    <a:lstStyle/>
                    <a:p>
                      <a:r>
                        <a:rPr lang="en-US" sz="1500" dirty="0"/>
                        <a:t>Deprecating</a:t>
                      </a:r>
                    </a:p>
                  </a:txBody>
                  <a:tcPr>
                    <a:solidFill>
                      <a:srgbClr val="FFC000"/>
                    </a:solidFill>
                  </a:tcPr>
                </a:tc>
                <a:extLst>
                  <a:ext uri="{0D108BD9-81ED-4DB2-BD59-A6C34878D82A}">
                    <a16:rowId xmlns:a16="http://schemas.microsoft.com/office/drawing/2014/main" val="313708043"/>
                  </a:ext>
                </a:extLst>
              </a:tr>
              <a:tr h="370840">
                <a:tc>
                  <a:txBody>
                    <a:bodyPr/>
                    <a:lstStyle/>
                    <a:p>
                      <a:r>
                        <a:rPr lang="en-US" sz="1500" dirty="0"/>
                        <a:t>Not used</a:t>
                      </a:r>
                    </a:p>
                  </a:txBody>
                  <a:tcPr>
                    <a:solidFill>
                      <a:schemeClr val="bg1">
                        <a:lumMod val="95000"/>
                      </a:schemeClr>
                    </a:solidFill>
                  </a:tcPr>
                </a:tc>
                <a:extLst>
                  <a:ext uri="{0D108BD9-81ED-4DB2-BD59-A6C34878D82A}">
                    <a16:rowId xmlns:a16="http://schemas.microsoft.com/office/drawing/2014/main" val="2421944243"/>
                  </a:ext>
                </a:extLst>
              </a:tr>
            </a:tbl>
          </a:graphicData>
        </a:graphic>
      </p:graphicFrame>
      <p:pic>
        <p:nvPicPr>
          <p:cNvPr id="4" name="Picture 3">
            <a:hlinkClick r:id="rId16" action="ppaction://hlinksldjump"/>
            <a:extLst>
              <a:ext uri="{FF2B5EF4-FFF2-40B4-BE49-F238E27FC236}">
                <a16:creationId xmlns:a16="http://schemas.microsoft.com/office/drawing/2014/main" id="{57C8AE23-1CF5-1999-1381-36F358D97CF5}"/>
              </a:ext>
            </a:extLst>
          </p:cNvPr>
          <p:cNvPicPr>
            <a:picLocks noChangeAspect="1"/>
          </p:cNvPicPr>
          <p:nvPr/>
        </p:nvPicPr>
        <p:blipFill>
          <a:blip r:embed="rId17"/>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E57FC4AF-3C3E-B932-84C6-EBC689A61D2A}"/>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42</a:t>
            </a:fld>
            <a:endParaRPr lang="en-US" b="1" dirty="0">
              <a:solidFill>
                <a:schemeClr val="bg1"/>
              </a:solidFill>
            </a:endParaRPr>
          </a:p>
        </p:txBody>
      </p:sp>
    </p:spTree>
    <p:extLst>
      <p:ext uri="{BB962C8B-B14F-4D97-AF65-F5344CB8AC3E}">
        <p14:creationId xmlns:p14="http://schemas.microsoft.com/office/powerpoint/2010/main" val="1186552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4E45F-5D15-41F3-8F2A-2C4AB5F6E279}"/>
              </a:ext>
            </a:extLst>
          </p:cNvPr>
          <p:cNvSpPr>
            <a:spLocks noGrp="1"/>
          </p:cNvSpPr>
          <p:nvPr>
            <p:ph type="ctrTitle"/>
          </p:nvPr>
        </p:nvSpPr>
        <p:spPr>
          <a:prstGeom prst="rect">
            <a:avLst/>
          </a:prstGeom>
        </p:spPr>
        <p:txBody>
          <a:bodyPr/>
          <a:lstStyle/>
          <a:p>
            <a:r>
              <a:rPr lang="en-US" dirty="0"/>
              <a:t>ALU with changes</a:t>
            </a:r>
          </a:p>
        </p:txBody>
      </p:sp>
      <p:graphicFrame>
        <p:nvGraphicFramePr>
          <p:cNvPr id="4" name="Table 4">
            <a:extLst>
              <a:ext uri="{FF2B5EF4-FFF2-40B4-BE49-F238E27FC236}">
                <a16:creationId xmlns:a16="http://schemas.microsoft.com/office/drawing/2014/main" id="{61054D4F-50EB-4216-9E26-903E352CCA4A}"/>
              </a:ext>
            </a:extLst>
          </p:cNvPr>
          <p:cNvGraphicFramePr>
            <a:graphicFrameLocks noGrp="1"/>
          </p:cNvGraphicFramePr>
          <p:nvPr/>
        </p:nvGraphicFramePr>
        <p:xfrm>
          <a:off x="622581" y="1228633"/>
          <a:ext cx="10088736" cy="3108960"/>
        </p:xfrm>
        <a:graphic>
          <a:graphicData uri="http://schemas.openxmlformats.org/drawingml/2006/table">
            <a:tbl>
              <a:tblPr firstRow="1" bandRow="1">
                <a:tableStyleId>{5C22544A-7EE6-4342-B048-85BDC9FD1C3A}</a:tableStyleId>
              </a:tblPr>
              <a:tblGrid>
                <a:gridCol w="1170087">
                  <a:extLst>
                    <a:ext uri="{9D8B030D-6E8A-4147-A177-3AD203B41FA5}">
                      <a16:colId xmlns:a16="http://schemas.microsoft.com/office/drawing/2014/main" val="321351132"/>
                    </a:ext>
                  </a:extLst>
                </a:gridCol>
                <a:gridCol w="1525444">
                  <a:extLst>
                    <a:ext uri="{9D8B030D-6E8A-4147-A177-3AD203B41FA5}">
                      <a16:colId xmlns:a16="http://schemas.microsoft.com/office/drawing/2014/main" val="947167074"/>
                    </a:ext>
                  </a:extLst>
                </a:gridCol>
                <a:gridCol w="979405">
                  <a:extLst>
                    <a:ext uri="{9D8B030D-6E8A-4147-A177-3AD203B41FA5}">
                      <a16:colId xmlns:a16="http://schemas.microsoft.com/office/drawing/2014/main" val="1277270301"/>
                    </a:ext>
                  </a:extLst>
                </a:gridCol>
                <a:gridCol w="1820133">
                  <a:extLst>
                    <a:ext uri="{9D8B030D-6E8A-4147-A177-3AD203B41FA5}">
                      <a16:colId xmlns:a16="http://schemas.microsoft.com/office/drawing/2014/main" val="3038520054"/>
                    </a:ext>
                  </a:extLst>
                </a:gridCol>
                <a:gridCol w="1040075">
                  <a:extLst>
                    <a:ext uri="{9D8B030D-6E8A-4147-A177-3AD203B41FA5}">
                      <a16:colId xmlns:a16="http://schemas.microsoft.com/office/drawing/2014/main" val="3406501913"/>
                    </a:ext>
                  </a:extLst>
                </a:gridCol>
                <a:gridCol w="1594783">
                  <a:extLst>
                    <a:ext uri="{9D8B030D-6E8A-4147-A177-3AD203B41FA5}">
                      <a16:colId xmlns:a16="http://schemas.microsoft.com/office/drawing/2014/main" val="3358223032"/>
                    </a:ext>
                  </a:extLst>
                </a:gridCol>
                <a:gridCol w="1958809">
                  <a:extLst>
                    <a:ext uri="{9D8B030D-6E8A-4147-A177-3AD203B41FA5}">
                      <a16:colId xmlns:a16="http://schemas.microsoft.com/office/drawing/2014/main" val="2745844693"/>
                    </a:ext>
                  </a:extLst>
                </a:gridCol>
              </a:tblGrid>
              <a:tr h="314960">
                <a:tc>
                  <a:txBody>
                    <a:bodyPr/>
                    <a:lstStyle/>
                    <a:p>
                      <a:pPr algn="ctr"/>
                      <a:r>
                        <a:rPr lang="en-US" sz="1500" dirty="0"/>
                        <a:t>Op Select</a:t>
                      </a:r>
                    </a:p>
                  </a:txBody>
                  <a:tcPr/>
                </a:tc>
                <a:tc gridSpan="2">
                  <a:txBody>
                    <a:bodyPr/>
                    <a:lstStyle/>
                    <a:p>
                      <a:pPr algn="ctr"/>
                      <a:r>
                        <a:rPr lang="en-US" sz="1500"/>
                        <a:t>Special </a:t>
                      </a:r>
                      <a:r>
                        <a:rPr lang="en-US" sz="1500" err="1"/>
                        <a:t>Func</a:t>
                      </a:r>
                      <a:r>
                        <a:rPr lang="en-US" sz="1500"/>
                        <a:t>. = 0</a:t>
                      </a:r>
                    </a:p>
                  </a:txBody>
                  <a:tcPr/>
                </a:tc>
                <a:tc hMerge="1">
                  <a:txBody>
                    <a:bodyPr/>
                    <a:lstStyle/>
                    <a:p>
                      <a:endParaRPr lang="en-US"/>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a:t>Special </a:t>
                      </a:r>
                      <a:r>
                        <a:rPr lang="en-US" sz="1500" err="1"/>
                        <a:t>Func</a:t>
                      </a:r>
                      <a:r>
                        <a:rPr lang="en-US" sz="1500"/>
                        <a:t>. = 1</a:t>
                      </a:r>
                    </a:p>
                  </a:txBody>
                  <a:tcPr/>
                </a:tc>
                <a:tc hMerge="1">
                  <a:txBody>
                    <a:bodyPr/>
                    <a:lstStyle/>
                    <a:p>
                      <a:endParaRPr lang="en-US"/>
                    </a:p>
                  </a:txBody>
                  <a:tcPr/>
                </a:tc>
                <a:tc>
                  <a:txBody>
                    <a:bodyPr/>
                    <a:lstStyle/>
                    <a:p>
                      <a:pPr algn="ctr"/>
                      <a:r>
                        <a:rPr lang="en-US" sz="1500"/>
                        <a:t>Flag in</a:t>
                      </a:r>
                    </a:p>
                  </a:txBody>
                  <a:tcPr/>
                </a:tc>
                <a:tc>
                  <a:txBody>
                    <a:bodyPr/>
                    <a:lstStyle/>
                    <a:p>
                      <a:pPr algn="ctr"/>
                      <a:r>
                        <a:rPr lang="en-US" sz="1500"/>
                        <a:t>Flags Out</a:t>
                      </a:r>
                    </a:p>
                  </a:txBody>
                  <a:tcPr/>
                </a:tc>
                <a:extLst>
                  <a:ext uri="{0D108BD9-81ED-4DB2-BD59-A6C34878D82A}">
                    <a16:rowId xmlns:a16="http://schemas.microsoft.com/office/drawing/2014/main" val="1172704005"/>
                  </a:ext>
                </a:extLst>
              </a:tr>
              <a:tr h="314960">
                <a:tc>
                  <a:txBody>
                    <a:bodyPr/>
                    <a:lstStyle/>
                    <a:p>
                      <a:pPr algn="ctr"/>
                      <a:r>
                        <a:rPr lang="en-US" sz="1500"/>
                        <a:t>0</a:t>
                      </a:r>
                    </a:p>
                  </a:txBody>
                  <a:tcPr/>
                </a:tc>
                <a:tc>
                  <a:txBody>
                    <a:bodyPr/>
                    <a:lstStyle/>
                    <a:p>
                      <a:pPr algn="ctr"/>
                      <a:r>
                        <a:rPr lang="en-US" sz="1500"/>
                        <a:t>A OR B</a:t>
                      </a:r>
                    </a:p>
                  </a:txBody>
                  <a:tcPr>
                    <a:lnR w="12700" cap="flat" cmpd="sng" algn="ctr">
                      <a:solidFill>
                        <a:schemeClr val="bg1"/>
                      </a:solidFill>
                      <a:prstDash val="solid"/>
                      <a:round/>
                      <a:headEnd type="none" w="med" len="med"/>
                      <a:tailEnd type="none" w="med" len="med"/>
                    </a:lnR>
                  </a:tcPr>
                </a:tc>
                <a:tc>
                  <a:txBody>
                    <a:bodyPr/>
                    <a:lstStyle/>
                    <a:p>
                      <a:pPr algn="l"/>
                      <a:r>
                        <a:rPr lang="en-US" sz="1500"/>
                        <a:t>OR:     0</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a:solidFill>
                            <a:srgbClr val="FF0000"/>
                          </a:solidFill>
                        </a:rPr>
                        <a:t>A OR B</a:t>
                      </a:r>
                    </a:p>
                  </a:txBody>
                  <a:tcPr>
                    <a:lnR w="12700" cap="flat" cmpd="sng" algn="ctr">
                      <a:solidFill>
                        <a:schemeClr val="bg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a:solidFill>
                          <a:srgbClr val="FF0000"/>
                        </a:solidFill>
                      </a:endParaRP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a:t>-</a:t>
                      </a:r>
                    </a:p>
                  </a:txBody>
                  <a:tcPr/>
                </a:tc>
                <a:tc>
                  <a:txBody>
                    <a:bodyPr/>
                    <a:lstStyle/>
                    <a:p>
                      <a:pPr algn="ctr"/>
                      <a:r>
                        <a:rPr lang="en-US" sz="1500"/>
                        <a:t>Z, N</a:t>
                      </a:r>
                    </a:p>
                  </a:txBody>
                  <a:tcPr/>
                </a:tc>
                <a:extLst>
                  <a:ext uri="{0D108BD9-81ED-4DB2-BD59-A6C34878D82A}">
                    <a16:rowId xmlns:a16="http://schemas.microsoft.com/office/drawing/2014/main" val="3310631083"/>
                  </a:ext>
                </a:extLst>
              </a:tr>
              <a:tr h="314960">
                <a:tc>
                  <a:txBody>
                    <a:bodyPr/>
                    <a:lstStyle/>
                    <a:p>
                      <a:pPr algn="ctr"/>
                      <a:r>
                        <a:rPr lang="en-US" sz="1500"/>
                        <a:t>1</a:t>
                      </a:r>
                    </a:p>
                  </a:txBody>
                  <a:tcPr/>
                </a:tc>
                <a:tc>
                  <a:txBody>
                    <a:bodyPr/>
                    <a:lstStyle/>
                    <a:p>
                      <a:pPr algn="ctr"/>
                      <a:r>
                        <a:rPr lang="en-US" sz="1500">
                          <a:solidFill>
                            <a:schemeClr val="tx1"/>
                          </a:solidFill>
                        </a:rPr>
                        <a:t>A AND B</a:t>
                      </a:r>
                    </a:p>
                  </a:txBody>
                  <a:tcPr>
                    <a:lnR w="12700" cap="flat" cmpd="sng" algn="ctr">
                      <a:solidFill>
                        <a:schemeClr val="bg1"/>
                      </a:solidFill>
                      <a:prstDash val="solid"/>
                      <a:round/>
                      <a:headEnd type="none" w="med" len="med"/>
                      <a:tailEnd type="none" w="med" len="med"/>
                    </a:lnR>
                  </a:tcPr>
                </a:tc>
                <a:tc>
                  <a:txBody>
                    <a:bodyPr/>
                    <a:lstStyle/>
                    <a:p>
                      <a:pPr algn="l"/>
                      <a:r>
                        <a:rPr lang="en-US" sz="1500">
                          <a:solidFill>
                            <a:schemeClr val="tx1"/>
                          </a:solidFill>
                        </a:rPr>
                        <a:t>AND:  2</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a:solidFill>
                            <a:srgbClr val="FF0000"/>
                          </a:solidFill>
                        </a:rPr>
                        <a:t>A AND B</a:t>
                      </a:r>
                    </a:p>
                  </a:txBody>
                  <a:tcPr>
                    <a:lnR w="12700" cap="flat" cmpd="sng" algn="ctr">
                      <a:solidFill>
                        <a:schemeClr val="bg1"/>
                      </a:solidFill>
                      <a:prstDash val="solid"/>
                      <a:round/>
                      <a:headEnd type="none" w="med" len="med"/>
                      <a:tailEnd type="none" w="med" len="med"/>
                    </a:lnR>
                  </a:tcPr>
                </a:tc>
                <a:tc>
                  <a:txBody>
                    <a:bodyPr/>
                    <a:lstStyle/>
                    <a:p>
                      <a:pPr algn="l"/>
                      <a:endParaRPr lang="en-US" sz="1500">
                        <a:solidFill>
                          <a:schemeClr val="tx1"/>
                        </a:solidFill>
                      </a:endParaRP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a:t>-</a:t>
                      </a:r>
                    </a:p>
                  </a:txBody>
                  <a:tcPr/>
                </a:tc>
                <a:tc>
                  <a:txBody>
                    <a:bodyPr/>
                    <a:lstStyle/>
                    <a:p>
                      <a:pPr algn="ctr"/>
                      <a:r>
                        <a:rPr lang="en-US" sz="1500"/>
                        <a:t> </a:t>
                      </a:r>
                    </a:p>
                  </a:txBody>
                  <a:tcPr/>
                </a:tc>
                <a:extLst>
                  <a:ext uri="{0D108BD9-81ED-4DB2-BD59-A6C34878D82A}">
                    <a16:rowId xmlns:a16="http://schemas.microsoft.com/office/drawing/2014/main" val="3738173850"/>
                  </a:ext>
                </a:extLst>
              </a:tr>
              <a:tr h="314960">
                <a:tc>
                  <a:txBody>
                    <a:bodyPr/>
                    <a:lstStyle/>
                    <a:p>
                      <a:pPr algn="ctr"/>
                      <a:r>
                        <a:rPr lang="en-US" sz="1500"/>
                        <a:t>2</a:t>
                      </a:r>
                    </a:p>
                  </a:txBody>
                  <a:tcPr/>
                </a:tc>
                <a:tc>
                  <a:txBody>
                    <a:bodyPr/>
                    <a:lstStyle/>
                    <a:p>
                      <a:pPr algn="ctr"/>
                      <a:r>
                        <a:rPr lang="en-US" sz="1500" b="0">
                          <a:solidFill>
                            <a:schemeClr val="tx1"/>
                          </a:solidFill>
                        </a:rPr>
                        <a:t>A XOR B</a:t>
                      </a:r>
                    </a:p>
                  </a:txBody>
                  <a:tcPr>
                    <a:lnR w="12700" cap="flat" cmpd="sng" algn="ctr">
                      <a:solidFill>
                        <a:schemeClr val="bg1"/>
                      </a:solidFill>
                      <a:prstDash val="solid"/>
                      <a:round/>
                      <a:headEnd type="none" w="med" len="med"/>
                      <a:tailEnd type="none" w="med" len="med"/>
                    </a:lnR>
                  </a:tcPr>
                </a:tc>
                <a:tc>
                  <a:txBody>
                    <a:bodyPr/>
                    <a:lstStyle/>
                    <a:p>
                      <a:pPr algn="l"/>
                      <a:r>
                        <a:rPr lang="en-US" sz="1500" b="0">
                          <a:solidFill>
                            <a:schemeClr val="tx1"/>
                          </a:solidFill>
                        </a:rPr>
                        <a:t>XOR:  4</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dirty="0"/>
                        <a:t>~B</a:t>
                      </a:r>
                    </a:p>
                  </a:txBody>
                  <a:tcPr>
                    <a:lnR w="12700" cap="flat" cmpd="sng" algn="ctr">
                      <a:solidFill>
                        <a:schemeClr val="bg1"/>
                      </a:solidFill>
                      <a:prstDash val="solid"/>
                      <a:round/>
                      <a:headEnd type="none" w="med" len="med"/>
                      <a:tailEnd type="none" w="med" len="med"/>
                    </a:lnR>
                  </a:tcPr>
                </a:tc>
                <a:tc>
                  <a:txBody>
                    <a:bodyPr/>
                    <a:lstStyle/>
                    <a:p>
                      <a:pPr algn="l"/>
                      <a:r>
                        <a:rPr lang="en-US" sz="1500"/>
                        <a:t>NOT:  5</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a:t>-</a:t>
                      </a:r>
                    </a:p>
                  </a:txBody>
                  <a:tcPr/>
                </a:tc>
                <a:tc>
                  <a:txBody>
                    <a:bodyPr/>
                    <a:lstStyle/>
                    <a:p>
                      <a:pPr algn="ctr"/>
                      <a:r>
                        <a:rPr lang="en-US" sz="1500"/>
                        <a:t>Z, N</a:t>
                      </a:r>
                    </a:p>
                  </a:txBody>
                  <a:tcPr/>
                </a:tc>
                <a:extLst>
                  <a:ext uri="{0D108BD9-81ED-4DB2-BD59-A6C34878D82A}">
                    <a16:rowId xmlns:a16="http://schemas.microsoft.com/office/drawing/2014/main" val="1360638868"/>
                  </a:ext>
                </a:extLst>
              </a:tr>
              <a:tr h="314960">
                <a:tc>
                  <a:txBody>
                    <a:bodyPr/>
                    <a:lstStyle/>
                    <a:p>
                      <a:pPr algn="ctr"/>
                      <a:r>
                        <a:rPr lang="en-US" sz="1500"/>
                        <a:t>3</a:t>
                      </a:r>
                    </a:p>
                  </a:txBody>
                  <a:tcPr/>
                </a:tc>
                <a:tc>
                  <a:txBody>
                    <a:bodyPr/>
                    <a:lstStyle/>
                    <a:p>
                      <a:pPr algn="ctr"/>
                      <a:r>
                        <a:rPr lang="en-US" sz="1500"/>
                        <a:t>A + B</a:t>
                      </a:r>
                    </a:p>
                  </a:txBody>
                  <a:tcPr>
                    <a:lnR w="12700" cap="flat" cmpd="sng" algn="ctr">
                      <a:solidFill>
                        <a:schemeClr val="bg1"/>
                      </a:solidFill>
                      <a:prstDash val="solid"/>
                      <a:round/>
                      <a:headEnd type="none" w="med" len="med"/>
                      <a:tailEnd type="none" w="med" len="med"/>
                    </a:lnR>
                  </a:tcPr>
                </a:tc>
                <a:tc>
                  <a:txBody>
                    <a:bodyPr/>
                    <a:lstStyle/>
                    <a:p>
                      <a:pPr algn="l"/>
                      <a:r>
                        <a:rPr lang="en-US" sz="1500"/>
                        <a:t>ADD:  6</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a:t>A – B</a:t>
                      </a:r>
                    </a:p>
                  </a:txBody>
                  <a:tcPr>
                    <a:lnR w="12700" cap="flat" cmpd="sng" algn="ctr">
                      <a:solidFill>
                        <a:schemeClr val="bg1"/>
                      </a:solidFill>
                      <a:prstDash val="solid"/>
                      <a:round/>
                      <a:headEnd type="none" w="med" len="med"/>
                      <a:tailEnd type="none" w="med" len="med"/>
                    </a:lnR>
                  </a:tcPr>
                </a:tc>
                <a:tc>
                  <a:txBody>
                    <a:bodyPr/>
                    <a:lstStyle/>
                    <a:p>
                      <a:pPr algn="l"/>
                      <a:r>
                        <a:rPr lang="en-US" sz="1500"/>
                        <a:t>SUB:  7</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a:t>- </a:t>
                      </a:r>
                    </a:p>
                  </a:txBody>
                  <a:tcPr/>
                </a:tc>
                <a:tc>
                  <a:txBody>
                    <a:bodyPr/>
                    <a:lstStyle/>
                    <a:p>
                      <a:pPr algn="ctr"/>
                      <a:r>
                        <a:rPr lang="en-US" sz="1500"/>
                        <a:t>Z, N, Co</a:t>
                      </a:r>
                    </a:p>
                  </a:txBody>
                  <a:tcPr/>
                </a:tc>
                <a:extLst>
                  <a:ext uri="{0D108BD9-81ED-4DB2-BD59-A6C34878D82A}">
                    <a16:rowId xmlns:a16="http://schemas.microsoft.com/office/drawing/2014/main" val="4155580310"/>
                  </a:ext>
                </a:extLst>
              </a:tr>
              <a:tr h="539655">
                <a:tc>
                  <a:txBody>
                    <a:bodyPr/>
                    <a:lstStyle/>
                    <a:p>
                      <a:pPr algn="ctr"/>
                      <a:r>
                        <a:rPr lang="en-US" sz="1500"/>
                        <a:t>4</a:t>
                      </a:r>
                    </a:p>
                  </a:txBody>
                  <a:tcPr/>
                </a:tc>
                <a:tc>
                  <a:txBody>
                    <a:bodyPr/>
                    <a:lstStyle/>
                    <a:p>
                      <a:pPr algn="ctr"/>
                      <a:r>
                        <a:rPr lang="en-US" sz="1500"/>
                        <a:t>Shift Left A </a:t>
                      </a:r>
                    </a:p>
                    <a:p>
                      <a:pPr algn="ctr"/>
                      <a:r>
                        <a:rPr lang="en-US" sz="1500"/>
                        <a:t>A[0]=0</a:t>
                      </a:r>
                    </a:p>
                  </a:txBody>
                  <a:tcPr>
                    <a:lnR w="12700" cap="flat" cmpd="sng" algn="ctr">
                      <a:solidFill>
                        <a:schemeClr val="bg1"/>
                      </a:solidFill>
                      <a:prstDash val="solid"/>
                      <a:round/>
                      <a:headEnd type="none" w="med" len="med"/>
                      <a:tailEnd type="none" w="med" len="med"/>
                    </a:lnR>
                  </a:tcPr>
                </a:tc>
                <a:tc>
                  <a:txBody>
                    <a:bodyPr/>
                    <a:lstStyle/>
                    <a:p>
                      <a:pPr algn="l"/>
                      <a:r>
                        <a:rPr lang="en-US" sz="1500"/>
                        <a:t>ASL:   8</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a:t>Rotate left A</a:t>
                      </a:r>
                    </a:p>
                    <a:p>
                      <a:pPr algn="ctr"/>
                      <a:r>
                        <a:rPr lang="en-US" sz="1500"/>
                        <a:t>A[0]=</a:t>
                      </a:r>
                      <a:r>
                        <a:rPr lang="en-US" sz="1500" err="1"/>
                        <a:t>Cin</a:t>
                      </a:r>
                      <a:r>
                        <a:rPr lang="en-US" sz="1500"/>
                        <a:t> </a:t>
                      </a:r>
                    </a:p>
                  </a:txBody>
                  <a:tcPr>
                    <a:lnR w="12700" cap="flat" cmpd="sng" algn="ctr">
                      <a:solidFill>
                        <a:schemeClr val="bg1"/>
                      </a:solidFill>
                      <a:prstDash val="solid"/>
                      <a:round/>
                      <a:headEnd type="none" w="med" len="med"/>
                      <a:tailEnd type="none" w="med" len="med"/>
                    </a:lnR>
                  </a:tcPr>
                </a:tc>
                <a:tc>
                  <a:txBody>
                    <a:bodyPr/>
                    <a:lstStyle/>
                    <a:p>
                      <a:pPr algn="l"/>
                      <a:r>
                        <a:rPr lang="en-US" sz="1500"/>
                        <a:t>ROL:  9</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err="1"/>
                        <a:t>Cin</a:t>
                      </a:r>
                      <a:r>
                        <a:rPr lang="en-US" sz="1500"/>
                        <a:t> (Rotate)</a:t>
                      </a:r>
                    </a:p>
                  </a:txBody>
                  <a:tcPr/>
                </a:tc>
                <a:tc>
                  <a:txBody>
                    <a:bodyPr/>
                    <a:lstStyle/>
                    <a:p>
                      <a:pPr algn="ctr"/>
                      <a:r>
                        <a:rPr lang="en-US" sz="1500"/>
                        <a:t>Z, N=A[6], Co=A[7]</a:t>
                      </a:r>
                    </a:p>
                  </a:txBody>
                  <a:tcPr/>
                </a:tc>
                <a:extLst>
                  <a:ext uri="{0D108BD9-81ED-4DB2-BD59-A6C34878D82A}">
                    <a16:rowId xmlns:a16="http://schemas.microsoft.com/office/drawing/2014/main" val="2712813175"/>
                  </a:ext>
                </a:extLst>
              </a:tr>
              <a:tr h="314960">
                <a:tc>
                  <a:txBody>
                    <a:bodyPr/>
                    <a:lstStyle/>
                    <a:p>
                      <a:pPr algn="ctr"/>
                      <a:r>
                        <a:rPr lang="en-US" sz="1500"/>
                        <a:t>5</a:t>
                      </a:r>
                    </a:p>
                  </a:txBody>
                  <a:tcPr/>
                </a:tc>
                <a:tc>
                  <a:txBody>
                    <a:bodyPr/>
                    <a:lstStyle/>
                    <a:p>
                      <a:pPr algn="ctr"/>
                      <a:r>
                        <a:rPr lang="en-US" sz="1500"/>
                        <a:t>Shift Right A</a:t>
                      </a:r>
                    </a:p>
                  </a:txBody>
                  <a:tcPr>
                    <a:lnR w="12700" cap="flat" cmpd="sng" algn="ctr">
                      <a:solidFill>
                        <a:schemeClr val="bg1"/>
                      </a:solidFill>
                      <a:prstDash val="solid"/>
                      <a:round/>
                      <a:headEnd type="none" w="med" len="med"/>
                      <a:tailEnd type="none" w="med" len="med"/>
                    </a:lnR>
                  </a:tcPr>
                </a:tc>
                <a:tc>
                  <a:txBody>
                    <a:bodyPr/>
                    <a:lstStyle/>
                    <a:p>
                      <a:pPr algn="l"/>
                      <a:r>
                        <a:rPr lang="en-US" sz="1500"/>
                        <a:t>LSR:   A</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dirty="0"/>
                        <a:t>Arithmetic S.R. A</a:t>
                      </a:r>
                    </a:p>
                  </a:txBody>
                  <a:tcPr>
                    <a:lnR w="12700" cap="flat" cmpd="sng" algn="ctr">
                      <a:solidFill>
                        <a:schemeClr val="bg1"/>
                      </a:solidFill>
                      <a:prstDash val="solid"/>
                      <a:round/>
                      <a:headEnd type="none" w="med" len="med"/>
                      <a:tailEnd type="none" w="med" len="med"/>
                    </a:lnR>
                  </a:tcPr>
                </a:tc>
                <a:tc>
                  <a:txBody>
                    <a:bodyPr/>
                    <a:lstStyle/>
                    <a:p>
                      <a:pPr algn="l"/>
                      <a:r>
                        <a:rPr lang="en-US" sz="1500"/>
                        <a:t>ASR:  B</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a:t>Z, N, Co=A[0]</a:t>
                      </a:r>
                    </a:p>
                  </a:txBody>
                  <a:tcPr/>
                </a:tc>
                <a:extLst>
                  <a:ext uri="{0D108BD9-81ED-4DB2-BD59-A6C34878D82A}">
                    <a16:rowId xmlns:a16="http://schemas.microsoft.com/office/drawing/2014/main" val="442150718"/>
                  </a:ext>
                </a:extLst>
              </a:tr>
              <a:tr h="314960">
                <a:tc>
                  <a:txBody>
                    <a:bodyPr/>
                    <a:lstStyle/>
                    <a:p>
                      <a:pPr algn="ctr"/>
                      <a:r>
                        <a:rPr lang="en-US" sz="1500"/>
                        <a:t>6</a:t>
                      </a:r>
                    </a:p>
                  </a:txBody>
                  <a:tcPr/>
                </a:tc>
                <a:tc>
                  <a:txBody>
                    <a:bodyPr/>
                    <a:lstStyle/>
                    <a:p>
                      <a:pPr algn="ctr"/>
                      <a:r>
                        <a:rPr lang="en-US" sz="1500" dirty="0">
                          <a:solidFill>
                            <a:srgbClr val="FF0000"/>
                          </a:solidFill>
                        </a:rPr>
                        <a:t>Rotate Right</a:t>
                      </a:r>
                    </a:p>
                  </a:txBody>
                  <a:tcPr>
                    <a:lnR w="12700" cap="flat" cmpd="sng" algn="ctr">
                      <a:solidFill>
                        <a:schemeClr val="bg1"/>
                      </a:solidFill>
                      <a:prstDash val="solid"/>
                      <a:round/>
                      <a:headEnd type="none" w="med" len="med"/>
                      <a:tailEnd type="none" w="med" len="med"/>
                    </a:lnR>
                  </a:tcPr>
                </a:tc>
                <a:tc>
                  <a:txBody>
                    <a:bodyPr/>
                    <a:lstStyle/>
                    <a:p>
                      <a:pPr algn="l"/>
                      <a:r>
                        <a:rPr lang="en-US" sz="1500">
                          <a:solidFill>
                            <a:srgbClr val="FF0000"/>
                          </a:solidFill>
                        </a:rPr>
                        <a:t>ROR: C</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dirty="0"/>
                        <a:t>Cin -&gt; A-&gt; Cout</a:t>
                      </a:r>
                    </a:p>
                  </a:txBody>
                  <a:tcPr>
                    <a:lnR w="12700" cap="flat" cmpd="sng" algn="ctr">
                      <a:solidFill>
                        <a:schemeClr val="bg1"/>
                      </a:solidFill>
                      <a:prstDash val="solid"/>
                      <a:round/>
                      <a:headEnd type="none" w="med" len="med"/>
                      <a:tailEnd type="none" w="med" len="med"/>
                    </a:lnR>
                  </a:tcPr>
                </a:tc>
                <a:tc>
                  <a:txBody>
                    <a:bodyPr/>
                    <a:lstStyle/>
                    <a:p>
                      <a:pPr algn="l"/>
                      <a:endParaRPr lang="en-US" sz="1500"/>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err="1"/>
                        <a:t>Cin</a:t>
                      </a:r>
                      <a:endParaRPr lang="en-US" sz="15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a:t>Z, N, Co=A[0]</a:t>
                      </a:r>
                    </a:p>
                  </a:txBody>
                  <a:tcPr/>
                </a:tc>
                <a:extLst>
                  <a:ext uri="{0D108BD9-81ED-4DB2-BD59-A6C34878D82A}">
                    <a16:rowId xmlns:a16="http://schemas.microsoft.com/office/drawing/2014/main" val="615310716"/>
                  </a:ext>
                </a:extLst>
              </a:tr>
              <a:tr h="314960">
                <a:tc>
                  <a:txBody>
                    <a:bodyPr/>
                    <a:lstStyle/>
                    <a:p>
                      <a:pPr algn="ctr"/>
                      <a:r>
                        <a:rPr lang="en-US" sz="1500">
                          <a:solidFill>
                            <a:schemeClr val="tx1"/>
                          </a:solidFill>
                        </a:rPr>
                        <a:t>7</a:t>
                      </a:r>
                    </a:p>
                  </a:txBody>
                  <a:tcPr/>
                </a:tc>
                <a:tc>
                  <a:txBody>
                    <a:bodyPr/>
                    <a:lstStyle/>
                    <a:p>
                      <a:pPr algn="ctr"/>
                      <a:r>
                        <a:rPr lang="en-US" sz="1500" dirty="0">
                          <a:solidFill>
                            <a:schemeClr val="tx1"/>
                          </a:solidFill>
                        </a:rPr>
                        <a:t>A + B + Cin</a:t>
                      </a:r>
                    </a:p>
                  </a:txBody>
                  <a:tcPr>
                    <a:lnR w="12700" cap="flat" cmpd="sng" algn="ctr">
                      <a:solidFill>
                        <a:schemeClr val="bg1"/>
                      </a:solidFill>
                      <a:prstDash val="solid"/>
                      <a:round/>
                      <a:headEnd type="none" w="med" len="med"/>
                      <a:tailEnd type="none" w="med" len="med"/>
                    </a:lnR>
                  </a:tcPr>
                </a:tc>
                <a:tc>
                  <a:txBody>
                    <a:bodyPr/>
                    <a:lstStyle/>
                    <a:p>
                      <a:pPr algn="l"/>
                      <a:r>
                        <a:rPr lang="en-US" sz="1500">
                          <a:solidFill>
                            <a:schemeClr val="tx1"/>
                          </a:solidFill>
                        </a:rPr>
                        <a:t>ADC:  E </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a:solidFill>
                            <a:schemeClr val="tx1"/>
                          </a:solidFill>
                        </a:rPr>
                        <a:t>A – B + </a:t>
                      </a:r>
                      <a:r>
                        <a:rPr lang="en-US" sz="1500" err="1">
                          <a:solidFill>
                            <a:schemeClr val="tx1"/>
                          </a:solidFill>
                        </a:rPr>
                        <a:t>Cin</a:t>
                      </a:r>
                      <a:endParaRPr lang="en-US" sz="1500">
                        <a:solidFill>
                          <a:schemeClr val="tx1"/>
                        </a:solidFill>
                      </a:endParaRPr>
                    </a:p>
                  </a:txBody>
                  <a:tcPr>
                    <a:lnR w="12700" cap="flat" cmpd="sng" algn="ctr">
                      <a:solidFill>
                        <a:schemeClr val="bg1"/>
                      </a:solidFill>
                      <a:prstDash val="solid"/>
                      <a:round/>
                      <a:headEnd type="none" w="med" len="med"/>
                      <a:tailEnd type="none" w="med" len="med"/>
                    </a:lnR>
                  </a:tcPr>
                </a:tc>
                <a:tc>
                  <a:txBody>
                    <a:bodyPr/>
                    <a:lstStyle/>
                    <a:p>
                      <a:pPr algn="l"/>
                      <a:r>
                        <a:rPr lang="en-US" sz="1500">
                          <a:solidFill>
                            <a:schemeClr val="tx1"/>
                          </a:solidFill>
                        </a:rPr>
                        <a:t>SBC:  F</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err="1">
                          <a:solidFill>
                            <a:schemeClr val="tx1"/>
                          </a:solidFill>
                        </a:rPr>
                        <a:t>Cin</a:t>
                      </a:r>
                      <a:endParaRPr lang="en-US" sz="150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dirty="0"/>
                        <a:t>Z, N, Co</a:t>
                      </a:r>
                    </a:p>
                  </a:txBody>
                  <a:tcPr/>
                </a:tc>
                <a:extLst>
                  <a:ext uri="{0D108BD9-81ED-4DB2-BD59-A6C34878D82A}">
                    <a16:rowId xmlns:a16="http://schemas.microsoft.com/office/drawing/2014/main" val="3768586301"/>
                  </a:ext>
                </a:extLst>
              </a:tr>
            </a:tbl>
          </a:graphicData>
        </a:graphic>
      </p:graphicFrame>
      <p:sp>
        <p:nvSpPr>
          <p:cNvPr id="5" name="TextBox 4">
            <a:extLst>
              <a:ext uri="{FF2B5EF4-FFF2-40B4-BE49-F238E27FC236}">
                <a16:creationId xmlns:a16="http://schemas.microsoft.com/office/drawing/2014/main" id="{1A7CDFEC-6ABA-41B5-9530-4B1D17CB748E}"/>
              </a:ext>
            </a:extLst>
          </p:cNvPr>
          <p:cNvSpPr txBox="1"/>
          <p:nvPr/>
        </p:nvSpPr>
        <p:spPr>
          <a:xfrm>
            <a:off x="2556853" y="5226382"/>
            <a:ext cx="4106958" cy="646331"/>
          </a:xfrm>
          <a:prstGeom prst="rect">
            <a:avLst/>
          </a:prstGeom>
          <a:noFill/>
        </p:spPr>
        <p:txBody>
          <a:bodyPr wrap="none" rtlCol="0">
            <a:spAutoFit/>
          </a:bodyPr>
          <a:lstStyle/>
          <a:p>
            <a:r>
              <a:rPr lang="en-US"/>
              <a:t>Proposals for the additional operations</a:t>
            </a:r>
          </a:p>
          <a:p>
            <a:pPr marL="285744" indent="-285744">
              <a:buFont typeface="Arial" panose="020B0604020202020204" pitchFamily="34" charset="0"/>
              <a:buChar char="•"/>
            </a:pPr>
            <a:r>
              <a:rPr lang="en-US"/>
              <a:t>How to chain Shift Right of two bytes? </a:t>
            </a:r>
          </a:p>
        </p:txBody>
      </p:sp>
      <p:graphicFrame>
        <p:nvGraphicFramePr>
          <p:cNvPr id="3" name="Table 5">
            <a:extLst>
              <a:ext uri="{FF2B5EF4-FFF2-40B4-BE49-F238E27FC236}">
                <a16:creationId xmlns:a16="http://schemas.microsoft.com/office/drawing/2014/main" id="{445C3134-7AEA-45C0-B554-9C3721A651EE}"/>
              </a:ext>
            </a:extLst>
          </p:cNvPr>
          <p:cNvGraphicFramePr>
            <a:graphicFrameLocks noGrp="1"/>
          </p:cNvGraphicFramePr>
          <p:nvPr>
            <p:extLst>
              <p:ext uri="{D42A27DB-BD31-4B8C-83A1-F6EECF244321}">
                <p14:modId xmlns:p14="http://schemas.microsoft.com/office/powerpoint/2010/main" val="2479002857"/>
              </p:ext>
            </p:extLst>
          </p:nvPr>
        </p:nvGraphicFramePr>
        <p:xfrm>
          <a:off x="622579" y="4522163"/>
          <a:ext cx="10608860" cy="1417320"/>
        </p:xfrm>
        <a:graphic>
          <a:graphicData uri="http://schemas.openxmlformats.org/drawingml/2006/table">
            <a:tbl>
              <a:tblPr firstRow="1" bandRow="1">
                <a:tableStyleId>{93296810-A885-4BE3-A3E7-6D5BEEA58F35}</a:tableStyleId>
              </a:tblPr>
              <a:tblGrid>
                <a:gridCol w="2861481">
                  <a:extLst>
                    <a:ext uri="{9D8B030D-6E8A-4147-A177-3AD203B41FA5}">
                      <a16:colId xmlns:a16="http://schemas.microsoft.com/office/drawing/2014/main" val="3201275542"/>
                    </a:ext>
                  </a:extLst>
                </a:gridCol>
                <a:gridCol w="1901588">
                  <a:extLst>
                    <a:ext uri="{9D8B030D-6E8A-4147-A177-3AD203B41FA5}">
                      <a16:colId xmlns:a16="http://schemas.microsoft.com/office/drawing/2014/main" val="3097542783"/>
                    </a:ext>
                  </a:extLst>
                </a:gridCol>
                <a:gridCol w="3939699">
                  <a:extLst>
                    <a:ext uri="{9D8B030D-6E8A-4147-A177-3AD203B41FA5}">
                      <a16:colId xmlns:a16="http://schemas.microsoft.com/office/drawing/2014/main" val="2076965464"/>
                    </a:ext>
                  </a:extLst>
                </a:gridCol>
                <a:gridCol w="1906092">
                  <a:extLst>
                    <a:ext uri="{9D8B030D-6E8A-4147-A177-3AD203B41FA5}">
                      <a16:colId xmlns:a16="http://schemas.microsoft.com/office/drawing/2014/main" val="616535788"/>
                    </a:ext>
                  </a:extLst>
                </a:gridCol>
              </a:tblGrid>
              <a:tr h="314960">
                <a:tc>
                  <a:txBody>
                    <a:bodyPr/>
                    <a:lstStyle/>
                    <a:p>
                      <a:r>
                        <a:rPr lang="en-US" sz="1500" dirty="0"/>
                        <a:t>Proposal</a:t>
                      </a:r>
                    </a:p>
                  </a:txBody>
                  <a:tcPr/>
                </a:tc>
                <a:tc>
                  <a:txBody>
                    <a:bodyPr/>
                    <a:lstStyle/>
                    <a:p>
                      <a:r>
                        <a:rPr lang="en-US" sz="1500"/>
                        <a:t># of IC slots </a:t>
                      </a:r>
                    </a:p>
                  </a:txBody>
                  <a:tcPr/>
                </a:tc>
                <a:tc>
                  <a:txBody>
                    <a:bodyPr/>
                    <a:lstStyle/>
                    <a:p>
                      <a:r>
                        <a:rPr lang="en-US" sz="1500"/>
                        <a:t>Description</a:t>
                      </a:r>
                    </a:p>
                  </a:txBody>
                  <a:tcPr/>
                </a:tc>
                <a:tc>
                  <a:txBody>
                    <a:bodyPr/>
                    <a:lstStyle/>
                    <a:p>
                      <a:r>
                        <a:rPr lang="en-US" sz="1500"/>
                        <a:t>Op Code </a:t>
                      </a:r>
                    </a:p>
                  </a:txBody>
                  <a:tcPr/>
                </a:tc>
                <a:extLst>
                  <a:ext uri="{0D108BD9-81ED-4DB2-BD59-A6C34878D82A}">
                    <a16:rowId xmlns:a16="http://schemas.microsoft.com/office/drawing/2014/main" val="381336539"/>
                  </a:ext>
                </a:extLst>
              </a:tr>
              <a:tr h="538480">
                <a:tc>
                  <a:txBody>
                    <a:bodyPr/>
                    <a:lstStyle/>
                    <a:p>
                      <a:r>
                        <a:rPr lang="en-US" sz="1500"/>
                        <a:t>OR and ADD share Op Code</a:t>
                      </a:r>
                    </a:p>
                    <a:p>
                      <a:r>
                        <a:rPr lang="en-US" sz="1500"/>
                        <a:t>(low priority)</a:t>
                      </a:r>
                    </a:p>
                  </a:txBody>
                  <a:tcPr/>
                </a:tc>
                <a:tc>
                  <a:txBody>
                    <a:bodyPr/>
                    <a:lstStyle/>
                    <a:p>
                      <a:r>
                        <a:rPr lang="en-US" sz="1500" dirty="0"/>
                        <a:t>2x 74LS157</a:t>
                      </a:r>
                    </a:p>
                  </a:txBody>
                  <a:tcPr/>
                </a:tc>
                <a:tc>
                  <a:txBody>
                    <a:bodyPr/>
                    <a:lstStyle/>
                    <a:p>
                      <a:r>
                        <a:rPr lang="en-US" sz="1500"/>
                        <a:t>Special Function select OR </a:t>
                      </a:r>
                      <a:r>
                        <a:rPr lang="en-US" sz="1500" err="1"/>
                        <a:t>or</a:t>
                      </a:r>
                      <a:r>
                        <a:rPr lang="en-US" sz="1500"/>
                        <a:t> AND</a:t>
                      </a:r>
                    </a:p>
                  </a:txBody>
                  <a:tcPr/>
                </a:tc>
                <a:tc>
                  <a:txBody>
                    <a:bodyPr/>
                    <a:lstStyle/>
                    <a:p>
                      <a:r>
                        <a:rPr lang="en-US" sz="1500"/>
                        <a:t>Release op code</a:t>
                      </a:r>
                    </a:p>
                  </a:txBody>
                  <a:tcPr/>
                </a:tc>
                <a:extLst>
                  <a:ext uri="{0D108BD9-81ED-4DB2-BD59-A6C34878D82A}">
                    <a16:rowId xmlns:a16="http://schemas.microsoft.com/office/drawing/2014/main" val="4225376749"/>
                  </a:ext>
                </a:extLst>
              </a:tr>
              <a:tr h="538480">
                <a:tc>
                  <a:txBody>
                    <a:bodyPr/>
                    <a:lstStyle/>
                    <a:p>
                      <a:r>
                        <a:rPr lang="en-US" sz="1500" strike="noStrike" baseline="0"/>
                        <a:t>Allow using ALU as two registers</a:t>
                      </a:r>
                    </a:p>
                    <a:p>
                      <a:r>
                        <a:rPr lang="en-US" sz="1500" strike="noStrike" baseline="0"/>
                        <a:t>(low Priority)</a:t>
                      </a:r>
                    </a:p>
                  </a:txBody>
                  <a:tcPr/>
                </a:tc>
                <a:tc>
                  <a:txBody>
                    <a:bodyPr/>
                    <a:lstStyle/>
                    <a:p>
                      <a:endParaRPr lang="en-US" sz="1500" strike="noStrike" baseline="0"/>
                    </a:p>
                  </a:txBody>
                  <a:tcPr/>
                </a:tc>
                <a:tc>
                  <a:txBody>
                    <a:bodyPr/>
                    <a:lstStyle/>
                    <a:p>
                      <a:r>
                        <a:rPr lang="en-US" sz="1500" strike="noStrike" baseline="0"/>
                        <a:t>Need to create output A and B</a:t>
                      </a:r>
                    </a:p>
                  </a:txBody>
                  <a:tcPr/>
                </a:tc>
                <a:tc>
                  <a:txBody>
                    <a:bodyPr/>
                    <a:lstStyle/>
                    <a:p>
                      <a:endParaRPr lang="en-US" sz="1500" strike="noStrike" baseline="0"/>
                    </a:p>
                  </a:txBody>
                  <a:tcPr/>
                </a:tc>
                <a:extLst>
                  <a:ext uri="{0D108BD9-81ED-4DB2-BD59-A6C34878D82A}">
                    <a16:rowId xmlns:a16="http://schemas.microsoft.com/office/drawing/2014/main" val="3294974406"/>
                  </a:ext>
                </a:extLst>
              </a:tr>
            </a:tbl>
          </a:graphicData>
        </a:graphic>
      </p:graphicFrame>
      <p:pic>
        <p:nvPicPr>
          <p:cNvPr id="6" name="Picture 5">
            <a:hlinkClick r:id="rId3" action="ppaction://hlinksldjump"/>
            <a:extLst>
              <a:ext uri="{FF2B5EF4-FFF2-40B4-BE49-F238E27FC236}">
                <a16:creationId xmlns:a16="http://schemas.microsoft.com/office/drawing/2014/main" id="{DFAB5B13-DA84-52A3-2000-ABD7D6D265B3}"/>
              </a:ext>
            </a:extLst>
          </p:cNvPr>
          <p:cNvPicPr>
            <a:picLocks noChangeAspect="1"/>
          </p:cNvPicPr>
          <p:nvPr/>
        </p:nvPicPr>
        <p:blipFill>
          <a:blip r:embed="rId4"/>
          <a:stretch>
            <a:fillRect/>
          </a:stretch>
        </p:blipFill>
        <p:spPr>
          <a:xfrm>
            <a:off x="11038384" y="6427540"/>
            <a:ext cx="1076851" cy="222744"/>
          </a:xfrm>
          <a:prstGeom prst="rect">
            <a:avLst/>
          </a:prstGeom>
        </p:spPr>
      </p:pic>
      <p:sp>
        <p:nvSpPr>
          <p:cNvPr id="8" name="Slide Number Placeholder 4">
            <a:extLst>
              <a:ext uri="{FF2B5EF4-FFF2-40B4-BE49-F238E27FC236}">
                <a16:creationId xmlns:a16="http://schemas.microsoft.com/office/drawing/2014/main" id="{52608AC7-0C89-98F9-3539-F7027AF8ACF8}"/>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43</a:t>
            </a:fld>
            <a:endParaRPr lang="en-US" b="1">
              <a:solidFill>
                <a:schemeClr val="bg1"/>
              </a:solidFill>
            </a:endParaRPr>
          </a:p>
        </p:txBody>
      </p:sp>
    </p:spTree>
    <p:extLst>
      <p:ext uri="{BB962C8B-B14F-4D97-AF65-F5344CB8AC3E}">
        <p14:creationId xmlns:p14="http://schemas.microsoft.com/office/powerpoint/2010/main" val="2728755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C6458AE-9906-FD29-9849-60445EF4114B}"/>
              </a:ext>
            </a:extLst>
          </p:cNvPr>
          <p:cNvSpPr>
            <a:spLocks noGrp="1"/>
          </p:cNvSpPr>
          <p:nvPr>
            <p:ph type="ctrTitle"/>
          </p:nvPr>
        </p:nvSpPr>
        <p:spPr>
          <a:xfrm>
            <a:off x="914399" y="182880"/>
            <a:ext cx="9144000" cy="457200"/>
          </a:xfrm>
        </p:spPr>
        <p:txBody>
          <a:bodyPr/>
          <a:lstStyle/>
          <a:p>
            <a:r>
              <a:rPr lang="en-US"/>
              <a:t>Micro-Instructions Control: NOP Instruction (00000)</a:t>
            </a:r>
          </a:p>
        </p:txBody>
      </p:sp>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extLst>
              <p:ext uri="{D42A27DB-BD31-4B8C-83A1-F6EECF244321}">
                <p14:modId xmlns:p14="http://schemas.microsoft.com/office/powerpoint/2010/main" val="4019760816"/>
              </p:ext>
            </p:extLst>
          </p:nvPr>
        </p:nvGraphicFramePr>
        <p:xfrm>
          <a:off x="4716584" y="742463"/>
          <a:ext cx="5638801" cy="3291319"/>
        </p:xfrm>
        <a:graphic>
          <a:graphicData uri="http://schemas.openxmlformats.org/drawingml/2006/table">
            <a:tbl>
              <a:tblPr firstRow="1" bandRow="1">
                <a:tableStyleId>{5C22544A-7EE6-4342-B048-85BDC9FD1C3A}</a:tableStyleId>
              </a:tblPr>
              <a:tblGrid>
                <a:gridCol w="1035541">
                  <a:extLst>
                    <a:ext uri="{9D8B030D-6E8A-4147-A177-3AD203B41FA5}">
                      <a16:colId xmlns:a16="http://schemas.microsoft.com/office/drawing/2014/main" val="1217920130"/>
                    </a:ext>
                  </a:extLst>
                </a:gridCol>
                <a:gridCol w="2115136">
                  <a:extLst>
                    <a:ext uri="{9D8B030D-6E8A-4147-A177-3AD203B41FA5}">
                      <a16:colId xmlns:a16="http://schemas.microsoft.com/office/drawing/2014/main" val="1475888205"/>
                    </a:ext>
                  </a:extLst>
                </a:gridCol>
                <a:gridCol w="2488124">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370840">
                <a:tc>
                  <a:txBody>
                    <a:bodyPr/>
                    <a:lstStyle/>
                    <a:p>
                      <a:pPr algn="ctr"/>
                      <a:r>
                        <a:rPr lang="en-US" sz="1300"/>
                        <a:t>0</a:t>
                      </a:r>
                    </a:p>
                  </a:txBody>
                  <a:tcPr/>
                </a:tc>
                <a:tc>
                  <a:txBody>
                    <a:bodyPr/>
                    <a:lstStyle/>
                    <a:p>
                      <a:pPr algn="l"/>
                      <a:r>
                        <a:rPr lang="en-US" sz="1300" dirty="0"/>
                        <a:t>10000000 = 0x80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t>Increment PC</a:t>
                      </a:r>
                    </a:p>
                  </a:txBody>
                  <a:tcPr/>
                </a:tc>
                <a:extLst>
                  <a:ext uri="{0D108BD9-81ED-4DB2-BD59-A6C34878D82A}">
                    <a16:rowId xmlns:a16="http://schemas.microsoft.com/office/drawing/2014/main" val="2570910443"/>
                  </a:ext>
                </a:extLst>
              </a:tr>
              <a:tr h="370840">
                <a:tc>
                  <a:txBody>
                    <a:bodyPr/>
                    <a:lstStyle/>
                    <a:p>
                      <a:pPr algn="ctr"/>
                      <a:r>
                        <a:rPr lang="en-US" sz="1300" dirty="0"/>
                        <a:t>1</a:t>
                      </a:r>
                    </a:p>
                  </a:txBody>
                  <a:tcPr/>
                </a:tc>
                <a:tc>
                  <a:txBody>
                    <a:bodyPr/>
                    <a:lstStyle/>
                    <a:p>
                      <a:pPr algn="l"/>
                      <a:endParaRPr lang="en-US" sz="13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300" dirty="0"/>
                    </a:p>
                  </a:txBody>
                  <a:tcPr/>
                </a:tc>
                <a:extLst>
                  <a:ext uri="{0D108BD9-81ED-4DB2-BD59-A6C34878D82A}">
                    <a16:rowId xmlns:a16="http://schemas.microsoft.com/office/drawing/2014/main" val="631651838"/>
                  </a:ext>
                </a:extLst>
              </a:tr>
              <a:tr h="370840">
                <a:tc>
                  <a:txBody>
                    <a:bodyPr/>
                    <a:lstStyle/>
                    <a:p>
                      <a:pPr algn="ctr"/>
                      <a:r>
                        <a:rPr lang="en-US" sz="1300"/>
                        <a:t>2</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1592812184"/>
                  </a:ext>
                </a:extLst>
              </a:tr>
              <a:tr h="370840">
                <a:tc>
                  <a:txBody>
                    <a:bodyPr/>
                    <a:lstStyle/>
                    <a:p>
                      <a:pPr algn="ctr"/>
                      <a:r>
                        <a:rPr lang="en-US" sz="1300"/>
                        <a:t>3</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225793510"/>
                  </a:ext>
                </a:extLst>
              </a:tr>
              <a:tr h="370840">
                <a:tc>
                  <a:txBody>
                    <a:bodyPr/>
                    <a:lstStyle/>
                    <a:p>
                      <a:pPr algn="ctr"/>
                      <a:r>
                        <a:rPr lang="en-US" sz="1300"/>
                        <a:t>4</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1046366285"/>
                  </a:ext>
                </a:extLst>
              </a:tr>
              <a:tr h="370840">
                <a:tc>
                  <a:txBody>
                    <a:bodyPr/>
                    <a:lstStyle/>
                    <a:p>
                      <a:pPr algn="ctr"/>
                      <a:r>
                        <a:rPr lang="en-US" sz="1300"/>
                        <a:t>5</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615342211"/>
                  </a:ext>
                </a:extLst>
              </a:tr>
              <a:tr h="370840">
                <a:tc>
                  <a:txBody>
                    <a:bodyPr/>
                    <a:lstStyle/>
                    <a:p>
                      <a:pPr algn="ctr"/>
                      <a:r>
                        <a:rPr lang="en-US" sz="1300"/>
                        <a:t>6</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055856817"/>
                  </a:ext>
                </a:extLst>
              </a:tr>
              <a:tr h="370840">
                <a:tc>
                  <a:txBody>
                    <a:bodyPr/>
                    <a:lstStyle/>
                    <a:p>
                      <a:pPr algn="ctr"/>
                      <a:r>
                        <a:rPr lang="en-US" sz="1300"/>
                        <a:t>7</a:t>
                      </a:r>
                    </a:p>
                  </a:txBody>
                  <a:tcPr/>
                </a:tc>
                <a:tc>
                  <a:txBody>
                    <a:bodyPr/>
                    <a:lstStyle/>
                    <a:p>
                      <a:pPr algn="l"/>
                      <a:endParaRPr lang="en-US" sz="1300"/>
                    </a:p>
                  </a:txBody>
                  <a:tcPr/>
                </a:tc>
                <a:tc>
                  <a:txBody>
                    <a:bodyPr/>
                    <a:lstStyle/>
                    <a:p>
                      <a:pPr algn="l"/>
                      <a:endParaRPr lang="en-US" sz="1300" dirty="0"/>
                    </a:p>
                  </a:txBody>
                  <a:tcPr/>
                </a:tc>
                <a:extLst>
                  <a:ext uri="{0D108BD9-81ED-4DB2-BD59-A6C34878D82A}">
                    <a16:rowId xmlns:a16="http://schemas.microsoft.com/office/drawing/2014/main" val="3502991894"/>
                  </a:ext>
                </a:extLst>
              </a:tr>
            </a:tbl>
          </a:graphicData>
        </a:graphic>
      </p:graphicFrame>
      <p:sp>
        <p:nvSpPr>
          <p:cNvPr id="2" name="TextBox 1">
            <a:extLst>
              <a:ext uri="{FF2B5EF4-FFF2-40B4-BE49-F238E27FC236}">
                <a16:creationId xmlns:a16="http://schemas.microsoft.com/office/drawing/2014/main" id="{48F637CF-0E5A-4EBF-9591-501118BCC79A}"/>
              </a:ext>
            </a:extLst>
          </p:cNvPr>
          <p:cNvSpPr txBox="1"/>
          <p:nvPr/>
        </p:nvSpPr>
        <p:spPr>
          <a:xfrm>
            <a:off x="11305310" y="1"/>
            <a:ext cx="931665" cy="1862048"/>
          </a:xfrm>
          <a:prstGeom prst="rect">
            <a:avLst/>
          </a:prstGeom>
          <a:noFill/>
        </p:spPr>
        <p:txBody>
          <a:bodyPr wrap="none" rtlCol="0">
            <a:spAutoFit/>
          </a:bodyPr>
          <a:lstStyle/>
          <a:p>
            <a:r>
              <a:rPr lang="en-US" sz="11500">
                <a:solidFill>
                  <a:schemeClr val="accent1">
                    <a:lumMod val="60000"/>
                    <a:lumOff val="40000"/>
                  </a:schemeClr>
                </a:solidFill>
              </a:rPr>
              <a:t>0</a:t>
            </a:r>
          </a:p>
        </p:txBody>
      </p:sp>
      <p:sp>
        <p:nvSpPr>
          <p:cNvPr id="6" name="TextBox 5">
            <a:extLst>
              <a:ext uri="{FF2B5EF4-FFF2-40B4-BE49-F238E27FC236}">
                <a16:creationId xmlns:a16="http://schemas.microsoft.com/office/drawing/2014/main" id="{3B26FF26-B6A0-14B5-14B4-795A966BECF5}"/>
              </a:ext>
            </a:extLst>
          </p:cNvPr>
          <p:cNvSpPr txBox="1"/>
          <p:nvPr/>
        </p:nvSpPr>
        <p:spPr>
          <a:xfrm>
            <a:off x="6615406" y="4734113"/>
            <a:ext cx="973343" cy="523220"/>
          </a:xfrm>
          <a:prstGeom prst="rect">
            <a:avLst/>
          </a:prstGeom>
          <a:noFill/>
        </p:spPr>
        <p:txBody>
          <a:bodyPr wrap="none" rtlCol="0">
            <a:spAutoFit/>
          </a:bodyPr>
          <a:lstStyle/>
          <a:p>
            <a:r>
              <a:rPr lang="en-US" sz="2800">
                <a:solidFill>
                  <a:srgbClr val="00B050"/>
                </a:solidFill>
                <a:latin typeface="Consolas" panose="020B0609020204030204" pitchFamily="49" charset="0"/>
              </a:rPr>
              <a:t> NOP</a:t>
            </a:r>
          </a:p>
        </p:txBody>
      </p:sp>
      <p:pic>
        <p:nvPicPr>
          <p:cNvPr id="7" name="Picture 6">
            <a:hlinkClick r:id="rId3" action="ppaction://hlinksldjump"/>
            <a:extLst>
              <a:ext uri="{FF2B5EF4-FFF2-40B4-BE49-F238E27FC236}">
                <a16:creationId xmlns:a16="http://schemas.microsoft.com/office/drawing/2014/main" id="{EEEEB51C-0ECC-B02F-A1C3-94186E40D074}"/>
              </a:ext>
            </a:extLst>
          </p:cNvPr>
          <p:cNvPicPr>
            <a:picLocks noChangeAspect="1"/>
          </p:cNvPicPr>
          <p:nvPr/>
        </p:nvPicPr>
        <p:blipFill>
          <a:blip r:embed="rId4"/>
          <a:stretch>
            <a:fillRect/>
          </a:stretch>
        </p:blipFill>
        <p:spPr>
          <a:xfrm>
            <a:off x="11038384" y="6427540"/>
            <a:ext cx="1076851" cy="222744"/>
          </a:xfrm>
          <a:prstGeom prst="rect">
            <a:avLst/>
          </a:prstGeom>
        </p:spPr>
      </p:pic>
      <p:sp>
        <p:nvSpPr>
          <p:cNvPr id="11" name="Slide Number Placeholder 4">
            <a:extLst>
              <a:ext uri="{FF2B5EF4-FFF2-40B4-BE49-F238E27FC236}">
                <a16:creationId xmlns:a16="http://schemas.microsoft.com/office/drawing/2014/main" id="{3875D4F6-05C9-1523-312A-3EC3F927E185}"/>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44</a:t>
            </a:fld>
            <a:endParaRPr lang="en-US" b="1">
              <a:solidFill>
                <a:schemeClr val="bg1"/>
              </a:solidFill>
            </a:endParaRPr>
          </a:p>
        </p:txBody>
      </p:sp>
      <p:graphicFrame>
        <p:nvGraphicFramePr>
          <p:cNvPr id="12" name="Table 4">
            <a:extLst>
              <a:ext uri="{FF2B5EF4-FFF2-40B4-BE49-F238E27FC236}">
                <a16:creationId xmlns:a16="http://schemas.microsoft.com/office/drawing/2014/main" id="{BBD976FF-39BE-AA85-CF61-42823FB70AEF}"/>
              </a:ext>
            </a:extLst>
          </p:cNvPr>
          <p:cNvGraphicFramePr>
            <a:graphicFrameLocks noGrp="1"/>
          </p:cNvGraphicFramePr>
          <p:nvPr/>
        </p:nvGraphicFramePr>
        <p:xfrm>
          <a:off x="193268" y="742463"/>
          <a:ext cx="4329725" cy="444470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graphicFrame>
        <p:nvGraphicFramePr>
          <p:cNvPr id="3" name="Table 4">
            <a:extLst>
              <a:ext uri="{FF2B5EF4-FFF2-40B4-BE49-F238E27FC236}">
                <a16:creationId xmlns:a16="http://schemas.microsoft.com/office/drawing/2014/main" id="{14172EC6-ACC4-0010-A1A8-6A19B520664A}"/>
              </a:ext>
            </a:extLst>
          </p:cNvPr>
          <p:cNvGraphicFramePr>
            <a:graphicFrameLocks noGrp="1"/>
          </p:cNvGraphicFramePr>
          <p:nvPr>
            <p:extLst>
              <p:ext uri="{D42A27DB-BD31-4B8C-83A1-F6EECF244321}">
                <p14:modId xmlns:p14="http://schemas.microsoft.com/office/powerpoint/2010/main" val="3017972225"/>
              </p:ext>
            </p:extLst>
          </p:nvPr>
        </p:nvGraphicFramePr>
        <p:xfrm>
          <a:off x="193268" y="742463"/>
          <a:ext cx="4329725" cy="467838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17</a:t>
                      </a:r>
                    </a:p>
                  </a:txBody>
                  <a:tcPr/>
                </a:tc>
                <a:tc>
                  <a:txBody>
                    <a:bodyPr/>
                    <a:lstStyle/>
                    <a:p>
                      <a:pPr algn="l"/>
                      <a:r>
                        <a:rPr lang="en-US" sz="900"/>
                        <a:t>Load Special Register</a:t>
                      </a:r>
                    </a:p>
                  </a:txBody>
                  <a:tcPr/>
                </a:tc>
                <a:extLst>
                  <a:ext uri="{0D108BD9-81ED-4DB2-BD59-A6C34878D82A}">
                    <a16:rowId xmlns:a16="http://schemas.microsoft.com/office/drawing/2014/main" val="2759210480"/>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graphicFrame>
        <p:nvGraphicFramePr>
          <p:cNvPr id="10" name="Table 4">
            <a:extLst>
              <a:ext uri="{FF2B5EF4-FFF2-40B4-BE49-F238E27FC236}">
                <a16:creationId xmlns:a16="http://schemas.microsoft.com/office/drawing/2014/main" id="{836D9313-3056-73B2-05D2-6DD81851E3A8}"/>
              </a:ext>
            </a:extLst>
          </p:cNvPr>
          <p:cNvGraphicFramePr>
            <a:graphicFrameLocks noGrp="1"/>
          </p:cNvGraphicFramePr>
          <p:nvPr>
            <p:extLst>
              <p:ext uri="{D42A27DB-BD31-4B8C-83A1-F6EECF244321}">
                <p14:modId xmlns:p14="http://schemas.microsoft.com/office/powerpoint/2010/main" val="2322170277"/>
              </p:ext>
            </p:extLst>
          </p:nvPr>
        </p:nvGraphicFramePr>
        <p:xfrm>
          <a:off x="179752" y="5624993"/>
          <a:ext cx="10173617" cy="668020"/>
        </p:xfrm>
        <a:graphic>
          <a:graphicData uri="http://schemas.openxmlformats.org/drawingml/2006/table">
            <a:tbl>
              <a:tblPr firstRow="1" bandRow="1">
                <a:tableStyleId>{5C22544A-7EE6-4342-B048-85BDC9FD1C3A}</a:tableStyleId>
              </a:tblPr>
              <a:tblGrid>
                <a:gridCol w="1079707">
                  <a:extLst>
                    <a:ext uri="{9D8B030D-6E8A-4147-A177-3AD203B41FA5}">
                      <a16:colId xmlns:a16="http://schemas.microsoft.com/office/drawing/2014/main" val="1810408170"/>
                    </a:ext>
                  </a:extLst>
                </a:gridCol>
                <a:gridCol w="920323">
                  <a:extLst>
                    <a:ext uri="{9D8B030D-6E8A-4147-A177-3AD203B41FA5}">
                      <a16:colId xmlns:a16="http://schemas.microsoft.com/office/drawing/2014/main" val="950391025"/>
                    </a:ext>
                  </a:extLst>
                </a:gridCol>
                <a:gridCol w="932873">
                  <a:extLst>
                    <a:ext uri="{9D8B030D-6E8A-4147-A177-3AD203B41FA5}">
                      <a16:colId xmlns:a16="http://schemas.microsoft.com/office/drawing/2014/main" val="831694502"/>
                    </a:ext>
                  </a:extLst>
                </a:gridCol>
                <a:gridCol w="2634940">
                  <a:extLst>
                    <a:ext uri="{9D8B030D-6E8A-4147-A177-3AD203B41FA5}">
                      <a16:colId xmlns:a16="http://schemas.microsoft.com/office/drawing/2014/main" val="3449330376"/>
                    </a:ext>
                  </a:extLst>
                </a:gridCol>
                <a:gridCol w="770983">
                  <a:extLst>
                    <a:ext uri="{9D8B030D-6E8A-4147-A177-3AD203B41FA5}">
                      <a16:colId xmlns:a16="http://schemas.microsoft.com/office/drawing/2014/main" val="1355185516"/>
                    </a:ext>
                  </a:extLst>
                </a:gridCol>
                <a:gridCol w="1653608">
                  <a:extLst>
                    <a:ext uri="{9D8B030D-6E8A-4147-A177-3AD203B41FA5}">
                      <a16:colId xmlns:a16="http://schemas.microsoft.com/office/drawing/2014/main" val="2050007723"/>
                    </a:ext>
                  </a:extLst>
                </a:gridCol>
                <a:gridCol w="2181183">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None</a:t>
                      </a:r>
                    </a:p>
                  </a:txBody>
                  <a:tcPr>
                    <a:solidFill>
                      <a:schemeClr val="accent6"/>
                    </a:solidFill>
                  </a:tcPr>
                </a:tc>
                <a:tc>
                  <a:txBody>
                    <a:bodyPr/>
                    <a:lstStyle/>
                    <a:p>
                      <a:pPr algn="ctr"/>
                      <a:r>
                        <a:rPr lang="en-US" sz="1300"/>
                        <a:t>XX</a:t>
                      </a:r>
                    </a:p>
                  </a:txBody>
                  <a:tcPr/>
                </a:tc>
                <a:tc>
                  <a:txBody>
                    <a:bodyPr/>
                    <a:lstStyle/>
                    <a:p>
                      <a:pPr algn="ctr"/>
                      <a:r>
                        <a:rPr lang="en-US" sz="1300"/>
                        <a:t>X</a:t>
                      </a:r>
                    </a:p>
                  </a:txBody>
                  <a:tcPr/>
                </a:tc>
                <a:tc>
                  <a:txBody>
                    <a:bodyPr/>
                    <a:lstStyle/>
                    <a:p>
                      <a:pPr algn="ctr"/>
                      <a:r>
                        <a:rPr lang="en-US" sz="1300"/>
                        <a:t>XXXX</a:t>
                      </a:r>
                    </a:p>
                  </a:txBody>
                  <a:tcPr/>
                </a:tc>
                <a:tc>
                  <a:txBody>
                    <a:bodyPr/>
                    <a:lstStyle/>
                    <a:p>
                      <a:pPr algn="ctr"/>
                      <a:r>
                        <a:rPr lang="en-US" sz="1300"/>
                        <a:t>XX</a:t>
                      </a:r>
                    </a:p>
                  </a:txBody>
                  <a:tcPr/>
                </a:tc>
                <a:tc>
                  <a:txBody>
                    <a:bodyPr/>
                    <a:lstStyle/>
                    <a:p>
                      <a:pPr algn="ctr"/>
                      <a:r>
                        <a:rPr lang="en-US" sz="1300"/>
                        <a:t>X</a:t>
                      </a:r>
                    </a:p>
                  </a:txBody>
                  <a:tcPr/>
                </a:tc>
                <a:tc>
                  <a:txBody>
                    <a:bodyPr/>
                    <a:lstStyle/>
                    <a:p>
                      <a:pPr algn="ctr"/>
                      <a:r>
                        <a:rPr lang="en-US" sz="1300"/>
                        <a:t>OpCode=00</a:t>
                      </a:r>
                    </a:p>
                  </a:txBody>
                  <a:tcPr/>
                </a:tc>
                <a:extLst>
                  <a:ext uri="{0D108BD9-81ED-4DB2-BD59-A6C34878D82A}">
                    <a16:rowId xmlns:a16="http://schemas.microsoft.com/office/drawing/2014/main" val="2570910443"/>
                  </a:ext>
                </a:extLst>
              </a:tr>
            </a:tbl>
          </a:graphicData>
        </a:graphic>
      </p:graphicFrame>
    </p:spTree>
    <p:extLst>
      <p:ext uri="{BB962C8B-B14F-4D97-AF65-F5344CB8AC3E}">
        <p14:creationId xmlns:p14="http://schemas.microsoft.com/office/powerpoint/2010/main" val="2167098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hlinkClick r:id="rId2" action="ppaction://hlinksldjump"/>
            <a:extLst>
              <a:ext uri="{FF2B5EF4-FFF2-40B4-BE49-F238E27FC236}">
                <a16:creationId xmlns:a16="http://schemas.microsoft.com/office/drawing/2014/main" id="{D73BE4A3-2BE3-C505-811C-BBA403BDC445}"/>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1" name="Title 10">
            <a:extLst>
              <a:ext uri="{FF2B5EF4-FFF2-40B4-BE49-F238E27FC236}">
                <a16:creationId xmlns:a16="http://schemas.microsoft.com/office/drawing/2014/main" id="{E9688787-3757-26CB-8723-B98529A3F51E}"/>
              </a:ext>
            </a:extLst>
          </p:cNvPr>
          <p:cNvSpPr>
            <a:spLocks noGrp="1"/>
          </p:cNvSpPr>
          <p:nvPr>
            <p:ph type="ctrTitle"/>
          </p:nvPr>
        </p:nvSpPr>
        <p:spPr>
          <a:xfrm>
            <a:off x="914399" y="182880"/>
            <a:ext cx="9144000" cy="457200"/>
          </a:xfrm>
        </p:spPr>
        <p:txBody>
          <a:bodyPr/>
          <a:lstStyle/>
          <a:p>
            <a:r>
              <a:rPr lang="en-US"/>
              <a:t>Micro-Instructions Control: BREAK (00001)</a:t>
            </a:r>
          </a:p>
        </p:txBody>
      </p:sp>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extLst>
              <p:ext uri="{D42A27DB-BD31-4B8C-83A1-F6EECF244321}">
                <p14:modId xmlns:p14="http://schemas.microsoft.com/office/powerpoint/2010/main" val="3091700431"/>
              </p:ext>
            </p:extLst>
          </p:nvPr>
        </p:nvGraphicFramePr>
        <p:xfrm>
          <a:off x="4716584" y="742463"/>
          <a:ext cx="5638802" cy="3291319"/>
        </p:xfrm>
        <a:graphic>
          <a:graphicData uri="http://schemas.openxmlformats.org/drawingml/2006/table">
            <a:tbl>
              <a:tblPr firstRow="1" bandRow="1">
                <a:tableStyleId>{5C22544A-7EE6-4342-B048-85BDC9FD1C3A}</a:tableStyleId>
              </a:tblPr>
              <a:tblGrid>
                <a:gridCol w="855787">
                  <a:extLst>
                    <a:ext uri="{9D8B030D-6E8A-4147-A177-3AD203B41FA5}">
                      <a16:colId xmlns:a16="http://schemas.microsoft.com/office/drawing/2014/main" val="1217920130"/>
                    </a:ext>
                  </a:extLst>
                </a:gridCol>
                <a:gridCol w="2294891">
                  <a:extLst>
                    <a:ext uri="{9D8B030D-6E8A-4147-A177-3AD203B41FA5}">
                      <a16:colId xmlns:a16="http://schemas.microsoft.com/office/drawing/2014/main" val="1475888205"/>
                    </a:ext>
                  </a:extLst>
                </a:gridCol>
                <a:gridCol w="2488124">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370840">
                <a:tc>
                  <a:txBody>
                    <a:bodyPr/>
                    <a:lstStyle/>
                    <a:p>
                      <a:pPr algn="ctr"/>
                      <a:r>
                        <a:rPr lang="en-US" sz="1300"/>
                        <a:t>0</a:t>
                      </a:r>
                    </a:p>
                  </a:txBody>
                  <a:tcPr/>
                </a:tc>
                <a:tc>
                  <a:txBody>
                    <a:bodyPr/>
                    <a:lstStyle/>
                    <a:p>
                      <a:pPr algn="l"/>
                      <a:r>
                        <a:rPr lang="en-US" sz="1300" dirty="0"/>
                        <a:t>10000000 = 0x80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t>Increment PC</a:t>
                      </a:r>
                    </a:p>
                  </a:txBody>
                  <a:tcPr/>
                </a:tc>
                <a:extLst>
                  <a:ext uri="{0D108BD9-81ED-4DB2-BD59-A6C34878D82A}">
                    <a16:rowId xmlns:a16="http://schemas.microsoft.com/office/drawing/2014/main" val="2570910443"/>
                  </a:ext>
                </a:extLst>
              </a:tr>
              <a:tr h="370840">
                <a:tc>
                  <a:txBody>
                    <a:bodyPr/>
                    <a:lstStyle/>
                    <a:p>
                      <a:pPr algn="ctr"/>
                      <a:r>
                        <a:rPr lang="en-US" sz="1300"/>
                        <a:t>1</a:t>
                      </a:r>
                    </a:p>
                  </a:txBody>
                  <a:tcPr/>
                </a:tc>
                <a:tc>
                  <a:txBody>
                    <a:bodyPr/>
                    <a:lstStyle/>
                    <a:p>
                      <a:pPr algn="l"/>
                      <a:endParaRPr lang="en-US" sz="13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300" dirty="0"/>
                    </a:p>
                  </a:txBody>
                  <a:tcPr/>
                </a:tc>
                <a:extLst>
                  <a:ext uri="{0D108BD9-81ED-4DB2-BD59-A6C34878D82A}">
                    <a16:rowId xmlns:a16="http://schemas.microsoft.com/office/drawing/2014/main" val="631651838"/>
                  </a:ext>
                </a:extLst>
              </a:tr>
              <a:tr h="370840">
                <a:tc>
                  <a:txBody>
                    <a:bodyPr/>
                    <a:lstStyle/>
                    <a:p>
                      <a:pPr algn="ctr"/>
                      <a:r>
                        <a:rPr lang="en-US" sz="13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300" dirty="0"/>
                    </a:p>
                  </a:txBody>
                  <a:tcPr/>
                </a:tc>
                <a:tc>
                  <a:txBody>
                    <a:bodyPr/>
                    <a:lstStyle/>
                    <a:p>
                      <a:pPr algn="l"/>
                      <a:endParaRPr lang="en-US" sz="1300"/>
                    </a:p>
                  </a:txBody>
                  <a:tcPr/>
                </a:tc>
                <a:extLst>
                  <a:ext uri="{0D108BD9-81ED-4DB2-BD59-A6C34878D82A}">
                    <a16:rowId xmlns:a16="http://schemas.microsoft.com/office/drawing/2014/main" val="1592812184"/>
                  </a:ext>
                </a:extLst>
              </a:tr>
              <a:tr h="370840">
                <a:tc>
                  <a:txBody>
                    <a:bodyPr/>
                    <a:lstStyle/>
                    <a:p>
                      <a:pPr algn="ctr"/>
                      <a:r>
                        <a:rPr lang="en-US" sz="1300"/>
                        <a:t>3</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225793510"/>
                  </a:ext>
                </a:extLst>
              </a:tr>
              <a:tr h="370840">
                <a:tc>
                  <a:txBody>
                    <a:bodyPr/>
                    <a:lstStyle/>
                    <a:p>
                      <a:pPr algn="ctr"/>
                      <a:r>
                        <a:rPr lang="en-US" sz="1300"/>
                        <a:t>4</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1046366285"/>
                  </a:ext>
                </a:extLst>
              </a:tr>
              <a:tr h="370840">
                <a:tc>
                  <a:txBody>
                    <a:bodyPr/>
                    <a:lstStyle/>
                    <a:p>
                      <a:pPr algn="ctr"/>
                      <a:r>
                        <a:rPr lang="en-US" sz="1300"/>
                        <a:t>5</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615342211"/>
                  </a:ext>
                </a:extLst>
              </a:tr>
              <a:tr h="370840">
                <a:tc>
                  <a:txBody>
                    <a:bodyPr/>
                    <a:lstStyle/>
                    <a:p>
                      <a:pPr algn="ctr"/>
                      <a:r>
                        <a:rPr lang="en-US" sz="1300"/>
                        <a:t>6</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055856817"/>
                  </a:ext>
                </a:extLst>
              </a:tr>
              <a:tr h="370840">
                <a:tc>
                  <a:txBody>
                    <a:bodyPr/>
                    <a:lstStyle/>
                    <a:p>
                      <a:pPr algn="ctr"/>
                      <a:r>
                        <a:rPr lang="en-US" sz="1300"/>
                        <a:t>7</a:t>
                      </a:r>
                    </a:p>
                  </a:txBody>
                  <a:tcPr/>
                </a:tc>
                <a:tc>
                  <a:txBody>
                    <a:bodyPr/>
                    <a:lstStyle/>
                    <a:p>
                      <a:pPr algn="l"/>
                      <a:endParaRPr lang="en-US" sz="1300"/>
                    </a:p>
                  </a:txBody>
                  <a:tcPr/>
                </a:tc>
                <a:tc>
                  <a:txBody>
                    <a:bodyPr/>
                    <a:lstStyle/>
                    <a:p>
                      <a:pPr algn="l"/>
                      <a:endParaRPr lang="en-US" sz="1300" dirty="0"/>
                    </a:p>
                  </a:txBody>
                  <a:tcPr/>
                </a:tc>
                <a:extLst>
                  <a:ext uri="{0D108BD9-81ED-4DB2-BD59-A6C34878D82A}">
                    <a16:rowId xmlns:a16="http://schemas.microsoft.com/office/drawing/2014/main" val="3502991894"/>
                  </a:ext>
                </a:extLst>
              </a:tr>
            </a:tbl>
          </a:graphicData>
        </a:graphic>
      </p:graphicFrame>
      <p:sp>
        <p:nvSpPr>
          <p:cNvPr id="6" name="TextBox 5">
            <a:extLst>
              <a:ext uri="{FF2B5EF4-FFF2-40B4-BE49-F238E27FC236}">
                <a16:creationId xmlns:a16="http://schemas.microsoft.com/office/drawing/2014/main" id="{2A1F57DA-E52C-456E-AE9D-98D24B4386CA}"/>
              </a:ext>
            </a:extLst>
          </p:cNvPr>
          <p:cNvSpPr txBox="1"/>
          <p:nvPr/>
        </p:nvSpPr>
        <p:spPr>
          <a:xfrm>
            <a:off x="11305310" y="1"/>
            <a:ext cx="931665" cy="1862048"/>
          </a:xfrm>
          <a:prstGeom prst="rect">
            <a:avLst/>
          </a:prstGeom>
          <a:noFill/>
        </p:spPr>
        <p:txBody>
          <a:bodyPr wrap="none" rtlCol="0">
            <a:spAutoFit/>
          </a:bodyPr>
          <a:lstStyle/>
          <a:p>
            <a:r>
              <a:rPr lang="en-US" sz="11500">
                <a:solidFill>
                  <a:schemeClr val="accent1">
                    <a:lumMod val="60000"/>
                    <a:lumOff val="40000"/>
                  </a:schemeClr>
                </a:solidFill>
              </a:rPr>
              <a:t>1</a:t>
            </a:r>
          </a:p>
        </p:txBody>
      </p:sp>
      <p:sp>
        <p:nvSpPr>
          <p:cNvPr id="7" name="TextBox 6">
            <a:extLst>
              <a:ext uri="{FF2B5EF4-FFF2-40B4-BE49-F238E27FC236}">
                <a16:creationId xmlns:a16="http://schemas.microsoft.com/office/drawing/2014/main" id="{759C7ACD-6C1D-AB6C-C89B-502D964366F9}"/>
              </a:ext>
            </a:extLst>
          </p:cNvPr>
          <p:cNvSpPr txBox="1"/>
          <p:nvPr/>
        </p:nvSpPr>
        <p:spPr>
          <a:xfrm>
            <a:off x="6615406" y="4734113"/>
            <a:ext cx="973343" cy="523220"/>
          </a:xfrm>
          <a:prstGeom prst="rect">
            <a:avLst/>
          </a:prstGeom>
          <a:noFill/>
        </p:spPr>
        <p:txBody>
          <a:bodyPr wrap="none" rtlCol="0">
            <a:spAutoFit/>
          </a:bodyPr>
          <a:lstStyle/>
          <a:p>
            <a:r>
              <a:rPr lang="en-US" sz="2800">
                <a:solidFill>
                  <a:srgbClr val="00B050"/>
                </a:solidFill>
                <a:latin typeface="Consolas" panose="020B0609020204030204" pitchFamily="49" charset="0"/>
              </a:rPr>
              <a:t> BRK</a:t>
            </a:r>
          </a:p>
        </p:txBody>
      </p:sp>
      <p:sp>
        <p:nvSpPr>
          <p:cNvPr id="10" name="Slide Number Placeholder 4">
            <a:extLst>
              <a:ext uri="{FF2B5EF4-FFF2-40B4-BE49-F238E27FC236}">
                <a16:creationId xmlns:a16="http://schemas.microsoft.com/office/drawing/2014/main" id="{3F1C3DDA-DB50-7AA9-51DC-C32B2259925F}"/>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45</a:t>
            </a:fld>
            <a:endParaRPr lang="en-US" b="1">
              <a:solidFill>
                <a:schemeClr val="bg1"/>
              </a:solidFill>
            </a:endParaRPr>
          </a:p>
        </p:txBody>
      </p:sp>
      <p:graphicFrame>
        <p:nvGraphicFramePr>
          <p:cNvPr id="12" name="Table 4">
            <a:extLst>
              <a:ext uri="{FF2B5EF4-FFF2-40B4-BE49-F238E27FC236}">
                <a16:creationId xmlns:a16="http://schemas.microsoft.com/office/drawing/2014/main" id="{1489D408-0D81-9726-13DB-12A4DF633430}"/>
              </a:ext>
            </a:extLst>
          </p:cNvPr>
          <p:cNvGraphicFramePr>
            <a:graphicFrameLocks noGrp="1"/>
          </p:cNvGraphicFramePr>
          <p:nvPr/>
        </p:nvGraphicFramePr>
        <p:xfrm>
          <a:off x="193268" y="742463"/>
          <a:ext cx="4329725" cy="444470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
        <p:nvSpPr>
          <p:cNvPr id="4" name="TextBox 3">
            <a:extLst>
              <a:ext uri="{FF2B5EF4-FFF2-40B4-BE49-F238E27FC236}">
                <a16:creationId xmlns:a16="http://schemas.microsoft.com/office/drawing/2014/main" id="{1B58BBFE-7673-F8E9-CD44-E620BF232E77}"/>
              </a:ext>
            </a:extLst>
          </p:cNvPr>
          <p:cNvSpPr txBox="1"/>
          <p:nvPr/>
        </p:nvSpPr>
        <p:spPr>
          <a:xfrm>
            <a:off x="4716583" y="4177324"/>
            <a:ext cx="6769653" cy="600164"/>
          </a:xfrm>
          <a:prstGeom prst="rect">
            <a:avLst/>
          </a:prstGeom>
          <a:solidFill>
            <a:srgbClr val="FFFFCC"/>
          </a:solidFill>
        </p:spPr>
        <p:txBody>
          <a:bodyPr wrap="square" rtlCol="0">
            <a:spAutoFit/>
          </a:bodyPr>
          <a:lstStyle/>
          <a:p>
            <a:r>
              <a:rPr lang="en-US" sz="1100"/>
              <a:t>Note: BRK has the same microcode as NOP, but the opcode decoder halts the clock when the opcode 00001 is detected. Stepping through it manually (via Single-Step / Run button press) resumes the clock. Hence, BRK acts as a hardware breakpoint.</a:t>
            </a:r>
          </a:p>
        </p:txBody>
      </p:sp>
      <p:graphicFrame>
        <p:nvGraphicFramePr>
          <p:cNvPr id="3" name="Table 4">
            <a:extLst>
              <a:ext uri="{FF2B5EF4-FFF2-40B4-BE49-F238E27FC236}">
                <a16:creationId xmlns:a16="http://schemas.microsoft.com/office/drawing/2014/main" id="{7D3787EF-0EB3-7194-094A-4A861DAE53CA}"/>
              </a:ext>
            </a:extLst>
          </p:cNvPr>
          <p:cNvGraphicFramePr>
            <a:graphicFrameLocks noGrp="1"/>
          </p:cNvGraphicFramePr>
          <p:nvPr>
            <p:extLst>
              <p:ext uri="{D42A27DB-BD31-4B8C-83A1-F6EECF244321}">
                <p14:modId xmlns:p14="http://schemas.microsoft.com/office/powerpoint/2010/main" val="3017972225"/>
              </p:ext>
            </p:extLst>
          </p:nvPr>
        </p:nvGraphicFramePr>
        <p:xfrm>
          <a:off x="193268" y="742463"/>
          <a:ext cx="4329725" cy="467838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17</a:t>
                      </a:r>
                    </a:p>
                  </a:txBody>
                  <a:tcPr/>
                </a:tc>
                <a:tc>
                  <a:txBody>
                    <a:bodyPr/>
                    <a:lstStyle/>
                    <a:p>
                      <a:pPr algn="l"/>
                      <a:r>
                        <a:rPr lang="en-US" sz="900"/>
                        <a:t>Load Special Register</a:t>
                      </a:r>
                    </a:p>
                  </a:txBody>
                  <a:tcPr/>
                </a:tc>
                <a:extLst>
                  <a:ext uri="{0D108BD9-81ED-4DB2-BD59-A6C34878D82A}">
                    <a16:rowId xmlns:a16="http://schemas.microsoft.com/office/drawing/2014/main" val="2759210480"/>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graphicFrame>
        <p:nvGraphicFramePr>
          <p:cNvPr id="8" name="Table 4">
            <a:extLst>
              <a:ext uri="{FF2B5EF4-FFF2-40B4-BE49-F238E27FC236}">
                <a16:creationId xmlns:a16="http://schemas.microsoft.com/office/drawing/2014/main" id="{F661BB50-A1DD-6845-4A67-C8D3B1FDBDD5}"/>
              </a:ext>
            </a:extLst>
          </p:cNvPr>
          <p:cNvGraphicFramePr>
            <a:graphicFrameLocks noGrp="1"/>
          </p:cNvGraphicFramePr>
          <p:nvPr>
            <p:extLst>
              <p:ext uri="{D42A27DB-BD31-4B8C-83A1-F6EECF244321}">
                <p14:modId xmlns:p14="http://schemas.microsoft.com/office/powerpoint/2010/main" val="721568111"/>
              </p:ext>
            </p:extLst>
          </p:nvPr>
        </p:nvGraphicFramePr>
        <p:xfrm>
          <a:off x="179752" y="5624993"/>
          <a:ext cx="10173617" cy="668020"/>
        </p:xfrm>
        <a:graphic>
          <a:graphicData uri="http://schemas.openxmlformats.org/drawingml/2006/table">
            <a:tbl>
              <a:tblPr firstRow="1" bandRow="1">
                <a:tableStyleId>{5C22544A-7EE6-4342-B048-85BDC9FD1C3A}</a:tableStyleId>
              </a:tblPr>
              <a:tblGrid>
                <a:gridCol w="1079707">
                  <a:extLst>
                    <a:ext uri="{9D8B030D-6E8A-4147-A177-3AD203B41FA5}">
                      <a16:colId xmlns:a16="http://schemas.microsoft.com/office/drawing/2014/main" val="1810408170"/>
                    </a:ext>
                  </a:extLst>
                </a:gridCol>
                <a:gridCol w="920323">
                  <a:extLst>
                    <a:ext uri="{9D8B030D-6E8A-4147-A177-3AD203B41FA5}">
                      <a16:colId xmlns:a16="http://schemas.microsoft.com/office/drawing/2014/main" val="950391025"/>
                    </a:ext>
                  </a:extLst>
                </a:gridCol>
                <a:gridCol w="932873">
                  <a:extLst>
                    <a:ext uri="{9D8B030D-6E8A-4147-A177-3AD203B41FA5}">
                      <a16:colId xmlns:a16="http://schemas.microsoft.com/office/drawing/2014/main" val="831694502"/>
                    </a:ext>
                  </a:extLst>
                </a:gridCol>
                <a:gridCol w="2634940">
                  <a:extLst>
                    <a:ext uri="{9D8B030D-6E8A-4147-A177-3AD203B41FA5}">
                      <a16:colId xmlns:a16="http://schemas.microsoft.com/office/drawing/2014/main" val="3449330376"/>
                    </a:ext>
                  </a:extLst>
                </a:gridCol>
                <a:gridCol w="770983">
                  <a:extLst>
                    <a:ext uri="{9D8B030D-6E8A-4147-A177-3AD203B41FA5}">
                      <a16:colId xmlns:a16="http://schemas.microsoft.com/office/drawing/2014/main" val="1355185516"/>
                    </a:ext>
                  </a:extLst>
                </a:gridCol>
                <a:gridCol w="1653608">
                  <a:extLst>
                    <a:ext uri="{9D8B030D-6E8A-4147-A177-3AD203B41FA5}">
                      <a16:colId xmlns:a16="http://schemas.microsoft.com/office/drawing/2014/main" val="2050007723"/>
                    </a:ext>
                  </a:extLst>
                </a:gridCol>
                <a:gridCol w="2181183">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None</a:t>
                      </a:r>
                    </a:p>
                  </a:txBody>
                  <a:tcPr>
                    <a:solidFill>
                      <a:schemeClr val="accent6"/>
                    </a:solidFill>
                  </a:tcPr>
                </a:tc>
                <a:tc>
                  <a:txBody>
                    <a:bodyPr/>
                    <a:lstStyle/>
                    <a:p>
                      <a:pPr algn="ctr"/>
                      <a:r>
                        <a:rPr lang="en-US" sz="1300"/>
                        <a:t>XX</a:t>
                      </a:r>
                    </a:p>
                  </a:txBody>
                  <a:tcPr/>
                </a:tc>
                <a:tc>
                  <a:txBody>
                    <a:bodyPr/>
                    <a:lstStyle/>
                    <a:p>
                      <a:pPr algn="ctr"/>
                      <a:r>
                        <a:rPr lang="en-US" sz="1300"/>
                        <a:t>X</a:t>
                      </a:r>
                    </a:p>
                  </a:txBody>
                  <a:tcPr/>
                </a:tc>
                <a:tc>
                  <a:txBody>
                    <a:bodyPr/>
                    <a:lstStyle/>
                    <a:p>
                      <a:pPr algn="ctr"/>
                      <a:r>
                        <a:rPr lang="en-US" sz="1300"/>
                        <a:t>XXXX</a:t>
                      </a:r>
                    </a:p>
                  </a:txBody>
                  <a:tcPr/>
                </a:tc>
                <a:tc>
                  <a:txBody>
                    <a:bodyPr/>
                    <a:lstStyle/>
                    <a:p>
                      <a:pPr algn="ctr"/>
                      <a:r>
                        <a:rPr lang="en-US" sz="1300"/>
                        <a:t>XX</a:t>
                      </a:r>
                    </a:p>
                  </a:txBody>
                  <a:tcPr/>
                </a:tc>
                <a:tc>
                  <a:txBody>
                    <a:bodyPr/>
                    <a:lstStyle/>
                    <a:p>
                      <a:pPr algn="ctr"/>
                      <a:r>
                        <a:rPr lang="en-US" sz="1300"/>
                        <a:t>X</a:t>
                      </a:r>
                    </a:p>
                  </a:txBody>
                  <a:tcPr/>
                </a:tc>
                <a:tc>
                  <a:txBody>
                    <a:bodyPr/>
                    <a:lstStyle/>
                    <a:p>
                      <a:pPr algn="ctr"/>
                      <a:r>
                        <a:rPr lang="en-US" sz="1300"/>
                        <a:t>OpCode=01</a:t>
                      </a:r>
                    </a:p>
                  </a:txBody>
                  <a:tcPr/>
                </a:tc>
                <a:extLst>
                  <a:ext uri="{0D108BD9-81ED-4DB2-BD59-A6C34878D82A}">
                    <a16:rowId xmlns:a16="http://schemas.microsoft.com/office/drawing/2014/main" val="2570910443"/>
                  </a:ext>
                </a:extLst>
              </a:tr>
            </a:tbl>
          </a:graphicData>
        </a:graphic>
      </p:graphicFrame>
    </p:spTree>
    <p:extLst>
      <p:ext uri="{BB962C8B-B14F-4D97-AF65-F5344CB8AC3E}">
        <p14:creationId xmlns:p14="http://schemas.microsoft.com/office/powerpoint/2010/main" val="1880776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2DB929C3-F448-C925-B6CD-21ECBEE34860}"/>
              </a:ext>
            </a:extLst>
          </p:cNvPr>
          <p:cNvSpPr>
            <a:spLocks noGrp="1"/>
          </p:cNvSpPr>
          <p:nvPr>
            <p:ph type="ctrTitle"/>
          </p:nvPr>
        </p:nvSpPr>
        <p:spPr>
          <a:xfrm>
            <a:off x="914400" y="182880"/>
            <a:ext cx="9144000" cy="457200"/>
          </a:xfrm>
        </p:spPr>
        <p:txBody>
          <a:bodyPr/>
          <a:lstStyle/>
          <a:p>
            <a:r>
              <a:rPr lang="en-US"/>
              <a:t>Micro-Instructions Control: ALU (00010)</a:t>
            </a:r>
          </a:p>
        </p:txBody>
      </p:sp>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nvGraphicFramePr>
        <p:xfrm>
          <a:off x="4716584" y="742463"/>
          <a:ext cx="5638802" cy="3291319"/>
        </p:xfrm>
        <a:graphic>
          <a:graphicData uri="http://schemas.openxmlformats.org/drawingml/2006/table">
            <a:tbl>
              <a:tblPr firstRow="1" bandRow="1">
                <a:tableStyleId>{5C22544A-7EE6-4342-B048-85BDC9FD1C3A}</a:tableStyleId>
              </a:tblPr>
              <a:tblGrid>
                <a:gridCol w="855787">
                  <a:extLst>
                    <a:ext uri="{9D8B030D-6E8A-4147-A177-3AD203B41FA5}">
                      <a16:colId xmlns:a16="http://schemas.microsoft.com/office/drawing/2014/main" val="1217920130"/>
                    </a:ext>
                  </a:extLst>
                </a:gridCol>
                <a:gridCol w="2294891">
                  <a:extLst>
                    <a:ext uri="{9D8B030D-6E8A-4147-A177-3AD203B41FA5}">
                      <a16:colId xmlns:a16="http://schemas.microsoft.com/office/drawing/2014/main" val="1475888205"/>
                    </a:ext>
                  </a:extLst>
                </a:gridCol>
                <a:gridCol w="2488124">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370840">
                <a:tc>
                  <a:txBody>
                    <a:bodyPr/>
                    <a:lstStyle/>
                    <a:p>
                      <a:pPr algn="ctr"/>
                      <a:r>
                        <a:rPr lang="en-US" sz="1300"/>
                        <a:t>0</a:t>
                      </a:r>
                    </a:p>
                  </a:txBody>
                  <a:tcPr/>
                </a:tc>
                <a:tc>
                  <a:txBody>
                    <a:bodyPr/>
                    <a:lstStyle/>
                    <a:p>
                      <a:pPr algn="l"/>
                      <a:r>
                        <a:rPr lang="en-US" sz="1300"/>
                        <a:t>00010010 = 0x12</a:t>
                      </a:r>
                    </a:p>
                  </a:txBody>
                  <a:tcPr/>
                </a:tc>
                <a:tc>
                  <a:txBody>
                    <a:bodyPr/>
                    <a:lstStyle/>
                    <a:p>
                      <a:pPr algn="l"/>
                      <a:r>
                        <a:rPr lang="en-US" sz="1300"/>
                        <a:t>Load Rs1 to reg A</a:t>
                      </a:r>
                    </a:p>
                  </a:txBody>
                  <a:tcPr/>
                </a:tc>
                <a:extLst>
                  <a:ext uri="{0D108BD9-81ED-4DB2-BD59-A6C34878D82A}">
                    <a16:rowId xmlns:a16="http://schemas.microsoft.com/office/drawing/2014/main" val="2570910443"/>
                  </a:ext>
                </a:extLst>
              </a:tr>
              <a:tr h="370840">
                <a:tc>
                  <a:txBody>
                    <a:bodyPr/>
                    <a:lstStyle/>
                    <a:p>
                      <a:pPr algn="ctr"/>
                      <a:r>
                        <a:rPr lang="en-US" sz="13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00011001 = 0x19</a:t>
                      </a:r>
                    </a:p>
                  </a:txBody>
                  <a:tcPr/>
                </a:tc>
                <a:tc>
                  <a:txBody>
                    <a:bodyPr/>
                    <a:lstStyle/>
                    <a:p>
                      <a:pPr algn="l"/>
                      <a:r>
                        <a:rPr lang="en-US" sz="1300"/>
                        <a:t>Load Rs2 to reg B</a:t>
                      </a:r>
                    </a:p>
                  </a:txBody>
                  <a:tcPr/>
                </a:tc>
                <a:extLst>
                  <a:ext uri="{0D108BD9-81ED-4DB2-BD59-A6C34878D82A}">
                    <a16:rowId xmlns:a16="http://schemas.microsoft.com/office/drawing/2014/main" val="631651838"/>
                  </a:ext>
                </a:extLst>
              </a:tr>
              <a:tr h="370840">
                <a:tc>
                  <a:txBody>
                    <a:bodyPr/>
                    <a:lstStyle/>
                    <a:p>
                      <a:pPr algn="ctr"/>
                      <a:r>
                        <a:rPr lang="en-US" sz="13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00100100 = 0x24</a:t>
                      </a:r>
                    </a:p>
                  </a:txBody>
                  <a:tcPr/>
                </a:tc>
                <a:tc>
                  <a:txBody>
                    <a:bodyPr/>
                    <a:lstStyle/>
                    <a:p>
                      <a:pPr algn="l"/>
                      <a:r>
                        <a:rPr lang="en-US" sz="1300"/>
                        <a:t>Output and Read to Rd</a:t>
                      </a:r>
                    </a:p>
                  </a:txBody>
                  <a:tcPr/>
                </a:tc>
                <a:extLst>
                  <a:ext uri="{0D108BD9-81ED-4DB2-BD59-A6C34878D82A}">
                    <a16:rowId xmlns:a16="http://schemas.microsoft.com/office/drawing/2014/main" val="1592812184"/>
                  </a:ext>
                </a:extLst>
              </a:tr>
              <a:tr h="370840">
                <a:tc>
                  <a:txBody>
                    <a:bodyPr/>
                    <a:lstStyle/>
                    <a:p>
                      <a:pPr algn="ctr"/>
                      <a:r>
                        <a:rPr lang="en-US" sz="1300"/>
                        <a:t>3</a:t>
                      </a:r>
                    </a:p>
                  </a:txBody>
                  <a:tcPr/>
                </a:tc>
                <a:tc>
                  <a:txBody>
                    <a:bodyPr/>
                    <a:lstStyle/>
                    <a:p>
                      <a:pPr algn="l"/>
                      <a:r>
                        <a:rPr lang="en-US" sz="1300"/>
                        <a:t>10000000 = 0x80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Increment PC</a:t>
                      </a:r>
                    </a:p>
                  </a:txBody>
                  <a:tcPr/>
                </a:tc>
                <a:extLst>
                  <a:ext uri="{0D108BD9-81ED-4DB2-BD59-A6C34878D82A}">
                    <a16:rowId xmlns:a16="http://schemas.microsoft.com/office/drawing/2014/main" val="2225793510"/>
                  </a:ext>
                </a:extLst>
              </a:tr>
              <a:tr h="370840">
                <a:tc>
                  <a:txBody>
                    <a:bodyPr/>
                    <a:lstStyle/>
                    <a:p>
                      <a:pPr algn="ctr"/>
                      <a:r>
                        <a:rPr lang="en-US" sz="1300"/>
                        <a:t>4</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1046366285"/>
                  </a:ext>
                </a:extLst>
              </a:tr>
              <a:tr h="370840">
                <a:tc>
                  <a:txBody>
                    <a:bodyPr/>
                    <a:lstStyle/>
                    <a:p>
                      <a:pPr algn="ctr"/>
                      <a:r>
                        <a:rPr lang="en-US" sz="1300"/>
                        <a:t>5</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615342211"/>
                  </a:ext>
                </a:extLst>
              </a:tr>
              <a:tr h="370840">
                <a:tc>
                  <a:txBody>
                    <a:bodyPr/>
                    <a:lstStyle/>
                    <a:p>
                      <a:pPr algn="ctr"/>
                      <a:r>
                        <a:rPr lang="en-US" sz="1300"/>
                        <a:t>6</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055856817"/>
                  </a:ext>
                </a:extLst>
              </a:tr>
              <a:tr h="370840">
                <a:tc>
                  <a:txBody>
                    <a:bodyPr/>
                    <a:lstStyle/>
                    <a:p>
                      <a:pPr algn="ctr"/>
                      <a:r>
                        <a:rPr lang="en-US" sz="1300"/>
                        <a:t>7</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3502991894"/>
                  </a:ext>
                </a:extLst>
              </a:tr>
            </a:tbl>
          </a:graphicData>
        </a:graphic>
      </p:graphicFrame>
      <p:graphicFrame>
        <p:nvGraphicFramePr>
          <p:cNvPr id="6" name="Table 4">
            <a:extLst>
              <a:ext uri="{FF2B5EF4-FFF2-40B4-BE49-F238E27FC236}">
                <a16:creationId xmlns:a16="http://schemas.microsoft.com/office/drawing/2014/main" id="{0DFA9C31-EF12-4E73-95D6-4A8DD48CB5A3}"/>
              </a:ext>
            </a:extLst>
          </p:cNvPr>
          <p:cNvGraphicFramePr>
            <a:graphicFrameLocks noGrp="1"/>
          </p:cNvGraphicFramePr>
          <p:nvPr/>
        </p:nvGraphicFramePr>
        <p:xfrm>
          <a:off x="179752" y="5619913"/>
          <a:ext cx="9276863" cy="668020"/>
        </p:xfrm>
        <a:graphic>
          <a:graphicData uri="http://schemas.openxmlformats.org/drawingml/2006/table">
            <a:tbl>
              <a:tblPr firstRow="1" bandRow="1">
                <a:tableStyleId>{5C22544A-7EE6-4342-B048-85BDC9FD1C3A}</a:tableStyleId>
              </a:tblPr>
              <a:tblGrid>
                <a:gridCol w="1312985">
                  <a:extLst>
                    <a:ext uri="{9D8B030D-6E8A-4147-A177-3AD203B41FA5}">
                      <a16:colId xmlns:a16="http://schemas.microsoft.com/office/drawing/2014/main" val="1810408170"/>
                    </a:ext>
                  </a:extLst>
                </a:gridCol>
                <a:gridCol w="2089399">
                  <a:extLst>
                    <a:ext uri="{9D8B030D-6E8A-4147-A177-3AD203B41FA5}">
                      <a16:colId xmlns:a16="http://schemas.microsoft.com/office/drawing/2014/main" val="1217920130"/>
                    </a:ext>
                  </a:extLst>
                </a:gridCol>
                <a:gridCol w="824031">
                  <a:extLst>
                    <a:ext uri="{9D8B030D-6E8A-4147-A177-3AD203B41FA5}">
                      <a16:colId xmlns:a16="http://schemas.microsoft.com/office/drawing/2014/main" val="1475888205"/>
                    </a:ext>
                  </a:extLst>
                </a:gridCol>
                <a:gridCol w="1262612">
                  <a:extLst>
                    <a:ext uri="{9D8B030D-6E8A-4147-A177-3AD203B41FA5}">
                      <a16:colId xmlns:a16="http://schemas.microsoft.com/office/drawing/2014/main" val="1355185516"/>
                    </a:ext>
                  </a:extLst>
                </a:gridCol>
                <a:gridCol w="1584927">
                  <a:extLst>
                    <a:ext uri="{9D8B030D-6E8A-4147-A177-3AD203B41FA5}">
                      <a16:colId xmlns:a16="http://schemas.microsoft.com/office/drawing/2014/main" val="2050007723"/>
                    </a:ext>
                  </a:extLst>
                </a:gridCol>
                <a:gridCol w="1149517">
                  <a:extLst>
                    <a:ext uri="{9D8B030D-6E8A-4147-A177-3AD203B41FA5}">
                      <a16:colId xmlns:a16="http://schemas.microsoft.com/office/drawing/2014/main" val="3099546510"/>
                    </a:ext>
                  </a:extLst>
                </a:gridCol>
                <a:gridCol w="1053392">
                  <a:extLst>
                    <a:ext uri="{9D8B030D-6E8A-4147-A177-3AD203B41FA5}">
                      <a16:colId xmlns:a16="http://schemas.microsoft.com/office/drawing/2014/main" val="1677154990"/>
                    </a:ext>
                  </a:extLst>
                </a:gridCol>
              </a:tblGrid>
              <a:tr h="370840">
                <a:tc>
                  <a:txBody>
                    <a:bodyPr/>
                    <a:lstStyle/>
                    <a:p>
                      <a:r>
                        <a:rPr lang="en-US" sz="1300"/>
                        <a:t>Type</a:t>
                      </a:r>
                    </a:p>
                  </a:txBody>
                  <a:tcPr/>
                </a:tc>
                <a:tc>
                  <a:txBody>
                    <a:bodyPr/>
                    <a:lstStyle/>
                    <a:p>
                      <a:r>
                        <a:rPr lang="en-US" sz="1300"/>
                        <a:t>15 14 13 12 </a:t>
                      </a:r>
                    </a:p>
                  </a:txBody>
                  <a:tcPr/>
                </a:tc>
                <a:tc>
                  <a:txBody>
                    <a:bodyPr/>
                    <a:lstStyle/>
                    <a:p>
                      <a:r>
                        <a:rPr lang="en-US" sz="1300"/>
                        <a:t>11 10</a:t>
                      </a:r>
                    </a:p>
                  </a:txBody>
                  <a:tcPr/>
                </a:tc>
                <a:tc>
                  <a:txBody>
                    <a:bodyPr/>
                    <a:lstStyle/>
                    <a:p>
                      <a:r>
                        <a:rPr lang="en-US" sz="1300"/>
                        <a:t>9 8</a:t>
                      </a:r>
                    </a:p>
                  </a:txBody>
                  <a:tcPr/>
                </a:tc>
                <a:tc>
                  <a:txBody>
                    <a:bodyPr/>
                    <a:lstStyle/>
                    <a:p>
                      <a:r>
                        <a:rPr lang="en-US" sz="1300"/>
                        <a:t>7 6 5 4</a:t>
                      </a:r>
                    </a:p>
                  </a:txBody>
                  <a:tcPr/>
                </a:tc>
                <a:tc>
                  <a:txBody>
                    <a:bodyPr/>
                    <a:lstStyle/>
                    <a:p>
                      <a:r>
                        <a:rPr lang="en-US" sz="1300"/>
                        <a:t>3 2</a:t>
                      </a:r>
                    </a:p>
                  </a:txBody>
                  <a:tcPr/>
                </a:tc>
                <a:tc>
                  <a:txBody>
                    <a:bodyPr/>
                    <a:lstStyle/>
                    <a:p>
                      <a:r>
                        <a:rPr lang="en-US" sz="1300"/>
                        <a:t>1 0</a:t>
                      </a:r>
                    </a:p>
                  </a:txBody>
                  <a:tcPr/>
                </a:tc>
                <a:extLst>
                  <a:ext uri="{0D108BD9-81ED-4DB2-BD59-A6C34878D82A}">
                    <a16:rowId xmlns:a16="http://schemas.microsoft.com/office/drawing/2014/main" val="2319756336"/>
                  </a:ext>
                </a:extLst>
              </a:tr>
              <a:tr h="297180">
                <a:tc>
                  <a:txBody>
                    <a:bodyPr/>
                    <a:lstStyle/>
                    <a:p>
                      <a:pPr algn="ctr"/>
                      <a:r>
                        <a:rPr lang="en-US" sz="1300"/>
                        <a:t>ALU</a:t>
                      </a:r>
                    </a:p>
                  </a:txBody>
                  <a:tcPr/>
                </a:tc>
                <a:tc>
                  <a:txBody>
                    <a:bodyPr/>
                    <a:lstStyle/>
                    <a:p>
                      <a:pPr algn="ctr"/>
                      <a:r>
                        <a:rPr lang="en-US" sz="1300"/>
                        <a:t>OpCode</a:t>
                      </a:r>
                    </a:p>
                  </a:txBody>
                  <a:tcPr/>
                </a:tc>
                <a:tc>
                  <a:txBody>
                    <a:bodyPr/>
                    <a:lstStyle/>
                    <a:p>
                      <a:pPr algn="ctr"/>
                      <a:r>
                        <a:rPr lang="en-US" sz="1300"/>
                        <a:t>XX</a:t>
                      </a:r>
                    </a:p>
                  </a:txBody>
                  <a:tcPr/>
                </a:tc>
                <a:tc>
                  <a:txBody>
                    <a:bodyPr/>
                    <a:lstStyle/>
                    <a:p>
                      <a:pPr algn="ctr"/>
                      <a:r>
                        <a:rPr lang="en-US" sz="1300"/>
                        <a:t>Rd</a:t>
                      </a:r>
                    </a:p>
                  </a:txBody>
                  <a:tcPr/>
                </a:tc>
                <a:tc>
                  <a:txBody>
                    <a:bodyPr/>
                    <a:lstStyle/>
                    <a:p>
                      <a:pPr algn="ctr"/>
                      <a:r>
                        <a:rPr lang="en-US" sz="1300"/>
                        <a:t>Function</a:t>
                      </a:r>
                    </a:p>
                  </a:txBody>
                  <a:tcPr/>
                </a:tc>
                <a:tc>
                  <a:txBody>
                    <a:bodyPr/>
                    <a:lstStyle/>
                    <a:p>
                      <a:pPr algn="ctr"/>
                      <a:r>
                        <a:rPr lang="en-US" sz="1300"/>
                        <a:t>Rs1</a:t>
                      </a:r>
                    </a:p>
                  </a:txBody>
                  <a:tcPr/>
                </a:tc>
                <a:tc>
                  <a:txBody>
                    <a:bodyPr/>
                    <a:lstStyle/>
                    <a:p>
                      <a:pPr algn="ctr"/>
                      <a:r>
                        <a:rPr lang="en-US" sz="1300"/>
                        <a:t>Rs2</a:t>
                      </a:r>
                    </a:p>
                  </a:txBody>
                  <a:tcPr/>
                </a:tc>
                <a:extLst>
                  <a:ext uri="{0D108BD9-81ED-4DB2-BD59-A6C34878D82A}">
                    <a16:rowId xmlns:a16="http://schemas.microsoft.com/office/drawing/2014/main" val="2570910443"/>
                  </a:ext>
                </a:extLst>
              </a:tr>
            </a:tbl>
          </a:graphicData>
        </a:graphic>
      </p:graphicFrame>
      <p:graphicFrame>
        <p:nvGraphicFramePr>
          <p:cNvPr id="8" name="Table 4">
            <a:extLst>
              <a:ext uri="{FF2B5EF4-FFF2-40B4-BE49-F238E27FC236}">
                <a16:creationId xmlns:a16="http://schemas.microsoft.com/office/drawing/2014/main" id="{438A22CA-2606-4EC2-9E31-AA955DF6E237}"/>
              </a:ext>
            </a:extLst>
          </p:cNvPr>
          <p:cNvGraphicFramePr>
            <a:graphicFrameLocks noGrp="1"/>
          </p:cNvGraphicFramePr>
          <p:nvPr>
            <p:extLst>
              <p:ext uri="{D42A27DB-BD31-4B8C-83A1-F6EECF244321}">
                <p14:modId xmlns:p14="http://schemas.microsoft.com/office/powerpoint/2010/main" val="2238002084"/>
              </p:ext>
            </p:extLst>
          </p:nvPr>
        </p:nvGraphicFramePr>
        <p:xfrm>
          <a:off x="179753" y="5619913"/>
          <a:ext cx="10173617" cy="668020"/>
        </p:xfrm>
        <a:graphic>
          <a:graphicData uri="http://schemas.openxmlformats.org/drawingml/2006/table">
            <a:tbl>
              <a:tblPr firstRow="1" bandRow="1">
                <a:tableStyleId>{5C22544A-7EE6-4342-B048-85BDC9FD1C3A}</a:tableStyleId>
              </a:tblPr>
              <a:tblGrid>
                <a:gridCol w="1091837">
                  <a:extLst>
                    <a:ext uri="{9D8B030D-6E8A-4147-A177-3AD203B41FA5}">
                      <a16:colId xmlns:a16="http://schemas.microsoft.com/office/drawing/2014/main" val="1810408170"/>
                    </a:ext>
                  </a:extLst>
                </a:gridCol>
                <a:gridCol w="895351">
                  <a:extLst>
                    <a:ext uri="{9D8B030D-6E8A-4147-A177-3AD203B41FA5}">
                      <a16:colId xmlns:a16="http://schemas.microsoft.com/office/drawing/2014/main" val="950391025"/>
                    </a:ext>
                  </a:extLst>
                </a:gridCol>
                <a:gridCol w="923925">
                  <a:extLst>
                    <a:ext uri="{9D8B030D-6E8A-4147-A177-3AD203B41FA5}">
                      <a16:colId xmlns:a16="http://schemas.microsoft.com/office/drawing/2014/main" val="1217920130"/>
                    </a:ext>
                  </a:extLst>
                </a:gridCol>
                <a:gridCol w="2643187">
                  <a:extLst>
                    <a:ext uri="{9D8B030D-6E8A-4147-A177-3AD203B41FA5}">
                      <a16:colId xmlns:a16="http://schemas.microsoft.com/office/drawing/2014/main" val="1475888205"/>
                    </a:ext>
                  </a:extLst>
                </a:gridCol>
                <a:gridCol w="785813">
                  <a:extLst>
                    <a:ext uri="{9D8B030D-6E8A-4147-A177-3AD203B41FA5}">
                      <a16:colId xmlns:a16="http://schemas.microsoft.com/office/drawing/2014/main" val="1355185516"/>
                    </a:ext>
                  </a:extLst>
                </a:gridCol>
                <a:gridCol w="1643063">
                  <a:extLst>
                    <a:ext uri="{9D8B030D-6E8A-4147-A177-3AD203B41FA5}">
                      <a16:colId xmlns:a16="http://schemas.microsoft.com/office/drawing/2014/main" val="2050007723"/>
                    </a:ext>
                  </a:extLst>
                </a:gridCol>
                <a:gridCol w="2190441">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ALU</a:t>
                      </a:r>
                    </a:p>
                  </a:txBody>
                  <a:tcPr>
                    <a:solidFill>
                      <a:schemeClr val="accent6"/>
                    </a:solidFill>
                  </a:tcPr>
                </a:tc>
                <a:tc>
                  <a:txBody>
                    <a:bodyPr/>
                    <a:lstStyle/>
                    <a:p>
                      <a:pPr algn="ctr"/>
                      <a:r>
                        <a:rPr lang="en-US" sz="1300"/>
                        <a:t>Rs2</a:t>
                      </a:r>
                    </a:p>
                  </a:txBody>
                  <a:tcPr/>
                </a:tc>
                <a:tc>
                  <a:txBody>
                    <a:bodyPr/>
                    <a:lstStyle/>
                    <a:p>
                      <a:pPr algn="ctr"/>
                      <a:r>
                        <a:rPr lang="en-US" sz="1300"/>
                        <a:t>Rs1</a:t>
                      </a:r>
                    </a:p>
                  </a:txBody>
                  <a:tcPr/>
                </a:tc>
                <a:tc>
                  <a:txBody>
                    <a:bodyPr/>
                    <a:lstStyle/>
                    <a:p>
                      <a:pPr algn="ctr"/>
                      <a:r>
                        <a:rPr lang="en-US" sz="1300"/>
                        <a:t>S2 S1 S0 SF (Function </a:t>
                      </a:r>
                      <a:r>
                        <a:rPr lang="en-US" sz="1300" err="1"/>
                        <a:t>sel</a:t>
                      </a:r>
                      <a:r>
                        <a:rPr lang="en-US" sz="1300"/>
                        <a:t>)</a:t>
                      </a:r>
                    </a:p>
                  </a:txBody>
                  <a:tcPr/>
                </a:tc>
                <a:tc>
                  <a:txBody>
                    <a:bodyPr/>
                    <a:lstStyle/>
                    <a:p>
                      <a:pPr algn="ctr"/>
                      <a:r>
                        <a:rPr lang="en-US" sz="1300"/>
                        <a:t>Rd</a:t>
                      </a:r>
                    </a:p>
                  </a:txBody>
                  <a:tcPr/>
                </a:tc>
                <a:tc>
                  <a:txBody>
                    <a:bodyPr/>
                    <a:lstStyle/>
                    <a:p>
                      <a:pPr algn="ctr"/>
                      <a:r>
                        <a:rPr lang="en-US" sz="1300"/>
                        <a:t>X</a:t>
                      </a:r>
                    </a:p>
                  </a:txBody>
                  <a:tcPr/>
                </a:tc>
                <a:tc>
                  <a:txBody>
                    <a:bodyPr/>
                    <a:lstStyle/>
                    <a:p>
                      <a:pPr algn="ctr"/>
                      <a:r>
                        <a:rPr lang="en-US" sz="1300"/>
                        <a:t>OpCode=02</a:t>
                      </a:r>
                    </a:p>
                  </a:txBody>
                  <a:tcPr/>
                </a:tc>
                <a:extLst>
                  <a:ext uri="{0D108BD9-81ED-4DB2-BD59-A6C34878D82A}">
                    <a16:rowId xmlns:a16="http://schemas.microsoft.com/office/drawing/2014/main" val="2570910443"/>
                  </a:ext>
                </a:extLst>
              </a:tr>
            </a:tbl>
          </a:graphicData>
        </a:graphic>
      </p:graphicFrame>
      <p:sp>
        <p:nvSpPr>
          <p:cNvPr id="9" name="TextBox 8">
            <a:extLst>
              <a:ext uri="{FF2B5EF4-FFF2-40B4-BE49-F238E27FC236}">
                <a16:creationId xmlns:a16="http://schemas.microsoft.com/office/drawing/2014/main" id="{79AD7FA0-2C5B-4CB6-9E76-7EEB152DF7E8}"/>
              </a:ext>
            </a:extLst>
          </p:cNvPr>
          <p:cNvSpPr txBox="1"/>
          <p:nvPr/>
        </p:nvSpPr>
        <p:spPr>
          <a:xfrm>
            <a:off x="11305310" y="1"/>
            <a:ext cx="931665" cy="1862048"/>
          </a:xfrm>
          <a:prstGeom prst="rect">
            <a:avLst/>
          </a:prstGeom>
          <a:noFill/>
        </p:spPr>
        <p:txBody>
          <a:bodyPr wrap="none" rtlCol="0">
            <a:spAutoFit/>
          </a:bodyPr>
          <a:lstStyle/>
          <a:p>
            <a:r>
              <a:rPr lang="en-US" sz="11500">
                <a:solidFill>
                  <a:schemeClr val="accent1">
                    <a:lumMod val="60000"/>
                    <a:lumOff val="40000"/>
                  </a:schemeClr>
                </a:solidFill>
              </a:rPr>
              <a:t>2</a:t>
            </a:r>
          </a:p>
        </p:txBody>
      </p:sp>
      <p:sp>
        <p:nvSpPr>
          <p:cNvPr id="10" name="TextBox 9">
            <a:extLst>
              <a:ext uri="{FF2B5EF4-FFF2-40B4-BE49-F238E27FC236}">
                <a16:creationId xmlns:a16="http://schemas.microsoft.com/office/drawing/2014/main" id="{F662345A-68AE-69A8-FFFE-5EB648CC51A4}"/>
              </a:ext>
            </a:extLst>
          </p:cNvPr>
          <p:cNvSpPr txBox="1"/>
          <p:nvPr/>
        </p:nvSpPr>
        <p:spPr>
          <a:xfrm>
            <a:off x="6615405" y="4734113"/>
            <a:ext cx="3536546" cy="523220"/>
          </a:xfrm>
          <a:prstGeom prst="rect">
            <a:avLst/>
          </a:prstGeom>
          <a:noFill/>
        </p:spPr>
        <p:txBody>
          <a:bodyPr wrap="none" rtlCol="0">
            <a:spAutoFit/>
          </a:bodyPr>
          <a:lstStyle/>
          <a:p>
            <a:r>
              <a:rPr lang="en-US" sz="2800">
                <a:solidFill>
                  <a:srgbClr val="00B050"/>
                </a:solidFill>
                <a:latin typeface="Consolas" panose="020B0609020204030204" pitchFamily="49" charset="0"/>
              </a:rPr>
              <a:t> ADD Rd, Rs1, Rs2</a:t>
            </a:r>
          </a:p>
        </p:txBody>
      </p:sp>
      <p:pic>
        <p:nvPicPr>
          <p:cNvPr id="11" name="Picture 10">
            <a:hlinkClick r:id="rId3" action="ppaction://hlinksldjump"/>
            <a:extLst>
              <a:ext uri="{FF2B5EF4-FFF2-40B4-BE49-F238E27FC236}">
                <a16:creationId xmlns:a16="http://schemas.microsoft.com/office/drawing/2014/main" id="{A82DEF28-189A-04B5-C8D6-F31EDB371425}"/>
              </a:ext>
            </a:extLst>
          </p:cNvPr>
          <p:cNvPicPr>
            <a:picLocks noChangeAspect="1"/>
          </p:cNvPicPr>
          <p:nvPr/>
        </p:nvPicPr>
        <p:blipFill>
          <a:blip r:embed="rId4"/>
          <a:stretch>
            <a:fillRect/>
          </a:stretch>
        </p:blipFill>
        <p:spPr>
          <a:xfrm>
            <a:off x="11038384" y="6427540"/>
            <a:ext cx="1076851" cy="222744"/>
          </a:xfrm>
          <a:prstGeom prst="rect">
            <a:avLst/>
          </a:prstGeom>
        </p:spPr>
      </p:pic>
      <p:sp>
        <p:nvSpPr>
          <p:cNvPr id="14" name="Slide Number Placeholder 4">
            <a:extLst>
              <a:ext uri="{FF2B5EF4-FFF2-40B4-BE49-F238E27FC236}">
                <a16:creationId xmlns:a16="http://schemas.microsoft.com/office/drawing/2014/main" id="{EA9AB06C-1B1F-650D-E2EC-E027C3269283}"/>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46</a:t>
            </a:fld>
            <a:endParaRPr lang="en-US" b="1">
              <a:solidFill>
                <a:schemeClr val="bg1"/>
              </a:solidFill>
            </a:endParaRPr>
          </a:p>
        </p:txBody>
      </p:sp>
      <p:graphicFrame>
        <p:nvGraphicFramePr>
          <p:cNvPr id="16" name="Table 4">
            <a:extLst>
              <a:ext uri="{FF2B5EF4-FFF2-40B4-BE49-F238E27FC236}">
                <a16:creationId xmlns:a16="http://schemas.microsoft.com/office/drawing/2014/main" id="{B73DBC1E-B29D-A54C-93E8-D8F356FFA073}"/>
              </a:ext>
            </a:extLst>
          </p:cNvPr>
          <p:cNvGraphicFramePr>
            <a:graphicFrameLocks noGrp="1"/>
          </p:cNvGraphicFramePr>
          <p:nvPr/>
        </p:nvGraphicFramePr>
        <p:xfrm>
          <a:off x="193268" y="742463"/>
          <a:ext cx="4329725" cy="444470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graphicFrame>
        <p:nvGraphicFramePr>
          <p:cNvPr id="2" name="Table 4">
            <a:extLst>
              <a:ext uri="{FF2B5EF4-FFF2-40B4-BE49-F238E27FC236}">
                <a16:creationId xmlns:a16="http://schemas.microsoft.com/office/drawing/2014/main" id="{B63E5C71-839C-D79F-7ADC-214F03FCD1EB}"/>
              </a:ext>
            </a:extLst>
          </p:cNvPr>
          <p:cNvGraphicFramePr>
            <a:graphicFrameLocks noGrp="1"/>
          </p:cNvGraphicFramePr>
          <p:nvPr>
            <p:extLst>
              <p:ext uri="{D42A27DB-BD31-4B8C-83A1-F6EECF244321}">
                <p14:modId xmlns:p14="http://schemas.microsoft.com/office/powerpoint/2010/main" val="3017972225"/>
              </p:ext>
            </p:extLst>
          </p:nvPr>
        </p:nvGraphicFramePr>
        <p:xfrm>
          <a:off x="193268" y="742463"/>
          <a:ext cx="4329725" cy="467838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17</a:t>
                      </a:r>
                    </a:p>
                  </a:txBody>
                  <a:tcPr/>
                </a:tc>
                <a:tc>
                  <a:txBody>
                    <a:bodyPr/>
                    <a:lstStyle/>
                    <a:p>
                      <a:pPr algn="l"/>
                      <a:r>
                        <a:rPr lang="en-US" sz="900"/>
                        <a:t>Load Special Register</a:t>
                      </a:r>
                    </a:p>
                  </a:txBody>
                  <a:tcPr/>
                </a:tc>
                <a:extLst>
                  <a:ext uri="{0D108BD9-81ED-4DB2-BD59-A6C34878D82A}">
                    <a16:rowId xmlns:a16="http://schemas.microsoft.com/office/drawing/2014/main" val="2759210480"/>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1649857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FF8AD04E-5027-EE89-6850-D890422911A1}"/>
              </a:ext>
            </a:extLst>
          </p:cNvPr>
          <p:cNvSpPr>
            <a:spLocks noGrp="1"/>
          </p:cNvSpPr>
          <p:nvPr>
            <p:ph type="ctrTitle"/>
          </p:nvPr>
        </p:nvSpPr>
        <p:spPr>
          <a:xfrm>
            <a:off x="914400" y="182880"/>
            <a:ext cx="9144000" cy="457200"/>
          </a:xfrm>
        </p:spPr>
        <p:txBody>
          <a:bodyPr/>
          <a:lstStyle/>
          <a:p>
            <a:r>
              <a:rPr lang="en-US"/>
              <a:t>Micro-Instructions Control: Load Immediate to Reg (00011)</a:t>
            </a:r>
          </a:p>
        </p:txBody>
      </p:sp>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nvGraphicFramePr>
        <p:xfrm>
          <a:off x="4716584" y="742463"/>
          <a:ext cx="5638802" cy="3291319"/>
        </p:xfrm>
        <a:graphic>
          <a:graphicData uri="http://schemas.openxmlformats.org/drawingml/2006/table">
            <a:tbl>
              <a:tblPr firstRow="1" bandRow="1">
                <a:tableStyleId>{5C22544A-7EE6-4342-B048-85BDC9FD1C3A}</a:tableStyleId>
              </a:tblPr>
              <a:tblGrid>
                <a:gridCol w="855787">
                  <a:extLst>
                    <a:ext uri="{9D8B030D-6E8A-4147-A177-3AD203B41FA5}">
                      <a16:colId xmlns:a16="http://schemas.microsoft.com/office/drawing/2014/main" val="1217920130"/>
                    </a:ext>
                  </a:extLst>
                </a:gridCol>
                <a:gridCol w="2294891">
                  <a:extLst>
                    <a:ext uri="{9D8B030D-6E8A-4147-A177-3AD203B41FA5}">
                      <a16:colId xmlns:a16="http://schemas.microsoft.com/office/drawing/2014/main" val="1475888205"/>
                    </a:ext>
                  </a:extLst>
                </a:gridCol>
                <a:gridCol w="2488124">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370840">
                <a:tc>
                  <a:txBody>
                    <a:bodyPr/>
                    <a:lstStyle/>
                    <a:p>
                      <a:pPr algn="ctr"/>
                      <a:r>
                        <a:rPr lang="en-US" sz="1300"/>
                        <a:t>0</a:t>
                      </a:r>
                    </a:p>
                  </a:txBody>
                  <a:tcPr/>
                </a:tc>
                <a:tc>
                  <a:txBody>
                    <a:bodyPr/>
                    <a:lstStyle/>
                    <a:p>
                      <a:pPr algn="l"/>
                      <a:r>
                        <a:rPr lang="en-US" sz="1300"/>
                        <a:t>01100000 = 0x60</a:t>
                      </a:r>
                    </a:p>
                  </a:txBody>
                  <a:tcPr/>
                </a:tc>
                <a:tc>
                  <a:txBody>
                    <a:bodyPr/>
                    <a:lstStyle/>
                    <a:p>
                      <a:pPr algn="l"/>
                      <a:r>
                        <a:rPr lang="en-US" sz="1300"/>
                        <a:t>Write </a:t>
                      </a:r>
                      <a:r>
                        <a:rPr lang="en-US" sz="1300" err="1"/>
                        <a:t>imm</a:t>
                      </a:r>
                      <a:r>
                        <a:rPr lang="en-US" sz="1300"/>
                        <a:t> to bus and Rd read</a:t>
                      </a:r>
                    </a:p>
                  </a:txBody>
                  <a:tcPr/>
                </a:tc>
                <a:extLst>
                  <a:ext uri="{0D108BD9-81ED-4DB2-BD59-A6C34878D82A}">
                    <a16:rowId xmlns:a16="http://schemas.microsoft.com/office/drawing/2014/main" val="2570910443"/>
                  </a:ext>
                </a:extLst>
              </a:tr>
              <a:tr h="370840">
                <a:tc>
                  <a:txBody>
                    <a:bodyPr/>
                    <a:lstStyle/>
                    <a:p>
                      <a:pPr algn="ctr"/>
                      <a:r>
                        <a:rPr lang="en-US" sz="13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10000000 = 0x80</a:t>
                      </a:r>
                    </a:p>
                  </a:txBody>
                  <a:tcPr/>
                </a:tc>
                <a:tc>
                  <a:txBody>
                    <a:bodyPr/>
                    <a:lstStyle/>
                    <a:p>
                      <a:pPr algn="l"/>
                      <a:r>
                        <a:rPr lang="en-US" sz="1300"/>
                        <a:t>Increment PC</a:t>
                      </a:r>
                    </a:p>
                  </a:txBody>
                  <a:tcPr/>
                </a:tc>
                <a:extLst>
                  <a:ext uri="{0D108BD9-81ED-4DB2-BD59-A6C34878D82A}">
                    <a16:rowId xmlns:a16="http://schemas.microsoft.com/office/drawing/2014/main" val="631651838"/>
                  </a:ext>
                </a:extLst>
              </a:tr>
              <a:tr h="370840">
                <a:tc>
                  <a:txBody>
                    <a:bodyPr/>
                    <a:lstStyle/>
                    <a:p>
                      <a:pPr algn="ctr"/>
                      <a:r>
                        <a:rPr lang="en-US" sz="13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300"/>
                    </a:p>
                  </a:txBody>
                  <a:tcPr/>
                </a:tc>
                <a:tc>
                  <a:txBody>
                    <a:bodyPr/>
                    <a:lstStyle/>
                    <a:p>
                      <a:pPr algn="l"/>
                      <a:endParaRPr lang="en-US" sz="1300"/>
                    </a:p>
                  </a:txBody>
                  <a:tcPr/>
                </a:tc>
                <a:extLst>
                  <a:ext uri="{0D108BD9-81ED-4DB2-BD59-A6C34878D82A}">
                    <a16:rowId xmlns:a16="http://schemas.microsoft.com/office/drawing/2014/main" val="1592812184"/>
                  </a:ext>
                </a:extLst>
              </a:tr>
              <a:tr h="370840">
                <a:tc>
                  <a:txBody>
                    <a:bodyPr/>
                    <a:lstStyle/>
                    <a:p>
                      <a:pPr algn="ctr"/>
                      <a:r>
                        <a:rPr lang="en-US" sz="1300"/>
                        <a:t>3</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225793510"/>
                  </a:ext>
                </a:extLst>
              </a:tr>
              <a:tr h="370840">
                <a:tc>
                  <a:txBody>
                    <a:bodyPr/>
                    <a:lstStyle/>
                    <a:p>
                      <a:pPr algn="ctr"/>
                      <a:r>
                        <a:rPr lang="en-US" sz="1300"/>
                        <a:t>4</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1046366285"/>
                  </a:ext>
                </a:extLst>
              </a:tr>
              <a:tr h="370840">
                <a:tc>
                  <a:txBody>
                    <a:bodyPr/>
                    <a:lstStyle/>
                    <a:p>
                      <a:pPr algn="ctr"/>
                      <a:r>
                        <a:rPr lang="en-US" sz="1300"/>
                        <a:t>5</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615342211"/>
                  </a:ext>
                </a:extLst>
              </a:tr>
              <a:tr h="370840">
                <a:tc>
                  <a:txBody>
                    <a:bodyPr/>
                    <a:lstStyle/>
                    <a:p>
                      <a:pPr algn="ctr"/>
                      <a:r>
                        <a:rPr lang="en-US" sz="1300"/>
                        <a:t>6</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055856817"/>
                  </a:ext>
                </a:extLst>
              </a:tr>
              <a:tr h="370840">
                <a:tc>
                  <a:txBody>
                    <a:bodyPr/>
                    <a:lstStyle/>
                    <a:p>
                      <a:pPr algn="ctr"/>
                      <a:r>
                        <a:rPr lang="en-US" sz="1300"/>
                        <a:t>7</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3502991894"/>
                  </a:ext>
                </a:extLst>
              </a:tr>
            </a:tbl>
          </a:graphicData>
        </a:graphic>
      </p:graphicFrame>
      <p:graphicFrame>
        <p:nvGraphicFramePr>
          <p:cNvPr id="10" name="Table 4">
            <a:extLst>
              <a:ext uri="{FF2B5EF4-FFF2-40B4-BE49-F238E27FC236}">
                <a16:creationId xmlns:a16="http://schemas.microsoft.com/office/drawing/2014/main" id="{71D6BFD9-4AC8-476E-8033-8B7BF5CFF156}"/>
              </a:ext>
            </a:extLst>
          </p:cNvPr>
          <p:cNvGraphicFramePr>
            <a:graphicFrameLocks noGrp="1"/>
          </p:cNvGraphicFramePr>
          <p:nvPr>
            <p:extLst>
              <p:ext uri="{D42A27DB-BD31-4B8C-83A1-F6EECF244321}">
                <p14:modId xmlns:p14="http://schemas.microsoft.com/office/powerpoint/2010/main" val="3181960954"/>
              </p:ext>
            </p:extLst>
          </p:nvPr>
        </p:nvGraphicFramePr>
        <p:xfrm>
          <a:off x="179752" y="5619913"/>
          <a:ext cx="10131063" cy="594360"/>
        </p:xfrm>
        <a:graphic>
          <a:graphicData uri="http://schemas.openxmlformats.org/drawingml/2006/table">
            <a:tbl>
              <a:tblPr firstRow="1" bandRow="1">
                <a:tableStyleId>{5C22544A-7EE6-4342-B048-85BDC9FD1C3A}</a:tableStyleId>
              </a:tblPr>
              <a:tblGrid>
                <a:gridCol w="1297355">
                  <a:extLst>
                    <a:ext uri="{9D8B030D-6E8A-4147-A177-3AD203B41FA5}">
                      <a16:colId xmlns:a16="http://schemas.microsoft.com/office/drawing/2014/main" val="1810408170"/>
                    </a:ext>
                  </a:extLst>
                </a:gridCol>
                <a:gridCol w="797171">
                  <a:extLst>
                    <a:ext uri="{9D8B030D-6E8A-4147-A177-3AD203B41FA5}">
                      <a16:colId xmlns:a16="http://schemas.microsoft.com/office/drawing/2014/main" val="950391025"/>
                    </a:ext>
                  </a:extLst>
                </a:gridCol>
                <a:gridCol w="836247">
                  <a:extLst>
                    <a:ext uri="{9D8B030D-6E8A-4147-A177-3AD203B41FA5}">
                      <a16:colId xmlns:a16="http://schemas.microsoft.com/office/drawing/2014/main" val="1217920130"/>
                    </a:ext>
                  </a:extLst>
                </a:gridCol>
                <a:gridCol w="2595403">
                  <a:extLst>
                    <a:ext uri="{9D8B030D-6E8A-4147-A177-3AD203B41FA5}">
                      <a16:colId xmlns:a16="http://schemas.microsoft.com/office/drawing/2014/main" val="1475888205"/>
                    </a:ext>
                  </a:extLst>
                </a:gridCol>
                <a:gridCol w="765213">
                  <a:extLst>
                    <a:ext uri="{9D8B030D-6E8A-4147-A177-3AD203B41FA5}">
                      <a16:colId xmlns:a16="http://schemas.microsoft.com/office/drawing/2014/main" val="1355185516"/>
                    </a:ext>
                  </a:extLst>
                </a:gridCol>
                <a:gridCol w="1048849">
                  <a:extLst>
                    <a:ext uri="{9D8B030D-6E8A-4147-A177-3AD203B41FA5}">
                      <a16:colId xmlns:a16="http://schemas.microsoft.com/office/drawing/2014/main" val="2050007723"/>
                    </a:ext>
                  </a:extLst>
                </a:gridCol>
                <a:gridCol w="2790825">
                  <a:extLst>
                    <a:ext uri="{9D8B030D-6E8A-4147-A177-3AD203B41FA5}">
                      <a16:colId xmlns:a16="http://schemas.microsoft.com/office/drawing/2014/main" val="3099546510"/>
                    </a:ext>
                  </a:extLst>
                </a:gridCol>
              </a:tblGrid>
              <a:tr h="29718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Load </a:t>
                      </a:r>
                      <a:r>
                        <a:rPr lang="en-US" sz="1300" err="1"/>
                        <a:t>Imm</a:t>
                      </a:r>
                      <a:endParaRPr lang="en-US" sz="1300"/>
                    </a:p>
                  </a:txBody>
                  <a:tcPr>
                    <a:solidFill>
                      <a:schemeClr val="accent6"/>
                    </a:solidFill>
                  </a:tcPr>
                </a:tc>
                <a:tc gridSpan="3">
                  <a:txBody>
                    <a:bodyPr/>
                    <a:lstStyle/>
                    <a:p>
                      <a:pPr algn="ctr"/>
                      <a:r>
                        <a:rPr lang="en-US" sz="1300"/>
                        <a:t>Immediate (8-bit)</a:t>
                      </a:r>
                    </a:p>
                  </a:txBody>
                  <a:tcPr/>
                </a:tc>
                <a:tc hMerge="1">
                  <a:txBody>
                    <a:bodyPr/>
                    <a:lstStyle/>
                    <a:p>
                      <a:pPr algn="ctr"/>
                      <a:endParaRPr lang="en-US"/>
                    </a:p>
                  </a:txBody>
                  <a:tcPr/>
                </a:tc>
                <a:tc hMerge="1">
                  <a:txBody>
                    <a:bodyPr/>
                    <a:lstStyle/>
                    <a:p>
                      <a:pPr algn="ctr"/>
                      <a:r>
                        <a:rPr lang="en-US"/>
                        <a:t>Immediate (8-bit)</a:t>
                      </a:r>
                    </a:p>
                  </a:txBody>
                  <a:tcPr/>
                </a:tc>
                <a:tc>
                  <a:txBody>
                    <a:bodyPr/>
                    <a:lstStyle/>
                    <a:p>
                      <a:pPr algn="ctr"/>
                      <a:r>
                        <a:rPr lang="en-US" sz="1300"/>
                        <a:t>Rd</a:t>
                      </a:r>
                    </a:p>
                  </a:txBody>
                  <a:tcPr/>
                </a:tc>
                <a:tc>
                  <a:txBody>
                    <a:bodyPr/>
                    <a:lstStyle/>
                    <a:p>
                      <a:pPr algn="ctr"/>
                      <a:r>
                        <a:rPr lang="en-US" sz="1300"/>
                        <a:t>X</a:t>
                      </a:r>
                    </a:p>
                  </a:txBody>
                  <a:tcPr/>
                </a:tc>
                <a:tc>
                  <a:txBody>
                    <a:bodyPr/>
                    <a:lstStyle/>
                    <a:p>
                      <a:pPr algn="ctr"/>
                      <a:r>
                        <a:rPr lang="en-US" sz="1300"/>
                        <a:t>OpCode=03</a:t>
                      </a:r>
                    </a:p>
                  </a:txBody>
                  <a:tcPr/>
                </a:tc>
                <a:extLst>
                  <a:ext uri="{0D108BD9-81ED-4DB2-BD59-A6C34878D82A}">
                    <a16:rowId xmlns:a16="http://schemas.microsoft.com/office/drawing/2014/main" val="2570910443"/>
                  </a:ext>
                </a:extLst>
              </a:tr>
            </a:tbl>
          </a:graphicData>
        </a:graphic>
      </p:graphicFrame>
      <p:sp>
        <p:nvSpPr>
          <p:cNvPr id="11" name="TextBox 10">
            <a:extLst>
              <a:ext uri="{FF2B5EF4-FFF2-40B4-BE49-F238E27FC236}">
                <a16:creationId xmlns:a16="http://schemas.microsoft.com/office/drawing/2014/main" id="{03D9FC21-D928-4956-BED9-F78EDAAD22AC}"/>
              </a:ext>
            </a:extLst>
          </p:cNvPr>
          <p:cNvSpPr txBox="1"/>
          <p:nvPr/>
        </p:nvSpPr>
        <p:spPr>
          <a:xfrm>
            <a:off x="11305310" y="1"/>
            <a:ext cx="931665" cy="1862048"/>
          </a:xfrm>
          <a:prstGeom prst="rect">
            <a:avLst/>
          </a:prstGeom>
          <a:noFill/>
        </p:spPr>
        <p:txBody>
          <a:bodyPr wrap="none" rtlCol="0">
            <a:spAutoFit/>
          </a:bodyPr>
          <a:lstStyle/>
          <a:p>
            <a:r>
              <a:rPr lang="en-US" sz="11500">
                <a:solidFill>
                  <a:schemeClr val="accent1">
                    <a:lumMod val="60000"/>
                    <a:lumOff val="40000"/>
                  </a:schemeClr>
                </a:solidFill>
              </a:rPr>
              <a:t>3</a:t>
            </a:r>
          </a:p>
        </p:txBody>
      </p:sp>
      <p:sp>
        <p:nvSpPr>
          <p:cNvPr id="12" name="TextBox 11">
            <a:extLst>
              <a:ext uri="{FF2B5EF4-FFF2-40B4-BE49-F238E27FC236}">
                <a16:creationId xmlns:a16="http://schemas.microsoft.com/office/drawing/2014/main" id="{3A6FA834-590C-81A3-1CD6-7C9383585B3D}"/>
              </a:ext>
            </a:extLst>
          </p:cNvPr>
          <p:cNvSpPr txBox="1"/>
          <p:nvPr/>
        </p:nvSpPr>
        <p:spPr>
          <a:xfrm>
            <a:off x="6615405" y="4734113"/>
            <a:ext cx="2945037" cy="523220"/>
          </a:xfrm>
          <a:prstGeom prst="rect">
            <a:avLst/>
          </a:prstGeom>
          <a:noFill/>
        </p:spPr>
        <p:txBody>
          <a:bodyPr wrap="none" rtlCol="0">
            <a:spAutoFit/>
          </a:bodyPr>
          <a:lstStyle/>
          <a:p>
            <a:r>
              <a:rPr lang="en-US" sz="2800">
                <a:solidFill>
                  <a:srgbClr val="00B050"/>
                </a:solidFill>
                <a:latin typeface="Consolas" panose="020B0609020204030204" pitchFamily="49" charset="0"/>
              </a:rPr>
              <a:t> LDR Rd, #0x00</a:t>
            </a:r>
          </a:p>
        </p:txBody>
      </p:sp>
      <p:pic>
        <p:nvPicPr>
          <p:cNvPr id="2" name="Picture 1">
            <a:hlinkClick r:id="rId2" action="ppaction://hlinksldjump"/>
            <a:extLst>
              <a:ext uri="{FF2B5EF4-FFF2-40B4-BE49-F238E27FC236}">
                <a16:creationId xmlns:a16="http://schemas.microsoft.com/office/drawing/2014/main" id="{A64C9A7E-2992-5833-B906-B4238394BCB9}"/>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5" name="Slide Number Placeholder 4">
            <a:extLst>
              <a:ext uri="{FF2B5EF4-FFF2-40B4-BE49-F238E27FC236}">
                <a16:creationId xmlns:a16="http://schemas.microsoft.com/office/drawing/2014/main" id="{2726BF04-A43E-C416-E25F-2154FFEE452F}"/>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47</a:t>
            </a:fld>
            <a:endParaRPr lang="en-US" b="1">
              <a:solidFill>
                <a:schemeClr val="bg1"/>
              </a:solidFill>
            </a:endParaRPr>
          </a:p>
        </p:txBody>
      </p:sp>
      <p:graphicFrame>
        <p:nvGraphicFramePr>
          <p:cNvPr id="17" name="Table 4">
            <a:extLst>
              <a:ext uri="{FF2B5EF4-FFF2-40B4-BE49-F238E27FC236}">
                <a16:creationId xmlns:a16="http://schemas.microsoft.com/office/drawing/2014/main" id="{64349418-D6AB-BC6D-B513-99F6B9C75C62}"/>
              </a:ext>
            </a:extLst>
          </p:cNvPr>
          <p:cNvGraphicFramePr>
            <a:graphicFrameLocks noGrp="1"/>
          </p:cNvGraphicFramePr>
          <p:nvPr/>
        </p:nvGraphicFramePr>
        <p:xfrm>
          <a:off x="193268" y="742463"/>
          <a:ext cx="4329725" cy="444470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graphicFrame>
        <p:nvGraphicFramePr>
          <p:cNvPr id="3" name="Table 4">
            <a:extLst>
              <a:ext uri="{FF2B5EF4-FFF2-40B4-BE49-F238E27FC236}">
                <a16:creationId xmlns:a16="http://schemas.microsoft.com/office/drawing/2014/main" id="{C6306A5C-40BE-DE94-0B75-EEBA25FB0BB9}"/>
              </a:ext>
            </a:extLst>
          </p:cNvPr>
          <p:cNvGraphicFramePr>
            <a:graphicFrameLocks noGrp="1"/>
          </p:cNvGraphicFramePr>
          <p:nvPr>
            <p:extLst>
              <p:ext uri="{D42A27DB-BD31-4B8C-83A1-F6EECF244321}">
                <p14:modId xmlns:p14="http://schemas.microsoft.com/office/powerpoint/2010/main" val="3017972225"/>
              </p:ext>
            </p:extLst>
          </p:nvPr>
        </p:nvGraphicFramePr>
        <p:xfrm>
          <a:off x="193268" y="742463"/>
          <a:ext cx="4329725" cy="467838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17</a:t>
                      </a:r>
                    </a:p>
                  </a:txBody>
                  <a:tcPr/>
                </a:tc>
                <a:tc>
                  <a:txBody>
                    <a:bodyPr/>
                    <a:lstStyle/>
                    <a:p>
                      <a:pPr algn="l"/>
                      <a:r>
                        <a:rPr lang="en-US" sz="900"/>
                        <a:t>Load Special Register</a:t>
                      </a:r>
                    </a:p>
                  </a:txBody>
                  <a:tcPr/>
                </a:tc>
                <a:extLst>
                  <a:ext uri="{0D108BD9-81ED-4DB2-BD59-A6C34878D82A}">
                    <a16:rowId xmlns:a16="http://schemas.microsoft.com/office/drawing/2014/main" val="2759210480"/>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3376200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B7DDD94-94F8-32EA-347A-88A3F8A72432}"/>
              </a:ext>
            </a:extLst>
          </p:cNvPr>
          <p:cNvSpPr>
            <a:spLocks noGrp="1"/>
          </p:cNvSpPr>
          <p:nvPr>
            <p:ph type="ctrTitle"/>
          </p:nvPr>
        </p:nvSpPr>
        <p:spPr>
          <a:xfrm>
            <a:off x="914400" y="182880"/>
            <a:ext cx="9144000" cy="457200"/>
          </a:xfrm>
        </p:spPr>
        <p:txBody>
          <a:bodyPr/>
          <a:lstStyle/>
          <a:p>
            <a:r>
              <a:rPr lang="en-US"/>
              <a:t>Micro-Instructions Control: MOV (00100)</a:t>
            </a:r>
          </a:p>
        </p:txBody>
      </p:sp>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nvGraphicFramePr>
        <p:xfrm>
          <a:off x="4716584" y="742463"/>
          <a:ext cx="5638802" cy="3291319"/>
        </p:xfrm>
        <a:graphic>
          <a:graphicData uri="http://schemas.openxmlformats.org/drawingml/2006/table">
            <a:tbl>
              <a:tblPr firstRow="1" bandRow="1">
                <a:tableStyleId>{5C22544A-7EE6-4342-B048-85BDC9FD1C3A}</a:tableStyleId>
              </a:tblPr>
              <a:tblGrid>
                <a:gridCol w="855787">
                  <a:extLst>
                    <a:ext uri="{9D8B030D-6E8A-4147-A177-3AD203B41FA5}">
                      <a16:colId xmlns:a16="http://schemas.microsoft.com/office/drawing/2014/main" val="1217920130"/>
                    </a:ext>
                  </a:extLst>
                </a:gridCol>
                <a:gridCol w="2294891">
                  <a:extLst>
                    <a:ext uri="{9D8B030D-6E8A-4147-A177-3AD203B41FA5}">
                      <a16:colId xmlns:a16="http://schemas.microsoft.com/office/drawing/2014/main" val="1475888205"/>
                    </a:ext>
                  </a:extLst>
                </a:gridCol>
                <a:gridCol w="2488124">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370840">
                <a:tc>
                  <a:txBody>
                    <a:bodyPr/>
                    <a:lstStyle/>
                    <a:p>
                      <a:pPr algn="ctr"/>
                      <a:r>
                        <a:rPr lang="en-US" sz="1300"/>
                        <a:t>0</a:t>
                      </a:r>
                    </a:p>
                  </a:txBody>
                  <a:tcPr/>
                </a:tc>
                <a:tc>
                  <a:txBody>
                    <a:bodyPr/>
                    <a:lstStyle/>
                    <a:p>
                      <a:pPr algn="l"/>
                      <a:r>
                        <a:rPr lang="en-US" sz="1300"/>
                        <a:t>00110000 = 0x30</a:t>
                      </a:r>
                    </a:p>
                  </a:txBody>
                  <a:tcPr/>
                </a:tc>
                <a:tc>
                  <a:txBody>
                    <a:bodyPr/>
                    <a:lstStyle/>
                    <a:p>
                      <a:pPr algn="l"/>
                      <a:r>
                        <a:rPr lang="en-US" sz="1300"/>
                        <a:t>Write Rs1 to bus and Rd reads</a:t>
                      </a:r>
                    </a:p>
                  </a:txBody>
                  <a:tcPr/>
                </a:tc>
                <a:extLst>
                  <a:ext uri="{0D108BD9-81ED-4DB2-BD59-A6C34878D82A}">
                    <a16:rowId xmlns:a16="http://schemas.microsoft.com/office/drawing/2014/main" val="2570910443"/>
                  </a:ext>
                </a:extLst>
              </a:tr>
              <a:tr h="370840">
                <a:tc>
                  <a:txBody>
                    <a:bodyPr/>
                    <a:lstStyle/>
                    <a:p>
                      <a:pPr algn="ctr"/>
                      <a:r>
                        <a:rPr lang="en-US" sz="13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10000000 = 0x80</a:t>
                      </a:r>
                    </a:p>
                  </a:txBody>
                  <a:tcPr/>
                </a:tc>
                <a:tc>
                  <a:txBody>
                    <a:bodyPr/>
                    <a:lstStyle/>
                    <a:p>
                      <a:pPr algn="l"/>
                      <a:r>
                        <a:rPr lang="en-US" sz="1300"/>
                        <a:t>Increment PC</a:t>
                      </a:r>
                    </a:p>
                  </a:txBody>
                  <a:tcPr/>
                </a:tc>
                <a:extLst>
                  <a:ext uri="{0D108BD9-81ED-4DB2-BD59-A6C34878D82A}">
                    <a16:rowId xmlns:a16="http://schemas.microsoft.com/office/drawing/2014/main" val="631651838"/>
                  </a:ext>
                </a:extLst>
              </a:tr>
              <a:tr h="370840">
                <a:tc>
                  <a:txBody>
                    <a:bodyPr/>
                    <a:lstStyle/>
                    <a:p>
                      <a:pPr algn="ctr"/>
                      <a:r>
                        <a:rPr lang="en-US" sz="13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300"/>
                    </a:p>
                  </a:txBody>
                  <a:tcPr/>
                </a:tc>
                <a:tc>
                  <a:txBody>
                    <a:bodyPr/>
                    <a:lstStyle/>
                    <a:p>
                      <a:pPr algn="l"/>
                      <a:endParaRPr lang="en-US" sz="1300"/>
                    </a:p>
                  </a:txBody>
                  <a:tcPr/>
                </a:tc>
                <a:extLst>
                  <a:ext uri="{0D108BD9-81ED-4DB2-BD59-A6C34878D82A}">
                    <a16:rowId xmlns:a16="http://schemas.microsoft.com/office/drawing/2014/main" val="1592812184"/>
                  </a:ext>
                </a:extLst>
              </a:tr>
              <a:tr h="370840">
                <a:tc>
                  <a:txBody>
                    <a:bodyPr/>
                    <a:lstStyle/>
                    <a:p>
                      <a:pPr algn="ctr"/>
                      <a:r>
                        <a:rPr lang="en-US" sz="1300"/>
                        <a:t>3</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225793510"/>
                  </a:ext>
                </a:extLst>
              </a:tr>
              <a:tr h="370840">
                <a:tc>
                  <a:txBody>
                    <a:bodyPr/>
                    <a:lstStyle/>
                    <a:p>
                      <a:pPr algn="ctr"/>
                      <a:r>
                        <a:rPr lang="en-US" sz="1300"/>
                        <a:t>4</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1046366285"/>
                  </a:ext>
                </a:extLst>
              </a:tr>
              <a:tr h="370840">
                <a:tc>
                  <a:txBody>
                    <a:bodyPr/>
                    <a:lstStyle/>
                    <a:p>
                      <a:pPr algn="ctr"/>
                      <a:r>
                        <a:rPr lang="en-US" sz="1300"/>
                        <a:t>5</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615342211"/>
                  </a:ext>
                </a:extLst>
              </a:tr>
              <a:tr h="370840">
                <a:tc>
                  <a:txBody>
                    <a:bodyPr/>
                    <a:lstStyle/>
                    <a:p>
                      <a:pPr algn="ctr"/>
                      <a:r>
                        <a:rPr lang="en-US" sz="1300"/>
                        <a:t>6</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055856817"/>
                  </a:ext>
                </a:extLst>
              </a:tr>
              <a:tr h="370840">
                <a:tc>
                  <a:txBody>
                    <a:bodyPr/>
                    <a:lstStyle/>
                    <a:p>
                      <a:pPr algn="ctr"/>
                      <a:r>
                        <a:rPr lang="en-US" sz="1300"/>
                        <a:t>7</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3502991894"/>
                  </a:ext>
                </a:extLst>
              </a:tr>
            </a:tbl>
          </a:graphicData>
        </a:graphic>
      </p:graphicFrame>
      <p:graphicFrame>
        <p:nvGraphicFramePr>
          <p:cNvPr id="10" name="Table 4">
            <a:extLst>
              <a:ext uri="{FF2B5EF4-FFF2-40B4-BE49-F238E27FC236}">
                <a16:creationId xmlns:a16="http://schemas.microsoft.com/office/drawing/2014/main" id="{33C88461-5F9C-4D9D-9DAE-914D4CE0634F}"/>
              </a:ext>
            </a:extLst>
          </p:cNvPr>
          <p:cNvGraphicFramePr>
            <a:graphicFrameLocks noGrp="1"/>
          </p:cNvGraphicFramePr>
          <p:nvPr>
            <p:extLst>
              <p:ext uri="{D42A27DB-BD31-4B8C-83A1-F6EECF244321}">
                <p14:modId xmlns:p14="http://schemas.microsoft.com/office/powerpoint/2010/main" val="1433092087"/>
              </p:ext>
            </p:extLst>
          </p:nvPr>
        </p:nvGraphicFramePr>
        <p:xfrm>
          <a:off x="179753" y="5624993"/>
          <a:ext cx="10140587" cy="668020"/>
        </p:xfrm>
        <a:graphic>
          <a:graphicData uri="http://schemas.openxmlformats.org/drawingml/2006/table">
            <a:tbl>
              <a:tblPr firstRow="1" bandRow="1">
                <a:tableStyleId>{5C22544A-7EE6-4342-B048-85BDC9FD1C3A}</a:tableStyleId>
              </a:tblPr>
              <a:tblGrid>
                <a:gridCol w="1171400">
                  <a:extLst>
                    <a:ext uri="{9D8B030D-6E8A-4147-A177-3AD203B41FA5}">
                      <a16:colId xmlns:a16="http://schemas.microsoft.com/office/drawing/2014/main" val="1810408170"/>
                    </a:ext>
                  </a:extLst>
                </a:gridCol>
                <a:gridCol w="878932">
                  <a:extLst>
                    <a:ext uri="{9D8B030D-6E8A-4147-A177-3AD203B41FA5}">
                      <a16:colId xmlns:a16="http://schemas.microsoft.com/office/drawing/2014/main" val="950391025"/>
                    </a:ext>
                  </a:extLst>
                </a:gridCol>
                <a:gridCol w="1153311">
                  <a:extLst>
                    <a:ext uri="{9D8B030D-6E8A-4147-A177-3AD203B41FA5}">
                      <a16:colId xmlns:a16="http://schemas.microsoft.com/office/drawing/2014/main" val="1217920130"/>
                    </a:ext>
                  </a:extLst>
                </a:gridCol>
                <a:gridCol w="2837047">
                  <a:extLst>
                    <a:ext uri="{9D8B030D-6E8A-4147-A177-3AD203B41FA5}">
                      <a16:colId xmlns:a16="http://schemas.microsoft.com/office/drawing/2014/main" val="1475888205"/>
                    </a:ext>
                  </a:extLst>
                </a:gridCol>
                <a:gridCol w="836459">
                  <a:extLst>
                    <a:ext uri="{9D8B030D-6E8A-4147-A177-3AD203B41FA5}">
                      <a16:colId xmlns:a16="http://schemas.microsoft.com/office/drawing/2014/main" val="1355185516"/>
                    </a:ext>
                  </a:extLst>
                </a:gridCol>
                <a:gridCol w="1172531">
                  <a:extLst>
                    <a:ext uri="{9D8B030D-6E8A-4147-A177-3AD203B41FA5}">
                      <a16:colId xmlns:a16="http://schemas.microsoft.com/office/drawing/2014/main" val="2050007723"/>
                    </a:ext>
                  </a:extLst>
                </a:gridCol>
                <a:gridCol w="2090907">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Load Reg</a:t>
                      </a:r>
                    </a:p>
                  </a:txBody>
                  <a:tcPr>
                    <a:solidFill>
                      <a:schemeClr val="accent6"/>
                    </a:solidFill>
                  </a:tcPr>
                </a:tc>
                <a:tc>
                  <a:txBody>
                    <a:bodyPr/>
                    <a:lstStyle/>
                    <a:p>
                      <a:pPr algn="ctr"/>
                      <a:r>
                        <a:rPr lang="en-US" sz="1300"/>
                        <a:t>XX</a:t>
                      </a:r>
                    </a:p>
                  </a:txBody>
                  <a:tcPr/>
                </a:tc>
                <a:tc>
                  <a:txBody>
                    <a:bodyPr/>
                    <a:lstStyle/>
                    <a:p>
                      <a:pPr algn="ctr"/>
                      <a:r>
                        <a:rPr lang="en-US" sz="1300"/>
                        <a:t>Rs1</a:t>
                      </a:r>
                    </a:p>
                  </a:txBody>
                  <a:tcPr/>
                </a:tc>
                <a:tc>
                  <a:txBody>
                    <a:bodyPr/>
                    <a:lstStyle/>
                    <a:p>
                      <a:pPr algn="ctr"/>
                      <a:r>
                        <a:rPr lang="en-US" sz="1300"/>
                        <a:t>XXXX</a:t>
                      </a:r>
                    </a:p>
                  </a:txBody>
                  <a:tcPr/>
                </a:tc>
                <a:tc>
                  <a:txBody>
                    <a:bodyPr/>
                    <a:lstStyle/>
                    <a:p>
                      <a:pPr algn="ctr"/>
                      <a:r>
                        <a:rPr lang="en-US" sz="1300"/>
                        <a:t>Rd</a:t>
                      </a:r>
                    </a:p>
                  </a:txBody>
                  <a:tcPr/>
                </a:tc>
                <a:tc>
                  <a:txBody>
                    <a:bodyPr/>
                    <a:lstStyle/>
                    <a:p>
                      <a:pPr algn="ctr"/>
                      <a:r>
                        <a:rPr lang="en-US" sz="1300"/>
                        <a:t>X</a:t>
                      </a:r>
                    </a:p>
                  </a:txBody>
                  <a:tcPr/>
                </a:tc>
                <a:tc>
                  <a:txBody>
                    <a:bodyPr/>
                    <a:lstStyle/>
                    <a:p>
                      <a:pPr algn="ctr"/>
                      <a:r>
                        <a:rPr lang="en-US" sz="1300" dirty="0" err="1"/>
                        <a:t>OpCode</a:t>
                      </a:r>
                      <a:r>
                        <a:rPr lang="en-US" sz="1300" dirty="0"/>
                        <a:t>=04</a:t>
                      </a:r>
                    </a:p>
                  </a:txBody>
                  <a:tcPr/>
                </a:tc>
                <a:extLst>
                  <a:ext uri="{0D108BD9-81ED-4DB2-BD59-A6C34878D82A}">
                    <a16:rowId xmlns:a16="http://schemas.microsoft.com/office/drawing/2014/main" val="2570910443"/>
                  </a:ext>
                </a:extLst>
              </a:tr>
            </a:tbl>
          </a:graphicData>
        </a:graphic>
      </p:graphicFrame>
      <p:sp>
        <p:nvSpPr>
          <p:cNvPr id="11" name="TextBox 10">
            <a:extLst>
              <a:ext uri="{FF2B5EF4-FFF2-40B4-BE49-F238E27FC236}">
                <a16:creationId xmlns:a16="http://schemas.microsoft.com/office/drawing/2014/main" id="{AD2FAF71-0CB0-4D23-9B44-F2AFACA685F8}"/>
              </a:ext>
            </a:extLst>
          </p:cNvPr>
          <p:cNvSpPr txBox="1"/>
          <p:nvPr/>
        </p:nvSpPr>
        <p:spPr>
          <a:xfrm>
            <a:off x="11305310" y="1"/>
            <a:ext cx="931665" cy="1862048"/>
          </a:xfrm>
          <a:prstGeom prst="rect">
            <a:avLst/>
          </a:prstGeom>
          <a:noFill/>
        </p:spPr>
        <p:txBody>
          <a:bodyPr wrap="none" rtlCol="0">
            <a:spAutoFit/>
          </a:bodyPr>
          <a:lstStyle/>
          <a:p>
            <a:r>
              <a:rPr lang="en-US" sz="11500">
                <a:solidFill>
                  <a:schemeClr val="accent1">
                    <a:lumMod val="60000"/>
                    <a:lumOff val="40000"/>
                  </a:schemeClr>
                </a:solidFill>
              </a:rPr>
              <a:t>4</a:t>
            </a:r>
          </a:p>
        </p:txBody>
      </p:sp>
      <p:sp>
        <p:nvSpPr>
          <p:cNvPr id="12" name="TextBox 11">
            <a:extLst>
              <a:ext uri="{FF2B5EF4-FFF2-40B4-BE49-F238E27FC236}">
                <a16:creationId xmlns:a16="http://schemas.microsoft.com/office/drawing/2014/main" id="{9C5E7998-712A-8C03-4C81-D15223579C4F}"/>
              </a:ext>
            </a:extLst>
          </p:cNvPr>
          <p:cNvSpPr txBox="1"/>
          <p:nvPr/>
        </p:nvSpPr>
        <p:spPr>
          <a:xfrm>
            <a:off x="6615404" y="4734113"/>
            <a:ext cx="2550698" cy="523220"/>
          </a:xfrm>
          <a:prstGeom prst="rect">
            <a:avLst/>
          </a:prstGeom>
          <a:noFill/>
        </p:spPr>
        <p:txBody>
          <a:bodyPr wrap="none" rtlCol="0">
            <a:spAutoFit/>
          </a:bodyPr>
          <a:lstStyle/>
          <a:p>
            <a:r>
              <a:rPr lang="en-US" sz="2800">
                <a:solidFill>
                  <a:srgbClr val="00B050"/>
                </a:solidFill>
                <a:latin typeface="Consolas" panose="020B0609020204030204" pitchFamily="49" charset="0"/>
              </a:rPr>
              <a:t> MOV Rd, Rs1</a:t>
            </a:r>
          </a:p>
        </p:txBody>
      </p:sp>
      <p:pic>
        <p:nvPicPr>
          <p:cNvPr id="2" name="Picture 1">
            <a:hlinkClick r:id="rId2" action="ppaction://hlinksldjump"/>
            <a:extLst>
              <a:ext uri="{FF2B5EF4-FFF2-40B4-BE49-F238E27FC236}">
                <a16:creationId xmlns:a16="http://schemas.microsoft.com/office/drawing/2014/main" id="{B6729B96-C899-B35B-CDE9-D6A165A20893}"/>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7" name="Slide Number Placeholder 4">
            <a:extLst>
              <a:ext uri="{FF2B5EF4-FFF2-40B4-BE49-F238E27FC236}">
                <a16:creationId xmlns:a16="http://schemas.microsoft.com/office/drawing/2014/main" id="{78DEC36A-86AB-FE51-6F31-3902A352711C}"/>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48</a:t>
            </a:fld>
            <a:endParaRPr lang="en-US" b="1">
              <a:solidFill>
                <a:schemeClr val="bg1"/>
              </a:solidFill>
            </a:endParaRPr>
          </a:p>
        </p:txBody>
      </p:sp>
      <p:graphicFrame>
        <p:nvGraphicFramePr>
          <p:cNvPr id="14" name="Table 4">
            <a:extLst>
              <a:ext uri="{FF2B5EF4-FFF2-40B4-BE49-F238E27FC236}">
                <a16:creationId xmlns:a16="http://schemas.microsoft.com/office/drawing/2014/main" id="{61F6211E-C1A3-A1E5-5BAD-5CC61CF2D4E3}"/>
              </a:ext>
            </a:extLst>
          </p:cNvPr>
          <p:cNvGraphicFramePr>
            <a:graphicFrameLocks noGrp="1"/>
          </p:cNvGraphicFramePr>
          <p:nvPr/>
        </p:nvGraphicFramePr>
        <p:xfrm>
          <a:off x="193268" y="742463"/>
          <a:ext cx="4329725" cy="444470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graphicFrame>
        <p:nvGraphicFramePr>
          <p:cNvPr id="3" name="Table 4">
            <a:extLst>
              <a:ext uri="{FF2B5EF4-FFF2-40B4-BE49-F238E27FC236}">
                <a16:creationId xmlns:a16="http://schemas.microsoft.com/office/drawing/2014/main" id="{E481E3EF-5893-629A-1AFB-E1C714D7DA62}"/>
              </a:ext>
            </a:extLst>
          </p:cNvPr>
          <p:cNvGraphicFramePr>
            <a:graphicFrameLocks noGrp="1"/>
          </p:cNvGraphicFramePr>
          <p:nvPr>
            <p:extLst>
              <p:ext uri="{D42A27DB-BD31-4B8C-83A1-F6EECF244321}">
                <p14:modId xmlns:p14="http://schemas.microsoft.com/office/powerpoint/2010/main" val="3017972225"/>
              </p:ext>
            </p:extLst>
          </p:nvPr>
        </p:nvGraphicFramePr>
        <p:xfrm>
          <a:off x="193268" y="742463"/>
          <a:ext cx="4329725" cy="467838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17</a:t>
                      </a:r>
                    </a:p>
                  </a:txBody>
                  <a:tcPr/>
                </a:tc>
                <a:tc>
                  <a:txBody>
                    <a:bodyPr/>
                    <a:lstStyle/>
                    <a:p>
                      <a:pPr algn="l"/>
                      <a:r>
                        <a:rPr lang="en-US" sz="900"/>
                        <a:t>Load Special Register</a:t>
                      </a:r>
                    </a:p>
                  </a:txBody>
                  <a:tcPr/>
                </a:tc>
                <a:extLst>
                  <a:ext uri="{0D108BD9-81ED-4DB2-BD59-A6C34878D82A}">
                    <a16:rowId xmlns:a16="http://schemas.microsoft.com/office/drawing/2014/main" val="2759210480"/>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500000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4">
            <a:extLst>
              <a:ext uri="{FF2B5EF4-FFF2-40B4-BE49-F238E27FC236}">
                <a16:creationId xmlns:a16="http://schemas.microsoft.com/office/drawing/2014/main" id="{71D6BFD9-4AC8-476E-8033-8B7BF5CFF156}"/>
              </a:ext>
            </a:extLst>
          </p:cNvPr>
          <p:cNvGraphicFramePr>
            <a:graphicFrameLocks noGrp="1"/>
          </p:cNvGraphicFramePr>
          <p:nvPr>
            <p:extLst>
              <p:ext uri="{D42A27DB-BD31-4B8C-83A1-F6EECF244321}">
                <p14:modId xmlns:p14="http://schemas.microsoft.com/office/powerpoint/2010/main" val="1709706649"/>
              </p:ext>
            </p:extLst>
          </p:nvPr>
        </p:nvGraphicFramePr>
        <p:xfrm>
          <a:off x="179751" y="5619913"/>
          <a:ext cx="10664460" cy="594360"/>
        </p:xfrm>
        <a:graphic>
          <a:graphicData uri="http://schemas.openxmlformats.org/drawingml/2006/table">
            <a:tbl>
              <a:tblPr firstRow="1" bandRow="1">
                <a:tableStyleId>{5C22544A-7EE6-4342-B048-85BDC9FD1C3A}</a:tableStyleId>
              </a:tblPr>
              <a:tblGrid>
                <a:gridCol w="1364249">
                  <a:extLst>
                    <a:ext uri="{9D8B030D-6E8A-4147-A177-3AD203B41FA5}">
                      <a16:colId xmlns:a16="http://schemas.microsoft.com/office/drawing/2014/main" val="1810408170"/>
                    </a:ext>
                  </a:extLst>
                </a:gridCol>
                <a:gridCol w="1325888">
                  <a:extLst>
                    <a:ext uri="{9D8B030D-6E8A-4147-A177-3AD203B41FA5}">
                      <a16:colId xmlns:a16="http://schemas.microsoft.com/office/drawing/2014/main" val="950391025"/>
                    </a:ext>
                  </a:extLst>
                </a:gridCol>
                <a:gridCol w="1205532">
                  <a:extLst>
                    <a:ext uri="{9D8B030D-6E8A-4147-A177-3AD203B41FA5}">
                      <a16:colId xmlns:a16="http://schemas.microsoft.com/office/drawing/2014/main" val="1217920130"/>
                    </a:ext>
                  </a:extLst>
                </a:gridCol>
                <a:gridCol w="1915447">
                  <a:extLst>
                    <a:ext uri="{9D8B030D-6E8A-4147-A177-3AD203B41FA5}">
                      <a16:colId xmlns:a16="http://schemas.microsoft.com/office/drawing/2014/main" val="1475888205"/>
                    </a:ext>
                  </a:extLst>
                </a:gridCol>
                <a:gridCol w="2576860">
                  <a:extLst>
                    <a:ext uri="{9D8B030D-6E8A-4147-A177-3AD203B41FA5}">
                      <a16:colId xmlns:a16="http://schemas.microsoft.com/office/drawing/2014/main" val="1355185516"/>
                    </a:ext>
                  </a:extLst>
                </a:gridCol>
                <a:gridCol w="2276484">
                  <a:extLst>
                    <a:ext uri="{9D8B030D-6E8A-4147-A177-3AD203B41FA5}">
                      <a16:colId xmlns:a16="http://schemas.microsoft.com/office/drawing/2014/main" val="3099546510"/>
                    </a:ext>
                  </a:extLst>
                </a:gridCol>
              </a:tblGrid>
              <a:tr h="29718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7 6 5 </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Branch</a:t>
                      </a:r>
                    </a:p>
                  </a:txBody>
                  <a:tcPr>
                    <a:solidFill>
                      <a:schemeClr val="accent6"/>
                    </a:solidFill>
                  </a:tcPr>
                </a:tc>
                <a:tc gridSpan="3">
                  <a:txBody>
                    <a:bodyPr/>
                    <a:lstStyle/>
                    <a:p>
                      <a:pPr algn="ctr"/>
                      <a:r>
                        <a:rPr lang="en-US" sz="1300"/>
                        <a:t>Immediate (8-bit)</a:t>
                      </a:r>
                    </a:p>
                  </a:txBody>
                  <a:tcPr/>
                </a:tc>
                <a:tc hMerge="1">
                  <a:txBody>
                    <a:bodyPr/>
                    <a:lstStyle/>
                    <a:p>
                      <a:pPr algn="ctr"/>
                      <a:endParaRPr lang="en-US"/>
                    </a:p>
                  </a:txBody>
                  <a:tcPr/>
                </a:tc>
                <a:tc hMerge="1">
                  <a:txBody>
                    <a:bodyPr/>
                    <a:lstStyle/>
                    <a:p>
                      <a:pPr algn="ctr"/>
                      <a:r>
                        <a:rPr lang="en-US"/>
                        <a:t>Immediate (8-bit)</a:t>
                      </a:r>
                    </a:p>
                  </a:txBody>
                  <a:tcPr/>
                </a:tc>
                <a:tc>
                  <a:txBody>
                    <a:bodyPr/>
                    <a:lstStyle/>
                    <a:p>
                      <a:pPr algn="ctr"/>
                      <a:r>
                        <a:rPr lang="en-US" sz="1300"/>
                        <a:t>C2 C1 C0</a:t>
                      </a:r>
                    </a:p>
                  </a:txBody>
                  <a:tcPr/>
                </a:tc>
                <a:tc>
                  <a:txBody>
                    <a:bodyPr/>
                    <a:lstStyle/>
                    <a:p>
                      <a:pPr algn="ctr"/>
                      <a:r>
                        <a:rPr lang="en-US" sz="1300"/>
                        <a:t>OpCode=05</a:t>
                      </a:r>
                    </a:p>
                  </a:txBody>
                  <a:tcPr/>
                </a:tc>
                <a:extLst>
                  <a:ext uri="{0D108BD9-81ED-4DB2-BD59-A6C34878D82A}">
                    <a16:rowId xmlns:a16="http://schemas.microsoft.com/office/drawing/2014/main" val="2570910443"/>
                  </a:ext>
                </a:extLst>
              </a:tr>
            </a:tbl>
          </a:graphicData>
        </a:graphic>
      </p:graphicFrame>
      <p:sp>
        <p:nvSpPr>
          <p:cNvPr id="13" name="Title 12">
            <a:extLst>
              <a:ext uri="{FF2B5EF4-FFF2-40B4-BE49-F238E27FC236}">
                <a16:creationId xmlns:a16="http://schemas.microsoft.com/office/drawing/2014/main" id="{113E80B0-6D1B-DA28-8E21-146A2EE5E0CF}"/>
              </a:ext>
            </a:extLst>
          </p:cNvPr>
          <p:cNvSpPr>
            <a:spLocks noGrp="1"/>
          </p:cNvSpPr>
          <p:nvPr>
            <p:ph type="ctrTitle"/>
          </p:nvPr>
        </p:nvSpPr>
        <p:spPr>
          <a:xfrm>
            <a:off x="914400" y="182880"/>
            <a:ext cx="9144000" cy="457200"/>
          </a:xfrm>
        </p:spPr>
        <p:txBody>
          <a:bodyPr/>
          <a:lstStyle/>
          <a:p>
            <a:r>
              <a:rPr lang="en-US"/>
              <a:t>Micro-Instructions Control: Branch / Jump Absolute Immediate (00101)</a:t>
            </a:r>
          </a:p>
        </p:txBody>
      </p:sp>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nvGraphicFramePr>
        <p:xfrm>
          <a:off x="4716583" y="742463"/>
          <a:ext cx="6514836" cy="3423399"/>
        </p:xfrm>
        <a:graphic>
          <a:graphicData uri="http://schemas.openxmlformats.org/drawingml/2006/table">
            <a:tbl>
              <a:tblPr firstRow="1" bandRow="1">
                <a:tableStyleId>{5C22544A-7EE6-4342-B048-85BDC9FD1C3A}</a:tableStyleId>
              </a:tblPr>
              <a:tblGrid>
                <a:gridCol w="988741">
                  <a:extLst>
                    <a:ext uri="{9D8B030D-6E8A-4147-A177-3AD203B41FA5}">
                      <a16:colId xmlns:a16="http://schemas.microsoft.com/office/drawing/2014/main" val="1217920130"/>
                    </a:ext>
                  </a:extLst>
                </a:gridCol>
                <a:gridCol w="2570459">
                  <a:extLst>
                    <a:ext uri="{9D8B030D-6E8A-4147-A177-3AD203B41FA5}">
                      <a16:colId xmlns:a16="http://schemas.microsoft.com/office/drawing/2014/main" val="1475888205"/>
                    </a:ext>
                  </a:extLst>
                </a:gridCol>
                <a:gridCol w="2955636">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502920">
                <a:tc>
                  <a:txBody>
                    <a:bodyPr/>
                    <a:lstStyle/>
                    <a:p>
                      <a:pPr algn="ctr"/>
                      <a:r>
                        <a:rPr lang="en-US" sz="1300"/>
                        <a:t>0</a:t>
                      </a:r>
                    </a:p>
                  </a:txBody>
                  <a:tcPr/>
                </a:tc>
                <a:tc>
                  <a:txBody>
                    <a:bodyPr/>
                    <a:lstStyle/>
                    <a:p>
                      <a:pPr algn="l"/>
                      <a:r>
                        <a:rPr lang="en-US" sz="1300"/>
                        <a:t>0x1_40 01_0100_0000</a:t>
                      </a:r>
                    </a:p>
                  </a:txBody>
                  <a:tcPr/>
                </a:tc>
                <a:tc>
                  <a:txBody>
                    <a:bodyPr/>
                    <a:lstStyle/>
                    <a:p>
                      <a:pPr algn="l"/>
                      <a:r>
                        <a:rPr lang="en-US" sz="1300"/>
                        <a:t>Write H register to bus and PC (conditionally) reads</a:t>
                      </a:r>
                    </a:p>
                  </a:txBody>
                  <a:tcPr/>
                </a:tc>
                <a:extLst>
                  <a:ext uri="{0D108BD9-81ED-4DB2-BD59-A6C34878D82A}">
                    <a16:rowId xmlns:a16="http://schemas.microsoft.com/office/drawing/2014/main" val="2570910443"/>
                  </a:ext>
                </a:extLst>
              </a:tr>
              <a:tr h="370840">
                <a:tc>
                  <a:txBody>
                    <a:bodyPr/>
                    <a:lstStyle/>
                    <a:p>
                      <a:pPr algn="ctr"/>
                      <a:r>
                        <a:rPr lang="en-US" sz="13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0x0_80 00_1000_0000</a:t>
                      </a:r>
                    </a:p>
                  </a:txBody>
                  <a:tcPr/>
                </a:tc>
                <a:tc>
                  <a:txBody>
                    <a:bodyPr/>
                    <a:lstStyle/>
                    <a:p>
                      <a:pPr algn="l"/>
                      <a:r>
                        <a:rPr lang="en-US" sz="1300"/>
                        <a:t>PC advance</a:t>
                      </a:r>
                    </a:p>
                  </a:txBody>
                  <a:tcPr/>
                </a:tc>
                <a:extLst>
                  <a:ext uri="{0D108BD9-81ED-4DB2-BD59-A6C34878D82A}">
                    <a16:rowId xmlns:a16="http://schemas.microsoft.com/office/drawing/2014/main" val="631651838"/>
                  </a:ext>
                </a:extLst>
              </a:tr>
              <a:tr h="370840">
                <a:tc>
                  <a:txBody>
                    <a:bodyPr/>
                    <a:lstStyle/>
                    <a:p>
                      <a:pPr algn="ctr"/>
                      <a:r>
                        <a:rPr lang="en-US" sz="13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300"/>
                    </a:p>
                  </a:txBody>
                  <a:tcPr/>
                </a:tc>
                <a:tc>
                  <a:txBody>
                    <a:bodyPr/>
                    <a:lstStyle/>
                    <a:p>
                      <a:pPr algn="l"/>
                      <a:endParaRPr lang="en-US" sz="1300"/>
                    </a:p>
                  </a:txBody>
                  <a:tcPr/>
                </a:tc>
                <a:extLst>
                  <a:ext uri="{0D108BD9-81ED-4DB2-BD59-A6C34878D82A}">
                    <a16:rowId xmlns:a16="http://schemas.microsoft.com/office/drawing/2014/main" val="1592812184"/>
                  </a:ext>
                </a:extLst>
              </a:tr>
              <a:tr h="370840">
                <a:tc>
                  <a:txBody>
                    <a:bodyPr/>
                    <a:lstStyle/>
                    <a:p>
                      <a:pPr algn="ctr"/>
                      <a:r>
                        <a:rPr lang="en-US" sz="1300"/>
                        <a:t>3</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225793510"/>
                  </a:ext>
                </a:extLst>
              </a:tr>
              <a:tr h="370840">
                <a:tc>
                  <a:txBody>
                    <a:bodyPr/>
                    <a:lstStyle/>
                    <a:p>
                      <a:pPr algn="ctr"/>
                      <a:r>
                        <a:rPr lang="en-US" sz="1300"/>
                        <a:t>4</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1046366285"/>
                  </a:ext>
                </a:extLst>
              </a:tr>
              <a:tr h="370840">
                <a:tc>
                  <a:txBody>
                    <a:bodyPr/>
                    <a:lstStyle/>
                    <a:p>
                      <a:pPr algn="ctr"/>
                      <a:r>
                        <a:rPr lang="en-US" sz="1300"/>
                        <a:t>5</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615342211"/>
                  </a:ext>
                </a:extLst>
              </a:tr>
              <a:tr h="370840">
                <a:tc>
                  <a:txBody>
                    <a:bodyPr/>
                    <a:lstStyle/>
                    <a:p>
                      <a:pPr algn="ctr"/>
                      <a:r>
                        <a:rPr lang="en-US" sz="1300"/>
                        <a:t>6</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055856817"/>
                  </a:ext>
                </a:extLst>
              </a:tr>
              <a:tr h="370840">
                <a:tc>
                  <a:txBody>
                    <a:bodyPr/>
                    <a:lstStyle/>
                    <a:p>
                      <a:pPr algn="ctr"/>
                      <a:r>
                        <a:rPr lang="en-US" sz="1300"/>
                        <a:t>7</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3502991894"/>
                  </a:ext>
                </a:extLst>
              </a:tr>
            </a:tbl>
          </a:graphicData>
        </a:graphic>
      </p:graphicFrame>
      <p:graphicFrame>
        <p:nvGraphicFramePr>
          <p:cNvPr id="6" name="Table 6">
            <a:extLst>
              <a:ext uri="{FF2B5EF4-FFF2-40B4-BE49-F238E27FC236}">
                <a16:creationId xmlns:a16="http://schemas.microsoft.com/office/drawing/2014/main" id="{94ECF8CC-A699-4671-A4F6-5AAB6684A11C}"/>
              </a:ext>
            </a:extLst>
          </p:cNvPr>
          <p:cNvGraphicFramePr>
            <a:graphicFrameLocks noGrp="1"/>
          </p:cNvGraphicFramePr>
          <p:nvPr/>
        </p:nvGraphicFramePr>
        <p:xfrm>
          <a:off x="5680365" y="2436627"/>
          <a:ext cx="5087485" cy="2834640"/>
        </p:xfrm>
        <a:graphic>
          <a:graphicData uri="http://schemas.openxmlformats.org/drawingml/2006/table">
            <a:tbl>
              <a:tblPr firstRow="1" bandRow="1">
                <a:tableStyleId>{5C22544A-7EE6-4342-B048-85BDC9FD1C3A}</a:tableStyleId>
              </a:tblPr>
              <a:tblGrid>
                <a:gridCol w="573007">
                  <a:extLst>
                    <a:ext uri="{9D8B030D-6E8A-4147-A177-3AD203B41FA5}">
                      <a16:colId xmlns:a16="http://schemas.microsoft.com/office/drawing/2014/main" val="3129483676"/>
                    </a:ext>
                  </a:extLst>
                </a:gridCol>
                <a:gridCol w="359600">
                  <a:extLst>
                    <a:ext uri="{9D8B030D-6E8A-4147-A177-3AD203B41FA5}">
                      <a16:colId xmlns:a16="http://schemas.microsoft.com/office/drawing/2014/main" val="3639428745"/>
                    </a:ext>
                  </a:extLst>
                </a:gridCol>
                <a:gridCol w="525011">
                  <a:extLst>
                    <a:ext uri="{9D8B030D-6E8A-4147-A177-3AD203B41FA5}">
                      <a16:colId xmlns:a16="http://schemas.microsoft.com/office/drawing/2014/main" val="136219337"/>
                    </a:ext>
                  </a:extLst>
                </a:gridCol>
                <a:gridCol w="695087">
                  <a:extLst>
                    <a:ext uri="{9D8B030D-6E8A-4147-A177-3AD203B41FA5}">
                      <a16:colId xmlns:a16="http://schemas.microsoft.com/office/drawing/2014/main" val="4010529361"/>
                    </a:ext>
                  </a:extLst>
                </a:gridCol>
                <a:gridCol w="987739">
                  <a:extLst>
                    <a:ext uri="{9D8B030D-6E8A-4147-A177-3AD203B41FA5}">
                      <a16:colId xmlns:a16="http://schemas.microsoft.com/office/drawing/2014/main" val="3300204691"/>
                    </a:ext>
                  </a:extLst>
                </a:gridCol>
                <a:gridCol w="1947041">
                  <a:extLst>
                    <a:ext uri="{9D8B030D-6E8A-4147-A177-3AD203B41FA5}">
                      <a16:colId xmlns:a16="http://schemas.microsoft.com/office/drawing/2014/main" val="322570224"/>
                    </a:ext>
                  </a:extLst>
                </a:gridCol>
              </a:tblGrid>
              <a:tr h="640080">
                <a:tc>
                  <a:txBody>
                    <a:bodyPr/>
                    <a:lstStyle/>
                    <a:p>
                      <a:r>
                        <a:rPr lang="en-US" sz="1200"/>
                        <a:t>C2</a:t>
                      </a:r>
                    </a:p>
                  </a:txBody>
                  <a:tcPr/>
                </a:tc>
                <a:tc>
                  <a:txBody>
                    <a:bodyPr/>
                    <a:lstStyle/>
                    <a:p>
                      <a:r>
                        <a:rPr lang="en-US" sz="1200"/>
                        <a:t>C1</a:t>
                      </a:r>
                    </a:p>
                  </a:txBody>
                  <a:tcPr/>
                </a:tc>
                <a:tc>
                  <a:txBody>
                    <a:bodyPr/>
                    <a:lstStyle/>
                    <a:p>
                      <a:r>
                        <a:rPr lang="en-US" sz="1200"/>
                        <a:t>C0</a:t>
                      </a:r>
                    </a:p>
                  </a:txBody>
                  <a:tcPr/>
                </a:tc>
                <a:tc>
                  <a:txBody>
                    <a:bodyPr/>
                    <a:lstStyle/>
                    <a:p>
                      <a:r>
                        <a:rPr lang="en-US" sz="1200"/>
                        <a:t>Condition</a:t>
                      </a:r>
                    </a:p>
                  </a:txBody>
                  <a:tcPr/>
                </a:tc>
                <a:tc>
                  <a:txBody>
                    <a:bodyPr/>
                    <a:lstStyle/>
                    <a:p>
                      <a:r>
                        <a:rPr lang="en-US" sz="1200"/>
                        <a:t>Low instruction register</a:t>
                      </a:r>
                    </a:p>
                  </a:txBody>
                  <a:tcPr/>
                </a:tc>
                <a:tc>
                  <a:txBody>
                    <a:bodyPr/>
                    <a:lstStyle/>
                    <a:p>
                      <a:r>
                        <a:rPr lang="en-US" sz="1200"/>
                        <a:t>Assembly</a:t>
                      </a:r>
                    </a:p>
                  </a:txBody>
                  <a:tcPr/>
                </a:tc>
                <a:extLst>
                  <a:ext uri="{0D108BD9-81ED-4DB2-BD59-A6C34878D82A}">
                    <a16:rowId xmlns:a16="http://schemas.microsoft.com/office/drawing/2014/main" val="727245786"/>
                  </a:ext>
                </a:extLst>
              </a:tr>
              <a:tr h="274320">
                <a:tc>
                  <a:txBody>
                    <a:bodyPr/>
                    <a:lstStyle/>
                    <a:p>
                      <a:r>
                        <a:rPr lang="en-US" sz="1200"/>
                        <a:t>0</a:t>
                      </a:r>
                    </a:p>
                  </a:txBody>
                  <a:tcPr/>
                </a:tc>
                <a:tc>
                  <a:txBody>
                    <a:bodyPr/>
                    <a:lstStyle/>
                    <a:p>
                      <a:r>
                        <a:rPr lang="en-US" sz="1200"/>
                        <a:t>0</a:t>
                      </a:r>
                    </a:p>
                  </a:txBody>
                  <a:tcPr/>
                </a:tc>
                <a:tc>
                  <a:txBody>
                    <a:bodyPr/>
                    <a:lstStyle/>
                    <a:p>
                      <a:r>
                        <a:rPr lang="en-US" sz="1200"/>
                        <a:t>0</a:t>
                      </a:r>
                    </a:p>
                  </a:txBody>
                  <a:tcPr/>
                </a:tc>
                <a:tc>
                  <a:txBody>
                    <a:bodyPr/>
                    <a:lstStyle/>
                    <a:p>
                      <a:r>
                        <a:rPr lang="en-US" sz="1200"/>
                        <a:t>JMP</a:t>
                      </a:r>
                    </a:p>
                  </a:txBody>
                  <a:tcPr/>
                </a:tc>
                <a:tc>
                  <a:txBody>
                    <a:bodyPr/>
                    <a:lstStyle/>
                    <a:p>
                      <a:pPr algn="ctr"/>
                      <a:r>
                        <a:rPr lang="en-US" sz="1200"/>
                        <a:t>05</a:t>
                      </a:r>
                    </a:p>
                  </a:txBody>
                  <a:tcPr>
                    <a:solidFill>
                      <a:schemeClr val="accent6">
                        <a:lumMod val="60000"/>
                        <a:lumOff val="40000"/>
                      </a:schemeClr>
                    </a:solidFill>
                  </a:tcPr>
                </a:tc>
                <a:tc>
                  <a:txBody>
                    <a:bodyPr/>
                    <a:lstStyle/>
                    <a:p>
                      <a:r>
                        <a:rPr lang="en-US" sz="1200"/>
                        <a:t>JMP</a:t>
                      </a:r>
                    </a:p>
                  </a:txBody>
                  <a:tcPr>
                    <a:solidFill>
                      <a:schemeClr val="accent6">
                        <a:lumMod val="60000"/>
                        <a:lumOff val="40000"/>
                      </a:schemeClr>
                    </a:solidFill>
                  </a:tcPr>
                </a:tc>
                <a:extLst>
                  <a:ext uri="{0D108BD9-81ED-4DB2-BD59-A6C34878D82A}">
                    <a16:rowId xmlns:a16="http://schemas.microsoft.com/office/drawing/2014/main" val="3427146651"/>
                  </a:ext>
                </a:extLst>
              </a:tr>
              <a:tr h="274320">
                <a:tc>
                  <a:txBody>
                    <a:bodyPr/>
                    <a:lstStyle/>
                    <a:p>
                      <a:r>
                        <a:rPr lang="en-US" sz="1200"/>
                        <a:t>0</a:t>
                      </a:r>
                    </a:p>
                  </a:txBody>
                  <a:tcPr/>
                </a:tc>
                <a:tc>
                  <a:txBody>
                    <a:bodyPr/>
                    <a:lstStyle/>
                    <a:p>
                      <a:r>
                        <a:rPr lang="en-US" sz="1200"/>
                        <a:t>0</a:t>
                      </a:r>
                    </a:p>
                  </a:txBody>
                  <a:tcPr/>
                </a:tc>
                <a:tc>
                  <a:txBody>
                    <a:bodyPr/>
                    <a:lstStyle/>
                    <a:p>
                      <a:r>
                        <a:rPr lang="en-US" sz="1200"/>
                        <a:t>1</a:t>
                      </a:r>
                    </a:p>
                  </a:txBody>
                  <a:tcPr/>
                </a:tc>
                <a:tc>
                  <a:txBody>
                    <a:bodyPr/>
                    <a:lstStyle/>
                    <a:p>
                      <a:r>
                        <a:rPr lang="en-US" sz="1200"/>
                        <a:t>N</a:t>
                      </a:r>
                    </a:p>
                  </a:txBody>
                  <a:tcPr/>
                </a:tc>
                <a:tc>
                  <a:txBody>
                    <a:bodyPr/>
                    <a:lstStyle/>
                    <a:p>
                      <a:pPr algn="ctr"/>
                      <a:r>
                        <a:rPr lang="en-US" sz="1200"/>
                        <a:t>25</a:t>
                      </a:r>
                    </a:p>
                  </a:txBody>
                  <a:tcPr>
                    <a:solidFill>
                      <a:schemeClr val="accent6">
                        <a:lumMod val="60000"/>
                        <a:lumOff val="40000"/>
                      </a:schemeClr>
                    </a:solidFill>
                  </a:tcPr>
                </a:tc>
                <a:tc>
                  <a:txBody>
                    <a:bodyPr/>
                    <a:lstStyle/>
                    <a:p>
                      <a:r>
                        <a:rPr lang="en-US" sz="1200"/>
                        <a:t>BMI – Branch on Minus</a:t>
                      </a:r>
                    </a:p>
                  </a:txBody>
                  <a:tcPr>
                    <a:solidFill>
                      <a:schemeClr val="accent6">
                        <a:lumMod val="60000"/>
                        <a:lumOff val="40000"/>
                      </a:schemeClr>
                    </a:solidFill>
                  </a:tcPr>
                </a:tc>
                <a:extLst>
                  <a:ext uri="{0D108BD9-81ED-4DB2-BD59-A6C34878D82A}">
                    <a16:rowId xmlns:a16="http://schemas.microsoft.com/office/drawing/2014/main" val="1942712580"/>
                  </a:ext>
                </a:extLst>
              </a:tr>
              <a:tr h="274320">
                <a:tc>
                  <a:txBody>
                    <a:bodyPr/>
                    <a:lstStyle/>
                    <a:p>
                      <a:r>
                        <a:rPr lang="en-US" sz="1200"/>
                        <a:t>0</a:t>
                      </a:r>
                    </a:p>
                  </a:txBody>
                  <a:tcPr/>
                </a:tc>
                <a:tc>
                  <a:txBody>
                    <a:bodyPr/>
                    <a:lstStyle/>
                    <a:p>
                      <a:r>
                        <a:rPr lang="en-US" sz="1200"/>
                        <a:t>1</a:t>
                      </a:r>
                    </a:p>
                  </a:txBody>
                  <a:tcPr/>
                </a:tc>
                <a:tc>
                  <a:txBody>
                    <a:bodyPr/>
                    <a:lstStyle/>
                    <a:p>
                      <a:r>
                        <a:rPr lang="en-US" sz="1200"/>
                        <a:t>0</a:t>
                      </a:r>
                    </a:p>
                  </a:txBody>
                  <a:tcPr/>
                </a:tc>
                <a:tc>
                  <a:txBody>
                    <a:bodyPr/>
                    <a:lstStyle/>
                    <a:p>
                      <a:r>
                        <a:rPr lang="en-US" sz="1200"/>
                        <a:t>C</a:t>
                      </a:r>
                    </a:p>
                  </a:txBody>
                  <a:tcPr/>
                </a:tc>
                <a:tc>
                  <a:txBody>
                    <a:bodyPr/>
                    <a:lstStyle/>
                    <a:p>
                      <a:pPr algn="ctr"/>
                      <a:r>
                        <a:rPr lang="en-US" sz="1200"/>
                        <a:t>45</a:t>
                      </a:r>
                    </a:p>
                  </a:txBody>
                  <a:tcPr>
                    <a:solidFill>
                      <a:schemeClr val="accent6">
                        <a:lumMod val="60000"/>
                        <a:lumOff val="40000"/>
                      </a:schemeClr>
                    </a:solidFill>
                  </a:tcPr>
                </a:tc>
                <a:tc>
                  <a:txBody>
                    <a:bodyPr/>
                    <a:lstStyle/>
                    <a:p>
                      <a:r>
                        <a:rPr lang="en-US" sz="1200"/>
                        <a:t>BCS – Branch Carry Set</a:t>
                      </a:r>
                    </a:p>
                  </a:txBody>
                  <a:tcPr>
                    <a:solidFill>
                      <a:schemeClr val="accent6">
                        <a:lumMod val="60000"/>
                        <a:lumOff val="40000"/>
                      </a:schemeClr>
                    </a:solidFill>
                  </a:tcPr>
                </a:tc>
                <a:extLst>
                  <a:ext uri="{0D108BD9-81ED-4DB2-BD59-A6C34878D82A}">
                    <a16:rowId xmlns:a16="http://schemas.microsoft.com/office/drawing/2014/main" val="4217135763"/>
                  </a:ext>
                </a:extLst>
              </a:tr>
              <a:tr h="274320">
                <a:tc>
                  <a:txBody>
                    <a:bodyPr/>
                    <a:lstStyle/>
                    <a:p>
                      <a:r>
                        <a:rPr lang="en-US" sz="1200"/>
                        <a:t>0</a:t>
                      </a:r>
                    </a:p>
                  </a:txBody>
                  <a:tcPr/>
                </a:tc>
                <a:tc>
                  <a:txBody>
                    <a:bodyPr/>
                    <a:lstStyle/>
                    <a:p>
                      <a:r>
                        <a:rPr lang="en-US" sz="1200"/>
                        <a:t>1</a:t>
                      </a:r>
                    </a:p>
                  </a:txBody>
                  <a:tcPr/>
                </a:tc>
                <a:tc>
                  <a:txBody>
                    <a:bodyPr/>
                    <a:lstStyle/>
                    <a:p>
                      <a:r>
                        <a:rPr lang="en-US" sz="1200"/>
                        <a:t>1</a:t>
                      </a:r>
                    </a:p>
                  </a:txBody>
                  <a:tcPr/>
                </a:tc>
                <a:tc>
                  <a:txBody>
                    <a:bodyPr/>
                    <a:lstStyle/>
                    <a:p>
                      <a:r>
                        <a:rPr lang="en-US" sz="1200"/>
                        <a:t>Z</a:t>
                      </a:r>
                    </a:p>
                  </a:txBody>
                  <a:tcPr/>
                </a:tc>
                <a:tc>
                  <a:txBody>
                    <a:bodyPr/>
                    <a:lstStyle/>
                    <a:p>
                      <a:pPr algn="ctr"/>
                      <a:r>
                        <a:rPr lang="en-US" sz="1200"/>
                        <a:t>65</a:t>
                      </a:r>
                    </a:p>
                  </a:txBody>
                  <a:tcPr>
                    <a:solidFill>
                      <a:schemeClr val="accent6">
                        <a:lumMod val="60000"/>
                        <a:lumOff val="40000"/>
                      </a:schemeClr>
                    </a:solidFill>
                  </a:tcPr>
                </a:tc>
                <a:tc>
                  <a:txBody>
                    <a:bodyPr/>
                    <a:lstStyle/>
                    <a:p>
                      <a:r>
                        <a:rPr lang="en-US" sz="1200"/>
                        <a:t>BEQ – Branch Equal</a:t>
                      </a:r>
                    </a:p>
                  </a:txBody>
                  <a:tcPr>
                    <a:solidFill>
                      <a:schemeClr val="accent6">
                        <a:lumMod val="60000"/>
                        <a:lumOff val="40000"/>
                      </a:schemeClr>
                    </a:solidFill>
                  </a:tcPr>
                </a:tc>
                <a:extLst>
                  <a:ext uri="{0D108BD9-81ED-4DB2-BD59-A6C34878D82A}">
                    <a16:rowId xmlns:a16="http://schemas.microsoft.com/office/drawing/2014/main" val="1144018381"/>
                  </a:ext>
                </a:extLst>
              </a:tr>
              <a:tr h="274320">
                <a:tc>
                  <a:txBody>
                    <a:bodyPr/>
                    <a:lstStyle/>
                    <a:p>
                      <a:r>
                        <a:rPr lang="en-US" sz="1200"/>
                        <a:t>1</a:t>
                      </a:r>
                    </a:p>
                  </a:txBody>
                  <a:tcPr/>
                </a:tc>
                <a:tc>
                  <a:txBody>
                    <a:bodyPr/>
                    <a:lstStyle/>
                    <a:p>
                      <a:r>
                        <a:rPr lang="en-US" sz="1200"/>
                        <a:t>0</a:t>
                      </a:r>
                    </a:p>
                  </a:txBody>
                  <a:tcPr/>
                </a:tc>
                <a:tc>
                  <a:txBody>
                    <a:bodyPr/>
                    <a:lstStyle/>
                    <a:p>
                      <a:r>
                        <a:rPr lang="en-US" sz="1200"/>
                        <a:t>0</a:t>
                      </a:r>
                    </a:p>
                  </a:txBody>
                  <a:tcPr/>
                </a:tc>
                <a:tc>
                  <a:txBody>
                    <a:bodyPr/>
                    <a:lstStyle/>
                    <a:p>
                      <a:r>
                        <a:rPr lang="en-US" sz="1200"/>
                        <a:t>Never</a:t>
                      </a:r>
                    </a:p>
                  </a:txBody>
                  <a:tcPr/>
                </a:tc>
                <a:tc>
                  <a:txBody>
                    <a:bodyPr/>
                    <a:lstStyle/>
                    <a:p>
                      <a:pPr algn="ctr"/>
                      <a:r>
                        <a:rPr lang="en-US" sz="1200"/>
                        <a:t>85</a:t>
                      </a:r>
                    </a:p>
                  </a:txBody>
                  <a:tcPr>
                    <a:solidFill>
                      <a:schemeClr val="accent6">
                        <a:lumMod val="60000"/>
                        <a:lumOff val="40000"/>
                      </a:schemeClr>
                    </a:solidFill>
                  </a:tcPr>
                </a:tc>
                <a:tc>
                  <a:txBody>
                    <a:bodyPr/>
                    <a:lstStyle/>
                    <a:p>
                      <a:r>
                        <a:rPr lang="en-US" sz="1200"/>
                        <a:t>NOP</a:t>
                      </a:r>
                    </a:p>
                  </a:txBody>
                  <a:tcPr>
                    <a:solidFill>
                      <a:schemeClr val="accent6">
                        <a:lumMod val="60000"/>
                        <a:lumOff val="40000"/>
                      </a:schemeClr>
                    </a:solidFill>
                  </a:tcPr>
                </a:tc>
                <a:extLst>
                  <a:ext uri="{0D108BD9-81ED-4DB2-BD59-A6C34878D82A}">
                    <a16:rowId xmlns:a16="http://schemas.microsoft.com/office/drawing/2014/main" val="1247815021"/>
                  </a:ext>
                </a:extLst>
              </a:tr>
              <a:tr h="274320">
                <a:tc>
                  <a:txBody>
                    <a:bodyPr/>
                    <a:lstStyle/>
                    <a:p>
                      <a:r>
                        <a:rPr lang="en-US" sz="1200"/>
                        <a:t>1</a:t>
                      </a:r>
                    </a:p>
                  </a:txBody>
                  <a:tcPr/>
                </a:tc>
                <a:tc>
                  <a:txBody>
                    <a:bodyPr/>
                    <a:lstStyle/>
                    <a:p>
                      <a:r>
                        <a:rPr lang="en-US" sz="1200"/>
                        <a:t>0</a:t>
                      </a:r>
                    </a:p>
                  </a:txBody>
                  <a:tcPr/>
                </a:tc>
                <a:tc>
                  <a:txBody>
                    <a:bodyPr/>
                    <a:lstStyle/>
                    <a:p>
                      <a:r>
                        <a:rPr lang="en-US" sz="1200"/>
                        <a:t>1</a:t>
                      </a:r>
                    </a:p>
                  </a:txBody>
                  <a:tcPr/>
                </a:tc>
                <a:tc>
                  <a:txBody>
                    <a:bodyPr/>
                    <a:lstStyle/>
                    <a:p>
                      <a:r>
                        <a:rPr lang="en-US" sz="1200"/>
                        <a:t>!N</a:t>
                      </a:r>
                    </a:p>
                  </a:txBody>
                  <a:tcPr/>
                </a:tc>
                <a:tc>
                  <a:txBody>
                    <a:bodyPr/>
                    <a:lstStyle/>
                    <a:p>
                      <a:pPr algn="ctr"/>
                      <a:r>
                        <a:rPr lang="en-US" sz="1200"/>
                        <a:t>A5</a:t>
                      </a:r>
                    </a:p>
                  </a:txBody>
                  <a:tcPr>
                    <a:solidFill>
                      <a:schemeClr val="accent6">
                        <a:lumMod val="60000"/>
                        <a:lumOff val="40000"/>
                      </a:schemeClr>
                    </a:solidFill>
                  </a:tcPr>
                </a:tc>
                <a:tc>
                  <a:txBody>
                    <a:bodyPr/>
                    <a:lstStyle/>
                    <a:p>
                      <a:r>
                        <a:rPr lang="en-US" sz="1200"/>
                        <a:t>BPL – Branch on Plus</a:t>
                      </a:r>
                    </a:p>
                  </a:txBody>
                  <a:tcPr>
                    <a:solidFill>
                      <a:schemeClr val="accent6">
                        <a:lumMod val="60000"/>
                        <a:lumOff val="40000"/>
                      </a:schemeClr>
                    </a:solidFill>
                  </a:tcPr>
                </a:tc>
                <a:extLst>
                  <a:ext uri="{0D108BD9-81ED-4DB2-BD59-A6C34878D82A}">
                    <a16:rowId xmlns:a16="http://schemas.microsoft.com/office/drawing/2014/main" val="516787940"/>
                  </a:ext>
                </a:extLst>
              </a:tr>
              <a:tr h="274320">
                <a:tc>
                  <a:txBody>
                    <a:bodyPr/>
                    <a:lstStyle/>
                    <a:p>
                      <a:r>
                        <a:rPr lang="en-US" sz="1200"/>
                        <a:t>1</a:t>
                      </a:r>
                    </a:p>
                  </a:txBody>
                  <a:tcPr/>
                </a:tc>
                <a:tc>
                  <a:txBody>
                    <a:bodyPr/>
                    <a:lstStyle/>
                    <a:p>
                      <a:r>
                        <a:rPr lang="en-US" sz="1200"/>
                        <a:t>1</a:t>
                      </a:r>
                    </a:p>
                  </a:txBody>
                  <a:tcPr/>
                </a:tc>
                <a:tc>
                  <a:txBody>
                    <a:bodyPr/>
                    <a:lstStyle/>
                    <a:p>
                      <a:r>
                        <a:rPr lang="en-US" sz="1200"/>
                        <a:t>0</a:t>
                      </a:r>
                    </a:p>
                  </a:txBody>
                  <a:tcPr/>
                </a:tc>
                <a:tc>
                  <a:txBody>
                    <a:bodyPr/>
                    <a:lstStyle/>
                    <a:p>
                      <a:r>
                        <a:rPr lang="en-US" sz="1200"/>
                        <a:t>!C</a:t>
                      </a:r>
                    </a:p>
                  </a:txBody>
                  <a:tcPr/>
                </a:tc>
                <a:tc>
                  <a:txBody>
                    <a:bodyPr/>
                    <a:lstStyle/>
                    <a:p>
                      <a:pPr algn="ctr"/>
                      <a:r>
                        <a:rPr lang="en-US" sz="1200"/>
                        <a:t>C5</a:t>
                      </a:r>
                    </a:p>
                  </a:txBody>
                  <a:tcPr>
                    <a:solidFill>
                      <a:schemeClr val="accent6">
                        <a:lumMod val="60000"/>
                        <a:lumOff val="40000"/>
                      </a:schemeClr>
                    </a:solidFill>
                  </a:tcPr>
                </a:tc>
                <a:tc>
                  <a:txBody>
                    <a:bodyPr/>
                    <a:lstStyle/>
                    <a:p>
                      <a:r>
                        <a:rPr lang="en-US" sz="1200"/>
                        <a:t>BCC – Branch Carry Clear</a:t>
                      </a:r>
                    </a:p>
                  </a:txBody>
                  <a:tcPr>
                    <a:solidFill>
                      <a:schemeClr val="accent6">
                        <a:lumMod val="60000"/>
                        <a:lumOff val="40000"/>
                      </a:schemeClr>
                    </a:solidFill>
                  </a:tcPr>
                </a:tc>
                <a:extLst>
                  <a:ext uri="{0D108BD9-81ED-4DB2-BD59-A6C34878D82A}">
                    <a16:rowId xmlns:a16="http://schemas.microsoft.com/office/drawing/2014/main" val="3876475581"/>
                  </a:ext>
                </a:extLst>
              </a:tr>
              <a:tr h="274320">
                <a:tc>
                  <a:txBody>
                    <a:bodyPr/>
                    <a:lstStyle/>
                    <a:p>
                      <a:r>
                        <a:rPr lang="en-US" sz="1200"/>
                        <a:t>1</a:t>
                      </a:r>
                    </a:p>
                  </a:txBody>
                  <a:tcPr/>
                </a:tc>
                <a:tc>
                  <a:txBody>
                    <a:bodyPr/>
                    <a:lstStyle/>
                    <a:p>
                      <a:r>
                        <a:rPr lang="en-US" sz="1200"/>
                        <a:t>1</a:t>
                      </a:r>
                    </a:p>
                  </a:txBody>
                  <a:tcPr/>
                </a:tc>
                <a:tc>
                  <a:txBody>
                    <a:bodyPr/>
                    <a:lstStyle/>
                    <a:p>
                      <a:r>
                        <a:rPr lang="en-US" sz="1200"/>
                        <a:t>1</a:t>
                      </a:r>
                    </a:p>
                  </a:txBody>
                  <a:tcPr/>
                </a:tc>
                <a:tc>
                  <a:txBody>
                    <a:bodyPr/>
                    <a:lstStyle/>
                    <a:p>
                      <a:r>
                        <a:rPr lang="en-US" sz="1200"/>
                        <a:t>!Z</a:t>
                      </a:r>
                    </a:p>
                  </a:txBody>
                  <a:tcPr/>
                </a:tc>
                <a:tc>
                  <a:txBody>
                    <a:bodyPr/>
                    <a:lstStyle/>
                    <a:p>
                      <a:pPr algn="ctr"/>
                      <a:r>
                        <a:rPr lang="en-US" sz="1200"/>
                        <a:t>E5</a:t>
                      </a:r>
                    </a:p>
                  </a:txBody>
                  <a:tcPr>
                    <a:solidFill>
                      <a:schemeClr val="accent6">
                        <a:lumMod val="60000"/>
                        <a:lumOff val="40000"/>
                      </a:schemeClr>
                    </a:solidFill>
                  </a:tcPr>
                </a:tc>
                <a:tc>
                  <a:txBody>
                    <a:bodyPr/>
                    <a:lstStyle/>
                    <a:p>
                      <a:r>
                        <a:rPr lang="en-US" sz="1200"/>
                        <a:t>BNE</a:t>
                      </a:r>
                    </a:p>
                  </a:txBody>
                  <a:tcPr>
                    <a:solidFill>
                      <a:schemeClr val="accent6">
                        <a:lumMod val="60000"/>
                        <a:lumOff val="40000"/>
                      </a:schemeClr>
                    </a:solidFill>
                  </a:tcPr>
                </a:tc>
                <a:extLst>
                  <a:ext uri="{0D108BD9-81ED-4DB2-BD59-A6C34878D82A}">
                    <a16:rowId xmlns:a16="http://schemas.microsoft.com/office/drawing/2014/main" val="2778710779"/>
                  </a:ext>
                </a:extLst>
              </a:tr>
            </a:tbl>
          </a:graphicData>
        </a:graphic>
      </p:graphicFrame>
      <p:sp>
        <p:nvSpPr>
          <p:cNvPr id="11" name="TextBox 10">
            <a:extLst>
              <a:ext uri="{FF2B5EF4-FFF2-40B4-BE49-F238E27FC236}">
                <a16:creationId xmlns:a16="http://schemas.microsoft.com/office/drawing/2014/main" id="{F18A3303-6AE1-4192-B847-C968E4DE1C58}"/>
              </a:ext>
            </a:extLst>
          </p:cNvPr>
          <p:cNvSpPr txBox="1"/>
          <p:nvPr/>
        </p:nvSpPr>
        <p:spPr>
          <a:xfrm>
            <a:off x="11305310" y="1"/>
            <a:ext cx="931665" cy="1862048"/>
          </a:xfrm>
          <a:prstGeom prst="rect">
            <a:avLst/>
          </a:prstGeom>
          <a:noFill/>
        </p:spPr>
        <p:txBody>
          <a:bodyPr wrap="none" rtlCol="0">
            <a:spAutoFit/>
          </a:bodyPr>
          <a:lstStyle/>
          <a:p>
            <a:r>
              <a:rPr lang="en-US" sz="11500">
                <a:solidFill>
                  <a:schemeClr val="accent1">
                    <a:lumMod val="60000"/>
                    <a:lumOff val="40000"/>
                  </a:schemeClr>
                </a:solidFill>
              </a:rPr>
              <a:t>5</a:t>
            </a:r>
          </a:p>
        </p:txBody>
      </p:sp>
      <p:pic>
        <p:nvPicPr>
          <p:cNvPr id="2" name="Picture 1">
            <a:hlinkClick r:id="rId2" action="ppaction://hlinksldjump"/>
            <a:extLst>
              <a:ext uri="{FF2B5EF4-FFF2-40B4-BE49-F238E27FC236}">
                <a16:creationId xmlns:a16="http://schemas.microsoft.com/office/drawing/2014/main" id="{FD1D1998-893E-816C-E680-D335182C6710}"/>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813AD663-B548-7EA0-9E8D-F633A5846F15}"/>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49</a:t>
            </a:fld>
            <a:endParaRPr lang="en-US" b="1">
              <a:solidFill>
                <a:schemeClr val="bg1"/>
              </a:solidFill>
            </a:endParaRPr>
          </a:p>
        </p:txBody>
      </p:sp>
      <p:graphicFrame>
        <p:nvGraphicFramePr>
          <p:cNvPr id="14" name="Table 4">
            <a:extLst>
              <a:ext uri="{FF2B5EF4-FFF2-40B4-BE49-F238E27FC236}">
                <a16:creationId xmlns:a16="http://schemas.microsoft.com/office/drawing/2014/main" id="{47BD0506-A296-74EB-7A38-F1734A490F7E}"/>
              </a:ext>
            </a:extLst>
          </p:cNvPr>
          <p:cNvGraphicFramePr>
            <a:graphicFrameLocks noGrp="1"/>
          </p:cNvGraphicFramePr>
          <p:nvPr/>
        </p:nvGraphicFramePr>
        <p:xfrm>
          <a:off x="193268" y="742463"/>
          <a:ext cx="4329725" cy="444470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graphicFrame>
        <p:nvGraphicFramePr>
          <p:cNvPr id="3" name="Table 4">
            <a:extLst>
              <a:ext uri="{FF2B5EF4-FFF2-40B4-BE49-F238E27FC236}">
                <a16:creationId xmlns:a16="http://schemas.microsoft.com/office/drawing/2014/main" id="{DB2ED1B1-4F35-0ABA-5338-A7EA413BA2F9}"/>
              </a:ext>
            </a:extLst>
          </p:cNvPr>
          <p:cNvGraphicFramePr>
            <a:graphicFrameLocks noGrp="1"/>
          </p:cNvGraphicFramePr>
          <p:nvPr>
            <p:extLst>
              <p:ext uri="{D42A27DB-BD31-4B8C-83A1-F6EECF244321}">
                <p14:modId xmlns:p14="http://schemas.microsoft.com/office/powerpoint/2010/main" val="3017972225"/>
              </p:ext>
            </p:extLst>
          </p:nvPr>
        </p:nvGraphicFramePr>
        <p:xfrm>
          <a:off x="193268" y="742463"/>
          <a:ext cx="4329725" cy="467838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17</a:t>
                      </a:r>
                    </a:p>
                  </a:txBody>
                  <a:tcPr/>
                </a:tc>
                <a:tc>
                  <a:txBody>
                    <a:bodyPr/>
                    <a:lstStyle/>
                    <a:p>
                      <a:pPr algn="l"/>
                      <a:r>
                        <a:rPr lang="en-US" sz="900"/>
                        <a:t>Load Special Register</a:t>
                      </a:r>
                    </a:p>
                  </a:txBody>
                  <a:tcPr/>
                </a:tc>
                <a:extLst>
                  <a:ext uri="{0D108BD9-81ED-4DB2-BD59-A6C34878D82A}">
                    <a16:rowId xmlns:a16="http://schemas.microsoft.com/office/drawing/2014/main" val="2759210480"/>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29965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B37F6BA-4FCB-CDEB-8542-5BC10E6391A7}"/>
              </a:ext>
            </a:extLst>
          </p:cNvPr>
          <p:cNvSpPr>
            <a:spLocks noGrp="1"/>
          </p:cNvSpPr>
          <p:nvPr>
            <p:ph type="ctrTitle"/>
          </p:nvPr>
        </p:nvSpPr>
        <p:spPr>
          <a:xfrm>
            <a:off x="914400" y="182880"/>
            <a:ext cx="9144000" cy="457200"/>
          </a:xfrm>
        </p:spPr>
        <p:txBody>
          <a:bodyPr/>
          <a:lstStyle/>
          <a:p>
            <a:r>
              <a:rPr lang="en-US"/>
              <a:t>Micro-Instructions Control: ALU immediate (4-bit) (00110)</a:t>
            </a:r>
          </a:p>
        </p:txBody>
      </p:sp>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nvGraphicFramePr>
        <p:xfrm>
          <a:off x="4716584" y="742463"/>
          <a:ext cx="5638802" cy="3499599"/>
        </p:xfrm>
        <a:graphic>
          <a:graphicData uri="http://schemas.openxmlformats.org/drawingml/2006/table">
            <a:tbl>
              <a:tblPr firstRow="1" bandRow="1">
                <a:tableStyleId>{5C22544A-7EE6-4342-B048-85BDC9FD1C3A}</a:tableStyleId>
              </a:tblPr>
              <a:tblGrid>
                <a:gridCol w="855787">
                  <a:extLst>
                    <a:ext uri="{9D8B030D-6E8A-4147-A177-3AD203B41FA5}">
                      <a16:colId xmlns:a16="http://schemas.microsoft.com/office/drawing/2014/main" val="1217920130"/>
                    </a:ext>
                  </a:extLst>
                </a:gridCol>
                <a:gridCol w="2294891">
                  <a:extLst>
                    <a:ext uri="{9D8B030D-6E8A-4147-A177-3AD203B41FA5}">
                      <a16:colId xmlns:a16="http://schemas.microsoft.com/office/drawing/2014/main" val="1475888205"/>
                    </a:ext>
                  </a:extLst>
                </a:gridCol>
                <a:gridCol w="2488124">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579120">
                <a:tc>
                  <a:txBody>
                    <a:bodyPr/>
                    <a:lstStyle/>
                    <a:p>
                      <a:pPr algn="ctr"/>
                      <a:r>
                        <a:rPr lang="en-US" sz="1600"/>
                        <a:t>0</a:t>
                      </a:r>
                    </a:p>
                  </a:txBody>
                  <a:tcPr/>
                </a:tc>
                <a:tc>
                  <a:txBody>
                    <a:bodyPr/>
                    <a:lstStyle/>
                    <a:p>
                      <a:pPr algn="l"/>
                      <a:r>
                        <a:rPr lang="en-US" sz="1600"/>
                        <a:t>10_0000_0001_0010 = 2012</a:t>
                      </a:r>
                    </a:p>
                  </a:txBody>
                  <a:tcPr/>
                </a:tc>
                <a:tc>
                  <a:txBody>
                    <a:bodyPr/>
                    <a:lstStyle/>
                    <a:p>
                      <a:pPr algn="l"/>
                      <a:r>
                        <a:rPr lang="en-US" sz="1600"/>
                        <a:t>Load Rd to reg A</a:t>
                      </a:r>
                    </a:p>
                  </a:txBody>
                  <a:tcPr/>
                </a:tc>
                <a:extLst>
                  <a:ext uri="{0D108BD9-81ED-4DB2-BD59-A6C34878D82A}">
                    <a16:rowId xmlns:a16="http://schemas.microsoft.com/office/drawing/2014/main" val="2570910443"/>
                  </a:ext>
                </a:extLst>
              </a:tr>
              <a:tr h="370840">
                <a:tc>
                  <a:txBody>
                    <a:bodyPr/>
                    <a:lstStyle/>
                    <a:p>
                      <a:pPr algn="ctr"/>
                      <a:r>
                        <a:rPr lang="en-US" sz="16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0100_0001 = 0x0041</a:t>
                      </a:r>
                    </a:p>
                  </a:txBody>
                  <a:tcPr/>
                </a:tc>
                <a:tc>
                  <a:txBody>
                    <a:bodyPr/>
                    <a:lstStyle/>
                    <a:p>
                      <a:pPr algn="l"/>
                      <a:r>
                        <a:rPr lang="en-US" sz="1600"/>
                        <a:t>Load 4 bit </a:t>
                      </a:r>
                      <a:r>
                        <a:rPr lang="en-US" sz="1600" err="1"/>
                        <a:t>imm</a:t>
                      </a:r>
                      <a:r>
                        <a:rPr lang="en-US" sz="1600"/>
                        <a:t> to reg B</a:t>
                      </a:r>
                    </a:p>
                  </a:txBody>
                  <a:tcPr/>
                </a:tc>
                <a:extLst>
                  <a:ext uri="{0D108BD9-81ED-4DB2-BD59-A6C34878D82A}">
                    <a16:rowId xmlns:a16="http://schemas.microsoft.com/office/drawing/2014/main" val="631651838"/>
                  </a:ext>
                </a:extLst>
              </a:tr>
              <a:tr h="370840">
                <a:tc>
                  <a:txBody>
                    <a:bodyPr/>
                    <a:lstStyle/>
                    <a:p>
                      <a:pPr algn="ctr"/>
                      <a:r>
                        <a:rPr lang="en-US" sz="16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0010_0100 = 0x0024</a:t>
                      </a:r>
                    </a:p>
                  </a:txBody>
                  <a:tcPr/>
                </a:tc>
                <a:tc>
                  <a:txBody>
                    <a:bodyPr/>
                    <a:lstStyle/>
                    <a:p>
                      <a:pPr algn="l"/>
                      <a:r>
                        <a:rPr lang="en-US" sz="1600"/>
                        <a:t>Write ALU output to Rd</a:t>
                      </a:r>
                    </a:p>
                  </a:txBody>
                  <a:tcPr/>
                </a:tc>
                <a:extLst>
                  <a:ext uri="{0D108BD9-81ED-4DB2-BD59-A6C34878D82A}">
                    <a16:rowId xmlns:a16="http://schemas.microsoft.com/office/drawing/2014/main" val="1592812184"/>
                  </a:ext>
                </a:extLst>
              </a:tr>
              <a:tr h="370840">
                <a:tc>
                  <a:txBody>
                    <a:bodyPr/>
                    <a:lstStyle/>
                    <a:p>
                      <a:pPr algn="ctr"/>
                      <a:r>
                        <a:rPr lang="en-US" sz="1600"/>
                        <a:t>3</a:t>
                      </a:r>
                    </a:p>
                  </a:txBody>
                  <a:tcPr/>
                </a:tc>
                <a:tc>
                  <a:txBody>
                    <a:bodyPr/>
                    <a:lstStyle/>
                    <a:p>
                      <a:pPr algn="l"/>
                      <a:r>
                        <a:rPr lang="en-US" sz="1600"/>
                        <a:t>1000_0000 = 0x0080</a:t>
                      </a:r>
                    </a:p>
                  </a:txBody>
                  <a:tcPr/>
                </a:tc>
                <a:tc>
                  <a:txBody>
                    <a:bodyPr/>
                    <a:lstStyle/>
                    <a:p>
                      <a:pPr algn="l"/>
                      <a:r>
                        <a:rPr lang="en-US" sz="1600"/>
                        <a:t>Increment PC</a:t>
                      </a:r>
                    </a:p>
                  </a:txBody>
                  <a:tcPr/>
                </a:tc>
                <a:extLst>
                  <a:ext uri="{0D108BD9-81ED-4DB2-BD59-A6C34878D82A}">
                    <a16:rowId xmlns:a16="http://schemas.microsoft.com/office/drawing/2014/main" val="2225793510"/>
                  </a:ext>
                </a:extLst>
              </a:tr>
              <a:tr h="370840">
                <a:tc>
                  <a:txBody>
                    <a:bodyPr/>
                    <a:lstStyle/>
                    <a:p>
                      <a:pPr algn="ctr"/>
                      <a:r>
                        <a:rPr lang="en-US" sz="1600"/>
                        <a:t>4</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1046366285"/>
                  </a:ext>
                </a:extLst>
              </a:tr>
              <a:tr h="370840">
                <a:tc>
                  <a:txBody>
                    <a:bodyPr/>
                    <a:lstStyle/>
                    <a:p>
                      <a:pPr algn="ctr"/>
                      <a:r>
                        <a:rPr lang="en-US" sz="1600"/>
                        <a:t>5</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2615342211"/>
                  </a:ext>
                </a:extLst>
              </a:tr>
              <a:tr h="370840">
                <a:tc>
                  <a:txBody>
                    <a:bodyPr/>
                    <a:lstStyle/>
                    <a:p>
                      <a:pPr algn="ctr"/>
                      <a:r>
                        <a:rPr lang="en-US" sz="1600"/>
                        <a:t>6</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2055856817"/>
                  </a:ext>
                </a:extLst>
              </a:tr>
              <a:tr h="370840">
                <a:tc>
                  <a:txBody>
                    <a:bodyPr/>
                    <a:lstStyle/>
                    <a:p>
                      <a:pPr algn="ctr"/>
                      <a:r>
                        <a:rPr lang="en-US" sz="1600"/>
                        <a:t>7</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3502991894"/>
                  </a:ext>
                </a:extLst>
              </a:tr>
            </a:tbl>
          </a:graphicData>
        </a:graphic>
      </p:graphicFrame>
      <p:graphicFrame>
        <p:nvGraphicFramePr>
          <p:cNvPr id="6" name="Table 4">
            <a:extLst>
              <a:ext uri="{FF2B5EF4-FFF2-40B4-BE49-F238E27FC236}">
                <a16:creationId xmlns:a16="http://schemas.microsoft.com/office/drawing/2014/main" id="{0DFA9C31-EF12-4E73-95D6-4A8DD48CB5A3}"/>
              </a:ext>
            </a:extLst>
          </p:cNvPr>
          <p:cNvGraphicFramePr>
            <a:graphicFrameLocks noGrp="1"/>
          </p:cNvGraphicFramePr>
          <p:nvPr/>
        </p:nvGraphicFramePr>
        <p:xfrm>
          <a:off x="179752" y="5619913"/>
          <a:ext cx="9276863" cy="668020"/>
        </p:xfrm>
        <a:graphic>
          <a:graphicData uri="http://schemas.openxmlformats.org/drawingml/2006/table">
            <a:tbl>
              <a:tblPr firstRow="1" bandRow="1">
                <a:tableStyleId>{5C22544A-7EE6-4342-B048-85BDC9FD1C3A}</a:tableStyleId>
              </a:tblPr>
              <a:tblGrid>
                <a:gridCol w="1312985">
                  <a:extLst>
                    <a:ext uri="{9D8B030D-6E8A-4147-A177-3AD203B41FA5}">
                      <a16:colId xmlns:a16="http://schemas.microsoft.com/office/drawing/2014/main" val="1810408170"/>
                    </a:ext>
                  </a:extLst>
                </a:gridCol>
                <a:gridCol w="2089399">
                  <a:extLst>
                    <a:ext uri="{9D8B030D-6E8A-4147-A177-3AD203B41FA5}">
                      <a16:colId xmlns:a16="http://schemas.microsoft.com/office/drawing/2014/main" val="1217920130"/>
                    </a:ext>
                  </a:extLst>
                </a:gridCol>
                <a:gridCol w="824031">
                  <a:extLst>
                    <a:ext uri="{9D8B030D-6E8A-4147-A177-3AD203B41FA5}">
                      <a16:colId xmlns:a16="http://schemas.microsoft.com/office/drawing/2014/main" val="1475888205"/>
                    </a:ext>
                  </a:extLst>
                </a:gridCol>
                <a:gridCol w="1262612">
                  <a:extLst>
                    <a:ext uri="{9D8B030D-6E8A-4147-A177-3AD203B41FA5}">
                      <a16:colId xmlns:a16="http://schemas.microsoft.com/office/drawing/2014/main" val="1355185516"/>
                    </a:ext>
                  </a:extLst>
                </a:gridCol>
                <a:gridCol w="1584927">
                  <a:extLst>
                    <a:ext uri="{9D8B030D-6E8A-4147-A177-3AD203B41FA5}">
                      <a16:colId xmlns:a16="http://schemas.microsoft.com/office/drawing/2014/main" val="2050007723"/>
                    </a:ext>
                  </a:extLst>
                </a:gridCol>
                <a:gridCol w="1149517">
                  <a:extLst>
                    <a:ext uri="{9D8B030D-6E8A-4147-A177-3AD203B41FA5}">
                      <a16:colId xmlns:a16="http://schemas.microsoft.com/office/drawing/2014/main" val="3099546510"/>
                    </a:ext>
                  </a:extLst>
                </a:gridCol>
                <a:gridCol w="1053392">
                  <a:extLst>
                    <a:ext uri="{9D8B030D-6E8A-4147-A177-3AD203B41FA5}">
                      <a16:colId xmlns:a16="http://schemas.microsoft.com/office/drawing/2014/main" val="1677154990"/>
                    </a:ext>
                  </a:extLst>
                </a:gridCol>
              </a:tblGrid>
              <a:tr h="370840">
                <a:tc>
                  <a:txBody>
                    <a:bodyPr/>
                    <a:lstStyle/>
                    <a:p>
                      <a:r>
                        <a:rPr lang="en-US" sz="1300"/>
                        <a:t>Type</a:t>
                      </a:r>
                    </a:p>
                  </a:txBody>
                  <a:tcPr/>
                </a:tc>
                <a:tc>
                  <a:txBody>
                    <a:bodyPr/>
                    <a:lstStyle/>
                    <a:p>
                      <a:r>
                        <a:rPr lang="en-US" sz="1300"/>
                        <a:t>15 14 13 12 </a:t>
                      </a:r>
                    </a:p>
                  </a:txBody>
                  <a:tcPr/>
                </a:tc>
                <a:tc>
                  <a:txBody>
                    <a:bodyPr/>
                    <a:lstStyle/>
                    <a:p>
                      <a:r>
                        <a:rPr lang="en-US" sz="1300"/>
                        <a:t>11 10</a:t>
                      </a:r>
                    </a:p>
                  </a:txBody>
                  <a:tcPr/>
                </a:tc>
                <a:tc>
                  <a:txBody>
                    <a:bodyPr/>
                    <a:lstStyle/>
                    <a:p>
                      <a:r>
                        <a:rPr lang="en-US" sz="1300"/>
                        <a:t>9 8</a:t>
                      </a:r>
                    </a:p>
                  </a:txBody>
                  <a:tcPr/>
                </a:tc>
                <a:tc>
                  <a:txBody>
                    <a:bodyPr/>
                    <a:lstStyle/>
                    <a:p>
                      <a:r>
                        <a:rPr lang="en-US" sz="1300"/>
                        <a:t>7 6 5 4</a:t>
                      </a:r>
                    </a:p>
                  </a:txBody>
                  <a:tcPr/>
                </a:tc>
                <a:tc>
                  <a:txBody>
                    <a:bodyPr/>
                    <a:lstStyle/>
                    <a:p>
                      <a:r>
                        <a:rPr lang="en-US" sz="1300"/>
                        <a:t>3 2</a:t>
                      </a:r>
                    </a:p>
                  </a:txBody>
                  <a:tcPr/>
                </a:tc>
                <a:tc>
                  <a:txBody>
                    <a:bodyPr/>
                    <a:lstStyle/>
                    <a:p>
                      <a:r>
                        <a:rPr lang="en-US" sz="1300"/>
                        <a:t>1 0</a:t>
                      </a:r>
                    </a:p>
                  </a:txBody>
                  <a:tcPr/>
                </a:tc>
                <a:extLst>
                  <a:ext uri="{0D108BD9-81ED-4DB2-BD59-A6C34878D82A}">
                    <a16:rowId xmlns:a16="http://schemas.microsoft.com/office/drawing/2014/main" val="2319756336"/>
                  </a:ext>
                </a:extLst>
              </a:tr>
              <a:tr h="297180">
                <a:tc>
                  <a:txBody>
                    <a:bodyPr/>
                    <a:lstStyle/>
                    <a:p>
                      <a:pPr algn="ctr"/>
                      <a:r>
                        <a:rPr lang="en-US" sz="1300"/>
                        <a:t>ALU</a:t>
                      </a:r>
                    </a:p>
                  </a:txBody>
                  <a:tcPr/>
                </a:tc>
                <a:tc>
                  <a:txBody>
                    <a:bodyPr/>
                    <a:lstStyle/>
                    <a:p>
                      <a:pPr algn="ctr"/>
                      <a:r>
                        <a:rPr lang="en-US" sz="1300"/>
                        <a:t>OpCode</a:t>
                      </a:r>
                    </a:p>
                  </a:txBody>
                  <a:tcPr/>
                </a:tc>
                <a:tc>
                  <a:txBody>
                    <a:bodyPr/>
                    <a:lstStyle/>
                    <a:p>
                      <a:pPr algn="ctr"/>
                      <a:r>
                        <a:rPr lang="en-US" sz="1300"/>
                        <a:t>XX</a:t>
                      </a:r>
                    </a:p>
                  </a:txBody>
                  <a:tcPr/>
                </a:tc>
                <a:tc>
                  <a:txBody>
                    <a:bodyPr/>
                    <a:lstStyle/>
                    <a:p>
                      <a:pPr algn="ctr"/>
                      <a:r>
                        <a:rPr lang="en-US" sz="1300"/>
                        <a:t>Rd</a:t>
                      </a:r>
                    </a:p>
                  </a:txBody>
                  <a:tcPr/>
                </a:tc>
                <a:tc>
                  <a:txBody>
                    <a:bodyPr/>
                    <a:lstStyle/>
                    <a:p>
                      <a:pPr algn="ctr"/>
                      <a:r>
                        <a:rPr lang="en-US" sz="1300"/>
                        <a:t>Function</a:t>
                      </a:r>
                    </a:p>
                  </a:txBody>
                  <a:tcPr/>
                </a:tc>
                <a:tc>
                  <a:txBody>
                    <a:bodyPr/>
                    <a:lstStyle/>
                    <a:p>
                      <a:pPr algn="ctr"/>
                      <a:r>
                        <a:rPr lang="en-US" sz="1300"/>
                        <a:t>Rs1</a:t>
                      </a:r>
                    </a:p>
                  </a:txBody>
                  <a:tcPr/>
                </a:tc>
                <a:tc>
                  <a:txBody>
                    <a:bodyPr/>
                    <a:lstStyle/>
                    <a:p>
                      <a:pPr algn="ctr"/>
                      <a:r>
                        <a:rPr lang="en-US" sz="1300"/>
                        <a:t>Rs2</a:t>
                      </a:r>
                    </a:p>
                  </a:txBody>
                  <a:tcPr/>
                </a:tc>
                <a:extLst>
                  <a:ext uri="{0D108BD9-81ED-4DB2-BD59-A6C34878D82A}">
                    <a16:rowId xmlns:a16="http://schemas.microsoft.com/office/drawing/2014/main" val="2570910443"/>
                  </a:ext>
                </a:extLst>
              </a:tr>
            </a:tbl>
          </a:graphicData>
        </a:graphic>
      </p:graphicFrame>
      <p:graphicFrame>
        <p:nvGraphicFramePr>
          <p:cNvPr id="8" name="Table 4">
            <a:extLst>
              <a:ext uri="{FF2B5EF4-FFF2-40B4-BE49-F238E27FC236}">
                <a16:creationId xmlns:a16="http://schemas.microsoft.com/office/drawing/2014/main" id="{438A22CA-2606-4EC2-9E31-AA955DF6E237}"/>
              </a:ext>
            </a:extLst>
          </p:cNvPr>
          <p:cNvGraphicFramePr>
            <a:graphicFrameLocks noGrp="1"/>
          </p:cNvGraphicFramePr>
          <p:nvPr>
            <p:extLst>
              <p:ext uri="{D42A27DB-BD31-4B8C-83A1-F6EECF244321}">
                <p14:modId xmlns:p14="http://schemas.microsoft.com/office/powerpoint/2010/main" val="3394071396"/>
              </p:ext>
            </p:extLst>
          </p:nvPr>
        </p:nvGraphicFramePr>
        <p:xfrm>
          <a:off x="179753" y="5619913"/>
          <a:ext cx="10021526" cy="668020"/>
        </p:xfrm>
        <a:graphic>
          <a:graphicData uri="http://schemas.openxmlformats.org/drawingml/2006/table">
            <a:tbl>
              <a:tblPr firstRow="1" bandRow="1">
                <a:tableStyleId>{5C22544A-7EE6-4342-B048-85BDC9FD1C3A}</a:tableStyleId>
              </a:tblPr>
              <a:tblGrid>
                <a:gridCol w="1071627">
                  <a:extLst>
                    <a:ext uri="{9D8B030D-6E8A-4147-A177-3AD203B41FA5}">
                      <a16:colId xmlns:a16="http://schemas.microsoft.com/office/drawing/2014/main" val="1810408170"/>
                    </a:ext>
                  </a:extLst>
                </a:gridCol>
                <a:gridCol w="1859147">
                  <a:extLst>
                    <a:ext uri="{9D8B030D-6E8A-4147-A177-3AD203B41FA5}">
                      <a16:colId xmlns:a16="http://schemas.microsoft.com/office/drawing/2014/main" val="950391025"/>
                    </a:ext>
                  </a:extLst>
                </a:gridCol>
                <a:gridCol w="2595403">
                  <a:extLst>
                    <a:ext uri="{9D8B030D-6E8A-4147-A177-3AD203B41FA5}">
                      <a16:colId xmlns:a16="http://schemas.microsoft.com/office/drawing/2014/main" val="1475888205"/>
                    </a:ext>
                  </a:extLst>
                </a:gridCol>
                <a:gridCol w="765213">
                  <a:extLst>
                    <a:ext uri="{9D8B030D-6E8A-4147-A177-3AD203B41FA5}">
                      <a16:colId xmlns:a16="http://schemas.microsoft.com/office/drawing/2014/main" val="1355185516"/>
                    </a:ext>
                  </a:extLst>
                </a:gridCol>
                <a:gridCol w="820616">
                  <a:extLst>
                    <a:ext uri="{9D8B030D-6E8A-4147-A177-3AD203B41FA5}">
                      <a16:colId xmlns:a16="http://schemas.microsoft.com/office/drawing/2014/main" val="2050007723"/>
                    </a:ext>
                  </a:extLst>
                </a:gridCol>
                <a:gridCol w="2909520">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15 14 13 12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ALU</a:t>
                      </a:r>
                    </a:p>
                  </a:txBody>
                  <a:tcPr>
                    <a:solidFill>
                      <a:schemeClr val="accent6"/>
                    </a:solidFill>
                  </a:tcPr>
                </a:tc>
                <a:tc>
                  <a:txBody>
                    <a:bodyPr/>
                    <a:lstStyle/>
                    <a:p>
                      <a:pPr algn="ctr"/>
                      <a:r>
                        <a:rPr lang="en-US" sz="1300"/>
                        <a:t>4-bit </a:t>
                      </a:r>
                      <a:r>
                        <a:rPr lang="en-US" sz="1300" err="1"/>
                        <a:t>imm</a:t>
                      </a:r>
                      <a:r>
                        <a:rPr lang="en-US" sz="1300"/>
                        <a:t>.</a:t>
                      </a:r>
                    </a:p>
                  </a:txBody>
                  <a:tcPr/>
                </a:tc>
                <a:tc>
                  <a:txBody>
                    <a:bodyPr/>
                    <a:lstStyle/>
                    <a:p>
                      <a:pPr algn="ctr"/>
                      <a:r>
                        <a:rPr lang="en-US" sz="1300"/>
                        <a:t>S2 S1 S0 SF (Function </a:t>
                      </a:r>
                      <a:r>
                        <a:rPr lang="en-US" sz="1300" err="1"/>
                        <a:t>sel</a:t>
                      </a:r>
                      <a:r>
                        <a:rPr lang="en-US" sz="1300"/>
                        <a:t>)</a:t>
                      </a:r>
                    </a:p>
                  </a:txBody>
                  <a:tcPr/>
                </a:tc>
                <a:tc>
                  <a:txBody>
                    <a:bodyPr/>
                    <a:lstStyle/>
                    <a:p>
                      <a:pPr algn="ctr"/>
                      <a:r>
                        <a:rPr lang="en-US" sz="1300"/>
                        <a:t>Rd</a:t>
                      </a:r>
                    </a:p>
                  </a:txBody>
                  <a:tcPr/>
                </a:tc>
                <a:tc>
                  <a:txBody>
                    <a:bodyPr/>
                    <a:lstStyle/>
                    <a:p>
                      <a:pPr algn="ctr"/>
                      <a:r>
                        <a:rPr lang="en-US" sz="1300"/>
                        <a:t>X</a:t>
                      </a:r>
                    </a:p>
                  </a:txBody>
                  <a:tcPr/>
                </a:tc>
                <a:tc>
                  <a:txBody>
                    <a:bodyPr/>
                    <a:lstStyle/>
                    <a:p>
                      <a:pPr algn="ctr"/>
                      <a:r>
                        <a:rPr lang="en-US" sz="1300"/>
                        <a:t>OpCode=06</a:t>
                      </a:r>
                    </a:p>
                  </a:txBody>
                  <a:tcPr/>
                </a:tc>
                <a:extLst>
                  <a:ext uri="{0D108BD9-81ED-4DB2-BD59-A6C34878D82A}">
                    <a16:rowId xmlns:a16="http://schemas.microsoft.com/office/drawing/2014/main" val="2570910443"/>
                  </a:ext>
                </a:extLst>
              </a:tr>
            </a:tbl>
          </a:graphicData>
        </a:graphic>
      </p:graphicFrame>
      <p:sp>
        <p:nvSpPr>
          <p:cNvPr id="9" name="TextBox 8">
            <a:extLst>
              <a:ext uri="{FF2B5EF4-FFF2-40B4-BE49-F238E27FC236}">
                <a16:creationId xmlns:a16="http://schemas.microsoft.com/office/drawing/2014/main" id="{7BD7F8B8-6C37-4325-9738-1D3018261CF6}"/>
              </a:ext>
            </a:extLst>
          </p:cNvPr>
          <p:cNvSpPr txBox="1"/>
          <p:nvPr/>
        </p:nvSpPr>
        <p:spPr>
          <a:xfrm>
            <a:off x="11305310" y="1"/>
            <a:ext cx="931665" cy="1862048"/>
          </a:xfrm>
          <a:prstGeom prst="rect">
            <a:avLst/>
          </a:prstGeom>
          <a:noFill/>
        </p:spPr>
        <p:txBody>
          <a:bodyPr wrap="none" rtlCol="0">
            <a:spAutoFit/>
          </a:bodyPr>
          <a:lstStyle/>
          <a:p>
            <a:r>
              <a:rPr lang="en-US" sz="11500">
                <a:solidFill>
                  <a:schemeClr val="accent1">
                    <a:lumMod val="60000"/>
                    <a:lumOff val="40000"/>
                  </a:schemeClr>
                </a:solidFill>
              </a:rPr>
              <a:t>6</a:t>
            </a:r>
          </a:p>
        </p:txBody>
      </p:sp>
      <p:sp>
        <p:nvSpPr>
          <p:cNvPr id="12" name="TextBox 11">
            <a:extLst>
              <a:ext uri="{FF2B5EF4-FFF2-40B4-BE49-F238E27FC236}">
                <a16:creationId xmlns:a16="http://schemas.microsoft.com/office/drawing/2014/main" id="{EC92F7E5-2629-1A32-5661-12B67655FB87}"/>
              </a:ext>
            </a:extLst>
          </p:cNvPr>
          <p:cNvSpPr txBox="1"/>
          <p:nvPr/>
        </p:nvSpPr>
        <p:spPr>
          <a:xfrm>
            <a:off x="6615405" y="4734113"/>
            <a:ext cx="2945037" cy="523220"/>
          </a:xfrm>
          <a:prstGeom prst="rect">
            <a:avLst/>
          </a:prstGeom>
          <a:noFill/>
        </p:spPr>
        <p:txBody>
          <a:bodyPr wrap="none" rtlCol="0">
            <a:spAutoFit/>
          </a:bodyPr>
          <a:lstStyle/>
          <a:p>
            <a:r>
              <a:rPr lang="en-US" sz="2800">
                <a:solidFill>
                  <a:srgbClr val="00B050"/>
                </a:solidFill>
                <a:latin typeface="Consolas" panose="020B0609020204030204" pitchFamily="49" charset="0"/>
              </a:rPr>
              <a:t> ADD Rd, #0x00</a:t>
            </a:r>
          </a:p>
        </p:txBody>
      </p:sp>
      <p:pic>
        <p:nvPicPr>
          <p:cNvPr id="2" name="Picture 1">
            <a:hlinkClick r:id="rId2" action="ppaction://hlinksldjump"/>
            <a:extLst>
              <a:ext uri="{FF2B5EF4-FFF2-40B4-BE49-F238E27FC236}">
                <a16:creationId xmlns:a16="http://schemas.microsoft.com/office/drawing/2014/main" id="{67184A42-14CA-AF2B-E3BD-790CBA465399}"/>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0" name="Slide Number Placeholder 4">
            <a:extLst>
              <a:ext uri="{FF2B5EF4-FFF2-40B4-BE49-F238E27FC236}">
                <a16:creationId xmlns:a16="http://schemas.microsoft.com/office/drawing/2014/main" id="{74D80DD4-1E63-5C95-4EF9-9A8AD4C58125}"/>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50</a:t>
            </a:fld>
            <a:endParaRPr lang="en-US" b="1">
              <a:solidFill>
                <a:schemeClr val="bg1"/>
              </a:solidFill>
            </a:endParaRPr>
          </a:p>
        </p:txBody>
      </p:sp>
      <p:graphicFrame>
        <p:nvGraphicFramePr>
          <p:cNvPr id="14" name="Table 4">
            <a:extLst>
              <a:ext uri="{FF2B5EF4-FFF2-40B4-BE49-F238E27FC236}">
                <a16:creationId xmlns:a16="http://schemas.microsoft.com/office/drawing/2014/main" id="{491B51CA-4028-257C-26D0-886DB896CF5F}"/>
              </a:ext>
            </a:extLst>
          </p:cNvPr>
          <p:cNvGraphicFramePr>
            <a:graphicFrameLocks noGrp="1"/>
          </p:cNvGraphicFramePr>
          <p:nvPr/>
        </p:nvGraphicFramePr>
        <p:xfrm>
          <a:off x="193268" y="742463"/>
          <a:ext cx="4329725" cy="444470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graphicFrame>
        <p:nvGraphicFramePr>
          <p:cNvPr id="3" name="Table 4">
            <a:extLst>
              <a:ext uri="{FF2B5EF4-FFF2-40B4-BE49-F238E27FC236}">
                <a16:creationId xmlns:a16="http://schemas.microsoft.com/office/drawing/2014/main" id="{E47B05CB-002D-7932-6286-0F13127E5F6C}"/>
              </a:ext>
            </a:extLst>
          </p:cNvPr>
          <p:cNvGraphicFramePr>
            <a:graphicFrameLocks noGrp="1"/>
          </p:cNvGraphicFramePr>
          <p:nvPr>
            <p:extLst>
              <p:ext uri="{D42A27DB-BD31-4B8C-83A1-F6EECF244321}">
                <p14:modId xmlns:p14="http://schemas.microsoft.com/office/powerpoint/2010/main" val="3017972225"/>
              </p:ext>
            </p:extLst>
          </p:nvPr>
        </p:nvGraphicFramePr>
        <p:xfrm>
          <a:off x="193268" y="742463"/>
          <a:ext cx="4329725" cy="467838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17</a:t>
                      </a:r>
                    </a:p>
                  </a:txBody>
                  <a:tcPr/>
                </a:tc>
                <a:tc>
                  <a:txBody>
                    <a:bodyPr/>
                    <a:lstStyle/>
                    <a:p>
                      <a:pPr algn="l"/>
                      <a:r>
                        <a:rPr lang="en-US" sz="900"/>
                        <a:t>Load Special Register</a:t>
                      </a:r>
                    </a:p>
                  </a:txBody>
                  <a:tcPr/>
                </a:tc>
                <a:extLst>
                  <a:ext uri="{0D108BD9-81ED-4DB2-BD59-A6C34878D82A}">
                    <a16:rowId xmlns:a16="http://schemas.microsoft.com/office/drawing/2014/main" val="2759210480"/>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1979430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FFC7287B-AAD9-5418-44A1-19FEE626F5CD}"/>
              </a:ext>
            </a:extLst>
          </p:cNvPr>
          <p:cNvSpPr>
            <a:spLocks noGrp="1"/>
          </p:cNvSpPr>
          <p:nvPr>
            <p:ph type="ctrTitle"/>
          </p:nvPr>
        </p:nvSpPr>
        <p:spPr>
          <a:xfrm>
            <a:off x="914400" y="182880"/>
            <a:ext cx="9144000" cy="457200"/>
          </a:xfrm>
        </p:spPr>
        <p:txBody>
          <a:bodyPr/>
          <a:lstStyle/>
          <a:p>
            <a:r>
              <a:rPr lang="en-US" dirty="0"/>
              <a:t>Micro-Instructions Control: Branch / Jump Relative Immediate (00111)</a:t>
            </a:r>
          </a:p>
        </p:txBody>
      </p:sp>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nvGraphicFramePr>
        <p:xfrm>
          <a:off x="4716583" y="742463"/>
          <a:ext cx="6514836" cy="3291319"/>
        </p:xfrm>
        <a:graphic>
          <a:graphicData uri="http://schemas.openxmlformats.org/drawingml/2006/table">
            <a:tbl>
              <a:tblPr firstRow="1" bandRow="1">
                <a:tableStyleId>{5C22544A-7EE6-4342-B048-85BDC9FD1C3A}</a:tableStyleId>
              </a:tblPr>
              <a:tblGrid>
                <a:gridCol w="988741">
                  <a:extLst>
                    <a:ext uri="{9D8B030D-6E8A-4147-A177-3AD203B41FA5}">
                      <a16:colId xmlns:a16="http://schemas.microsoft.com/office/drawing/2014/main" val="1217920130"/>
                    </a:ext>
                  </a:extLst>
                </a:gridCol>
                <a:gridCol w="2570459">
                  <a:extLst>
                    <a:ext uri="{9D8B030D-6E8A-4147-A177-3AD203B41FA5}">
                      <a16:colId xmlns:a16="http://schemas.microsoft.com/office/drawing/2014/main" val="1475888205"/>
                    </a:ext>
                  </a:extLst>
                </a:gridCol>
                <a:gridCol w="2955636">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370840">
                <a:tc>
                  <a:txBody>
                    <a:bodyPr/>
                    <a:lstStyle/>
                    <a:p>
                      <a:pPr algn="ctr"/>
                      <a:r>
                        <a:rPr lang="en-US" sz="1600"/>
                        <a:t>0</a:t>
                      </a:r>
                    </a:p>
                  </a:txBody>
                  <a:tcPr/>
                </a:tc>
                <a:tc>
                  <a:txBody>
                    <a:bodyPr/>
                    <a:lstStyle/>
                    <a:p>
                      <a:pPr algn="l"/>
                      <a:r>
                        <a:rPr lang="en-US" sz="1600"/>
                        <a:t>10_0000_0010 0x2_02</a:t>
                      </a:r>
                    </a:p>
                  </a:txBody>
                  <a:tcPr/>
                </a:tc>
                <a:tc>
                  <a:txBody>
                    <a:bodyPr/>
                    <a:lstStyle/>
                    <a:p>
                      <a:pPr algn="l"/>
                      <a:r>
                        <a:rPr lang="en-US" sz="1600"/>
                        <a:t>Load PC into reg A</a:t>
                      </a:r>
                    </a:p>
                  </a:txBody>
                  <a:tcPr/>
                </a:tc>
                <a:extLst>
                  <a:ext uri="{0D108BD9-81ED-4DB2-BD59-A6C34878D82A}">
                    <a16:rowId xmlns:a16="http://schemas.microsoft.com/office/drawing/2014/main" val="2570910443"/>
                  </a:ext>
                </a:extLst>
              </a:tr>
              <a:tr h="370840">
                <a:tc>
                  <a:txBody>
                    <a:bodyPr/>
                    <a:lstStyle/>
                    <a:p>
                      <a:pPr algn="ctr"/>
                      <a:r>
                        <a:rPr lang="en-US" sz="16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00_0100_0001 0x0_41</a:t>
                      </a:r>
                    </a:p>
                  </a:txBody>
                  <a:tcPr/>
                </a:tc>
                <a:tc>
                  <a:txBody>
                    <a:bodyPr/>
                    <a:lstStyle/>
                    <a:p>
                      <a:pPr algn="l"/>
                      <a:r>
                        <a:rPr lang="en-US" sz="1600"/>
                        <a:t>Load immediate into reg B</a:t>
                      </a:r>
                    </a:p>
                  </a:txBody>
                  <a:tcPr/>
                </a:tc>
                <a:extLst>
                  <a:ext uri="{0D108BD9-81ED-4DB2-BD59-A6C34878D82A}">
                    <a16:rowId xmlns:a16="http://schemas.microsoft.com/office/drawing/2014/main" val="631651838"/>
                  </a:ext>
                </a:extLst>
              </a:tr>
              <a:tr h="370840">
                <a:tc>
                  <a:txBody>
                    <a:bodyPr/>
                    <a:lstStyle/>
                    <a:p>
                      <a:pPr algn="ctr"/>
                      <a:r>
                        <a:rPr lang="en-US" sz="16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01_0000_0100 0x1_04</a:t>
                      </a:r>
                    </a:p>
                  </a:txBody>
                  <a:tcPr/>
                </a:tc>
                <a:tc>
                  <a:txBody>
                    <a:bodyPr/>
                    <a:lstStyle/>
                    <a:p>
                      <a:pPr algn="l"/>
                      <a:r>
                        <a:rPr lang="en-US" sz="1600"/>
                        <a:t>Output</a:t>
                      </a:r>
                      <a:r>
                        <a:rPr lang="en-US" sz="1600" baseline="0"/>
                        <a:t> ALU </a:t>
                      </a:r>
                      <a:r>
                        <a:rPr lang="en-US" sz="1600" baseline="0" err="1"/>
                        <a:t>val</a:t>
                      </a:r>
                      <a:r>
                        <a:rPr lang="en-US" sz="1600" baseline="0"/>
                        <a:t>, load PC</a:t>
                      </a:r>
                      <a:endParaRPr lang="en-US" sz="1600"/>
                    </a:p>
                  </a:txBody>
                  <a:tcPr/>
                </a:tc>
                <a:extLst>
                  <a:ext uri="{0D108BD9-81ED-4DB2-BD59-A6C34878D82A}">
                    <a16:rowId xmlns:a16="http://schemas.microsoft.com/office/drawing/2014/main" val="1592812184"/>
                  </a:ext>
                </a:extLst>
              </a:tr>
              <a:tr h="370840">
                <a:tc>
                  <a:txBody>
                    <a:bodyPr/>
                    <a:lstStyle/>
                    <a:p>
                      <a:pPr algn="ctr"/>
                      <a:r>
                        <a:rPr lang="en-US" sz="1600"/>
                        <a:t>3</a:t>
                      </a:r>
                    </a:p>
                  </a:txBody>
                  <a:tcPr/>
                </a:tc>
                <a:tc>
                  <a:txBody>
                    <a:bodyPr/>
                    <a:lstStyle/>
                    <a:p>
                      <a:pPr algn="l"/>
                      <a:r>
                        <a:rPr lang="en-US" sz="1600"/>
                        <a:t>00_1000_0000 0x0_80</a:t>
                      </a:r>
                    </a:p>
                  </a:txBody>
                  <a:tcPr/>
                </a:tc>
                <a:tc>
                  <a:txBody>
                    <a:bodyPr/>
                    <a:lstStyle/>
                    <a:p>
                      <a:pPr algn="l"/>
                      <a:r>
                        <a:rPr lang="en-US" sz="1600"/>
                        <a:t>Advance PC</a:t>
                      </a:r>
                      <a:endParaRPr lang="en-US" sz="1600" strike="sngStrike"/>
                    </a:p>
                  </a:txBody>
                  <a:tcPr/>
                </a:tc>
                <a:extLst>
                  <a:ext uri="{0D108BD9-81ED-4DB2-BD59-A6C34878D82A}">
                    <a16:rowId xmlns:a16="http://schemas.microsoft.com/office/drawing/2014/main" val="2225793510"/>
                  </a:ext>
                </a:extLst>
              </a:tr>
              <a:tr h="370840">
                <a:tc>
                  <a:txBody>
                    <a:bodyPr/>
                    <a:lstStyle/>
                    <a:p>
                      <a:pPr algn="ctr"/>
                      <a:r>
                        <a:rPr lang="en-US" sz="1600"/>
                        <a:t>4</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1046366285"/>
                  </a:ext>
                </a:extLst>
              </a:tr>
              <a:tr h="370840">
                <a:tc>
                  <a:txBody>
                    <a:bodyPr/>
                    <a:lstStyle/>
                    <a:p>
                      <a:pPr algn="ctr"/>
                      <a:r>
                        <a:rPr lang="en-US" sz="1600"/>
                        <a:t>5</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2615342211"/>
                  </a:ext>
                </a:extLst>
              </a:tr>
              <a:tr h="370840">
                <a:tc>
                  <a:txBody>
                    <a:bodyPr/>
                    <a:lstStyle/>
                    <a:p>
                      <a:pPr algn="ctr"/>
                      <a:r>
                        <a:rPr lang="en-US" sz="1600"/>
                        <a:t>6</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2055856817"/>
                  </a:ext>
                </a:extLst>
              </a:tr>
              <a:tr h="370840">
                <a:tc>
                  <a:txBody>
                    <a:bodyPr/>
                    <a:lstStyle/>
                    <a:p>
                      <a:pPr algn="ctr"/>
                      <a:r>
                        <a:rPr lang="en-US" sz="1600"/>
                        <a:t>7</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3502991894"/>
                  </a:ext>
                </a:extLst>
              </a:tr>
            </a:tbl>
          </a:graphicData>
        </a:graphic>
      </p:graphicFrame>
      <p:graphicFrame>
        <p:nvGraphicFramePr>
          <p:cNvPr id="6" name="Table 6">
            <a:extLst>
              <a:ext uri="{FF2B5EF4-FFF2-40B4-BE49-F238E27FC236}">
                <a16:creationId xmlns:a16="http://schemas.microsoft.com/office/drawing/2014/main" id="{94ECF8CC-A699-4671-A4F6-5AAB6684A11C}"/>
              </a:ext>
            </a:extLst>
          </p:cNvPr>
          <p:cNvGraphicFramePr>
            <a:graphicFrameLocks noGrp="1"/>
          </p:cNvGraphicFramePr>
          <p:nvPr/>
        </p:nvGraphicFramePr>
        <p:xfrm>
          <a:off x="5645697" y="2949767"/>
          <a:ext cx="4733396" cy="2670147"/>
        </p:xfrm>
        <a:graphic>
          <a:graphicData uri="http://schemas.openxmlformats.org/drawingml/2006/table">
            <a:tbl>
              <a:tblPr firstRow="1" bandRow="1">
                <a:tableStyleId>{5C22544A-7EE6-4342-B048-85BDC9FD1C3A}</a:tableStyleId>
              </a:tblPr>
              <a:tblGrid>
                <a:gridCol w="573007">
                  <a:extLst>
                    <a:ext uri="{9D8B030D-6E8A-4147-A177-3AD203B41FA5}">
                      <a16:colId xmlns:a16="http://schemas.microsoft.com/office/drawing/2014/main" val="3129483676"/>
                    </a:ext>
                  </a:extLst>
                </a:gridCol>
                <a:gridCol w="359600">
                  <a:extLst>
                    <a:ext uri="{9D8B030D-6E8A-4147-A177-3AD203B41FA5}">
                      <a16:colId xmlns:a16="http://schemas.microsoft.com/office/drawing/2014/main" val="3639428745"/>
                    </a:ext>
                  </a:extLst>
                </a:gridCol>
                <a:gridCol w="525011">
                  <a:extLst>
                    <a:ext uri="{9D8B030D-6E8A-4147-A177-3AD203B41FA5}">
                      <a16:colId xmlns:a16="http://schemas.microsoft.com/office/drawing/2014/main" val="136219337"/>
                    </a:ext>
                  </a:extLst>
                </a:gridCol>
                <a:gridCol w="695087">
                  <a:extLst>
                    <a:ext uri="{9D8B030D-6E8A-4147-A177-3AD203B41FA5}">
                      <a16:colId xmlns:a16="http://schemas.microsoft.com/office/drawing/2014/main" val="4010529361"/>
                    </a:ext>
                  </a:extLst>
                </a:gridCol>
                <a:gridCol w="695087">
                  <a:extLst>
                    <a:ext uri="{9D8B030D-6E8A-4147-A177-3AD203B41FA5}">
                      <a16:colId xmlns:a16="http://schemas.microsoft.com/office/drawing/2014/main" val="3300204691"/>
                    </a:ext>
                  </a:extLst>
                </a:gridCol>
                <a:gridCol w="1885604">
                  <a:extLst>
                    <a:ext uri="{9D8B030D-6E8A-4147-A177-3AD203B41FA5}">
                      <a16:colId xmlns:a16="http://schemas.microsoft.com/office/drawing/2014/main" val="322570224"/>
                    </a:ext>
                  </a:extLst>
                </a:gridCol>
              </a:tblGrid>
              <a:tr h="475587">
                <a:tc>
                  <a:txBody>
                    <a:bodyPr/>
                    <a:lstStyle/>
                    <a:p>
                      <a:r>
                        <a:rPr lang="en-US" sz="1200" dirty="0"/>
                        <a:t>C2</a:t>
                      </a:r>
                    </a:p>
                  </a:txBody>
                  <a:tcPr/>
                </a:tc>
                <a:tc>
                  <a:txBody>
                    <a:bodyPr/>
                    <a:lstStyle/>
                    <a:p>
                      <a:r>
                        <a:rPr lang="en-US" sz="1200"/>
                        <a:t>C1</a:t>
                      </a:r>
                    </a:p>
                  </a:txBody>
                  <a:tcPr/>
                </a:tc>
                <a:tc>
                  <a:txBody>
                    <a:bodyPr/>
                    <a:lstStyle/>
                    <a:p>
                      <a:r>
                        <a:rPr lang="en-US" sz="1200"/>
                        <a:t>C0</a:t>
                      </a:r>
                    </a:p>
                  </a:txBody>
                  <a:tcPr/>
                </a:tc>
                <a:tc>
                  <a:txBody>
                    <a:bodyPr/>
                    <a:lstStyle/>
                    <a:p>
                      <a:r>
                        <a:rPr lang="en-US" sz="1200"/>
                        <a:t>Condition</a:t>
                      </a:r>
                    </a:p>
                  </a:txBody>
                  <a:tcPr/>
                </a:tc>
                <a:tc>
                  <a:txBody>
                    <a:bodyPr/>
                    <a:lstStyle/>
                    <a:p>
                      <a:r>
                        <a:rPr lang="en-US" sz="1200"/>
                        <a:t>OpCode</a:t>
                      </a:r>
                    </a:p>
                  </a:txBody>
                  <a:tcPr/>
                </a:tc>
                <a:tc>
                  <a:txBody>
                    <a:bodyPr/>
                    <a:lstStyle/>
                    <a:p>
                      <a:r>
                        <a:rPr lang="en-US" sz="1200"/>
                        <a:t>Assembly</a:t>
                      </a:r>
                    </a:p>
                  </a:txBody>
                  <a:tcPr/>
                </a:tc>
                <a:extLst>
                  <a:ext uri="{0D108BD9-81ED-4DB2-BD59-A6C34878D82A}">
                    <a16:rowId xmlns:a16="http://schemas.microsoft.com/office/drawing/2014/main" val="727245786"/>
                  </a:ext>
                </a:extLst>
              </a:tr>
              <a:tr h="274320">
                <a:tc>
                  <a:txBody>
                    <a:bodyPr/>
                    <a:lstStyle/>
                    <a:p>
                      <a:r>
                        <a:rPr lang="en-US" sz="1200"/>
                        <a:t>0</a:t>
                      </a:r>
                    </a:p>
                  </a:txBody>
                  <a:tcPr/>
                </a:tc>
                <a:tc>
                  <a:txBody>
                    <a:bodyPr/>
                    <a:lstStyle/>
                    <a:p>
                      <a:r>
                        <a:rPr lang="en-US" sz="1200"/>
                        <a:t>0</a:t>
                      </a:r>
                    </a:p>
                  </a:txBody>
                  <a:tcPr/>
                </a:tc>
                <a:tc>
                  <a:txBody>
                    <a:bodyPr/>
                    <a:lstStyle/>
                    <a:p>
                      <a:r>
                        <a:rPr lang="en-US" sz="1200"/>
                        <a:t>0</a:t>
                      </a:r>
                    </a:p>
                  </a:txBody>
                  <a:tcPr/>
                </a:tc>
                <a:tc>
                  <a:txBody>
                    <a:bodyPr/>
                    <a:lstStyle/>
                    <a:p>
                      <a:r>
                        <a:rPr lang="en-US" sz="1200"/>
                        <a:t>JMP</a:t>
                      </a:r>
                    </a:p>
                  </a:txBody>
                  <a:tcPr/>
                </a:tc>
                <a:tc>
                  <a:txBody>
                    <a:bodyPr/>
                    <a:lstStyle/>
                    <a:p>
                      <a:pPr algn="ctr"/>
                      <a:r>
                        <a:rPr lang="en-US" sz="1200"/>
                        <a:t>07</a:t>
                      </a:r>
                    </a:p>
                  </a:txBody>
                  <a:tcPr>
                    <a:solidFill>
                      <a:schemeClr val="accent6">
                        <a:lumMod val="60000"/>
                        <a:lumOff val="40000"/>
                      </a:schemeClr>
                    </a:solidFill>
                  </a:tcPr>
                </a:tc>
                <a:tc>
                  <a:txBody>
                    <a:bodyPr/>
                    <a:lstStyle/>
                    <a:p>
                      <a:r>
                        <a:rPr lang="en-US" sz="1200"/>
                        <a:t>JMP</a:t>
                      </a:r>
                    </a:p>
                  </a:txBody>
                  <a:tcPr>
                    <a:solidFill>
                      <a:schemeClr val="accent6">
                        <a:lumMod val="60000"/>
                        <a:lumOff val="40000"/>
                      </a:schemeClr>
                    </a:solidFill>
                  </a:tcPr>
                </a:tc>
                <a:extLst>
                  <a:ext uri="{0D108BD9-81ED-4DB2-BD59-A6C34878D82A}">
                    <a16:rowId xmlns:a16="http://schemas.microsoft.com/office/drawing/2014/main" val="3427146651"/>
                  </a:ext>
                </a:extLst>
              </a:tr>
              <a:tr h="274320">
                <a:tc>
                  <a:txBody>
                    <a:bodyPr/>
                    <a:lstStyle/>
                    <a:p>
                      <a:r>
                        <a:rPr lang="en-US" sz="1200"/>
                        <a:t>0</a:t>
                      </a:r>
                    </a:p>
                  </a:txBody>
                  <a:tcPr/>
                </a:tc>
                <a:tc>
                  <a:txBody>
                    <a:bodyPr/>
                    <a:lstStyle/>
                    <a:p>
                      <a:r>
                        <a:rPr lang="en-US" sz="1200"/>
                        <a:t>0</a:t>
                      </a:r>
                    </a:p>
                  </a:txBody>
                  <a:tcPr/>
                </a:tc>
                <a:tc>
                  <a:txBody>
                    <a:bodyPr/>
                    <a:lstStyle/>
                    <a:p>
                      <a:r>
                        <a:rPr lang="en-US" sz="1200"/>
                        <a:t>1</a:t>
                      </a:r>
                    </a:p>
                  </a:txBody>
                  <a:tcPr/>
                </a:tc>
                <a:tc>
                  <a:txBody>
                    <a:bodyPr/>
                    <a:lstStyle/>
                    <a:p>
                      <a:r>
                        <a:rPr lang="en-US" sz="1200"/>
                        <a:t>N</a:t>
                      </a:r>
                    </a:p>
                  </a:txBody>
                  <a:tcPr/>
                </a:tc>
                <a:tc>
                  <a:txBody>
                    <a:bodyPr/>
                    <a:lstStyle/>
                    <a:p>
                      <a:pPr algn="ctr"/>
                      <a:r>
                        <a:rPr lang="en-US" sz="1200"/>
                        <a:t>27</a:t>
                      </a:r>
                    </a:p>
                  </a:txBody>
                  <a:tcPr>
                    <a:solidFill>
                      <a:schemeClr val="accent6">
                        <a:lumMod val="60000"/>
                        <a:lumOff val="40000"/>
                      </a:schemeClr>
                    </a:solidFill>
                  </a:tcPr>
                </a:tc>
                <a:tc>
                  <a:txBody>
                    <a:bodyPr/>
                    <a:lstStyle/>
                    <a:p>
                      <a:r>
                        <a:rPr lang="en-US" sz="1200"/>
                        <a:t>BMI – Branch on Minus</a:t>
                      </a:r>
                    </a:p>
                  </a:txBody>
                  <a:tcPr>
                    <a:solidFill>
                      <a:schemeClr val="accent6">
                        <a:lumMod val="60000"/>
                        <a:lumOff val="40000"/>
                      </a:schemeClr>
                    </a:solidFill>
                  </a:tcPr>
                </a:tc>
                <a:extLst>
                  <a:ext uri="{0D108BD9-81ED-4DB2-BD59-A6C34878D82A}">
                    <a16:rowId xmlns:a16="http://schemas.microsoft.com/office/drawing/2014/main" val="1942712580"/>
                  </a:ext>
                </a:extLst>
              </a:tr>
              <a:tr h="274320">
                <a:tc>
                  <a:txBody>
                    <a:bodyPr/>
                    <a:lstStyle/>
                    <a:p>
                      <a:r>
                        <a:rPr lang="en-US" sz="1200"/>
                        <a:t>0</a:t>
                      </a:r>
                    </a:p>
                  </a:txBody>
                  <a:tcPr/>
                </a:tc>
                <a:tc>
                  <a:txBody>
                    <a:bodyPr/>
                    <a:lstStyle/>
                    <a:p>
                      <a:r>
                        <a:rPr lang="en-US" sz="1200"/>
                        <a:t>1</a:t>
                      </a:r>
                    </a:p>
                  </a:txBody>
                  <a:tcPr/>
                </a:tc>
                <a:tc>
                  <a:txBody>
                    <a:bodyPr/>
                    <a:lstStyle/>
                    <a:p>
                      <a:r>
                        <a:rPr lang="en-US" sz="1200"/>
                        <a:t>0</a:t>
                      </a:r>
                    </a:p>
                  </a:txBody>
                  <a:tcPr/>
                </a:tc>
                <a:tc>
                  <a:txBody>
                    <a:bodyPr/>
                    <a:lstStyle/>
                    <a:p>
                      <a:r>
                        <a:rPr lang="en-US" sz="1200"/>
                        <a:t>C</a:t>
                      </a:r>
                    </a:p>
                  </a:txBody>
                  <a:tcPr/>
                </a:tc>
                <a:tc>
                  <a:txBody>
                    <a:bodyPr/>
                    <a:lstStyle/>
                    <a:p>
                      <a:pPr algn="ctr"/>
                      <a:r>
                        <a:rPr lang="en-US" sz="1200"/>
                        <a:t>47</a:t>
                      </a:r>
                    </a:p>
                  </a:txBody>
                  <a:tcPr>
                    <a:solidFill>
                      <a:schemeClr val="accent6">
                        <a:lumMod val="60000"/>
                        <a:lumOff val="40000"/>
                      </a:schemeClr>
                    </a:solidFill>
                  </a:tcPr>
                </a:tc>
                <a:tc>
                  <a:txBody>
                    <a:bodyPr/>
                    <a:lstStyle/>
                    <a:p>
                      <a:r>
                        <a:rPr lang="en-US" sz="1200" dirty="0"/>
                        <a:t>BCS – Branch Carry Set</a:t>
                      </a:r>
                    </a:p>
                  </a:txBody>
                  <a:tcPr>
                    <a:solidFill>
                      <a:schemeClr val="accent6">
                        <a:lumMod val="60000"/>
                        <a:lumOff val="40000"/>
                      </a:schemeClr>
                    </a:solidFill>
                  </a:tcPr>
                </a:tc>
                <a:extLst>
                  <a:ext uri="{0D108BD9-81ED-4DB2-BD59-A6C34878D82A}">
                    <a16:rowId xmlns:a16="http://schemas.microsoft.com/office/drawing/2014/main" val="4217135763"/>
                  </a:ext>
                </a:extLst>
              </a:tr>
              <a:tr h="274320">
                <a:tc>
                  <a:txBody>
                    <a:bodyPr/>
                    <a:lstStyle/>
                    <a:p>
                      <a:r>
                        <a:rPr lang="en-US" sz="1200"/>
                        <a:t>0</a:t>
                      </a:r>
                    </a:p>
                  </a:txBody>
                  <a:tcPr/>
                </a:tc>
                <a:tc>
                  <a:txBody>
                    <a:bodyPr/>
                    <a:lstStyle/>
                    <a:p>
                      <a:r>
                        <a:rPr lang="en-US" sz="1200"/>
                        <a:t>1</a:t>
                      </a:r>
                    </a:p>
                  </a:txBody>
                  <a:tcPr/>
                </a:tc>
                <a:tc>
                  <a:txBody>
                    <a:bodyPr/>
                    <a:lstStyle/>
                    <a:p>
                      <a:r>
                        <a:rPr lang="en-US" sz="1200"/>
                        <a:t>1</a:t>
                      </a:r>
                    </a:p>
                  </a:txBody>
                  <a:tcPr/>
                </a:tc>
                <a:tc>
                  <a:txBody>
                    <a:bodyPr/>
                    <a:lstStyle/>
                    <a:p>
                      <a:r>
                        <a:rPr lang="en-US" sz="1200"/>
                        <a:t>Z</a:t>
                      </a:r>
                    </a:p>
                  </a:txBody>
                  <a:tcPr/>
                </a:tc>
                <a:tc>
                  <a:txBody>
                    <a:bodyPr/>
                    <a:lstStyle/>
                    <a:p>
                      <a:pPr algn="ctr"/>
                      <a:r>
                        <a:rPr lang="en-US" sz="1200"/>
                        <a:t>67</a:t>
                      </a:r>
                    </a:p>
                  </a:txBody>
                  <a:tcPr>
                    <a:solidFill>
                      <a:schemeClr val="accent6">
                        <a:lumMod val="60000"/>
                        <a:lumOff val="40000"/>
                      </a:schemeClr>
                    </a:solidFill>
                  </a:tcPr>
                </a:tc>
                <a:tc>
                  <a:txBody>
                    <a:bodyPr/>
                    <a:lstStyle/>
                    <a:p>
                      <a:r>
                        <a:rPr lang="en-US" sz="1200"/>
                        <a:t>BEQ – Branch Equal</a:t>
                      </a:r>
                    </a:p>
                  </a:txBody>
                  <a:tcPr>
                    <a:solidFill>
                      <a:schemeClr val="accent6">
                        <a:lumMod val="60000"/>
                        <a:lumOff val="40000"/>
                      </a:schemeClr>
                    </a:solidFill>
                  </a:tcPr>
                </a:tc>
                <a:extLst>
                  <a:ext uri="{0D108BD9-81ED-4DB2-BD59-A6C34878D82A}">
                    <a16:rowId xmlns:a16="http://schemas.microsoft.com/office/drawing/2014/main" val="1144018381"/>
                  </a:ext>
                </a:extLst>
              </a:tr>
              <a:tr h="274320">
                <a:tc>
                  <a:txBody>
                    <a:bodyPr/>
                    <a:lstStyle/>
                    <a:p>
                      <a:r>
                        <a:rPr lang="en-US" sz="1200"/>
                        <a:t>1</a:t>
                      </a:r>
                    </a:p>
                  </a:txBody>
                  <a:tcPr/>
                </a:tc>
                <a:tc>
                  <a:txBody>
                    <a:bodyPr/>
                    <a:lstStyle/>
                    <a:p>
                      <a:r>
                        <a:rPr lang="en-US" sz="1200"/>
                        <a:t>0</a:t>
                      </a:r>
                    </a:p>
                  </a:txBody>
                  <a:tcPr/>
                </a:tc>
                <a:tc>
                  <a:txBody>
                    <a:bodyPr/>
                    <a:lstStyle/>
                    <a:p>
                      <a:r>
                        <a:rPr lang="en-US" sz="1200"/>
                        <a:t>0</a:t>
                      </a:r>
                    </a:p>
                  </a:txBody>
                  <a:tcPr/>
                </a:tc>
                <a:tc>
                  <a:txBody>
                    <a:bodyPr/>
                    <a:lstStyle/>
                    <a:p>
                      <a:r>
                        <a:rPr lang="en-US" sz="1200"/>
                        <a:t>Never</a:t>
                      </a:r>
                    </a:p>
                  </a:txBody>
                  <a:tcPr/>
                </a:tc>
                <a:tc>
                  <a:txBody>
                    <a:bodyPr/>
                    <a:lstStyle/>
                    <a:p>
                      <a:pPr algn="ctr"/>
                      <a:r>
                        <a:rPr lang="en-US" sz="1200"/>
                        <a:t>87</a:t>
                      </a:r>
                    </a:p>
                  </a:txBody>
                  <a:tcPr>
                    <a:solidFill>
                      <a:schemeClr val="accent6">
                        <a:lumMod val="60000"/>
                        <a:lumOff val="40000"/>
                      </a:schemeClr>
                    </a:solidFill>
                  </a:tcPr>
                </a:tc>
                <a:tc>
                  <a:txBody>
                    <a:bodyPr/>
                    <a:lstStyle/>
                    <a:p>
                      <a:r>
                        <a:rPr lang="en-US" sz="1200"/>
                        <a:t>NOP</a:t>
                      </a:r>
                    </a:p>
                  </a:txBody>
                  <a:tcPr>
                    <a:solidFill>
                      <a:schemeClr val="accent6">
                        <a:lumMod val="60000"/>
                        <a:lumOff val="40000"/>
                      </a:schemeClr>
                    </a:solidFill>
                  </a:tcPr>
                </a:tc>
                <a:extLst>
                  <a:ext uri="{0D108BD9-81ED-4DB2-BD59-A6C34878D82A}">
                    <a16:rowId xmlns:a16="http://schemas.microsoft.com/office/drawing/2014/main" val="1247815021"/>
                  </a:ext>
                </a:extLst>
              </a:tr>
              <a:tr h="274320">
                <a:tc>
                  <a:txBody>
                    <a:bodyPr/>
                    <a:lstStyle/>
                    <a:p>
                      <a:r>
                        <a:rPr lang="en-US" sz="1200"/>
                        <a:t>1</a:t>
                      </a:r>
                    </a:p>
                  </a:txBody>
                  <a:tcPr/>
                </a:tc>
                <a:tc>
                  <a:txBody>
                    <a:bodyPr/>
                    <a:lstStyle/>
                    <a:p>
                      <a:r>
                        <a:rPr lang="en-US" sz="1200"/>
                        <a:t>0</a:t>
                      </a:r>
                    </a:p>
                  </a:txBody>
                  <a:tcPr/>
                </a:tc>
                <a:tc>
                  <a:txBody>
                    <a:bodyPr/>
                    <a:lstStyle/>
                    <a:p>
                      <a:r>
                        <a:rPr lang="en-US" sz="1200"/>
                        <a:t>1</a:t>
                      </a:r>
                    </a:p>
                  </a:txBody>
                  <a:tcPr/>
                </a:tc>
                <a:tc>
                  <a:txBody>
                    <a:bodyPr/>
                    <a:lstStyle/>
                    <a:p>
                      <a:r>
                        <a:rPr lang="en-US" sz="1200"/>
                        <a:t>!N</a:t>
                      </a:r>
                    </a:p>
                  </a:txBody>
                  <a:tcPr/>
                </a:tc>
                <a:tc>
                  <a:txBody>
                    <a:bodyPr/>
                    <a:lstStyle/>
                    <a:p>
                      <a:pPr algn="ctr"/>
                      <a:r>
                        <a:rPr lang="en-US" sz="1200"/>
                        <a:t>A7</a:t>
                      </a:r>
                    </a:p>
                  </a:txBody>
                  <a:tcPr>
                    <a:solidFill>
                      <a:schemeClr val="accent6">
                        <a:lumMod val="60000"/>
                        <a:lumOff val="40000"/>
                      </a:schemeClr>
                    </a:solidFill>
                  </a:tcPr>
                </a:tc>
                <a:tc>
                  <a:txBody>
                    <a:bodyPr/>
                    <a:lstStyle/>
                    <a:p>
                      <a:r>
                        <a:rPr lang="en-US" sz="1200"/>
                        <a:t>BPL – Branch on Plus</a:t>
                      </a:r>
                    </a:p>
                  </a:txBody>
                  <a:tcPr>
                    <a:solidFill>
                      <a:schemeClr val="accent6">
                        <a:lumMod val="60000"/>
                        <a:lumOff val="40000"/>
                      </a:schemeClr>
                    </a:solidFill>
                  </a:tcPr>
                </a:tc>
                <a:extLst>
                  <a:ext uri="{0D108BD9-81ED-4DB2-BD59-A6C34878D82A}">
                    <a16:rowId xmlns:a16="http://schemas.microsoft.com/office/drawing/2014/main" val="516787940"/>
                  </a:ext>
                </a:extLst>
              </a:tr>
              <a:tr h="274320">
                <a:tc>
                  <a:txBody>
                    <a:bodyPr/>
                    <a:lstStyle/>
                    <a:p>
                      <a:r>
                        <a:rPr lang="en-US" sz="1200"/>
                        <a:t>1</a:t>
                      </a:r>
                    </a:p>
                  </a:txBody>
                  <a:tcPr/>
                </a:tc>
                <a:tc>
                  <a:txBody>
                    <a:bodyPr/>
                    <a:lstStyle/>
                    <a:p>
                      <a:r>
                        <a:rPr lang="en-US" sz="1200"/>
                        <a:t>1</a:t>
                      </a:r>
                    </a:p>
                  </a:txBody>
                  <a:tcPr/>
                </a:tc>
                <a:tc>
                  <a:txBody>
                    <a:bodyPr/>
                    <a:lstStyle/>
                    <a:p>
                      <a:r>
                        <a:rPr lang="en-US" sz="1200"/>
                        <a:t>0</a:t>
                      </a:r>
                    </a:p>
                  </a:txBody>
                  <a:tcPr/>
                </a:tc>
                <a:tc>
                  <a:txBody>
                    <a:bodyPr/>
                    <a:lstStyle/>
                    <a:p>
                      <a:r>
                        <a:rPr lang="en-US" sz="1200"/>
                        <a:t>!C</a:t>
                      </a:r>
                    </a:p>
                  </a:txBody>
                  <a:tcPr/>
                </a:tc>
                <a:tc>
                  <a:txBody>
                    <a:bodyPr/>
                    <a:lstStyle/>
                    <a:p>
                      <a:pPr algn="ctr"/>
                      <a:r>
                        <a:rPr lang="en-US" sz="1200"/>
                        <a:t>C7</a:t>
                      </a:r>
                    </a:p>
                  </a:txBody>
                  <a:tcPr>
                    <a:solidFill>
                      <a:schemeClr val="accent6">
                        <a:lumMod val="60000"/>
                        <a:lumOff val="40000"/>
                      </a:schemeClr>
                    </a:solidFill>
                  </a:tcPr>
                </a:tc>
                <a:tc>
                  <a:txBody>
                    <a:bodyPr/>
                    <a:lstStyle/>
                    <a:p>
                      <a:r>
                        <a:rPr lang="en-US" sz="1200"/>
                        <a:t>BCC – Branch Carry Clear</a:t>
                      </a:r>
                    </a:p>
                  </a:txBody>
                  <a:tcPr>
                    <a:solidFill>
                      <a:schemeClr val="accent6">
                        <a:lumMod val="60000"/>
                        <a:lumOff val="40000"/>
                      </a:schemeClr>
                    </a:solidFill>
                  </a:tcPr>
                </a:tc>
                <a:extLst>
                  <a:ext uri="{0D108BD9-81ED-4DB2-BD59-A6C34878D82A}">
                    <a16:rowId xmlns:a16="http://schemas.microsoft.com/office/drawing/2014/main" val="3876475581"/>
                  </a:ext>
                </a:extLst>
              </a:tr>
              <a:tr h="274320">
                <a:tc>
                  <a:txBody>
                    <a:bodyPr/>
                    <a:lstStyle/>
                    <a:p>
                      <a:r>
                        <a:rPr lang="en-US" sz="1200"/>
                        <a:t>1</a:t>
                      </a:r>
                    </a:p>
                  </a:txBody>
                  <a:tcPr/>
                </a:tc>
                <a:tc>
                  <a:txBody>
                    <a:bodyPr/>
                    <a:lstStyle/>
                    <a:p>
                      <a:r>
                        <a:rPr lang="en-US" sz="1200"/>
                        <a:t>1</a:t>
                      </a:r>
                    </a:p>
                  </a:txBody>
                  <a:tcPr/>
                </a:tc>
                <a:tc>
                  <a:txBody>
                    <a:bodyPr/>
                    <a:lstStyle/>
                    <a:p>
                      <a:r>
                        <a:rPr lang="en-US" sz="1200"/>
                        <a:t>1</a:t>
                      </a:r>
                    </a:p>
                  </a:txBody>
                  <a:tcPr/>
                </a:tc>
                <a:tc>
                  <a:txBody>
                    <a:bodyPr/>
                    <a:lstStyle/>
                    <a:p>
                      <a:r>
                        <a:rPr lang="en-US" sz="1200"/>
                        <a:t>!Z</a:t>
                      </a:r>
                    </a:p>
                  </a:txBody>
                  <a:tcPr/>
                </a:tc>
                <a:tc>
                  <a:txBody>
                    <a:bodyPr/>
                    <a:lstStyle/>
                    <a:p>
                      <a:pPr algn="ctr"/>
                      <a:r>
                        <a:rPr lang="en-US" sz="1200"/>
                        <a:t>E7</a:t>
                      </a:r>
                    </a:p>
                  </a:txBody>
                  <a:tcPr>
                    <a:solidFill>
                      <a:schemeClr val="accent6">
                        <a:lumMod val="60000"/>
                        <a:lumOff val="40000"/>
                      </a:schemeClr>
                    </a:solidFill>
                  </a:tcPr>
                </a:tc>
                <a:tc>
                  <a:txBody>
                    <a:bodyPr/>
                    <a:lstStyle/>
                    <a:p>
                      <a:r>
                        <a:rPr lang="en-US" sz="1200"/>
                        <a:t>BNE</a:t>
                      </a:r>
                    </a:p>
                  </a:txBody>
                  <a:tcPr>
                    <a:solidFill>
                      <a:schemeClr val="accent6">
                        <a:lumMod val="60000"/>
                        <a:lumOff val="40000"/>
                      </a:schemeClr>
                    </a:solidFill>
                  </a:tcPr>
                </a:tc>
                <a:extLst>
                  <a:ext uri="{0D108BD9-81ED-4DB2-BD59-A6C34878D82A}">
                    <a16:rowId xmlns:a16="http://schemas.microsoft.com/office/drawing/2014/main" val="2778710779"/>
                  </a:ext>
                </a:extLst>
              </a:tr>
            </a:tbl>
          </a:graphicData>
        </a:graphic>
      </p:graphicFrame>
      <p:sp>
        <p:nvSpPr>
          <p:cNvPr id="11" name="TextBox 10">
            <a:extLst>
              <a:ext uri="{FF2B5EF4-FFF2-40B4-BE49-F238E27FC236}">
                <a16:creationId xmlns:a16="http://schemas.microsoft.com/office/drawing/2014/main" id="{F18A3303-6AE1-4192-B847-C968E4DE1C58}"/>
              </a:ext>
            </a:extLst>
          </p:cNvPr>
          <p:cNvSpPr txBox="1"/>
          <p:nvPr/>
        </p:nvSpPr>
        <p:spPr>
          <a:xfrm>
            <a:off x="11305310" y="1"/>
            <a:ext cx="931665" cy="1862048"/>
          </a:xfrm>
          <a:prstGeom prst="rect">
            <a:avLst/>
          </a:prstGeom>
          <a:noFill/>
        </p:spPr>
        <p:txBody>
          <a:bodyPr wrap="none" rtlCol="0">
            <a:spAutoFit/>
          </a:bodyPr>
          <a:lstStyle/>
          <a:p>
            <a:r>
              <a:rPr lang="en-US" sz="11500">
                <a:solidFill>
                  <a:schemeClr val="accent1">
                    <a:lumMod val="60000"/>
                    <a:lumOff val="40000"/>
                  </a:schemeClr>
                </a:solidFill>
              </a:rPr>
              <a:t>7</a:t>
            </a:r>
          </a:p>
        </p:txBody>
      </p:sp>
      <p:pic>
        <p:nvPicPr>
          <p:cNvPr id="2" name="Picture 1">
            <a:hlinkClick r:id="rId2" action="ppaction://hlinksldjump"/>
            <a:extLst>
              <a:ext uri="{FF2B5EF4-FFF2-40B4-BE49-F238E27FC236}">
                <a16:creationId xmlns:a16="http://schemas.microsoft.com/office/drawing/2014/main" id="{B096B179-9480-A74B-D8D7-A217029B6B45}"/>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818163F4-933F-B66C-DAB2-7734F7E6B639}"/>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51</a:t>
            </a:fld>
            <a:endParaRPr lang="en-US" b="1">
              <a:solidFill>
                <a:schemeClr val="bg1"/>
              </a:solidFill>
            </a:endParaRPr>
          </a:p>
        </p:txBody>
      </p:sp>
      <p:graphicFrame>
        <p:nvGraphicFramePr>
          <p:cNvPr id="14" name="Table 4">
            <a:extLst>
              <a:ext uri="{FF2B5EF4-FFF2-40B4-BE49-F238E27FC236}">
                <a16:creationId xmlns:a16="http://schemas.microsoft.com/office/drawing/2014/main" id="{6FC0D94F-6899-E739-45E1-F61FBCB5152F}"/>
              </a:ext>
            </a:extLst>
          </p:cNvPr>
          <p:cNvGraphicFramePr>
            <a:graphicFrameLocks noGrp="1"/>
          </p:cNvGraphicFramePr>
          <p:nvPr/>
        </p:nvGraphicFramePr>
        <p:xfrm>
          <a:off x="193268" y="742463"/>
          <a:ext cx="4329725" cy="444470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graphicFrame>
        <p:nvGraphicFramePr>
          <p:cNvPr id="3" name="Table 4">
            <a:extLst>
              <a:ext uri="{FF2B5EF4-FFF2-40B4-BE49-F238E27FC236}">
                <a16:creationId xmlns:a16="http://schemas.microsoft.com/office/drawing/2014/main" id="{A1FE4E9B-A000-439D-AE95-5C88C554EF29}"/>
              </a:ext>
            </a:extLst>
          </p:cNvPr>
          <p:cNvGraphicFramePr>
            <a:graphicFrameLocks noGrp="1"/>
          </p:cNvGraphicFramePr>
          <p:nvPr>
            <p:extLst>
              <p:ext uri="{D42A27DB-BD31-4B8C-83A1-F6EECF244321}">
                <p14:modId xmlns:p14="http://schemas.microsoft.com/office/powerpoint/2010/main" val="3886909805"/>
              </p:ext>
            </p:extLst>
          </p:nvPr>
        </p:nvGraphicFramePr>
        <p:xfrm>
          <a:off x="179753" y="5619913"/>
          <a:ext cx="10102488" cy="594360"/>
        </p:xfrm>
        <a:graphic>
          <a:graphicData uri="http://schemas.openxmlformats.org/drawingml/2006/table">
            <a:tbl>
              <a:tblPr firstRow="1" bandRow="1">
                <a:tableStyleId>{5C22544A-7EE6-4342-B048-85BDC9FD1C3A}</a:tableStyleId>
              </a:tblPr>
              <a:tblGrid>
                <a:gridCol w="1292359">
                  <a:extLst>
                    <a:ext uri="{9D8B030D-6E8A-4147-A177-3AD203B41FA5}">
                      <a16:colId xmlns:a16="http://schemas.microsoft.com/office/drawing/2014/main" val="1810408170"/>
                    </a:ext>
                  </a:extLst>
                </a:gridCol>
                <a:gridCol w="1256019">
                  <a:extLst>
                    <a:ext uri="{9D8B030D-6E8A-4147-A177-3AD203B41FA5}">
                      <a16:colId xmlns:a16="http://schemas.microsoft.com/office/drawing/2014/main" val="950391025"/>
                    </a:ext>
                  </a:extLst>
                </a:gridCol>
                <a:gridCol w="1142005">
                  <a:extLst>
                    <a:ext uri="{9D8B030D-6E8A-4147-A177-3AD203B41FA5}">
                      <a16:colId xmlns:a16="http://schemas.microsoft.com/office/drawing/2014/main" val="1217920130"/>
                    </a:ext>
                  </a:extLst>
                </a:gridCol>
                <a:gridCol w="1814511">
                  <a:extLst>
                    <a:ext uri="{9D8B030D-6E8A-4147-A177-3AD203B41FA5}">
                      <a16:colId xmlns:a16="http://schemas.microsoft.com/office/drawing/2014/main" val="1475888205"/>
                    </a:ext>
                  </a:extLst>
                </a:gridCol>
                <a:gridCol w="2441071">
                  <a:extLst>
                    <a:ext uri="{9D8B030D-6E8A-4147-A177-3AD203B41FA5}">
                      <a16:colId xmlns:a16="http://schemas.microsoft.com/office/drawing/2014/main" val="1355185516"/>
                    </a:ext>
                  </a:extLst>
                </a:gridCol>
                <a:gridCol w="2156523">
                  <a:extLst>
                    <a:ext uri="{9D8B030D-6E8A-4147-A177-3AD203B41FA5}">
                      <a16:colId xmlns:a16="http://schemas.microsoft.com/office/drawing/2014/main" val="3099546510"/>
                    </a:ext>
                  </a:extLst>
                </a:gridCol>
              </a:tblGrid>
              <a:tr h="29718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7 6 5 </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Branch</a:t>
                      </a:r>
                    </a:p>
                  </a:txBody>
                  <a:tcPr>
                    <a:solidFill>
                      <a:schemeClr val="accent6"/>
                    </a:solidFill>
                  </a:tcPr>
                </a:tc>
                <a:tc gridSpan="3">
                  <a:txBody>
                    <a:bodyPr/>
                    <a:lstStyle/>
                    <a:p>
                      <a:pPr algn="ctr"/>
                      <a:r>
                        <a:rPr lang="en-US" sz="1300"/>
                        <a:t>Immediate (8-bit)</a:t>
                      </a:r>
                    </a:p>
                  </a:txBody>
                  <a:tcPr/>
                </a:tc>
                <a:tc hMerge="1">
                  <a:txBody>
                    <a:bodyPr/>
                    <a:lstStyle/>
                    <a:p>
                      <a:pPr algn="ctr"/>
                      <a:endParaRPr lang="en-US"/>
                    </a:p>
                  </a:txBody>
                  <a:tcPr/>
                </a:tc>
                <a:tc hMerge="1">
                  <a:txBody>
                    <a:bodyPr/>
                    <a:lstStyle/>
                    <a:p>
                      <a:pPr algn="ctr"/>
                      <a:r>
                        <a:rPr lang="en-US"/>
                        <a:t>Immediate (8-bit)</a:t>
                      </a:r>
                    </a:p>
                  </a:txBody>
                  <a:tcPr/>
                </a:tc>
                <a:tc>
                  <a:txBody>
                    <a:bodyPr/>
                    <a:lstStyle/>
                    <a:p>
                      <a:pPr algn="ctr"/>
                      <a:r>
                        <a:rPr lang="en-US" sz="1300"/>
                        <a:t>C2 C1 C0</a:t>
                      </a:r>
                    </a:p>
                  </a:txBody>
                  <a:tcPr/>
                </a:tc>
                <a:tc>
                  <a:txBody>
                    <a:bodyPr/>
                    <a:lstStyle/>
                    <a:p>
                      <a:pPr algn="ctr"/>
                      <a:r>
                        <a:rPr lang="en-US" sz="1300"/>
                        <a:t>OpCode=07</a:t>
                      </a:r>
                    </a:p>
                  </a:txBody>
                  <a:tcPr/>
                </a:tc>
                <a:extLst>
                  <a:ext uri="{0D108BD9-81ED-4DB2-BD59-A6C34878D82A}">
                    <a16:rowId xmlns:a16="http://schemas.microsoft.com/office/drawing/2014/main" val="2570910443"/>
                  </a:ext>
                </a:extLst>
              </a:tr>
            </a:tbl>
          </a:graphicData>
        </a:graphic>
      </p:graphicFrame>
      <p:graphicFrame>
        <p:nvGraphicFramePr>
          <p:cNvPr id="4" name="Table 4">
            <a:extLst>
              <a:ext uri="{FF2B5EF4-FFF2-40B4-BE49-F238E27FC236}">
                <a16:creationId xmlns:a16="http://schemas.microsoft.com/office/drawing/2014/main" id="{8C066917-5F50-BBEB-729E-D2EBECF729A9}"/>
              </a:ext>
            </a:extLst>
          </p:cNvPr>
          <p:cNvGraphicFramePr>
            <a:graphicFrameLocks noGrp="1"/>
          </p:cNvGraphicFramePr>
          <p:nvPr>
            <p:extLst>
              <p:ext uri="{D42A27DB-BD31-4B8C-83A1-F6EECF244321}">
                <p14:modId xmlns:p14="http://schemas.microsoft.com/office/powerpoint/2010/main" val="3017972225"/>
              </p:ext>
            </p:extLst>
          </p:nvPr>
        </p:nvGraphicFramePr>
        <p:xfrm>
          <a:off x="193268" y="742463"/>
          <a:ext cx="4329725" cy="467838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17</a:t>
                      </a:r>
                    </a:p>
                  </a:txBody>
                  <a:tcPr/>
                </a:tc>
                <a:tc>
                  <a:txBody>
                    <a:bodyPr/>
                    <a:lstStyle/>
                    <a:p>
                      <a:pPr algn="l"/>
                      <a:r>
                        <a:rPr lang="en-US" sz="900"/>
                        <a:t>Load Special Register</a:t>
                      </a:r>
                    </a:p>
                  </a:txBody>
                  <a:tcPr/>
                </a:tc>
                <a:extLst>
                  <a:ext uri="{0D108BD9-81ED-4DB2-BD59-A6C34878D82A}">
                    <a16:rowId xmlns:a16="http://schemas.microsoft.com/office/drawing/2014/main" val="2759210480"/>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
        <p:nvSpPr>
          <p:cNvPr id="7" name="TextBox 6">
            <a:extLst>
              <a:ext uri="{FF2B5EF4-FFF2-40B4-BE49-F238E27FC236}">
                <a16:creationId xmlns:a16="http://schemas.microsoft.com/office/drawing/2014/main" id="{DA18E71E-17A1-33EA-68D7-D3C727E46A9A}"/>
              </a:ext>
            </a:extLst>
          </p:cNvPr>
          <p:cNvSpPr txBox="1"/>
          <p:nvPr/>
        </p:nvSpPr>
        <p:spPr>
          <a:xfrm>
            <a:off x="1915907" y="2505670"/>
            <a:ext cx="3729790" cy="923330"/>
          </a:xfrm>
          <a:prstGeom prst="rect">
            <a:avLst/>
          </a:prstGeom>
          <a:solidFill>
            <a:srgbClr val="FFC000"/>
          </a:solidFill>
        </p:spPr>
        <p:txBody>
          <a:bodyPr wrap="square" rtlCol="0">
            <a:spAutoFit/>
          </a:bodyPr>
          <a:lstStyle/>
          <a:p>
            <a:r>
              <a:rPr lang="en-US" b="1" dirty="0"/>
              <a:t>Note: </a:t>
            </a:r>
            <a:r>
              <a:rPr lang="en-US" dirty="0"/>
              <a:t>This only sets the PC Low register! As such, this instruction is </a:t>
            </a:r>
            <a:r>
              <a:rPr lang="en-US" b="1" dirty="0">
                <a:solidFill>
                  <a:srgbClr val="C00000"/>
                </a:solidFill>
              </a:rPr>
              <a:t>Deprecated</a:t>
            </a:r>
            <a:r>
              <a:rPr lang="en-US" dirty="0"/>
              <a:t>.</a:t>
            </a:r>
            <a:endParaRPr lang="en-US" b="1" dirty="0"/>
          </a:p>
        </p:txBody>
      </p:sp>
    </p:spTree>
    <p:extLst>
      <p:ext uri="{BB962C8B-B14F-4D97-AF65-F5344CB8AC3E}">
        <p14:creationId xmlns:p14="http://schemas.microsoft.com/office/powerpoint/2010/main" val="2243852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extLst>
              <p:ext uri="{D42A27DB-BD31-4B8C-83A1-F6EECF244321}">
                <p14:modId xmlns:p14="http://schemas.microsoft.com/office/powerpoint/2010/main" val="2648737842"/>
              </p:ext>
            </p:extLst>
          </p:nvPr>
        </p:nvGraphicFramePr>
        <p:xfrm>
          <a:off x="4716584" y="742463"/>
          <a:ext cx="5638802" cy="3265919"/>
        </p:xfrm>
        <a:graphic>
          <a:graphicData uri="http://schemas.openxmlformats.org/drawingml/2006/table">
            <a:tbl>
              <a:tblPr firstRow="1" bandRow="1">
                <a:tableStyleId>{5C22544A-7EE6-4342-B048-85BDC9FD1C3A}</a:tableStyleId>
              </a:tblPr>
              <a:tblGrid>
                <a:gridCol w="855787">
                  <a:extLst>
                    <a:ext uri="{9D8B030D-6E8A-4147-A177-3AD203B41FA5}">
                      <a16:colId xmlns:a16="http://schemas.microsoft.com/office/drawing/2014/main" val="1217920130"/>
                    </a:ext>
                  </a:extLst>
                </a:gridCol>
                <a:gridCol w="2294891">
                  <a:extLst>
                    <a:ext uri="{9D8B030D-6E8A-4147-A177-3AD203B41FA5}">
                      <a16:colId xmlns:a16="http://schemas.microsoft.com/office/drawing/2014/main" val="1475888205"/>
                    </a:ext>
                  </a:extLst>
                </a:gridCol>
                <a:gridCol w="2488124">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708660">
                <a:tc>
                  <a:txBody>
                    <a:bodyPr/>
                    <a:lstStyle/>
                    <a:p>
                      <a:pPr algn="ctr"/>
                      <a:r>
                        <a:rPr lang="en-US" sz="1300"/>
                        <a:t>0</a:t>
                      </a:r>
                    </a:p>
                  </a:txBody>
                  <a:tcPr/>
                </a:tc>
                <a:tc>
                  <a:txBody>
                    <a:bodyPr/>
                    <a:lstStyle/>
                    <a:p>
                      <a:pPr lvl="0" algn="l">
                        <a:buNone/>
                      </a:pPr>
                      <a:r>
                        <a:rPr lang="en-US" sz="1300"/>
                        <a:t>0000_0000 = 0x00</a:t>
                      </a:r>
                    </a:p>
                  </a:txBody>
                  <a:tcPr/>
                </a:tc>
                <a:tc>
                  <a:txBody>
                    <a:bodyPr/>
                    <a:lstStyle/>
                    <a:p>
                      <a:pPr lvl="0" algn="l">
                        <a:buNone/>
                      </a:pPr>
                      <a:r>
                        <a:rPr lang="en-US" sz="1300"/>
                        <a:t>Wait for H register to be loaded (need value of Rs1</a:t>
                      </a:r>
                      <a:r>
                        <a:rPr lang="en-US" sz="1300">
                          <a:solidFill>
                            <a:srgbClr val="FF0000"/>
                          </a:solidFill>
                        </a:rPr>
                        <a:t>)- No longer required</a:t>
                      </a:r>
                    </a:p>
                  </a:txBody>
                  <a:tcPr/>
                </a:tc>
                <a:extLst>
                  <a:ext uri="{0D108BD9-81ED-4DB2-BD59-A6C34878D82A}">
                    <a16:rowId xmlns:a16="http://schemas.microsoft.com/office/drawing/2014/main" val="3571661217"/>
                  </a:ext>
                </a:extLst>
              </a:tr>
              <a:tr h="1120140">
                <a:tc>
                  <a:txBody>
                    <a:bodyPr/>
                    <a:lstStyle/>
                    <a:p>
                      <a:pPr algn="ctr"/>
                      <a:r>
                        <a:rPr lang="en-US" sz="1300"/>
                        <a:t>1</a:t>
                      </a:r>
                    </a:p>
                  </a:txBody>
                  <a:tcPr/>
                </a:tc>
                <a:tc>
                  <a:txBody>
                    <a:bodyPr/>
                    <a:lstStyle/>
                    <a:p>
                      <a:pPr lvl="0" algn="l">
                        <a:buNone/>
                      </a:pPr>
                      <a:r>
                        <a:rPr lang="en-US" sz="1300"/>
                        <a:t>0001_0000 = 0x10</a:t>
                      </a:r>
                    </a:p>
                  </a:txBody>
                  <a:tcPr/>
                </a:tc>
                <a:tc>
                  <a:txBody>
                    <a:bodyPr/>
                    <a:lstStyle/>
                    <a:p>
                      <a:pPr lvl="0" algn="l">
                        <a:buNone/>
                      </a:pPr>
                      <a:r>
                        <a:rPr lang="en-US" sz="1300"/>
                        <a:t>Write Rs1 to the bus</a:t>
                      </a:r>
                    </a:p>
                    <a:p>
                      <a:pPr lvl="0" algn="l">
                        <a:buNone/>
                      </a:pPr>
                      <a:r>
                        <a:rPr lang="en-US" sz="1300"/>
                        <a:t>(when opcode 01000 is detected, the value on the bus is read by the OUT register to the display)</a:t>
                      </a:r>
                    </a:p>
                  </a:txBody>
                  <a:tcPr/>
                </a:tc>
                <a:extLst>
                  <a:ext uri="{0D108BD9-81ED-4DB2-BD59-A6C34878D82A}">
                    <a16:rowId xmlns:a16="http://schemas.microsoft.com/office/drawing/2014/main" val="2570910443"/>
                  </a:ext>
                </a:extLst>
              </a:tr>
              <a:tr h="370840">
                <a:tc>
                  <a:txBody>
                    <a:bodyPr/>
                    <a:lstStyle/>
                    <a:p>
                      <a:pPr algn="ctr"/>
                      <a:r>
                        <a:rPr lang="en-US" sz="1300"/>
                        <a:t>2</a:t>
                      </a:r>
                    </a:p>
                  </a:txBody>
                  <a:tcPr/>
                </a:tc>
                <a:tc>
                  <a:txBody>
                    <a:bodyPr/>
                    <a:lstStyle/>
                    <a:p>
                      <a:pPr marL="0" marR="0" lvl="0" indent="0" algn="l" rtl="0">
                        <a:lnSpc>
                          <a:spcPct val="100000"/>
                        </a:lnSpc>
                        <a:spcBef>
                          <a:spcPts val="0"/>
                        </a:spcBef>
                        <a:spcAft>
                          <a:spcPts val="0"/>
                        </a:spcAft>
                        <a:buClrTx/>
                        <a:buSzTx/>
                        <a:buFontTx/>
                        <a:buNone/>
                      </a:pPr>
                      <a:r>
                        <a:rPr lang="en-US" sz="1300"/>
                        <a:t>1000_0000 = 0x80</a:t>
                      </a:r>
                    </a:p>
                  </a:txBody>
                  <a:tcPr/>
                </a:tc>
                <a:tc>
                  <a:txBody>
                    <a:bodyPr/>
                    <a:lstStyle/>
                    <a:p>
                      <a:pPr lvl="0" algn="l">
                        <a:buNone/>
                      </a:pPr>
                      <a:r>
                        <a:rPr lang="en-US" sz="1300"/>
                        <a:t>Advance PC</a:t>
                      </a:r>
                    </a:p>
                  </a:txBody>
                  <a:tcPr/>
                </a:tc>
                <a:extLst>
                  <a:ext uri="{0D108BD9-81ED-4DB2-BD59-A6C34878D82A}">
                    <a16:rowId xmlns:a16="http://schemas.microsoft.com/office/drawing/2014/main" val="631651838"/>
                  </a:ext>
                </a:extLst>
              </a:tr>
              <a:tr h="370840">
                <a:tc>
                  <a:txBody>
                    <a:bodyPr/>
                    <a:lstStyle/>
                    <a:p>
                      <a:pPr algn="ctr"/>
                      <a:r>
                        <a:rPr lang="en-US" sz="1300"/>
                        <a:t>3</a:t>
                      </a:r>
                    </a:p>
                  </a:txBody>
                  <a:tcPr/>
                </a:tc>
                <a:tc>
                  <a:txBody>
                    <a:bodyPr/>
                    <a:lstStyle/>
                    <a:p>
                      <a:pPr marL="0" marR="0" lvl="0" indent="0" algn="l" rtl="0">
                        <a:lnSpc>
                          <a:spcPct val="100000"/>
                        </a:lnSpc>
                        <a:spcBef>
                          <a:spcPts val="0"/>
                        </a:spcBef>
                        <a:spcAft>
                          <a:spcPts val="0"/>
                        </a:spcAft>
                        <a:buClrTx/>
                        <a:buSzTx/>
                        <a:buFontTx/>
                        <a:buNone/>
                      </a:pPr>
                      <a:endParaRPr lang="en-US" sz="1300"/>
                    </a:p>
                  </a:txBody>
                  <a:tcPr/>
                </a:tc>
                <a:tc>
                  <a:txBody>
                    <a:bodyPr/>
                    <a:lstStyle/>
                    <a:p>
                      <a:pPr lvl="0" algn="l">
                        <a:buNone/>
                      </a:pPr>
                      <a:endParaRPr lang="en-US" sz="1300"/>
                    </a:p>
                  </a:txBody>
                  <a:tcPr/>
                </a:tc>
                <a:extLst>
                  <a:ext uri="{0D108BD9-81ED-4DB2-BD59-A6C34878D82A}">
                    <a16:rowId xmlns:a16="http://schemas.microsoft.com/office/drawing/2014/main" val="1592812184"/>
                  </a:ext>
                </a:extLst>
              </a:tr>
              <a:tr h="370840">
                <a:tc>
                  <a:txBody>
                    <a:bodyPr/>
                    <a:lstStyle/>
                    <a:p>
                      <a:pPr algn="ctr"/>
                      <a:r>
                        <a:rPr lang="en-US" sz="1300"/>
                        <a:t>4</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225793510"/>
                  </a:ext>
                </a:extLst>
              </a:tr>
            </a:tbl>
          </a:graphicData>
        </a:graphic>
      </p:graphicFrame>
      <p:graphicFrame>
        <p:nvGraphicFramePr>
          <p:cNvPr id="8" name="Table 4">
            <a:extLst>
              <a:ext uri="{FF2B5EF4-FFF2-40B4-BE49-F238E27FC236}">
                <a16:creationId xmlns:a16="http://schemas.microsoft.com/office/drawing/2014/main" id="{B2AD6081-617D-4B70-9D8B-1ADCBBB7A323}"/>
              </a:ext>
            </a:extLst>
          </p:cNvPr>
          <p:cNvGraphicFramePr>
            <a:graphicFrameLocks noGrp="1"/>
          </p:cNvGraphicFramePr>
          <p:nvPr/>
        </p:nvGraphicFramePr>
        <p:xfrm>
          <a:off x="179752" y="5619913"/>
          <a:ext cx="9276863" cy="741680"/>
        </p:xfrm>
        <a:graphic>
          <a:graphicData uri="http://schemas.openxmlformats.org/drawingml/2006/table">
            <a:tbl>
              <a:tblPr firstRow="1" bandRow="1">
                <a:tableStyleId>{5C22544A-7EE6-4342-B048-85BDC9FD1C3A}</a:tableStyleId>
              </a:tblPr>
              <a:tblGrid>
                <a:gridCol w="1312985">
                  <a:extLst>
                    <a:ext uri="{9D8B030D-6E8A-4147-A177-3AD203B41FA5}">
                      <a16:colId xmlns:a16="http://schemas.microsoft.com/office/drawing/2014/main" val="1810408170"/>
                    </a:ext>
                  </a:extLst>
                </a:gridCol>
                <a:gridCol w="2089399">
                  <a:extLst>
                    <a:ext uri="{9D8B030D-6E8A-4147-A177-3AD203B41FA5}">
                      <a16:colId xmlns:a16="http://schemas.microsoft.com/office/drawing/2014/main" val="1217920130"/>
                    </a:ext>
                  </a:extLst>
                </a:gridCol>
                <a:gridCol w="824031">
                  <a:extLst>
                    <a:ext uri="{9D8B030D-6E8A-4147-A177-3AD203B41FA5}">
                      <a16:colId xmlns:a16="http://schemas.microsoft.com/office/drawing/2014/main" val="1475888205"/>
                    </a:ext>
                  </a:extLst>
                </a:gridCol>
                <a:gridCol w="1262612">
                  <a:extLst>
                    <a:ext uri="{9D8B030D-6E8A-4147-A177-3AD203B41FA5}">
                      <a16:colId xmlns:a16="http://schemas.microsoft.com/office/drawing/2014/main" val="1355185516"/>
                    </a:ext>
                  </a:extLst>
                </a:gridCol>
                <a:gridCol w="1584927">
                  <a:extLst>
                    <a:ext uri="{9D8B030D-6E8A-4147-A177-3AD203B41FA5}">
                      <a16:colId xmlns:a16="http://schemas.microsoft.com/office/drawing/2014/main" val="2050007723"/>
                    </a:ext>
                  </a:extLst>
                </a:gridCol>
                <a:gridCol w="1149517">
                  <a:extLst>
                    <a:ext uri="{9D8B030D-6E8A-4147-A177-3AD203B41FA5}">
                      <a16:colId xmlns:a16="http://schemas.microsoft.com/office/drawing/2014/main" val="3099546510"/>
                    </a:ext>
                  </a:extLst>
                </a:gridCol>
                <a:gridCol w="1053392">
                  <a:extLst>
                    <a:ext uri="{9D8B030D-6E8A-4147-A177-3AD203B41FA5}">
                      <a16:colId xmlns:a16="http://schemas.microsoft.com/office/drawing/2014/main" val="1677154990"/>
                    </a:ext>
                  </a:extLst>
                </a:gridCol>
              </a:tblGrid>
              <a:tr h="370840">
                <a:tc>
                  <a:txBody>
                    <a:bodyPr/>
                    <a:lstStyle/>
                    <a:p>
                      <a:r>
                        <a:rPr lang="en-US" sz="1300"/>
                        <a:t>Type</a:t>
                      </a:r>
                    </a:p>
                  </a:txBody>
                  <a:tcPr/>
                </a:tc>
                <a:tc>
                  <a:txBody>
                    <a:bodyPr/>
                    <a:lstStyle/>
                    <a:p>
                      <a:r>
                        <a:rPr lang="en-US" sz="1300"/>
                        <a:t>15 14 13 12</a:t>
                      </a:r>
                    </a:p>
                  </a:txBody>
                  <a:tcPr/>
                </a:tc>
                <a:tc>
                  <a:txBody>
                    <a:bodyPr/>
                    <a:lstStyle/>
                    <a:p>
                      <a:r>
                        <a:rPr lang="en-US" sz="1300"/>
                        <a:t>11 10</a:t>
                      </a:r>
                    </a:p>
                  </a:txBody>
                  <a:tcPr/>
                </a:tc>
                <a:tc>
                  <a:txBody>
                    <a:bodyPr/>
                    <a:lstStyle/>
                    <a:p>
                      <a:r>
                        <a:rPr lang="en-US" sz="1300"/>
                        <a:t>9 8</a:t>
                      </a:r>
                    </a:p>
                  </a:txBody>
                  <a:tcPr/>
                </a:tc>
                <a:tc>
                  <a:txBody>
                    <a:bodyPr/>
                    <a:lstStyle/>
                    <a:p>
                      <a:r>
                        <a:rPr lang="en-US" sz="1300"/>
                        <a:t>7 6 5 4</a:t>
                      </a:r>
                    </a:p>
                  </a:txBody>
                  <a:tcPr/>
                </a:tc>
                <a:tc>
                  <a:txBody>
                    <a:bodyPr/>
                    <a:lstStyle/>
                    <a:p>
                      <a:r>
                        <a:rPr lang="en-US" sz="1300"/>
                        <a:t>3 2</a:t>
                      </a:r>
                    </a:p>
                  </a:txBody>
                  <a:tcPr/>
                </a:tc>
                <a:tc>
                  <a:txBody>
                    <a:bodyPr/>
                    <a:lstStyle/>
                    <a:p>
                      <a:r>
                        <a:rPr lang="en-US" sz="1300"/>
                        <a:t>1 0</a:t>
                      </a:r>
                    </a:p>
                  </a:txBody>
                  <a:tcPr/>
                </a:tc>
                <a:extLst>
                  <a:ext uri="{0D108BD9-81ED-4DB2-BD59-A6C34878D82A}">
                    <a16:rowId xmlns:a16="http://schemas.microsoft.com/office/drawing/2014/main" val="2319756336"/>
                  </a:ext>
                </a:extLst>
              </a:tr>
              <a:tr h="370840">
                <a:tc>
                  <a:txBody>
                    <a:bodyPr/>
                    <a:lstStyle/>
                    <a:p>
                      <a:pPr algn="ctr"/>
                      <a:r>
                        <a:rPr lang="en-US" sz="1300"/>
                        <a:t>Load Reg</a:t>
                      </a:r>
                    </a:p>
                  </a:txBody>
                  <a:tcPr/>
                </a:tc>
                <a:tc>
                  <a:txBody>
                    <a:bodyPr/>
                    <a:lstStyle/>
                    <a:p>
                      <a:pPr algn="ctr"/>
                      <a:r>
                        <a:rPr lang="en-US" sz="1300"/>
                        <a:t>OpCode</a:t>
                      </a:r>
                    </a:p>
                  </a:txBody>
                  <a:tcPr/>
                </a:tc>
                <a:tc>
                  <a:txBody>
                    <a:bodyPr/>
                    <a:lstStyle/>
                    <a:p>
                      <a:pPr algn="ctr"/>
                      <a:r>
                        <a:rPr lang="en-US" sz="1300"/>
                        <a:t>XX</a:t>
                      </a:r>
                    </a:p>
                  </a:txBody>
                  <a:tcPr/>
                </a:tc>
                <a:tc>
                  <a:txBody>
                    <a:bodyPr/>
                    <a:lstStyle/>
                    <a:p>
                      <a:pPr algn="ctr"/>
                      <a:r>
                        <a:rPr lang="en-US" sz="1300"/>
                        <a:t>Rd</a:t>
                      </a:r>
                    </a:p>
                  </a:txBody>
                  <a:tcPr/>
                </a:tc>
                <a:tc>
                  <a:txBody>
                    <a:bodyPr/>
                    <a:lstStyle/>
                    <a:p>
                      <a:pPr algn="ctr"/>
                      <a:r>
                        <a:rPr lang="en-US" sz="1300"/>
                        <a:t>XXXX</a:t>
                      </a:r>
                    </a:p>
                  </a:txBody>
                  <a:tcPr/>
                </a:tc>
                <a:tc>
                  <a:txBody>
                    <a:bodyPr/>
                    <a:lstStyle/>
                    <a:p>
                      <a:pPr algn="ctr"/>
                      <a:r>
                        <a:rPr lang="en-US" sz="1300"/>
                        <a:t>Rs1</a:t>
                      </a:r>
                    </a:p>
                  </a:txBody>
                  <a:tcPr/>
                </a:tc>
                <a:tc>
                  <a:txBody>
                    <a:bodyPr/>
                    <a:lstStyle/>
                    <a:p>
                      <a:pPr algn="ctr"/>
                      <a:r>
                        <a:rPr lang="en-US" sz="1300"/>
                        <a:t>XX</a:t>
                      </a:r>
                    </a:p>
                  </a:txBody>
                  <a:tcPr/>
                </a:tc>
                <a:extLst>
                  <a:ext uri="{0D108BD9-81ED-4DB2-BD59-A6C34878D82A}">
                    <a16:rowId xmlns:a16="http://schemas.microsoft.com/office/drawing/2014/main" val="2570910443"/>
                  </a:ext>
                </a:extLst>
              </a:tr>
            </a:tbl>
          </a:graphicData>
        </a:graphic>
      </p:graphicFrame>
      <p:sp>
        <p:nvSpPr>
          <p:cNvPr id="11" name="TextBox 10">
            <a:extLst>
              <a:ext uri="{FF2B5EF4-FFF2-40B4-BE49-F238E27FC236}">
                <a16:creationId xmlns:a16="http://schemas.microsoft.com/office/drawing/2014/main" id="{441B6E3F-C8F7-4A57-B4B7-8519519F6F28}"/>
              </a:ext>
            </a:extLst>
          </p:cNvPr>
          <p:cNvSpPr txBox="1"/>
          <p:nvPr/>
        </p:nvSpPr>
        <p:spPr>
          <a:xfrm>
            <a:off x="11305310" y="1"/>
            <a:ext cx="931665" cy="1862048"/>
          </a:xfrm>
          <a:prstGeom prst="rect">
            <a:avLst/>
          </a:prstGeom>
          <a:noFill/>
        </p:spPr>
        <p:txBody>
          <a:bodyPr wrap="none" rtlCol="0">
            <a:spAutoFit/>
          </a:bodyPr>
          <a:lstStyle/>
          <a:p>
            <a:r>
              <a:rPr lang="en-US" sz="11500">
                <a:solidFill>
                  <a:schemeClr val="accent1">
                    <a:lumMod val="60000"/>
                    <a:lumOff val="40000"/>
                  </a:schemeClr>
                </a:solidFill>
              </a:rPr>
              <a:t>8</a:t>
            </a:r>
          </a:p>
        </p:txBody>
      </p:sp>
      <p:sp>
        <p:nvSpPr>
          <p:cNvPr id="12" name="TextBox 11">
            <a:extLst>
              <a:ext uri="{FF2B5EF4-FFF2-40B4-BE49-F238E27FC236}">
                <a16:creationId xmlns:a16="http://schemas.microsoft.com/office/drawing/2014/main" id="{320CF342-B9FD-D13A-D350-C97D9065E710}"/>
              </a:ext>
            </a:extLst>
          </p:cNvPr>
          <p:cNvSpPr txBox="1"/>
          <p:nvPr/>
        </p:nvSpPr>
        <p:spPr>
          <a:xfrm>
            <a:off x="6607522" y="4872501"/>
            <a:ext cx="2353529" cy="523220"/>
          </a:xfrm>
          <a:prstGeom prst="rect">
            <a:avLst/>
          </a:prstGeom>
          <a:noFill/>
        </p:spPr>
        <p:txBody>
          <a:bodyPr wrap="none" rtlCol="0">
            <a:spAutoFit/>
          </a:bodyPr>
          <a:lstStyle/>
          <a:p>
            <a:r>
              <a:rPr lang="en-US" sz="2800">
                <a:solidFill>
                  <a:srgbClr val="00B050"/>
                </a:solidFill>
                <a:latin typeface="Consolas" panose="020B0609020204030204" pitchFamily="49" charset="0"/>
              </a:rPr>
              <a:t> OUT Rs1, A</a:t>
            </a:r>
          </a:p>
        </p:txBody>
      </p:sp>
      <p:pic>
        <p:nvPicPr>
          <p:cNvPr id="2" name="Picture 1">
            <a:hlinkClick r:id="rId2" action="ppaction://hlinksldjump"/>
            <a:extLst>
              <a:ext uri="{FF2B5EF4-FFF2-40B4-BE49-F238E27FC236}">
                <a16:creationId xmlns:a16="http://schemas.microsoft.com/office/drawing/2014/main" id="{8BBE2746-6F4E-10FD-08A6-7A8C535AE120}"/>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7" name="Slide Number Placeholder 4">
            <a:extLst>
              <a:ext uri="{FF2B5EF4-FFF2-40B4-BE49-F238E27FC236}">
                <a16:creationId xmlns:a16="http://schemas.microsoft.com/office/drawing/2014/main" id="{E2583D14-19AE-E1A6-BDB6-D2F6EE432F7B}"/>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52</a:t>
            </a:fld>
            <a:endParaRPr lang="en-US" b="1">
              <a:solidFill>
                <a:schemeClr val="bg1"/>
              </a:solidFill>
            </a:endParaRPr>
          </a:p>
        </p:txBody>
      </p:sp>
      <p:sp>
        <p:nvSpPr>
          <p:cNvPr id="13" name="Title 12">
            <a:extLst>
              <a:ext uri="{FF2B5EF4-FFF2-40B4-BE49-F238E27FC236}">
                <a16:creationId xmlns:a16="http://schemas.microsoft.com/office/drawing/2014/main" id="{95649886-AC7F-5307-2CF8-BEA7A20B0F43}"/>
              </a:ext>
            </a:extLst>
          </p:cNvPr>
          <p:cNvSpPr>
            <a:spLocks noGrp="1"/>
          </p:cNvSpPr>
          <p:nvPr>
            <p:ph type="ctrTitle"/>
          </p:nvPr>
        </p:nvSpPr>
        <p:spPr>
          <a:xfrm>
            <a:off x="914400" y="182880"/>
            <a:ext cx="9144000" cy="457200"/>
          </a:xfrm>
        </p:spPr>
        <p:txBody>
          <a:bodyPr/>
          <a:lstStyle/>
          <a:p>
            <a:r>
              <a:rPr lang="en-US"/>
              <a:t>Micro-Instructions Control: OUT (01000) (Display ASCII or Integer)</a:t>
            </a:r>
          </a:p>
        </p:txBody>
      </p:sp>
      <p:graphicFrame>
        <p:nvGraphicFramePr>
          <p:cNvPr id="14" name="Table 4">
            <a:extLst>
              <a:ext uri="{FF2B5EF4-FFF2-40B4-BE49-F238E27FC236}">
                <a16:creationId xmlns:a16="http://schemas.microsoft.com/office/drawing/2014/main" id="{1F7CE152-D38B-2D39-98C9-222C91EAE52A}"/>
              </a:ext>
            </a:extLst>
          </p:cNvPr>
          <p:cNvGraphicFramePr>
            <a:graphicFrameLocks noGrp="1"/>
          </p:cNvGraphicFramePr>
          <p:nvPr/>
        </p:nvGraphicFramePr>
        <p:xfrm>
          <a:off x="193268" y="742463"/>
          <a:ext cx="4329725" cy="444470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graphicFrame>
        <p:nvGraphicFramePr>
          <p:cNvPr id="3" name="Table 4">
            <a:extLst>
              <a:ext uri="{FF2B5EF4-FFF2-40B4-BE49-F238E27FC236}">
                <a16:creationId xmlns:a16="http://schemas.microsoft.com/office/drawing/2014/main" id="{C20BE46A-FB5E-C92D-D259-53E80F8F010C}"/>
              </a:ext>
            </a:extLst>
          </p:cNvPr>
          <p:cNvGraphicFramePr>
            <a:graphicFrameLocks noGrp="1"/>
          </p:cNvGraphicFramePr>
          <p:nvPr>
            <p:extLst>
              <p:ext uri="{D42A27DB-BD31-4B8C-83A1-F6EECF244321}">
                <p14:modId xmlns:p14="http://schemas.microsoft.com/office/powerpoint/2010/main" val="430126331"/>
              </p:ext>
            </p:extLst>
          </p:nvPr>
        </p:nvGraphicFramePr>
        <p:xfrm>
          <a:off x="193267" y="5619913"/>
          <a:ext cx="9946100" cy="668020"/>
        </p:xfrm>
        <a:graphic>
          <a:graphicData uri="http://schemas.openxmlformats.org/drawingml/2006/table">
            <a:tbl>
              <a:tblPr firstRow="1" bandRow="1">
                <a:tableStyleId>{5C22544A-7EE6-4342-B048-85BDC9FD1C3A}</a:tableStyleId>
              </a:tblPr>
              <a:tblGrid>
                <a:gridCol w="1158847">
                  <a:extLst>
                    <a:ext uri="{9D8B030D-6E8A-4147-A177-3AD203B41FA5}">
                      <a16:colId xmlns:a16="http://schemas.microsoft.com/office/drawing/2014/main" val="1810408170"/>
                    </a:ext>
                  </a:extLst>
                </a:gridCol>
                <a:gridCol w="869513">
                  <a:extLst>
                    <a:ext uri="{9D8B030D-6E8A-4147-A177-3AD203B41FA5}">
                      <a16:colId xmlns:a16="http://schemas.microsoft.com/office/drawing/2014/main" val="950391025"/>
                    </a:ext>
                  </a:extLst>
                </a:gridCol>
                <a:gridCol w="1140951">
                  <a:extLst>
                    <a:ext uri="{9D8B030D-6E8A-4147-A177-3AD203B41FA5}">
                      <a16:colId xmlns:a16="http://schemas.microsoft.com/office/drawing/2014/main" val="1217920130"/>
                    </a:ext>
                  </a:extLst>
                </a:gridCol>
                <a:gridCol w="2806643">
                  <a:extLst>
                    <a:ext uri="{9D8B030D-6E8A-4147-A177-3AD203B41FA5}">
                      <a16:colId xmlns:a16="http://schemas.microsoft.com/office/drawing/2014/main" val="1475888205"/>
                    </a:ext>
                  </a:extLst>
                </a:gridCol>
                <a:gridCol w="827495">
                  <a:extLst>
                    <a:ext uri="{9D8B030D-6E8A-4147-A177-3AD203B41FA5}">
                      <a16:colId xmlns:a16="http://schemas.microsoft.com/office/drawing/2014/main" val="1355185516"/>
                    </a:ext>
                  </a:extLst>
                </a:gridCol>
                <a:gridCol w="1237651">
                  <a:extLst>
                    <a:ext uri="{9D8B030D-6E8A-4147-A177-3AD203B41FA5}">
                      <a16:colId xmlns:a16="http://schemas.microsoft.com/office/drawing/2014/main" val="2050007723"/>
                    </a:ext>
                  </a:extLst>
                </a:gridCol>
                <a:gridCol w="1905000">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 </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Out</a:t>
                      </a:r>
                    </a:p>
                  </a:txBody>
                  <a:tcPr>
                    <a:solidFill>
                      <a:schemeClr val="accent6"/>
                    </a:solidFill>
                  </a:tcPr>
                </a:tc>
                <a:tc>
                  <a:txBody>
                    <a:bodyPr/>
                    <a:lstStyle/>
                    <a:p>
                      <a:pPr algn="ctr"/>
                      <a:r>
                        <a:rPr lang="en-US" sz="1300"/>
                        <a:t>XX</a:t>
                      </a:r>
                    </a:p>
                  </a:txBody>
                  <a:tcPr/>
                </a:tc>
                <a:tc>
                  <a:txBody>
                    <a:bodyPr/>
                    <a:lstStyle/>
                    <a:p>
                      <a:pPr algn="ctr"/>
                      <a:r>
                        <a:rPr lang="en-US" sz="1300"/>
                        <a:t>Rs1</a:t>
                      </a:r>
                    </a:p>
                  </a:txBody>
                  <a:tcPr/>
                </a:tc>
                <a:tc>
                  <a:txBody>
                    <a:bodyPr/>
                    <a:lstStyle/>
                    <a:p>
                      <a:pPr algn="ctr"/>
                      <a:r>
                        <a:rPr lang="en-US" sz="1300"/>
                        <a:t>XXXX</a:t>
                      </a:r>
                    </a:p>
                  </a:txBody>
                  <a:tcPr/>
                </a:tc>
                <a:tc>
                  <a:txBody>
                    <a:bodyPr/>
                    <a:lstStyle/>
                    <a:p>
                      <a:pPr algn="ctr"/>
                      <a:r>
                        <a:rPr lang="en-US" sz="1300"/>
                        <a:t>XX</a:t>
                      </a:r>
                    </a:p>
                  </a:txBody>
                  <a:tcPr/>
                </a:tc>
                <a:tc>
                  <a:txBody>
                    <a:bodyPr/>
                    <a:lstStyle/>
                    <a:p>
                      <a:pPr algn="ctr"/>
                      <a:r>
                        <a:rPr lang="en-US" sz="1300"/>
                        <a:t>I=1; A=0</a:t>
                      </a:r>
                    </a:p>
                  </a:txBody>
                  <a:tcPr/>
                </a:tc>
                <a:tc>
                  <a:txBody>
                    <a:bodyPr/>
                    <a:lstStyle/>
                    <a:p>
                      <a:pPr algn="ctr"/>
                      <a:r>
                        <a:rPr lang="en-US" sz="1300"/>
                        <a:t>OpCode=08</a:t>
                      </a:r>
                    </a:p>
                  </a:txBody>
                  <a:tcPr/>
                </a:tc>
                <a:extLst>
                  <a:ext uri="{0D108BD9-81ED-4DB2-BD59-A6C34878D82A}">
                    <a16:rowId xmlns:a16="http://schemas.microsoft.com/office/drawing/2014/main" val="2570910443"/>
                  </a:ext>
                </a:extLst>
              </a:tr>
            </a:tbl>
          </a:graphicData>
        </a:graphic>
      </p:graphicFrame>
      <p:graphicFrame>
        <p:nvGraphicFramePr>
          <p:cNvPr id="4" name="Table 4">
            <a:extLst>
              <a:ext uri="{FF2B5EF4-FFF2-40B4-BE49-F238E27FC236}">
                <a16:creationId xmlns:a16="http://schemas.microsoft.com/office/drawing/2014/main" id="{9DBEF365-88BE-8965-F88B-99123BC59D0A}"/>
              </a:ext>
            </a:extLst>
          </p:cNvPr>
          <p:cNvGraphicFramePr>
            <a:graphicFrameLocks noGrp="1"/>
          </p:cNvGraphicFramePr>
          <p:nvPr>
            <p:extLst>
              <p:ext uri="{D42A27DB-BD31-4B8C-83A1-F6EECF244321}">
                <p14:modId xmlns:p14="http://schemas.microsoft.com/office/powerpoint/2010/main" val="3017972225"/>
              </p:ext>
            </p:extLst>
          </p:nvPr>
        </p:nvGraphicFramePr>
        <p:xfrm>
          <a:off x="193268" y="742463"/>
          <a:ext cx="4329725" cy="467838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17</a:t>
                      </a:r>
                    </a:p>
                  </a:txBody>
                  <a:tcPr/>
                </a:tc>
                <a:tc>
                  <a:txBody>
                    <a:bodyPr/>
                    <a:lstStyle/>
                    <a:p>
                      <a:pPr algn="l"/>
                      <a:r>
                        <a:rPr lang="en-US" sz="900"/>
                        <a:t>Load Special Register</a:t>
                      </a:r>
                    </a:p>
                  </a:txBody>
                  <a:tcPr/>
                </a:tc>
                <a:extLst>
                  <a:ext uri="{0D108BD9-81ED-4DB2-BD59-A6C34878D82A}">
                    <a16:rowId xmlns:a16="http://schemas.microsoft.com/office/drawing/2014/main" val="2759210480"/>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2314610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DE616-A089-E80F-75DC-952F61010684}"/>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D3C2325C-6D30-E48C-DADC-667AED3425C0}"/>
              </a:ext>
            </a:extLst>
          </p:cNvPr>
          <p:cNvGraphicFramePr>
            <a:graphicFrameLocks noGrp="1"/>
          </p:cNvGraphicFramePr>
          <p:nvPr/>
        </p:nvGraphicFramePr>
        <p:xfrm>
          <a:off x="4716584" y="742463"/>
          <a:ext cx="5638802" cy="2442959"/>
        </p:xfrm>
        <a:graphic>
          <a:graphicData uri="http://schemas.openxmlformats.org/drawingml/2006/table">
            <a:tbl>
              <a:tblPr firstRow="1" bandRow="1">
                <a:tableStyleId>{5C22544A-7EE6-4342-B048-85BDC9FD1C3A}</a:tableStyleId>
              </a:tblPr>
              <a:tblGrid>
                <a:gridCol w="855787">
                  <a:extLst>
                    <a:ext uri="{9D8B030D-6E8A-4147-A177-3AD203B41FA5}">
                      <a16:colId xmlns:a16="http://schemas.microsoft.com/office/drawing/2014/main" val="1217920130"/>
                    </a:ext>
                  </a:extLst>
                </a:gridCol>
                <a:gridCol w="2294891">
                  <a:extLst>
                    <a:ext uri="{9D8B030D-6E8A-4147-A177-3AD203B41FA5}">
                      <a16:colId xmlns:a16="http://schemas.microsoft.com/office/drawing/2014/main" val="1475888205"/>
                    </a:ext>
                  </a:extLst>
                </a:gridCol>
                <a:gridCol w="2488124">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502920">
                <a:tc>
                  <a:txBody>
                    <a:bodyPr/>
                    <a:lstStyle/>
                    <a:p>
                      <a:pPr algn="ctr"/>
                      <a:r>
                        <a:rPr lang="en-US" sz="1300"/>
                        <a:t>0</a:t>
                      </a:r>
                    </a:p>
                  </a:txBody>
                  <a:tcPr/>
                </a:tc>
                <a:tc>
                  <a:txBody>
                    <a:bodyPr/>
                    <a:lstStyle/>
                    <a:p>
                      <a:pPr lvl="0" algn="l">
                        <a:buNone/>
                      </a:pPr>
                      <a:r>
                        <a:rPr lang="en-US" sz="1300"/>
                        <a:t>0000_0000 = 0x00</a:t>
                      </a:r>
                    </a:p>
                  </a:txBody>
                  <a:tcPr/>
                </a:tc>
                <a:tc>
                  <a:txBody>
                    <a:bodyPr/>
                    <a:lstStyle/>
                    <a:p>
                      <a:pPr lvl="0" algn="l">
                        <a:buNone/>
                      </a:pPr>
                      <a:r>
                        <a:rPr lang="en-US" sz="1300"/>
                        <a:t>Wait for H instruction register to be loaded</a:t>
                      </a:r>
                    </a:p>
                  </a:txBody>
                  <a:tcPr/>
                </a:tc>
                <a:extLst>
                  <a:ext uri="{0D108BD9-81ED-4DB2-BD59-A6C34878D82A}">
                    <a16:rowId xmlns:a16="http://schemas.microsoft.com/office/drawing/2014/main" val="728758943"/>
                  </a:ext>
                </a:extLst>
              </a:tr>
              <a:tr h="502920">
                <a:tc>
                  <a:txBody>
                    <a:bodyPr/>
                    <a:lstStyle/>
                    <a:p>
                      <a:pPr algn="ctr"/>
                      <a:r>
                        <a:rPr lang="en-US" sz="1300"/>
                        <a:t>1</a:t>
                      </a:r>
                    </a:p>
                  </a:txBody>
                  <a:tcPr/>
                </a:tc>
                <a:tc>
                  <a:txBody>
                    <a:bodyPr/>
                    <a:lstStyle/>
                    <a:p>
                      <a:pPr lvl="0" algn="l">
                        <a:buNone/>
                      </a:pPr>
                      <a:r>
                        <a:rPr lang="en-US" sz="1300"/>
                        <a:t>0100_0000 = 0x40</a:t>
                      </a:r>
                    </a:p>
                  </a:txBody>
                  <a:tcPr/>
                </a:tc>
                <a:tc>
                  <a:txBody>
                    <a:bodyPr/>
                    <a:lstStyle/>
                    <a:p>
                      <a:pPr lvl="0" algn="l">
                        <a:buNone/>
                      </a:pPr>
                      <a:r>
                        <a:rPr lang="en-US" sz="1300"/>
                        <a:t>Write program register H to the bus</a:t>
                      </a:r>
                    </a:p>
                  </a:txBody>
                  <a:tcPr/>
                </a:tc>
                <a:extLst>
                  <a:ext uri="{0D108BD9-81ED-4DB2-BD59-A6C34878D82A}">
                    <a16:rowId xmlns:a16="http://schemas.microsoft.com/office/drawing/2014/main" val="2570910443"/>
                  </a:ext>
                </a:extLst>
              </a:tr>
              <a:tr h="370840">
                <a:tc>
                  <a:txBody>
                    <a:bodyPr/>
                    <a:lstStyle/>
                    <a:p>
                      <a:pPr algn="ctr"/>
                      <a:r>
                        <a:rPr lang="en-US" sz="1300"/>
                        <a:t>2</a:t>
                      </a:r>
                    </a:p>
                  </a:txBody>
                  <a:tcPr/>
                </a:tc>
                <a:tc>
                  <a:txBody>
                    <a:bodyPr/>
                    <a:lstStyle/>
                    <a:p>
                      <a:pPr marL="0" marR="0" lvl="0" indent="0" algn="l" rtl="0">
                        <a:lnSpc>
                          <a:spcPct val="100000"/>
                        </a:lnSpc>
                        <a:spcBef>
                          <a:spcPts val="0"/>
                        </a:spcBef>
                        <a:spcAft>
                          <a:spcPts val="0"/>
                        </a:spcAft>
                        <a:buClrTx/>
                        <a:buSzTx/>
                        <a:buFontTx/>
                        <a:buNone/>
                      </a:pPr>
                      <a:r>
                        <a:rPr lang="en-US" sz="1300"/>
                        <a:t>1000_0000 = 0x80</a:t>
                      </a:r>
                    </a:p>
                  </a:txBody>
                  <a:tcPr/>
                </a:tc>
                <a:tc>
                  <a:txBody>
                    <a:bodyPr/>
                    <a:lstStyle/>
                    <a:p>
                      <a:pPr lvl="0" algn="l">
                        <a:buNone/>
                      </a:pPr>
                      <a:r>
                        <a:rPr lang="en-US" sz="1300"/>
                        <a:t>Advance PC</a:t>
                      </a:r>
                    </a:p>
                  </a:txBody>
                  <a:tcPr/>
                </a:tc>
                <a:extLst>
                  <a:ext uri="{0D108BD9-81ED-4DB2-BD59-A6C34878D82A}">
                    <a16:rowId xmlns:a16="http://schemas.microsoft.com/office/drawing/2014/main" val="631651838"/>
                  </a:ext>
                </a:extLst>
              </a:tr>
              <a:tr h="370840">
                <a:tc>
                  <a:txBody>
                    <a:bodyPr/>
                    <a:lstStyle/>
                    <a:p>
                      <a:pPr algn="ctr"/>
                      <a:r>
                        <a:rPr lang="en-US" sz="1300"/>
                        <a:t>3</a:t>
                      </a:r>
                    </a:p>
                  </a:txBody>
                  <a:tcPr/>
                </a:tc>
                <a:tc>
                  <a:txBody>
                    <a:bodyPr/>
                    <a:lstStyle/>
                    <a:p>
                      <a:pPr marL="0" marR="0" lvl="0" indent="0" algn="l" rtl="0">
                        <a:lnSpc>
                          <a:spcPct val="100000"/>
                        </a:lnSpc>
                        <a:spcBef>
                          <a:spcPts val="0"/>
                        </a:spcBef>
                        <a:spcAft>
                          <a:spcPts val="0"/>
                        </a:spcAft>
                        <a:buClrTx/>
                        <a:buSzTx/>
                        <a:buFontTx/>
                        <a:buNone/>
                      </a:pPr>
                      <a:endParaRPr lang="en-US" sz="1300"/>
                    </a:p>
                  </a:txBody>
                  <a:tcPr/>
                </a:tc>
                <a:tc>
                  <a:txBody>
                    <a:bodyPr/>
                    <a:lstStyle/>
                    <a:p>
                      <a:pPr lvl="0" algn="l">
                        <a:buNone/>
                      </a:pPr>
                      <a:endParaRPr lang="en-US" sz="1300"/>
                    </a:p>
                  </a:txBody>
                  <a:tcPr/>
                </a:tc>
                <a:extLst>
                  <a:ext uri="{0D108BD9-81ED-4DB2-BD59-A6C34878D82A}">
                    <a16:rowId xmlns:a16="http://schemas.microsoft.com/office/drawing/2014/main" val="1592812184"/>
                  </a:ext>
                </a:extLst>
              </a:tr>
              <a:tr h="370840">
                <a:tc>
                  <a:txBody>
                    <a:bodyPr/>
                    <a:lstStyle/>
                    <a:p>
                      <a:pPr algn="ctr"/>
                      <a:r>
                        <a:rPr lang="en-US" sz="1300"/>
                        <a:t>4</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225793510"/>
                  </a:ext>
                </a:extLst>
              </a:tr>
            </a:tbl>
          </a:graphicData>
        </a:graphic>
      </p:graphicFrame>
      <p:graphicFrame>
        <p:nvGraphicFramePr>
          <p:cNvPr id="8" name="Table 4">
            <a:extLst>
              <a:ext uri="{FF2B5EF4-FFF2-40B4-BE49-F238E27FC236}">
                <a16:creationId xmlns:a16="http://schemas.microsoft.com/office/drawing/2014/main" id="{AC6C7FCB-D776-E77E-4D17-6697BB9BAA9A}"/>
              </a:ext>
            </a:extLst>
          </p:cNvPr>
          <p:cNvGraphicFramePr>
            <a:graphicFrameLocks noGrp="1"/>
          </p:cNvGraphicFramePr>
          <p:nvPr/>
        </p:nvGraphicFramePr>
        <p:xfrm>
          <a:off x="179752" y="5619913"/>
          <a:ext cx="9276863" cy="741680"/>
        </p:xfrm>
        <a:graphic>
          <a:graphicData uri="http://schemas.openxmlformats.org/drawingml/2006/table">
            <a:tbl>
              <a:tblPr firstRow="1" bandRow="1">
                <a:tableStyleId>{5C22544A-7EE6-4342-B048-85BDC9FD1C3A}</a:tableStyleId>
              </a:tblPr>
              <a:tblGrid>
                <a:gridCol w="1312985">
                  <a:extLst>
                    <a:ext uri="{9D8B030D-6E8A-4147-A177-3AD203B41FA5}">
                      <a16:colId xmlns:a16="http://schemas.microsoft.com/office/drawing/2014/main" val="1810408170"/>
                    </a:ext>
                  </a:extLst>
                </a:gridCol>
                <a:gridCol w="2089399">
                  <a:extLst>
                    <a:ext uri="{9D8B030D-6E8A-4147-A177-3AD203B41FA5}">
                      <a16:colId xmlns:a16="http://schemas.microsoft.com/office/drawing/2014/main" val="1217920130"/>
                    </a:ext>
                  </a:extLst>
                </a:gridCol>
                <a:gridCol w="824031">
                  <a:extLst>
                    <a:ext uri="{9D8B030D-6E8A-4147-A177-3AD203B41FA5}">
                      <a16:colId xmlns:a16="http://schemas.microsoft.com/office/drawing/2014/main" val="1475888205"/>
                    </a:ext>
                  </a:extLst>
                </a:gridCol>
                <a:gridCol w="1262612">
                  <a:extLst>
                    <a:ext uri="{9D8B030D-6E8A-4147-A177-3AD203B41FA5}">
                      <a16:colId xmlns:a16="http://schemas.microsoft.com/office/drawing/2014/main" val="1355185516"/>
                    </a:ext>
                  </a:extLst>
                </a:gridCol>
                <a:gridCol w="1584927">
                  <a:extLst>
                    <a:ext uri="{9D8B030D-6E8A-4147-A177-3AD203B41FA5}">
                      <a16:colId xmlns:a16="http://schemas.microsoft.com/office/drawing/2014/main" val="2050007723"/>
                    </a:ext>
                  </a:extLst>
                </a:gridCol>
                <a:gridCol w="1149517">
                  <a:extLst>
                    <a:ext uri="{9D8B030D-6E8A-4147-A177-3AD203B41FA5}">
                      <a16:colId xmlns:a16="http://schemas.microsoft.com/office/drawing/2014/main" val="3099546510"/>
                    </a:ext>
                  </a:extLst>
                </a:gridCol>
                <a:gridCol w="1053392">
                  <a:extLst>
                    <a:ext uri="{9D8B030D-6E8A-4147-A177-3AD203B41FA5}">
                      <a16:colId xmlns:a16="http://schemas.microsoft.com/office/drawing/2014/main" val="1677154990"/>
                    </a:ext>
                  </a:extLst>
                </a:gridCol>
              </a:tblGrid>
              <a:tr h="370840">
                <a:tc>
                  <a:txBody>
                    <a:bodyPr/>
                    <a:lstStyle/>
                    <a:p>
                      <a:r>
                        <a:rPr lang="en-US" sz="1300"/>
                        <a:t>Type</a:t>
                      </a:r>
                    </a:p>
                  </a:txBody>
                  <a:tcPr/>
                </a:tc>
                <a:tc>
                  <a:txBody>
                    <a:bodyPr/>
                    <a:lstStyle/>
                    <a:p>
                      <a:r>
                        <a:rPr lang="en-US" sz="1300"/>
                        <a:t>15 14 13 12</a:t>
                      </a:r>
                    </a:p>
                  </a:txBody>
                  <a:tcPr/>
                </a:tc>
                <a:tc>
                  <a:txBody>
                    <a:bodyPr/>
                    <a:lstStyle/>
                    <a:p>
                      <a:r>
                        <a:rPr lang="en-US" sz="1300"/>
                        <a:t>11 10</a:t>
                      </a:r>
                    </a:p>
                  </a:txBody>
                  <a:tcPr/>
                </a:tc>
                <a:tc>
                  <a:txBody>
                    <a:bodyPr/>
                    <a:lstStyle/>
                    <a:p>
                      <a:r>
                        <a:rPr lang="en-US" sz="1300"/>
                        <a:t>9 8</a:t>
                      </a:r>
                    </a:p>
                  </a:txBody>
                  <a:tcPr/>
                </a:tc>
                <a:tc>
                  <a:txBody>
                    <a:bodyPr/>
                    <a:lstStyle/>
                    <a:p>
                      <a:r>
                        <a:rPr lang="en-US" sz="1300"/>
                        <a:t>7 6 5 4</a:t>
                      </a:r>
                    </a:p>
                  </a:txBody>
                  <a:tcPr/>
                </a:tc>
                <a:tc>
                  <a:txBody>
                    <a:bodyPr/>
                    <a:lstStyle/>
                    <a:p>
                      <a:r>
                        <a:rPr lang="en-US" sz="1300"/>
                        <a:t>3 2</a:t>
                      </a:r>
                    </a:p>
                  </a:txBody>
                  <a:tcPr/>
                </a:tc>
                <a:tc>
                  <a:txBody>
                    <a:bodyPr/>
                    <a:lstStyle/>
                    <a:p>
                      <a:r>
                        <a:rPr lang="en-US" sz="1300"/>
                        <a:t>1 0</a:t>
                      </a:r>
                    </a:p>
                  </a:txBody>
                  <a:tcPr/>
                </a:tc>
                <a:extLst>
                  <a:ext uri="{0D108BD9-81ED-4DB2-BD59-A6C34878D82A}">
                    <a16:rowId xmlns:a16="http://schemas.microsoft.com/office/drawing/2014/main" val="2319756336"/>
                  </a:ext>
                </a:extLst>
              </a:tr>
              <a:tr h="370840">
                <a:tc>
                  <a:txBody>
                    <a:bodyPr/>
                    <a:lstStyle/>
                    <a:p>
                      <a:pPr algn="ctr"/>
                      <a:r>
                        <a:rPr lang="en-US" sz="1300"/>
                        <a:t>Load Reg</a:t>
                      </a:r>
                    </a:p>
                  </a:txBody>
                  <a:tcPr/>
                </a:tc>
                <a:tc>
                  <a:txBody>
                    <a:bodyPr/>
                    <a:lstStyle/>
                    <a:p>
                      <a:pPr algn="ctr"/>
                      <a:r>
                        <a:rPr lang="en-US" sz="1300"/>
                        <a:t>OpCode</a:t>
                      </a:r>
                    </a:p>
                  </a:txBody>
                  <a:tcPr/>
                </a:tc>
                <a:tc>
                  <a:txBody>
                    <a:bodyPr/>
                    <a:lstStyle/>
                    <a:p>
                      <a:pPr algn="ctr"/>
                      <a:r>
                        <a:rPr lang="en-US" sz="1300"/>
                        <a:t>XX</a:t>
                      </a:r>
                    </a:p>
                  </a:txBody>
                  <a:tcPr/>
                </a:tc>
                <a:tc>
                  <a:txBody>
                    <a:bodyPr/>
                    <a:lstStyle/>
                    <a:p>
                      <a:pPr algn="ctr"/>
                      <a:r>
                        <a:rPr lang="en-US" sz="1300"/>
                        <a:t>Rd</a:t>
                      </a:r>
                    </a:p>
                  </a:txBody>
                  <a:tcPr/>
                </a:tc>
                <a:tc>
                  <a:txBody>
                    <a:bodyPr/>
                    <a:lstStyle/>
                    <a:p>
                      <a:pPr algn="ctr"/>
                      <a:r>
                        <a:rPr lang="en-US" sz="1300"/>
                        <a:t>XXXX</a:t>
                      </a:r>
                    </a:p>
                  </a:txBody>
                  <a:tcPr/>
                </a:tc>
                <a:tc>
                  <a:txBody>
                    <a:bodyPr/>
                    <a:lstStyle/>
                    <a:p>
                      <a:pPr algn="ctr"/>
                      <a:r>
                        <a:rPr lang="en-US" sz="1300"/>
                        <a:t>Rs1</a:t>
                      </a:r>
                    </a:p>
                  </a:txBody>
                  <a:tcPr/>
                </a:tc>
                <a:tc>
                  <a:txBody>
                    <a:bodyPr/>
                    <a:lstStyle/>
                    <a:p>
                      <a:pPr algn="ctr"/>
                      <a:r>
                        <a:rPr lang="en-US" sz="1300"/>
                        <a:t>XX</a:t>
                      </a:r>
                    </a:p>
                  </a:txBody>
                  <a:tcPr/>
                </a:tc>
                <a:extLst>
                  <a:ext uri="{0D108BD9-81ED-4DB2-BD59-A6C34878D82A}">
                    <a16:rowId xmlns:a16="http://schemas.microsoft.com/office/drawing/2014/main" val="2570910443"/>
                  </a:ext>
                </a:extLst>
              </a:tr>
            </a:tbl>
          </a:graphicData>
        </a:graphic>
      </p:graphicFrame>
      <p:sp>
        <p:nvSpPr>
          <p:cNvPr id="11" name="TextBox 10">
            <a:extLst>
              <a:ext uri="{FF2B5EF4-FFF2-40B4-BE49-F238E27FC236}">
                <a16:creationId xmlns:a16="http://schemas.microsoft.com/office/drawing/2014/main" id="{3403FE44-8F91-00D1-3015-D64551B8B99E}"/>
              </a:ext>
            </a:extLst>
          </p:cNvPr>
          <p:cNvSpPr txBox="1"/>
          <p:nvPr/>
        </p:nvSpPr>
        <p:spPr>
          <a:xfrm>
            <a:off x="11100035" y="1"/>
            <a:ext cx="1091966" cy="1862048"/>
          </a:xfrm>
          <a:prstGeom prst="rect">
            <a:avLst/>
          </a:prstGeom>
          <a:noFill/>
        </p:spPr>
        <p:txBody>
          <a:bodyPr wrap="none" rtlCol="0">
            <a:spAutoFit/>
          </a:bodyPr>
          <a:lstStyle/>
          <a:p>
            <a:r>
              <a:rPr lang="en-US" sz="11500">
                <a:solidFill>
                  <a:schemeClr val="accent1">
                    <a:lumMod val="60000"/>
                    <a:lumOff val="40000"/>
                  </a:schemeClr>
                </a:solidFill>
              </a:rPr>
              <a:t>D</a:t>
            </a:r>
          </a:p>
        </p:txBody>
      </p:sp>
      <p:sp>
        <p:nvSpPr>
          <p:cNvPr id="12" name="TextBox 11">
            <a:extLst>
              <a:ext uri="{FF2B5EF4-FFF2-40B4-BE49-F238E27FC236}">
                <a16:creationId xmlns:a16="http://schemas.microsoft.com/office/drawing/2014/main" id="{6D2353F9-2905-7A9D-FF23-EF16A11C3982}"/>
              </a:ext>
            </a:extLst>
          </p:cNvPr>
          <p:cNvSpPr txBox="1"/>
          <p:nvPr/>
        </p:nvSpPr>
        <p:spPr>
          <a:xfrm>
            <a:off x="6615404" y="4734113"/>
            <a:ext cx="2550698" cy="523220"/>
          </a:xfrm>
          <a:prstGeom prst="rect">
            <a:avLst/>
          </a:prstGeom>
          <a:noFill/>
        </p:spPr>
        <p:txBody>
          <a:bodyPr wrap="none" rtlCol="0">
            <a:spAutoFit/>
          </a:bodyPr>
          <a:lstStyle/>
          <a:p>
            <a:r>
              <a:rPr lang="en-US" sz="2800">
                <a:solidFill>
                  <a:srgbClr val="00B050"/>
                </a:solidFill>
                <a:latin typeface="Consolas" panose="020B0609020204030204" pitchFamily="49" charset="0"/>
              </a:rPr>
              <a:t> OUT #Imm, A</a:t>
            </a:r>
          </a:p>
        </p:txBody>
      </p:sp>
      <p:pic>
        <p:nvPicPr>
          <p:cNvPr id="2" name="Picture 1">
            <a:hlinkClick r:id="rId2" action="ppaction://hlinksldjump"/>
            <a:extLst>
              <a:ext uri="{FF2B5EF4-FFF2-40B4-BE49-F238E27FC236}">
                <a16:creationId xmlns:a16="http://schemas.microsoft.com/office/drawing/2014/main" id="{A8B18085-5496-BAC6-3779-0F5B305AEDD6}"/>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7" name="Slide Number Placeholder 4">
            <a:extLst>
              <a:ext uri="{FF2B5EF4-FFF2-40B4-BE49-F238E27FC236}">
                <a16:creationId xmlns:a16="http://schemas.microsoft.com/office/drawing/2014/main" id="{ECAC6C5B-6B5C-9BB8-2EFE-244B6DA9BF23}"/>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53</a:t>
            </a:fld>
            <a:endParaRPr lang="en-US" b="1">
              <a:solidFill>
                <a:schemeClr val="bg1"/>
              </a:solidFill>
            </a:endParaRPr>
          </a:p>
        </p:txBody>
      </p:sp>
      <p:graphicFrame>
        <p:nvGraphicFramePr>
          <p:cNvPr id="13" name="Table 4">
            <a:extLst>
              <a:ext uri="{FF2B5EF4-FFF2-40B4-BE49-F238E27FC236}">
                <a16:creationId xmlns:a16="http://schemas.microsoft.com/office/drawing/2014/main" id="{9D266844-B5C7-6042-8CC3-8B310C704746}"/>
              </a:ext>
            </a:extLst>
          </p:cNvPr>
          <p:cNvGraphicFramePr>
            <a:graphicFrameLocks noGrp="1"/>
          </p:cNvGraphicFramePr>
          <p:nvPr/>
        </p:nvGraphicFramePr>
        <p:xfrm>
          <a:off x="193268" y="742463"/>
          <a:ext cx="4329725" cy="444470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
        <p:nvSpPr>
          <p:cNvPr id="14" name="Title 13">
            <a:extLst>
              <a:ext uri="{FF2B5EF4-FFF2-40B4-BE49-F238E27FC236}">
                <a16:creationId xmlns:a16="http://schemas.microsoft.com/office/drawing/2014/main" id="{A648A0DB-C00B-BF66-B46E-FDFAF0A4FF8B}"/>
              </a:ext>
            </a:extLst>
          </p:cNvPr>
          <p:cNvSpPr>
            <a:spLocks noGrp="1"/>
          </p:cNvSpPr>
          <p:nvPr>
            <p:ph type="ctrTitle"/>
          </p:nvPr>
        </p:nvSpPr>
        <p:spPr>
          <a:xfrm>
            <a:off x="914400" y="182880"/>
            <a:ext cx="9144000" cy="457200"/>
          </a:xfrm>
        </p:spPr>
        <p:txBody>
          <a:bodyPr/>
          <a:lstStyle/>
          <a:p>
            <a:r>
              <a:rPr lang="en-US"/>
              <a:t>Micro-Instructions Control: OUT immediate (01101)</a:t>
            </a:r>
          </a:p>
        </p:txBody>
      </p:sp>
      <p:graphicFrame>
        <p:nvGraphicFramePr>
          <p:cNvPr id="3" name="Table 4">
            <a:extLst>
              <a:ext uri="{FF2B5EF4-FFF2-40B4-BE49-F238E27FC236}">
                <a16:creationId xmlns:a16="http://schemas.microsoft.com/office/drawing/2014/main" id="{4F0E150D-BB4E-9B78-8AAE-8B76C47D35DE}"/>
              </a:ext>
            </a:extLst>
          </p:cNvPr>
          <p:cNvGraphicFramePr>
            <a:graphicFrameLocks noGrp="1"/>
          </p:cNvGraphicFramePr>
          <p:nvPr/>
        </p:nvGraphicFramePr>
        <p:xfrm>
          <a:off x="193267" y="5634601"/>
          <a:ext cx="10331858" cy="668020"/>
        </p:xfrm>
        <a:graphic>
          <a:graphicData uri="http://schemas.openxmlformats.org/drawingml/2006/table">
            <a:tbl>
              <a:tblPr firstRow="1" bandRow="1">
                <a:tableStyleId>{5C22544A-7EE6-4342-B048-85BDC9FD1C3A}</a:tableStyleId>
              </a:tblPr>
              <a:tblGrid>
                <a:gridCol w="1069663">
                  <a:extLst>
                    <a:ext uri="{9D8B030D-6E8A-4147-A177-3AD203B41FA5}">
                      <a16:colId xmlns:a16="http://schemas.microsoft.com/office/drawing/2014/main" val="1810408170"/>
                    </a:ext>
                  </a:extLst>
                </a:gridCol>
                <a:gridCol w="802596">
                  <a:extLst>
                    <a:ext uri="{9D8B030D-6E8A-4147-A177-3AD203B41FA5}">
                      <a16:colId xmlns:a16="http://schemas.microsoft.com/office/drawing/2014/main" val="950391025"/>
                    </a:ext>
                  </a:extLst>
                </a:gridCol>
                <a:gridCol w="1053145">
                  <a:extLst>
                    <a:ext uri="{9D8B030D-6E8A-4147-A177-3AD203B41FA5}">
                      <a16:colId xmlns:a16="http://schemas.microsoft.com/office/drawing/2014/main" val="1217920130"/>
                    </a:ext>
                  </a:extLst>
                </a:gridCol>
                <a:gridCol w="2590649">
                  <a:extLst>
                    <a:ext uri="{9D8B030D-6E8A-4147-A177-3AD203B41FA5}">
                      <a16:colId xmlns:a16="http://schemas.microsoft.com/office/drawing/2014/main" val="1475888205"/>
                    </a:ext>
                  </a:extLst>
                </a:gridCol>
                <a:gridCol w="763812">
                  <a:extLst>
                    <a:ext uri="{9D8B030D-6E8A-4147-A177-3AD203B41FA5}">
                      <a16:colId xmlns:a16="http://schemas.microsoft.com/office/drawing/2014/main" val="1355185516"/>
                    </a:ext>
                  </a:extLst>
                </a:gridCol>
                <a:gridCol w="1299268">
                  <a:extLst>
                    <a:ext uri="{9D8B030D-6E8A-4147-A177-3AD203B41FA5}">
                      <a16:colId xmlns:a16="http://schemas.microsoft.com/office/drawing/2014/main" val="2050007723"/>
                    </a:ext>
                  </a:extLst>
                </a:gridCol>
                <a:gridCol w="2752725">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 </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Out</a:t>
                      </a:r>
                    </a:p>
                  </a:txBody>
                  <a:tcPr>
                    <a:solidFill>
                      <a:schemeClr val="accent6"/>
                    </a:solidFill>
                  </a:tcPr>
                </a:tc>
                <a:tc gridSpan="3">
                  <a:txBody>
                    <a:bodyPr/>
                    <a:lstStyle/>
                    <a:p>
                      <a:pPr algn="ctr"/>
                      <a:r>
                        <a:rPr lang="en-US" sz="1300"/>
                        <a:t>8-bit immediate</a:t>
                      </a:r>
                    </a:p>
                  </a:txBody>
                  <a:tcPr/>
                </a:tc>
                <a:tc hMerge="1">
                  <a:txBody>
                    <a:bodyPr/>
                    <a:lstStyle/>
                    <a:p>
                      <a:pPr algn="ctr"/>
                      <a:endParaRPr lang="en-US"/>
                    </a:p>
                  </a:txBody>
                  <a:tcPr/>
                </a:tc>
                <a:tc hMerge="1">
                  <a:txBody>
                    <a:bodyPr/>
                    <a:lstStyle/>
                    <a:p>
                      <a:pPr algn="ctr"/>
                      <a:r>
                        <a:rPr lang="en-US"/>
                        <a:t>XXXX</a:t>
                      </a:r>
                    </a:p>
                  </a:txBody>
                  <a:tcPr/>
                </a:tc>
                <a:tc>
                  <a:txBody>
                    <a:bodyPr/>
                    <a:lstStyle/>
                    <a:p>
                      <a:pPr algn="ctr"/>
                      <a:r>
                        <a:rPr lang="en-US" sz="1300"/>
                        <a:t>XX</a:t>
                      </a:r>
                    </a:p>
                  </a:txBody>
                  <a:tcPr/>
                </a:tc>
                <a:tc>
                  <a:txBody>
                    <a:bodyPr/>
                    <a:lstStyle/>
                    <a:p>
                      <a:pPr algn="ctr"/>
                      <a:r>
                        <a:rPr lang="en-US" sz="1300"/>
                        <a:t>I=1; A=0</a:t>
                      </a:r>
                    </a:p>
                  </a:txBody>
                  <a:tcPr/>
                </a:tc>
                <a:tc>
                  <a:txBody>
                    <a:bodyPr/>
                    <a:lstStyle/>
                    <a:p>
                      <a:pPr algn="ctr"/>
                      <a:r>
                        <a:rPr lang="en-US" sz="1300"/>
                        <a:t>OpCode=0D</a:t>
                      </a:r>
                    </a:p>
                  </a:txBody>
                  <a:tcPr/>
                </a:tc>
                <a:extLst>
                  <a:ext uri="{0D108BD9-81ED-4DB2-BD59-A6C34878D82A}">
                    <a16:rowId xmlns:a16="http://schemas.microsoft.com/office/drawing/2014/main" val="2570910443"/>
                  </a:ext>
                </a:extLst>
              </a:tr>
            </a:tbl>
          </a:graphicData>
        </a:graphic>
      </p:graphicFrame>
      <p:graphicFrame>
        <p:nvGraphicFramePr>
          <p:cNvPr id="4" name="Table 4">
            <a:extLst>
              <a:ext uri="{FF2B5EF4-FFF2-40B4-BE49-F238E27FC236}">
                <a16:creationId xmlns:a16="http://schemas.microsoft.com/office/drawing/2014/main" id="{A37F8941-85BF-5B05-B4EA-A90EAFDA73AA}"/>
              </a:ext>
            </a:extLst>
          </p:cNvPr>
          <p:cNvGraphicFramePr>
            <a:graphicFrameLocks noGrp="1"/>
          </p:cNvGraphicFramePr>
          <p:nvPr/>
        </p:nvGraphicFramePr>
        <p:xfrm>
          <a:off x="193268" y="742463"/>
          <a:ext cx="4329725" cy="467838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17</a:t>
                      </a:r>
                    </a:p>
                  </a:txBody>
                  <a:tcPr/>
                </a:tc>
                <a:tc>
                  <a:txBody>
                    <a:bodyPr/>
                    <a:lstStyle/>
                    <a:p>
                      <a:pPr algn="l"/>
                      <a:r>
                        <a:rPr lang="en-US" sz="900"/>
                        <a:t>Load Special Register</a:t>
                      </a:r>
                    </a:p>
                  </a:txBody>
                  <a:tcPr/>
                </a:tc>
                <a:extLst>
                  <a:ext uri="{0D108BD9-81ED-4DB2-BD59-A6C34878D82A}">
                    <a16:rowId xmlns:a16="http://schemas.microsoft.com/office/drawing/2014/main" val="2759210480"/>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183344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56D05-8C86-7504-8005-95342D8CA2E7}"/>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B8FEEF34-838E-B29E-8FC5-50DAE2B91897}"/>
              </a:ext>
            </a:extLst>
          </p:cNvPr>
          <p:cNvSpPr>
            <a:spLocks noGrp="1"/>
          </p:cNvSpPr>
          <p:nvPr>
            <p:ph type="ctrTitle"/>
          </p:nvPr>
        </p:nvSpPr>
        <p:spPr>
          <a:xfrm>
            <a:off x="914400" y="182880"/>
            <a:ext cx="9144000" cy="457200"/>
          </a:xfrm>
        </p:spPr>
        <p:txBody>
          <a:bodyPr/>
          <a:lstStyle/>
          <a:p>
            <a:r>
              <a:rPr lang="en-US" dirty="0"/>
              <a:t>Micro-Instructions Control: PUSH (01110)</a:t>
            </a:r>
          </a:p>
        </p:txBody>
      </p:sp>
      <p:graphicFrame>
        <p:nvGraphicFramePr>
          <p:cNvPr id="5" name="Table 4">
            <a:extLst>
              <a:ext uri="{FF2B5EF4-FFF2-40B4-BE49-F238E27FC236}">
                <a16:creationId xmlns:a16="http://schemas.microsoft.com/office/drawing/2014/main" id="{6400E323-44B1-DE56-4403-D030F30F48CB}"/>
              </a:ext>
            </a:extLst>
          </p:cNvPr>
          <p:cNvGraphicFramePr>
            <a:graphicFrameLocks noGrp="1"/>
          </p:cNvGraphicFramePr>
          <p:nvPr>
            <p:extLst>
              <p:ext uri="{D42A27DB-BD31-4B8C-83A1-F6EECF244321}">
                <p14:modId xmlns:p14="http://schemas.microsoft.com/office/powerpoint/2010/main" val="2503102593"/>
              </p:ext>
            </p:extLst>
          </p:nvPr>
        </p:nvGraphicFramePr>
        <p:xfrm>
          <a:off x="4716581" y="742463"/>
          <a:ext cx="6249874" cy="1914639"/>
        </p:xfrm>
        <a:graphic>
          <a:graphicData uri="http://schemas.openxmlformats.org/drawingml/2006/table">
            <a:tbl>
              <a:tblPr firstRow="1" bandRow="1">
                <a:tableStyleId>{5C22544A-7EE6-4342-B048-85BDC9FD1C3A}</a:tableStyleId>
              </a:tblPr>
              <a:tblGrid>
                <a:gridCol w="948528">
                  <a:extLst>
                    <a:ext uri="{9D8B030D-6E8A-4147-A177-3AD203B41FA5}">
                      <a16:colId xmlns:a16="http://schemas.microsoft.com/office/drawing/2014/main" val="1217920130"/>
                    </a:ext>
                  </a:extLst>
                </a:gridCol>
                <a:gridCol w="2465917">
                  <a:extLst>
                    <a:ext uri="{9D8B030D-6E8A-4147-A177-3AD203B41FA5}">
                      <a16:colId xmlns:a16="http://schemas.microsoft.com/office/drawing/2014/main" val="1475888205"/>
                    </a:ext>
                  </a:extLst>
                </a:gridCol>
                <a:gridCol w="2835429">
                  <a:extLst>
                    <a:ext uri="{9D8B030D-6E8A-4147-A177-3AD203B41FA5}">
                      <a16:colId xmlns:a16="http://schemas.microsoft.com/office/drawing/2014/main" val="2801792198"/>
                    </a:ext>
                  </a:extLst>
                </a:gridCol>
              </a:tblGrid>
              <a:tr h="324599">
                <a:tc>
                  <a:txBody>
                    <a:bodyPr/>
                    <a:lstStyle/>
                    <a:p>
                      <a:r>
                        <a:rPr lang="en-US" sz="1200" dirty="0"/>
                        <a:t>Cycle #</a:t>
                      </a:r>
                    </a:p>
                  </a:txBody>
                  <a:tcPr/>
                </a:tc>
                <a:tc>
                  <a:txBody>
                    <a:bodyPr/>
                    <a:lstStyle/>
                    <a:p>
                      <a:r>
                        <a:rPr lang="en-US" sz="1200" dirty="0"/>
                        <a:t>Instruction</a:t>
                      </a:r>
                    </a:p>
                  </a:txBody>
                  <a:tcPr/>
                </a:tc>
                <a:tc>
                  <a:txBody>
                    <a:bodyPr/>
                    <a:lstStyle/>
                    <a:p>
                      <a:r>
                        <a:rPr lang="en-US" sz="1200"/>
                        <a:t>Explanation</a:t>
                      </a:r>
                    </a:p>
                  </a:txBody>
                  <a:tcPr/>
                </a:tc>
                <a:extLst>
                  <a:ext uri="{0D108BD9-81ED-4DB2-BD59-A6C34878D82A}">
                    <a16:rowId xmlns:a16="http://schemas.microsoft.com/office/drawing/2014/main" val="2319756336"/>
                  </a:ext>
                </a:extLst>
              </a:tr>
              <a:tr h="579120">
                <a:tc>
                  <a:txBody>
                    <a:bodyPr/>
                    <a:lstStyle/>
                    <a:p>
                      <a:pPr algn="ctr"/>
                      <a:r>
                        <a:rPr lang="en-US" sz="1200"/>
                        <a:t>0</a:t>
                      </a:r>
                    </a:p>
                  </a:txBody>
                  <a:tcPr/>
                </a:tc>
                <a:tc>
                  <a:txBody>
                    <a:bodyPr/>
                    <a:lstStyle/>
                    <a:p>
                      <a:pPr algn="l"/>
                      <a:r>
                        <a:rPr lang="en-US" sz="1200" dirty="0"/>
                        <a:t>0x00_80_00</a:t>
                      </a:r>
                    </a:p>
                  </a:txBody>
                  <a:tcPr/>
                </a:tc>
                <a:tc>
                  <a:txBody>
                    <a:bodyPr/>
                    <a:lstStyle/>
                    <a:p>
                      <a:pPr algn="l"/>
                      <a:r>
                        <a:rPr lang="en-US" sz="1200" dirty="0"/>
                        <a:t>(SP--;) Decrement SP.</a:t>
                      </a:r>
                    </a:p>
                  </a:txBody>
                  <a:tcPr/>
                </a:tc>
                <a:extLst>
                  <a:ext uri="{0D108BD9-81ED-4DB2-BD59-A6C34878D82A}">
                    <a16:rowId xmlns:a16="http://schemas.microsoft.com/office/drawing/2014/main" val="2570910443"/>
                  </a:ext>
                </a:extLst>
              </a:tr>
              <a:tr h="579120">
                <a:tc>
                  <a:txBody>
                    <a:bodyPr/>
                    <a:lstStyle/>
                    <a:p>
                      <a:pPr algn="ctr"/>
                      <a:r>
                        <a:rPr lang="en-US" sz="12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0x00_48_10</a:t>
                      </a:r>
                    </a:p>
                  </a:txBody>
                  <a:tcPr/>
                </a:tc>
                <a:tc>
                  <a:txBody>
                    <a:bodyPr/>
                    <a:lstStyle/>
                    <a:p>
                      <a:pPr algn="l"/>
                      <a:r>
                        <a:rPr lang="en-US" sz="1200" dirty="0"/>
                        <a:t>(*SP = Rs1;) Write Rs1 to the Data Bus, Write SP to the Address Bus, and Set Memory to read from the Data Bus.</a:t>
                      </a:r>
                    </a:p>
                  </a:txBody>
                  <a:tcPr/>
                </a:tc>
                <a:extLst>
                  <a:ext uri="{0D108BD9-81ED-4DB2-BD59-A6C34878D82A}">
                    <a16:rowId xmlns:a16="http://schemas.microsoft.com/office/drawing/2014/main" val="631651838"/>
                  </a:ext>
                </a:extLst>
              </a:tr>
              <a:tr h="370840">
                <a:tc>
                  <a:txBody>
                    <a:bodyPr/>
                    <a:lstStyle/>
                    <a:p>
                      <a:pPr algn="ctr"/>
                      <a:r>
                        <a:rPr lang="en-US" sz="12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0x00_00_80</a:t>
                      </a:r>
                    </a:p>
                  </a:txBody>
                  <a:tcPr/>
                </a:tc>
                <a:tc>
                  <a:txBody>
                    <a:bodyPr/>
                    <a:lstStyle/>
                    <a:p>
                      <a:pPr algn="l"/>
                      <a:r>
                        <a:rPr lang="en-US" sz="1200" dirty="0"/>
                        <a:t>Advance PC.</a:t>
                      </a:r>
                    </a:p>
                  </a:txBody>
                  <a:tcPr/>
                </a:tc>
                <a:extLst>
                  <a:ext uri="{0D108BD9-81ED-4DB2-BD59-A6C34878D82A}">
                    <a16:rowId xmlns:a16="http://schemas.microsoft.com/office/drawing/2014/main" val="1592812184"/>
                  </a:ext>
                </a:extLst>
              </a:tr>
            </a:tbl>
          </a:graphicData>
        </a:graphic>
      </p:graphicFrame>
      <p:pic>
        <p:nvPicPr>
          <p:cNvPr id="2" name="Picture 1">
            <a:hlinkClick r:id="rId3" action="ppaction://hlinksldjump"/>
            <a:extLst>
              <a:ext uri="{FF2B5EF4-FFF2-40B4-BE49-F238E27FC236}">
                <a16:creationId xmlns:a16="http://schemas.microsoft.com/office/drawing/2014/main" id="{55ECF280-2D58-1864-D5BF-EFC4AF43CA70}"/>
              </a:ext>
            </a:extLst>
          </p:cNvPr>
          <p:cNvPicPr>
            <a:picLocks noChangeAspect="1"/>
          </p:cNvPicPr>
          <p:nvPr/>
        </p:nvPicPr>
        <p:blipFill>
          <a:blip r:embed="rId4"/>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FEE0E71A-1FEF-F78D-17B0-7E791D369E66}"/>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54</a:t>
            </a:fld>
            <a:endParaRPr lang="en-US" b="1">
              <a:solidFill>
                <a:schemeClr val="bg1"/>
              </a:solidFill>
            </a:endParaRPr>
          </a:p>
        </p:txBody>
      </p:sp>
      <p:graphicFrame>
        <p:nvGraphicFramePr>
          <p:cNvPr id="3" name="Table 4">
            <a:extLst>
              <a:ext uri="{FF2B5EF4-FFF2-40B4-BE49-F238E27FC236}">
                <a16:creationId xmlns:a16="http://schemas.microsoft.com/office/drawing/2014/main" id="{3772D722-32A6-D50F-A11B-FF2A90587F78}"/>
              </a:ext>
            </a:extLst>
          </p:cNvPr>
          <p:cNvGraphicFramePr>
            <a:graphicFrameLocks noGrp="1"/>
          </p:cNvGraphicFramePr>
          <p:nvPr>
            <p:extLst>
              <p:ext uri="{D42A27DB-BD31-4B8C-83A1-F6EECF244321}">
                <p14:modId xmlns:p14="http://schemas.microsoft.com/office/powerpoint/2010/main" val="213102952"/>
              </p:ext>
            </p:extLst>
          </p:nvPr>
        </p:nvGraphicFramePr>
        <p:xfrm>
          <a:off x="179752" y="5818357"/>
          <a:ext cx="10585849" cy="595227"/>
        </p:xfrm>
        <a:graphic>
          <a:graphicData uri="http://schemas.openxmlformats.org/drawingml/2006/table">
            <a:tbl>
              <a:tblPr firstRow="1" bandRow="1">
                <a:tableStyleId>{5C22544A-7EE6-4342-B048-85BDC9FD1C3A}</a:tableStyleId>
              </a:tblPr>
              <a:tblGrid>
                <a:gridCol w="998667">
                  <a:extLst>
                    <a:ext uri="{9D8B030D-6E8A-4147-A177-3AD203B41FA5}">
                      <a16:colId xmlns:a16="http://schemas.microsoft.com/office/drawing/2014/main" val="1810408170"/>
                    </a:ext>
                  </a:extLst>
                </a:gridCol>
                <a:gridCol w="970585">
                  <a:extLst>
                    <a:ext uri="{9D8B030D-6E8A-4147-A177-3AD203B41FA5}">
                      <a16:colId xmlns:a16="http://schemas.microsoft.com/office/drawing/2014/main" val="950391025"/>
                    </a:ext>
                  </a:extLst>
                </a:gridCol>
                <a:gridCol w="884832">
                  <a:extLst>
                    <a:ext uri="{9D8B030D-6E8A-4147-A177-3AD203B41FA5}">
                      <a16:colId xmlns:a16="http://schemas.microsoft.com/office/drawing/2014/main" val="1217920130"/>
                    </a:ext>
                  </a:extLst>
                </a:gridCol>
                <a:gridCol w="1402159">
                  <a:extLst>
                    <a:ext uri="{9D8B030D-6E8A-4147-A177-3AD203B41FA5}">
                      <a16:colId xmlns:a16="http://schemas.microsoft.com/office/drawing/2014/main" val="1475888205"/>
                    </a:ext>
                  </a:extLst>
                </a:gridCol>
                <a:gridCol w="1609969">
                  <a:extLst>
                    <a:ext uri="{9D8B030D-6E8A-4147-A177-3AD203B41FA5}">
                      <a16:colId xmlns:a16="http://schemas.microsoft.com/office/drawing/2014/main" val="1355185516"/>
                    </a:ext>
                  </a:extLst>
                </a:gridCol>
                <a:gridCol w="1304925">
                  <a:extLst>
                    <a:ext uri="{9D8B030D-6E8A-4147-A177-3AD203B41FA5}">
                      <a16:colId xmlns:a16="http://schemas.microsoft.com/office/drawing/2014/main" val="1039846299"/>
                    </a:ext>
                  </a:extLst>
                </a:gridCol>
                <a:gridCol w="3414712">
                  <a:extLst>
                    <a:ext uri="{9D8B030D-6E8A-4147-A177-3AD203B41FA5}">
                      <a16:colId xmlns:a16="http://schemas.microsoft.com/office/drawing/2014/main" val="3099546510"/>
                    </a:ext>
                  </a:extLst>
                </a:gridCol>
              </a:tblGrid>
              <a:tr h="241986">
                <a:tc>
                  <a:txBody>
                    <a:bodyPr/>
                    <a:lstStyle/>
                    <a:p>
                      <a:r>
                        <a:rPr lang="en-US" sz="1300" dirty="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dirty="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305667">
                <a:tc>
                  <a:txBody>
                    <a:bodyPr/>
                    <a:lstStyle/>
                    <a:p>
                      <a:pPr algn="ctr"/>
                      <a:r>
                        <a:rPr lang="en-US" sz="1300" dirty="0"/>
                        <a:t>PUSH</a:t>
                      </a:r>
                    </a:p>
                  </a:txBody>
                  <a:tcPr>
                    <a:solidFill>
                      <a:schemeClr val="accent6"/>
                    </a:solidFill>
                  </a:tcPr>
                </a:tc>
                <a:tc>
                  <a:txBody>
                    <a:bodyPr/>
                    <a:lstStyle/>
                    <a:p>
                      <a:pPr algn="ctr"/>
                      <a:r>
                        <a:rPr lang="en-US" sz="1300" dirty="0"/>
                        <a:t>XX</a:t>
                      </a:r>
                    </a:p>
                  </a:txBody>
                  <a:tcPr/>
                </a:tc>
                <a:tc>
                  <a:txBody>
                    <a:bodyPr/>
                    <a:lstStyle/>
                    <a:p>
                      <a:pPr algn="ctr"/>
                      <a:r>
                        <a:rPr lang="en-US" sz="1300" dirty="0"/>
                        <a:t>Rs1</a:t>
                      </a:r>
                    </a:p>
                  </a:txBody>
                  <a:tcPr/>
                </a:tc>
                <a:tc>
                  <a:txBody>
                    <a:bodyPr/>
                    <a:lstStyle/>
                    <a:p>
                      <a:pPr algn="ctr"/>
                      <a:r>
                        <a:rPr lang="en-US" sz="1300" dirty="0"/>
                        <a:t>XXXX</a:t>
                      </a:r>
                    </a:p>
                  </a:txBody>
                  <a:tcPr/>
                </a:tc>
                <a:tc>
                  <a:txBody>
                    <a:bodyPr/>
                    <a:lstStyle/>
                    <a:p>
                      <a:pPr algn="ctr"/>
                      <a:r>
                        <a:rPr lang="en-US" sz="1300" dirty="0"/>
                        <a:t>XX</a:t>
                      </a:r>
                    </a:p>
                  </a:txBody>
                  <a:tcPr/>
                </a:tc>
                <a:tc>
                  <a:txBody>
                    <a:bodyPr/>
                    <a:lstStyle/>
                    <a:p>
                      <a:pPr algn="ctr"/>
                      <a:r>
                        <a:rPr lang="en-US" sz="1300" dirty="0"/>
                        <a:t>X</a:t>
                      </a:r>
                    </a:p>
                  </a:txBody>
                  <a:tcPr/>
                </a:tc>
                <a:tc>
                  <a:txBody>
                    <a:bodyPr/>
                    <a:lstStyle/>
                    <a:p>
                      <a:pPr algn="ctr"/>
                      <a:r>
                        <a:rPr lang="en-US" sz="1300" dirty="0" err="1"/>
                        <a:t>OpCode</a:t>
                      </a:r>
                      <a:r>
                        <a:rPr lang="en-US" sz="1300" dirty="0"/>
                        <a:t>=0x0e</a:t>
                      </a:r>
                    </a:p>
                  </a:txBody>
                  <a:tcPr/>
                </a:tc>
                <a:extLst>
                  <a:ext uri="{0D108BD9-81ED-4DB2-BD59-A6C34878D82A}">
                    <a16:rowId xmlns:a16="http://schemas.microsoft.com/office/drawing/2014/main" val="2570910443"/>
                  </a:ext>
                </a:extLst>
              </a:tr>
            </a:tbl>
          </a:graphicData>
        </a:graphic>
      </p:graphicFrame>
      <p:sp>
        <p:nvSpPr>
          <p:cNvPr id="4" name="TextBox 3">
            <a:extLst>
              <a:ext uri="{FF2B5EF4-FFF2-40B4-BE49-F238E27FC236}">
                <a16:creationId xmlns:a16="http://schemas.microsoft.com/office/drawing/2014/main" id="{E58A771D-F471-9F63-C33E-DAE4F058AD6F}"/>
              </a:ext>
            </a:extLst>
          </p:cNvPr>
          <p:cNvSpPr txBox="1"/>
          <p:nvPr/>
        </p:nvSpPr>
        <p:spPr>
          <a:xfrm>
            <a:off x="10966456" y="2"/>
            <a:ext cx="686406" cy="1323439"/>
          </a:xfrm>
          <a:prstGeom prst="rect">
            <a:avLst/>
          </a:prstGeom>
          <a:noFill/>
        </p:spPr>
        <p:txBody>
          <a:bodyPr wrap="none" rtlCol="0">
            <a:spAutoFit/>
          </a:bodyPr>
          <a:lstStyle/>
          <a:p>
            <a:r>
              <a:rPr lang="en-US" sz="8000" dirty="0">
                <a:solidFill>
                  <a:schemeClr val="accent1">
                    <a:lumMod val="60000"/>
                    <a:lumOff val="40000"/>
                  </a:schemeClr>
                </a:solidFill>
              </a:rPr>
              <a:t>E</a:t>
            </a:r>
          </a:p>
        </p:txBody>
      </p:sp>
      <p:sp>
        <p:nvSpPr>
          <p:cNvPr id="6" name="TextBox 5">
            <a:extLst>
              <a:ext uri="{FF2B5EF4-FFF2-40B4-BE49-F238E27FC236}">
                <a16:creationId xmlns:a16="http://schemas.microsoft.com/office/drawing/2014/main" id="{EF91A32F-75DD-06DA-7BFF-19B60B9E6991}"/>
              </a:ext>
            </a:extLst>
          </p:cNvPr>
          <p:cNvSpPr txBox="1"/>
          <p:nvPr/>
        </p:nvSpPr>
        <p:spPr>
          <a:xfrm>
            <a:off x="6615405" y="4958332"/>
            <a:ext cx="1564852"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PUSH R2</a:t>
            </a:r>
          </a:p>
        </p:txBody>
      </p:sp>
      <p:sp>
        <p:nvSpPr>
          <p:cNvPr id="7" name="TextBox 6">
            <a:extLst>
              <a:ext uri="{FF2B5EF4-FFF2-40B4-BE49-F238E27FC236}">
                <a16:creationId xmlns:a16="http://schemas.microsoft.com/office/drawing/2014/main" id="{EC55319C-9B8C-F466-3454-912C255CDF76}"/>
              </a:ext>
            </a:extLst>
          </p:cNvPr>
          <p:cNvSpPr txBox="1"/>
          <p:nvPr/>
        </p:nvSpPr>
        <p:spPr>
          <a:xfrm>
            <a:off x="6615405" y="3557448"/>
            <a:ext cx="1959191" cy="954107"/>
          </a:xfrm>
          <a:prstGeom prst="rect">
            <a:avLst/>
          </a:prstGeom>
          <a:noFill/>
        </p:spPr>
        <p:txBody>
          <a:bodyPr wrap="none" rtlCol="0">
            <a:spAutoFit/>
          </a:bodyPr>
          <a:lstStyle/>
          <a:p>
            <a:r>
              <a:rPr lang="en-US" sz="2800" dirty="0">
                <a:solidFill>
                  <a:srgbClr val="00B050"/>
                </a:solidFill>
                <a:latin typeface="Consolas" panose="020B0609020204030204" pitchFamily="49" charset="0"/>
              </a:rPr>
              <a:t>SP--;</a:t>
            </a:r>
          </a:p>
          <a:p>
            <a:r>
              <a:rPr lang="en-US" sz="2800" dirty="0">
                <a:solidFill>
                  <a:srgbClr val="00B050"/>
                </a:solidFill>
                <a:latin typeface="Consolas" panose="020B0609020204030204" pitchFamily="49" charset="0"/>
              </a:rPr>
              <a:t>*SP = Rs1</a:t>
            </a:r>
          </a:p>
        </p:txBody>
      </p:sp>
      <p:graphicFrame>
        <p:nvGraphicFramePr>
          <p:cNvPr id="9" name="Table 4">
            <a:extLst>
              <a:ext uri="{FF2B5EF4-FFF2-40B4-BE49-F238E27FC236}">
                <a16:creationId xmlns:a16="http://schemas.microsoft.com/office/drawing/2014/main" id="{627AF8D5-A74F-D4B1-F748-CB29A38EE55C}"/>
              </a:ext>
            </a:extLst>
          </p:cNvPr>
          <p:cNvGraphicFramePr>
            <a:graphicFrameLocks noGrp="1"/>
          </p:cNvGraphicFramePr>
          <p:nvPr>
            <p:extLst>
              <p:ext uri="{D42A27DB-BD31-4B8C-83A1-F6EECF244321}">
                <p14:modId xmlns:p14="http://schemas.microsoft.com/office/powerpoint/2010/main" val="672536172"/>
              </p:ext>
            </p:extLst>
          </p:nvPr>
        </p:nvGraphicFramePr>
        <p:xfrm>
          <a:off x="179752" y="742463"/>
          <a:ext cx="4329725" cy="5004175"/>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00345">
                <a:tc>
                  <a:txBody>
                    <a:bodyPr/>
                    <a:lstStyle/>
                    <a:p>
                      <a:pPr>
                        <a:lnSpc>
                          <a:spcPct val="100000"/>
                        </a:lnSpc>
                      </a:pPr>
                      <a:r>
                        <a:rPr lang="en-US" sz="700"/>
                        <a:t>Bit</a:t>
                      </a:r>
                    </a:p>
                  </a:txBody>
                  <a:tcPr anchor="ctr"/>
                </a:tc>
                <a:tc>
                  <a:txBody>
                    <a:bodyPr/>
                    <a:lstStyle/>
                    <a:p>
                      <a:pPr>
                        <a:lnSpc>
                          <a:spcPct val="100000"/>
                        </a:lnSpc>
                      </a:pPr>
                      <a:r>
                        <a:rPr lang="en-US" sz="700" dirty="0"/>
                        <a:t>Operation</a:t>
                      </a:r>
                    </a:p>
                  </a:txBody>
                  <a:tcPr anchor="ctr"/>
                </a:tc>
                <a:extLst>
                  <a:ext uri="{0D108BD9-81ED-4DB2-BD59-A6C34878D82A}">
                    <a16:rowId xmlns:a16="http://schemas.microsoft.com/office/drawing/2014/main" val="2319756336"/>
                  </a:ext>
                </a:extLst>
              </a:tr>
              <a:tr h="200345">
                <a:tc>
                  <a:txBody>
                    <a:bodyPr/>
                    <a:lstStyle/>
                    <a:p>
                      <a:pPr algn="ctr">
                        <a:lnSpc>
                          <a:spcPct val="100000"/>
                        </a:lnSpc>
                      </a:pPr>
                      <a:r>
                        <a:rPr lang="en-US" sz="700" dirty="0"/>
                        <a:t>23</a:t>
                      </a:r>
                    </a:p>
                  </a:txBody>
                  <a:tcPr anchor="ctr"/>
                </a:tc>
                <a:tc>
                  <a:txBody>
                    <a:bodyPr/>
                    <a:lstStyle/>
                    <a:p>
                      <a:pPr algn="l">
                        <a:lnSpc>
                          <a:spcPct val="100000"/>
                        </a:lnSpc>
                      </a:pPr>
                      <a:r>
                        <a:rPr lang="en-US" sz="700" dirty="0"/>
                        <a:t>Not Used</a:t>
                      </a:r>
                    </a:p>
                  </a:txBody>
                  <a:tcPr anchor="ctr"/>
                </a:tc>
                <a:extLst>
                  <a:ext uri="{0D108BD9-81ED-4DB2-BD59-A6C34878D82A}">
                    <a16:rowId xmlns:a16="http://schemas.microsoft.com/office/drawing/2014/main" val="3576468534"/>
                  </a:ext>
                </a:extLst>
              </a:tr>
              <a:tr h="200345">
                <a:tc>
                  <a:txBody>
                    <a:bodyPr/>
                    <a:lstStyle/>
                    <a:p>
                      <a:pPr algn="ctr">
                        <a:lnSpc>
                          <a:spcPct val="100000"/>
                        </a:lnSpc>
                      </a:pPr>
                      <a:r>
                        <a:rPr lang="en-US" sz="700" dirty="0"/>
                        <a:t>22</a:t>
                      </a:r>
                    </a:p>
                  </a:txBody>
                  <a:tcPr anchor="ctr"/>
                </a:tc>
                <a:tc>
                  <a:txBody>
                    <a:bodyPr/>
                    <a:lstStyle/>
                    <a:p>
                      <a:pPr algn="l">
                        <a:lnSpc>
                          <a:spcPct val="100000"/>
                        </a:lnSpc>
                      </a:pPr>
                      <a:r>
                        <a:rPr lang="en-US" sz="700" dirty="0" err="1"/>
                        <a:t>AddressHorL</a:t>
                      </a:r>
                      <a:endParaRPr lang="en-US" sz="700" dirty="0"/>
                    </a:p>
                  </a:txBody>
                  <a:tcPr anchor="ctr"/>
                </a:tc>
                <a:extLst>
                  <a:ext uri="{0D108BD9-81ED-4DB2-BD59-A6C34878D82A}">
                    <a16:rowId xmlns:a16="http://schemas.microsoft.com/office/drawing/2014/main" val="79971578"/>
                  </a:ext>
                </a:extLst>
              </a:tr>
              <a:tr h="200345">
                <a:tc>
                  <a:txBody>
                    <a:bodyPr/>
                    <a:lstStyle/>
                    <a:p>
                      <a:pPr algn="ctr">
                        <a:lnSpc>
                          <a:spcPct val="100000"/>
                        </a:lnSpc>
                      </a:pPr>
                      <a:r>
                        <a:rPr lang="en-US" sz="700" dirty="0"/>
                        <a:t>21</a:t>
                      </a:r>
                    </a:p>
                  </a:txBody>
                  <a:tcPr anchor="ctr"/>
                </a:tc>
                <a:tc>
                  <a:txBody>
                    <a:bodyPr/>
                    <a:lstStyle/>
                    <a:p>
                      <a:pPr algn="l">
                        <a:lnSpc>
                          <a:spcPct val="100000"/>
                        </a:lnSpc>
                      </a:pPr>
                      <a:r>
                        <a:rPr lang="en-US" sz="700" dirty="0" err="1"/>
                        <a:t>AddressBusToDataBus</a:t>
                      </a:r>
                      <a:endParaRPr lang="en-US" sz="700" dirty="0"/>
                    </a:p>
                  </a:txBody>
                  <a:tcPr anchor="ctr"/>
                </a:tc>
                <a:extLst>
                  <a:ext uri="{0D108BD9-81ED-4DB2-BD59-A6C34878D82A}">
                    <a16:rowId xmlns:a16="http://schemas.microsoft.com/office/drawing/2014/main" val="4135939119"/>
                  </a:ext>
                </a:extLst>
              </a:tr>
              <a:tr h="200345">
                <a:tc>
                  <a:txBody>
                    <a:bodyPr/>
                    <a:lstStyle/>
                    <a:p>
                      <a:pPr algn="ctr">
                        <a:lnSpc>
                          <a:spcPct val="100000"/>
                        </a:lnSpc>
                      </a:pPr>
                      <a:r>
                        <a:rPr lang="en-US" sz="700" dirty="0"/>
                        <a:t>20</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err="1"/>
                        <a:t>TmpARWrite</a:t>
                      </a:r>
                      <a:endParaRPr lang="en-US" sz="700"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9580944"/>
                  </a:ext>
                </a:extLst>
              </a:tr>
              <a:tr h="200345">
                <a:tc>
                  <a:txBody>
                    <a:bodyPr/>
                    <a:lstStyle/>
                    <a:p>
                      <a:pPr algn="ctr">
                        <a:lnSpc>
                          <a:spcPct val="100000"/>
                        </a:lnSpc>
                      </a:pPr>
                      <a:r>
                        <a:rPr lang="en-US" sz="700" dirty="0"/>
                        <a:t>19</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err="1"/>
                        <a:t>TmpARRead</a:t>
                      </a:r>
                      <a:endParaRPr lang="en-US" sz="700"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35159618"/>
                  </a:ext>
                </a:extLst>
              </a:tr>
              <a:tr h="200345">
                <a:tc>
                  <a:txBody>
                    <a:bodyPr/>
                    <a:lstStyle/>
                    <a:p>
                      <a:pPr algn="ctr">
                        <a:lnSpc>
                          <a:spcPct val="100000"/>
                        </a:lnSpc>
                      </a:pPr>
                      <a:r>
                        <a:rPr lang="en-US" sz="700" dirty="0"/>
                        <a:t>18</a:t>
                      </a:r>
                    </a:p>
                  </a:txBody>
                  <a:tcPr anchor="ctr"/>
                </a:tc>
                <a:tc>
                  <a:txBody>
                    <a:bodyPr/>
                    <a:lstStyle/>
                    <a:p>
                      <a:pPr algn="l">
                        <a:lnSpc>
                          <a:spcPct val="100000"/>
                        </a:lnSpc>
                      </a:pPr>
                      <a:r>
                        <a:rPr lang="en-US" sz="700" dirty="0" err="1"/>
                        <a:t>loadARHorL</a:t>
                      </a:r>
                      <a:endParaRPr lang="en-US" sz="700" dirty="0"/>
                    </a:p>
                  </a:txBody>
                  <a:tcPr anchor="ctr"/>
                </a:tc>
                <a:extLst>
                  <a:ext uri="{0D108BD9-81ED-4DB2-BD59-A6C34878D82A}">
                    <a16:rowId xmlns:a16="http://schemas.microsoft.com/office/drawing/2014/main" val="2357817394"/>
                  </a:ext>
                </a:extLst>
              </a:tr>
              <a:tr h="200345">
                <a:tc>
                  <a:txBody>
                    <a:bodyPr/>
                    <a:lstStyle/>
                    <a:p>
                      <a:pPr algn="ctr">
                        <a:lnSpc>
                          <a:spcPct val="100000"/>
                        </a:lnSpc>
                      </a:pPr>
                      <a:r>
                        <a:rPr lang="en-US" sz="700"/>
                        <a:t>17</a:t>
                      </a:r>
                    </a:p>
                  </a:txBody>
                  <a:tcPr anchor="ctr"/>
                </a:tc>
                <a:tc>
                  <a:txBody>
                    <a:bodyPr/>
                    <a:lstStyle/>
                    <a:p>
                      <a:pPr algn="l">
                        <a:lnSpc>
                          <a:spcPct val="100000"/>
                        </a:lnSpc>
                      </a:pPr>
                      <a:r>
                        <a:rPr lang="en-US" sz="700" dirty="0" err="1"/>
                        <a:t>loadAR</a:t>
                      </a:r>
                      <a:r>
                        <a:rPr lang="en-US" sz="700" dirty="0"/>
                        <a:t> (formerly: Load Special Pointer)</a:t>
                      </a:r>
                    </a:p>
                  </a:txBody>
                  <a:tcPr anchor="ctr"/>
                </a:tc>
                <a:extLst>
                  <a:ext uri="{0D108BD9-81ED-4DB2-BD59-A6C34878D82A}">
                    <a16:rowId xmlns:a16="http://schemas.microsoft.com/office/drawing/2014/main" val="2759210480"/>
                  </a:ext>
                </a:extLst>
              </a:tr>
              <a:tr h="200345">
                <a:tc>
                  <a:txBody>
                    <a:bodyPr/>
                    <a:lstStyle/>
                    <a:p>
                      <a:pPr algn="ctr">
                        <a:lnSpc>
                          <a:spcPct val="100000"/>
                        </a:lnSpc>
                      </a:pPr>
                      <a:r>
                        <a:rPr lang="en-US" sz="700" dirty="0"/>
                        <a:t>16</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Stack Pointer Increment / Decrement (0: decrease / 1: increase)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6363256"/>
                  </a:ext>
                </a:extLst>
              </a:tr>
              <a:tr h="200345">
                <a:tc>
                  <a:txBody>
                    <a:bodyPr/>
                    <a:lstStyle/>
                    <a:p>
                      <a:pPr algn="ctr">
                        <a:lnSpc>
                          <a:spcPct val="100000"/>
                        </a:lnSpc>
                      </a:pPr>
                      <a:r>
                        <a:rPr lang="en-US" sz="700"/>
                        <a:t>15</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Stack Pointer Count</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49660566"/>
                  </a:ext>
                </a:extLst>
              </a:tr>
              <a:tr h="200345">
                <a:tc>
                  <a:txBody>
                    <a:bodyPr/>
                    <a:lstStyle/>
                    <a:p>
                      <a:pPr algn="ctr">
                        <a:lnSpc>
                          <a:spcPct val="100000"/>
                        </a:lnSpc>
                      </a:pPr>
                      <a:r>
                        <a:rPr lang="en-US" sz="700"/>
                        <a:t>14</a:t>
                      </a:r>
                    </a:p>
                  </a:txBody>
                  <a:tcPr anchor="ctr"/>
                </a:tc>
                <a:tc>
                  <a:txBody>
                    <a:bodyPr/>
                    <a:lstStyle/>
                    <a:p>
                      <a:pPr algn="l">
                        <a:lnSpc>
                          <a:spcPct val="100000"/>
                        </a:lnSpc>
                      </a:pPr>
                      <a:r>
                        <a:rPr lang="en-US" sz="700" dirty="0"/>
                        <a:t>SP Out (formerly: RAM Address Select (0: Address register / 1: Stack pointer))</a:t>
                      </a:r>
                    </a:p>
                  </a:txBody>
                  <a:tcPr anchor="ctr"/>
                </a:tc>
                <a:extLst>
                  <a:ext uri="{0D108BD9-81ED-4DB2-BD59-A6C34878D82A}">
                    <a16:rowId xmlns:a16="http://schemas.microsoft.com/office/drawing/2014/main" val="645489424"/>
                  </a:ext>
                </a:extLst>
              </a:tr>
              <a:tr h="200345">
                <a:tc>
                  <a:txBody>
                    <a:bodyPr/>
                    <a:lstStyle/>
                    <a:p>
                      <a:pPr algn="ctr">
                        <a:lnSpc>
                          <a:spcPct val="100000"/>
                        </a:lnSpc>
                      </a:pPr>
                      <a:r>
                        <a:rPr lang="en-US" sz="700"/>
                        <a:t>13</a:t>
                      </a:r>
                    </a:p>
                  </a:txBody>
                  <a:tcPr anchor="ctr"/>
                </a:tc>
                <a:tc>
                  <a:txBody>
                    <a:bodyPr/>
                    <a:lstStyle/>
                    <a:p>
                      <a:pPr algn="l">
                        <a:lnSpc>
                          <a:spcPct val="100000"/>
                        </a:lnSpc>
                      </a:pPr>
                      <a:r>
                        <a:rPr lang="en-US" sz="700"/>
                        <a:t>Use Rd as Source</a:t>
                      </a:r>
                    </a:p>
                  </a:txBody>
                  <a:tcPr anchor="ctr"/>
                </a:tc>
                <a:extLst>
                  <a:ext uri="{0D108BD9-81ED-4DB2-BD59-A6C34878D82A}">
                    <a16:rowId xmlns:a16="http://schemas.microsoft.com/office/drawing/2014/main" val="2745442092"/>
                  </a:ext>
                </a:extLst>
              </a:tr>
              <a:tr h="200345">
                <a:tc>
                  <a:txBody>
                    <a:bodyPr/>
                    <a:lstStyle/>
                    <a:p>
                      <a:pPr algn="ctr">
                        <a:lnSpc>
                          <a:spcPct val="100000"/>
                        </a:lnSpc>
                      </a:pPr>
                      <a:r>
                        <a:rPr lang="en-US" sz="700" dirty="0"/>
                        <a:t>12</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Lower Address Register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762316"/>
                  </a:ext>
                </a:extLst>
              </a:tr>
              <a:tr h="200345">
                <a:tc>
                  <a:txBody>
                    <a:bodyPr/>
                    <a:lstStyle/>
                    <a:p>
                      <a:pPr algn="ctr">
                        <a:lnSpc>
                          <a:spcPct val="100000"/>
                        </a:lnSpc>
                      </a:pPr>
                      <a:r>
                        <a:rPr lang="en-US" sz="700"/>
                        <a:t>11</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Mem Write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66008767"/>
                  </a:ext>
                </a:extLst>
              </a:tr>
              <a:tr h="200345">
                <a:tc>
                  <a:txBody>
                    <a:bodyPr/>
                    <a:lstStyle/>
                    <a:p>
                      <a:pPr algn="ctr">
                        <a:lnSpc>
                          <a:spcPct val="100000"/>
                        </a:lnSpc>
                      </a:pPr>
                      <a:r>
                        <a:rPr lang="en-US" sz="700"/>
                        <a:t>10</a:t>
                      </a:r>
                    </a:p>
                  </a:txBody>
                  <a:tcPr anchor="ctr"/>
                </a:tc>
                <a:tc>
                  <a:txBody>
                    <a:bodyPr/>
                    <a:lstStyle/>
                    <a:p>
                      <a:pPr algn="l">
                        <a:lnSpc>
                          <a:spcPct val="100000"/>
                        </a:lnSpc>
                      </a:pPr>
                      <a:r>
                        <a:rPr lang="en-US" sz="700"/>
                        <a:t>Mem Read</a:t>
                      </a:r>
                    </a:p>
                  </a:txBody>
                  <a:tcPr anchor="ctr"/>
                </a:tc>
                <a:extLst>
                  <a:ext uri="{0D108BD9-81ED-4DB2-BD59-A6C34878D82A}">
                    <a16:rowId xmlns:a16="http://schemas.microsoft.com/office/drawing/2014/main" val="707415226"/>
                  </a:ext>
                </a:extLst>
              </a:tr>
              <a:tr h="200345">
                <a:tc>
                  <a:txBody>
                    <a:bodyPr/>
                    <a:lstStyle/>
                    <a:p>
                      <a:pPr algn="ctr">
                        <a:lnSpc>
                          <a:spcPct val="100000"/>
                        </a:lnSpc>
                      </a:pPr>
                      <a:r>
                        <a:rPr lang="en-US" sz="700"/>
                        <a:t>9</a:t>
                      </a:r>
                    </a:p>
                  </a:txBody>
                  <a:tcPr anchor="ctr"/>
                </a:tc>
                <a:tc>
                  <a:txBody>
                    <a:bodyPr/>
                    <a:lstStyle/>
                    <a:p>
                      <a:pPr algn="l">
                        <a:lnSpc>
                          <a:spcPct val="100000"/>
                        </a:lnSpc>
                      </a:pPr>
                      <a:r>
                        <a:rPr lang="en-US" sz="700"/>
                        <a:t>PC Out</a:t>
                      </a:r>
                    </a:p>
                  </a:txBody>
                  <a:tcPr anchor="ctr"/>
                </a:tc>
                <a:extLst>
                  <a:ext uri="{0D108BD9-81ED-4DB2-BD59-A6C34878D82A}">
                    <a16:rowId xmlns:a16="http://schemas.microsoft.com/office/drawing/2014/main" val="1663806429"/>
                  </a:ext>
                </a:extLst>
              </a:tr>
              <a:tr h="200345">
                <a:tc>
                  <a:txBody>
                    <a:bodyPr/>
                    <a:lstStyle/>
                    <a:p>
                      <a:pPr algn="ctr">
                        <a:lnSpc>
                          <a:spcPct val="100000"/>
                        </a:lnSpc>
                      </a:pPr>
                      <a:r>
                        <a:rPr lang="en-US" sz="700" dirty="0"/>
                        <a:t>8</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a:t>PC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27957"/>
                  </a:ext>
                </a:extLst>
              </a:tr>
              <a:tr h="200345">
                <a:tc>
                  <a:txBody>
                    <a:bodyPr/>
                    <a:lstStyle/>
                    <a:p>
                      <a:pPr algn="ctr">
                        <a:lnSpc>
                          <a:spcPct val="100000"/>
                        </a:lnSpc>
                      </a:pPr>
                      <a:r>
                        <a:rPr lang="en-US" sz="700"/>
                        <a:t>7</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PC advance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70910443"/>
                  </a:ext>
                </a:extLst>
              </a:tr>
              <a:tr h="200345">
                <a:tc>
                  <a:txBody>
                    <a:bodyPr/>
                    <a:lstStyle/>
                    <a:p>
                      <a:pPr algn="ctr">
                        <a:lnSpc>
                          <a:spcPct val="100000"/>
                        </a:lnSpc>
                      </a:pPr>
                      <a:r>
                        <a:rPr lang="en-US" sz="700"/>
                        <a:t>6</a:t>
                      </a:r>
                    </a:p>
                  </a:txBody>
                  <a:tcPr anchor="ctr"/>
                </a:tc>
                <a:tc>
                  <a:txBody>
                    <a:bodyPr/>
                    <a:lstStyle/>
                    <a:p>
                      <a:pPr algn="l">
                        <a:lnSpc>
                          <a:spcPct val="100000"/>
                        </a:lnSpc>
                      </a:pPr>
                      <a:r>
                        <a:rPr lang="en-US" sz="700"/>
                        <a:t>Program Register H Write to Bus (parameter)</a:t>
                      </a:r>
                    </a:p>
                  </a:txBody>
                  <a:tcPr anchor="ctr"/>
                </a:tc>
                <a:extLst>
                  <a:ext uri="{0D108BD9-81ED-4DB2-BD59-A6C34878D82A}">
                    <a16:rowId xmlns:a16="http://schemas.microsoft.com/office/drawing/2014/main" val="631651838"/>
                  </a:ext>
                </a:extLst>
              </a:tr>
              <a:tr h="200345">
                <a:tc>
                  <a:txBody>
                    <a:bodyPr/>
                    <a:lstStyle/>
                    <a:p>
                      <a:pPr algn="ctr">
                        <a:lnSpc>
                          <a:spcPct val="100000"/>
                        </a:lnSpc>
                      </a:pPr>
                      <a:r>
                        <a:rPr lang="en-US" sz="700"/>
                        <a:t>5</a:t>
                      </a:r>
                    </a:p>
                  </a:txBody>
                  <a:tcPr anchor="ctr"/>
                </a:tc>
                <a:tc>
                  <a:txBody>
                    <a:bodyPr/>
                    <a:lstStyle/>
                    <a:p>
                      <a:pPr algn="l">
                        <a:lnSpc>
                          <a:spcPct val="100000"/>
                        </a:lnSpc>
                      </a:pPr>
                      <a:r>
                        <a:rPr lang="en-US" sz="700"/>
                        <a:t>Register File Input Enable</a:t>
                      </a:r>
                    </a:p>
                  </a:txBody>
                  <a:tcPr anchor="ctr"/>
                </a:tc>
                <a:extLst>
                  <a:ext uri="{0D108BD9-81ED-4DB2-BD59-A6C34878D82A}">
                    <a16:rowId xmlns:a16="http://schemas.microsoft.com/office/drawing/2014/main" val="1592812184"/>
                  </a:ext>
                </a:extLst>
              </a:tr>
              <a:tr h="200345">
                <a:tc>
                  <a:txBody>
                    <a:bodyPr/>
                    <a:lstStyle/>
                    <a:p>
                      <a:pPr algn="ctr">
                        <a:lnSpc>
                          <a:spcPct val="100000"/>
                        </a:lnSpc>
                      </a:pPr>
                      <a:r>
                        <a:rPr lang="en-US" sz="700" dirty="0"/>
                        <a:t>4</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Register File Output Enable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5793510"/>
                  </a:ext>
                </a:extLst>
              </a:tr>
              <a:tr h="200345">
                <a:tc>
                  <a:txBody>
                    <a:bodyPr/>
                    <a:lstStyle/>
                    <a:p>
                      <a:pPr algn="ctr">
                        <a:lnSpc>
                          <a:spcPct val="100000"/>
                        </a:lnSpc>
                      </a:pPr>
                      <a:r>
                        <a:rPr lang="en-US" sz="700"/>
                        <a:t>3</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Register File Output Select (parameter – 0 -&gt; Rs1, 1 -&gt; Rs2)</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46366285"/>
                  </a:ext>
                </a:extLst>
              </a:tr>
              <a:tr h="0">
                <a:tc>
                  <a:txBody>
                    <a:bodyPr/>
                    <a:lstStyle/>
                    <a:p>
                      <a:pPr algn="ctr">
                        <a:lnSpc>
                          <a:spcPct val="100000"/>
                        </a:lnSpc>
                      </a:pPr>
                      <a:r>
                        <a:rPr lang="en-US" sz="700"/>
                        <a:t>2</a:t>
                      </a:r>
                    </a:p>
                  </a:txBody>
                  <a:tcPr anchor="ctr"/>
                </a:tc>
                <a:tc>
                  <a:txBody>
                    <a:bodyPr/>
                    <a:lstStyle/>
                    <a:p>
                      <a:pPr algn="l">
                        <a:lnSpc>
                          <a:spcPct val="100000"/>
                        </a:lnSpc>
                      </a:pPr>
                      <a:r>
                        <a:rPr lang="en-US" sz="700" dirty="0"/>
                        <a:t>ALU output enable</a:t>
                      </a:r>
                    </a:p>
                  </a:txBody>
                  <a:tcPr anchor="ctr"/>
                </a:tc>
                <a:extLst>
                  <a:ext uri="{0D108BD9-81ED-4DB2-BD59-A6C34878D82A}">
                    <a16:rowId xmlns:a16="http://schemas.microsoft.com/office/drawing/2014/main" val="2615342211"/>
                  </a:ext>
                </a:extLst>
              </a:tr>
              <a:tr h="156274">
                <a:tc>
                  <a:txBody>
                    <a:bodyPr/>
                    <a:lstStyle/>
                    <a:p>
                      <a:pPr algn="ctr">
                        <a:lnSpc>
                          <a:spcPct val="100000"/>
                        </a:lnSpc>
                      </a:pPr>
                      <a:r>
                        <a:rPr lang="en-US" sz="700"/>
                        <a:t>1</a:t>
                      </a:r>
                    </a:p>
                  </a:txBody>
                  <a:tcPr anchor="ctr"/>
                </a:tc>
                <a:tc>
                  <a:txBody>
                    <a:bodyPr/>
                    <a:lstStyle/>
                    <a:p>
                      <a:pPr algn="l">
                        <a:lnSpc>
                          <a:spcPct val="100000"/>
                        </a:lnSpc>
                      </a:pPr>
                      <a:r>
                        <a:rPr lang="en-US" sz="700" dirty="0"/>
                        <a:t>ALU load register A</a:t>
                      </a:r>
                    </a:p>
                  </a:txBody>
                  <a:tcPr marT="0" anchor="ctr"/>
                </a:tc>
                <a:extLst>
                  <a:ext uri="{0D108BD9-81ED-4DB2-BD59-A6C34878D82A}">
                    <a16:rowId xmlns:a16="http://schemas.microsoft.com/office/drawing/2014/main" val="2055856817"/>
                  </a:ext>
                </a:extLst>
              </a:tr>
              <a:tr h="200345">
                <a:tc>
                  <a:txBody>
                    <a:bodyPr/>
                    <a:lstStyle/>
                    <a:p>
                      <a:pPr algn="ctr">
                        <a:lnSpc>
                          <a:spcPct val="100000"/>
                        </a:lnSpc>
                      </a:pPr>
                      <a:r>
                        <a:rPr lang="en-US" sz="700"/>
                        <a:t>0</a:t>
                      </a:r>
                    </a:p>
                  </a:txBody>
                  <a:tcPr anchor="ctr"/>
                </a:tc>
                <a:tc>
                  <a:txBody>
                    <a:bodyPr/>
                    <a:lstStyle/>
                    <a:p>
                      <a:pPr algn="l">
                        <a:lnSpc>
                          <a:spcPct val="100000"/>
                        </a:lnSpc>
                      </a:pPr>
                      <a:r>
                        <a:rPr lang="en-US" sz="700" dirty="0"/>
                        <a:t>ALU load register B</a:t>
                      </a:r>
                    </a:p>
                  </a:txBody>
                  <a:tcPr anchor="ct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2243996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9D9F8-C3EF-D193-0BD0-39BFC8098529}"/>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35C3FEED-B206-F005-627C-CA50A3F427D4}"/>
              </a:ext>
            </a:extLst>
          </p:cNvPr>
          <p:cNvSpPr>
            <a:spLocks noGrp="1"/>
          </p:cNvSpPr>
          <p:nvPr>
            <p:ph type="ctrTitle"/>
          </p:nvPr>
        </p:nvSpPr>
        <p:spPr>
          <a:xfrm>
            <a:off x="914400" y="182880"/>
            <a:ext cx="9144000" cy="457200"/>
          </a:xfrm>
        </p:spPr>
        <p:txBody>
          <a:bodyPr/>
          <a:lstStyle/>
          <a:p>
            <a:r>
              <a:rPr lang="en-US" dirty="0"/>
              <a:t>Micro-Instructions Control: POP (01111)</a:t>
            </a:r>
          </a:p>
        </p:txBody>
      </p:sp>
      <p:graphicFrame>
        <p:nvGraphicFramePr>
          <p:cNvPr id="5" name="Table 4">
            <a:extLst>
              <a:ext uri="{FF2B5EF4-FFF2-40B4-BE49-F238E27FC236}">
                <a16:creationId xmlns:a16="http://schemas.microsoft.com/office/drawing/2014/main" id="{A1FE19AE-1AFE-8892-A73D-F4E03934A7FE}"/>
              </a:ext>
            </a:extLst>
          </p:cNvPr>
          <p:cNvGraphicFramePr>
            <a:graphicFrameLocks noGrp="1"/>
          </p:cNvGraphicFramePr>
          <p:nvPr>
            <p:extLst>
              <p:ext uri="{D42A27DB-BD31-4B8C-83A1-F6EECF244321}">
                <p14:modId xmlns:p14="http://schemas.microsoft.com/office/powerpoint/2010/main" val="4270814333"/>
              </p:ext>
            </p:extLst>
          </p:nvPr>
        </p:nvGraphicFramePr>
        <p:xfrm>
          <a:off x="4716581" y="742463"/>
          <a:ext cx="6249874" cy="1726679"/>
        </p:xfrm>
        <a:graphic>
          <a:graphicData uri="http://schemas.openxmlformats.org/drawingml/2006/table">
            <a:tbl>
              <a:tblPr firstRow="1" bandRow="1">
                <a:tableStyleId>{5C22544A-7EE6-4342-B048-85BDC9FD1C3A}</a:tableStyleId>
              </a:tblPr>
              <a:tblGrid>
                <a:gridCol w="948528">
                  <a:extLst>
                    <a:ext uri="{9D8B030D-6E8A-4147-A177-3AD203B41FA5}">
                      <a16:colId xmlns:a16="http://schemas.microsoft.com/office/drawing/2014/main" val="1217920130"/>
                    </a:ext>
                  </a:extLst>
                </a:gridCol>
                <a:gridCol w="2465917">
                  <a:extLst>
                    <a:ext uri="{9D8B030D-6E8A-4147-A177-3AD203B41FA5}">
                      <a16:colId xmlns:a16="http://schemas.microsoft.com/office/drawing/2014/main" val="1475888205"/>
                    </a:ext>
                  </a:extLst>
                </a:gridCol>
                <a:gridCol w="2835429">
                  <a:extLst>
                    <a:ext uri="{9D8B030D-6E8A-4147-A177-3AD203B41FA5}">
                      <a16:colId xmlns:a16="http://schemas.microsoft.com/office/drawing/2014/main" val="2801792198"/>
                    </a:ext>
                  </a:extLst>
                </a:gridCol>
              </a:tblGrid>
              <a:tr h="324599">
                <a:tc>
                  <a:txBody>
                    <a:bodyPr/>
                    <a:lstStyle/>
                    <a:p>
                      <a:r>
                        <a:rPr lang="en-US" sz="1200" dirty="0"/>
                        <a:t>Cycle #</a:t>
                      </a:r>
                    </a:p>
                  </a:txBody>
                  <a:tcPr/>
                </a:tc>
                <a:tc>
                  <a:txBody>
                    <a:bodyPr/>
                    <a:lstStyle/>
                    <a:p>
                      <a:r>
                        <a:rPr lang="en-US" sz="1200" dirty="0"/>
                        <a:t>Instruction</a:t>
                      </a:r>
                    </a:p>
                  </a:txBody>
                  <a:tcPr/>
                </a:tc>
                <a:tc>
                  <a:txBody>
                    <a:bodyPr/>
                    <a:lstStyle/>
                    <a:p>
                      <a:r>
                        <a:rPr lang="en-US" sz="1200"/>
                        <a:t>Explanation</a:t>
                      </a:r>
                    </a:p>
                  </a:txBody>
                  <a:tcPr/>
                </a:tc>
                <a:extLst>
                  <a:ext uri="{0D108BD9-81ED-4DB2-BD59-A6C34878D82A}">
                    <a16:rowId xmlns:a16="http://schemas.microsoft.com/office/drawing/2014/main" val="2319756336"/>
                  </a:ext>
                </a:extLst>
              </a:tr>
              <a:tr h="579120">
                <a:tc>
                  <a:txBody>
                    <a:bodyPr/>
                    <a:lstStyle/>
                    <a:p>
                      <a:pPr algn="ctr"/>
                      <a:r>
                        <a:rPr lang="en-US" sz="1200"/>
                        <a:t>0</a:t>
                      </a:r>
                    </a:p>
                  </a:txBody>
                  <a:tcPr/>
                </a:tc>
                <a:tc>
                  <a:txBody>
                    <a:bodyPr/>
                    <a:lstStyle/>
                    <a:p>
                      <a:pPr algn="l"/>
                      <a:r>
                        <a:rPr lang="en-US" sz="1200" dirty="0"/>
                        <a:t>0x01_c4_20</a:t>
                      </a:r>
                    </a:p>
                  </a:txBody>
                  <a:tcPr/>
                </a:tc>
                <a:tc>
                  <a:txBody>
                    <a:bodyPr/>
                    <a:lstStyle/>
                    <a:p>
                      <a:pPr algn="l"/>
                      <a:r>
                        <a:rPr lang="en-US" sz="1200" dirty="0"/>
                        <a:t>(Rd = *SP; SP++;) Write SP to the Address Bus, Set Memory to write to the Data Bus, Set Rd to read from the Data Bus, and increment SP.</a:t>
                      </a:r>
                    </a:p>
                  </a:txBody>
                  <a:tcPr/>
                </a:tc>
                <a:extLst>
                  <a:ext uri="{0D108BD9-81ED-4DB2-BD59-A6C34878D82A}">
                    <a16:rowId xmlns:a16="http://schemas.microsoft.com/office/drawing/2014/main" val="2570910443"/>
                  </a:ext>
                </a:extLst>
              </a:tr>
              <a:tr h="579120">
                <a:tc>
                  <a:txBody>
                    <a:bodyPr/>
                    <a:lstStyle/>
                    <a:p>
                      <a:pPr algn="ctr"/>
                      <a:r>
                        <a:rPr lang="en-US" sz="12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0x00_00_80</a:t>
                      </a:r>
                    </a:p>
                  </a:txBody>
                  <a:tcPr/>
                </a:tc>
                <a:tc>
                  <a:txBody>
                    <a:bodyPr/>
                    <a:lstStyle/>
                    <a:p>
                      <a:pPr algn="l"/>
                      <a:r>
                        <a:rPr lang="en-US" sz="1200" dirty="0"/>
                        <a:t>Advance PC.</a:t>
                      </a:r>
                    </a:p>
                  </a:txBody>
                  <a:tcPr/>
                </a:tc>
                <a:extLst>
                  <a:ext uri="{0D108BD9-81ED-4DB2-BD59-A6C34878D82A}">
                    <a16:rowId xmlns:a16="http://schemas.microsoft.com/office/drawing/2014/main" val="631651838"/>
                  </a:ext>
                </a:extLst>
              </a:tr>
            </a:tbl>
          </a:graphicData>
        </a:graphic>
      </p:graphicFrame>
      <p:pic>
        <p:nvPicPr>
          <p:cNvPr id="2" name="Picture 1">
            <a:hlinkClick r:id="rId3" action="ppaction://hlinksldjump"/>
            <a:extLst>
              <a:ext uri="{FF2B5EF4-FFF2-40B4-BE49-F238E27FC236}">
                <a16:creationId xmlns:a16="http://schemas.microsoft.com/office/drawing/2014/main" id="{32C368D3-8318-B846-936D-A8010B2F4F7A}"/>
              </a:ext>
            </a:extLst>
          </p:cNvPr>
          <p:cNvPicPr>
            <a:picLocks noChangeAspect="1"/>
          </p:cNvPicPr>
          <p:nvPr/>
        </p:nvPicPr>
        <p:blipFill>
          <a:blip r:embed="rId4"/>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6E7B3A47-F6AE-5A30-4F40-CA1A44667278}"/>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55</a:t>
            </a:fld>
            <a:endParaRPr lang="en-US" b="1">
              <a:solidFill>
                <a:schemeClr val="bg1"/>
              </a:solidFill>
            </a:endParaRPr>
          </a:p>
        </p:txBody>
      </p:sp>
      <p:graphicFrame>
        <p:nvGraphicFramePr>
          <p:cNvPr id="3" name="Table 4">
            <a:extLst>
              <a:ext uri="{FF2B5EF4-FFF2-40B4-BE49-F238E27FC236}">
                <a16:creationId xmlns:a16="http://schemas.microsoft.com/office/drawing/2014/main" id="{B2F53A48-8C99-235C-9252-281928442DB9}"/>
              </a:ext>
            </a:extLst>
          </p:cNvPr>
          <p:cNvGraphicFramePr>
            <a:graphicFrameLocks noGrp="1"/>
          </p:cNvGraphicFramePr>
          <p:nvPr>
            <p:extLst>
              <p:ext uri="{D42A27DB-BD31-4B8C-83A1-F6EECF244321}">
                <p14:modId xmlns:p14="http://schemas.microsoft.com/office/powerpoint/2010/main" val="155205378"/>
              </p:ext>
            </p:extLst>
          </p:nvPr>
        </p:nvGraphicFramePr>
        <p:xfrm>
          <a:off x="179752" y="5818357"/>
          <a:ext cx="10585849" cy="595227"/>
        </p:xfrm>
        <a:graphic>
          <a:graphicData uri="http://schemas.openxmlformats.org/drawingml/2006/table">
            <a:tbl>
              <a:tblPr firstRow="1" bandRow="1">
                <a:tableStyleId>{5C22544A-7EE6-4342-B048-85BDC9FD1C3A}</a:tableStyleId>
              </a:tblPr>
              <a:tblGrid>
                <a:gridCol w="998667">
                  <a:extLst>
                    <a:ext uri="{9D8B030D-6E8A-4147-A177-3AD203B41FA5}">
                      <a16:colId xmlns:a16="http://schemas.microsoft.com/office/drawing/2014/main" val="1810408170"/>
                    </a:ext>
                  </a:extLst>
                </a:gridCol>
                <a:gridCol w="970585">
                  <a:extLst>
                    <a:ext uri="{9D8B030D-6E8A-4147-A177-3AD203B41FA5}">
                      <a16:colId xmlns:a16="http://schemas.microsoft.com/office/drawing/2014/main" val="950391025"/>
                    </a:ext>
                  </a:extLst>
                </a:gridCol>
                <a:gridCol w="884832">
                  <a:extLst>
                    <a:ext uri="{9D8B030D-6E8A-4147-A177-3AD203B41FA5}">
                      <a16:colId xmlns:a16="http://schemas.microsoft.com/office/drawing/2014/main" val="1217920130"/>
                    </a:ext>
                  </a:extLst>
                </a:gridCol>
                <a:gridCol w="1402159">
                  <a:extLst>
                    <a:ext uri="{9D8B030D-6E8A-4147-A177-3AD203B41FA5}">
                      <a16:colId xmlns:a16="http://schemas.microsoft.com/office/drawing/2014/main" val="1475888205"/>
                    </a:ext>
                  </a:extLst>
                </a:gridCol>
                <a:gridCol w="1609969">
                  <a:extLst>
                    <a:ext uri="{9D8B030D-6E8A-4147-A177-3AD203B41FA5}">
                      <a16:colId xmlns:a16="http://schemas.microsoft.com/office/drawing/2014/main" val="1355185516"/>
                    </a:ext>
                  </a:extLst>
                </a:gridCol>
                <a:gridCol w="1304925">
                  <a:extLst>
                    <a:ext uri="{9D8B030D-6E8A-4147-A177-3AD203B41FA5}">
                      <a16:colId xmlns:a16="http://schemas.microsoft.com/office/drawing/2014/main" val="1039846299"/>
                    </a:ext>
                  </a:extLst>
                </a:gridCol>
                <a:gridCol w="3414712">
                  <a:extLst>
                    <a:ext uri="{9D8B030D-6E8A-4147-A177-3AD203B41FA5}">
                      <a16:colId xmlns:a16="http://schemas.microsoft.com/office/drawing/2014/main" val="3099546510"/>
                    </a:ext>
                  </a:extLst>
                </a:gridCol>
              </a:tblGrid>
              <a:tr h="241986">
                <a:tc>
                  <a:txBody>
                    <a:bodyPr/>
                    <a:lstStyle/>
                    <a:p>
                      <a:r>
                        <a:rPr lang="en-US" sz="1300" dirty="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dirty="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305667">
                <a:tc>
                  <a:txBody>
                    <a:bodyPr/>
                    <a:lstStyle/>
                    <a:p>
                      <a:pPr algn="ctr"/>
                      <a:r>
                        <a:rPr lang="en-US" sz="1300" dirty="0"/>
                        <a:t>POP</a:t>
                      </a:r>
                    </a:p>
                  </a:txBody>
                  <a:tcPr>
                    <a:solidFill>
                      <a:schemeClr val="accent6"/>
                    </a:solidFill>
                  </a:tcPr>
                </a:tc>
                <a:tc>
                  <a:txBody>
                    <a:bodyPr/>
                    <a:lstStyle/>
                    <a:p>
                      <a:pPr algn="ctr"/>
                      <a:r>
                        <a:rPr lang="en-US" sz="1300" dirty="0"/>
                        <a:t>XX</a:t>
                      </a:r>
                    </a:p>
                  </a:txBody>
                  <a:tcPr/>
                </a:tc>
                <a:tc>
                  <a:txBody>
                    <a:bodyPr/>
                    <a:lstStyle/>
                    <a:p>
                      <a:pPr algn="ctr"/>
                      <a:r>
                        <a:rPr lang="en-US" sz="1300" dirty="0"/>
                        <a:t>XX</a:t>
                      </a:r>
                    </a:p>
                  </a:txBody>
                  <a:tcPr/>
                </a:tc>
                <a:tc>
                  <a:txBody>
                    <a:bodyPr/>
                    <a:lstStyle/>
                    <a:p>
                      <a:pPr algn="ctr"/>
                      <a:r>
                        <a:rPr lang="en-US" sz="1300" dirty="0"/>
                        <a:t>XXXX</a:t>
                      </a:r>
                    </a:p>
                  </a:txBody>
                  <a:tcPr/>
                </a:tc>
                <a:tc>
                  <a:txBody>
                    <a:bodyPr/>
                    <a:lstStyle/>
                    <a:p>
                      <a:pPr algn="ctr"/>
                      <a:r>
                        <a:rPr lang="en-US" sz="1300" dirty="0"/>
                        <a:t>Rd</a:t>
                      </a:r>
                    </a:p>
                  </a:txBody>
                  <a:tcPr/>
                </a:tc>
                <a:tc>
                  <a:txBody>
                    <a:bodyPr/>
                    <a:lstStyle/>
                    <a:p>
                      <a:pPr algn="ctr"/>
                      <a:r>
                        <a:rPr lang="en-US" sz="1300" dirty="0"/>
                        <a:t>X</a:t>
                      </a:r>
                    </a:p>
                  </a:txBody>
                  <a:tcPr/>
                </a:tc>
                <a:tc>
                  <a:txBody>
                    <a:bodyPr/>
                    <a:lstStyle/>
                    <a:p>
                      <a:pPr algn="ctr"/>
                      <a:r>
                        <a:rPr lang="en-US" sz="1300" dirty="0" err="1"/>
                        <a:t>OpCode</a:t>
                      </a:r>
                      <a:r>
                        <a:rPr lang="en-US" sz="1300" dirty="0"/>
                        <a:t>=0x0f</a:t>
                      </a:r>
                    </a:p>
                  </a:txBody>
                  <a:tcPr/>
                </a:tc>
                <a:extLst>
                  <a:ext uri="{0D108BD9-81ED-4DB2-BD59-A6C34878D82A}">
                    <a16:rowId xmlns:a16="http://schemas.microsoft.com/office/drawing/2014/main" val="2570910443"/>
                  </a:ext>
                </a:extLst>
              </a:tr>
            </a:tbl>
          </a:graphicData>
        </a:graphic>
      </p:graphicFrame>
      <p:sp>
        <p:nvSpPr>
          <p:cNvPr id="4" name="TextBox 3">
            <a:extLst>
              <a:ext uri="{FF2B5EF4-FFF2-40B4-BE49-F238E27FC236}">
                <a16:creationId xmlns:a16="http://schemas.microsoft.com/office/drawing/2014/main" id="{75DAA6B7-DF62-0B04-86DB-DFE7F58D6B77}"/>
              </a:ext>
            </a:extLst>
          </p:cNvPr>
          <p:cNvSpPr txBox="1"/>
          <p:nvPr/>
        </p:nvSpPr>
        <p:spPr>
          <a:xfrm>
            <a:off x="10966456" y="2"/>
            <a:ext cx="655949" cy="1323439"/>
          </a:xfrm>
          <a:prstGeom prst="rect">
            <a:avLst/>
          </a:prstGeom>
          <a:noFill/>
        </p:spPr>
        <p:txBody>
          <a:bodyPr wrap="none" rtlCol="0">
            <a:spAutoFit/>
          </a:bodyPr>
          <a:lstStyle/>
          <a:p>
            <a:r>
              <a:rPr lang="en-US" sz="8000" dirty="0">
                <a:solidFill>
                  <a:schemeClr val="accent1">
                    <a:lumMod val="60000"/>
                    <a:lumOff val="40000"/>
                  </a:schemeClr>
                </a:solidFill>
              </a:rPr>
              <a:t>F</a:t>
            </a:r>
          </a:p>
        </p:txBody>
      </p:sp>
      <p:sp>
        <p:nvSpPr>
          <p:cNvPr id="6" name="TextBox 5">
            <a:extLst>
              <a:ext uri="{FF2B5EF4-FFF2-40B4-BE49-F238E27FC236}">
                <a16:creationId xmlns:a16="http://schemas.microsoft.com/office/drawing/2014/main" id="{B050D677-160E-B531-5F75-33143192D450}"/>
              </a:ext>
            </a:extLst>
          </p:cNvPr>
          <p:cNvSpPr txBox="1"/>
          <p:nvPr/>
        </p:nvSpPr>
        <p:spPr>
          <a:xfrm>
            <a:off x="6615405" y="4958332"/>
            <a:ext cx="1367682"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POP R1</a:t>
            </a:r>
          </a:p>
        </p:txBody>
      </p:sp>
      <p:sp>
        <p:nvSpPr>
          <p:cNvPr id="7" name="TextBox 6">
            <a:extLst>
              <a:ext uri="{FF2B5EF4-FFF2-40B4-BE49-F238E27FC236}">
                <a16:creationId xmlns:a16="http://schemas.microsoft.com/office/drawing/2014/main" id="{EE769354-458B-2172-18DC-36341E65606D}"/>
              </a:ext>
            </a:extLst>
          </p:cNvPr>
          <p:cNvSpPr txBox="1"/>
          <p:nvPr/>
        </p:nvSpPr>
        <p:spPr>
          <a:xfrm>
            <a:off x="6615405" y="3666696"/>
            <a:ext cx="1959191" cy="954107"/>
          </a:xfrm>
          <a:prstGeom prst="rect">
            <a:avLst/>
          </a:prstGeom>
          <a:noFill/>
        </p:spPr>
        <p:txBody>
          <a:bodyPr wrap="none" rtlCol="0">
            <a:spAutoFit/>
          </a:bodyPr>
          <a:lstStyle/>
          <a:p>
            <a:r>
              <a:rPr lang="en-US" sz="2800" dirty="0">
                <a:solidFill>
                  <a:srgbClr val="00B050"/>
                </a:solidFill>
                <a:latin typeface="Consolas" panose="020B0609020204030204" pitchFamily="49" charset="0"/>
              </a:rPr>
              <a:t>Rd = *SP;</a:t>
            </a:r>
          </a:p>
          <a:p>
            <a:r>
              <a:rPr lang="en-US" sz="2800" dirty="0">
                <a:solidFill>
                  <a:srgbClr val="00B050"/>
                </a:solidFill>
                <a:latin typeface="Consolas" panose="020B0609020204030204" pitchFamily="49" charset="0"/>
              </a:rPr>
              <a:t>SP++</a:t>
            </a:r>
          </a:p>
        </p:txBody>
      </p:sp>
      <p:graphicFrame>
        <p:nvGraphicFramePr>
          <p:cNvPr id="8" name="Table 4">
            <a:extLst>
              <a:ext uri="{FF2B5EF4-FFF2-40B4-BE49-F238E27FC236}">
                <a16:creationId xmlns:a16="http://schemas.microsoft.com/office/drawing/2014/main" id="{F2793F25-0401-E881-3668-FCE337EFE2B5}"/>
              </a:ext>
            </a:extLst>
          </p:cNvPr>
          <p:cNvGraphicFramePr>
            <a:graphicFrameLocks noGrp="1"/>
          </p:cNvGraphicFramePr>
          <p:nvPr>
            <p:extLst>
              <p:ext uri="{D42A27DB-BD31-4B8C-83A1-F6EECF244321}">
                <p14:modId xmlns:p14="http://schemas.microsoft.com/office/powerpoint/2010/main" val="672536172"/>
              </p:ext>
            </p:extLst>
          </p:nvPr>
        </p:nvGraphicFramePr>
        <p:xfrm>
          <a:off x="179752" y="742463"/>
          <a:ext cx="4329725" cy="5004175"/>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00345">
                <a:tc>
                  <a:txBody>
                    <a:bodyPr/>
                    <a:lstStyle/>
                    <a:p>
                      <a:pPr>
                        <a:lnSpc>
                          <a:spcPct val="100000"/>
                        </a:lnSpc>
                      </a:pPr>
                      <a:r>
                        <a:rPr lang="en-US" sz="700"/>
                        <a:t>Bit</a:t>
                      </a:r>
                    </a:p>
                  </a:txBody>
                  <a:tcPr anchor="ctr"/>
                </a:tc>
                <a:tc>
                  <a:txBody>
                    <a:bodyPr/>
                    <a:lstStyle/>
                    <a:p>
                      <a:pPr>
                        <a:lnSpc>
                          <a:spcPct val="100000"/>
                        </a:lnSpc>
                      </a:pPr>
                      <a:r>
                        <a:rPr lang="en-US" sz="700" dirty="0"/>
                        <a:t>Operation</a:t>
                      </a:r>
                    </a:p>
                  </a:txBody>
                  <a:tcPr anchor="ctr"/>
                </a:tc>
                <a:extLst>
                  <a:ext uri="{0D108BD9-81ED-4DB2-BD59-A6C34878D82A}">
                    <a16:rowId xmlns:a16="http://schemas.microsoft.com/office/drawing/2014/main" val="2319756336"/>
                  </a:ext>
                </a:extLst>
              </a:tr>
              <a:tr h="200345">
                <a:tc>
                  <a:txBody>
                    <a:bodyPr/>
                    <a:lstStyle/>
                    <a:p>
                      <a:pPr algn="ctr">
                        <a:lnSpc>
                          <a:spcPct val="100000"/>
                        </a:lnSpc>
                      </a:pPr>
                      <a:r>
                        <a:rPr lang="en-US" sz="700" dirty="0"/>
                        <a:t>23</a:t>
                      </a:r>
                    </a:p>
                  </a:txBody>
                  <a:tcPr anchor="ctr"/>
                </a:tc>
                <a:tc>
                  <a:txBody>
                    <a:bodyPr/>
                    <a:lstStyle/>
                    <a:p>
                      <a:pPr algn="l">
                        <a:lnSpc>
                          <a:spcPct val="100000"/>
                        </a:lnSpc>
                      </a:pPr>
                      <a:r>
                        <a:rPr lang="en-US" sz="700" dirty="0"/>
                        <a:t>Not Used</a:t>
                      </a:r>
                    </a:p>
                  </a:txBody>
                  <a:tcPr anchor="ctr"/>
                </a:tc>
                <a:extLst>
                  <a:ext uri="{0D108BD9-81ED-4DB2-BD59-A6C34878D82A}">
                    <a16:rowId xmlns:a16="http://schemas.microsoft.com/office/drawing/2014/main" val="3576468534"/>
                  </a:ext>
                </a:extLst>
              </a:tr>
              <a:tr h="200345">
                <a:tc>
                  <a:txBody>
                    <a:bodyPr/>
                    <a:lstStyle/>
                    <a:p>
                      <a:pPr algn="ctr">
                        <a:lnSpc>
                          <a:spcPct val="100000"/>
                        </a:lnSpc>
                      </a:pPr>
                      <a:r>
                        <a:rPr lang="en-US" sz="700" dirty="0"/>
                        <a:t>22</a:t>
                      </a:r>
                    </a:p>
                  </a:txBody>
                  <a:tcPr anchor="ctr"/>
                </a:tc>
                <a:tc>
                  <a:txBody>
                    <a:bodyPr/>
                    <a:lstStyle/>
                    <a:p>
                      <a:pPr algn="l">
                        <a:lnSpc>
                          <a:spcPct val="100000"/>
                        </a:lnSpc>
                      </a:pPr>
                      <a:r>
                        <a:rPr lang="en-US" sz="700" dirty="0" err="1"/>
                        <a:t>AddressHorL</a:t>
                      </a:r>
                      <a:endParaRPr lang="en-US" sz="700" dirty="0"/>
                    </a:p>
                  </a:txBody>
                  <a:tcPr anchor="ctr"/>
                </a:tc>
                <a:extLst>
                  <a:ext uri="{0D108BD9-81ED-4DB2-BD59-A6C34878D82A}">
                    <a16:rowId xmlns:a16="http://schemas.microsoft.com/office/drawing/2014/main" val="79971578"/>
                  </a:ext>
                </a:extLst>
              </a:tr>
              <a:tr h="200345">
                <a:tc>
                  <a:txBody>
                    <a:bodyPr/>
                    <a:lstStyle/>
                    <a:p>
                      <a:pPr algn="ctr">
                        <a:lnSpc>
                          <a:spcPct val="100000"/>
                        </a:lnSpc>
                      </a:pPr>
                      <a:r>
                        <a:rPr lang="en-US" sz="700" dirty="0"/>
                        <a:t>21</a:t>
                      </a:r>
                    </a:p>
                  </a:txBody>
                  <a:tcPr anchor="ctr"/>
                </a:tc>
                <a:tc>
                  <a:txBody>
                    <a:bodyPr/>
                    <a:lstStyle/>
                    <a:p>
                      <a:pPr algn="l">
                        <a:lnSpc>
                          <a:spcPct val="100000"/>
                        </a:lnSpc>
                      </a:pPr>
                      <a:r>
                        <a:rPr lang="en-US" sz="700" dirty="0" err="1"/>
                        <a:t>AddressBusToDataBus</a:t>
                      </a:r>
                      <a:endParaRPr lang="en-US" sz="700" dirty="0"/>
                    </a:p>
                  </a:txBody>
                  <a:tcPr anchor="ctr"/>
                </a:tc>
                <a:extLst>
                  <a:ext uri="{0D108BD9-81ED-4DB2-BD59-A6C34878D82A}">
                    <a16:rowId xmlns:a16="http://schemas.microsoft.com/office/drawing/2014/main" val="4135939119"/>
                  </a:ext>
                </a:extLst>
              </a:tr>
              <a:tr h="200345">
                <a:tc>
                  <a:txBody>
                    <a:bodyPr/>
                    <a:lstStyle/>
                    <a:p>
                      <a:pPr algn="ctr">
                        <a:lnSpc>
                          <a:spcPct val="100000"/>
                        </a:lnSpc>
                      </a:pPr>
                      <a:r>
                        <a:rPr lang="en-US" sz="700" dirty="0"/>
                        <a:t>20</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err="1"/>
                        <a:t>TmpARWrite</a:t>
                      </a:r>
                      <a:endParaRPr lang="en-US" sz="700"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9580944"/>
                  </a:ext>
                </a:extLst>
              </a:tr>
              <a:tr h="200345">
                <a:tc>
                  <a:txBody>
                    <a:bodyPr/>
                    <a:lstStyle/>
                    <a:p>
                      <a:pPr algn="ctr">
                        <a:lnSpc>
                          <a:spcPct val="100000"/>
                        </a:lnSpc>
                      </a:pPr>
                      <a:r>
                        <a:rPr lang="en-US" sz="700" dirty="0"/>
                        <a:t>19</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err="1"/>
                        <a:t>TmpARRead</a:t>
                      </a:r>
                      <a:endParaRPr lang="en-US" sz="700"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35159618"/>
                  </a:ext>
                </a:extLst>
              </a:tr>
              <a:tr h="200345">
                <a:tc>
                  <a:txBody>
                    <a:bodyPr/>
                    <a:lstStyle/>
                    <a:p>
                      <a:pPr algn="ctr">
                        <a:lnSpc>
                          <a:spcPct val="100000"/>
                        </a:lnSpc>
                      </a:pPr>
                      <a:r>
                        <a:rPr lang="en-US" sz="700" dirty="0"/>
                        <a:t>18</a:t>
                      </a:r>
                    </a:p>
                  </a:txBody>
                  <a:tcPr anchor="ctr"/>
                </a:tc>
                <a:tc>
                  <a:txBody>
                    <a:bodyPr/>
                    <a:lstStyle/>
                    <a:p>
                      <a:pPr algn="l">
                        <a:lnSpc>
                          <a:spcPct val="100000"/>
                        </a:lnSpc>
                      </a:pPr>
                      <a:r>
                        <a:rPr lang="en-US" sz="700" dirty="0" err="1"/>
                        <a:t>loadARHorL</a:t>
                      </a:r>
                      <a:endParaRPr lang="en-US" sz="700" dirty="0"/>
                    </a:p>
                  </a:txBody>
                  <a:tcPr anchor="ctr"/>
                </a:tc>
                <a:extLst>
                  <a:ext uri="{0D108BD9-81ED-4DB2-BD59-A6C34878D82A}">
                    <a16:rowId xmlns:a16="http://schemas.microsoft.com/office/drawing/2014/main" val="2357817394"/>
                  </a:ext>
                </a:extLst>
              </a:tr>
              <a:tr h="200345">
                <a:tc>
                  <a:txBody>
                    <a:bodyPr/>
                    <a:lstStyle/>
                    <a:p>
                      <a:pPr algn="ctr">
                        <a:lnSpc>
                          <a:spcPct val="100000"/>
                        </a:lnSpc>
                      </a:pPr>
                      <a:r>
                        <a:rPr lang="en-US" sz="700"/>
                        <a:t>17</a:t>
                      </a:r>
                    </a:p>
                  </a:txBody>
                  <a:tcPr anchor="ctr"/>
                </a:tc>
                <a:tc>
                  <a:txBody>
                    <a:bodyPr/>
                    <a:lstStyle/>
                    <a:p>
                      <a:pPr algn="l">
                        <a:lnSpc>
                          <a:spcPct val="100000"/>
                        </a:lnSpc>
                      </a:pPr>
                      <a:r>
                        <a:rPr lang="en-US" sz="700" dirty="0" err="1"/>
                        <a:t>loadAR</a:t>
                      </a:r>
                      <a:r>
                        <a:rPr lang="en-US" sz="700" dirty="0"/>
                        <a:t> (formerly: Load Special Pointer)</a:t>
                      </a:r>
                    </a:p>
                  </a:txBody>
                  <a:tcPr anchor="ctr"/>
                </a:tc>
                <a:extLst>
                  <a:ext uri="{0D108BD9-81ED-4DB2-BD59-A6C34878D82A}">
                    <a16:rowId xmlns:a16="http://schemas.microsoft.com/office/drawing/2014/main" val="2759210480"/>
                  </a:ext>
                </a:extLst>
              </a:tr>
              <a:tr h="200345">
                <a:tc>
                  <a:txBody>
                    <a:bodyPr/>
                    <a:lstStyle/>
                    <a:p>
                      <a:pPr algn="ctr">
                        <a:lnSpc>
                          <a:spcPct val="100000"/>
                        </a:lnSpc>
                      </a:pPr>
                      <a:r>
                        <a:rPr lang="en-US" sz="700" dirty="0"/>
                        <a:t>16</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Stack Pointer Increment / Decrement (0: decrease / 1: increase)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6363256"/>
                  </a:ext>
                </a:extLst>
              </a:tr>
              <a:tr h="200345">
                <a:tc>
                  <a:txBody>
                    <a:bodyPr/>
                    <a:lstStyle/>
                    <a:p>
                      <a:pPr algn="ctr">
                        <a:lnSpc>
                          <a:spcPct val="100000"/>
                        </a:lnSpc>
                      </a:pPr>
                      <a:r>
                        <a:rPr lang="en-US" sz="700"/>
                        <a:t>15</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Stack Pointer Count</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49660566"/>
                  </a:ext>
                </a:extLst>
              </a:tr>
              <a:tr h="200345">
                <a:tc>
                  <a:txBody>
                    <a:bodyPr/>
                    <a:lstStyle/>
                    <a:p>
                      <a:pPr algn="ctr">
                        <a:lnSpc>
                          <a:spcPct val="100000"/>
                        </a:lnSpc>
                      </a:pPr>
                      <a:r>
                        <a:rPr lang="en-US" sz="700"/>
                        <a:t>14</a:t>
                      </a:r>
                    </a:p>
                  </a:txBody>
                  <a:tcPr anchor="ctr"/>
                </a:tc>
                <a:tc>
                  <a:txBody>
                    <a:bodyPr/>
                    <a:lstStyle/>
                    <a:p>
                      <a:pPr algn="l">
                        <a:lnSpc>
                          <a:spcPct val="100000"/>
                        </a:lnSpc>
                      </a:pPr>
                      <a:r>
                        <a:rPr lang="en-US" sz="700" dirty="0"/>
                        <a:t>SP Out (formerly: RAM Address Select (0: Address register / 1: Stack pointer))</a:t>
                      </a:r>
                    </a:p>
                  </a:txBody>
                  <a:tcPr anchor="ctr"/>
                </a:tc>
                <a:extLst>
                  <a:ext uri="{0D108BD9-81ED-4DB2-BD59-A6C34878D82A}">
                    <a16:rowId xmlns:a16="http://schemas.microsoft.com/office/drawing/2014/main" val="645489424"/>
                  </a:ext>
                </a:extLst>
              </a:tr>
              <a:tr h="200345">
                <a:tc>
                  <a:txBody>
                    <a:bodyPr/>
                    <a:lstStyle/>
                    <a:p>
                      <a:pPr algn="ctr">
                        <a:lnSpc>
                          <a:spcPct val="100000"/>
                        </a:lnSpc>
                      </a:pPr>
                      <a:r>
                        <a:rPr lang="en-US" sz="700"/>
                        <a:t>13</a:t>
                      </a:r>
                    </a:p>
                  </a:txBody>
                  <a:tcPr anchor="ctr"/>
                </a:tc>
                <a:tc>
                  <a:txBody>
                    <a:bodyPr/>
                    <a:lstStyle/>
                    <a:p>
                      <a:pPr algn="l">
                        <a:lnSpc>
                          <a:spcPct val="100000"/>
                        </a:lnSpc>
                      </a:pPr>
                      <a:r>
                        <a:rPr lang="en-US" sz="700"/>
                        <a:t>Use Rd as Source</a:t>
                      </a:r>
                    </a:p>
                  </a:txBody>
                  <a:tcPr anchor="ctr"/>
                </a:tc>
                <a:extLst>
                  <a:ext uri="{0D108BD9-81ED-4DB2-BD59-A6C34878D82A}">
                    <a16:rowId xmlns:a16="http://schemas.microsoft.com/office/drawing/2014/main" val="2745442092"/>
                  </a:ext>
                </a:extLst>
              </a:tr>
              <a:tr h="200345">
                <a:tc>
                  <a:txBody>
                    <a:bodyPr/>
                    <a:lstStyle/>
                    <a:p>
                      <a:pPr algn="ctr">
                        <a:lnSpc>
                          <a:spcPct val="100000"/>
                        </a:lnSpc>
                      </a:pPr>
                      <a:r>
                        <a:rPr lang="en-US" sz="700" dirty="0"/>
                        <a:t>12</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Lower Address Register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762316"/>
                  </a:ext>
                </a:extLst>
              </a:tr>
              <a:tr h="200345">
                <a:tc>
                  <a:txBody>
                    <a:bodyPr/>
                    <a:lstStyle/>
                    <a:p>
                      <a:pPr algn="ctr">
                        <a:lnSpc>
                          <a:spcPct val="100000"/>
                        </a:lnSpc>
                      </a:pPr>
                      <a:r>
                        <a:rPr lang="en-US" sz="700"/>
                        <a:t>11</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Mem Write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66008767"/>
                  </a:ext>
                </a:extLst>
              </a:tr>
              <a:tr h="200345">
                <a:tc>
                  <a:txBody>
                    <a:bodyPr/>
                    <a:lstStyle/>
                    <a:p>
                      <a:pPr algn="ctr">
                        <a:lnSpc>
                          <a:spcPct val="100000"/>
                        </a:lnSpc>
                      </a:pPr>
                      <a:r>
                        <a:rPr lang="en-US" sz="700"/>
                        <a:t>10</a:t>
                      </a:r>
                    </a:p>
                  </a:txBody>
                  <a:tcPr anchor="ctr"/>
                </a:tc>
                <a:tc>
                  <a:txBody>
                    <a:bodyPr/>
                    <a:lstStyle/>
                    <a:p>
                      <a:pPr algn="l">
                        <a:lnSpc>
                          <a:spcPct val="100000"/>
                        </a:lnSpc>
                      </a:pPr>
                      <a:r>
                        <a:rPr lang="en-US" sz="700"/>
                        <a:t>Mem Read</a:t>
                      </a:r>
                    </a:p>
                  </a:txBody>
                  <a:tcPr anchor="ctr"/>
                </a:tc>
                <a:extLst>
                  <a:ext uri="{0D108BD9-81ED-4DB2-BD59-A6C34878D82A}">
                    <a16:rowId xmlns:a16="http://schemas.microsoft.com/office/drawing/2014/main" val="707415226"/>
                  </a:ext>
                </a:extLst>
              </a:tr>
              <a:tr h="200345">
                <a:tc>
                  <a:txBody>
                    <a:bodyPr/>
                    <a:lstStyle/>
                    <a:p>
                      <a:pPr algn="ctr">
                        <a:lnSpc>
                          <a:spcPct val="100000"/>
                        </a:lnSpc>
                      </a:pPr>
                      <a:r>
                        <a:rPr lang="en-US" sz="700"/>
                        <a:t>9</a:t>
                      </a:r>
                    </a:p>
                  </a:txBody>
                  <a:tcPr anchor="ctr"/>
                </a:tc>
                <a:tc>
                  <a:txBody>
                    <a:bodyPr/>
                    <a:lstStyle/>
                    <a:p>
                      <a:pPr algn="l">
                        <a:lnSpc>
                          <a:spcPct val="100000"/>
                        </a:lnSpc>
                      </a:pPr>
                      <a:r>
                        <a:rPr lang="en-US" sz="700"/>
                        <a:t>PC Out</a:t>
                      </a:r>
                    </a:p>
                  </a:txBody>
                  <a:tcPr anchor="ctr"/>
                </a:tc>
                <a:extLst>
                  <a:ext uri="{0D108BD9-81ED-4DB2-BD59-A6C34878D82A}">
                    <a16:rowId xmlns:a16="http://schemas.microsoft.com/office/drawing/2014/main" val="1663806429"/>
                  </a:ext>
                </a:extLst>
              </a:tr>
              <a:tr h="200345">
                <a:tc>
                  <a:txBody>
                    <a:bodyPr/>
                    <a:lstStyle/>
                    <a:p>
                      <a:pPr algn="ctr">
                        <a:lnSpc>
                          <a:spcPct val="100000"/>
                        </a:lnSpc>
                      </a:pPr>
                      <a:r>
                        <a:rPr lang="en-US" sz="700" dirty="0"/>
                        <a:t>8</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a:t>PC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27957"/>
                  </a:ext>
                </a:extLst>
              </a:tr>
              <a:tr h="200345">
                <a:tc>
                  <a:txBody>
                    <a:bodyPr/>
                    <a:lstStyle/>
                    <a:p>
                      <a:pPr algn="ctr">
                        <a:lnSpc>
                          <a:spcPct val="100000"/>
                        </a:lnSpc>
                      </a:pPr>
                      <a:r>
                        <a:rPr lang="en-US" sz="700"/>
                        <a:t>7</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PC advance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70910443"/>
                  </a:ext>
                </a:extLst>
              </a:tr>
              <a:tr h="200345">
                <a:tc>
                  <a:txBody>
                    <a:bodyPr/>
                    <a:lstStyle/>
                    <a:p>
                      <a:pPr algn="ctr">
                        <a:lnSpc>
                          <a:spcPct val="100000"/>
                        </a:lnSpc>
                      </a:pPr>
                      <a:r>
                        <a:rPr lang="en-US" sz="700"/>
                        <a:t>6</a:t>
                      </a:r>
                    </a:p>
                  </a:txBody>
                  <a:tcPr anchor="ctr"/>
                </a:tc>
                <a:tc>
                  <a:txBody>
                    <a:bodyPr/>
                    <a:lstStyle/>
                    <a:p>
                      <a:pPr algn="l">
                        <a:lnSpc>
                          <a:spcPct val="100000"/>
                        </a:lnSpc>
                      </a:pPr>
                      <a:r>
                        <a:rPr lang="en-US" sz="700"/>
                        <a:t>Program Register H Write to Bus (parameter)</a:t>
                      </a:r>
                    </a:p>
                  </a:txBody>
                  <a:tcPr anchor="ctr"/>
                </a:tc>
                <a:extLst>
                  <a:ext uri="{0D108BD9-81ED-4DB2-BD59-A6C34878D82A}">
                    <a16:rowId xmlns:a16="http://schemas.microsoft.com/office/drawing/2014/main" val="631651838"/>
                  </a:ext>
                </a:extLst>
              </a:tr>
              <a:tr h="200345">
                <a:tc>
                  <a:txBody>
                    <a:bodyPr/>
                    <a:lstStyle/>
                    <a:p>
                      <a:pPr algn="ctr">
                        <a:lnSpc>
                          <a:spcPct val="100000"/>
                        </a:lnSpc>
                      </a:pPr>
                      <a:r>
                        <a:rPr lang="en-US" sz="700"/>
                        <a:t>5</a:t>
                      </a:r>
                    </a:p>
                  </a:txBody>
                  <a:tcPr anchor="ctr"/>
                </a:tc>
                <a:tc>
                  <a:txBody>
                    <a:bodyPr/>
                    <a:lstStyle/>
                    <a:p>
                      <a:pPr algn="l">
                        <a:lnSpc>
                          <a:spcPct val="100000"/>
                        </a:lnSpc>
                      </a:pPr>
                      <a:r>
                        <a:rPr lang="en-US" sz="700"/>
                        <a:t>Register File Input Enable</a:t>
                      </a:r>
                    </a:p>
                  </a:txBody>
                  <a:tcPr anchor="ctr"/>
                </a:tc>
                <a:extLst>
                  <a:ext uri="{0D108BD9-81ED-4DB2-BD59-A6C34878D82A}">
                    <a16:rowId xmlns:a16="http://schemas.microsoft.com/office/drawing/2014/main" val="1592812184"/>
                  </a:ext>
                </a:extLst>
              </a:tr>
              <a:tr h="200345">
                <a:tc>
                  <a:txBody>
                    <a:bodyPr/>
                    <a:lstStyle/>
                    <a:p>
                      <a:pPr algn="ctr">
                        <a:lnSpc>
                          <a:spcPct val="100000"/>
                        </a:lnSpc>
                      </a:pPr>
                      <a:r>
                        <a:rPr lang="en-US" sz="700" dirty="0"/>
                        <a:t>4</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Register File Output Enable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5793510"/>
                  </a:ext>
                </a:extLst>
              </a:tr>
              <a:tr h="200345">
                <a:tc>
                  <a:txBody>
                    <a:bodyPr/>
                    <a:lstStyle/>
                    <a:p>
                      <a:pPr algn="ctr">
                        <a:lnSpc>
                          <a:spcPct val="100000"/>
                        </a:lnSpc>
                      </a:pPr>
                      <a:r>
                        <a:rPr lang="en-US" sz="700"/>
                        <a:t>3</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Register File Output Select (parameter – 0 -&gt; Rs1, 1 -&gt; Rs2)</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46366285"/>
                  </a:ext>
                </a:extLst>
              </a:tr>
              <a:tr h="0">
                <a:tc>
                  <a:txBody>
                    <a:bodyPr/>
                    <a:lstStyle/>
                    <a:p>
                      <a:pPr algn="ctr">
                        <a:lnSpc>
                          <a:spcPct val="100000"/>
                        </a:lnSpc>
                      </a:pPr>
                      <a:r>
                        <a:rPr lang="en-US" sz="700"/>
                        <a:t>2</a:t>
                      </a:r>
                    </a:p>
                  </a:txBody>
                  <a:tcPr anchor="ctr"/>
                </a:tc>
                <a:tc>
                  <a:txBody>
                    <a:bodyPr/>
                    <a:lstStyle/>
                    <a:p>
                      <a:pPr algn="l">
                        <a:lnSpc>
                          <a:spcPct val="100000"/>
                        </a:lnSpc>
                      </a:pPr>
                      <a:r>
                        <a:rPr lang="en-US" sz="700" dirty="0"/>
                        <a:t>ALU output enable</a:t>
                      </a:r>
                    </a:p>
                  </a:txBody>
                  <a:tcPr anchor="ctr"/>
                </a:tc>
                <a:extLst>
                  <a:ext uri="{0D108BD9-81ED-4DB2-BD59-A6C34878D82A}">
                    <a16:rowId xmlns:a16="http://schemas.microsoft.com/office/drawing/2014/main" val="2615342211"/>
                  </a:ext>
                </a:extLst>
              </a:tr>
              <a:tr h="156274">
                <a:tc>
                  <a:txBody>
                    <a:bodyPr/>
                    <a:lstStyle/>
                    <a:p>
                      <a:pPr algn="ctr">
                        <a:lnSpc>
                          <a:spcPct val="100000"/>
                        </a:lnSpc>
                      </a:pPr>
                      <a:r>
                        <a:rPr lang="en-US" sz="700"/>
                        <a:t>1</a:t>
                      </a:r>
                    </a:p>
                  </a:txBody>
                  <a:tcPr anchor="ctr"/>
                </a:tc>
                <a:tc>
                  <a:txBody>
                    <a:bodyPr/>
                    <a:lstStyle/>
                    <a:p>
                      <a:pPr algn="l">
                        <a:lnSpc>
                          <a:spcPct val="100000"/>
                        </a:lnSpc>
                      </a:pPr>
                      <a:r>
                        <a:rPr lang="en-US" sz="700" dirty="0"/>
                        <a:t>ALU load register A</a:t>
                      </a:r>
                    </a:p>
                  </a:txBody>
                  <a:tcPr marT="0" anchor="ctr"/>
                </a:tc>
                <a:extLst>
                  <a:ext uri="{0D108BD9-81ED-4DB2-BD59-A6C34878D82A}">
                    <a16:rowId xmlns:a16="http://schemas.microsoft.com/office/drawing/2014/main" val="2055856817"/>
                  </a:ext>
                </a:extLst>
              </a:tr>
              <a:tr h="200345">
                <a:tc>
                  <a:txBody>
                    <a:bodyPr/>
                    <a:lstStyle/>
                    <a:p>
                      <a:pPr algn="ctr">
                        <a:lnSpc>
                          <a:spcPct val="100000"/>
                        </a:lnSpc>
                      </a:pPr>
                      <a:r>
                        <a:rPr lang="en-US" sz="700"/>
                        <a:t>0</a:t>
                      </a:r>
                    </a:p>
                  </a:txBody>
                  <a:tcPr anchor="ctr"/>
                </a:tc>
                <a:tc>
                  <a:txBody>
                    <a:bodyPr/>
                    <a:lstStyle/>
                    <a:p>
                      <a:pPr algn="l">
                        <a:lnSpc>
                          <a:spcPct val="100000"/>
                        </a:lnSpc>
                      </a:pPr>
                      <a:r>
                        <a:rPr lang="en-US" sz="700" dirty="0"/>
                        <a:t>ALU load register B</a:t>
                      </a:r>
                    </a:p>
                  </a:txBody>
                  <a:tcPr anchor="ct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293732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0F85A-E372-E6DE-DBFA-1E083ACD3626}"/>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F56C4FE5-2344-E136-C7F8-D19E872F1E94}"/>
              </a:ext>
            </a:extLst>
          </p:cNvPr>
          <p:cNvSpPr>
            <a:spLocks noGrp="1"/>
          </p:cNvSpPr>
          <p:nvPr>
            <p:ph type="ctrTitle"/>
          </p:nvPr>
        </p:nvSpPr>
        <p:spPr>
          <a:xfrm>
            <a:off x="914400" y="182880"/>
            <a:ext cx="9144000" cy="457200"/>
          </a:xfrm>
        </p:spPr>
        <p:txBody>
          <a:bodyPr/>
          <a:lstStyle/>
          <a:p>
            <a:r>
              <a:rPr lang="en-US" dirty="0"/>
              <a:t>Micro-Instructions Control: JSR (10000)</a:t>
            </a:r>
          </a:p>
        </p:txBody>
      </p:sp>
      <p:graphicFrame>
        <p:nvGraphicFramePr>
          <p:cNvPr id="5" name="Table 4">
            <a:extLst>
              <a:ext uri="{FF2B5EF4-FFF2-40B4-BE49-F238E27FC236}">
                <a16:creationId xmlns:a16="http://schemas.microsoft.com/office/drawing/2014/main" id="{D6DEFE0E-372A-DB78-D385-D1FB7BD83083}"/>
              </a:ext>
            </a:extLst>
          </p:cNvPr>
          <p:cNvGraphicFramePr>
            <a:graphicFrameLocks noGrp="1"/>
          </p:cNvGraphicFramePr>
          <p:nvPr>
            <p:extLst>
              <p:ext uri="{D42A27DB-BD31-4B8C-83A1-F6EECF244321}">
                <p14:modId xmlns:p14="http://schemas.microsoft.com/office/powerpoint/2010/main" val="2449816375"/>
              </p:ext>
            </p:extLst>
          </p:nvPr>
        </p:nvGraphicFramePr>
        <p:xfrm>
          <a:off x="4716581" y="742464"/>
          <a:ext cx="6249874" cy="4100080"/>
        </p:xfrm>
        <a:graphic>
          <a:graphicData uri="http://schemas.openxmlformats.org/drawingml/2006/table">
            <a:tbl>
              <a:tblPr firstRow="1" bandRow="1">
                <a:tableStyleId>{5C22544A-7EE6-4342-B048-85BDC9FD1C3A}</a:tableStyleId>
              </a:tblPr>
              <a:tblGrid>
                <a:gridCol w="948528">
                  <a:extLst>
                    <a:ext uri="{9D8B030D-6E8A-4147-A177-3AD203B41FA5}">
                      <a16:colId xmlns:a16="http://schemas.microsoft.com/office/drawing/2014/main" val="1217920130"/>
                    </a:ext>
                  </a:extLst>
                </a:gridCol>
                <a:gridCol w="2465917">
                  <a:extLst>
                    <a:ext uri="{9D8B030D-6E8A-4147-A177-3AD203B41FA5}">
                      <a16:colId xmlns:a16="http://schemas.microsoft.com/office/drawing/2014/main" val="1475888205"/>
                    </a:ext>
                  </a:extLst>
                </a:gridCol>
                <a:gridCol w="2835429">
                  <a:extLst>
                    <a:ext uri="{9D8B030D-6E8A-4147-A177-3AD203B41FA5}">
                      <a16:colId xmlns:a16="http://schemas.microsoft.com/office/drawing/2014/main" val="2801792198"/>
                    </a:ext>
                  </a:extLst>
                </a:gridCol>
              </a:tblGrid>
              <a:tr h="226840">
                <a:tc>
                  <a:txBody>
                    <a:bodyPr/>
                    <a:lstStyle/>
                    <a:p>
                      <a:r>
                        <a:rPr lang="en-US" sz="1000" dirty="0"/>
                        <a:t>Cycle #</a:t>
                      </a:r>
                    </a:p>
                  </a:txBody>
                  <a:tcPr/>
                </a:tc>
                <a:tc>
                  <a:txBody>
                    <a:bodyPr/>
                    <a:lstStyle/>
                    <a:p>
                      <a:r>
                        <a:rPr lang="en-US" sz="1000" dirty="0"/>
                        <a:t>Instruction</a:t>
                      </a:r>
                    </a:p>
                  </a:txBody>
                  <a:tcPr/>
                </a:tc>
                <a:tc>
                  <a:txBody>
                    <a:bodyPr/>
                    <a:lstStyle/>
                    <a:p>
                      <a:r>
                        <a:rPr lang="en-US" sz="1000"/>
                        <a:t>Explanation</a:t>
                      </a:r>
                    </a:p>
                  </a:txBody>
                  <a:tcPr/>
                </a:tc>
                <a:extLst>
                  <a:ext uri="{0D108BD9-81ED-4DB2-BD59-A6C34878D82A}">
                    <a16:rowId xmlns:a16="http://schemas.microsoft.com/office/drawing/2014/main" val="2319756336"/>
                  </a:ext>
                </a:extLst>
              </a:tr>
              <a:tr h="368614">
                <a:tc>
                  <a:txBody>
                    <a:bodyPr/>
                    <a:lstStyle/>
                    <a:p>
                      <a:pPr algn="ctr"/>
                      <a:r>
                        <a:rPr lang="en-US" sz="1000"/>
                        <a:t>0</a:t>
                      </a:r>
                    </a:p>
                  </a:txBody>
                  <a:tcPr/>
                </a:tc>
                <a:tc>
                  <a:txBody>
                    <a:bodyPr/>
                    <a:lstStyle/>
                    <a:p>
                      <a:pPr algn="l"/>
                      <a:r>
                        <a:rPr lang="en-US" sz="1000" dirty="0"/>
                        <a:t>0x00_82_00</a:t>
                      </a: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000" dirty="0"/>
                        <a:t>(SP--; Address Bus Register High = PC[H];) </a:t>
                      </a:r>
                    </a:p>
                    <a:p>
                      <a:pPr marL="0" marR="0" lvl="0" indent="0" algn="l" defTabSz="914377" rtl="0" eaLnBrk="1" fontAlgn="auto" latinLnBrk="0" hangingPunct="1">
                        <a:lnSpc>
                          <a:spcPct val="100000"/>
                        </a:lnSpc>
                        <a:spcBef>
                          <a:spcPts val="0"/>
                        </a:spcBef>
                        <a:spcAft>
                          <a:spcPts val="0"/>
                        </a:spcAft>
                        <a:buClrTx/>
                        <a:buSzTx/>
                        <a:buFontTx/>
                        <a:buNone/>
                        <a:tabLst/>
                        <a:defRPr/>
                      </a:pPr>
                      <a:r>
                        <a:rPr lang="en-US" sz="1000" dirty="0"/>
                        <a:t>Write PC to the Address Bus (captured by A2D).</a:t>
                      </a:r>
                    </a:p>
                  </a:txBody>
                  <a:tcPr/>
                </a:tc>
                <a:extLst>
                  <a:ext uri="{0D108BD9-81ED-4DB2-BD59-A6C34878D82A}">
                    <a16:rowId xmlns:a16="http://schemas.microsoft.com/office/drawing/2014/main" val="2570910443"/>
                  </a:ext>
                </a:extLst>
              </a:tr>
              <a:tr h="491598">
                <a:tc>
                  <a:txBody>
                    <a:bodyPr/>
                    <a:lstStyle/>
                    <a:p>
                      <a:pPr algn="ctr"/>
                      <a:r>
                        <a:rPr lang="en-US" sz="10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0x60_48_00</a:t>
                      </a:r>
                    </a:p>
                  </a:txBody>
                  <a:tcPr/>
                </a:tc>
                <a:tc>
                  <a:txBody>
                    <a:bodyPr/>
                    <a:lstStyle/>
                    <a:p>
                      <a:pPr algn="l"/>
                      <a:r>
                        <a:rPr lang="en-US" sz="1000" dirty="0"/>
                        <a:t>(*SP = PC[H]) Write SP to the Address Bus, Write A2D High to the Data Bus (PC[H]), Set Memory to store in *SP.</a:t>
                      </a:r>
                    </a:p>
                  </a:txBody>
                  <a:tcPr/>
                </a:tc>
                <a:extLst>
                  <a:ext uri="{0D108BD9-81ED-4DB2-BD59-A6C34878D82A}">
                    <a16:rowId xmlns:a16="http://schemas.microsoft.com/office/drawing/2014/main" val="631651838"/>
                  </a:ext>
                </a:extLst>
              </a:tr>
              <a:tr h="368614">
                <a:tc>
                  <a:txBody>
                    <a:bodyPr/>
                    <a:lstStyle/>
                    <a:p>
                      <a:pPr algn="ctr"/>
                      <a:r>
                        <a:rPr lang="en-US" sz="1000"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0x00_82_00</a:t>
                      </a:r>
                    </a:p>
                  </a:txBody>
                  <a:tcPr/>
                </a:tc>
                <a:tc>
                  <a:txBody>
                    <a:bodyPr/>
                    <a:lstStyle/>
                    <a:p>
                      <a:pPr algn="l"/>
                      <a:r>
                        <a:rPr lang="en-US" sz="1000" dirty="0"/>
                        <a:t>(SP--; Address Bus Register Low = PC[L]) </a:t>
                      </a:r>
                    </a:p>
                    <a:p>
                      <a:pPr algn="l"/>
                      <a:r>
                        <a:rPr lang="en-US" sz="1000" dirty="0"/>
                        <a:t>Write PC to the Address Bus (captured by A2D).</a:t>
                      </a:r>
                    </a:p>
                  </a:txBody>
                  <a:tcPr/>
                </a:tc>
                <a:extLst>
                  <a:ext uri="{0D108BD9-81ED-4DB2-BD59-A6C34878D82A}">
                    <a16:rowId xmlns:a16="http://schemas.microsoft.com/office/drawing/2014/main" val="2120637560"/>
                  </a:ext>
                </a:extLst>
              </a:tr>
              <a:tr h="510389">
                <a:tc>
                  <a:txBody>
                    <a:bodyPr/>
                    <a:lstStyle/>
                    <a:p>
                      <a:pPr algn="ctr"/>
                      <a:r>
                        <a:rPr lang="en-US" sz="1000"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0x20_48_00</a:t>
                      </a:r>
                    </a:p>
                  </a:txBody>
                  <a:tcPr/>
                </a:tc>
                <a:tc>
                  <a:txBody>
                    <a:bodyPr/>
                    <a:lstStyle/>
                    <a:p>
                      <a:pPr algn="l"/>
                      <a:r>
                        <a:rPr lang="en-US" sz="1000" dirty="0"/>
                        <a:t>(*SP = PC[L]) Write SP to the Address Bus, write Address Bus Register Low to the Data Bus (PC[L]), and set Memory to read from the Data Bus.</a:t>
                      </a:r>
                    </a:p>
                  </a:txBody>
                  <a:tcPr/>
                </a:tc>
                <a:extLst>
                  <a:ext uri="{0D108BD9-81ED-4DB2-BD59-A6C34878D82A}">
                    <a16:rowId xmlns:a16="http://schemas.microsoft.com/office/drawing/2014/main" val="4057949307"/>
                  </a:ext>
                </a:extLst>
              </a:tr>
              <a:tr h="368614">
                <a:tc>
                  <a:txBody>
                    <a:bodyPr/>
                    <a:lstStyle/>
                    <a:p>
                      <a:pPr algn="ctr"/>
                      <a:r>
                        <a:rPr lang="en-US" sz="1000"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0x00_00_00</a:t>
                      </a:r>
                    </a:p>
                  </a:txBody>
                  <a:tcPr/>
                </a:tc>
                <a:tc>
                  <a:txBody>
                    <a:bodyPr/>
                    <a:lstStyle/>
                    <a:p>
                      <a:pPr algn="l"/>
                      <a:r>
                        <a:rPr lang="en-US" sz="1000" dirty="0"/>
                        <a:t>(Address Bus Register High = DP[H]) Write DP to the Address Bus.</a:t>
                      </a:r>
                    </a:p>
                  </a:txBody>
                  <a:tcPr/>
                </a:tc>
                <a:extLst>
                  <a:ext uri="{0D108BD9-81ED-4DB2-BD59-A6C34878D82A}">
                    <a16:rowId xmlns:a16="http://schemas.microsoft.com/office/drawing/2014/main" val="3715456149"/>
                  </a:ext>
                </a:extLst>
              </a:tr>
              <a:tr h="652164">
                <a:tc>
                  <a:txBody>
                    <a:bodyPr/>
                    <a:lstStyle/>
                    <a:p>
                      <a:pPr algn="ctr"/>
                      <a:r>
                        <a:rPr lang="en-US" sz="1000"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0x66_01_00</a:t>
                      </a:r>
                    </a:p>
                  </a:txBody>
                  <a:tcPr/>
                </a:tc>
                <a:tc>
                  <a:txBody>
                    <a:bodyPr/>
                    <a:lstStyle/>
                    <a:p>
                      <a:pPr algn="l"/>
                      <a:r>
                        <a:rPr lang="en-US" sz="1000" dirty="0"/>
                        <a:t>(DHPC = DP[H]; Address Bus Register Low = DP[L]) Write DP to the Address Bus, write Address Bus Register High to the Data Bus (DP[H], and set DHPC to load from the Data Bus.</a:t>
                      </a:r>
                    </a:p>
                  </a:txBody>
                  <a:tcPr/>
                </a:tc>
                <a:extLst>
                  <a:ext uri="{0D108BD9-81ED-4DB2-BD59-A6C34878D82A}">
                    <a16:rowId xmlns:a16="http://schemas.microsoft.com/office/drawing/2014/main" val="414636575"/>
                  </a:ext>
                </a:extLst>
              </a:tr>
              <a:tr h="510389">
                <a:tc>
                  <a:txBody>
                    <a:bodyPr/>
                    <a:lstStyle/>
                    <a:p>
                      <a:pPr algn="ctr"/>
                      <a:r>
                        <a:rPr lang="en-US" sz="1000" dirty="0"/>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0x22_01_00</a:t>
                      </a:r>
                    </a:p>
                  </a:txBody>
                  <a:tcPr/>
                </a:tc>
                <a:tc>
                  <a:txBody>
                    <a:bodyPr/>
                    <a:lstStyle/>
                    <a:p>
                      <a:pPr algn="l"/>
                      <a:r>
                        <a:rPr lang="en-US" sz="1000" dirty="0"/>
                        <a:t>(PC[L] = DP[L] (and PC[H] = DHPC)) Write Address Bus Register Low to the Data Bus (DP[L]) and set PC[L] to load from the Data Bus.</a:t>
                      </a:r>
                    </a:p>
                  </a:txBody>
                  <a:tcPr/>
                </a:tc>
                <a:extLst>
                  <a:ext uri="{0D108BD9-81ED-4DB2-BD59-A6C34878D82A}">
                    <a16:rowId xmlns:a16="http://schemas.microsoft.com/office/drawing/2014/main" val="5554195"/>
                  </a:ext>
                </a:extLst>
              </a:tr>
              <a:tr h="320560">
                <a:tc>
                  <a:txBody>
                    <a:bodyPr/>
                    <a:lstStyle/>
                    <a:p>
                      <a:pPr algn="ctr"/>
                      <a:r>
                        <a:rPr lang="en-US" sz="1000" dirty="0"/>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0x00_00_80</a:t>
                      </a:r>
                    </a:p>
                  </a:txBody>
                  <a:tcPr/>
                </a:tc>
                <a:tc>
                  <a:txBody>
                    <a:bodyPr/>
                    <a:lstStyle/>
                    <a:p>
                      <a:pPr algn="l"/>
                      <a:r>
                        <a:rPr lang="en-US" sz="1000" dirty="0"/>
                        <a:t>Advance PC.</a:t>
                      </a:r>
                    </a:p>
                  </a:txBody>
                  <a:tcPr/>
                </a:tc>
                <a:extLst>
                  <a:ext uri="{0D108BD9-81ED-4DB2-BD59-A6C34878D82A}">
                    <a16:rowId xmlns:a16="http://schemas.microsoft.com/office/drawing/2014/main" val="3334043867"/>
                  </a:ext>
                </a:extLst>
              </a:tr>
            </a:tbl>
          </a:graphicData>
        </a:graphic>
      </p:graphicFrame>
      <p:pic>
        <p:nvPicPr>
          <p:cNvPr id="2" name="Picture 1">
            <a:hlinkClick r:id="rId3" action="ppaction://hlinksldjump"/>
            <a:extLst>
              <a:ext uri="{FF2B5EF4-FFF2-40B4-BE49-F238E27FC236}">
                <a16:creationId xmlns:a16="http://schemas.microsoft.com/office/drawing/2014/main" id="{32187D84-6671-77EE-AE4F-8DEE65E49353}"/>
              </a:ext>
            </a:extLst>
          </p:cNvPr>
          <p:cNvPicPr>
            <a:picLocks noChangeAspect="1"/>
          </p:cNvPicPr>
          <p:nvPr/>
        </p:nvPicPr>
        <p:blipFill>
          <a:blip r:embed="rId4"/>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9E0B63D0-51AF-73E8-1E7D-55E7806471F1}"/>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56</a:t>
            </a:fld>
            <a:endParaRPr lang="en-US" b="1">
              <a:solidFill>
                <a:schemeClr val="bg1"/>
              </a:solidFill>
            </a:endParaRPr>
          </a:p>
        </p:txBody>
      </p:sp>
      <p:graphicFrame>
        <p:nvGraphicFramePr>
          <p:cNvPr id="3" name="Table 4">
            <a:extLst>
              <a:ext uri="{FF2B5EF4-FFF2-40B4-BE49-F238E27FC236}">
                <a16:creationId xmlns:a16="http://schemas.microsoft.com/office/drawing/2014/main" id="{78B3169C-758F-F593-CAAC-0F0AAEFEDFA8}"/>
              </a:ext>
            </a:extLst>
          </p:cNvPr>
          <p:cNvGraphicFramePr>
            <a:graphicFrameLocks noGrp="1"/>
          </p:cNvGraphicFramePr>
          <p:nvPr>
            <p:extLst>
              <p:ext uri="{D42A27DB-BD31-4B8C-83A1-F6EECF244321}">
                <p14:modId xmlns:p14="http://schemas.microsoft.com/office/powerpoint/2010/main" val="2753346553"/>
              </p:ext>
            </p:extLst>
          </p:nvPr>
        </p:nvGraphicFramePr>
        <p:xfrm>
          <a:off x="179752" y="5818357"/>
          <a:ext cx="10585849" cy="595227"/>
        </p:xfrm>
        <a:graphic>
          <a:graphicData uri="http://schemas.openxmlformats.org/drawingml/2006/table">
            <a:tbl>
              <a:tblPr firstRow="1" bandRow="1">
                <a:tableStyleId>{5C22544A-7EE6-4342-B048-85BDC9FD1C3A}</a:tableStyleId>
              </a:tblPr>
              <a:tblGrid>
                <a:gridCol w="998667">
                  <a:extLst>
                    <a:ext uri="{9D8B030D-6E8A-4147-A177-3AD203B41FA5}">
                      <a16:colId xmlns:a16="http://schemas.microsoft.com/office/drawing/2014/main" val="1810408170"/>
                    </a:ext>
                  </a:extLst>
                </a:gridCol>
                <a:gridCol w="970585">
                  <a:extLst>
                    <a:ext uri="{9D8B030D-6E8A-4147-A177-3AD203B41FA5}">
                      <a16:colId xmlns:a16="http://schemas.microsoft.com/office/drawing/2014/main" val="950391025"/>
                    </a:ext>
                  </a:extLst>
                </a:gridCol>
                <a:gridCol w="884832">
                  <a:extLst>
                    <a:ext uri="{9D8B030D-6E8A-4147-A177-3AD203B41FA5}">
                      <a16:colId xmlns:a16="http://schemas.microsoft.com/office/drawing/2014/main" val="1217920130"/>
                    </a:ext>
                  </a:extLst>
                </a:gridCol>
                <a:gridCol w="1402159">
                  <a:extLst>
                    <a:ext uri="{9D8B030D-6E8A-4147-A177-3AD203B41FA5}">
                      <a16:colId xmlns:a16="http://schemas.microsoft.com/office/drawing/2014/main" val="1475888205"/>
                    </a:ext>
                  </a:extLst>
                </a:gridCol>
                <a:gridCol w="1609969">
                  <a:extLst>
                    <a:ext uri="{9D8B030D-6E8A-4147-A177-3AD203B41FA5}">
                      <a16:colId xmlns:a16="http://schemas.microsoft.com/office/drawing/2014/main" val="1355185516"/>
                    </a:ext>
                  </a:extLst>
                </a:gridCol>
                <a:gridCol w="1304925">
                  <a:extLst>
                    <a:ext uri="{9D8B030D-6E8A-4147-A177-3AD203B41FA5}">
                      <a16:colId xmlns:a16="http://schemas.microsoft.com/office/drawing/2014/main" val="1039846299"/>
                    </a:ext>
                  </a:extLst>
                </a:gridCol>
                <a:gridCol w="3414712">
                  <a:extLst>
                    <a:ext uri="{9D8B030D-6E8A-4147-A177-3AD203B41FA5}">
                      <a16:colId xmlns:a16="http://schemas.microsoft.com/office/drawing/2014/main" val="3099546510"/>
                    </a:ext>
                  </a:extLst>
                </a:gridCol>
              </a:tblGrid>
              <a:tr h="241986">
                <a:tc>
                  <a:txBody>
                    <a:bodyPr/>
                    <a:lstStyle/>
                    <a:p>
                      <a:r>
                        <a:rPr lang="en-US" sz="1300" dirty="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dirty="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305667">
                <a:tc>
                  <a:txBody>
                    <a:bodyPr/>
                    <a:lstStyle/>
                    <a:p>
                      <a:pPr algn="ctr"/>
                      <a:r>
                        <a:rPr lang="en-US" sz="1300" dirty="0"/>
                        <a:t>JSR</a:t>
                      </a:r>
                    </a:p>
                  </a:txBody>
                  <a:tcPr>
                    <a:solidFill>
                      <a:schemeClr val="accent6"/>
                    </a:solidFill>
                  </a:tcPr>
                </a:tc>
                <a:tc>
                  <a:txBody>
                    <a:bodyPr/>
                    <a:lstStyle/>
                    <a:p>
                      <a:pPr algn="ctr"/>
                      <a:r>
                        <a:rPr lang="en-US" sz="1300" dirty="0"/>
                        <a:t>XX</a:t>
                      </a:r>
                    </a:p>
                  </a:txBody>
                  <a:tcPr/>
                </a:tc>
                <a:tc>
                  <a:txBody>
                    <a:bodyPr/>
                    <a:lstStyle/>
                    <a:p>
                      <a:pPr algn="ctr"/>
                      <a:r>
                        <a:rPr lang="en-US" sz="1300" dirty="0"/>
                        <a:t>XX</a:t>
                      </a:r>
                    </a:p>
                  </a:txBody>
                  <a:tcPr/>
                </a:tc>
                <a:tc>
                  <a:txBody>
                    <a:bodyPr/>
                    <a:lstStyle/>
                    <a:p>
                      <a:pPr algn="ctr"/>
                      <a:r>
                        <a:rPr lang="en-US" sz="1300" dirty="0"/>
                        <a:t>XXXX</a:t>
                      </a:r>
                    </a:p>
                  </a:txBody>
                  <a:tcPr/>
                </a:tc>
                <a:tc>
                  <a:txBody>
                    <a:bodyPr/>
                    <a:lstStyle/>
                    <a:p>
                      <a:pPr algn="ctr"/>
                      <a:r>
                        <a:rPr lang="en-US" sz="1300" dirty="0"/>
                        <a:t>XX</a:t>
                      </a:r>
                    </a:p>
                  </a:txBody>
                  <a:tcPr/>
                </a:tc>
                <a:tc>
                  <a:txBody>
                    <a:bodyPr/>
                    <a:lstStyle/>
                    <a:p>
                      <a:pPr algn="ctr"/>
                      <a:r>
                        <a:rPr lang="en-US" sz="1300" dirty="0"/>
                        <a:t>X</a:t>
                      </a:r>
                    </a:p>
                  </a:txBody>
                  <a:tcPr/>
                </a:tc>
                <a:tc>
                  <a:txBody>
                    <a:bodyPr/>
                    <a:lstStyle/>
                    <a:p>
                      <a:pPr algn="ctr"/>
                      <a:r>
                        <a:rPr lang="en-US" sz="1300" dirty="0" err="1"/>
                        <a:t>OpCode</a:t>
                      </a:r>
                      <a:r>
                        <a:rPr lang="en-US" sz="1300" dirty="0"/>
                        <a:t>=0x10</a:t>
                      </a:r>
                    </a:p>
                  </a:txBody>
                  <a:tcPr/>
                </a:tc>
                <a:extLst>
                  <a:ext uri="{0D108BD9-81ED-4DB2-BD59-A6C34878D82A}">
                    <a16:rowId xmlns:a16="http://schemas.microsoft.com/office/drawing/2014/main" val="2570910443"/>
                  </a:ext>
                </a:extLst>
              </a:tr>
            </a:tbl>
          </a:graphicData>
        </a:graphic>
      </p:graphicFrame>
      <p:sp>
        <p:nvSpPr>
          <p:cNvPr id="4" name="TextBox 3">
            <a:extLst>
              <a:ext uri="{FF2B5EF4-FFF2-40B4-BE49-F238E27FC236}">
                <a16:creationId xmlns:a16="http://schemas.microsoft.com/office/drawing/2014/main" id="{B4DC4DFC-C86E-0BEC-AFD7-75FAF187D55D}"/>
              </a:ext>
            </a:extLst>
          </p:cNvPr>
          <p:cNvSpPr txBox="1"/>
          <p:nvPr/>
        </p:nvSpPr>
        <p:spPr>
          <a:xfrm>
            <a:off x="10966456" y="2"/>
            <a:ext cx="1223412" cy="1323439"/>
          </a:xfrm>
          <a:prstGeom prst="rect">
            <a:avLst/>
          </a:prstGeom>
          <a:noFill/>
        </p:spPr>
        <p:txBody>
          <a:bodyPr wrap="none" rtlCol="0">
            <a:spAutoFit/>
          </a:bodyPr>
          <a:lstStyle/>
          <a:p>
            <a:r>
              <a:rPr lang="en-US" sz="8000" dirty="0">
                <a:solidFill>
                  <a:schemeClr val="accent1">
                    <a:lumMod val="60000"/>
                    <a:lumOff val="40000"/>
                  </a:schemeClr>
                </a:solidFill>
              </a:rPr>
              <a:t>10</a:t>
            </a:r>
          </a:p>
        </p:txBody>
      </p:sp>
      <p:sp>
        <p:nvSpPr>
          <p:cNvPr id="6" name="TextBox 5">
            <a:extLst>
              <a:ext uri="{FF2B5EF4-FFF2-40B4-BE49-F238E27FC236}">
                <a16:creationId xmlns:a16="http://schemas.microsoft.com/office/drawing/2014/main" id="{7D622C29-7235-DD28-BD1F-10BC027AA9FD}"/>
              </a:ext>
            </a:extLst>
          </p:cNvPr>
          <p:cNvSpPr txBox="1"/>
          <p:nvPr/>
        </p:nvSpPr>
        <p:spPr>
          <a:xfrm>
            <a:off x="8584876" y="5105005"/>
            <a:ext cx="776175"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JSR</a:t>
            </a:r>
          </a:p>
        </p:txBody>
      </p:sp>
      <p:sp>
        <p:nvSpPr>
          <p:cNvPr id="7" name="TextBox 6">
            <a:extLst>
              <a:ext uri="{FF2B5EF4-FFF2-40B4-BE49-F238E27FC236}">
                <a16:creationId xmlns:a16="http://schemas.microsoft.com/office/drawing/2014/main" id="{4DBECC07-4EB8-DA08-DFFD-15411969A1D9}"/>
              </a:ext>
            </a:extLst>
          </p:cNvPr>
          <p:cNvSpPr txBox="1"/>
          <p:nvPr/>
        </p:nvSpPr>
        <p:spPr>
          <a:xfrm>
            <a:off x="4716581" y="5012672"/>
            <a:ext cx="3570208" cy="707886"/>
          </a:xfrm>
          <a:prstGeom prst="rect">
            <a:avLst/>
          </a:prstGeom>
          <a:noFill/>
        </p:spPr>
        <p:txBody>
          <a:bodyPr wrap="none" rtlCol="0">
            <a:spAutoFit/>
          </a:bodyPr>
          <a:lstStyle/>
          <a:p>
            <a:r>
              <a:rPr lang="en-US" sz="2000" dirty="0">
                <a:solidFill>
                  <a:srgbClr val="00B050"/>
                </a:solidFill>
                <a:latin typeface="Consolas" panose="020B0609020204030204" pitchFamily="49" charset="0"/>
              </a:rPr>
              <a:t>SP--; *SP = PC[H]; SP--;</a:t>
            </a:r>
          </a:p>
          <a:p>
            <a:r>
              <a:rPr lang="en-US" sz="2000" dirty="0">
                <a:solidFill>
                  <a:srgbClr val="00B050"/>
                </a:solidFill>
                <a:latin typeface="Consolas" panose="020B0609020204030204" pitchFamily="49" charset="0"/>
              </a:rPr>
              <a:t>*SP = PC[L]; PC = DP;</a:t>
            </a:r>
          </a:p>
        </p:txBody>
      </p:sp>
      <p:graphicFrame>
        <p:nvGraphicFramePr>
          <p:cNvPr id="10" name="Table 4">
            <a:extLst>
              <a:ext uri="{FF2B5EF4-FFF2-40B4-BE49-F238E27FC236}">
                <a16:creationId xmlns:a16="http://schemas.microsoft.com/office/drawing/2014/main" id="{BE68477C-D4DA-9C38-5AEE-966867FD058F}"/>
              </a:ext>
            </a:extLst>
          </p:cNvPr>
          <p:cNvGraphicFramePr>
            <a:graphicFrameLocks noGrp="1"/>
          </p:cNvGraphicFramePr>
          <p:nvPr>
            <p:extLst>
              <p:ext uri="{D42A27DB-BD31-4B8C-83A1-F6EECF244321}">
                <p14:modId xmlns:p14="http://schemas.microsoft.com/office/powerpoint/2010/main" val="1579061923"/>
              </p:ext>
            </p:extLst>
          </p:nvPr>
        </p:nvGraphicFramePr>
        <p:xfrm>
          <a:off x="179752" y="742463"/>
          <a:ext cx="4329725" cy="5004175"/>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00345">
                <a:tc>
                  <a:txBody>
                    <a:bodyPr/>
                    <a:lstStyle/>
                    <a:p>
                      <a:pPr>
                        <a:lnSpc>
                          <a:spcPct val="100000"/>
                        </a:lnSpc>
                      </a:pPr>
                      <a:r>
                        <a:rPr lang="en-US" sz="700"/>
                        <a:t>Bit</a:t>
                      </a:r>
                    </a:p>
                  </a:txBody>
                  <a:tcPr anchor="ctr"/>
                </a:tc>
                <a:tc>
                  <a:txBody>
                    <a:bodyPr/>
                    <a:lstStyle/>
                    <a:p>
                      <a:pPr>
                        <a:lnSpc>
                          <a:spcPct val="100000"/>
                        </a:lnSpc>
                      </a:pPr>
                      <a:r>
                        <a:rPr lang="en-US" sz="700" dirty="0"/>
                        <a:t>Operation</a:t>
                      </a:r>
                    </a:p>
                  </a:txBody>
                  <a:tcPr anchor="ctr"/>
                </a:tc>
                <a:extLst>
                  <a:ext uri="{0D108BD9-81ED-4DB2-BD59-A6C34878D82A}">
                    <a16:rowId xmlns:a16="http://schemas.microsoft.com/office/drawing/2014/main" val="2319756336"/>
                  </a:ext>
                </a:extLst>
              </a:tr>
              <a:tr h="200345">
                <a:tc>
                  <a:txBody>
                    <a:bodyPr/>
                    <a:lstStyle/>
                    <a:p>
                      <a:pPr algn="ctr">
                        <a:lnSpc>
                          <a:spcPct val="100000"/>
                        </a:lnSpc>
                      </a:pPr>
                      <a:r>
                        <a:rPr lang="en-US" sz="700" dirty="0"/>
                        <a:t>23</a:t>
                      </a:r>
                    </a:p>
                  </a:txBody>
                  <a:tcPr anchor="ctr"/>
                </a:tc>
                <a:tc>
                  <a:txBody>
                    <a:bodyPr/>
                    <a:lstStyle/>
                    <a:p>
                      <a:pPr algn="l">
                        <a:lnSpc>
                          <a:spcPct val="100000"/>
                        </a:lnSpc>
                      </a:pPr>
                      <a:r>
                        <a:rPr lang="en-US" sz="700" dirty="0"/>
                        <a:t>Not Used</a:t>
                      </a:r>
                    </a:p>
                  </a:txBody>
                  <a:tcPr anchor="ctr"/>
                </a:tc>
                <a:extLst>
                  <a:ext uri="{0D108BD9-81ED-4DB2-BD59-A6C34878D82A}">
                    <a16:rowId xmlns:a16="http://schemas.microsoft.com/office/drawing/2014/main" val="3576468534"/>
                  </a:ext>
                </a:extLst>
              </a:tr>
              <a:tr h="200345">
                <a:tc>
                  <a:txBody>
                    <a:bodyPr/>
                    <a:lstStyle/>
                    <a:p>
                      <a:pPr algn="ctr">
                        <a:lnSpc>
                          <a:spcPct val="100000"/>
                        </a:lnSpc>
                      </a:pPr>
                      <a:r>
                        <a:rPr lang="en-US" sz="700" dirty="0"/>
                        <a:t>22</a:t>
                      </a:r>
                    </a:p>
                  </a:txBody>
                  <a:tcPr anchor="ctr"/>
                </a:tc>
                <a:tc>
                  <a:txBody>
                    <a:bodyPr/>
                    <a:lstStyle/>
                    <a:p>
                      <a:pPr algn="l">
                        <a:lnSpc>
                          <a:spcPct val="100000"/>
                        </a:lnSpc>
                      </a:pPr>
                      <a:r>
                        <a:rPr lang="en-US" sz="700" dirty="0" err="1"/>
                        <a:t>AddressHorL</a:t>
                      </a:r>
                      <a:endParaRPr lang="en-US" sz="700" dirty="0"/>
                    </a:p>
                  </a:txBody>
                  <a:tcPr anchor="ctr"/>
                </a:tc>
                <a:extLst>
                  <a:ext uri="{0D108BD9-81ED-4DB2-BD59-A6C34878D82A}">
                    <a16:rowId xmlns:a16="http://schemas.microsoft.com/office/drawing/2014/main" val="79971578"/>
                  </a:ext>
                </a:extLst>
              </a:tr>
              <a:tr h="200345">
                <a:tc>
                  <a:txBody>
                    <a:bodyPr/>
                    <a:lstStyle/>
                    <a:p>
                      <a:pPr algn="ctr">
                        <a:lnSpc>
                          <a:spcPct val="100000"/>
                        </a:lnSpc>
                      </a:pPr>
                      <a:r>
                        <a:rPr lang="en-US" sz="700" dirty="0"/>
                        <a:t>21</a:t>
                      </a:r>
                    </a:p>
                  </a:txBody>
                  <a:tcPr anchor="ctr"/>
                </a:tc>
                <a:tc>
                  <a:txBody>
                    <a:bodyPr/>
                    <a:lstStyle/>
                    <a:p>
                      <a:pPr algn="l">
                        <a:lnSpc>
                          <a:spcPct val="100000"/>
                        </a:lnSpc>
                      </a:pPr>
                      <a:r>
                        <a:rPr lang="en-US" sz="700" dirty="0" err="1"/>
                        <a:t>AddressBusToDataBus</a:t>
                      </a:r>
                      <a:endParaRPr lang="en-US" sz="700" dirty="0"/>
                    </a:p>
                  </a:txBody>
                  <a:tcPr anchor="ctr"/>
                </a:tc>
                <a:extLst>
                  <a:ext uri="{0D108BD9-81ED-4DB2-BD59-A6C34878D82A}">
                    <a16:rowId xmlns:a16="http://schemas.microsoft.com/office/drawing/2014/main" val="4135939119"/>
                  </a:ext>
                </a:extLst>
              </a:tr>
              <a:tr h="200345">
                <a:tc>
                  <a:txBody>
                    <a:bodyPr/>
                    <a:lstStyle/>
                    <a:p>
                      <a:pPr algn="ctr">
                        <a:lnSpc>
                          <a:spcPct val="100000"/>
                        </a:lnSpc>
                      </a:pPr>
                      <a:r>
                        <a:rPr lang="en-US" sz="700" dirty="0"/>
                        <a:t>20</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err="1"/>
                        <a:t>TmpARWrite</a:t>
                      </a:r>
                      <a:endParaRPr lang="en-US" sz="700"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9580944"/>
                  </a:ext>
                </a:extLst>
              </a:tr>
              <a:tr h="200345">
                <a:tc>
                  <a:txBody>
                    <a:bodyPr/>
                    <a:lstStyle/>
                    <a:p>
                      <a:pPr algn="ctr">
                        <a:lnSpc>
                          <a:spcPct val="100000"/>
                        </a:lnSpc>
                      </a:pPr>
                      <a:r>
                        <a:rPr lang="en-US" sz="700" dirty="0"/>
                        <a:t>19</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err="1"/>
                        <a:t>TmpARRead</a:t>
                      </a:r>
                      <a:endParaRPr lang="en-US" sz="700"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35159618"/>
                  </a:ext>
                </a:extLst>
              </a:tr>
              <a:tr h="200345">
                <a:tc>
                  <a:txBody>
                    <a:bodyPr/>
                    <a:lstStyle/>
                    <a:p>
                      <a:pPr algn="ctr">
                        <a:lnSpc>
                          <a:spcPct val="100000"/>
                        </a:lnSpc>
                      </a:pPr>
                      <a:r>
                        <a:rPr lang="en-US" sz="700" dirty="0"/>
                        <a:t>18</a:t>
                      </a:r>
                    </a:p>
                  </a:txBody>
                  <a:tcPr anchor="ctr"/>
                </a:tc>
                <a:tc>
                  <a:txBody>
                    <a:bodyPr/>
                    <a:lstStyle/>
                    <a:p>
                      <a:pPr algn="l">
                        <a:lnSpc>
                          <a:spcPct val="100000"/>
                        </a:lnSpc>
                      </a:pPr>
                      <a:r>
                        <a:rPr lang="en-US" sz="700" dirty="0" err="1"/>
                        <a:t>loadARHorL</a:t>
                      </a:r>
                      <a:endParaRPr lang="en-US" sz="700" dirty="0"/>
                    </a:p>
                  </a:txBody>
                  <a:tcPr anchor="ctr"/>
                </a:tc>
                <a:extLst>
                  <a:ext uri="{0D108BD9-81ED-4DB2-BD59-A6C34878D82A}">
                    <a16:rowId xmlns:a16="http://schemas.microsoft.com/office/drawing/2014/main" val="2357817394"/>
                  </a:ext>
                </a:extLst>
              </a:tr>
              <a:tr h="200345">
                <a:tc>
                  <a:txBody>
                    <a:bodyPr/>
                    <a:lstStyle/>
                    <a:p>
                      <a:pPr algn="ctr">
                        <a:lnSpc>
                          <a:spcPct val="100000"/>
                        </a:lnSpc>
                      </a:pPr>
                      <a:r>
                        <a:rPr lang="en-US" sz="700"/>
                        <a:t>17</a:t>
                      </a:r>
                    </a:p>
                  </a:txBody>
                  <a:tcPr anchor="ctr"/>
                </a:tc>
                <a:tc>
                  <a:txBody>
                    <a:bodyPr/>
                    <a:lstStyle/>
                    <a:p>
                      <a:pPr algn="l">
                        <a:lnSpc>
                          <a:spcPct val="100000"/>
                        </a:lnSpc>
                      </a:pPr>
                      <a:r>
                        <a:rPr lang="en-US" sz="700" dirty="0" err="1"/>
                        <a:t>loadAR</a:t>
                      </a:r>
                      <a:r>
                        <a:rPr lang="en-US" sz="700" dirty="0"/>
                        <a:t> (formerly: Load Special Pointer)</a:t>
                      </a:r>
                    </a:p>
                  </a:txBody>
                  <a:tcPr anchor="ctr"/>
                </a:tc>
                <a:extLst>
                  <a:ext uri="{0D108BD9-81ED-4DB2-BD59-A6C34878D82A}">
                    <a16:rowId xmlns:a16="http://schemas.microsoft.com/office/drawing/2014/main" val="2759210480"/>
                  </a:ext>
                </a:extLst>
              </a:tr>
              <a:tr h="200345">
                <a:tc>
                  <a:txBody>
                    <a:bodyPr/>
                    <a:lstStyle/>
                    <a:p>
                      <a:pPr algn="ctr">
                        <a:lnSpc>
                          <a:spcPct val="100000"/>
                        </a:lnSpc>
                      </a:pPr>
                      <a:r>
                        <a:rPr lang="en-US" sz="700" dirty="0"/>
                        <a:t>16</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Stack Pointer Increment / Decrement (0: decrease / 1: increase)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6363256"/>
                  </a:ext>
                </a:extLst>
              </a:tr>
              <a:tr h="200345">
                <a:tc>
                  <a:txBody>
                    <a:bodyPr/>
                    <a:lstStyle/>
                    <a:p>
                      <a:pPr algn="ctr">
                        <a:lnSpc>
                          <a:spcPct val="100000"/>
                        </a:lnSpc>
                      </a:pPr>
                      <a:r>
                        <a:rPr lang="en-US" sz="700"/>
                        <a:t>15</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Stack Pointer Count</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49660566"/>
                  </a:ext>
                </a:extLst>
              </a:tr>
              <a:tr h="200345">
                <a:tc>
                  <a:txBody>
                    <a:bodyPr/>
                    <a:lstStyle/>
                    <a:p>
                      <a:pPr algn="ctr">
                        <a:lnSpc>
                          <a:spcPct val="100000"/>
                        </a:lnSpc>
                      </a:pPr>
                      <a:r>
                        <a:rPr lang="en-US" sz="700"/>
                        <a:t>14</a:t>
                      </a:r>
                    </a:p>
                  </a:txBody>
                  <a:tcPr anchor="ctr"/>
                </a:tc>
                <a:tc>
                  <a:txBody>
                    <a:bodyPr/>
                    <a:lstStyle/>
                    <a:p>
                      <a:pPr algn="l">
                        <a:lnSpc>
                          <a:spcPct val="100000"/>
                        </a:lnSpc>
                      </a:pPr>
                      <a:r>
                        <a:rPr lang="en-US" sz="700" dirty="0"/>
                        <a:t>SP Out (formerly: RAM Address Select (0: Address register / 1: Stack pointer))</a:t>
                      </a:r>
                    </a:p>
                  </a:txBody>
                  <a:tcPr anchor="ctr"/>
                </a:tc>
                <a:extLst>
                  <a:ext uri="{0D108BD9-81ED-4DB2-BD59-A6C34878D82A}">
                    <a16:rowId xmlns:a16="http://schemas.microsoft.com/office/drawing/2014/main" val="645489424"/>
                  </a:ext>
                </a:extLst>
              </a:tr>
              <a:tr h="200345">
                <a:tc>
                  <a:txBody>
                    <a:bodyPr/>
                    <a:lstStyle/>
                    <a:p>
                      <a:pPr algn="ctr">
                        <a:lnSpc>
                          <a:spcPct val="100000"/>
                        </a:lnSpc>
                      </a:pPr>
                      <a:r>
                        <a:rPr lang="en-US" sz="700"/>
                        <a:t>13</a:t>
                      </a:r>
                    </a:p>
                  </a:txBody>
                  <a:tcPr anchor="ctr"/>
                </a:tc>
                <a:tc>
                  <a:txBody>
                    <a:bodyPr/>
                    <a:lstStyle/>
                    <a:p>
                      <a:pPr algn="l">
                        <a:lnSpc>
                          <a:spcPct val="100000"/>
                        </a:lnSpc>
                      </a:pPr>
                      <a:r>
                        <a:rPr lang="en-US" sz="700"/>
                        <a:t>Use Rd as Source</a:t>
                      </a:r>
                    </a:p>
                  </a:txBody>
                  <a:tcPr anchor="ctr"/>
                </a:tc>
                <a:extLst>
                  <a:ext uri="{0D108BD9-81ED-4DB2-BD59-A6C34878D82A}">
                    <a16:rowId xmlns:a16="http://schemas.microsoft.com/office/drawing/2014/main" val="2745442092"/>
                  </a:ext>
                </a:extLst>
              </a:tr>
              <a:tr h="200345">
                <a:tc>
                  <a:txBody>
                    <a:bodyPr/>
                    <a:lstStyle/>
                    <a:p>
                      <a:pPr algn="ctr">
                        <a:lnSpc>
                          <a:spcPct val="100000"/>
                        </a:lnSpc>
                      </a:pPr>
                      <a:r>
                        <a:rPr lang="en-US" sz="700" dirty="0"/>
                        <a:t>12</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Lower Address Register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762316"/>
                  </a:ext>
                </a:extLst>
              </a:tr>
              <a:tr h="200345">
                <a:tc>
                  <a:txBody>
                    <a:bodyPr/>
                    <a:lstStyle/>
                    <a:p>
                      <a:pPr algn="ctr">
                        <a:lnSpc>
                          <a:spcPct val="100000"/>
                        </a:lnSpc>
                      </a:pPr>
                      <a:r>
                        <a:rPr lang="en-US" sz="700"/>
                        <a:t>11</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Mem Write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66008767"/>
                  </a:ext>
                </a:extLst>
              </a:tr>
              <a:tr h="200345">
                <a:tc>
                  <a:txBody>
                    <a:bodyPr/>
                    <a:lstStyle/>
                    <a:p>
                      <a:pPr algn="ctr">
                        <a:lnSpc>
                          <a:spcPct val="100000"/>
                        </a:lnSpc>
                      </a:pPr>
                      <a:r>
                        <a:rPr lang="en-US" sz="700"/>
                        <a:t>10</a:t>
                      </a:r>
                    </a:p>
                  </a:txBody>
                  <a:tcPr anchor="ctr"/>
                </a:tc>
                <a:tc>
                  <a:txBody>
                    <a:bodyPr/>
                    <a:lstStyle/>
                    <a:p>
                      <a:pPr algn="l">
                        <a:lnSpc>
                          <a:spcPct val="100000"/>
                        </a:lnSpc>
                      </a:pPr>
                      <a:r>
                        <a:rPr lang="en-US" sz="700"/>
                        <a:t>Mem Read</a:t>
                      </a:r>
                    </a:p>
                  </a:txBody>
                  <a:tcPr anchor="ctr"/>
                </a:tc>
                <a:extLst>
                  <a:ext uri="{0D108BD9-81ED-4DB2-BD59-A6C34878D82A}">
                    <a16:rowId xmlns:a16="http://schemas.microsoft.com/office/drawing/2014/main" val="707415226"/>
                  </a:ext>
                </a:extLst>
              </a:tr>
              <a:tr h="200345">
                <a:tc>
                  <a:txBody>
                    <a:bodyPr/>
                    <a:lstStyle/>
                    <a:p>
                      <a:pPr algn="ctr">
                        <a:lnSpc>
                          <a:spcPct val="100000"/>
                        </a:lnSpc>
                      </a:pPr>
                      <a:r>
                        <a:rPr lang="en-US" sz="700"/>
                        <a:t>9</a:t>
                      </a:r>
                    </a:p>
                  </a:txBody>
                  <a:tcPr anchor="ctr"/>
                </a:tc>
                <a:tc>
                  <a:txBody>
                    <a:bodyPr/>
                    <a:lstStyle/>
                    <a:p>
                      <a:pPr algn="l">
                        <a:lnSpc>
                          <a:spcPct val="100000"/>
                        </a:lnSpc>
                      </a:pPr>
                      <a:r>
                        <a:rPr lang="en-US" sz="700"/>
                        <a:t>PC Out</a:t>
                      </a:r>
                    </a:p>
                  </a:txBody>
                  <a:tcPr anchor="ctr"/>
                </a:tc>
                <a:extLst>
                  <a:ext uri="{0D108BD9-81ED-4DB2-BD59-A6C34878D82A}">
                    <a16:rowId xmlns:a16="http://schemas.microsoft.com/office/drawing/2014/main" val="1663806429"/>
                  </a:ext>
                </a:extLst>
              </a:tr>
              <a:tr h="200345">
                <a:tc>
                  <a:txBody>
                    <a:bodyPr/>
                    <a:lstStyle/>
                    <a:p>
                      <a:pPr algn="ctr">
                        <a:lnSpc>
                          <a:spcPct val="100000"/>
                        </a:lnSpc>
                      </a:pPr>
                      <a:r>
                        <a:rPr lang="en-US" sz="700" dirty="0"/>
                        <a:t>8</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a:t>PC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27957"/>
                  </a:ext>
                </a:extLst>
              </a:tr>
              <a:tr h="200345">
                <a:tc>
                  <a:txBody>
                    <a:bodyPr/>
                    <a:lstStyle/>
                    <a:p>
                      <a:pPr algn="ctr">
                        <a:lnSpc>
                          <a:spcPct val="100000"/>
                        </a:lnSpc>
                      </a:pPr>
                      <a:r>
                        <a:rPr lang="en-US" sz="700"/>
                        <a:t>7</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PC advance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70910443"/>
                  </a:ext>
                </a:extLst>
              </a:tr>
              <a:tr h="200345">
                <a:tc>
                  <a:txBody>
                    <a:bodyPr/>
                    <a:lstStyle/>
                    <a:p>
                      <a:pPr algn="ctr">
                        <a:lnSpc>
                          <a:spcPct val="100000"/>
                        </a:lnSpc>
                      </a:pPr>
                      <a:r>
                        <a:rPr lang="en-US" sz="700"/>
                        <a:t>6</a:t>
                      </a:r>
                    </a:p>
                  </a:txBody>
                  <a:tcPr anchor="ctr"/>
                </a:tc>
                <a:tc>
                  <a:txBody>
                    <a:bodyPr/>
                    <a:lstStyle/>
                    <a:p>
                      <a:pPr algn="l">
                        <a:lnSpc>
                          <a:spcPct val="100000"/>
                        </a:lnSpc>
                      </a:pPr>
                      <a:r>
                        <a:rPr lang="en-US" sz="700"/>
                        <a:t>Program Register H Write to Bus (parameter)</a:t>
                      </a:r>
                    </a:p>
                  </a:txBody>
                  <a:tcPr anchor="ctr"/>
                </a:tc>
                <a:extLst>
                  <a:ext uri="{0D108BD9-81ED-4DB2-BD59-A6C34878D82A}">
                    <a16:rowId xmlns:a16="http://schemas.microsoft.com/office/drawing/2014/main" val="631651838"/>
                  </a:ext>
                </a:extLst>
              </a:tr>
              <a:tr h="200345">
                <a:tc>
                  <a:txBody>
                    <a:bodyPr/>
                    <a:lstStyle/>
                    <a:p>
                      <a:pPr algn="ctr">
                        <a:lnSpc>
                          <a:spcPct val="100000"/>
                        </a:lnSpc>
                      </a:pPr>
                      <a:r>
                        <a:rPr lang="en-US" sz="700"/>
                        <a:t>5</a:t>
                      </a:r>
                    </a:p>
                  </a:txBody>
                  <a:tcPr anchor="ctr"/>
                </a:tc>
                <a:tc>
                  <a:txBody>
                    <a:bodyPr/>
                    <a:lstStyle/>
                    <a:p>
                      <a:pPr algn="l">
                        <a:lnSpc>
                          <a:spcPct val="100000"/>
                        </a:lnSpc>
                      </a:pPr>
                      <a:r>
                        <a:rPr lang="en-US" sz="700"/>
                        <a:t>Register File Input Enable</a:t>
                      </a:r>
                    </a:p>
                  </a:txBody>
                  <a:tcPr anchor="ctr"/>
                </a:tc>
                <a:extLst>
                  <a:ext uri="{0D108BD9-81ED-4DB2-BD59-A6C34878D82A}">
                    <a16:rowId xmlns:a16="http://schemas.microsoft.com/office/drawing/2014/main" val="1592812184"/>
                  </a:ext>
                </a:extLst>
              </a:tr>
              <a:tr h="200345">
                <a:tc>
                  <a:txBody>
                    <a:bodyPr/>
                    <a:lstStyle/>
                    <a:p>
                      <a:pPr algn="ctr">
                        <a:lnSpc>
                          <a:spcPct val="100000"/>
                        </a:lnSpc>
                      </a:pPr>
                      <a:r>
                        <a:rPr lang="en-US" sz="700" dirty="0"/>
                        <a:t>4</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Register File Output Enable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5793510"/>
                  </a:ext>
                </a:extLst>
              </a:tr>
              <a:tr h="200345">
                <a:tc>
                  <a:txBody>
                    <a:bodyPr/>
                    <a:lstStyle/>
                    <a:p>
                      <a:pPr algn="ctr">
                        <a:lnSpc>
                          <a:spcPct val="100000"/>
                        </a:lnSpc>
                      </a:pPr>
                      <a:r>
                        <a:rPr lang="en-US" sz="700"/>
                        <a:t>3</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Register File Output Select (parameter – 0 -&gt; Rs1, 1 -&gt; Rs2)</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46366285"/>
                  </a:ext>
                </a:extLst>
              </a:tr>
              <a:tr h="0">
                <a:tc>
                  <a:txBody>
                    <a:bodyPr/>
                    <a:lstStyle/>
                    <a:p>
                      <a:pPr algn="ctr">
                        <a:lnSpc>
                          <a:spcPct val="100000"/>
                        </a:lnSpc>
                      </a:pPr>
                      <a:r>
                        <a:rPr lang="en-US" sz="700"/>
                        <a:t>2</a:t>
                      </a:r>
                    </a:p>
                  </a:txBody>
                  <a:tcPr anchor="ctr"/>
                </a:tc>
                <a:tc>
                  <a:txBody>
                    <a:bodyPr/>
                    <a:lstStyle/>
                    <a:p>
                      <a:pPr algn="l">
                        <a:lnSpc>
                          <a:spcPct val="100000"/>
                        </a:lnSpc>
                      </a:pPr>
                      <a:r>
                        <a:rPr lang="en-US" sz="700" dirty="0"/>
                        <a:t>ALU output enable</a:t>
                      </a:r>
                    </a:p>
                  </a:txBody>
                  <a:tcPr anchor="ctr"/>
                </a:tc>
                <a:extLst>
                  <a:ext uri="{0D108BD9-81ED-4DB2-BD59-A6C34878D82A}">
                    <a16:rowId xmlns:a16="http://schemas.microsoft.com/office/drawing/2014/main" val="2615342211"/>
                  </a:ext>
                </a:extLst>
              </a:tr>
              <a:tr h="156274">
                <a:tc>
                  <a:txBody>
                    <a:bodyPr/>
                    <a:lstStyle/>
                    <a:p>
                      <a:pPr algn="ctr">
                        <a:lnSpc>
                          <a:spcPct val="100000"/>
                        </a:lnSpc>
                      </a:pPr>
                      <a:r>
                        <a:rPr lang="en-US" sz="700"/>
                        <a:t>1</a:t>
                      </a:r>
                    </a:p>
                  </a:txBody>
                  <a:tcPr anchor="ctr"/>
                </a:tc>
                <a:tc>
                  <a:txBody>
                    <a:bodyPr/>
                    <a:lstStyle/>
                    <a:p>
                      <a:pPr algn="l">
                        <a:lnSpc>
                          <a:spcPct val="100000"/>
                        </a:lnSpc>
                      </a:pPr>
                      <a:r>
                        <a:rPr lang="en-US" sz="700" dirty="0"/>
                        <a:t>ALU load register A</a:t>
                      </a:r>
                    </a:p>
                  </a:txBody>
                  <a:tcPr marT="0" anchor="ctr"/>
                </a:tc>
                <a:extLst>
                  <a:ext uri="{0D108BD9-81ED-4DB2-BD59-A6C34878D82A}">
                    <a16:rowId xmlns:a16="http://schemas.microsoft.com/office/drawing/2014/main" val="2055856817"/>
                  </a:ext>
                </a:extLst>
              </a:tr>
              <a:tr h="200345">
                <a:tc>
                  <a:txBody>
                    <a:bodyPr/>
                    <a:lstStyle/>
                    <a:p>
                      <a:pPr algn="ctr">
                        <a:lnSpc>
                          <a:spcPct val="100000"/>
                        </a:lnSpc>
                      </a:pPr>
                      <a:r>
                        <a:rPr lang="en-US" sz="700"/>
                        <a:t>0</a:t>
                      </a:r>
                    </a:p>
                  </a:txBody>
                  <a:tcPr anchor="ctr"/>
                </a:tc>
                <a:tc>
                  <a:txBody>
                    <a:bodyPr/>
                    <a:lstStyle/>
                    <a:p>
                      <a:pPr algn="l">
                        <a:lnSpc>
                          <a:spcPct val="100000"/>
                        </a:lnSpc>
                      </a:pPr>
                      <a:r>
                        <a:rPr lang="en-US" sz="700" dirty="0"/>
                        <a:t>ALU load register B</a:t>
                      </a:r>
                    </a:p>
                  </a:txBody>
                  <a:tcPr anchor="ct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243314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5660F-D82B-FCBD-755D-244C84990A3A}"/>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C11E0195-0D94-774F-FA71-A855BDA3C937}"/>
              </a:ext>
            </a:extLst>
          </p:cNvPr>
          <p:cNvSpPr>
            <a:spLocks noGrp="1"/>
          </p:cNvSpPr>
          <p:nvPr>
            <p:ph type="ctrTitle"/>
          </p:nvPr>
        </p:nvSpPr>
        <p:spPr>
          <a:xfrm>
            <a:off x="914400" y="182880"/>
            <a:ext cx="9144000" cy="457200"/>
          </a:xfrm>
        </p:spPr>
        <p:txBody>
          <a:bodyPr/>
          <a:lstStyle/>
          <a:p>
            <a:r>
              <a:rPr lang="en-US" dirty="0"/>
              <a:t>Micro-Instructions Control: RTS (10001)</a:t>
            </a:r>
            <a:endParaRPr lang="en-US" dirty="0">
              <a:highlight>
                <a:srgbClr val="FFFF00"/>
              </a:highlight>
            </a:endParaRPr>
          </a:p>
        </p:txBody>
      </p:sp>
      <p:graphicFrame>
        <p:nvGraphicFramePr>
          <p:cNvPr id="5" name="Table 4">
            <a:extLst>
              <a:ext uri="{FF2B5EF4-FFF2-40B4-BE49-F238E27FC236}">
                <a16:creationId xmlns:a16="http://schemas.microsoft.com/office/drawing/2014/main" id="{A6E856D2-DA43-21D3-0316-783D1A3FD899}"/>
              </a:ext>
            </a:extLst>
          </p:cNvPr>
          <p:cNvGraphicFramePr>
            <a:graphicFrameLocks noGrp="1"/>
          </p:cNvGraphicFramePr>
          <p:nvPr>
            <p:extLst>
              <p:ext uri="{D42A27DB-BD31-4B8C-83A1-F6EECF244321}">
                <p14:modId xmlns:p14="http://schemas.microsoft.com/office/powerpoint/2010/main" val="254381856"/>
              </p:ext>
            </p:extLst>
          </p:nvPr>
        </p:nvGraphicFramePr>
        <p:xfrm>
          <a:off x="4716581" y="742463"/>
          <a:ext cx="6249874" cy="3437440"/>
        </p:xfrm>
        <a:graphic>
          <a:graphicData uri="http://schemas.openxmlformats.org/drawingml/2006/table">
            <a:tbl>
              <a:tblPr firstRow="1" bandRow="1">
                <a:tableStyleId>{5C22544A-7EE6-4342-B048-85BDC9FD1C3A}</a:tableStyleId>
              </a:tblPr>
              <a:tblGrid>
                <a:gridCol w="948528">
                  <a:extLst>
                    <a:ext uri="{9D8B030D-6E8A-4147-A177-3AD203B41FA5}">
                      <a16:colId xmlns:a16="http://schemas.microsoft.com/office/drawing/2014/main" val="1217920130"/>
                    </a:ext>
                  </a:extLst>
                </a:gridCol>
                <a:gridCol w="2465917">
                  <a:extLst>
                    <a:ext uri="{9D8B030D-6E8A-4147-A177-3AD203B41FA5}">
                      <a16:colId xmlns:a16="http://schemas.microsoft.com/office/drawing/2014/main" val="1475888205"/>
                    </a:ext>
                  </a:extLst>
                </a:gridCol>
                <a:gridCol w="2835429">
                  <a:extLst>
                    <a:ext uri="{9D8B030D-6E8A-4147-A177-3AD203B41FA5}">
                      <a16:colId xmlns:a16="http://schemas.microsoft.com/office/drawing/2014/main" val="2801792198"/>
                    </a:ext>
                  </a:extLst>
                </a:gridCol>
              </a:tblGrid>
              <a:tr h="233569">
                <a:tc>
                  <a:txBody>
                    <a:bodyPr/>
                    <a:lstStyle/>
                    <a:p>
                      <a:r>
                        <a:rPr lang="en-US" sz="1200" dirty="0"/>
                        <a:t>Cycle #</a:t>
                      </a:r>
                    </a:p>
                  </a:txBody>
                  <a:tcPr/>
                </a:tc>
                <a:tc>
                  <a:txBody>
                    <a:bodyPr/>
                    <a:lstStyle/>
                    <a:p>
                      <a:r>
                        <a:rPr lang="en-US" sz="1200" dirty="0"/>
                        <a:t>Instruction</a:t>
                      </a:r>
                    </a:p>
                  </a:txBody>
                  <a:tcPr/>
                </a:tc>
                <a:tc>
                  <a:txBody>
                    <a:bodyPr/>
                    <a:lstStyle/>
                    <a:p>
                      <a:r>
                        <a:rPr lang="en-US" sz="1200"/>
                        <a:t>Explanation</a:t>
                      </a:r>
                    </a:p>
                  </a:txBody>
                  <a:tcPr/>
                </a:tc>
                <a:extLst>
                  <a:ext uri="{0D108BD9-81ED-4DB2-BD59-A6C34878D82A}">
                    <a16:rowId xmlns:a16="http://schemas.microsoft.com/office/drawing/2014/main" val="2319756336"/>
                  </a:ext>
                </a:extLst>
              </a:tr>
              <a:tr h="389281">
                <a:tc>
                  <a:txBody>
                    <a:bodyPr/>
                    <a:lstStyle/>
                    <a:p>
                      <a:pPr algn="ctr"/>
                      <a:r>
                        <a:rPr lang="en-US" sz="1200"/>
                        <a:t>0</a:t>
                      </a:r>
                    </a:p>
                  </a:txBody>
                  <a:tcPr/>
                </a:tc>
                <a:tc>
                  <a:txBody>
                    <a:bodyPr/>
                    <a:lstStyle/>
                    <a:p>
                      <a:pPr algn="l"/>
                      <a:r>
                        <a:rPr lang="en-US" sz="1200" dirty="0"/>
                        <a:t>0x01_80_00</a:t>
                      </a:r>
                    </a:p>
                  </a:txBody>
                  <a:tcPr/>
                </a:tc>
                <a:tc>
                  <a:txBody>
                    <a:bodyPr/>
                    <a:lstStyle/>
                    <a:p>
                      <a:pPr algn="l"/>
                      <a:r>
                        <a:rPr lang="en-US" sz="1200" dirty="0"/>
                        <a:t>(SP++;) Increment SP. </a:t>
                      </a:r>
                    </a:p>
                    <a:p>
                      <a:pPr algn="l"/>
                      <a:r>
                        <a:rPr lang="en-US" sz="1200" dirty="0"/>
                        <a:t>(Point to Return address HIGH)</a:t>
                      </a:r>
                    </a:p>
                  </a:txBody>
                  <a:tcPr/>
                </a:tc>
                <a:extLst>
                  <a:ext uri="{0D108BD9-81ED-4DB2-BD59-A6C34878D82A}">
                    <a16:rowId xmlns:a16="http://schemas.microsoft.com/office/drawing/2014/main" val="2570910443"/>
                  </a:ext>
                </a:extLst>
              </a:tr>
              <a:tr h="700706">
                <a:tc>
                  <a:txBody>
                    <a:bodyPr/>
                    <a:lstStyle/>
                    <a:p>
                      <a:pPr algn="ctr"/>
                      <a:r>
                        <a:rPr lang="en-US" sz="12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0x06_45_00</a:t>
                      </a:r>
                    </a:p>
                  </a:txBody>
                  <a:tcPr/>
                </a:tc>
                <a:tc>
                  <a:txBody>
                    <a:bodyPr/>
                    <a:lstStyle/>
                    <a:p>
                      <a:pPr algn="l"/>
                      <a:r>
                        <a:rPr lang="en-US" sz="1200" dirty="0"/>
                        <a:t>(DHPC = *SP) Write SP to the Address Bus, Set Memory to write to the Data Bus, Set DHPC to read from the Data Bus, and decrement SP.</a:t>
                      </a:r>
                    </a:p>
                  </a:txBody>
                  <a:tcPr/>
                </a:tc>
                <a:extLst>
                  <a:ext uri="{0D108BD9-81ED-4DB2-BD59-A6C34878D82A}">
                    <a16:rowId xmlns:a16="http://schemas.microsoft.com/office/drawing/2014/main" val="631651838"/>
                  </a:ext>
                </a:extLst>
              </a:tr>
              <a:tr h="233569">
                <a:tc>
                  <a:txBody>
                    <a:bodyPr/>
                    <a:lstStyle/>
                    <a:p>
                      <a:pPr algn="ctr"/>
                      <a:r>
                        <a:rPr lang="en-US" sz="1200"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0x00_80_00</a:t>
                      </a: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dirty="0"/>
                        <a:t>SP-- (Point to Return address LOW)</a:t>
                      </a:r>
                    </a:p>
                  </a:txBody>
                  <a:tcPr/>
                </a:tc>
                <a:extLst>
                  <a:ext uri="{0D108BD9-81ED-4DB2-BD59-A6C34878D82A}">
                    <a16:rowId xmlns:a16="http://schemas.microsoft.com/office/drawing/2014/main" val="3830469587"/>
                  </a:ext>
                </a:extLst>
              </a:tr>
              <a:tr h="700706">
                <a:tc>
                  <a:txBody>
                    <a:bodyPr/>
                    <a:lstStyle/>
                    <a:p>
                      <a:pPr algn="ctr"/>
                      <a:r>
                        <a:rPr lang="en-US" sz="1200"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0x03_45_00</a:t>
                      </a:r>
                    </a:p>
                  </a:txBody>
                  <a:tcPr/>
                </a:tc>
                <a:tc>
                  <a:txBody>
                    <a:bodyPr/>
                    <a:lstStyle/>
                    <a:p>
                      <a:pPr algn="l"/>
                      <a:r>
                        <a:rPr lang="en-US" sz="1200" dirty="0"/>
                        <a:t>(PC[L] = *SP) Write SP to the Address Bus, Set Memory to write to the Data Bus, Set PC[L] to read from the Data Bus (and PC[H] = DHPC).</a:t>
                      </a:r>
                    </a:p>
                  </a:txBody>
                  <a:tcPr/>
                </a:tc>
                <a:extLst>
                  <a:ext uri="{0D108BD9-81ED-4DB2-BD59-A6C34878D82A}">
                    <a16:rowId xmlns:a16="http://schemas.microsoft.com/office/drawing/2014/main" val="1338880606"/>
                  </a:ext>
                </a:extLst>
              </a:tr>
              <a:tr h="389281">
                <a:tc>
                  <a:txBody>
                    <a:bodyPr/>
                    <a:lstStyle/>
                    <a:p>
                      <a:pPr algn="ctr"/>
                      <a:r>
                        <a:rPr lang="en-US" sz="1200" dirty="0"/>
                        <a:t>4</a:t>
                      </a:r>
                    </a:p>
                  </a:txBody>
                  <a:tcPr/>
                </a:tc>
                <a:tc>
                  <a:txBody>
                    <a:bodyPr/>
                    <a:lstStyle/>
                    <a:p>
                      <a:pPr algn="l"/>
                      <a:r>
                        <a:rPr lang="en-US" sz="1200" dirty="0"/>
                        <a:t>0x01_80_00</a:t>
                      </a:r>
                    </a:p>
                  </a:txBody>
                  <a:tcPr/>
                </a:tc>
                <a:tc>
                  <a:txBody>
                    <a:bodyPr/>
                    <a:lstStyle/>
                    <a:p>
                      <a:pPr algn="l"/>
                      <a:r>
                        <a:rPr lang="en-US" sz="1200" dirty="0"/>
                        <a:t>(SP++;) Increment SP. </a:t>
                      </a:r>
                    </a:p>
                    <a:p>
                      <a:pPr algn="l"/>
                      <a:r>
                        <a:rPr lang="en-US" sz="1200" dirty="0"/>
                        <a:t>(POP first half)</a:t>
                      </a:r>
                    </a:p>
                  </a:txBody>
                  <a:tcPr/>
                </a:tc>
                <a:extLst>
                  <a:ext uri="{0D108BD9-81ED-4DB2-BD59-A6C34878D82A}">
                    <a16:rowId xmlns:a16="http://schemas.microsoft.com/office/drawing/2014/main" val="2064588756"/>
                  </a:ext>
                </a:extLst>
              </a:tr>
              <a:tr h="328480">
                <a:tc>
                  <a:txBody>
                    <a:bodyPr/>
                    <a:lstStyle/>
                    <a:p>
                      <a:pPr algn="ctr"/>
                      <a:r>
                        <a:rPr lang="en-US" sz="1200"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0x01_80_80</a:t>
                      </a:r>
                    </a:p>
                  </a:txBody>
                  <a:tcPr/>
                </a:tc>
                <a:tc>
                  <a:txBody>
                    <a:bodyPr/>
                    <a:lstStyle/>
                    <a:p>
                      <a:pPr algn="l"/>
                      <a:r>
                        <a:rPr lang="en-US" sz="1200" dirty="0"/>
                        <a:t>(SP++;) POP second half and Advance PC.</a:t>
                      </a:r>
                    </a:p>
                  </a:txBody>
                  <a:tcPr/>
                </a:tc>
                <a:extLst>
                  <a:ext uri="{0D108BD9-81ED-4DB2-BD59-A6C34878D82A}">
                    <a16:rowId xmlns:a16="http://schemas.microsoft.com/office/drawing/2014/main" val="507231817"/>
                  </a:ext>
                </a:extLst>
              </a:tr>
            </a:tbl>
          </a:graphicData>
        </a:graphic>
      </p:graphicFrame>
      <p:pic>
        <p:nvPicPr>
          <p:cNvPr id="2" name="Picture 1">
            <a:hlinkClick r:id="rId3" action="ppaction://hlinksldjump"/>
            <a:extLst>
              <a:ext uri="{FF2B5EF4-FFF2-40B4-BE49-F238E27FC236}">
                <a16:creationId xmlns:a16="http://schemas.microsoft.com/office/drawing/2014/main" id="{B5F9DF8D-A5D9-8694-CA76-BCDA0768405B}"/>
              </a:ext>
            </a:extLst>
          </p:cNvPr>
          <p:cNvPicPr>
            <a:picLocks noChangeAspect="1"/>
          </p:cNvPicPr>
          <p:nvPr/>
        </p:nvPicPr>
        <p:blipFill>
          <a:blip r:embed="rId4"/>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6DF8CD0B-521C-5B67-4C54-706F74F9FE20}"/>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57</a:t>
            </a:fld>
            <a:endParaRPr lang="en-US" b="1">
              <a:solidFill>
                <a:schemeClr val="bg1"/>
              </a:solidFill>
            </a:endParaRPr>
          </a:p>
        </p:txBody>
      </p:sp>
      <p:graphicFrame>
        <p:nvGraphicFramePr>
          <p:cNvPr id="14" name="Table 4">
            <a:extLst>
              <a:ext uri="{FF2B5EF4-FFF2-40B4-BE49-F238E27FC236}">
                <a16:creationId xmlns:a16="http://schemas.microsoft.com/office/drawing/2014/main" id="{B0C9C238-B1AC-10A1-82DA-00C6CB2CB725}"/>
              </a:ext>
            </a:extLst>
          </p:cNvPr>
          <p:cNvGraphicFramePr>
            <a:graphicFrameLocks noGrp="1"/>
          </p:cNvGraphicFramePr>
          <p:nvPr>
            <p:extLst>
              <p:ext uri="{D42A27DB-BD31-4B8C-83A1-F6EECF244321}">
                <p14:modId xmlns:p14="http://schemas.microsoft.com/office/powerpoint/2010/main" val="1506414402"/>
              </p:ext>
            </p:extLst>
          </p:nvPr>
        </p:nvGraphicFramePr>
        <p:xfrm>
          <a:off x="179752" y="742463"/>
          <a:ext cx="4329725" cy="5004175"/>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00345">
                <a:tc>
                  <a:txBody>
                    <a:bodyPr/>
                    <a:lstStyle/>
                    <a:p>
                      <a:pPr>
                        <a:lnSpc>
                          <a:spcPct val="100000"/>
                        </a:lnSpc>
                      </a:pPr>
                      <a:r>
                        <a:rPr lang="en-US" sz="700"/>
                        <a:t>Bit</a:t>
                      </a:r>
                    </a:p>
                  </a:txBody>
                  <a:tcPr anchor="ctr"/>
                </a:tc>
                <a:tc>
                  <a:txBody>
                    <a:bodyPr/>
                    <a:lstStyle/>
                    <a:p>
                      <a:pPr>
                        <a:lnSpc>
                          <a:spcPct val="100000"/>
                        </a:lnSpc>
                      </a:pPr>
                      <a:r>
                        <a:rPr lang="en-US" sz="700" dirty="0"/>
                        <a:t>Operation</a:t>
                      </a:r>
                    </a:p>
                  </a:txBody>
                  <a:tcPr anchor="ctr"/>
                </a:tc>
                <a:extLst>
                  <a:ext uri="{0D108BD9-81ED-4DB2-BD59-A6C34878D82A}">
                    <a16:rowId xmlns:a16="http://schemas.microsoft.com/office/drawing/2014/main" val="2319756336"/>
                  </a:ext>
                </a:extLst>
              </a:tr>
              <a:tr h="200345">
                <a:tc>
                  <a:txBody>
                    <a:bodyPr/>
                    <a:lstStyle/>
                    <a:p>
                      <a:pPr algn="ctr">
                        <a:lnSpc>
                          <a:spcPct val="100000"/>
                        </a:lnSpc>
                      </a:pPr>
                      <a:r>
                        <a:rPr lang="en-US" sz="700" dirty="0"/>
                        <a:t>23</a:t>
                      </a:r>
                    </a:p>
                  </a:txBody>
                  <a:tcPr anchor="ctr"/>
                </a:tc>
                <a:tc>
                  <a:txBody>
                    <a:bodyPr/>
                    <a:lstStyle/>
                    <a:p>
                      <a:pPr algn="l">
                        <a:lnSpc>
                          <a:spcPct val="100000"/>
                        </a:lnSpc>
                      </a:pPr>
                      <a:r>
                        <a:rPr lang="en-US" sz="700" dirty="0"/>
                        <a:t>Not Used</a:t>
                      </a:r>
                    </a:p>
                  </a:txBody>
                  <a:tcPr anchor="ctr"/>
                </a:tc>
                <a:extLst>
                  <a:ext uri="{0D108BD9-81ED-4DB2-BD59-A6C34878D82A}">
                    <a16:rowId xmlns:a16="http://schemas.microsoft.com/office/drawing/2014/main" val="3576468534"/>
                  </a:ext>
                </a:extLst>
              </a:tr>
              <a:tr h="200345">
                <a:tc>
                  <a:txBody>
                    <a:bodyPr/>
                    <a:lstStyle/>
                    <a:p>
                      <a:pPr algn="ctr">
                        <a:lnSpc>
                          <a:spcPct val="100000"/>
                        </a:lnSpc>
                      </a:pPr>
                      <a:r>
                        <a:rPr lang="en-US" sz="700" dirty="0"/>
                        <a:t>22</a:t>
                      </a:r>
                    </a:p>
                  </a:txBody>
                  <a:tcPr anchor="ctr"/>
                </a:tc>
                <a:tc>
                  <a:txBody>
                    <a:bodyPr/>
                    <a:lstStyle/>
                    <a:p>
                      <a:pPr algn="l">
                        <a:lnSpc>
                          <a:spcPct val="100000"/>
                        </a:lnSpc>
                      </a:pPr>
                      <a:r>
                        <a:rPr lang="en-US" sz="700" dirty="0" err="1"/>
                        <a:t>AddressHorL</a:t>
                      </a:r>
                      <a:endParaRPr lang="en-US" sz="700" dirty="0"/>
                    </a:p>
                  </a:txBody>
                  <a:tcPr anchor="ctr"/>
                </a:tc>
                <a:extLst>
                  <a:ext uri="{0D108BD9-81ED-4DB2-BD59-A6C34878D82A}">
                    <a16:rowId xmlns:a16="http://schemas.microsoft.com/office/drawing/2014/main" val="79971578"/>
                  </a:ext>
                </a:extLst>
              </a:tr>
              <a:tr h="200345">
                <a:tc>
                  <a:txBody>
                    <a:bodyPr/>
                    <a:lstStyle/>
                    <a:p>
                      <a:pPr algn="ctr">
                        <a:lnSpc>
                          <a:spcPct val="100000"/>
                        </a:lnSpc>
                      </a:pPr>
                      <a:r>
                        <a:rPr lang="en-US" sz="700" dirty="0"/>
                        <a:t>21</a:t>
                      </a:r>
                    </a:p>
                  </a:txBody>
                  <a:tcPr anchor="ctr"/>
                </a:tc>
                <a:tc>
                  <a:txBody>
                    <a:bodyPr/>
                    <a:lstStyle/>
                    <a:p>
                      <a:pPr algn="l">
                        <a:lnSpc>
                          <a:spcPct val="100000"/>
                        </a:lnSpc>
                      </a:pPr>
                      <a:r>
                        <a:rPr lang="en-US" sz="700" dirty="0" err="1"/>
                        <a:t>AddressBusToDataBus</a:t>
                      </a:r>
                      <a:endParaRPr lang="en-US" sz="700" dirty="0"/>
                    </a:p>
                  </a:txBody>
                  <a:tcPr anchor="ctr"/>
                </a:tc>
                <a:extLst>
                  <a:ext uri="{0D108BD9-81ED-4DB2-BD59-A6C34878D82A}">
                    <a16:rowId xmlns:a16="http://schemas.microsoft.com/office/drawing/2014/main" val="4135939119"/>
                  </a:ext>
                </a:extLst>
              </a:tr>
              <a:tr h="200345">
                <a:tc>
                  <a:txBody>
                    <a:bodyPr/>
                    <a:lstStyle/>
                    <a:p>
                      <a:pPr algn="ctr">
                        <a:lnSpc>
                          <a:spcPct val="100000"/>
                        </a:lnSpc>
                      </a:pPr>
                      <a:r>
                        <a:rPr lang="en-US" sz="700" dirty="0"/>
                        <a:t>20</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err="1"/>
                        <a:t>TmpARWrite</a:t>
                      </a:r>
                      <a:endParaRPr lang="en-US" sz="700"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9580944"/>
                  </a:ext>
                </a:extLst>
              </a:tr>
              <a:tr h="200345">
                <a:tc>
                  <a:txBody>
                    <a:bodyPr/>
                    <a:lstStyle/>
                    <a:p>
                      <a:pPr algn="ctr">
                        <a:lnSpc>
                          <a:spcPct val="100000"/>
                        </a:lnSpc>
                      </a:pPr>
                      <a:r>
                        <a:rPr lang="en-US" sz="700" dirty="0"/>
                        <a:t>19</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err="1"/>
                        <a:t>TmpARRead</a:t>
                      </a:r>
                      <a:endParaRPr lang="en-US" sz="700"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35159618"/>
                  </a:ext>
                </a:extLst>
              </a:tr>
              <a:tr h="200345">
                <a:tc>
                  <a:txBody>
                    <a:bodyPr/>
                    <a:lstStyle/>
                    <a:p>
                      <a:pPr algn="ctr">
                        <a:lnSpc>
                          <a:spcPct val="100000"/>
                        </a:lnSpc>
                      </a:pPr>
                      <a:r>
                        <a:rPr lang="en-US" sz="700" dirty="0"/>
                        <a:t>18</a:t>
                      </a:r>
                    </a:p>
                  </a:txBody>
                  <a:tcPr anchor="ctr"/>
                </a:tc>
                <a:tc>
                  <a:txBody>
                    <a:bodyPr/>
                    <a:lstStyle/>
                    <a:p>
                      <a:pPr algn="l">
                        <a:lnSpc>
                          <a:spcPct val="100000"/>
                        </a:lnSpc>
                      </a:pPr>
                      <a:r>
                        <a:rPr lang="en-US" sz="700" dirty="0" err="1"/>
                        <a:t>loadARHorL</a:t>
                      </a:r>
                      <a:endParaRPr lang="en-US" sz="700" dirty="0"/>
                    </a:p>
                  </a:txBody>
                  <a:tcPr anchor="ctr"/>
                </a:tc>
                <a:extLst>
                  <a:ext uri="{0D108BD9-81ED-4DB2-BD59-A6C34878D82A}">
                    <a16:rowId xmlns:a16="http://schemas.microsoft.com/office/drawing/2014/main" val="2357817394"/>
                  </a:ext>
                </a:extLst>
              </a:tr>
              <a:tr h="200345">
                <a:tc>
                  <a:txBody>
                    <a:bodyPr/>
                    <a:lstStyle/>
                    <a:p>
                      <a:pPr algn="ctr">
                        <a:lnSpc>
                          <a:spcPct val="100000"/>
                        </a:lnSpc>
                      </a:pPr>
                      <a:r>
                        <a:rPr lang="en-US" sz="700"/>
                        <a:t>17</a:t>
                      </a:r>
                    </a:p>
                  </a:txBody>
                  <a:tcPr anchor="ctr"/>
                </a:tc>
                <a:tc>
                  <a:txBody>
                    <a:bodyPr/>
                    <a:lstStyle/>
                    <a:p>
                      <a:pPr algn="l">
                        <a:lnSpc>
                          <a:spcPct val="100000"/>
                        </a:lnSpc>
                      </a:pPr>
                      <a:r>
                        <a:rPr lang="en-US" sz="700" dirty="0" err="1"/>
                        <a:t>loadAR</a:t>
                      </a:r>
                      <a:r>
                        <a:rPr lang="en-US" sz="700" dirty="0"/>
                        <a:t> (formerly: Load Special Pointer)</a:t>
                      </a:r>
                    </a:p>
                  </a:txBody>
                  <a:tcPr anchor="ctr"/>
                </a:tc>
                <a:extLst>
                  <a:ext uri="{0D108BD9-81ED-4DB2-BD59-A6C34878D82A}">
                    <a16:rowId xmlns:a16="http://schemas.microsoft.com/office/drawing/2014/main" val="2759210480"/>
                  </a:ext>
                </a:extLst>
              </a:tr>
              <a:tr h="200345">
                <a:tc>
                  <a:txBody>
                    <a:bodyPr/>
                    <a:lstStyle/>
                    <a:p>
                      <a:pPr algn="ctr">
                        <a:lnSpc>
                          <a:spcPct val="100000"/>
                        </a:lnSpc>
                      </a:pPr>
                      <a:r>
                        <a:rPr lang="en-US" sz="700" dirty="0"/>
                        <a:t>16</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Stack Pointer Increment / Decrement (0: decrease / 1: increase)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6363256"/>
                  </a:ext>
                </a:extLst>
              </a:tr>
              <a:tr h="200345">
                <a:tc>
                  <a:txBody>
                    <a:bodyPr/>
                    <a:lstStyle/>
                    <a:p>
                      <a:pPr algn="ctr">
                        <a:lnSpc>
                          <a:spcPct val="100000"/>
                        </a:lnSpc>
                      </a:pPr>
                      <a:r>
                        <a:rPr lang="en-US" sz="700"/>
                        <a:t>15</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Stack Pointer Count</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49660566"/>
                  </a:ext>
                </a:extLst>
              </a:tr>
              <a:tr h="200345">
                <a:tc>
                  <a:txBody>
                    <a:bodyPr/>
                    <a:lstStyle/>
                    <a:p>
                      <a:pPr algn="ctr">
                        <a:lnSpc>
                          <a:spcPct val="100000"/>
                        </a:lnSpc>
                      </a:pPr>
                      <a:r>
                        <a:rPr lang="en-US" sz="700"/>
                        <a:t>14</a:t>
                      </a:r>
                    </a:p>
                  </a:txBody>
                  <a:tcPr anchor="ctr"/>
                </a:tc>
                <a:tc>
                  <a:txBody>
                    <a:bodyPr/>
                    <a:lstStyle/>
                    <a:p>
                      <a:pPr algn="l">
                        <a:lnSpc>
                          <a:spcPct val="100000"/>
                        </a:lnSpc>
                      </a:pPr>
                      <a:r>
                        <a:rPr lang="en-US" sz="700" dirty="0"/>
                        <a:t>SP Out (formerly: RAM Address Select (0: Address register / 1: Stack pointer))</a:t>
                      </a:r>
                    </a:p>
                  </a:txBody>
                  <a:tcPr anchor="ctr"/>
                </a:tc>
                <a:extLst>
                  <a:ext uri="{0D108BD9-81ED-4DB2-BD59-A6C34878D82A}">
                    <a16:rowId xmlns:a16="http://schemas.microsoft.com/office/drawing/2014/main" val="645489424"/>
                  </a:ext>
                </a:extLst>
              </a:tr>
              <a:tr h="200345">
                <a:tc>
                  <a:txBody>
                    <a:bodyPr/>
                    <a:lstStyle/>
                    <a:p>
                      <a:pPr algn="ctr">
                        <a:lnSpc>
                          <a:spcPct val="100000"/>
                        </a:lnSpc>
                      </a:pPr>
                      <a:r>
                        <a:rPr lang="en-US" sz="700"/>
                        <a:t>13</a:t>
                      </a:r>
                    </a:p>
                  </a:txBody>
                  <a:tcPr anchor="ctr"/>
                </a:tc>
                <a:tc>
                  <a:txBody>
                    <a:bodyPr/>
                    <a:lstStyle/>
                    <a:p>
                      <a:pPr algn="l">
                        <a:lnSpc>
                          <a:spcPct val="100000"/>
                        </a:lnSpc>
                      </a:pPr>
                      <a:r>
                        <a:rPr lang="en-US" sz="700"/>
                        <a:t>Use Rd as Source</a:t>
                      </a:r>
                    </a:p>
                  </a:txBody>
                  <a:tcPr anchor="ctr"/>
                </a:tc>
                <a:extLst>
                  <a:ext uri="{0D108BD9-81ED-4DB2-BD59-A6C34878D82A}">
                    <a16:rowId xmlns:a16="http://schemas.microsoft.com/office/drawing/2014/main" val="2745442092"/>
                  </a:ext>
                </a:extLst>
              </a:tr>
              <a:tr h="200345">
                <a:tc>
                  <a:txBody>
                    <a:bodyPr/>
                    <a:lstStyle/>
                    <a:p>
                      <a:pPr algn="ctr">
                        <a:lnSpc>
                          <a:spcPct val="100000"/>
                        </a:lnSpc>
                      </a:pPr>
                      <a:r>
                        <a:rPr lang="en-US" sz="700" dirty="0"/>
                        <a:t>12</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Lower Address Register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762316"/>
                  </a:ext>
                </a:extLst>
              </a:tr>
              <a:tr h="200345">
                <a:tc>
                  <a:txBody>
                    <a:bodyPr/>
                    <a:lstStyle/>
                    <a:p>
                      <a:pPr algn="ctr">
                        <a:lnSpc>
                          <a:spcPct val="100000"/>
                        </a:lnSpc>
                      </a:pPr>
                      <a:r>
                        <a:rPr lang="en-US" sz="700"/>
                        <a:t>11</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Mem Write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66008767"/>
                  </a:ext>
                </a:extLst>
              </a:tr>
              <a:tr h="200345">
                <a:tc>
                  <a:txBody>
                    <a:bodyPr/>
                    <a:lstStyle/>
                    <a:p>
                      <a:pPr algn="ctr">
                        <a:lnSpc>
                          <a:spcPct val="100000"/>
                        </a:lnSpc>
                      </a:pPr>
                      <a:r>
                        <a:rPr lang="en-US" sz="700"/>
                        <a:t>10</a:t>
                      </a:r>
                    </a:p>
                  </a:txBody>
                  <a:tcPr anchor="ctr"/>
                </a:tc>
                <a:tc>
                  <a:txBody>
                    <a:bodyPr/>
                    <a:lstStyle/>
                    <a:p>
                      <a:pPr algn="l">
                        <a:lnSpc>
                          <a:spcPct val="100000"/>
                        </a:lnSpc>
                      </a:pPr>
                      <a:r>
                        <a:rPr lang="en-US" sz="700"/>
                        <a:t>Mem Read</a:t>
                      </a:r>
                    </a:p>
                  </a:txBody>
                  <a:tcPr anchor="ctr"/>
                </a:tc>
                <a:extLst>
                  <a:ext uri="{0D108BD9-81ED-4DB2-BD59-A6C34878D82A}">
                    <a16:rowId xmlns:a16="http://schemas.microsoft.com/office/drawing/2014/main" val="707415226"/>
                  </a:ext>
                </a:extLst>
              </a:tr>
              <a:tr h="200345">
                <a:tc>
                  <a:txBody>
                    <a:bodyPr/>
                    <a:lstStyle/>
                    <a:p>
                      <a:pPr algn="ctr">
                        <a:lnSpc>
                          <a:spcPct val="100000"/>
                        </a:lnSpc>
                      </a:pPr>
                      <a:r>
                        <a:rPr lang="en-US" sz="700"/>
                        <a:t>9</a:t>
                      </a:r>
                    </a:p>
                  </a:txBody>
                  <a:tcPr anchor="ctr"/>
                </a:tc>
                <a:tc>
                  <a:txBody>
                    <a:bodyPr/>
                    <a:lstStyle/>
                    <a:p>
                      <a:pPr algn="l">
                        <a:lnSpc>
                          <a:spcPct val="100000"/>
                        </a:lnSpc>
                      </a:pPr>
                      <a:r>
                        <a:rPr lang="en-US" sz="700"/>
                        <a:t>PC Out</a:t>
                      </a:r>
                    </a:p>
                  </a:txBody>
                  <a:tcPr anchor="ctr"/>
                </a:tc>
                <a:extLst>
                  <a:ext uri="{0D108BD9-81ED-4DB2-BD59-A6C34878D82A}">
                    <a16:rowId xmlns:a16="http://schemas.microsoft.com/office/drawing/2014/main" val="1663806429"/>
                  </a:ext>
                </a:extLst>
              </a:tr>
              <a:tr h="200345">
                <a:tc>
                  <a:txBody>
                    <a:bodyPr/>
                    <a:lstStyle/>
                    <a:p>
                      <a:pPr algn="ctr">
                        <a:lnSpc>
                          <a:spcPct val="100000"/>
                        </a:lnSpc>
                      </a:pPr>
                      <a:r>
                        <a:rPr lang="en-US" sz="700" dirty="0"/>
                        <a:t>8</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a:t>PC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27957"/>
                  </a:ext>
                </a:extLst>
              </a:tr>
              <a:tr h="200345">
                <a:tc>
                  <a:txBody>
                    <a:bodyPr/>
                    <a:lstStyle/>
                    <a:p>
                      <a:pPr algn="ctr">
                        <a:lnSpc>
                          <a:spcPct val="100000"/>
                        </a:lnSpc>
                      </a:pPr>
                      <a:r>
                        <a:rPr lang="en-US" sz="700"/>
                        <a:t>7</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PC advance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70910443"/>
                  </a:ext>
                </a:extLst>
              </a:tr>
              <a:tr h="200345">
                <a:tc>
                  <a:txBody>
                    <a:bodyPr/>
                    <a:lstStyle/>
                    <a:p>
                      <a:pPr algn="ctr">
                        <a:lnSpc>
                          <a:spcPct val="100000"/>
                        </a:lnSpc>
                      </a:pPr>
                      <a:r>
                        <a:rPr lang="en-US" sz="700"/>
                        <a:t>6</a:t>
                      </a:r>
                    </a:p>
                  </a:txBody>
                  <a:tcPr anchor="ctr"/>
                </a:tc>
                <a:tc>
                  <a:txBody>
                    <a:bodyPr/>
                    <a:lstStyle/>
                    <a:p>
                      <a:pPr algn="l">
                        <a:lnSpc>
                          <a:spcPct val="100000"/>
                        </a:lnSpc>
                      </a:pPr>
                      <a:r>
                        <a:rPr lang="en-US" sz="700"/>
                        <a:t>Program Register H Write to Bus (parameter)</a:t>
                      </a:r>
                    </a:p>
                  </a:txBody>
                  <a:tcPr anchor="ctr"/>
                </a:tc>
                <a:extLst>
                  <a:ext uri="{0D108BD9-81ED-4DB2-BD59-A6C34878D82A}">
                    <a16:rowId xmlns:a16="http://schemas.microsoft.com/office/drawing/2014/main" val="631651838"/>
                  </a:ext>
                </a:extLst>
              </a:tr>
              <a:tr h="200345">
                <a:tc>
                  <a:txBody>
                    <a:bodyPr/>
                    <a:lstStyle/>
                    <a:p>
                      <a:pPr algn="ctr">
                        <a:lnSpc>
                          <a:spcPct val="100000"/>
                        </a:lnSpc>
                      </a:pPr>
                      <a:r>
                        <a:rPr lang="en-US" sz="700"/>
                        <a:t>5</a:t>
                      </a:r>
                    </a:p>
                  </a:txBody>
                  <a:tcPr anchor="ctr"/>
                </a:tc>
                <a:tc>
                  <a:txBody>
                    <a:bodyPr/>
                    <a:lstStyle/>
                    <a:p>
                      <a:pPr algn="l">
                        <a:lnSpc>
                          <a:spcPct val="100000"/>
                        </a:lnSpc>
                      </a:pPr>
                      <a:r>
                        <a:rPr lang="en-US" sz="700"/>
                        <a:t>Register File Input Enable</a:t>
                      </a:r>
                    </a:p>
                  </a:txBody>
                  <a:tcPr anchor="ctr"/>
                </a:tc>
                <a:extLst>
                  <a:ext uri="{0D108BD9-81ED-4DB2-BD59-A6C34878D82A}">
                    <a16:rowId xmlns:a16="http://schemas.microsoft.com/office/drawing/2014/main" val="1592812184"/>
                  </a:ext>
                </a:extLst>
              </a:tr>
              <a:tr h="200345">
                <a:tc>
                  <a:txBody>
                    <a:bodyPr/>
                    <a:lstStyle/>
                    <a:p>
                      <a:pPr algn="ctr">
                        <a:lnSpc>
                          <a:spcPct val="100000"/>
                        </a:lnSpc>
                      </a:pPr>
                      <a:r>
                        <a:rPr lang="en-US" sz="700" dirty="0"/>
                        <a:t>4</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Register File Output Enable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5793510"/>
                  </a:ext>
                </a:extLst>
              </a:tr>
              <a:tr h="200345">
                <a:tc>
                  <a:txBody>
                    <a:bodyPr/>
                    <a:lstStyle/>
                    <a:p>
                      <a:pPr algn="ctr">
                        <a:lnSpc>
                          <a:spcPct val="100000"/>
                        </a:lnSpc>
                      </a:pPr>
                      <a:r>
                        <a:rPr lang="en-US" sz="700"/>
                        <a:t>3</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Register File Output Select (parameter – 0 -&gt; Rs1, 1 -&gt; Rs2)</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46366285"/>
                  </a:ext>
                </a:extLst>
              </a:tr>
              <a:tr h="0">
                <a:tc>
                  <a:txBody>
                    <a:bodyPr/>
                    <a:lstStyle/>
                    <a:p>
                      <a:pPr algn="ctr">
                        <a:lnSpc>
                          <a:spcPct val="100000"/>
                        </a:lnSpc>
                      </a:pPr>
                      <a:r>
                        <a:rPr lang="en-US" sz="700"/>
                        <a:t>2</a:t>
                      </a:r>
                    </a:p>
                  </a:txBody>
                  <a:tcPr anchor="ctr"/>
                </a:tc>
                <a:tc>
                  <a:txBody>
                    <a:bodyPr/>
                    <a:lstStyle/>
                    <a:p>
                      <a:pPr algn="l">
                        <a:lnSpc>
                          <a:spcPct val="100000"/>
                        </a:lnSpc>
                      </a:pPr>
                      <a:r>
                        <a:rPr lang="en-US" sz="700" dirty="0"/>
                        <a:t>ALU output enable</a:t>
                      </a:r>
                    </a:p>
                  </a:txBody>
                  <a:tcPr anchor="ctr"/>
                </a:tc>
                <a:extLst>
                  <a:ext uri="{0D108BD9-81ED-4DB2-BD59-A6C34878D82A}">
                    <a16:rowId xmlns:a16="http://schemas.microsoft.com/office/drawing/2014/main" val="2615342211"/>
                  </a:ext>
                </a:extLst>
              </a:tr>
              <a:tr h="156274">
                <a:tc>
                  <a:txBody>
                    <a:bodyPr/>
                    <a:lstStyle/>
                    <a:p>
                      <a:pPr algn="ctr">
                        <a:lnSpc>
                          <a:spcPct val="100000"/>
                        </a:lnSpc>
                      </a:pPr>
                      <a:r>
                        <a:rPr lang="en-US" sz="700"/>
                        <a:t>1</a:t>
                      </a:r>
                    </a:p>
                  </a:txBody>
                  <a:tcPr anchor="ctr"/>
                </a:tc>
                <a:tc>
                  <a:txBody>
                    <a:bodyPr/>
                    <a:lstStyle/>
                    <a:p>
                      <a:pPr algn="l">
                        <a:lnSpc>
                          <a:spcPct val="100000"/>
                        </a:lnSpc>
                      </a:pPr>
                      <a:r>
                        <a:rPr lang="en-US" sz="700" dirty="0"/>
                        <a:t>ALU load register A</a:t>
                      </a:r>
                    </a:p>
                  </a:txBody>
                  <a:tcPr marT="0" anchor="ctr"/>
                </a:tc>
                <a:extLst>
                  <a:ext uri="{0D108BD9-81ED-4DB2-BD59-A6C34878D82A}">
                    <a16:rowId xmlns:a16="http://schemas.microsoft.com/office/drawing/2014/main" val="2055856817"/>
                  </a:ext>
                </a:extLst>
              </a:tr>
              <a:tr h="200345">
                <a:tc>
                  <a:txBody>
                    <a:bodyPr/>
                    <a:lstStyle/>
                    <a:p>
                      <a:pPr algn="ctr">
                        <a:lnSpc>
                          <a:spcPct val="100000"/>
                        </a:lnSpc>
                      </a:pPr>
                      <a:r>
                        <a:rPr lang="en-US" sz="700"/>
                        <a:t>0</a:t>
                      </a:r>
                    </a:p>
                  </a:txBody>
                  <a:tcPr anchor="ctr"/>
                </a:tc>
                <a:tc>
                  <a:txBody>
                    <a:bodyPr/>
                    <a:lstStyle/>
                    <a:p>
                      <a:pPr algn="l">
                        <a:lnSpc>
                          <a:spcPct val="100000"/>
                        </a:lnSpc>
                      </a:pPr>
                      <a:r>
                        <a:rPr lang="en-US" sz="700" dirty="0"/>
                        <a:t>ALU load register B</a:t>
                      </a:r>
                    </a:p>
                  </a:txBody>
                  <a:tcPr anchor="ctr"/>
                </a:tc>
                <a:extLst>
                  <a:ext uri="{0D108BD9-81ED-4DB2-BD59-A6C34878D82A}">
                    <a16:rowId xmlns:a16="http://schemas.microsoft.com/office/drawing/2014/main" val="3502991894"/>
                  </a:ext>
                </a:extLst>
              </a:tr>
            </a:tbl>
          </a:graphicData>
        </a:graphic>
      </p:graphicFrame>
      <p:graphicFrame>
        <p:nvGraphicFramePr>
          <p:cNvPr id="3" name="Table 4">
            <a:extLst>
              <a:ext uri="{FF2B5EF4-FFF2-40B4-BE49-F238E27FC236}">
                <a16:creationId xmlns:a16="http://schemas.microsoft.com/office/drawing/2014/main" id="{1504FEE0-E442-9B3A-C7BF-471CA32C618E}"/>
              </a:ext>
            </a:extLst>
          </p:cNvPr>
          <p:cNvGraphicFramePr>
            <a:graphicFrameLocks noGrp="1"/>
          </p:cNvGraphicFramePr>
          <p:nvPr/>
        </p:nvGraphicFramePr>
        <p:xfrm>
          <a:off x="179752" y="5818357"/>
          <a:ext cx="10585849" cy="595227"/>
        </p:xfrm>
        <a:graphic>
          <a:graphicData uri="http://schemas.openxmlformats.org/drawingml/2006/table">
            <a:tbl>
              <a:tblPr firstRow="1" bandRow="1">
                <a:tableStyleId>{5C22544A-7EE6-4342-B048-85BDC9FD1C3A}</a:tableStyleId>
              </a:tblPr>
              <a:tblGrid>
                <a:gridCol w="998667">
                  <a:extLst>
                    <a:ext uri="{9D8B030D-6E8A-4147-A177-3AD203B41FA5}">
                      <a16:colId xmlns:a16="http://schemas.microsoft.com/office/drawing/2014/main" val="1810408170"/>
                    </a:ext>
                  </a:extLst>
                </a:gridCol>
                <a:gridCol w="970585">
                  <a:extLst>
                    <a:ext uri="{9D8B030D-6E8A-4147-A177-3AD203B41FA5}">
                      <a16:colId xmlns:a16="http://schemas.microsoft.com/office/drawing/2014/main" val="950391025"/>
                    </a:ext>
                  </a:extLst>
                </a:gridCol>
                <a:gridCol w="884832">
                  <a:extLst>
                    <a:ext uri="{9D8B030D-6E8A-4147-A177-3AD203B41FA5}">
                      <a16:colId xmlns:a16="http://schemas.microsoft.com/office/drawing/2014/main" val="1217920130"/>
                    </a:ext>
                  </a:extLst>
                </a:gridCol>
                <a:gridCol w="1402159">
                  <a:extLst>
                    <a:ext uri="{9D8B030D-6E8A-4147-A177-3AD203B41FA5}">
                      <a16:colId xmlns:a16="http://schemas.microsoft.com/office/drawing/2014/main" val="1475888205"/>
                    </a:ext>
                  </a:extLst>
                </a:gridCol>
                <a:gridCol w="1609969">
                  <a:extLst>
                    <a:ext uri="{9D8B030D-6E8A-4147-A177-3AD203B41FA5}">
                      <a16:colId xmlns:a16="http://schemas.microsoft.com/office/drawing/2014/main" val="1355185516"/>
                    </a:ext>
                  </a:extLst>
                </a:gridCol>
                <a:gridCol w="1304925">
                  <a:extLst>
                    <a:ext uri="{9D8B030D-6E8A-4147-A177-3AD203B41FA5}">
                      <a16:colId xmlns:a16="http://schemas.microsoft.com/office/drawing/2014/main" val="1039846299"/>
                    </a:ext>
                  </a:extLst>
                </a:gridCol>
                <a:gridCol w="3414712">
                  <a:extLst>
                    <a:ext uri="{9D8B030D-6E8A-4147-A177-3AD203B41FA5}">
                      <a16:colId xmlns:a16="http://schemas.microsoft.com/office/drawing/2014/main" val="3099546510"/>
                    </a:ext>
                  </a:extLst>
                </a:gridCol>
              </a:tblGrid>
              <a:tr h="241986">
                <a:tc>
                  <a:txBody>
                    <a:bodyPr/>
                    <a:lstStyle/>
                    <a:p>
                      <a:r>
                        <a:rPr lang="en-US" sz="1300" dirty="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dirty="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305667">
                <a:tc>
                  <a:txBody>
                    <a:bodyPr/>
                    <a:lstStyle/>
                    <a:p>
                      <a:pPr algn="ctr"/>
                      <a:r>
                        <a:rPr lang="en-US" sz="1300" dirty="0"/>
                        <a:t>POP</a:t>
                      </a:r>
                    </a:p>
                  </a:txBody>
                  <a:tcPr>
                    <a:solidFill>
                      <a:schemeClr val="accent6"/>
                    </a:solidFill>
                  </a:tcPr>
                </a:tc>
                <a:tc>
                  <a:txBody>
                    <a:bodyPr/>
                    <a:lstStyle/>
                    <a:p>
                      <a:pPr algn="ctr"/>
                      <a:r>
                        <a:rPr lang="en-US" sz="1300" dirty="0"/>
                        <a:t>XX</a:t>
                      </a:r>
                    </a:p>
                  </a:txBody>
                  <a:tcPr/>
                </a:tc>
                <a:tc>
                  <a:txBody>
                    <a:bodyPr/>
                    <a:lstStyle/>
                    <a:p>
                      <a:pPr algn="ctr"/>
                      <a:r>
                        <a:rPr lang="en-US" sz="1300" dirty="0"/>
                        <a:t>XX</a:t>
                      </a:r>
                    </a:p>
                  </a:txBody>
                  <a:tcPr/>
                </a:tc>
                <a:tc>
                  <a:txBody>
                    <a:bodyPr/>
                    <a:lstStyle/>
                    <a:p>
                      <a:pPr algn="ctr"/>
                      <a:r>
                        <a:rPr lang="en-US" sz="1300" dirty="0"/>
                        <a:t>XXXX</a:t>
                      </a:r>
                    </a:p>
                  </a:txBody>
                  <a:tcPr/>
                </a:tc>
                <a:tc>
                  <a:txBody>
                    <a:bodyPr/>
                    <a:lstStyle/>
                    <a:p>
                      <a:pPr algn="ctr"/>
                      <a:r>
                        <a:rPr lang="en-US" sz="1300" dirty="0"/>
                        <a:t>Rd</a:t>
                      </a:r>
                    </a:p>
                  </a:txBody>
                  <a:tcPr/>
                </a:tc>
                <a:tc>
                  <a:txBody>
                    <a:bodyPr/>
                    <a:lstStyle/>
                    <a:p>
                      <a:pPr algn="ctr"/>
                      <a:r>
                        <a:rPr lang="en-US" sz="1300" dirty="0"/>
                        <a:t>X</a:t>
                      </a:r>
                    </a:p>
                  </a:txBody>
                  <a:tcPr/>
                </a:tc>
                <a:tc>
                  <a:txBody>
                    <a:bodyPr/>
                    <a:lstStyle/>
                    <a:p>
                      <a:pPr algn="ctr"/>
                      <a:r>
                        <a:rPr lang="en-US" sz="1300" dirty="0" err="1"/>
                        <a:t>OpCode</a:t>
                      </a:r>
                      <a:r>
                        <a:rPr lang="en-US" sz="1300" dirty="0"/>
                        <a:t>=0x0f</a:t>
                      </a:r>
                    </a:p>
                  </a:txBody>
                  <a:tcPr/>
                </a:tc>
                <a:extLst>
                  <a:ext uri="{0D108BD9-81ED-4DB2-BD59-A6C34878D82A}">
                    <a16:rowId xmlns:a16="http://schemas.microsoft.com/office/drawing/2014/main" val="2570910443"/>
                  </a:ext>
                </a:extLst>
              </a:tr>
            </a:tbl>
          </a:graphicData>
        </a:graphic>
      </p:graphicFrame>
      <p:sp>
        <p:nvSpPr>
          <p:cNvPr id="4" name="TextBox 3">
            <a:extLst>
              <a:ext uri="{FF2B5EF4-FFF2-40B4-BE49-F238E27FC236}">
                <a16:creationId xmlns:a16="http://schemas.microsoft.com/office/drawing/2014/main" id="{7DE65D96-23AF-331D-7860-5D78DDA4D7E6}"/>
              </a:ext>
            </a:extLst>
          </p:cNvPr>
          <p:cNvSpPr txBox="1"/>
          <p:nvPr/>
        </p:nvSpPr>
        <p:spPr>
          <a:xfrm>
            <a:off x="10966456" y="2"/>
            <a:ext cx="1223412" cy="1323439"/>
          </a:xfrm>
          <a:prstGeom prst="rect">
            <a:avLst/>
          </a:prstGeom>
          <a:noFill/>
        </p:spPr>
        <p:txBody>
          <a:bodyPr wrap="none" rtlCol="0">
            <a:spAutoFit/>
          </a:bodyPr>
          <a:lstStyle/>
          <a:p>
            <a:r>
              <a:rPr lang="en-US" sz="8000" dirty="0">
                <a:solidFill>
                  <a:schemeClr val="accent1">
                    <a:lumMod val="60000"/>
                    <a:lumOff val="40000"/>
                  </a:schemeClr>
                </a:solidFill>
              </a:rPr>
              <a:t>11</a:t>
            </a:r>
          </a:p>
        </p:txBody>
      </p:sp>
      <p:sp>
        <p:nvSpPr>
          <p:cNvPr id="6" name="TextBox 5">
            <a:extLst>
              <a:ext uri="{FF2B5EF4-FFF2-40B4-BE49-F238E27FC236}">
                <a16:creationId xmlns:a16="http://schemas.microsoft.com/office/drawing/2014/main" id="{702B8B1E-4DC4-BB36-B075-B5AF18E1703A}"/>
              </a:ext>
            </a:extLst>
          </p:cNvPr>
          <p:cNvSpPr txBox="1"/>
          <p:nvPr/>
        </p:nvSpPr>
        <p:spPr>
          <a:xfrm>
            <a:off x="10898970" y="4847867"/>
            <a:ext cx="776175"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RTS</a:t>
            </a:r>
          </a:p>
        </p:txBody>
      </p:sp>
      <p:sp>
        <p:nvSpPr>
          <p:cNvPr id="7" name="TextBox 6">
            <a:extLst>
              <a:ext uri="{FF2B5EF4-FFF2-40B4-BE49-F238E27FC236}">
                <a16:creationId xmlns:a16="http://schemas.microsoft.com/office/drawing/2014/main" id="{973D59CA-318A-C928-BEC5-9863E4A47B27}"/>
              </a:ext>
            </a:extLst>
          </p:cNvPr>
          <p:cNvSpPr txBox="1"/>
          <p:nvPr/>
        </p:nvSpPr>
        <p:spPr>
          <a:xfrm>
            <a:off x="4667486" y="4361643"/>
            <a:ext cx="5508239" cy="1384995"/>
          </a:xfrm>
          <a:prstGeom prst="rect">
            <a:avLst/>
          </a:prstGeom>
          <a:noFill/>
        </p:spPr>
        <p:txBody>
          <a:bodyPr wrap="none" rtlCol="0">
            <a:spAutoFit/>
          </a:bodyPr>
          <a:lstStyle/>
          <a:p>
            <a:r>
              <a:rPr lang="en-US" sz="2800" dirty="0">
                <a:solidFill>
                  <a:srgbClr val="00B050"/>
                </a:solidFill>
                <a:latin typeface="Consolas" panose="020B0609020204030204" pitchFamily="49" charset="0"/>
              </a:rPr>
              <a:t>SP++; DHPC = *SP; SP--; </a:t>
            </a:r>
          </a:p>
          <a:p>
            <a:r>
              <a:rPr lang="en-US" sz="2800" dirty="0">
                <a:solidFill>
                  <a:srgbClr val="00B050"/>
                </a:solidFill>
                <a:latin typeface="Consolas" panose="020B0609020204030204" pitchFamily="49" charset="0"/>
              </a:rPr>
              <a:t>PC[L] = *SP, PC[H] = DHPC; </a:t>
            </a:r>
          </a:p>
          <a:p>
            <a:r>
              <a:rPr lang="en-US" sz="2800" dirty="0">
                <a:solidFill>
                  <a:srgbClr val="00B050"/>
                </a:solidFill>
                <a:latin typeface="Consolas" panose="020B0609020204030204" pitchFamily="49" charset="0"/>
              </a:rPr>
              <a:t>SP++; SP++;</a:t>
            </a:r>
          </a:p>
        </p:txBody>
      </p:sp>
    </p:spTree>
    <p:extLst>
      <p:ext uri="{BB962C8B-B14F-4D97-AF65-F5344CB8AC3E}">
        <p14:creationId xmlns:p14="http://schemas.microsoft.com/office/powerpoint/2010/main" val="3657287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nvGraphicFramePr>
        <p:xfrm>
          <a:off x="4716584" y="742463"/>
          <a:ext cx="5638802" cy="3423399"/>
        </p:xfrm>
        <a:graphic>
          <a:graphicData uri="http://schemas.openxmlformats.org/drawingml/2006/table">
            <a:tbl>
              <a:tblPr firstRow="1" bandRow="1">
                <a:tableStyleId>{5C22544A-7EE6-4342-B048-85BDC9FD1C3A}</a:tableStyleId>
              </a:tblPr>
              <a:tblGrid>
                <a:gridCol w="855787">
                  <a:extLst>
                    <a:ext uri="{9D8B030D-6E8A-4147-A177-3AD203B41FA5}">
                      <a16:colId xmlns:a16="http://schemas.microsoft.com/office/drawing/2014/main" val="1217920130"/>
                    </a:ext>
                  </a:extLst>
                </a:gridCol>
                <a:gridCol w="2294891">
                  <a:extLst>
                    <a:ext uri="{9D8B030D-6E8A-4147-A177-3AD203B41FA5}">
                      <a16:colId xmlns:a16="http://schemas.microsoft.com/office/drawing/2014/main" val="1475888205"/>
                    </a:ext>
                  </a:extLst>
                </a:gridCol>
                <a:gridCol w="2488124">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370840">
                <a:tc>
                  <a:txBody>
                    <a:bodyPr/>
                    <a:lstStyle/>
                    <a:p>
                      <a:pPr algn="ctr"/>
                      <a:r>
                        <a:rPr lang="en-US" sz="1300"/>
                        <a:t>0</a:t>
                      </a:r>
                    </a:p>
                  </a:txBody>
                  <a:tcPr/>
                </a:tc>
                <a:tc>
                  <a:txBody>
                    <a:bodyPr/>
                    <a:lstStyle/>
                    <a:p>
                      <a:pPr algn="l"/>
                      <a:r>
                        <a:rPr lang="en-US" sz="1300"/>
                        <a:t>0001_0010 = 0x12</a:t>
                      </a:r>
                    </a:p>
                  </a:txBody>
                  <a:tcPr/>
                </a:tc>
                <a:tc>
                  <a:txBody>
                    <a:bodyPr/>
                    <a:lstStyle/>
                    <a:p>
                      <a:pPr algn="l"/>
                      <a:r>
                        <a:rPr lang="en-US" sz="1300"/>
                        <a:t>Load Rs1 to reg A</a:t>
                      </a:r>
                    </a:p>
                  </a:txBody>
                  <a:tcPr/>
                </a:tc>
                <a:extLst>
                  <a:ext uri="{0D108BD9-81ED-4DB2-BD59-A6C34878D82A}">
                    <a16:rowId xmlns:a16="http://schemas.microsoft.com/office/drawing/2014/main" val="2570910443"/>
                  </a:ext>
                </a:extLst>
              </a:tr>
              <a:tr h="370840">
                <a:tc>
                  <a:txBody>
                    <a:bodyPr/>
                    <a:lstStyle/>
                    <a:p>
                      <a:pPr algn="ctr"/>
                      <a:r>
                        <a:rPr lang="en-US" sz="13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0001_1001 = 0x19</a:t>
                      </a:r>
                    </a:p>
                  </a:txBody>
                  <a:tcPr/>
                </a:tc>
                <a:tc>
                  <a:txBody>
                    <a:bodyPr/>
                    <a:lstStyle/>
                    <a:p>
                      <a:pPr algn="l"/>
                      <a:r>
                        <a:rPr lang="en-US" sz="1300"/>
                        <a:t>Load Rs2 to reg B</a:t>
                      </a:r>
                    </a:p>
                  </a:txBody>
                  <a:tcPr/>
                </a:tc>
                <a:extLst>
                  <a:ext uri="{0D108BD9-81ED-4DB2-BD59-A6C34878D82A}">
                    <a16:rowId xmlns:a16="http://schemas.microsoft.com/office/drawing/2014/main" val="631651838"/>
                  </a:ext>
                </a:extLst>
              </a:tr>
              <a:tr h="502920">
                <a:tc>
                  <a:txBody>
                    <a:bodyPr/>
                    <a:lstStyle/>
                    <a:p>
                      <a:pPr algn="ctr"/>
                      <a:r>
                        <a:rPr lang="en-US" sz="13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0000_0100 = 0x04</a:t>
                      </a:r>
                    </a:p>
                  </a:txBody>
                  <a:tcPr/>
                </a:tc>
                <a:tc>
                  <a:txBody>
                    <a:bodyPr/>
                    <a:lstStyle/>
                    <a:p>
                      <a:pPr algn="l"/>
                      <a:r>
                        <a:rPr lang="en-US" sz="1300"/>
                        <a:t>Output ALU value on bus (but don’t save in register)</a:t>
                      </a:r>
                    </a:p>
                  </a:txBody>
                  <a:tcPr/>
                </a:tc>
                <a:extLst>
                  <a:ext uri="{0D108BD9-81ED-4DB2-BD59-A6C34878D82A}">
                    <a16:rowId xmlns:a16="http://schemas.microsoft.com/office/drawing/2014/main" val="1592812184"/>
                  </a:ext>
                </a:extLst>
              </a:tr>
              <a:tr h="370840">
                <a:tc>
                  <a:txBody>
                    <a:bodyPr/>
                    <a:lstStyle/>
                    <a:p>
                      <a:pPr algn="ctr"/>
                      <a:r>
                        <a:rPr lang="en-US" sz="1300"/>
                        <a:t>3</a:t>
                      </a:r>
                    </a:p>
                  </a:txBody>
                  <a:tcPr/>
                </a:tc>
                <a:tc>
                  <a:txBody>
                    <a:bodyPr/>
                    <a:lstStyle/>
                    <a:p>
                      <a:pPr algn="l"/>
                      <a:r>
                        <a:rPr lang="en-US" sz="1300"/>
                        <a:t>1000_0000 = 0x80</a:t>
                      </a:r>
                    </a:p>
                  </a:txBody>
                  <a:tcPr/>
                </a:tc>
                <a:tc>
                  <a:txBody>
                    <a:bodyPr/>
                    <a:lstStyle/>
                    <a:p>
                      <a:pPr algn="l"/>
                      <a:r>
                        <a:rPr lang="en-US" sz="1300"/>
                        <a:t>Increment PC</a:t>
                      </a:r>
                    </a:p>
                  </a:txBody>
                  <a:tcPr/>
                </a:tc>
                <a:extLst>
                  <a:ext uri="{0D108BD9-81ED-4DB2-BD59-A6C34878D82A}">
                    <a16:rowId xmlns:a16="http://schemas.microsoft.com/office/drawing/2014/main" val="2225793510"/>
                  </a:ext>
                </a:extLst>
              </a:tr>
              <a:tr h="370840">
                <a:tc>
                  <a:txBody>
                    <a:bodyPr/>
                    <a:lstStyle/>
                    <a:p>
                      <a:pPr algn="ctr"/>
                      <a:r>
                        <a:rPr lang="en-US" sz="1300"/>
                        <a:t>4</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1046366285"/>
                  </a:ext>
                </a:extLst>
              </a:tr>
              <a:tr h="370840">
                <a:tc>
                  <a:txBody>
                    <a:bodyPr/>
                    <a:lstStyle/>
                    <a:p>
                      <a:pPr algn="ctr"/>
                      <a:r>
                        <a:rPr lang="en-US" sz="1300"/>
                        <a:t>5</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615342211"/>
                  </a:ext>
                </a:extLst>
              </a:tr>
              <a:tr h="370840">
                <a:tc>
                  <a:txBody>
                    <a:bodyPr/>
                    <a:lstStyle/>
                    <a:p>
                      <a:pPr algn="ctr"/>
                      <a:r>
                        <a:rPr lang="en-US" sz="1300"/>
                        <a:t>6</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055856817"/>
                  </a:ext>
                </a:extLst>
              </a:tr>
              <a:tr h="370840">
                <a:tc>
                  <a:txBody>
                    <a:bodyPr/>
                    <a:lstStyle/>
                    <a:p>
                      <a:pPr algn="ctr"/>
                      <a:r>
                        <a:rPr lang="en-US" sz="1300"/>
                        <a:t>7</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3502991894"/>
                  </a:ext>
                </a:extLst>
              </a:tr>
            </a:tbl>
          </a:graphicData>
        </a:graphic>
      </p:graphicFrame>
      <p:graphicFrame>
        <p:nvGraphicFramePr>
          <p:cNvPr id="6" name="Table 4">
            <a:extLst>
              <a:ext uri="{FF2B5EF4-FFF2-40B4-BE49-F238E27FC236}">
                <a16:creationId xmlns:a16="http://schemas.microsoft.com/office/drawing/2014/main" id="{0DFA9C31-EF12-4E73-95D6-4A8DD48CB5A3}"/>
              </a:ext>
            </a:extLst>
          </p:cNvPr>
          <p:cNvGraphicFramePr>
            <a:graphicFrameLocks noGrp="1"/>
          </p:cNvGraphicFramePr>
          <p:nvPr/>
        </p:nvGraphicFramePr>
        <p:xfrm>
          <a:off x="179752" y="5619913"/>
          <a:ext cx="9276863" cy="668020"/>
        </p:xfrm>
        <a:graphic>
          <a:graphicData uri="http://schemas.openxmlformats.org/drawingml/2006/table">
            <a:tbl>
              <a:tblPr firstRow="1" bandRow="1">
                <a:tableStyleId>{5C22544A-7EE6-4342-B048-85BDC9FD1C3A}</a:tableStyleId>
              </a:tblPr>
              <a:tblGrid>
                <a:gridCol w="1312985">
                  <a:extLst>
                    <a:ext uri="{9D8B030D-6E8A-4147-A177-3AD203B41FA5}">
                      <a16:colId xmlns:a16="http://schemas.microsoft.com/office/drawing/2014/main" val="1810408170"/>
                    </a:ext>
                  </a:extLst>
                </a:gridCol>
                <a:gridCol w="2089399">
                  <a:extLst>
                    <a:ext uri="{9D8B030D-6E8A-4147-A177-3AD203B41FA5}">
                      <a16:colId xmlns:a16="http://schemas.microsoft.com/office/drawing/2014/main" val="1217920130"/>
                    </a:ext>
                  </a:extLst>
                </a:gridCol>
                <a:gridCol w="824031">
                  <a:extLst>
                    <a:ext uri="{9D8B030D-6E8A-4147-A177-3AD203B41FA5}">
                      <a16:colId xmlns:a16="http://schemas.microsoft.com/office/drawing/2014/main" val="1475888205"/>
                    </a:ext>
                  </a:extLst>
                </a:gridCol>
                <a:gridCol w="1262612">
                  <a:extLst>
                    <a:ext uri="{9D8B030D-6E8A-4147-A177-3AD203B41FA5}">
                      <a16:colId xmlns:a16="http://schemas.microsoft.com/office/drawing/2014/main" val="1355185516"/>
                    </a:ext>
                  </a:extLst>
                </a:gridCol>
                <a:gridCol w="1584927">
                  <a:extLst>
                    <a:ext uri="{9D8B030D-6E8A-4147-A177-3AD203B41FA5}">
                      <a16:colId xmlns:a16="http://schemas.microsoft.com/office/drawing/2014/main" val="2050007723"/>
                    </a:ext>
                  </a:extLst>
                </a:gridCol>
                <a:gridCol w="1149517">
                  <a:extLst>
                    <a:ext uri="{9D8B030D-6E8A-4147-A177-3AD203B41FA5}">
                      <a16:colId xmlns:a16="http://schemas.microsoft.com/office/drawing/2014/main" val="3099546510"/>
                    </a:ext>
                  </a:extLst>
                </a:gridCol>
                <a:gridCol w="1053392">
                  <a:extLst>
                    <a:ext uri="{9D8B030D-6E8A-4147-A177-3AD203B41FA5}">
                      <a16:colId xmlns:a16="http://schemas.microsoft.com/office/drawing/2014/main" val="1677154990"/>
                    </a:ext>
                  </a:extLst>
                </a:gridCol>
              </a:tblGrid>
              <a:tr h="370840">
                <a:tc>
                  <a:txBody>
                    <a:bodyPr/>
                    <a:lstStyle/>
                    <a:p>
                      <a:r>
                        <a:rPr lang="en-US" sz="1300"/>
                        <a:t>Type</a:t>
                      </a:r>
                    </a:p>
                  </a:txBody>
                  <a:tcPr/>
                </a:tc>
                <a:tc>
                  <a:txBody>
                    <a:bodyPr/>
                    <a:lstStyle/>
                    <a:p>
                      <a:r>
                        <a:rPr lang="en-US" sz="1300"/>
                        <a:t>15 14 13 12 </a:t>
                      </a:r>
                    </a:p>
                  </a:txBody>
                  <a:tcPr/>
                </a:tc>
                <a:tc>
                  <a:txBody>
                    <a:bodyPr/>
                    <a:lstStyle/>
                    <a:p>
                      <a:r>
                        <a:rPr lang="en-US" sz="1300"/>
                        <a:t>11 10</a:t>
                      </a:r>
                    </a:p>
                  </a:txBody>
                  <a:tcPr/>
                </a:tc>
                <a:tc>
                  <a:txBody>
                    <a:bodyPr/>
                    <a:lstStyle/>
                    <a:p>
                      <a:r>
                        <a:rPr lang="en-US" sz="1300"/>
                        <a:t>9 8</a:t>
                      </a:r>
                    </a:p>
                  </a:txBody>
                  <a:tcPr/>
                </a:tc>
                <a:tc>
                  <a:txBody>
                    <a:bodyPr/>
                    <a:lstStyle/>
                    <a:p>
                      <a:r>
                        <a:rPr lang="en-US" sz="1300"/>
                        <a:t>7 6 5 4</a:t>
                      </a:r>
                    </a:p>
                  </a:txBody>
                  <a:tcPr/>
                </a:tc>
                <a:tc>
                  <a:txBody>
                    <a:bodyPr/>
                    <a:lstStyle/>
                    <a:p>
                      <a:r>
                        <a:rPr lang="en-US" sz="1300"/>
                        <a:t>3 2</a:t>
                      </a:r>
                    </a:p>
                  </a:txBody>
                  <a:tcPr/>
                </a:tc>
                <a:tc>
                  <a:txBody>
                    <a:bodyPr/>
                    <a:lstStyle/>
                    <a:p>
                      <a:r>
                        <a:rPr lang="en-US" sz="1300"/>
                        <a:t>1 0</a:t>
                      </a:r>
                    </a:p>
                  </a:txBody>
                  <a:tcPr/>
                </a:tc>
                <a:extLst>
                  <a:ext uri="{0D108BD9-81ED-4DB2-BD59-A6C34878D82A}">
                    <a16:rowId xmlns:a16="http://schemas.microsoft.com/office/drawing/2014/main" val="2319756336"/>
                  </a:ext>
                </a:extLst>
              </a:tr>
              <a:tr h="297180">
                <a:tc>
                  <a:txBody>
                    <a:bodyPr/>
                    <a:lstStyle/>
                    <a:p>
                      <a:pPr algn="ctr"/>
                      <a:r>
                        <a:rPr lang="en-US" sz="1300"/>
                        <a:t>ALU</a:t>
                      </a:r>
                    </a:p>
                  </a:txBody>
                  <a:tcPr/>
                </a:tc>
                <a:tc>
                  <a:txBody>
                    <a:bodyPr/>
                    <a:lstStyle/>
                    <a:p>
                      <a:pPr algn="ctr"/>
                      <a:r>
                        <a:rPr lang="en-US" sz="1300"/>
                        <a:t>OpCode</a:t>
                      </a:r>
                    </a:p>
                  </a:txBody>
                  <a:tcPr/>
                </a:tc>
                <a:tc>
                  <a:txBody>
                    <a:bodyPr/>
                    <a:lstStyle/>
                    <a:p>
                      <a:pPr algn="ctr"/>
                      <a:r>
                        <a:rPr lang="en-US" sz="1300"/>
                        <a:t>XX</a:t>
                      </a:r>
                    </a:p>
                  </a:txBody>
                  <a:tcPr/>
                </a:tc>
                <a:tc>
                  <a:txBody>
                    <a:bodyPr/>
                    <a:lstStyle/>
                    <a:p>
                      <a:pPr algn="ctr"/>
                      <a:r>
                        <a:rPr lang="en-US" sz="1300"/>
                        <a:t>Rd</a:t>
                      </a:r>
                    </a:p>
                  </a:txBody>
                  <a:tcPr/>
                </a:tc>
                <a:tc>
                  <a:txBody>
                    <a:bodyPr/>
                    <a:lstStyle/>
                    <a:p>
                      <a:pPr algn="ctr"/>
                      <a:r>
                        <a:rPr lang="en-US" sz="1300"/>
                        <a:t>Function</a:t>
                      </a:r>
                    </a:p>
                  </a:txBody>
                  <a:tcPr/>
                </a:tc>
                <a:tc>
                  <a:txBody>
                    <a:bodyPr/>
                    <a:lstStyle/>
                    <a:p>
                      <a:pPr algn="ctr"/>
                      <a:r>
                        <a:rPr lang="en-US" sz="1300"/>
                        <a:t>Rs1</a:t>
                      </a:r>
                    </a:p>
                  </a:txBody>
                  <a:tcPr/>
                </a:tc>
                <a:tc>
                  <a:txBody>
                    <a:bodyPr/>
                    <a:lstStyle/>
                    <a:p>
                      <a:pPr algn="ctr"/>
                      <a:r>
                        <a:rPr lang="en-US" sz="1300"/>
                        <a:t>Rs2</a:t>
                      </a:r>
                    </a:p>
                  </a:txBody>
                  <a:tcPr/>
                </a:tc>
                <a:extLst>
                  <a:ext uri="{0D108BD9-81ED-4DB2-BD59-A6C34878D82A}">
                    <a16:rowId xmlns:a16="http://schemas.microsoft.com/office/drawing/2014/main" val="2570910443"/>
                  </a:ext>
                </a:extLst>
              </a:tr>
            </a:tbl>
          </a:graphicData>
        </a:graphic>
      </p:graphicFrame>
      <p:graphicFrame>
        <p:nvGraphicFramePr>
          <p:cNvPr id="8" name="Table 4">
            <a:extLst>
              <a:ext uri="{FF2B5EF4-FFF2-40B4-BE49-F238E27FC236}">
                <a16:creationId xmlns:a16="http://schemas.microsoft.com/office/drawing/2014/main" id="{438A22CA-2606-4EC2-9E31-AA955DF6E237}"/>
              </a:ext>
            </a:extLst>
          </p:cNvPr>
          <p:cNvGraphicFramePr>
            <a:graphicFrameLocks noGrp="1"/>
          </p:cNvGraphicFramePr>
          <p:nvPr>
            <p:extLst>
              <p:ext uri="{D42A27DB-BD31-4B8C-83A1-F6EECF244321}">
                <p14:modId xmlns:p14="http://schemas.microsoft.com/office/powerpoint/2010/main" val="842495470"/>
              </p:ext>
            </p:extLst>
          </p:nvPr>
        </p:nvGraphicFramePr>
        <p:xfrm>
          <a:off x="179752" y="5619913"/>
          <a:ext cx="9964376" cy="668020"/>
        </p:xfrm>
        <a:graphic>
          <a:graphicData uri="http://schemas.openxmlformats.org/drawingml/2006/table">
            <a:tbl>
              <a:tblPr firstRow="1" bandRow="1">
                <a:tableStyleId>{5C22544A-7EE6-4342-B048-85BDC9FD1C3A}</a:tableStyleId>
              </a:tblPr>
              <a:tblGrid>
                <a:gridCol w="1071627">
                  <a:extLst>
                    <a:ext uri="{9D8B030D-6E8A-4147-A177-3AD203B41FA5}">
                      <a16:colId xmlns:a16="http://schemas.microsoft.com/office/drawing/2014/main" val="1810408170"/>
                    </a:ext>
                  </a:extLst>
                </a:gridCol>
                <a:gridCol w="804069">
                  <a:extLst>
                    <a:ext uri="{9D8B030D-6E8A-4147-A177-3AD203B41FA5}">
                      <a16:colId xmlns:a16="http://schemas.microsoft.com/office/drawing/2014/main" val="950391025"/>
                    </a:ext>
                  </a:extLst>
                </a:gridCol>
                <a:gridCol w="1055077">
                  <a:extLst>
                    <a:ext uri="{9D8B030D-6E8A-4147-A177-3AD203B41FA5}">
                      <a16:colId xmlns:a16="http://schemas.microsoft.com/office/drawing/2014/main" val="1217920130"/>
                    </a:ext>
                  </a:extLst>
                </a:gridCol>
                <a:gridCol w="2595403">
                  <a:extLst>
                    <a:ext uri="{9D8B030D-6E8A-4147-A177-3AD203B41FA5}">
                      <a16:colId xmlns:a16="http://schemas.microsoft.com/office/drawing/2014/main" val="1475888205"/>
                    </a:ext>
                  </a:extLst>
                </a:gridCol>
                <a:gridCol w="765213">
                  <a:extLst>
                    <a:ext uri="{9D8B030D-6E8A-4147-A177-3AD203B41FA5}">
                      <a16:colId xmlns:a16="http://schemas.microsoft.com/office/drawing/2014/main" val="1355185516"/>
                    </a:ext>
                  </a:extLst>
                </a:gridCol>
                <a:gridCol w="820616">
                  <a:extLst>
                    <a:ext uri="{9D8B030D-6E8A-4147-A177-3AD203B41FA5}">
                      <a16:colId xmlns:a16="http://schemas.microsoft.com/office/drawing/2014/main" val="2050007723"/>
                    </a:ext>
                  </a:extLst>
                </a:gridCol>
                <a:gridCol w="2852371">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ALU</a:t>
                      </a:r>
                    </a:p>
                  </a:txBody>
                  <a:tcPr>
                    <a:solidFill>
                      <a:schemeClr val="accent6"/>
                    </a:solidFill>
                  </a:tcPr>
                </a:tc>
                <a:tc>
                  <a:txBody>
                    <a:bodyPr/>
                    <a:lstStyle/>
                    <a:p>
                      <a:pPr algn="ctr"/>
                      <a:r>
                        <a:rPr lang="en-US" sz="1300"/>
                        <a:t>Rs2</a:t>
                      </a:r>
                    </a:p>
                  </a:txBody>
                  <a:tcPr/>
                </a:tc>
                <a:tc>
                  <a:txBody>
                    <a:bodyPr/>
                    <a:lstStyle/>
                    <a:p>
                      <a:pPr algn="ctr"/>
                      <a:r>
                        <a:rPr lang="en-US" sz="1300"/>
                        <a:t>Rs1</a:t>
                      </a:r>
                    </a:p>
                  </a:txBody>
                  <a:tcPr/>
                </a:tc>
                <a:tc>
                  <a:txBody>
                    <a:bodyPr/>
                    <a:lstStyle/>
                    <a:p>
                      <a:pPr algn="ctr"/>
                      <a:r>
                        <a:rPr lang="en-US" sz="1300"/>
                        <a:t>S2 S1 S0 SF (Function </a:t>
                      </a:r>
                      <a:r>
                        <a:rPr lang="en-US" sz="1300" err="1"/>
                        <a:t>sel</a:t>
                      </a:r>
                      <a:r>
                        <a:rPr lang="en-US" sz="1300"/>
                        <a:t>)</a:t>
                      </a:r>
                    </a:p>
                  </a:txBody>
                  <a:tcPr/>
                </a:tc>
                <a:tc>
                  <a:txBody>
                    <a:bodyPr/>
                    <a:lstStyle/>
                    <a:p>
                      <a:pPr algn="ctr"/>
                      <a:r>
                        <a:rPr lang="en-US" sz="1300"/>
                        <a:t>XX</a:t>
                      </a:r>
                    </a:p>
                  </a:txBody>
                  <a:tcPr/>
                </a:tc>
                <a:tc>
                  <a:txBody>
                    <a:bodyPr/>
                    <a:lstStyle/>
                    <a:p>
                      <a:pPr algn="ctr"/>
                      <a:r>
                        <a:rPr lang="en-US" sz="1300"/>
                        <a:t>X</a:t>
                      </a:r>
                    </a:p>
                  </a:txBody>
                  <a:tcPr/>
                </a:tc>
                <a:tc>
                  <a:txBody>
                    <a:bodyPr/>
                    <a:lstStyle/>
                    <a:p>
                      <a:pPr algn="ctr"/>
                      <a:r>
                        <a:rPr lang="en-US" sz="1300"/>
                        <a:t>OpCode=12</a:t>
                      </a:r>
                    </a:p>
                  </a:txBody>
                  <a:tcPr/>
                </a:tc>
                <a:extLst>
                  <a:ext uri="{0D108BD9-81ED-4DB2-BD59-A6C34878D82A}">
                    <a16:rowId xmlns:a16="http://schemas.microsoft.com/office/drawing/2014/main" val="2570910443"/>
                  </a:ext>
                </a:extLst>
              </a:tr>
            </a:tbl>
          </a:graphicData>
        </a:graphic>
      </p:graphicFrame>
      <p:sp>
        <p:nvSpPr>
          <p:cNvPr id="10" name="TextBox 9">
            <a:extLst>
              <a:ext uri="{FF2B5EF4-FFF2-40B4-BE49-F238E27FC236}">
                <a16:creationId xmlns:a16="http://schemas.microsoft.com/office/drawing/2014/main" id="{F662345A-68AE-69A8-FFFE-5EB648CC51A4}"/>
              </a:ext>
            </a:extLst>
          </p:cNvPr>
          <p:cNvSpPr txBox="1"/>
          <p:nvPr/>
        </p:nvSpPr>
        <p:spPr>
          <a:xfrm>
            <a:off x="6615404" y="4734113"/>
            <a:ext cx="2747868" cy="523220"/>
          </a:xfrm>
          <a:prstGeom prst="rect">
            <a:avLst/>
          </a:prstGeom>
          <a:noFill/>
        </p:spPr>
        <p:txBody>
          <a:bodyPr wrap="none" rtlCol="0">
            <a:spAutoFit/>
          </a:bodyPr>
          <a:lstStyle/>
          <a:p>
            <a:r>
              <a:rPr lang="en-US" sz="2800">
                <a:solidFill>
                  <a:srgbClr val="00B050"/>
                </a:solidFill>
                <a:latin typeface="Consolas" panose="020B0609020204030204" pitchFamily="49" charset="0"/>
              </a:rPr>
              <a:t> TST Rs1, Rs2</a:t>
            </a:r>
          </a:p>
        </p:txBody>
      </p:sp>
      <p:sp>
        <p:nvSpPr>
          <p:cNvPr id="11" name="TextBox 10">
            <a:extLst>
              <a:ext uri="{FF2B5EF4-FFF2-40B4-BE49-F238E27FC236}">
                <a16:creationId xmlns:a16="http://schemas.microsoft.com/office/drawing/2014/main" id="{E086C5B6-7188-0F61-1029-5F0390E190B9}"/>
              </a:ext>
            </a:extLst>
          </p:cNvPr>
          <p:cNvSpPr txBox="1"/>
          <p:nvPr/>
        </p:nvSpPr>
        <p:spPr>
          <a:xfrm>
            <a:off x="10966456" y="2"/>
            <a:ext cx="1223412" cy="1323439"/>
          </a:xfrm>
          <a:prstGeom prst="rect">
            <a:avLst/>
          </a:prstGeom>
          <a:noFill/>
        </p:spPr>
        <p:txBody>
          <a:bodyPr wrap="none" rtlCol="0">
            <a:spAutoFit/>
          </a:bodyPr>
          <a:lstStyle/>
          <a:p>
            <a:r>
              <a:rPr lang="en-US" sz="8000">
                <a:solidFill>
                  <a:schemeClr val="accent1">
                    <a:lumMod val="60000"/>
                    <a:lumOff val="40000"/>
                  </a:schemeClr>
                </a:solidFill>
              </a:rPr>
              <a:t>12</a:t>
            </a:r>
          </a:p>
        </p:txBody>
      </p:sp>
      <p:pic>
        <p:nvPicPr>
          <p:cNvPr id="2" name="Picture 1">
            <a:hlinkClick r:id="rId2" action="ppaction://hlinksldjump"/>
            <a:extLst>
              <a:ext uri="{FF2B5EF4-FFF2-40B4-BE49-F238E27FC236}">
                <a16:creationId xmlns:a16="http://schemas.microsoft.com/office/drawing/2014/main" id="{6BE138DB-6748-9123-B9CD-E4300158C42D}"/>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DE6F0EF7-A144-22EC-62BA-F17746FB9707}"/>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58</a:t>
            </a:fld>
            <a:endParaRPr lang="en-US" b="1">
              <a:solidFill>
                <a:schemeClr val="bg1"/>
              </a:solidFill>
            </a:endParaRPr>
          </a:p>
        </p:txBody>
      </p:sp>
      <p:graphicFrame>
        <p:nvGraphicFramePr>
          <p:cNvPr id="13" name="Table 4">
            <a:extLst>
              <a:ext uri="{FF2B5EF4-FFF2-40B4-BE49-F238E27FC236}">
                <a16:creationId xmlns:a16="http://schemas.microsoft.com/office/drawing/2014/main" id="{F581ED9B-872D-649A-AD9A-85C4BF32FC83}"/>
              </a:ext>
            </a:extLst>
          </p:cNvPr>
          <p:cNvGraphicFramePr>
            <a:graphicFrameLocks noGrp="1"/>
          </p:cNvGraphicFramePr>
          <p:nvPr/>
        </p:nvGraphicFramePr>
        <p:xfrm>
          <a:off x="193268" y="742463"/>
          <a:ext cx="4329725" cy="444470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
        <p:nvSpPr>
          <p:cNvPr id="14" name="Title 13">
            <a:extLst>
              <a:ext uri="{FF2B5EF4-FFF2-40B4-BE49-F238E27FC236}">
                <a16:creationId xmlns:a16="http://schemas.microsoft.com/office/drawing/2014/main" id="{72EDB4B7-C1DD-4EAC-DE16-275CB479C473}"/>
              </a:ext>
            </a:extLst>
          </p:cNvPr>
          <p:cNvSpPr>
            <a:spLocks noGrp="1"/>
          </p:cNvSpPr>
          <p:nvPr>
            <p:ph type="ctrTitle"/>
          </p:nvPr>
        </p:nvSpPr>
        <p:spPr>
          <a:xfrm>
            <a:off x="914400" y="182880"/>
            <a:ext cx="9144000" cy="457200"/>
          </a:xfrm>
        </p:spPr>
        <p:txBody>
          <a:bodyPr/>
          <a:lstStyle/>
          <a:p>
            <a:r>
              <a:rPr lang="en-US"/>
              <a:t>Micro-Instructions Control: Test (10010)</a:t>
            </a:r>
          </a:p>
        </p:txBody>
      </p:sp>
      <p:graphicFrame>
        <p:nvGraphicFramePr>
          <p:cNvPr id="3" name="Table 4">
            <a:extLst>
              <a:ext uri="{FF2B5EF4-FFF2-40B4-BE49-F238E27FC236}">
                <a16:creationId xmlns:a16="http://schemas.microsoft.com/office/drawing/2014/main" id="{F0F0AD3B-46BC-07BA-7E58-AA387519EF82}"/>
              </a:ext>
            </a:extLst>
          </p:cNvPr>
          <p:cNvGraphicFramePr>
            <a:graphicFrameLocks noGrp="1"/>
          </p:cNvGraphicFramePr>
          <p:nvPr>
            <p:extLst>
              <p:ext uri="{D42A27DB-BD31-4B8C-83A1-F6EECF244321}">
                <p14:modId xmlns:p14="http://schemas.microsoft.com/office/powerpoint/2010/main" val="3017972225"/>
              </p:ext>
            </p:extLst>
          </p:nvPr>
        </p:nvGraphicFramePr>
        <p:xfrm>
          <a:off x="193268" y="742463"/>
          <a:ext cx="4329725" cy="467838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17</a:t>
                      </a:r>
                    </a:p>
                  </a:txBody>
                  <a:tcPr/>
                </a:tc>
                <a:tc>
                  <a:txBody>
                    <a:bodyPr/>
                    <a:lstStyle/>
                    <a:p>
                      <a:pPr algn="l"/>
                      <a:r>
                        <a:rPr lang="en-US" sz="900"/>
                        <a:t>Load Special Register</a:t>
                      </a:r>
                    </a:p>
                  </a:txBody>
                  <a:tcPr/>
                </a:tc>
                <a:extLst>
                  <a:ext uri="{0D108BD9-81ED-4DB2-BD59-A6C34878D82A}">
                    <a16:rowId xmlns:a16="http://schemas.microsoft.com/office/drawing/2014/main" val="2759210480"/>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2035743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nvGraphicFramePr>
        <p:xfrm>
          <a:off x="4716584" y="742463"/>
          <a:ext cx="5638802" cy="3555479"/>
        </p:xfrm>
        <a:graphic>
          <a:graphicData uri="http://schemas.openxmlformats.org/drawingml/2006/table">
            <a:tbl>
              <a:tblPr firstRow="1" bandRow="1">
                <a:tableStyleId>{5C22544A-7EE6-4342-B048-85BDC9FD1C3A}</a:tableStyleId>
              </a:tblPr>
              <a:tblGrid>
                <a:gridCol w="855787">
                  <a:extLst>
                    <a:ext uri="{9D8B030D-6E8A-4147-A177-3AD203B41FA5}">
                      <a16:colId xmlns:a16="http://schemas.microsoft.com/office/drawing/2014/main" val="1217920130"/>
                    </a:ext>
                  </a:extLst>
                </a:gridCol>
                <a:gridCol w="2294891">
                  <a:extLst>
                    <a:ext uri="{9D8B030D-6E8A-4147-A177-3AD203B41FA5}">
                      <a16:colId xmlns:a16="http://schemas.microsoft.com/office/drawing/2014/main" val="1475888205"/>
                    </a:ext>
                  </a:extLst>
                </a:gridCol>
                <a:gridCol w="2488124">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502920">
                <a:tc>
                  <a:txBody>
                    <a:bodyPr/>
                    <a:lstStyle/>
                    <a:p>
                      <a:pPr algn="ctr"/>
                      <a:r>
                        <a:rPr lang="en-US" sz="1300"/>
                        <a:t>0</a:t>
                      </a:r>
                    </a:p>
                  </a:txBody>
                  <a:tcPr/>
                </a:tc>
                <a:tc>
                  <a:txBody>
                    <a:bodyPr/>
                    <a:lstStyle/>
                    <a:p>
                      <a:pPr algn="l"/>
                      <a:r>
                        <a:rPr lang="en-US" sz="1300"/>
                        <a:t>10_0000_0001_0010 = 0x2012</a:t>
                      </a:r>
                    </a:p>
                  </a:txBody>
                  <a:tcPr/>
                </a:tc>
                <a:tc>
                  <a:txBody>
                    <a:bodyPr/>
                    <a:lstStyle/>
                    <a:p>
                      <a:pPr algn="l"/>
                      <a:r>
                        <a:rPr lang="en-US" sz="1300"/>
                        <a:t>Load Rd to reg A</a:t>
                      </a:r>
                    </a:p>
                  </a:txBody>
                  <a:tcPr/>
                </a:tc>
                <a:extLst>
                  <a:ext uri="{0D108BD9-81ED-4DB2-BD59-A6C34878D82A}">
                    <a16:rowId xmlns:a16="http://schemas.microsoft.com/office/drawing/2014/main" val="2570910443"/>
                  </a:ext>
                </a:extLst>
              </a:tr>
              <a:tr h="370840">
                <a:tc>
                  <a:txBody>
                    <a:bodyPr/>
                    <a:lstStyle/>
                    <a:p>
                      <a:pPr algn="ctr"/>
                      <a:r>
                        <a:rPr lang="en-US" sz="13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0100_0001 = 0x0041</a:t>
                      </a:r>
                    </a:p>
                  </a:txBody>
                  <a:tcPr/>
                </a:tc>
                <a:tc>
                  <a:txBody>
                    <a:bodyPr/>
                    <a:lstStyle/>
                    <a:p>
                      <a:pPr algn="l"/>
                      <a:r>
                        <a:rPr lang="en-US" sz="1300"/>
                        <a:t>Load 4 bit </a:t>
                      </a:r>
                      <a:r>
                        <a:rPr lang="en-US" sz="1300" err="1"/>
                        <a:t>imm</a:t>
                      </a:r>
                      <a:r>
                        <a:rPr lang="en-US" sz="1300"/>
                        <a:t> to reg B</a:t>
                      </a:r>
                    </a:p>
                  </a:txBody>
                  <a:tcPr/>
                </a:tc>
                <a:extLst>
                  <a:ext uri="{0D108BD9-81ED-4DB2-BD59-A6C34878D82A}">
                    <a16:rowId xmlns:a16="http://schemas.microsoft.com/office/drawing/2014/main" val="631651838"/>
                  </a:ext>
                </a:extLst>
              </a:tr>
              <a:tr h="502920">
                <a:tc>
                  <a:txBody>
                    <a:bodyPr/>
                    <a:lstStyle/>
                    <a:p>
                      <a:pPr algn="ctr"/>
                      <a:r>
                        <a:rPr lang="en-US" sz="13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0000_0100 = 0x0004</a:t>
                      </a:r>
                    </a:p>
                  </a:txBody>
                  <a:tcPr/>
                </a:tc>
                <a:tc>
                  <a:txBody>
                    <a:bodyPr/>
                    <a:lstStyle/>
                    <a:p>
                      <a:pPr algn="l"/>
                      <a:r>
                        <a:rPr lang="en-US" sz="1300"/>
                        <a:t>Write ALU output to bus (but not to register)</a:t>
                      </a:r>
                    </a:p>
                  </a:txBody>
                  <a:tcPr/>
                </a:tc>
                <a:extLst>
                  <a:ext uri="{0D108BD9-81ED-4DB2-BD59-A6C34878D82A}">
                    <a16:rowId xmlns:a16="http://schemas.microsoft.com/office/drawing/2014/main" val="1592812184"/>
                  </a:ext>
                </a:extLst>
              </a:tr>
              <a:tr h="370840">
                <a:tc>
                  <a:txBody>
                    <a:bodyPr/>
                    <a:lstStyle/>
                    <a:p>
                      <a:pPr algn="ctr"/>
                      <a:r>
                        <a:rPr lang="en-US" sz="1300"/>
                        <a:t>3</a:t>
                      </a:r>
                    </a:p>
                  </a:txBody>
                  <a:tcPr/>
                </a:tc>
                <a:tc>
                  <a:txBody>
                    <a:bodyPr/>
                    <a:lstStyle/>
                    <a:p>
                      <a:pPr algn="l"/>
                      <a:r>
                        <a:rPr lang="en-US" sz="1300"/>
                        <a:t>1000_0000 = 0x80</a:t>
                      </a:r>
                    </a:p>
                  </a:txBody>
                  <a:tcPr/>
                </a:tc>
                <a:tc>
                  <a:txBody>
                    <a:bodyPr/>
                    <a:lstStyle/>
                    <a:p>
                      <a:pPr algn="l"/>
                      <a:r>
                        <a:rPr lang="en-US" sz="1300"/>
                        <a:t>Increment PC</a:t>
                      </a:r>
                    </a:p>
                  </a:txBody>
                  <a:tcPr/>
                </a:tc>
                <a:extLst>
                  <a:ext uri="{0D108BD9-81ED-4DB2-BD59-A6C34878D82A}">
                    <a16:rowId xmlns:a16="http://schemas.microsoft.com/office/drawing/2014/main" val="2225793510"/>
                  </a:ext>
                </a:extLst>
              </a:tr>
              <a:tr h="370840">
                <a:tc>
                  <a:txBody>
                    <a:bodyPr/>
                    <a:lstStyle/>
                    <a:p>
                      <a:pPr algn="ctr"/>
                      <a:r>
                        <a:rPr lang="en-US" sz="1300"/>
                        <a:t>4</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1046366285"/>
                  </a:ext>
                </a:extLst>
              </a:tr>
              <a:tr h="370840">
                <a:tc>
                  <a:txBody>
                    <a:bodyPr/>
                    <a:lstStyle/>
                    <a:p>
                      <a:pPr algn="ctr"/>
                      <a:r>
                        <a:rPr lang="en-US" sz="1300"/>
                        <a:t>5</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615342211"/>
                  </a:ext>
                </a:extLst>
              </a:tr>
              <a:tr h="370840">
                <a:tc>
                  <a:txBody>
                    <a:bodyPr/>
                    <a:lstStyle/>
                    <a:p>
                      <a:pPr algn="ctr"/>
                      <a:r>
                        <a:rPr lang="en-US" sz="1300"/>
                        <a:t>6</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055856817"/>
                  </a:ext>
                </a:extLst>
              </a:tr>
              <a:tr h="370840">
                <a:tc>
                  <a:txBody>
                    <a:bodyPr/>
                    <a:lstStyle/>
                    <a:p>
                      <a:pPr algn="ctr"/>
                      <a:r>
                        <a:rPr lang="en-US" sz="1300"/>
                        <a:t>7</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3502991894"/>
                  </a:ext>
                </a:extLst>
              </a:tr>
            </a:tbl>
          </a:graphicData>
        </a:graphic>
      </p:graphicFrame>
      <p:graphicFrame>
        <p:nvGraphicFramePr>
          <p:cNvPr id="6" name="Table 4">
            <a:extLst>
              <a:ext uri="{FF2B5EF4-FFF2-40B4-BE49-F238E27FC236}">
                <a16:creationId xmlns:a16="http://schemas.microsoft.com/office/drawing/2014/main" id="{0DFA9C31-EF12-4E73-95D6-4A8DD48CB5A3}"/>
              </a:ext>
            </a:extLst>
          </p:cNvPr>
          <p:cNvGraphicFramePr>
            <a:graphicFrameLocks noGrp="1"/>
          </p:cNvGraphicFramePr>
          <p:nvPr/>
        </p:nvGraphicFramePr>
        <p:xfrm>
          <a:off x="179752" y="5619913"/>
          <a:ext cx="9276863" cy="668020"/>
        </p:xfrm>
        <a:graphic>
          <a:graphicData uri="http://schemas.openxmlformats.org/drawingml/2006/table">
            <a:tbl>
              <a:tblPr firstRow="1" bandRow="1">
                <a:tableStyleId>{5C22544A-7EE6-4342-B048-85BDC9FD1C3A}</a:tableStyleId>
              </a:tblPr>
              <a:tblGrid>
                <a:gridCol w="1312985">
                  <a:extLst>
                    <a:ext uri="{9D8B030D-6E8A-4147-A177-3AD203B41FA5}">
                      <a16:colId xmlns:a16="http://schemas.microsoft.com/office/drawing/2014/main" val="1810408170"/>
                    </a:ext>
                  </a:extLst>
                </a:gridCol>
                <a:gridCol w="2089399">
                  <a:extLst>
                    <a:ext uri="{9D8B030D-6E8A-4147-A177-3AD203B41FA5}">
                      <a16:colId xmlns:a16="http://schemas.microsoft.com/office/drawing/2014/main" val="1217920130"/>
                    </a:ext>
                  </a:extLst>
                </a:gridCol>
                <a:gridCol w="824031">
                  <a:extLst>
                    <a:ext uri="{9D8B030D-6E8A-4147-A177-3AD203B41FA5}">
                      <a16:colId xmlns:a16="http://schemas.microsoft.com/office/drawing/2014/main" val="1475888205"/>
                    </a:ext>
                  </a:extLst>
                </a:gridCol>
                <a:gridCol w="1262612">
                  <a:extLst>
                    <a:ext uri="{9D8B030D-6E8A-4147-A177-3AD203B41FA5}">
                      <a16:colId xmlns:a16="http://schemas.microsoft.com/office/drawing/2014/main" val="1355185516"/>
                    </a:ext>
                  </a:extLst>
                </a:gridCol>
                <a:gridCol w="1584927">
                  <a:extLst>
                    <a:ext uri="{9D8B030D-6E8A-4147-A177-3AD203B41FA5}">
                      <a16:colId xmlns:a16="http://schemas.microsoft.com/office/drawing/2014/main" val="2050007723"/>
                    </a:ext>
                  </a:extLst>
                </a:gridCol>
                <a:gridCol w="1149517">
                  <a:extLst>
                    <a:ext uri="{9D8B030D-6E8A-4147-A177-3AD203B41FA5}">
                      <a16:colId xmlns:a16="http://schemas.microsoft.com/office/drawing/2014/main" val="3099546510"/>
                    </a:ext>
                  </a:extLst>
                </a:gridCol>
                <a:gridCol w="1053392">
                  <a:extLst>
                    <a:ext uri="{9D8B030D-6E8A-4147-A177-3AD203B41FA5}">
                      <a16:colId xmlns:a16="http://schemas.microsoft.com/office/drawing/2014/main" val="1677154990"/>
                    </a:ext>
                  </a:extLst>
                </a:gridCol>
              </a:tblGrid>
              <a:tr h="370840">
                <a:tc>
                  <a:txBody>
                    <a:bodyPr/>
                    <a:lstStyle/>
                    <a:p>
                      <a:r>
                        <a:rPr lang="en-US" sz="1300"/>
                        <a:t>Type</a:t>
                      </a:r>
                    </a:p>
                  </a:txBody>
                  <a:tcPr/>
                </a:tc>
                <a:tc>
                  <a:txBody>
                    <a:bodyPr/>
                    <a:lstStyle/>
                    <a:p>
                      <a:r>
                        <a:rPr lang="en-US" sz="1300"/>
                        <a:t>15 14 13 12 </a:t>
                      </a:r>
                    </a:p>
                  </a:txBody>
                  <a:tcPr/>
                </a:tc>
                <a:tc>
                  <a:txBody>
                    <a:bodyPr/>
                    <a:lstStyle/>
                    <a:p>
                      <a:r>
                        <a:rPr lang="en-US" sz="1300"/>
                        <a:t>11 10</a:t>
                      </a:r>
                    </a:p>
                  </a:txBody>
                  <a:tcPr/>
                </a:tc>
                <a:tc>
                  <a:txBody>
                    <a:bodyPr/>
                    <a:lstStyle/>
                    <a:p>
                      <a:r>
                        <a:rPr lang="en-US" sz="1300"/>
                        <a:t>9 8</a:t>
                      </a:r>
                    </a:p>
                  </a:txBody>
                  <a:tcPr/>
                </a:tc>
                <a:tc>
                  <a:txBody>
                    <a:bodyPr/>
                    <a:lstStyle/>
                    <a:p>
                      <a:r>
                        <a:rPr lang="en-US" sz="1300"/>
                        <a:t>7 6 5 4</a:t>
                      </a:r>
                    </a:p>
                  </a:txBody>
                  <a:tcPr/>
                </a:tc>
                <a:tc>
                  <a:txBody>
                    <a:bodyPr/>
                    <a:lstStyle/>
                    <a:p>
                      <a:r>
                        <a:rPr lang="en-US" sz="1300"/>
                        <a:t>3 2</a:t>
                      </a:r>
                    </a:p>
                  </a:txBody>
                  <a:tcPr/>
                </a:tc>
                <a:tc>
                  <a:txBody>
                    <a:bodyPr/>
                    <a:lstStyle/>
                    <a:p>
                      <a:r>
                        <a:rPr lang="en-US" sz="1300"/>
                        <a:t>1 0</a:t>
                      </a:r>
                    </a:p>
                  </a:txBody>
                  <a:tcPr/>
                </a:tc>
                <a:extLst>
                  <a:ext uri="{0D108BD9-81ED-4DB2-BD59-A6C34878D82A}">
                    <a16:rowId xmlns:a16="http://schemas.microsoft.com/office/drawing/2014/main" val="2319756336"/>
                  </a:ext>
                </a:extLst>
              </a:tr>
              <a:tr h="297180">
                <a:tc>
                  <a:txBody>
                    <a:bodyPr/>
                    <a:lstStyle/>
                    <a:p>
                      <a:pPr algn="ctr"/>
                      <a:r>
                        <a:rPr lang="en-US" sz="1300"/>
                        <a:t>ALU</a:t>
                      </a:r>
                    </a:p>
                  </a:txBody>
                  <a:tcPr/>
                </a:tc>
                <a:tc>
                  <a:txBody>
                    <a:bodyPr/>
                    <a:lstStyle/>
                    <a:p>
                      <a:pPr algn="ctr"/>
                      <a:r>
                        <a:rPr lang="en-US" sz="1300"/>
                        <a:t>OpCode</a:t>
                      </a:r>
                    </a:p>
                  </a:txBody>
                  <a:tcPr/>
                </a:tc>
                <a:tc>
                  <a:txBody>
                    <a:bodyPr/>
                    <a:lstStyle/>
                    <a:p>
                      <a:pPr algn="ctr"/>
                      <a:r>
                        <a:rPr lang="en-US" sz="1300"/>
                        <a:t>XX</a:t>
                      </a:r>
                    </a:p>
                  </a:txBody>
                  <a:tcPr/>
                </a:tc>
                <a:tc>
                  <a:txBody>
                    <a:bodyPr/>
                    <a:lstStyle/>
                    <a:p>
                      <a:pPr algn="ctr"/>
                      <a:r>
                        <a:rPr lang="en-US" sz="1300"/>
                        <a:t>Rd</a:t>
                      </a:r>
                    </a:p>
                  </a:txBody>
                  <a:tcPr/>
                </a:tc>
                <a:tc>
                  <a:txBody>
                    <a:bodyPr/>
                    <a:lstStyle/>
                    <a:p>
                      <a:pPr algn="ctr"/>
                      <a:r>
                        <a:rPr lang="en-US" sz="1300"/>
                        <a:t>Function</a:t>
                      </a:r>
                    </a:p>
                  </a:txBody>
                  <a:tcPr/>
                </a:tc>
                <a:tc>
                  <a:txBody>
                    <a:bodyPr/>
                    <a:lstStyle/>
                    <a:p>
                      <a:pPr algn="ctr"/>
                      <a:r>
                        <a:rPr lang="en-US" sz="1300"/>
                        <a:t>Rs1</a:t>
                      </a:r>
                    </a:p>
                  </a:txBody>
                  <a:tcPr/>
                </a:tc>
                <a:tc>
                  <a:txBody>
                    <a:bodyPr/>
                    <a:lstStyle/>
                    <a:p>
                      <a:pPr algn="ctr"/>
                      <a:r>
                        <a:rPr lang="en-US" sz="1300"/>
                        <a:t>Rs2</a:t>
                      </a:r>
                    </a:p>
                  </a:txBody>
                  <a:tcPr/>
                </a:tc>
                <a:extLst>
                  <a:ext uri="{0D108BD9-81ED-4DB2-BD59-A6C34878D82A}">
                    <a16:rowId xmlns:a16="http://schemas.microsoft.com/office/drawing/2014/main" val="2570910443"/>
                  </a:ext>
                </a:extLst>
              </a:tr>
            </a:tbl>
          </a:graphicData>
        </a:graphic>
      </p:graphicFrame>
      <p:graphicFrame>
        <p:nvGraphicFramePr>
          <p:cNvPr id="8" name="Table 4">
            <a:extLst>
              <a:ext uri="{FF2B5EF4-FFF2-40B4-BE49-F238E27FC236}">
                <a16:creationId xmlns:a16="http://schemas.microsoft.com/office/drawing/2014/main" id="{438A22CA-2606-4EC2-9E31-AA955DF6E237}"/>
              </a:ext>
            </a:extLst>
          </p:cNvPr>
          <p:cNvGraphicFramePr>
            <a:graphicFrameLocks noGrp="1"/>
          </p:cNvGraphicFramePr>
          <p:nvPr>
            <p:extLst>
              <p:ext uri="{D42A27DB-BD31-4B8C-83A1-F6EECF244321}">
                <p14:modId xmlns:p14="http://schemas.microsoft.com/office/powerpoint/2010/main" val="1464891017"/>
              </p:ext>
            </p:extLst>
          </p:nvPr>
        </p:nvGraphicFramePr>
        <p:xfrm>
          <a:off x="179752" y="5619913"/>
          <a:ext cx="10116777" cy="668020"/>
        </p:xfrm>
        <a:graphic>
          <a:graphicData uri="http://schemas.openxmlformats.org/drawingml/2006/table">
            <a:tbl>
              <a:tblPr firstRow="1" bandRow="1">
                <a:tableStyleId>{5C22544A-7EE6-4342-B048-85BDC9FD1C3A}</a:tableStyleId>
              </a:tblPr>
              <a:tblGrid>
                <a:gridCol w="1071627">
                  <a:extLst>
                    <a:ext uri="{9D8B030D-6E8A-4147-A177-3AD203B41FA5}">
                      <a16:colId xmlns:a16="http://schemas.microsoft.com/office/drawing/2014/main" val="1810408170"/>
                    </a:ext>
                  </a:extLst>
                </a:gridCol>
                <a:gridCol w="1859147">
                  <a:extLst>
                    <a:ext uri="{9D8B030D-6E8A-4147-A177-3AD203B41FA5}">
                      <a16:colId xmlns:a16="http://schemas.microsoft.com/office/drawing/2014/main" val="950391025"/>
                    </a:ext>
                  </a:extLst>
                </a:gridCol>
                <a:gridCol w="2595403">
                  <a:extLst>
                    <a:ext uri="{9D8B030D-6E8A-4147-A177-3AD203B41FA5}">
                      <a16:colId xmlns:a16="http://schemas.microsoft.com/office/drawing/2014/main" val="1475888205"/>
                    </a:ext>
                  </a:extLst>
                </a:gridCol>
                <a:gridCol w="765213">
                  <a:extLst>
                    <a:ext uri="{9D8B030D-6E8A-4147-A177-3AD203B41FA5}">
                      <a16:colId xmlns:a16="http://schemas.microsoft.com/office/drawing/2014/main" val="1355185516"/>
                    </a:ext>
                  </a:extLst>
                </a:gridCol>
                <a:gridCol w="820616">
                  <a:extLst>
                    <a:ext uri="{9D8B030D-6E8A-4147-A177-3AD203B41FA5}">
                      <a16:colId xmlns:a16="http://schemas.microsoft.com/office/drawing/2014/main" val="2050007723"/>
                    </a:ext>
                  </a:extLst>
                </a:gridCol>
                <a:gridCol w="3004771">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15 14 13 12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ALU</a:t>
                      </a:r>
                    </a:p>
                  </a:txBody>
                  <a:tcPr>
                    <a:solidFill>
                      <a:schemeClr val="accent6"/>
                    </a:solidFill>
                  </a:tcPr>
                </a:tc>
                <a:tc>
                  <a:txBody>
                    <a:bodyPr/>
                    <a:lstStyle/>
                    <a:p>
                      <a:pPr algn="ctr"/>
                      <a:r>
                        <a:rPr lang="en-US" sz="1300"/>
                        <a:t>4-bit </a:t>
                      </a:r>
                      <a:r>
                        <a:rPr lang="en-US" sz="1300" err="1"/>
                        <a:t>imm</a:t>
                      </a:r>
                      <a:r>
                        <a:rPr lang="en-US" sz="1300"/>
                        <a:t>.</a:t>
                      </a:r>
                    </a:p>
                  </a:txBody>
                  <a:tcPr/>
                </a:tc>
                <a:tc>
                  <a:txBody>
                    <a:bodyPr/>
                    <a:lstStyle/>
                    <a:p>
                      <a:pPr algn="ctr"/>
                      <a:r>
                        <a:rPr lang="en-US" sz="1300"/>
                        <a:t>S2 S1 S0 SF (Function </a:t>
                      </a:r>
                      <a:r>
                        <a:rPr lang="en-US" sz="1300" err="1"/>
                        <a:t>sel</a:t>
                      </a:r>
                      <a:r>
                        <a:rPr lang="en-US" sz="1300"/>
                        <a:t>)</a:t>
                      </a:r>
                    </a:p>
                  </a:txBody>
                  <a:tcPr/>
                </a:tc>
                <a:tc>
                  <a:txBody>
                    <a:bodyPr/>
                    <a:lstStyle/>
                    <a:p>
                      <a:pPr algn="ctr"/>
                      <a:r>
                        <a:rPr lang="en-US" sz="1300"/>
                        <a:t>Rd</a:t>
                      </a:r>
                    </a:p>
                  </a:txBody>
                  <a:tcPr/>
                </a:tc>
                <a:tc>
                  <a:txBody>
                    <a:bodyPr/>
                    <a:lstStyle/>
                    <a:p>
                      <a:pPr algn="ctr"/>
                      <a:r>
                        <a:rPr lang="en-US" sz="1300"/>
                        <a:t>X</a:t>
                      </a:r>
                    </a:p>
                  </a:txBody>
                  <a:tcPr/>
                </a:tc>
                <a:tc>
                  <a:txBody>
                    <a:bodyPr/>
                    <a:lstStyle/>
                    <a:p>
                      <a:pPr algn="ctr"/>
                      <a:r>
                        <a:rPr lang="en-US" sz="1300"/>
                        <a:t>OpCode=13</a:t>
                      </a:r>
                    </a:p>
                  </a:txBody>
                  <a:tcPr/>
                </a:tc>
                <a:extLst>
                  <a:ext uri="{0D108BD9-81ED-4DB2-BD59-A6C34878D82A}">
                    <a16:rowId xmlns:a16="http://schemas.microsoft.com/office/drawing/2014/main" val="2570910443"/>
                  </a:ext>
                </a:extLst>
              </a:tr>
            </a:tbl>
          </a:graphicData>
        </a:graphic>
      </p:graphicFrame>
      <p:sp>
        <p:nvSpPr>
          <p:cNvPr id="12" name="TextBox 11">
            <a:extLst>
              <a:ext uri="{FF2B5EF4-FFF2-40B4-BE49-F238E27FC236}">
                <a16:creationId xmlns:a16="http://schemas.microsoft.com/office/drawing/2014/main" id="{EC92F7E5-2629-1A32-5661-12B67655FB87}"/>
              </a:ext>
            </a:extLst>
          </p:cNvPr>
          <p:cNvSpPr txBox="1"/>
          <p:nvPr/>
        </p:nvSpPr>
        <p:spPr>
          <a:xfrm>
            <a:off x="6615405" y="4958332"/>
            <a:ext cx="2945037" cy="523220"/>
          </a:xfrm>
          <a:prstGeom prst="rect">
            <a:avLst/>
          </a:prstGeom>
          <a:noFill/>
        </p:spPr>
        <p:txBody>
          <a:bodyPr wrap="none" rtlCol="0">
            <a:spAutoFit/>
          </a:bodyPr>
          <a:lstStyle/>
          <a:p>
            <a:r>
              <a:rPr lang="en-US" sz="2800">
                <a:solidFill>
                  <a:srgbClr val="00B050"/>
                </a:solidFill>
                <a:latin typeface="Consolas" panose="020B0609020204030204" pitchFamily="49" charset="0"/>
              </a:rPr>
              <a:t> TST Rd, #0x00</a:t>
            </a:r>
          </a:p>
        </p:txBody>
      </p:sp>
      <p:sp>
        <p:nvSpPr>
          <p:cNvPr id="2" name="TextBox 1">
            <a:extLst>
              <a:ext uri="{FF2B5EF4-FFF2-40B4-BE49-F238E27FC236}">
                <a16:creationId xmlns:a16="http://schemas.microsoft.com/office/drawing/2014/main" id="{B3F951B7-364F-2F4F-3116-B54995F4C6C6}"/>
              </a:ext>
            </a:extLst>
          </p:cNvPr>
          <p:cNvSpPr txBox="1"/>
          <p:nvPr/>
        </p:nvSpPr>
        <p:spPr>
          <a:xfrm>
            <a:off x="10966456" y="2"/>
            <a:ext cx="1223412" cy="1323439"/>
          </a:xfrm>
          <a:prstGeom prst="rect">
            <a:avLst/>
          </a:prstGeom>
          <a:noFill/>
        </p:spPr>
        <p:txBody>
          <a:bodyPr wrap="none" rtlCol="0">
            <a:spAutoFit/>
          </a:bodyPr>
          <a:lstStyle/>
          <a:p>
            <a:r>
              <a:rPr lang="en-US" sz="8000">
                <a:solidFill>
                  <a:schemeClr val="accent1">
                    <a:lumMod val="60000"/>
                    <a:lumOff val="40000"/>
                  </a:schemeClr>
                </a:solidFill>
              </a:rPr>
              <a:t>13</a:t>
            </a:r>
          </a:p>
        </p:txBody>
      </p:sp>
      <p:pic>
        <p:nvPicPr>
          <p:cNvPr id="4" name="Picture 3">
            <a:hlinkClick r:id="rId2" action="ppaction://hlinksldjump"/>
            <a:extLst>
              <a:ext uri="{FF2B5EF4-FFF2-40B4-BE49-F238E27FC236}">
                <a16:creationId xmlns:a16="http://schemas.microsoft.com/office/drawing/2014/main" id="{304A87AF-6E05-FA3A-929E-1DCBBB9E4C86}"/>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0" name="Slide Number Placeholder 4">
            <a:extLst>
              <a:ext uri="{FF2B5EF4-FFF2-40B4-BE49-F238E27FC236}">
                <a16:creationId xmlns:a16="http://schemas.microsoft.com/office/drawing/2014/main" id="{5A0E0862-B017-8BFB-A2F7-7027E035761F}"/>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59</a:t>
            </a:fld>
            <a:endParaRPr lang="en-US" b="1">
              <a:solidFill>
                <a:schemeClr val="bg1"/>
              </a:solidFill>
            </a:endParaRPr>
          </a:p>
        </p:txBody>
      </p:sp>
      <p:graphicFrame>
        <p:nvGraphicFramePr>
          <p:cNvPr id="13" name="Table 4">
            <a:extLst>
              <a:ext uri="{FF2B5EF4-FFF2-40B4-BE49-F238E27FC236}">
                <a16:creationId xmlns:a16="http://schemas.microsoft.com/office/drawing/2014/main" id="{38DD8DB5-6921-23EC-1D01-E8AC5F776787}"/>
              </a:ext>
            </a:extLst>
          </p:cNvPr>
          <p:cNvGraphicFramePr>
            <a:graphicFrameLocks noGrp="1"/>
          </p:cNvGraphicFramePr>
          <p:nvPr/>
        </p:nvGraphicFramePr>
        <p:xfrm>
          <a:off x="193268" y="742463"/>
          <a:ext cx="4329725" cy="444470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
        <p:nvSpPr>
          <p:cNvPr id="14" name="Title 13">
            <a:extLst>
              <a:ext uri="{FF2B5EF4-FFF2-40B4-BE49-F238E27FC236}">
                <a16:creationId xmlns:a16="http://schemas.microsoft.com/office/drawing/2014/main" id="{9B886F29-E580-D654-FD93-393B5ED966AE}"/>
              </a:ext>
            </a:extLst>
          </p:cNvPr>
          <p:cNvSpPr>
            <a:spLocks noGrp="1"/>
          </p:cNvSpPr>
          <p:nvPr>
            <p:ph type="ctrTitle"/>
          </p:nvPr>
        </p:nvSpPr>
        <p:spPr>
          <a:xfrm>
            <a:off x="914400" y="182880"/>
            <a:ext cx="9144000" cy="457200"/>
          </a:xfrm>
        </p:spPr>
        <p:txBody>
          <a:bodyPr/>
          <a:lstStyle/>
          <a:p>
            <a:r>
              <a:rPr lang="en-US"/>
              <a:t>Micro-Instructions Control: Test immediate (10011)</a:t>
            </a:r>
          </a:p>
        </p:txBody>
      </p:sp>
      <p:graphicFrame>
        <p:nvGraphicFramePr>
          <p:cNvPr id="3" name="Table 4">
            <a:extLst>
              <a:ext uri="{FF2B5EF4-FFF2-40B4-BE49-F238E27FC236}">
                <a16:creationId xmlns:a16="http://schemas.microsoft.com/office/drawing/2014/main" id="{4D94DE7E-A37C-DF33-CE6F-59BC61C840D9}"/>
              </a:ext>
            </a:extLst>
          </p:cNvPr>
          <p:cNvGraphicFramePr>
            <a:graphicFrameLocks noGrp="1"/>
          </p:cNvGraphicFramePr>
          <p:nvPr>
            <p:extLst>
              <p:ext uri="{D42A27DB-BD31-4B8C-83A1-F6EECF244321}">
                <p14:modId xmlns:p14="http://schemas.microsoft.com/office/powerpoint/2010/main" val="3017972225"/>
              </p:ext>
            </p:extLst>
          </p:nvPr>
        </p:nvGraphicFramePr>
        <p:xfrm>
          <a:off x="193268" y="742463"/>
          <a:ext cx="4329725" cy="467838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17</a:t>
                      </a:r>
                    </a:p>
                  </a:txBody>
                  <a:tcPr/>
                </a:tc>
                <a:tc>
                  <a:txBody>
                    <a:bodyPr/>
                    <a:lstStyle/>
                    <a:p>
                      <a:pPr algn="l"/>
                      <a:r>
                        <a:rPr lang="en-US" sz="900"/>
                        <a:t>Load Special Register</a:t>
                      </a:r>
                    </a:p>
                  </a:txBody>
                  <a:tcPr/>
                </a:tc>
                <a:extLst>
                  <a:ext uri="{0D108BD9-81ED-4DB2-BD59-A6C34878D82A}">
                    <a16:rowId xmlns:a16="http://schemas.microsoft.com/office/drawing/2014/main" val="2759210480"/>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817693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0CD7D-F44E-F6DF-D3AB-A3E71AA53B2A}"/>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2FD16503-5467-A048-091B-52B859C1610D}"/>
              </a:ext>
            </a:extLst>
          </p:cNvPr>
          <p:cNvSpPr>
            <a:spLocks noGrp="1"/>
          </p:cNvSpPr>
          <p:nvPr>
            <p:ph type="ctrTitle"/>
          </p:nvPr>
        </p:nvSpPr>
        <p:spPr>
          <a:xfrm>
            <a:off x="914400" y="182880"/>
            <a:ext cx="9144000" cy="457200"/>
          </a:xfrm>
        </p:spPr>
        <p:txBody>
          <a:bodyPr/>
          <a:lstStyle/>
          <a:p>
            <a:r>
              <a:rPr lang="en-US" dirty="0"/>
              <a:t>Micro-Instructions Control: </a:t>
            </a:r>
            <a:r>
              <a:rPr lang="en-US" dirty="0">
                <a:solidFill>
                  <a:schemeClr val="dk1"/>
                </a:solidFill>
              </a:rPr>
              <a:t>Load Data Byte with Offset 1 </a:t>
            </a:r>
            <a:r>
              <a:rPr lang="en-US" dirty="0"/>
              <a:t>(LDW1) (10100)</a:t>
            </a:r>
          </a:p>
        </p:txBody>
      </p:sp>
      <p:graphicFrame>
        <p:nvGraphicFramePr>
          <p:cNvPr id="5" name="Table 4">
            <a:extLst>
              <a:ext uri="{FF2B5EF4-FFF2-40B4-BE49-F238E27FC236}">
                <a16:creationId xmlns:a16="http://schemas.microsoft.com/office/drawing/2014/main" id="{0E73FA4E-A49D-9545-E8EC-3133E09DAFA6}"/>
              </a:ext>
            </a:extLst>
          </p:cNvPr>
          <p:cNvGraphicFramePr>
            <a:graphicFrameLocks noGrp="1"/>
          </p:cNvGraphicFramePr>
          <p:nvPr>
            <p:extLst>
              <p:ext uri="{D42A27DB-BD31-4B8C-83A1-F6EECF244321}">
                <p14:modId xmlns:p14="http://schemas.microsoft.com/office/powerpoint/2010/main" val="2329603582"/>
              </p:ext>
            </p:extLst>
          </p:nvPr>
        </p:nvGraphicFramePr>
        <p:xfrm>
          <a:off x="4716581" y="742463"/>
          <a:ext cx="6249874" cy="1975599"/>
        </p:xfrm>
        <a:graphic>
          <a:graphicData uri="http://schemas.openxmlformats.org/drawingml/2006/table">
            <a:tbl>
              <a:tblPr firstRow="1" bandRow="1">
                <a:tableStyleId>{5C22544A-7EE6-4342-B048-85BDC9FD1C3A}</a:tableStyleId>
              </a:tblPr>
              <a:tblGrid>
                <a:gridCol w="948528">
                  <a:extLst>
                    <a:ext uri="{9D8B030D-6E8A-4147-A177-3AD203B41FA5}">
                      <a16:colId xmlns:a16="http://schemas.microsoft.com/office/drawing/2014/main" val="1217920130"/>
                    </a:ext>
                  </a:extLst>
                </a:gridCol>
                <a:gridCol w="2465917">
                  <a:extLst>
                    <a:ext uri="{9D8B030D-6E8A-4147-A177-3AD203B41FA5}">
                      <a16:colId xmlns:a16="http://schemas.microsoft.com/office/drawing/2014/main" val="1475888205"/>
                    </a:ext>
                  </a:extLst>
                </a:gridCol>
                <a:gridCol w="2835429">
                  <a:extLst>
                    <a:ext uri="{9D8B030D-6E8A-4147-A177-3AD203B41FA5}">
                      <a16:colId xmlns:a16="http://schemas.microsoft.com/office/drawing/2014/main" val="2801792198"/>
                    </a:ext>
                  </a:extLst>
                </a:gridCol>
              </a:tblGrid>
              <a:tr h="324599">
                <a:tc>
                  <a:txBody>
                    <a:bodyPr/>
                    <a:lstStyle/>
                    <a:p>
                      <a:r>
                        <a:rPr lang="en-US" sz="1200" dirty="0"/>
                        <a:t>Cycle #</a:t>
                      </a:r>
                    </a:p>
                  </a:txBody>
                  <a:tcPr/>
                </a:tc>
                <a:tc>
                  <a:txBody>
                    <a:bodyPr/>
                    <a:lstStyle/>
                    <a:p>
                      <a:r>
                        <a:rPr lang="en-US" sz="1200" dirty="0"/>
                        <a:t>Instruction</a:t>
                      </a:r>
                    </a:p>
                  </a:txBody>
                  <a:tcPr/>
                </a:tc>
                <a:tc>
                  <a:txBody>
                    <a:bodyPr/>
                    <a:lstStyle/>
                    <a:p>
                      <a:r>
                        <a:rPr lang="en-US" sz="1200"/>
                        <a:t>Explanation</a:t>
                      </a:r>
                    </a:p>
                  </a:txBody>
                  <a:tcPr/>
                </a:tc>
                <a:extLst>
                  <a:ext uri="{0D108BD9-81ED-4DB2-BD59-A6C34878D82A}">
                    <a16:rowId xmlns:a16="http://schemas.microsoft.com/office/drawing/2014/main" val="2319756336"/>
                  </a:ext>
                </a:extLst>
              </a:tr>
              <a:tr h="579120">
                <a:tc>
                  <a:txBody>
                    <a:bodyPr/>
                    <a:lstStyle/>
                    <a:p>
                      <a:pPr algn="ctr"/>
                      <a:r>
                        <a:rPr lang="en-US" sz="1200"/>
                        <a:t>0</a:t>
                      </a:r>
                    </a:p>
                  </a:txBody>
                  <a:tcPr/>
                </a:tc>
                <a:tc>
                  <a:txBody>
                    <a:bodyPr/>
                    <a:lstStyle/>
                    <a:p>
                      <a:pPr algn="l"/>
                      <a:r>
                        <a:rPr lang="en-US" sz="1200" dirty="0"/>
                        <a:t>0x08_00_40</a:t>
                      </a:r>
                    </a:p>
                  </a:txBody>
                  <a:tcPr/>
                </a:tc>
                <a:tc>
                  <a:txBody>
                    <a:bodyPr/>
                    <a:lstStyle/>
                    <a:p>
                      <a:pPr algn="l"/>
                      <a:r>
                        <a:rPr lang="en-US" sz="1200" dirty="0"/>
                        <a:t>Write Imm to the Data Bus, </a:t>
                      </a:r>
                      <a:r>
                        <a:rPr lang="en-US" sz="1200" dirty="0" err="1"/>
                        <a:t>ARSrc</a:t>
                      </a:r>
                      <a:r>
                        <a:rPr lang="en-US" sz="1200" dirty="0"/>
                        <a:t> to the Address Bus, and set </a:t>
                      </a:r>
                      <a:r>
                        <a:rPr lang="en-US" sz="1200" dirty="0" err="1"/>
                        <a:t>TmpAR</a:t>
                      </a:r>
                      <a:r>
                        <a:rPr lang="en-US" sz="1200" dirty="0"/>
                        <a:t> to read from the 16-bit adder.</a:t>
                      </a:r>
                    </a:p>
                  </a:txBody>
                  <a:tcPr/>
                </a:tc>
                <a:extLst>
                  <a:ext uri="{0D108BD9-81ED-4DB2-BD59-A6C34878D82A}">
                    <a16:rowId xmlns:a16="http://schemas.microsoft.com/office/drawing/2014/main" val="2570910443"/>
                  </a:ext>
                </a:extLst>
              </a:tr>
              <a:tr h="579120">
                <a:tc>
                  <a:txBody>
                    <a:bodyPr/>
                    <a:lstStyle/>
                    <a:p>
                      <a:pPr algn="ctr"/>
                      <a:r>
                        <a:rPr lang="en-US" sz="12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0x10_04_20</a:t>
                      </a:r>
                    </a:p>
                  </a:txBody>
                  <a:tcPr/>
                </a:tc>
                <a:tc>
                  <a:txBody>
                    <a:bodyPr/>
                    <a:lstStyle/>
                    <a:p>
                      <a:pPr algn="l"/>
                      <a:r>
                        <a:rPr lang="en-US" sz="1200" dirty="0"/>
                        <a:t>Write </a:t>
                      </a:r>
                      <a:r>
                        <a:rPr lang="en-US" sz="1200" dirty="0" err="1"/>
                        <a:t>TmpAR</a:t>
                      </a:r>
                      <a:r>
                        <a:rPr lang="en-US" sz="1200" dirty="0"/>
                        <a:t> to the Address Bus, Write Memory data word to the Data Bus, and set Rd to read from the Data Bus.</a:t>
                      </a:r>
                    </a:p>
                  </a:txBody>
                  <a:tcPr/>
                </a:tc>
                <a:extLst>
                  <a:ext uri="{0D108BD9-81ED-4DB2-BD59-A6C34878D82A}">
                    <a16:rowId xmlns:a16="http://schemas.microsoft.com/office/drawing/2014/main" val="631651838"/>
                  </a:ext>
                </a:extLst>
              </a:tr>
              <a:tr h="370840">
                <a:tc>
                  <a:txBody>
                    <a:bodyPr/>
                    <a:lstStyle/>
                    <a:p>
                      <a:pPr algn="ctr"/>
                      <a:r>
                        <a:rPr lang="en-US" sz="12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0x00_00_80</a:t>
                      </a:r>
                    </a:p>
                  </a:txBody>
                  <a:tcPr/>
                </a:tc>
                <a:tc>
                  <a:txBody>
                    <a:bodyPr/>
                    <a:lstStyle/>
                    <a:p>
                      <a:pPr algn="l"/>
                      <a:r>
                        <a:rPr lang="en-US" sz="1200" dirty="0"/>
                        <a:t>Advance PC.</a:t>
                      </a:r>
                    </a:p>
                  </a:txBody>
                  <a:tcPr/>
                </a:tc>
                <a:extLst>
                  <a:ext uri="{0D108BD9-81ED-4DB2-BD59-A6C34878D82A}">
                    <a16:rowId xmlns:a16="http://schemas.microsoft.com/office/drawing/2014/main" val="1592812184"/>
                  </a:ext>
                </a:extLst>
              </a:tr>
            </a:tbl>
          </a:graphicData>
        </a:graphic>
      </p:graphicFrame>
      <p:pic>
        <p:nvPicPr>
          <p:cNvPr id="2" name="Picture 1">
            <a:hlinkClick r:id="rId3" action="ppaction://hlinksldjump"/>
            <a:extLst>
              <a:ext uri="{FF2B5EF4-FFF2-40B4-BE49-F238E27FC236}">
                <a16:creationId xmlns:a16="http://schemas.microsoft.com/office/drawing/2014/main" id="{87E7A34B-1456-EB10-F5D6-7F6CDC3F4A80}"/>
              </a:ext>
            </a:extLst>
          </p:cNvPr>
          <p:cNvPicPr>
            <a:picLocks noChangeAspect="1"/>
          </p:cNvPicPr>
          <p:nvPr/>
        </p:nvPicPr>
        <p:blipFill>
          <a:blip r:embed="rId4"/>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4E071211-4972-1148-2B4D-35CD83D1C6FC}"/>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60</a:t>
            </a:fld>
            <a:endParaRPr lang="en-US" b="1">
              <a:solidFill>
                <a:schemeClr val="bg1"/>
              </a:solidFill>
            </a:endParaRPr>
          </a:p>
        </p:txBody>
      </p:sp>
      <p:graphicFrame>
        <p:nvGraphicFramePr>
          <p:cNvPr id="3" name="Table 4">
            <a:extLst>
              <a:ext uri="{FF2B5EF4-FFF2-40B4-BE49-F238E27FC236}">
                <a16:creationId xmlns:a16="http://schemas.microsoft.com/office/drawing/2014/main" id="{0042F1B9-5FBF-B518-81CA-93FA187445CA}"/>
              </a:ext>
            </a:extLst>
          </p:cNvPr>
          <p:cNvGraphicFramePr>
            <a:graphicFrameLocks noGrp="1"/>
          </p:cNvGraphicFramePr>
          <p:nvPr>
            <p:extLst>
              <p:ext uri="{D42A27DB-BD31-4B8C-83A1-F6EECF244321}">
                <p14:modId xmlns:p14="http://schemas.microsoft.com/office/powerpoint/2010/main" val="4143771633"/>
              </p:ext>
            </p:extLst>
          </p:nvPr>
        </p:nvGraphicFramePr>
        <p:xfrm>
          <a:off x="179752" y="5818357"/>
          <a:ext cx="10583500" cy="594360"/>
        </p:xfrm>
        <a:graphic>
          <a:graphicData uri="http://schemas.openxmlformats.org/drawingml/2006/table">
            <a:tbl>
              <a:tblPr firstRow="1" bandRow="1">
                <a:tableStyleId>{5C22544A-7EE6-4342-B048-85BDC9FD1C3A}</a:tableStyleId>
              </a:tblPr>
              <a:tblGrid>
                <a:gridCol w="998667">
                  <a:extLst>
                    <a:ext uri="{9D8B030D-6E8A-4147-A177-3AD203B41FA5}">
                      <a16:colId xmlns:a16="http://schemas.microsoft.com/office/drawing/2014/main" val="1810408170"/>
                    </a:ext>
                  </a:extLst>
                </a:gridCol>
                <a:gridCol w="970585">
                  <a:extLst>
                    <a:ext uri="{9D8B030D-6E8A-4147-A177-3AD203B41FA5}">
                      <a16:colId xmlns:a16="http://schemas.microsoft.com/office/drawing/2014/main" val="950391025"/>
                    </a:ext>
                  </a:extLst>
                </a:gridCol>
                <a:gridCol w="882483">
                  <a:extLst>
                    <a:ext uri="{9D8B030D-6E8A-4147-A177-3AD203B41FA5}">
                      <a16:colId xmlns:a16="http://schemas.microsoft.com/office/drawing/2014/main" val="1217920130"/>
                    </a:ext>
                  </a:extLst>
                </a:gridCol>
                <a:gridCol w="1402159">
                  <a:extLst>
                    <a:ext uri="{9D8B030D-6E8A-4147-A177-3AD203B41FA5}">
                      <a16:colId xmlns:a16="http://schemas.microsoft.com/office/drawing/2014/main" val="1475888205"/>
                    </a:ext>
                  </a:extLst>
                </a:gridCol>
                <a:gridCol w="1609969">
                  <a:extLst>
                    <a:ext uri="{9D8B030D-6E8A-4147-A177-3AD203B41FA5}">
                      <a16:colId xmlns:a16="http://schemas.microsoft.com/office/drawing/2014/main" val="1355185516"/>
                    </a:ext>
                  </a:extLst>
                </a:gridCol>
                <a:gridCol w="1304925">
                  <a:extLst>
                    <a:ext uri="{9D8B030D-6E8A-4147-A177-3AD203B41FA5}">
                      <a16:colId xmlns:a16="http://schemas.microsoft.com/office/drawing/2014/main" val="1039846299"/>
                    </a:ext>
                  </a:extLst>
                </a:gridCol>
                <a:gridCol w="3414712">
                  <a:extLst>
                    <a:ext uri="{9D8B030D-6E8A-4147-A177-3AD203B41FA5}">
                      <a16:colId xmlns:a16="http://schemas.microsoft.com/office/drawing/2014/main" val="3099546510"/>
                    </a:ext>
                  </a:extLst>
                </a:gridCol>
              </a:tblGrid>
              <a:tr h="297180">
                <a:tc>
                  <a:txBody>
                    <a:bodyPr/>
                    <a:lstStyle/>
                    <a:p>
                      <a:r>
                        <a:rPr lang="en-US" sz="1300" dirty="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dirty="0"/>
                        <a:t>LDW</a:t>
                      </a:r>
                    </a:p>
                  </a:txBody>
                  <a:tcPr>
                    <a:solidFill>
                      <a:schemeClr val="accent6"/>
                    </a:solidFill>
                  </a:tcPr>
                </a:tc>
                <a:tc gridSpan="3">
                  <a:txBody>
                    <a:bodyPr/>
                    <a:lstStyle/>
                    <a:p>
                      <a:pPr algn="ctr"/>
                      <a:r>
                        <a:rPr lang="en-US" sz="1300"/>
                        <a:t>Immediate (8-bit)</a:t>
                      </a:r>
                    </a:p>
                  </a:txBody>
                  <a:tcPr/>
                </a:tc>
                <a:tc hMerge="1">
                  <a:txBody>
                    <a:bodyPr/>
                    <a:lstStyle/>
                    <a:p>
                      <a:pPr algn="ctr"/>
                      <a:endParaRPr lang="en-US"/>
                    </a:p>
                  </a:txBody>
                  <a:tcPr/>
                </a:tc>
                <a:tc hMerge="1">
                  <a:txBody>
                    <a:bodyPr/>
                    <a:lstStyle/>
                    <a:p>
                      <a:pPr algn="ctr"/>
                      <a:r>
                        <a:rPr lang="en-US"/>
                        <a:t>Immediate (8-bit)</a:t>
                      </a:r>
                    </a:p>
                  </a:txBody>
                  <a:tcPr/>
                </a:tc>
                <a:tc>
                  <a:txBody>
                    <a:bodyPr/>
                    <a:lstStyle/>
                    <a:p>
                      <a:pPr algn="ctr"/>
                      <a:r>
                        <a:rPr lang="en-US" sz="1300" dirty="0"/>
                        <a:t>Rd</a:t>
                      </a:r>
                    </a:p>
                  </a:txBody>
                  <a:tcPr/>
                </a:tc>
                <a:tc>
                  <a:txBody>
                    <a:bodyPr/>
                    <a:lstStyle/>
                    <a:p>
                      <a:pPr algn="ctr"/>
                      <a:r>
                        <a:rPr lang="en-US" sz="1300" dirty="0" err="1"/>
                        <a:t>ARSrc</a:t>
                      </a:r>
                      <a:r>
                        <a:rPr lang="en-US" sz="1300" dirty="0"/>
                        <a:t>[1]</a:t>
                      </a:r>
                    </a:p>
                  </a:txBody>
                  <a:tcPr/>
                </a:tc>
                <a:tc>
                  <a:txBody>
                    <a:bodyPr/>
                    <a:lstStyle/>
                    <a:p>
                      <a:pPr algn="ctr"/>
                      <a:r>
                        <a:rPr lang="en-US" sz="1300" dirty="0" err="1"/>
                        <a:t>OpCode</a:t>
                      </a:r>
                      <a:r>
                        <a:rPr lang="en-US" sz="1300" dirty="0"/>
                        <a:t>=14 (and </a:t>
                      </a:r>
                      <a:r>
                        <a:rPr lang="en-US" sz="1300" dirty="0" err="1"/>
                        <a:t>ARSrc</a:t>
                      </a:r>
                      <a:r>
                        <a:rPr lang="en-US" sz="1300" dirty="0"/>
                        <a:t>[0] = 0)</a:t>
                      </a:r>
                    </a:p>
                  </a:txBody>
                  <a:tcPr/>
                </a:tc>
                <a:extLst>
                  <a:ext uri="{0D108BD9-81ED-4DB2-BD59-A6C34878D82A}">
                    <a16:rowId xmlns:a16="http://schemas.microsoft.com/office/drawing/2014/main" val="2570910443"/>
                  </a:ext>
                </a:extLst>
              </a:tr>
            </a:tbl>
          </a:graphicData>
        </a:graphic>
      </p:graphicFrame>
      <p:sp>
        <p:nvSpPr>
          <p:cNvPr id="4" name="TextBox 3">
            <a:extLst>
              <a:ext uri="{FF2B5EF4-FFF2-40B4-BE49-F238E27FC236}">
                <a16:creationId xmlns:a16="http://schemas.microsoft.com/office/drawing/2014/main" id="{A2161D5F-117C-9DDC-9241-F30E30354324}"/>
              </a:ext>
            </a:extLst>
          </p:cNvPr>
          <p:cNvSpPr txBox="1"/>
          <p:nvPr/>
        </p:nvSpPr>
        <p:spPr>
          <a:xfrm>
            <a:off x="10966456" y="2"/>
            <a:ext cx="1223412" cy="1323439"/>
          </a:xfrm>
          <a:prstGeom prst="rect">
            <a:avLst/>
          </a:prstGeom>
          <a:noFill/>
        </p:spPr>
        <p:txBody>
          <a:bodyPr wrap="none" rtlCol="0">
            <a:spAutoFit/>
          </a:bodyPr>
          <a:lstStyle/>
          <a:p>
            <a:r>
              <a:rPr lang="en-US" sz="8000">
                <a:solidFill>
                  <a:schemeClr val="accent1">
                    <a:lumMod val="60000"/>
                    <a:lumOff val="40000"/>
                  </a:schemeClr>
                </a:solidFill>
              </a:rPr>
              <a:t>14</a:t>
            </a:r>
          </a:p>
        </p:txBody>
      </p:sp>
      <p:graphicFrame>
        <p:nvGraphicFramePr>
          <p:cNvPr id="8" name="Table 6">
            <a:extLst>
              <a:ext uri="{FF2B5EF4-FFF2-40B4-BE49-F238E27FC236}">
                <a16:creationId xmlns:a16="http://schemas.microsoft.com/office/drawing/2014/main" id="{03429238-B0DE-D4ED-BF3A-4B8B4A241C91}"/>
              </a:ext>
            </a:extLst>
          </p:cNvPr>
          <p:cNvGraphicFramePr>
            <a:graphicFrameLocks noGrp="1"/>
          </p:cNvGraphicFramePr>
          <p:nvPr>
            <p:extLst>
              <p:ext uri="{D42A27DB-BD31-4B8C-83A1-F6EECF244321}">
                <p14:modId xmlns:p14="http://schemas.microsoft.com/office/powerpoint/2010/main" val="4040523012"/>
              </p:ext>
            </p:extLst>
          </p:nvPr>
        </p:nvGraphicFramePr>
        <p:xfrm>
          <a:off x="5576596" y="3030889"/>
          <a:ext cx="3857535" cy="1188720"/>
        </p:xfrm>
        <a:graphic>
          <a:graphicData uri="http://schemas.openxmlformats.org/drawingml/2006/table">
            <a:tbl>
              <a:tblPr firstRow="1" bandRow="1">
                <a:tableStyleId>{5C22544A-7EE6-4342-B048-85BDC9FD1C3A}</a:tableStyleId>
              </a:tblPr>
              <a:tblGrid>
                <a:gridCol w="776078">
                  <a:extLst>
                    <a:ext uri="{9D8B030D-6E8A-4147-A177-3AD203B41FA5}">
                      <a16:colId xmlns:a16="http://schemas.microsoft.com/office/drawing/2014/main" val="3639428745"/>
                    </a:ext>
                  </a:extLst>
                </a:gridCol>
                <a:gridCol w="812131">
                  <a:extLst>
                    <a:ext uri="{9D8B030D-6E8A-4147-A177-3AD203B41FA5}">
                      <a16:colId xmlns:a16="http://schemas.microsoft.com/office/drawing/2014/main" val="136219337"/>
                    </a:ext>
                  </a:extLst>
                </a:gridCol>
                <a:gridCol w="1420239">
                  <a:extLst>
                    <a:ext uri="{9D8B030D-6E8A-4147-A177-3AD203B41FA5}">
                      <a16:colId xmlns:a16="http://schemas.microsoft.com/office/drawing/2014/main" val="322570224"/>
                    </a:ext>
                  </a:extLst>
                </a:gridCol>
                <a:gridCol w="849087">
                  <a:extLst>
                    <a:ext uri="{9D8B030D-6E8A-4147-A177-3AD203B41FA5}">
                      <a16:colId xmlns:a16="http://schemas.microsoft.com/office/drawing/2014/main" val="3266938421"/>
                    </a:ext>
                  </a:extLst>
                </a:gridCol>
              </a:tblGrid>
              <a:tr h="640080">
                <a:tc>
                  <a:txBody>
                    <a:bodyPr/>
                    <a:lstStyle/>
                    <a:p>
                      <a:r>
                        <a:rPr lang="en-US" sz="1200" dirty="0"/>
                        <a:t>INSTR[5]</a:t>
                      </a:r>
                    </a:p>
                  </a:txBody>
                  <a:tcPr/>
                </a:tc>
                <a:tc>
                  <a:txBody>
                    <a:bodyPr/>
                    <a:lstStyle/>
                    <a:p>
                      <a:r>
                        <a:rPr lang="en-US" sz="1200" dirty="0"/>
                        <a:t>INSTR[0]</a:t>
                      </a:r>
                    </a:p>
                  </a:txBody>
                  <a:tcPr/>
                </a:tc>
                <a:tc>
                  <a:txBody>
                    <a:bodyPr/>
                    <a:lstStyle/>
                    <a:p>
                      <a:r>
                        <a:rPr lang="en-US" sz="1200" dirty="0" err="1"/>
                        <a:t>ARSrc</a:t>
                      </a:r>
                      <a:r>
                        <a:rPr lang="en-US" sz="1200" dirty="0"/>
                        <a:t> Address Register</a:t>
                      </a:r>
                    </a:p>
                  </a:txBody>
                  <a:tcPr/>
                </a:tc>
                <a:tc>
                  <a:txBody>
                    <a:bodyPr/>
                    <a:lstStyle/>
                    <a:p>
                      <a:r>
                        <a:rPr lang="en-US" sz="1200" dirty="0"/>
                        <a:t>Command Parameter</a:t>
                      </a:r>
                    </a:p>
                  </a:txBody>
                  <a:tcPr/>
                </a:tc>
                <a:extLst>
                  <a:ext uri="{0D108BD9-81ED-4DB2-BD59-A6C34878D82A}">
                    <a16:rowId xmlns:a16="http://schemas.microsoft.com/office/drawing/2014/main" val="727245786"/>
                  </a:ext>
                </a:extLst>
              </a:tr>
              <a:tr h="274320">
                <a:tc>
                  <a:txBody>
                    <a:bodyPr/>
                    <a:lstStyle/>
                    <a:p>
                      <a:r>
                        <a:rPr lang="en-US" sz="1200"/>
                        <a:t>0</a:t>
                      </a:r>
                    </a:p>
                  </a:txBody>
                  <a:tcPr/>
                </a:tc>
                <a:tc>
                  <a:txBody>
                    <a:bodyPr/>
                    <a:lstStyle/>
                    <a:p>
                      <a:r>
                        <a:rPr lang="en-US" sz="1200" dirty="0"/>
                        <a:t>0</a:t>
                      </a:r>
                    </a:p>
                  </a:txBody>
                  <a:tcPr/>
                </a:tc>
                <a:tc>
                  <a:txBody>
                    <a:bodyPr/>
                    <a:lstStyle/>
                    <a:p>
                      <a:r>
                        <a:rPr lang="en-US" sz="1200" dirty="0"/>
                        <a:t>PC ({PC[H], PC[L]})</a:t>
                      </a:r>
                    </a:p>
                  </a:txBody>
                  <a:tcPr>
                    <a:solidFill>
                      <a:schemeClr val="accent6">
                        <a:lumMod val="60000"/>
                        <a:lumOff val="40000"/>
                      </a:schemeClr>
                    </a:solidFill>
                  </a:tcPr>
                </a:tc>
                <a:tc>
                  <a:txBody>
                    <a:bodyPr/>
                    <a:lstStyle/>
                    <a:p>
                      <a:r>
                        <a:rPr lang="en-US" sz="1200" dirty="0"/>
                        <a:t>%PC</a:t>
                      </a:r>
                    </a:p>
                  </a:txBody>
                  <a:tcPr>
                    <a:solidFill>
                      <a:schemeClr val="accent6">
                        <a:lumMod val="60000"/>
                        <a:lumOff val="40000"/>
                      </a:schemeClr>
                    </a:solidFill>
                  </a:tcPr>
                </a:tc>
                <a:extLst>
                  <a:ext uri="{0D108BD9-81ED-4DB2-BD59-A6C34878D82A}">
                    <a16:rowId xmlns:a16="http://schemas.microsoft.com/office/drawing/2014/main" val="3427146651"/>
                  </a:ext>
                </a:extLst>
              </a:tr>
              <a:tr h="274320">
                <a:tc>
                  <a:txBody>
                    <a:bodyPr/>
                    <a:lstStyle/>
                    <a:p>
                      <a:r>
                        <a:rPr lang="en-US" sz="1200" dirty="0"/>
                        <a:t>1</a:t>
                      </a:r>
                    </a:p>
                  </a:txBody>
                  <a:tcPr/>
                </a:tc>
                <a:tc>
                  <a:txBody>
                    <a:bodyPr/>
                    <a:lstStyle/>
                    <a:p>
                      <a:r>
                        <a:rPr lang="en-US" sz="1200" dirty="0"/>
                        <a:t>0</a:t>
                      </a:r>
                    </a:p>
                  </a:txBody>
                  <a:tcPr/>
                </a:tc>
                <a:tc>
                  <a:txBody>
                    <a:bodyPr/>
                    <a:lstStyle/>
                    <a:p>
                      <a:r>
                        <a:rPr lang="en-US" sz="1200" dirty="0"/>
                        <a:t>SP</a:t>
                      </a:r>
                    </a:p>
                  </a:txBody>
                  <a:tcPr>
                    <a:solidFill>
                      <a:schemeClr val="accent6">
                        <a:lumMod val="60000"/>
                        <a:lumOff val="40000"/>
                      </a:schemeClr>
                    </a:solidFill>
                  </a:tcPr>
                </a:tc>
                <a:tc>
                  <a:txBody>
                    <a:bodyPr/>
                    <a:lstStyle/>
                    <a:p>
                      <a:r>
                        <a:rPr lang="en-US" sz="1200" dirty="0"/>
                        <a:t>%SP</a:t>
                      </a:r>
                    </a:p>
                  </a:txBody>
                  <a:tcPr>
                    <a:solidFill>
                      <a:schemeClr val="accent6">
                        <a:lumMod val="60000"/>
                        <a:lumOff val="40000"/>
                      </a:schemeClr>
                    </a:solidFill>
                  </a:tcPr>
                </a:tc>
                <a:extLst>
                  <a:ext uri="{0D108BD9-81ED-4DB2-BD59-A6C34878D82A}">
                    <a16:rowId xmlns:a16="http://schemas.microsoft.com/office/drawing/2014/main" val="1942712580"/>
                  </a:ext>
                </a:extLst>
              </a:tr>
            </a:tbl>
          </a:graphicData>
        </a:graphic>
      </p:graphicFrame>
      <p:sp>
        <p:nvSpPr>
          <p:cNvPr id="6" name="TextBox 5">
            <a:extLst>
              <a:ext uri="{FF2B5EF4-FFF2-40B4-BE49-F238E27FC236}">
                <a16:creationId xmlns:a16="http://schemas.microsoft.com/office/drawing/2014/main" id="{CF369890-D1AD-C0C2-5F7B-BB3A623E4E6D}"/>
              </a:ext>
            </a:extLst>
          </p:cNvPr>
          <p:cNvSpPr txBox="1"/>
          <p:nvPr/>
        </p:nvSpPr>
        <p:spPr>
          <a:xfrm>
            <a:off x="6615405" y="4958332"/>
            <a:ext cx="3339376"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LDW R0, %SP, #4 </a:t>
            </a:r>
          </a:p>
        </p:txBody>
      </p:sp>
      <p:sp>
        <p:nvSpPr>
          <p:cNvPr id="7" name="TextBox 6">
            <a:extLst>
              <a:ext uri="{FF2B5EF4-FFF2-40B4-BE49-F238E27FC236}">
                <a16:creationId xmlns:a16="http://schemas.microsoft.com/office/drawing/2014/main" id="{8CAFF83A-6EEA-1244-5974-C8707D71A068}"/>
              </a:ext>
            </a:extLst>
          </p:cNvPr>
          <p:cNvSpPr txBox="1"/>
          <p:nvPr/>
        </p:nvSpPr>
        <p:spPr>
          <a:xfrm>
            <a:off x="6615404" y="4495763"/>
            <a:ext cx="3930884"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Rd = *(</a:t>
            </a:r>
            <a:r>
              <a:rPr lang="en-US" sz="2800" dirty="0" err="1">
                <a:solidFill>
                  <a:srgbClr val="00B050"/>
                </a:solidFill>
                <a:latin typeface="Consolas" panose="020B0609020204030204" pitchFamily="49" charset="0"/>
              </a:rPr>
              <a:t>ARSrc</a:t>
            </a:r>
            <a:r>
              <a:rPr lang="en-US" sz="2800" dirty="0">
                <a:solidFill>
                  <a:srgbClr val="00B050"/>
                </a:solidFill>
                <a:latin typeface="Consolas" panose="020B0609020204030204" pitchFamily="49" charset="0"/>
              </a:rPr>
              <a:t> + Imm)</a:t>
            </a:r>
          </a:p>
        </p:txBody>
      </p:sp>
      <p:graphicFrame>
        <p:nvGraphicFramePr>
          <p:cNvPr id="9" name="Table 4">
            <a:extLst>
              <a:ext uri="{FF2B5EF4-FFF2-40B4-BE49-F238E27FC236}">
                <a16:creationId xmlns:a16="http://schemas.microsoft.com/office/drawing/2014/main" id="{B7CC244A-BE23-1EF1-193D-6BFB2C1824B1}"/>
              </a:ext>
            </a:extLst>
          </p:cNvPr>
          <p:cNvGraphicFramePr>
            <a:graphicFrameLocks noGrp="1"/>
          </p:cNvGraphicFramePr>
          <p:nvPr>
            <p:extLst>
              <p:ext uri="{D42A27DB-BD31-4B8C-83A1-F6EECF244321}">
                <p14:modId xmlns:p14="http://schemas.microsoft.com/office/powerpoint/2010/main" val="672536172"/>
              </p:ext>
            </p:extLst>
          </p:nvPr>
        </p:nvGraphicFramePr>
        <p:xfrm>
          <a:off x="179752" y="742463"/>
          <a:ext cx="4329725" cy="5004175"/>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00345">
                <a:tc>
                  <a:txBody>
                    <a:bodyPr/>
                    <a:lstStyle/>
                    <a:p>
                      <a:pPr>
                        <a:lnSpc>
                          <a:spcPct val="100000"/>
                        </a:lnSpc>
                      </a:pPr>
                      <a:r>
                        <a:rPr lang="en-US" sz="700"/>
                        <a:t>Bit</a:t>
                      </a:r>
                    </a:p>
                  </a:txBody>
                  <a:tcPr anchor="ctr"/>
                </a:tc>
                <a:tc>
                  <a:txBody>
                    <a:bodyPr/>
                    <a:lstStyle/>
                    <a:p>
                      <a:pPr>
                        <a:lnSpc>
                          <a:spcPct val="100000"/>
                        </a:lnSpc>
                      </a:pPr>
                      <a:r>
                        <a:rPr lang="en-US" sz="700" dirty="0"/>
                        <a:t>Operation</a:t>
                      </a:r>
                    </a:p>
                  </a:txBody>
                  <a:tcPr anchor="ctr"/>
                </a:tc>
                <a:extLst>
                  <a:ext uri="{0D108BD9-81ED-4DB2-BD59-A6C34878D82A}">
                    <a16:rowId xmlns:a16="http://schemas.microsoft.com/office/drawing/2014/main" val="2319756336"/>
                  </a:ext>
                </a:extLst>
              </a:tr>
              <a:tr h="200345">
                <a:tc>
                  <a:txBody>
                    <a:bodyPr/>
                    <a:lstStyle/>
                    <a:p>
                      <a:pPr algn="ctr">
                        <a:lnSpc>
                          <a:spcPct val="100000"/>
                        </a:lnSpc>
                      </a:pPr>
                      <a:r>
                        <a:rPr lang="en-US" sz="700" dirty="0"/>
                        <a:t>23</a:t>
                      </a:r>
                    </a:p>
                  </a:txBody>
                  <a:tcPr anchor="ctr"/>
                </a:tc>
                <a:tc>
                  <a:txBody>
                    <a:bodyPr/>
                    <a:lstStyle/>
                    <a:p>
                      <a:pPr algn="l">
                        <a:lnSpc>
                          <a:spcPct val="100000"/>
                        </a:lnSpc>
                      </a:pPr>
                      <a:r>
                        <a:rPr lang="en-US" sz="700" dirty="0"/>
                        <a:t>Not Used</a:t>
                      </a:r>
                    </a:p>
                  </a:txBody>
                  <a:tcPr anchor="ctr"/>
                </a:tc>
                <a:extLst>
                  <a:ext uri="{0D108BD9-81ED-4DB2-BD59-A6C34878D82A}">
                    <a16:rowId xmlns:a16="http://schemas.microsoft.com/office/drawing/2014/main" val="3576468534"/>
                  </a:ext>
                </a:extLst>
              </a:tr>
              <a:tr h="200345">
                <a:tc>
                  <a:txBody>
                    <a:bodyPr/>
                    <a:lstStyle/>
                    <a:p>
                      <a:pPr algn="ctr">
                        <a:lnSpc>
                          <a:spcPct val="100000"/>
                        </a:lnSpc>
                      </a:pPr>
                      <a:r>
                        <a:rPr lang="en-US" sz="700" dirty="0"/>
                        <a:t>22</a:t>
                      </a:r>
                    </a:p>
                  </a:txBody>
                  <a:tcPr anchor="ctr"/>
                </a:tc>
                <a:tc>
                  <a:txBody>
                    <a:bodyPr/>
                    <a:lstStyle/>
                    <a:p>
                      <a:pPr algn="l">
                        <a:lnSpc>
                          <a:spcPct val="100000"/>
                        </a:lnSpc>
                      </a:pPr>
                      <a:r>
                        <a:rPr lang="en-US" sz="700" dirty="0" err="1"/>
                        <a:t>AddressHorL</a:t>
                      </a:r>
                      <a:endParaRPr lang="en-US" sz="700" dirty="0"/>
                    </a:p>
                  </a:txBody>
                  <a:tcPr anchor="ctr"/>
                </a:tc>
                <a:extLst>
                  <a:ext uri="{0D108BD9-81ED-4DB2-BD59-A6C34878D82A}">
                    <a16:rowId xmlns:a16="http://schemas.microsoft.com/office/drawing/2014/main" val="79971578"/>
                  </a:ext>
                </a:extLst>
              </a:tr>
              <a:tr h="200345">
                <a:tc>
                  <a:txBody>
                    <a:bodyPr/>
                    <a:lstStyle/>
                    <a:p>
                      <a:pPr algn="ctr">
                        <a:lnSpc>
                          <a:spcPct val="100000"/>
                        </a:lnSpc>
                      </a:pPr>
                      <a:r>
                        <a:rPr lang="en-US" sz="700" dirty="0"/>
                        <a:t>21</a:t>
                      </a:r>
                    </a:p>
                  </a:txBody>
                  <a:tcPr anchor="ctr"/>
                </a:tc>
                <a:tc>
                  <a:txBody>
                    <a:bodyPr/>
                    <a:lstStyle/>
                    <a:p>
                      <a:pPr algn="l">
                        <a:lnSpc>
                          <a:spcPct val="100000"/>
                        </a:lnSpc>
                      </a:pPr>
                      <a:r>
                        <a:rPr lang="en-US" sz="700" dirty="0" err="1"/>
                        <a:t>AddressBusToDataBus</a:t>
                      </a:r>
                      <a:endParaRPr lang="en-US" sz="700" dirty="0"/>
                    </a:p>
                  </a:txBody>
                  <a:tcPr anchor="ctr"/>
                </a:tc>
                <a:extLst>
                  <a:ext uri="{0D108BD9-81ED-4DB2-BD59-A6C34878D82A}">
                    <a16:rowId xmlns:a16="http://schemas.microsoft.com/office/drawing/2014/main" val="4135939119"/>
                  </a:ext>
                </a:extLst>
              </a:tr>
              <a:tr h="200345">
                <a:tc>
                  <a:txBody>
                    <a:bodyPr/>
                    <a:lstStyle/>
                    <a:p>
                      <a:pPr algn="ctr">
                        <a:lnSpc>
                          <a:spcPct val="100000"/>
                        </a:lnSpc>
                      </a:pPr>
                      <a:r>
                        <a:rPr lang="en-US" sz="700" dirty="0"/>
                        <a:t>20</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err="1"/>
                        <a:t>TmpARWrite</a:t>
                      </a:r>
                      <a:endParaRPr lang="en-US" sz="700"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9580944"/>
                  </a:ext>
                </a:extLst>
              </a:tr>
              <a:tr h="200345">
                <a:tc>
                  <a:txBody>
                    <a:bodyPr/>
                    <a:lstStyle/>
                    <a:p>
                      <a:pPr algn="ctr">
                        <a:lnSpc>
                          <a:spcPct val="100000"/>
                        </a:lnSpc>
                      </a:pPr>
                      <a:r>
                        <a:rPr lang="en-US" sz="700" dirty="0"/>
                        <a:t>19</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err="1"/>
                        <a:t>TmpARRead</a:t>
                      </a:r>
                      <a:endParaRPr lang="en-US" sz="700"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35159618"/>
                  </a:ext>
                </a:extLst>
              </a:tr>
              <a:tr h="200345">
                <a:tc>
                  <a:txBody>
                    <a:bodyPr/>
                    <a:lstStyle/>
                    <a:p>
                      <a:pPr algn="ctr">
                        <a:lnSpc>
                          <a:spcPct val="100000"/>
                        </a:lnSpc>
                      </a:pPr>
                      <a:r>
                        <a:rPr lang="en-US" sz="700" dirty="0"/>
                        <a:t>18</a:t>
                      </a:r>
                    </a:p>
                  </a:txBody>
                  <a:tcPr anchor="ctr"/>
                </a:tc>
                <a:tc>
                  <a:txBody>
                    <a:bodyPr/>
                    <a:lstStyle/>
                    <a:p>
                      <a:pPr algn="l">
                        <a:lnSpc>
                          <a:spcPct val="100000"/>
                        </a:lnSpc>
                      </a:pPr>
                      <a:r>
                        <a:rPr lang="en-US" sz="700" dirty="0" err="1"/>
                        <a:t>loadARHorL</a:t>
                      </a:r>
                      <a:endParaRPr lang="en-US" sz="700" dirty="0"/>
                    </a:p>
                  </a:txBody>
                  <a:tcPr anchor="ctr"/>
                </a:tc>
                <a:extLst>
                  <a:ext uri="{0D108BD9-81ED-4DB2-BD59-A6C34878D82A}">
                    <a16:rowId xmlns:a16="http://schemas.microsoft.com/office/drawing/2014/main" val="2357817394"/>
                  </a:ext>
                </a:extLst>
              </a:tr>
              <a:tr h="200345">
                <a:tc>
                  <a:txBody>
                    <a:bodyPr/>
                    <a:lstStyle/>
                    <a:p>
                      <a:pPr algn="ctr">
                        <a:lnSpc>
                          <a:spcPct val="100000"/>
                        </a:lnSpc>
                      </a:pPr>
                      <a:r>
                        <a:rPr lang="en-US" sz="700"/>
                        <a:t>17</a:t>
                      </a:r>
                    </a:p>
                  </a:txBody>
                  <a:tcPr anchor="ctr"/>
                </a:tc>
                <a:tc>
                  <a:txBody>
                    <a:bodyPr/>
                    <a:lstStyle/>
                    <a:p>
                      <a:pPr algn="l">
                        <a:lnSpc>
                          <a:spcPct val="100000"/>
                        </a:lnSpc>
                      </a:pPr>
                      <a:r>
                        <a:rPr lang="en-US" sz="700" dirty="0" err="1"/>
                        <a:t>loadAR</a:t>
                      </a:r>
                      <a:r>
                        <a:rPr lang="en-US" sz="700" dirty="0"/>
                        <a:t> (formerly: Load Special Pointer)</a:t>
                      </a:r>
                    </a:p>
                  </a:txBody>
                  <a:tcPr anchor="ctr"/>
                </a:tc>
                <a:extLst>
                  <a:ext uri="{0D108BD9-81ED-4DB2-BD59-A6C34878D82A}">
                    <a16:rowId xmlns:a16="http://schemas.microsoft.com/office/drawing/2014/main" val="2759210480"/>
                  </a:ext>
                </a:extLst>
              </a:tr>
              <a:tr h="200345">
                <a:tc>
                  <a:txBody>
                    <a:bodyPr/>
                    <a:lstStyle/>
                    <a:p>
                      <a:pPr algn="ctr">
                        <a:lnSpc>
                          <a:spcPct val="100000"/>
                        </a:lnSpc>
                      </a:pPr>
                      <a:r>
                        <a:rPr lang="en-US" sz="700" dirty="0"/>
                        <a:t>16</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Stack Pointer Increment / Decrement (0: decrease / 1: increase)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6363256"/>
                  </a:ext>
                </a:extLst>
              </a:tr>
              <a:tr h="200345">
                <a:tc>
                  <a:txBody>
                    <a:bodyPr/>
                    <a:lstStyle/>
                    <a:p>
                      <a:pPr algn="ctr">
                        <a:lnSpc>
                          <a:spcPct val="100000"/>
                        </a:lnSpc>
                      </a:pPr>
                      <a:r>
                        <a:rPr lang="en-US" sz="700"/>
                        <a:t>15</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Stack Pointer Count</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49660566"/>
                  </a:ext>
                </a:extLst>
              </a:tr>
              <a:tr h="200345">
                <a:tc>
                  <a:txBody>
                    <a:bodyPr/>
                    <a:lstStyle/>
                    <a:p>
                      <a:pPr algn="ctr">
                        <a:lnSpc>
                          <a:spcPct val="100000"/>
                        </a:lnSpc>
                      </a:pPr>
                      <a:r>
                        <a:rPr lang="en-US" sz="700"/>
                        <a:t>14</a:t>
                      </a:r>
                    </a:p>
                  </a:txBody>
                  <a:tcPr anchor="ctr"/>
                </a:tc>
                <a:tc>
                  <a:txBody>
                    <a:bodyPr/>
                    <a:lstStyle/>
                    <a:p>
                      <a:pPr algn="l">
                        <a:lnSpc>
                          <a:spcPct val="100000"/>
                        </a:lnSpc>
                      </a:pPr>
                      <a:r>
                        <a:rPr lang="en-US" sz="700" dirty="0"/>
                        <a:t>SP Out (formerly: RAM Address Select (0: Address register / 1: Stack pointer))</a:t>
                      </a:r>
                    </a:p>
                  </a:txBody>
                  <a:tcPr anchor="ctr"/>
                </a:tc>
                <a:extLst>
                  <a:ext uri="{0D108BD9-81ED-4DB2-BD59-A6C34878D82A}">
                    <a16:rowId xmlns:a16="http://schemas.microsoft.com/office/drawing/2014/main" val="645489424"/>
                  </a:ext>
                </a:extLst>
              </a:tr>
              <a:tr h="200345">
                <a:tc>
                  <a:txBody>
                    <a:bodyPr/>
                    <a:lstStyle/>
                    <a:p>
                      <a:pPr algn="ctr">
                        <a:lnSpc>
                          <a:spcPct val="100000"/>
                        </a:lnSpc>
                      </a:pPr>
                      <a:r>
                        <a:rPr lang="en-US" sz="700"/>
                        <a:t>13</a:t>
                      </a:r>
                    </a:p>
                  </a:txBody>
                  <a:tcPr anchor="ctr"/>
                </a:tc>
                <a:tc>
                  <a:txBody>
                    <a:bodyPr/>
                    <a:lstStyle/>
                    <a:p>
                      <a:pPr algn="l">
                        <a:lnSpc>
                          <a:spcPct val="100000"/>
                        </a:lnSpc>
                      </a:pPr>
                      <a:r>
                        <a:rPr lang="en-US" sz="700"/>
                        <a:t>Use Rd as Source</a:t>
                      </a:r>
                    </a:p>
                  </a:txBody>
                  <a:tcPr anchor="ctr"/>
                </a:tc>
                <a:extLst>
                  <a:ext uri="{0D108BD9-81ED-4DB2-BD59-A6C34878D82A}">
                    <a16:rowId xmlns:a16="http://schemas.microsoft.com/office/drawing/2014/main" val="2745442092"/>
                  </a:ext>
                </a:extLst>
              </a:tr>
              <a:tr h="200345">
                <a:tc>
                  <a:txBody>
                    <a:bodyPr/>
                    <a:lstStyle/>
                    <a:p>
                      <a:pPr algn="ctr">
                        <a:lnSpc>
                          <a:spcPct val="100000"/>
                        </a:lnSpc>
                      </a:pPr>
                      <a:r>
                        <a:rPr lang="en-US" sz="700" dirty="0"/>
                        <a:t>12</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Lower Address Register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762316"/>
                  </a:ext>
                </a:extLst>
              </a:tr>
              <a:tr h="200345">
                <a:tc>
                  <a:txBody>
                    <a:bodyPr/>
                    <a:lstStyle/>
                    <a:p>
                      <a:pPr algn="ctr">
                        <a:lnSpc>
                          <a:spcPct val="100000"/>
                        </a:lnSpc>
                      </a:pPr>
                      <a:r>
                        <a:rPr lang="en-US" sz="700"/>
                        <a:t>11</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Mem Write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66008767"/>
                  </a:ext>
                </a:extLst>
              </a:tr>
              <a:tr h="200345">
                <a:tc>
                  <a:txBody>
                    <a:bodyPr/>
                    <a:lstStyle/>
                    <a:p>
                      <a:pPr algn="ctr">
                        <a:lnSpc>
                          <a:spcPct val="100000"/>
                        </a:lnSpc>
                      </a:pPr>
                      <a:r>
                        <a:rPr lang="en-US" sz="700"/>
                        <a:t>10</a:t>
                      </a:r>
                    </a:p>
                  </a:txBody>
                  <a:tcPr anchor="ctr"/>
                </a:tc>
                <a:tc>
                  <a:txBody>
                    <a:bodyPr/>
                    <a:lstStyle/>
                    <a:p>
                      <a:pPr algn="l">
                        <a:lnSpc>
                          <a:spcPct val="100000"/>
                        </a:lnSpc>
                      </a:pPr>
                      <a:r>
                        <a:rPr lang="en-US" sz="700"/>
                        <a:t>Mem Read</a:t>
                      </a:r>
                    </a:p>
                  </a:txBody>
                  <a:tcPr anchor="ctr"/>
                </a:tc>
                <a:extLst>
                  <a:ext uri="{0D108BD9-81ED-4DB2-BD59-A6C34878D82A}">
                    <a16:rowId xmlns:a16="http://schemas.microsoft.com/office/drawing/2014/main" val="707415226"/>
                  </a:ext>
                </a:extLst>
              </a:tr>
              <a:tr h="200345">
                <a:tc>
                  <a:txBody>
                    <a:bodyPr/>
                    <a:lstStyle/>
                    <a:p>
                      <a:pPr algn="ctr">
                        <a:lnSpc>
                          <a:spcPct val="100000"/>
                        </a:lnSpc>
                      </a:pPr>
                      <a:r>
                        <a:rPr lang="en-US" sz="700"/>
                        <a:t>9</a:t>
                      </a:r>
                    </a:p>
                  </a:txBody>
                  <a:tcPr anchor="ctr"/>
                </a:tc>
                <a:tc>
                  <a:txBody>
                    <a:bodyPr/>
                    <a:lstStyle/>
                    <a:p>
                      <a:pPr algn="l">
                        <a:lnSpc>
                          <a:spcPct val="100000"/>
                        </a:lnSpc>
                      </a:pPr>
                      <a:r>
                        <a:rPr lang="en-US" sz="700"/>
                        <a:t>PC Out</a:t>
                      </a:r>
                    </a:p>
                  </a:txBody>
                  <a:tcPr anchor="ctr"/>
                </a:tc>
                <a:extLst>
                  <a:ext uri="{0D108BD9-81ED-4DB2-BD59-A6C34878D82A}">
                    <a16:rowId xmlns:a16="http://schemas.microsoft.com/office/drawing/2014/main" val="1663806429"/>
                  </a:ext>
                </a:extLst>
              </a:tr>
              <a:tr h="200345">
                <a:tc>
                  <a:txBody>
                    <a:bodyPr/>
                    <a:lstStyle/>
                    <a:p>
                      <a:pPr algn="ctr">
                        <a:lnSpc>
                          <a:spcPct val="100000"/>
                        </a:lnSpc>
                      </a:pPr>
                      <a:r>
                        <a:rPr lang="en-US" sz="700" dirty="0"/>
                        <a:t>8</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a:t>PC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27957"/>
                  </a:ext>
                </a:extLst>
              </a:tr>
              <a:tr h="200345">
                <a:tc>
                  <a:txBody>
                    <a:bodyPr/>
                    <a:lstStyle/>
                    <a:p>
                      <a:pPr algn="ctr">
                        <a:lnSpc>
                          <a:spcPct val="100000"/>
                        </a:lnSpc>
                      </a:pPr>
                      <a:r>
                        <a:rPr lang="en-US" sz="700"/>
                        <a:t>7</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PC advance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70910443"/>
                  </a:ext>
                </a:extLst>
              </a:tr>
              <a:tr h="200345">
                <a:tc>
                  <a:txBody>
                    <a:bodyPr/>
                    <a:lstStyle/>
                    <a:p>
                      <a:pPr algn="ctr">
                        <a:lnSpc>
                          <a:spcPct val="100000"/>
                        </a:lnSpc>
                      </a:pPr>
                      <a:r>
                        <a:rPr lang="en-US" sz="700"/>
                        <a:t>6</a:t>
                      </a:r>
                    </a:p>
                  </a:txBody>
                  <a:tcPr anchor="ctr"/>
                </a:tc>
                <a:tc>
                  <a:txBody>
                    <a:bodyPr/>
                    <a:lstStyle/>
                    <a:p>
                      <a:pPr algn="l">
                        <a:lnSpc>
                          <a:spcPct val="100000"/>
                        </a:lnSpc>
                      </a:pPr>
                      <a:r>
                        <a:rPr lang="en-US" sz="700"/>
                        <a:t>Program Register H Write to Bus (parameter)</a:t>
                      </a:r>
                    </a:p>
                  </a:txBody>
                  <a:tcPr anchor="ctr"/>
                </a:tc>
                <a:extLst>
                  <a:ext uri="{0D108BD9-81ED-4DB2-BD59-A6C34878D82A}">
                    <a16:rowId xmlns:a16="http://schemas.microsoft.com/office/drawing/2014/main" val="631651838"/>
                  </a:ext>
                </a:extLst>
              </a:tr>
              <a:tr h="200345">
                <a:tc>
                  <a:txBody>
                    <a:bodyPr/>
                    <a:lstStyle/>
                    <a:p>
                      <a:pPr algn="ctr">
                        <a:lnSpc>
                          <a:spcPct val="100000"/>
                        </a:lnSpc>
                      </a:pPr>
                      <a:r>
                        <a:rPr lang="en-US" sz="700"/>
                        <a:t>5</a:t>
                      </a:r>
                    </a:p>
                  </a:txBody>
                  <a:tcPr anchor="ctr"/>
                </a:tc>
                <a:tc>
                  <a:txBody>
                    <a:bodyPr/>
                    <a:lstStyle/>
                    <a:p>
                      <a:pPr algn="l">
                        <a:lnSpc>
                          <a:spcPct val="100000"/>
                        </a:lnSpc>
                      </a:pPr>
                      <a:r>
                        <a:rPr lang="en-US" sz="700"/>
                        <a:t>Register File Input Enable</a:t>
                      </a:r>
                    </a:p>
                  </a:txBody>
                  <a:tcPr anchor="ctr"/>
                </a:tc>
                <a:extLst>
                  <a:ext uri="{0D108BD9-81ED-4DB2-BD59-A6C34878D82A}">
                    <a16:rowId xmlns:a16="http://schemas.microsoft.com/office/drawing/2014/main" val="1592812184"/>
                  </a:ext>
                </a:extLst>
              </a:tr>
              <a:tr h="200345">
                <a:tc>
                  <a:txBody>
                    <a:bodyPr/>
                    <a:lstStyle/>
                    <a:p>
                      <a:pPr algn="ctr">
                        <a:lnSpc>
                          <a:spcPct val="100000"/>
                        </a:lnSpc>
                      </a:pPr>
                      <a:r>
                        <a:rPr lang="en-US" sz="700" dirty="0"/>
                        <a:t>4</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Register File Output Enable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5793510"/>
                  </a:ext>
                </a:extLst>
              </a:tr>
              <a:tr h="200345">
                <a:tc>
                  <a:txBody>
                    <a:bodyPr/>
                    <a:lstStyle/>
                    <a:p>
                      <a:pPr algn="ctr">
                        <a:lnSpc>
                          <a:spcPct val="100000"/>
                        </a:lnSpc>
                      </a:pPr>
                      <a:r>
                        <a:rPr lang="en-US" sz="700"/>
                        <a:t>3</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Register File Output Select (parameter – 0 -&gt; Rs1, 1 -&gt; Rs2)</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46366285"/>
                  </a:ext>
                </a:extLst>
              </a:tr>
              <a:tr h="0">
                <a:tc>
                  <a:txBody>
                    <a:bodyPr/>
                    <a:lstStyle/>
                    <a:p>
                      <a:pPr algn="ctr">
                        <a:lnSpc>
                          <a:spcPct val="100000"/>
                        </a:lnSpc>
                      </a:pPr>
                      <a:r>
                        <a:rPr lang="en-US" sz="700"/>
                        <a:t>2</a:t>
                      </a:r>
                    </a:p>
                  </a:txBody>
                  <a:tcPr anchor="ctr"/>
                </a:tc>
                <a:tc>
                  <a:txBody>
                    <a:bodyPr/>
                    <a:lstStyle/>
                    <a:p>
                      <a:pPr algn="l">
                        <a:lnSpc>
                          <a:spcPct val="100000"/>
                        </a:lnSpc>
                      </a:pPr>
                      <a:r>
                        <a:rPr lang="en-US" sz="700" dirty="0"/>
                        <a:t>ALU output enable</a:t>
                      </a:r>
                    </a:p>
                  </a:txBody>
                  <a:tcPr anchor="ctr"/>
                </a:tc>
                <a:extLst>
                  <a:ext uri="{0D108BD9-81ED-4DB2-BD59-A6C34878D82A}">
                    <a16:rowId xmlns:a16="http://schemas.microsoft.com/office/drawing/2014/main" val="2615342211"/>
                  </a:ext>
                </a:extLst>
              </a:tr>
              <a:tr h="156274">
                <a:tc>
                  <a:txBody>
                    <a:bodyPr/>
                    <a:lstStyle/>
                    <a:p>
                      <a:pPr algn="ctr">
                        <a:lnSpc>
                          <a:spcPct val="100000"/>
                        </a:lnSpc>
                      </a:pPr>
                      <a:r>
                        <a:rPr lang="en-US" sz="700"/>
                        <a:t>1</a:t>
                      </a:r>
                    </a:p>
                  </a:txBody>
                  <a:tcPr anchor="ctr"/>
                </a:tc>
                <a:tc>
                  <a:txBody>
                    <a:bodyPr/>
                    <a:lstStyle/>
                    <a:p>
                      <a:pPr algn="l">
                        <a:lnSpc>
                          <a:spcPct val="100000"/>
                        </a:lnSpc>
                      </a:pPr>
                      <a:r>
                        <a:rPr lang="en-US" sz="700" dirty="0"/>
                        <a:t>ALU load register A</a:t>
                      </a:r>
                    </a:p>
                  </a:txBody>
                  <a:tcPr marT="0" anchor="ctr"/>
                </a:tc>
                <a:extLst>
                  <a:ext uri="{0D108BD9-81ED-4DB2-BD59-A6C34878D82A}">
                    <a16:rowId xmlns:a16="http://schemas.microsoft.com/office/drawing/2014/main" val="2055856817"/>
                  </a:ext>
                </a:extLst>
              </a:tr>
              <a:tr h="200345">
                <a:tc>
                  <a:txBody>
                    <a:bodyPr/>
                    <a:lstStyle/>
                    <a:p>
                      <a:pPr algn="ctr">
                        <a:lnSpc>
                          <a:spcPct val="100000"/>
                        </a:lnSpc>
                      </a:pPr>
                      <a:r>
                        <a:rPr lang="en-US" sz="700"/>
                        <a:t>0</a:t>
                      </a:r>
                    </a:p>
                  </a:txBody>
                  <a:tcPr anchor="ctr"/>
                </a:tc>
                <a:tc>
                  <a:txBody>
                    <a:bodyPr/>
                    <a:lstStyle/>
                    <a:p>
                      <a:pPr algn="l">
                        <a:lnSpc>
                          <a:spcPct val="100000"/>
                        </a:lnSpc>
                      </a:pPr>
                      <a:r>
                        <a:rPr lang="en-US" sz="700" dirty="0"/>
                        <a:t>ALU load register B</a:t>
                      </a:r>
                    </a:p>
                  </a:txBody>
                  <a:tcPr anchor="ct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3178321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2EFBB-12AA-CFAD-96D4-3B156C531C2C}"/>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9DB381B1-931B-4516-89CC-862CE3E828B7}"/>
              </a:ext>
            </a:extLst>
          </p:cNvPr>
          <p:cNvSpPr>
            <a:spLocks noGrp="1"/>
          </p:cNvSpPr>
          <p:nvPr>
            <p:ph type="ctrTitle"/>
          </p:nvPr>
        </p:nvSpPr>
        <p:spPr>
          <a:xfrm>
            <a:off x="914400" y="182880"/>
            <a:ext cx="9144000" cy="457200"/>
          </a:xfrm>
        </p:spPr>
        <p:txBody>
          <a:bodyPr/>
          <a:lstStyle/>
          <a:p>
            <a:r>
              <a:rPr lang="en-US" dirty="0"/>
              <a:t>Micro-Instructions Control: </a:t>
            </a:r>
            <a:r>
              <a:rPr lang="en-US" dirty="0">
                <a:solidFill>
                  <a:schemeClr val="dk1"/>
                </a:solidFill>
              </a:rPr>
              <a:t>Load Data Byte with Offset 2 </a:t>
            </a:r>
            <a:r>
              <a:rPr lang="en-US" dirty="0"/>
              <a:t>(LDW2) (10101)</a:t>
            </a:r>
          </a:p>
        </p:txBody>
      </p:sp>
      <p:graphicFrame>
        <p:nvGraphicFramePr>
          <p:cNvPr id="5" name="Table 4">
            <a:extLst>
              <a:ext uri="{FF2B5EF4-FFF2-40B4-BE49-F238E27FC236}">
                <a16:creationId xmlns:a16="http://schemas.microsoft.com/office/drawing/2014/main" id="{5EDF7538-1DA9-AFC5-8FC5-E039753EFB43}"/>
              </a:ext>
            </a:extLst>
          </p:cNvPr>
          <p:cNvGraphicFramePr>
            <a:graphicFrameLocks noGrp="1"/>
          </p:cNvGraphicFramePr>
          <p:nvPr/>
        </p:nvGraphicFramePr>
        <p:xfrm>
          <a:off x="4716581" y="742463"/>
          <a:ext cx="6249874" cy="1975599"/>
        </p:xfrm>
        <a:graphic>
          <a:graphicData uri="http://schemas.openxmlformats.org/drawingml/2006/table">
            <a:tbl>
              <a:tblPr firstRow="1" bandRow="1">
                <a:tableStyleId>{5C22544A-7EE6-4342-B048-85BDC9FD1C3A}</a:tableStyleId>
              </a:tblPr>
              <a:tblGrid>
                <a:gridCol w="948528">
                  <a:extLst>
                    <a:ext uri="{9D8B030D-6E8A-4147-A177-3AD203B41FA5}">
                      <a16:colId xmlns:a16="http://schemas.microsoft.com/office/drawing/2014/main" val="1217920130"/>
                    </a:ext>
                  </a:extLst>
                </a:gridCol>
                <a:gridCol w="2465917">
                  <a:extLst>
                    <a:ext uri="{9D8B030D-6E8A-4147-A177-3AD203B41FA5}">
                      <a16:colId xmlns:a16="http://schemas.microsoft.com/office/drawing/2014/main" val="1475888205"/>
                    </a:ext>
                  </a:extLst>
                </a:gridCol>
                <a:gridCol w="2835429">
                  <a:extLst>
                    <a:ext uri="{9D8B030D-6E8A-4147-A177-3AD203B41FA5}">
                      <a16:colId xmlns:a16="http://schemas.microsoft.com/office/drawing/2014/main" val="2801792198"/>
                    </a:ext>
                  </a:extLst>
                </a:gridCol>
              </a:tblGrid>
              <a:tr h="324599">
                <a:tc>
                  <a:txBody>
                    <a:bodyPr/>
                    <a:lstStyle/>
                    <a:p>
                      <a:r>
                        <a:rPr lang="en-US" sz="1200" dirty="0"/>
                        <a:t>Cycle #</a:t>
                      </a:r>
                    </a:p>
                  </a:txBody>
                  <a:tcPr/>
                </a:tc>
                <a:tc>
                  <a:txBody>
                    <a:bodyPr/>
                    <a:lstStyle/>
                    <a:p>
                      <a:r>
                        <a:rPr lang="en-US" sz="1200" dirty="0"/>
                        <a:t>Instruction</a:t>
                      </a:r>
                    </a:p>
                  </a:txBody>
                  <a:tcPr/>
                </a:tc>
                <a:tc>
                  <a:txBody>
                    <a:bodyPr/>
                    <a:lstStyle/>
                    <a:p>
                      <a:r>
                        <a:rPr lang="en-US" sz="1200"/>
                        <a:t>Explanation</a:t>
                      </a:r>
                    </a:p>
                  </a:txBody>
                  <a:tcPr/>
                </a:tc>
                <a:extLst>
                  <a:ext uri="{0D108BD9-81ED-4DB2-BD59-A6C34878D82A}">
                    <a16:rowId xmlns:a16="http://schemas.microsoft.com/office/drawing/2014/main" val="2319756336"/>
                  </a:ext>
                </a:extLst>
              </a:tr>
              <a:tr h="579120">
                <a:tc>
                  <a:txBody>
                    <a:bodyPr/>
                    <a:lstStyle/>
                    <a:p>
                      <a:pPr algn="ctr"/>
                      <a:r>
                        <a:rPr lang="en-US" sz="1200"/>
                        <a:t>0</a:t>
                      </a:r>
                    </a:p>
                  </a:txBody>
                  <a:tcPr/>
                </a:tc>
                <a:tc>
                  <a:txBody>
                    <a:bodyPr/>
                    <a:lstStyle/>
                    <a:p>
                      <a:pPr algn="l"/>
                      <a:r>
                        <a:rPr lang="en-US" sz="1200" dirty="0"/>
                        <a:t>0x08_00_40</a:t>
                      </a:r>
                    </a:p>
                  </a:txBody>
                  <a:tcPr/>
                </a:tc>
                <a:tc>
                  <a:txBody>
                    <a:bodyPr/>
                    <a:lstStyle/>
                    <a:p>
                      <a:pPr algn="l"/>
                      <a:r>
                        <a:rPr lang="en-US" sz="1200" dirty="0"/>
                        <a:t>Write Imm to the Data Bus, </a:t>
                      </a:r>
                      <a:r>
                        <a:rPr lang="en-US" sz="1200" dirty="0" err="1"/>
                        <a:t>ARSrc</a:t>
                      </a:r>
                      <a:r>
                        <a:rPr lang="en-US" sz="1200" dirty="0"/>
                        <a:t> to the Address Bus, and set </a:t>
                      </a:r>
                      <a:r>
                        <a:rPr lang="en-US" sz="1200" dirty="0" err="1"/>
                        <a:t>TmpAR</a:t>
                      </a:r>
                      <a:r>
                        <a:rPr lang="en-US" sz="1200" dirty="0"/>
                        <a:t> to read from the 16-bit adder.</a:t>
                      </a:r>
                    </a:p>
                  </a:txBody>
                  <a:tcPr/>
                </a:tc>
                <a:extLst>
                  <a:ext uri="{0D108BD9-81ED-4DB2-BD59-A6C34878D82A}">
                    <a16:rowId xmlns:a16="http://schemas.microsoft.com/office/drawing/2014/main" val="2570910443"/>
                  </a:ext>
                </a:extLst>
              </a:tr>
              <a:tr h="579120">
                <a:tc>
                  <a:txBody>
                    <a:bodyPr/>
                    <a:lstStyle/>
                    <a:p>
                      <a:pPr algn="ctr"/>
                      <a:r>
                        <a:rPr lang="en-US" sz="12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0x10_04_20</a:t>
                      </a:r>
                    </a:p>
                  </a:txBody>
                  <a:tcPr/>
                </a:tc>
                <a:tc>
                  <a:txBody>
                    <a:bodyPr/>
                    <a:lstStyle/>
                    <a:p>
                      <a:pPr algn="l"/>
                      <a:r>
                        <a:rPr lang="en-US" sz="1200" dirty="0"/>
                        <a:t>Write </a:t>
                      </a:r>
                      <a:r>
                        <a:rPr lang="en-US" sz="1200" dirty="0" err="1"/>
                        <a:t>TmpAR</a:t>
                      </a:r>
                      <a:r>
                        <a:rPr lang="en-US" sz="1200" dirty="0"/>
                        <a:t> to the Address Bus, Write Memory data word to the Data Bus, and set Rd to read from the Data Bus.</a:t>
                      </a:r>
                    </a:p>
                  </a:txBody>
                  <a:tcPr/>
                </a:tc>
                <a:extLst>
                  <a:ext uri="{0D108BD9-81ED-4DB2-BD59-A6C34878D82A}">
                    <a16:rowId xmlns:a16="http://schemas.microsoft.com/office/drawing/2014/main" val="631651838"/>
                  </a:ext>
                </a:extLst>
              </a:tr>
              <a:tr h="370840">
                <a:tc>
                  <a:txBody>
                    <a:bodyPr/>
                    <a:lstStyle/>
                    <a:p>
                      <a:pPr algn="ctr"/>
                      <a:r>
                        <a:rPr lang="en-US" sz="12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0x00_00_80</a:t>
                      </a:r>
                    </a:p>
                  </a:txBody>
                  <a:tcPr/>
                </a:tc>
                <a:tc>
                  <a:txBody>
                    <a:bodyPr/>
                    <a:lstStyle/>
                    <a:p>
                      <a:pPr algn="l"/>
                      <a:r>
                        <a:rPr lang="en-US" sz="1200" dirty="0"/>
                        <a:t>Advance PC.</a:t>
                      </a:r>
                    </a:p>
                  </a:txBody>
                  <a:tcPr/>
                </a:tc>
                <a:extLst>
                  <a:ext uri="{0D108BD9-81ED-4DB2-BD59-A6C34878D82A}">
                    <a16:rowId xmlns:a16="http://schemas.microsoft.com/office/drawing/2014/main" val="1592812184"/>
                  </a:ext>
                </a:extLst>
              </a:tr>
            </a:tbl>
          </a:graphicData>
        </a:graphic>
      </p:graphicFrame>
      <p:pic>
        <p:nvPicPr>
          <p:cNvPr id="2" name="Picture 1">
            <a:hlinkClick r:id="rId3" action="ppaction://hlinksldjump"/>
            <a:extLst>
              <a:ext uri="{FF2B5EF4-FFF2-40B4-BE49-F238E27FC236}">
                <a16:creationId xmlns:a16="http://schemas.microsoft.com/office/drawing/2014/main" id="{32AEBA81-3CAC-EDF0-F091-DEEBAB3990D4}"/>
              </a:ext>
            </a:extLst>
          </p:cNvPr>
          <p:cNvPicPr>
            <a:picLocks noChangeAspect="1"/>
          </p:cNvPicPr>
          <p:nvPr/>
        </p:nvPicPr>
        <p:blipFill>
          <a:blip r:embed="rId4"/>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B6089AAF-E62D-AE7C-30A9-5A23233DA358}"/>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61</a:t>
            </a:fld>
            <a:endParaRPr lang="en-US" b="1">
              <a:solidFill>
                <a:schemeClr val="bg1"/>
              </a:solidFill>
            </a:endParaRPr>
          </a:p>
        </p:txBody>
      </p:sp>
      <p:graphicFrame>
        <p:nvGraphicFramePr>
          <p:cNvPr id="3" name="Table 4">
            <a:extLst>
              <a:ext uri="{FF2B5EF4-FFF2-40B4-BE49-F238E27FC236}">
                <a16:creationId xmlns:a16="http://schemas.microsoft.com/office/drawing/2014/main" id="{D99AD4BD-8E5F-289E-B91F-0CEC234D132F}"/>
              </a:ext>
            </a:extLst>
          </p:cNvPr>
          <p:cNvGraphicFramePr>
            <a:graphicFrameLocks noGrp="1"/>
          </p:cNvGraphicFramePr>
          <p:nvPr>
            <p:extLst>
              <p:ext uri="{D42A27DB-BD31-4B8C-83A1-F6EECF244321}">
                <p14:modId xmlns:p14="http://schemas.microsoft.com/office/powerpoint/2010/main" val="3169141822"/>
              </p:ext>
            </p:extLst>
          </p:nvPr>
        </p:nvGraphicFramePr>
        <p:xfrm>
          <a:off x="179752" y="5818357"/>
          <a:ext cx="10583500" cy="594360"/>
        </p:xfrm>
        <a:graphic>
          <a:graphicData uri="http://schemas.openxmlformats.org/drawingml/2006/table">
            <a:tbl>
              <a:tblPr firstRow="1" bandRow="1">
                <a:tableStyleId>{5C22544A-7EE6-4342-B048-85BDC9FD1C3A}</a:tableStyleId>
              </a:tblPr>
              <a:tblGrid>
                <a:gridCol w="998667">
                  <a:extLst>
                    <a:ext uri="{9D8B030D-6E8A-4147-A177-3AD203B41FA5}">
                      <a16:colId xmlns:a16="http://schemas.microsoft.com/office/drawing/2014/main" val="1810408170"/>
                    </a:ext>
                  </a:extLst>
                </a:gridCol>
                <a:gridCol w="970585">
                  <a:extLst>
                    <a:ext uri="{9D8B030D-6E8A-4147-A177-3AD203B41FA5}">
                      <a16:colId xmlns:a16="http://schemas.microsoft.com/office/drawing/2014/main" val="950391025"/>
                    </a:ext>
                  </a:extLst>
                </a:gridCol>
                <a:gridCol w="882483">
                  <a:extLst>
                    <a:ext uri="{9D8B030D-6E8A-4147-A177-3AD203B41FA5}">
                      <a16:colId xmlns:a16="http://schemas.microsoft.com/office/drawing/2014/main" val="1217920130"/>
                    </a:ext>
                  </a:extLst>
                </a:gridCol>
                <a:gridCol w="1402159">
                  <a:extLst>
                    <a:ext uri="{9D8B030D-6E8A-4147-A177-3AD203B41FA5}">
                      <a16:colId xmlns:a16="http://schemas.microsoft.com/office/drawing/2014/main" val="1475888205"/>
                    </a:ext>
                  </a:extLst>
                </a:gridCol>
                <a:gridCol w="1609969">
                  <a:extLst>
                    <a:ext uri="{9D8B030D-6E8A-4147-A177-3AD203B41FA5}">
                      <a16:colId xmlns:a16="http://schemas.microsoft.com/office/drawing/2014/main" val="1355185516"/>
                    </a:ext>
                  </a:extLst>
                </a:gridCol>
                <a:gridCol w="1304925">
                  <a:extLst>
                    <a:ext uri="{9D8B030D-6E8A-4147-A177-3AD203B41FA5}">
                      <a16:colId xmlns:a16="http://schemas.microsoft.com/office/drawing/2014/main" val="1039846299"/>
                    </a:ext>
                  </a:extLst>
                </a:gridCol>
                <a:gridCol w="3414712">
                  <a:extLst>
                    <a:ext uri="{9D8B030D-6E8A-4147-A177-3AD203B41FA5}">
                      <a16:colId xmlns:a16="http://schemas.microsoft.com/office/drawing/2014/main" val="3099546510"/>
                    </a:ext>
                  </a:extLst>
                </a:gridCol>
              </a:tblGrid>
              <a:tr h="297180">
                <a:tc>
                  <a:txBody>
                    <a:bodyPr/>
                    <a:lstStyle/>
                    <a:p>
                      <a:r>
                        <a:rPr lang="en-US" sz="1300" dirty="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dirty="0"/>
                        <a:t>LDW</a:t>
                      </a:r>
                    </a:p>
                  </a:txBody>
                  <a:tcPr>
                    <a:solidFill>
                      <a:schemeClr val="accent6"/>
                    </a:solidFill>
                  </a:tcPr>
                </a:tc>
                <a:tc gridSpan="3">
                  <a:txBody>
                    <a:bodyPr/>
                    <a:lstStyle/>
                    <a:p>
                      <a:pPr algn="ctr"/>
                      <a:r>
                        <a:rPr lang="en-US" sz="1300"/>
                        <a:t>Immediate (8-bit)</a:t>
                      </a:r>
                    </a:p>
                  </a:txBody>
                  <a:tcPr/>
                </a:tc>
                <a:tc hMerge="1">
                  <a:txBody>
                    <a:bodyPr/>
                    <a:lstStyle/>
                    <a:p>
                      <a:pPr algn="ctr"/>
                      <a:endParaRPr lang="en-US"/>
                    </a:p>
                  </a:txBody>
                  <a:tcPr/>
                </a:tc>
                <a:tc hMerge="1">
                  <a:txBody>
                    <a:bodyPr/>
                    <a:lstStyle/>
                    <a:p>
                      <a:pPr algn="ctr"/>
                      <a:r>
                        <a:rPr lang="en-US"/>
                        <a:t>Immediate (8-bit)</a:t>
                      </a:r>
                    </a:p>
                  </a:txBody>
                  <a:tcPr/>
                </a:tc>
                <a:tc>
                  <a:txBody>
                    <a:bodyPr/>
                    <a:lstStyle/>
                    <a:p>
                      <a:pPr algn="ctr"/>
                      <a:r>
                        <a:rPr lang="en-US" sz="1300" dirty="0"/>
                        <a:t>Rd</a:t>
                      </a:r>
                    </a:p>
                  </a:txBody>
                  <a:tcPr/>
                </a:tc>
                <a:tc>
                  <a:txBody>
                    <a:bodyPr/>
                    <a:lstStyle/>
                    <a:p>
                      <a:pPr algn="ctr"/>
                      <a:r>
                        <a:rPr lang="en-US" sz="1300" dirty="0" err="1"/>
                        <a:t>ARSrc</a:t>
                      </a:r>
                      <a:r>
                        <a:rPr lang="en-US" sz="1300" dirty="0"/>
                        <a:t>[1]</a:t>
                      </a:r>
                    </a:p>
                  </a:txBody>
                  <a:tcPr/>
                </a:tc>
                <a:tc>
                  <a:txBody>
                    <a:bodyPr/>
                    <a:lstStyle/>
                    <a:p>
                      <a:pPr algn="ctr"/>
                      <a:r>
                        <a:rPr lang="en-US" sz="1300" dirty="0" err="1"/>
                        <a:t>OpCode</a:t>
                      </a:r>
                      <a:r>
                        <a:rPr lang="en-US" sz="1300" dirty="0"/>
                        <a:t>=15 (and </a:t>
                      </a:r>
                      <a:r>
                        <a:rPr lang="en-US" sz="1300" dirty="0" err="1"/>
                        <a:t>ARSrc</a:t>
                      </a:r>
                      <a:r>
                        <a:rPr lang="en-US" sz="1300" dirty="0"/>
                        <a:t>[0] = 1)</a:t>
                      </a:r>
                    </a:p>
                  </a:txBody>
                  <a:tcPr/>
                </a:tc>
                <a:extLst>
                  <a:ext uri="{0D108BD9-81ED-4DB2-BD59-A6C34878D82A}">
                    <a16:rowId xmlns:a16="http://schemas.microsoft.com/office/drawing/2014/main" val="2570910443"/>
                  </a:ext>
                </a:extLst>
              </a:tr>
            </a:tbl>
          </a:graphicData>
        </a:graphic>
      </p:graphicFrame>
      <p:sp>
        <p:nvSpPr>
          <p:cNvPr id="4" name="TextBox 3">
            <a:extLst>
              <a:ext uri="{FF2B5EF4-FFF2-40B4-BE49-F238E27FC236}">
                <a16:creationId xmlns:a16="http://schemas.microsoft.com/office/drawing/2014/main" id="{C461E3B2-C8E9-864E-B3D9-2FCC71308006}"/>
              </a:ext>
            </a:extLst>
          </p:cNvPr>
          <p:cNvSpPr txBox="1"/>
          <p:nvPr/>
        </p:nvSpPr>
        <p:spPr>
          <a:xfrm>
            <a:off x="10966456" y="2"/>
            <a:ext cx="1223412" cy="1323439"/>
          </a:xfrm>
          <a:prstGeom prst="rect">
            <a:avLst/>
          </a:prstGeom>
          <a:noFill/>
        </p:spPr>
        <p:txBody>
          <a:bodyPr wrap="none" rtlCol="0">
            <a:spAutoFit/>
          </a:bodyPr>
          <a:lstStyle/>
          <a:p>
            <a:r>
              <a:rPr lang="en-US" sz="8000" dirty="0">
                <a:solidFill>
                  <a:schemeClr val="accent1">
                    <a:lumMod val="60000"/>
                    <a:lumOff val="40000"/>
                  </a:schemeClr>
                </a:solidFill>
              </a:rPr>
              <a:t>15</a:t>
            </a:r>
          </a:p>
        </p:txBody>
      </p:sp>
      <p:graphicFrame>
        <p:nvGraphicFramePr>
          <p:cNvPr id="8" name="Table 6">
            <a:extLst>
              <a:ext uri="{FF2B5EF4-FFF2-40B4-BE49-F238E27FC236}">
                <a16:creationId xmlns:a16="http://schemas.microsoft.com/office/drawing/2014/main" id="{28952755-C2F6-2076-1E5D-B6A19EAB0BC1}"/>
              </a:ext>
            </a:extLst>
          </p:cNvPr>
          <p:cNvGraphicFramePr>
            <a:graphicFrameLocks noGrp="1"/>
          </p:cNvGraphicFramePr>
          <p:nvPr>
            <p:extLst>
              <p:ext uri="{D42A27DB-BD31-4B8C-83A1-F6EECF244321}">
                <p14:modId xmlns:p14="http://schemas.microsoft.com/office/powerpoint/2010/main" val="2862695400"/>
              </p:ext>
            </p:extLst>
          </p:nvPr>
        </p:nvGraphicFramePr>
        <p:xfrm>
          <a:off x="5576596" y="3030889"/>
          <a:ext cx="3857535" cy="1188720"/>
        </p:xfrm>
        <a:graphic>
          <a:graphicData uri="http://schemas.openxmlformats.org/drawingml/2006/table">
            <a:tbl>
              <a:tblPr firstRow="1" bandRow="1">
                <a:tableStyleId>{5C22544A-7EE6-4342-B048-85BDC9FD1C3A}</a:tableStyleId>
              </a:tblPr>
              <a:tblGrid>
                <a:gridCol w="776078">
                  <a:extLst>
                    <a:ext uri="{9D8B030D-6E8A-4147-A177-3AD203B41FA5}">
                      <a16:colId xmlns:a16="http://schemas.microsoft.com/office/drawing/2014/main" val="3639428745"/>
                    </a:ext>
                  </a:extLst>
                </a:gridCol>
                <a:gridCol w="812131">
                  <a:extLst>
                    <a:ext uri="{9D8B030D-6E8A-4147-A177-3AD203B41FA5}">
                      <a16:colId xmlns:a16="http://schemas.microsoft.com/office/drawing/2014/main" val="136219337"/>
                    </a:ext>
                  </a:extLst>
                </a:gridCol>
                <a:gridCol w="1420239">
                  <a:extLst>
                    <a:ext uri="{9D8B030D-6E8A-4147-A177-3AD203B41FA5}">
                      <a16:colId xmlns:a16="http://schemas.microsoft.com/office/drawing/2014/main" val="322570224"/>
                    </a:ext>
                  </a:extLst>
                </a:gridCol>
                <a:gridCol w="849087">
                  <a:extLst>
                    <a:ext uri="{9D8B030D-6E8A-4147-A177-3AD203B41FA5}">
                      <a16:colId xmlns:a16="http://schemas.microsoft.com/office/drawing/2014/main" val="3266938421"/>
                    </a:ext>
                  </a:extLst>
                </a:gridCol>
              </a:tblGrid>
              <a:tr h="640080">
                <a:tc>
                  <a:txBody>
                    <a:bodyPr/>
                    <a:lstStyle/>
                    <a:p>
                      <a:r>
                        <a:rPr lang="en-US" sz="1200" dirty="0"/>
                        <a:t>INSTR[5]</a:t>
                      </a:r>
                    </a:p>
                  </a:txBody>
                  <a:tcPr/>
                </a:tc>
                <a:tc>
                  <a:txBody>
                    <a:bodyPr/>
                    <a:lstStyle/>
                    <a:p>
                      <a:r>
                        <a:rPr lang="en-US" sz="1200" dirty="0"/>
                        <a:t>INSTR[0]</a:t>
                      </a:r>
                    </a:p>
                  </a:txBody>
                  <a:tcPr/>
                </a:tc>
                <a:tc>
                  <a:txBody>
                    <a:bodyPr/>
                    <a:lstStyle/>
                    <a:p>
                      <a:r>
                        <a:rPr lang="en-US" sz="1200" dirty="0" err="1"/>
                        <a:t>ARSrc</a:t>
                      </a:r>
                      <a:r>
                        <a:rPr lang="en-US" sz="1200" dirty="0"/>
                        <a:t> Address Register</a:t>
                      </a:r>
                    </a:p>
                  </a:txBody>
                  <a:tcPr/>
                </a:tc>
                <a:tc>
                  <a:txBody>
                    <a:bodyPr/>
                    <a:lstStyle/>
                    <a:p>
                      <a:r>
                        <a:rPr lang="en-US" sz="1200" dirty="0"/>
                        <a:t>Command Parameter</a:t>
                      </a:r>
                    </a:p>
                  </a:txBody>
                  <a:tcPr/>
                </a:tc>
                <a:extLst>
                  <a:ext uri="{0D108BD9-81ED-4DB2-BD59-A6C34878D82A}">
                    <a16:rowId xmlns:a16="http://schemas.microsoft.com/office/drawing/2014/main" val="727245786"/>
                  </a:ext>
                </a:extLst>
              </a:tr>
              <a:tr h="274320">
                <a:tc>
                  <a:txBody>
                    <a:bodyPr/>
                    <a:lstStyle/>
                    <a:p>
                      <a:r>
                        <a:rPr lang="en-US" sz="1200"/>
                        <a:t>0</a:t>
                      </a:r>
                    </a:p>
                  </a:txBody>
                  <a:tcPr/>
                </a:tc>
                <a:tc>
                  <a:txBody>
                    <a:bodyPr/>
                    <a:lstStyle/>
                    <a:p>
                      <a:r>
                        <a:rPr lang="en-US" sz="1200" dirty="0"/>
                        <a:t>1</a:t>
                      </a:r>
                    </a:p>
                  </a:txBody>
                  <a:tcPr/>
                </a:tc>
                <a:tc>
                  <a:txBody>
                    <a:bodyPr/>
                    <a:lstStyle/>
                    <a:p>
                      <a:r>
                        <a:rPr lang="en-US" sz="1200" dirty="0"/>
                        <a:t>DP</a:t>
                      </a:r>
                    </a:p>
                  </a:txBody>
                  <a:tcPr>
                    <a:solidFill>
                      <a:schemeClr val="accent6">
                        <a:lumMod val="60000"/>
                        <a:lumOff val="40000"/>
                      </a:schemeClr>
                    </a:solidFill>
                  </a:tcPr>
                </a:tc>
                <a:tc>
                  <a:txBody>
                    <a:bodyPr/>
                    <a:lstStyle/>
                    <a:p>
                      <a:r>
                        <a:rPr lang="en-US" sz="1200" dirty="0"/>
                        <a:t>%DP</a:t>
                      </a:r>
                    </a:p>
                  </a:txBody>
                  <a:tcPr>
                    <a:solidFill>
                      <a:schemeClr val="accent6">
                        <a:lumMod val="60000"/>
                        <a:lumOff val="40000"/>
                      </a:schemeClr>
                    </a:solidFill>
                  </a:tcPr>
                </a:tc>
                <a:extLst>
                  <a:ext uri="{0D108BD9-81ED-4DB2-BD59-A6C34878D82A}">
                    <a16:rowId xmlns:a16="http://schemas.microsoft.com/office/drawing/2014/main" val="3427146651"/>
                  </a:ext>
                </a:extLst>
              </a:tr>
              <a:tr h="274320">
                <a:tc>
                  <a:txBody>
                    <a:bodyPr/>
                    <a:lstStyle/>
                    <a:p>
                      <a:r>
                        <a:rPr lang="en-US" sz="1200" dirty="0"/>
                        <a:t>1</a:t>
                      </a:r>
                    </a:p>
                  </a:txBody>
                  <a:tcPr/>
                </a:tc>
                <a:tc>
                  <a:txBody>
                    <a:bodyPr/>
                    <a:lstStyle/>
                    <a:p>
                      <a:r>
                        <a:rPr lang="en-US" sz="1200" dirty="0"/>
                        <a:t>1</a:t>
                      </a:r>
                    </a:p>
                  </a:txBody>
                  <a:tcPr/>
                </a:tc>
                <a:tc>
                  <a:txBody>
                    <a:bodyPr/>
                    <a:lstStyle/>
                    <a:p>
                      <a:r>
                        <a:rPr lang="en-US" sz="1200" dirty="0"/>
                        <a:t>BP</a:t>
                      </a:r>
                    </a:p>
                  </a:txBody>
                  <a:tcPr>
                    <a:solidFill>
                      <a:schemeClr val="accent6">
                        <a:lumMod val="60000"/>
                        <a:lumOff val="40000"/>
                      </a:schemeClr>
                    </a:solidFill>
                  </a:tcPr>
                </a:tc>
                <a:tc>
                  <a:txBody>
                    <a:bodyPr/>
                    <a:lstStyle/>
                    <a:p>
                      <a:r>
                        <a:rPr lang="en-US" sz="1200" dirty="0"/>
                        <a:t>%BP</a:t>
                      </a:r>
                    </a:p>
                  </a:txBody>
                  <a:tcPr>
                    <a:solidFill>
                      <a:schemeClr val="accent6">
                        <a:lumMod val="60000"/>
                        <a:lumOff val="40000"/>
                      </a:schemeClr>
                    </a:solidFill>
                  </a:tcPr>
                </a:tc>
                <a:extLst>
                  <a:ext uri="{0D108BD9-81ED-4DB2-BD59-A6C34878D82A}">
                    <a16:rowId xmlns:a16="http://schemas.microsoft.com/office/drawing/2014/main" val="1942712580"/>
                  </a:ext>
                </a:extLst>
              </a:tr>
            </a:tbl>
          </a:graphicData>
        </a:graphic>
      </p:graphicFrame>
      <p:sp>
        <p:nvSpPr>
          <p:cNvPr id="6" name="TextBox 5">
            <a:extLst>
              <a:ext uri="{FF2B5EF4-FFF2-40B4-BE49-F238E27FC236}">
                <a16:creationId xmlns:a16="http://schemas.microsoft.com/office/drawing/2014/main" id="{4544F394-A413-8D43-965C-5E8D0FFD3FBF}"/>
              </a:ext>
            </a:extLst>
          </p:cNvPr>
          <p:cNvSpPr txBox="1"/>
          <p:nvPr/>
        </p:nvSpPr>
        <p:spPr>
          <a:xfrm>
            <a:off x="6615405" y="4958332"/>
            <a:ext cx="3339376"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LDW R0, %DP, #4 </a:t>
            </a:r>
          </a:p>
        </p:txBody>
      </p:sp>
      <p:sp>
        <p:nvSpPr>
          <p:cNvPr id="7" name="TextBox 6">
            <a:extLst>
              <a:ext uri="{FF2B5EF4-FFF2-40B4-BE49-F238E27FC236}">
                <a16:creationId xmlns:a16="http://schemas.microsoft.com/office/drawing/2014/main" id="{E79F24B0-AD27-3974-CAD1-6C3F7AB0C10F}"/>
              </a:ext>
            </a:extLst>
          </p:cNvPr>
          <p:cNvSpPr txBox="1"/>
          <p:nvPr/>
        </p:nvSpPr>
        <p:spPr>
          <a:xfrm>
            <a:off x="6615404" y="4495763"/>
            <a:ext cx="3930884"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Rd = *(</a:t>
            </a:r>
            <a:r>
              <a:rPr lang="en-US" sz="2800" dirty="0" err="1">
                <a:solidFill>
                  <a:srgbClr val="00B050"/>
                </a:solidFill>
                <a:latin typeface="Consolas" panose="020B0609020204030204" pitchFamily="49" charset="0"/>
              </a:rPr>
              <a:t>ARSrc</a:t>
            </a:r>
            <a:r>
              <a:rPr lang="en-US" sz="2800" dirty="0">
                <a:solidFill>
                  <a:srgbClr val="00B050"/>
                </a:solidFill>
                <a:latin typeface="Consolas" panose="020B0609020204030204" pitchFamily="49" charset="0"/>
              </a:rPr>
              <a:t> + Imm)</a:t>
            </a:r>
          </a:p>
        </p:txBody>
      </p:sp>
      <p:graphicFrame>
        <p:nvGraphicFramePr>
          <p:cNvPr id="9" name="Table 4">
            <a:extLst>
              <a:ext uri="{FF2B5EF4-FFF2-40B4-BE49-F238E27FC236}">
                <a16:creationId xmlns:a16="http://schemas.microsoft.com/office/drawing/2014/main" id="{9F68824A-79E6-BDE7-58FF-3872F7A3B741}"/>
              </a:ext>
            </a:extLst>
          </p:cNvPr>
          <p:cNvGraphicFramePr>
            <a:graphicFrameLocks noGrp="1"/>
          </p:cNvGraphicFramePr>
          <p:nvPr>
            <p:extLst>
              <p:ext uri="{D42A27DB-BD31-4B8C-83A1-F6EECF244321}">
                <p14:modId xmlns:p14="http://schemas.microsoft.com/office/powerpoint/2010/main" val="672536172"/>
              </p:ext>
            </p:extLst>
          </p:nvPr>
        </p:nvGraphicFramePr>
        <p:xfrm>
          <a:off x="179752" y="742463"/>
          <a:ext cx="4329725" cy="5004175"/>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00345">
                <a:tc>
                  <a:txBody>
                    <a:bodyPr/>
                    <a:lstStyle/>
                    <a:p>
                      <a:pPr>
                        <a:lnSpc>
                          <a:spcPct val="100000"/>
                        </a:lnSpc>
                      </a:pPr>
                      <a:r>
                        <a:rPr lang="en-US" sz="700"/>
                        <a:t>Bit</a:t>
                      </a:r>
                    </a:p>
                  </a:txBody>
                  <a:tcPr anchor="ctr"/>
                </a:tc>
                <a:tc>
                  <a:txBody>
                    <a:bodyPr/>
                    <a:lstStyle/>
                    <a:p>
                      <a:pPr>
                        <a:lnSpc>
                          <a:spcPct val="100000"/>
                        </a:lnSpc>
                      </a:pPr>
                      <a:r>
                        <a:rPr lang="en-US" sz="700" dirty="0"/>
                        <a:t>Operation</a:t>
                      </a:r>
                    </a:p>
                  </a:txBody>
                  <a:tcPr anchor="ctr"/>
                </a:tc>
                <a:extLst>
                  <a:ext uri="{0D108BD9-81ED-4DB2-BD59-A6C34878D82A}">
                    <a16:rowId xmlns:a16="http://schemas.microsoft.com/office/drawing/2014/main" val="2319756336"/>
                  </a:ext>
                </a:extLst>
              </a:tr>
              <a:tr h="200345">
                <a:tc>
                  <a:txBody>
                    <a:bodyPr/>
                    <a:lstStyle/>
                    <a:p>
                      <a:pPr algn="ctr">
                        <a:lnSpc>
                          <a:spcPct val="100000"/>
                        </a:lnSpc>
                      </a:pPr>
                      <a:r>
                        <a:rPr lang="en-US" sz="700" dirty="0"/>
                        <a:t>23</a:t>
                      </a:r>
                    </a:p>
                  </a:txBody>
                  <a:tcPr anchor="ctr"/>
                </a:tc>
                <a:tc>
                  <a:txBody>
                    <a:bodyPr/>
                    <a:lstStyle/>
                    <a:p>
                      <a:pPr algn="l">
                        <a:lnSpc>
                          <a:spcPct val="100000"/>
                        </a:lnSpc>
                      </a:pPr>
                      <a:r>
                        <a:rPr lang="en-US" sz="700" dirty="0"/>
                        <a:t>Not Used</a:t>
                      </a:r>
                    </a:p>
                  </a:txBody>
                  <a:tcPr anchor="ctr"/>
                </a:tc>
                <a:extLst>
                  <a:ext uri="{0D108BD9-81ED-4DB2-BD59-A6C34878D82A}">
                    <a16:rowId xmlns:a16="http://schemas.microsoft.com/office/drawing/2014/main" val="3576468534"/>
                  </a:ext>
                </a:extLst>
              </a:tr>
              <a:tr h="200345">
                <a:tc>
                  <a:txBody>
                    <a:bodyPr/>
                    <a:lstStyle/>
                    <a:p>
                      <a:pPr algn="ctr">
                        <a:lnSpc>
                          <a:spcPct val="100000"/>
                        </a:lnSpc>
                      </a:pPr>
                      <a:r>
                        <a:rPr lang="en-US" sz="700" dirty="0"/>
                        <a:t>22</a:t>
                      </a:r>
                    </a:p>
                  </a:txBody>
                  <a:tcPr anchor="ctr"/>
                </a:tc>
                <a:tc>
                  <a:txBody>
                    <a:bodyPr/>
                    <a:lstStyle/>
                    <a:p>
                      <a:pPr algn="l">
                        <a:lnSpc>
                          <a:spcPct val="100000"/>
                        </a:lnSpc>
                      </a:pPr>
                      <a:r>
                        <a:rPr lang="en-US" sz="700" dirty="0" err="1"/>
                        <a:t>AddressHorL</a:t>
                      </a:r>
                      <a:endParaRPr lang="en-US" sz="700" dirty="0"/>
                    </a:p>
                  </a:txBody>
                  <a:tcPr anchor="ctr"/>
                </a:tc>
                <a:extLst>
                  <a:ext uri="{0D108BD9-81ED-4DB2-BD59-A6C34878D82A}">
                    <a16:rowId xmlns:a16="http://schemas.microsoft.com/office/drawing/2014/main" val="79971578"/>
                  </a:ext>
                </a:extLst>
              </a:tr>
              <a:tr h="200345">
                <a:tc>
                  <a:txBody>
                    <a:bodyPr/>
                    <a:lstStyle/>
                    <a:p>
                      <a:pPr algn="ctr">
                        <a:lnSpc>
                          <a:spcPct val="100000"/>
                        </a:lnSpc>
                      </a:pPr>
                      <a:r>
                        <a:rPr lang="en-US" sz="700" dirty="0"/>
                        <a:t>21</a:t>
                      </a:r>
                    </a:p>
                  </a:txBody>
                  <a:tcPr anchor="ctr"/>
                </a:tc>
                <a:tc>
                  <a:txBody>
                    <a:bodyPr/>
                    <a:lstStyle/>
                    <a:p>
                      <a:pPr algn="l">
                        <a:lnSpc>
                          <a:spcPct val="100000"/>
                        </a:lnSpc>
                      </a:pPr>
                      <a:r>
                        <a:rPr lang="en-US" sz="700" dirty="0" err="1"/>
                        <a:t>AddressBusToDataBus</a:t>
                      </a:r>
                      <a:endParaRPr lang="en-US" sz="700" dirty="0"/>
                    </a:p>
                  </a:txBody>
                  <a:tcPr anchor="ctr"/>
                </a:tc>
                <a:extLst>
                  <a:ext uri="{0D108BD9-81ED-4DB2-BD59-A6C34878D82A}">
                    <a16:rowId xmlns:a16="http://schemas.microsoft.com/office/drawing/2014/main" val="4135939119"/>
                  </a:ext>
                </a:extLst>
              </a:tr>
              <a:tr h="200345">
                <a:tc>
                  <a:txBody>
                    <a:bodyPr/>
                    <a:lstStyle/>
                    <a:p>
                      <a:pPr algn="ctr">
                        <a:lnSpc>
                          <a:spcPct val="100000"/>
                        </a:lnSpc>
                      </a:pPr>
                      <a:r>
                        <a:rPr lang="en-US" sz="700" dirty="0"/>
                        <a:t>20</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err="1"/>
                        <a:t>TmpARWrite</a:t>
                      </a:r>
                      <a:endParaRPr lang="en-US" sz="700"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9580944"/>
                  </a:ext>
                </a:extLst>
              </a:tr>
              <a:tr h="200345">
                <a:tc>
                  <a:txBody>
                    <a:bodyPr/>
                    <a:lstStyle/>
                    <a:p>
                      <a:pPr algn="ctr">
                        <a:lnSpc>
                          <a:spcPct val="100000"/>
                        </a:lnSpc>
                      </a:pPr>
                      <a:r>
                        <a:rPr lang="en-US" sz="700" dirty="0"/>
                        <a:t>19</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err="1"/>
                        <a:t>TmpARRead</a:t>
                      </a:r>
                      <a:endParaRPr lang="en-US" sz="700"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35159618"/>
                  </a:ext>
                </a:extLst>
              </a:tr>
              <a:tr h="200345">
                <a:tc>
                  <a:txBody>
                    <a:bodyPr/>
                    <a:lstStyle/>
                    <a:p>
                      <a:pPr algn="ctr">
                        <a:lnSpc>
                          <a:spcPct val="100000"/>
                        </a:lnSpc>
                      </a:pPr>
                      <a:r>
                        <a:rPr lang="en-US" sz="700" dirty="0"/>
                        <a:t>18</a:t>
                      </a:r>
                    </a:p>
                  </a:txBody>
                  <a:tcPr anchor="ctr"/>
                </a:tc>
                <a:tc>
                  <a:txBody>
                    <a:bodyPr/>
                    <a:lstStyle/>
                    <a:p>
                      <a:pPr algn="l">
                        <a:lnSpc>
                          <a:spcPct val="100000"/>
                        </a:lnSpc>
                      </a:pPr>
                      <a:r>
                        <a:rPr lang="en-US" sz="700" dirty="0" err="1"/>
                        <a:t>loadARHorL</a:t>
                      </a:r>
                      <a:endParaRPr lang="en-US" sz="700" dirty="0"/>
                    </a:p>
                  </a:txBody>
                  <a:tcPr anchor="ctr"/>
                </a:tc>
                <a:extLst>
                  <a:ext uri="{0D108BD9-81ED-4DB2-BD59-A6C34878D82A}">
                    <a16:rowId xmlns:a16="http://schemas.microsoft.com/office/drawing/2014/main" val="2357817394"/>
                  </a:ext>
                </a:extLst>
              </a:tr>
              <a:tr h="200345">
                <a:tc>
                  <a:txBody>
                    <a:bodyPr/>
                    <a:lstStyle/>
                    <a:p>
                      <a:pPr algn="ctr">
                        <a:lnSpc>
                          <a:spcPct val="100000"/>
                        </a:lnSpc>
                      </a:pPr>
                      <a:r>
                        <a:rPr lang="en-US" sz="700"/>
                        <a:t>17</a:t>
                      </a:r>
                    </a:p>
                  </a:txBody>
                  <a:tcPr anchor="ctr"/>
                </a:tc>
                <a:tc>
                  <a:txBody>
                    <a:bodyPr/>
                    <a:lstStyle/>
                    <a:p>
                      <a:pPr algn="l">
                        <a:lnSpc>
                          <a:spcPct val="100000"/>
                        </a:lnSpc>
                      </a:pPr>
                      <a:r>
                        <a:rPr lang="en-US" sz="700" dirty="0" err="1"/>
                        <a:t>loadAR</a:t>
                      </a:r>
                      <a:r>
                        <a:rPr lang="en-US" sz="700" dirty="0"/>
                        <a:t> (formerly: Load Special Pointer)</a:t>
                      </a:r>
                    </a:p>
                  </a:txBody>
                  <a:tcPr anchor="ctr"/>
                </a:tc>
                <a:extLst>
                  <a:ext uri="{0D108BD9-81ED-4DB2-BD59-A6C34878D82A}">
                    <a16:rowId xmlns:a16="http://schemas.microsoft.com/office/drawing/2014/main" val="2759210480"/>
                  </a:ext>
                </a:extLst>
              </a:tr>
              <a:tr h="200345">
                <a:tc>
                  <a:txBody>
                    <a:bodyPr/>
                    <a:lstStyle/>
                    <a:p>
                      <a:pPr algn="ctr">
                        <a:lnSpc>
                          <a:spcPct val="100000"/>
                        </a:lnSpc>
                      </a:pPr>
                      <a:r>
                        <a:rPr lang="en-US" sz="700" dirty="0"/>
                        <a:t>16</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Stack Pointer Increment / Decrement (0: decrease / 1: increase)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6363256"/>
                  </a:ext>
                </a:extLst>
              </a:tr>
              <a:tr h="200345">
                <a:tc>
                  <a:txBody>
                    <a:bodyPr/>
                    <a:lstStyle/>
                    <a:p>
                      <a:pPr algn="ctr">
                        <a:lnSpc>
                          <a:spcPct val="100000"/>
                        </a:lnSpc>
                      </a:pPr>
                      <a:r>
                        <a:rPr lang="en-US" sz="700"/>
                        <a:t>15</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Stack Pointer Count</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49660566"/>
                  </a:ext>
                </a:extLst>
              </a:tr>
              <a:tr h="200345">
                <a:tc>
                  <a:txBody>
                    <a:bodyPr/>
                    <a:lstStyle/>
                    <a:p>
                      <a:pPr algn="ctr">
                        <a:lnSpc>
                          <a:spcPct val="100000"/>
                        </a:lnSpc>
                      </a:pPr>
                      <a:r>
                        <a:rPr lang="en-US" sz="700"/>
                        <a:t>14</a:t>
                      </a:r>
                    </a:p>
                  </a:txBody>
                  <a:tcPr anchor="ctr"/>
                </a:tc>
                <a:tc>
                  <a:txBody>
                    <a:bodyPr/>
                    <a:lstStyle/>
                    <a:p>
                      <a:pPr algn="l">
                        <a:lnSpc>
                          <a:spcPct val="100000"/>
                        </a:lnSpc>
                      </a:pPr>
                      <a:r>
                        <a:rPr lang="en-US" sz="700" dirty="0"/>
                        <a:t>SP Out (formerly: RAM Address Select (0: Address register / 1: Stack pointer))</a:t>
                      </a:r>
                    </a:p>
                  </a:txBody>
                  <a:tcPr anchor="ctr"/>
                </a:tc>
                <a:extLst>
                  <a:ext uri="{0D108BD9-81ED-4DB2-BD59-A6C34878D82A}">
                    <a16:rowId xmlns:a16="http://schemas.microsoft.com/office/drawing/2014/main" val="645489424"/>
                  </a:ext>
                </a:extLst>
              </a:tr>
              <a:tr h="200345">
                <a:tc>
                  <a:txBody>
                    <a:bodyPr/>
                    <a:lstStyle/>
                    <a:p>
                      <a:pPr algn="ctr">
                        <a:lnSpc>
                          <a:spcPct val="100000"/>
                        </a:lnSpc>
                      </a:pPr>
                      <a:r>
                        <a:rPr lang="en-US" sz="700"/>
                        <a:t>13</a:t>
                      </a:r>
                    </a:p>
                  </a:txBody>
                  <a:tcPr anchor="ctr"/>
                </a:tc>
                <a:tc>
                  <a:txBody>
                    <a:bodyPr/>
                    <a:lstStyle/>
                    <a:p>
                      <a:pPr algn="l">
                        <a:lnSpc>
                          <a:spcPct val="100000"/>
                        </a:lnSpc>
                      </a:pPr>
                      <a:r>
                        <a:rPr lang="en-US" sz="700"/>
                        <a:t>Use Rd as Source</a:t>
                      </a:r>
                    </a:p>
                  </a:txBody>
                  <a:tcPr anchor="ctr"/>
                </a:tc>
                <a:extLst>
                  <a:ext uri="{0D108BD9-81ED-4DB2-BD59-A6C34878D82A}">
                    <a16:rowId xmlns:a16="http://schemas.microsoft.com/office/drawing/2014/main" val="2745442092"/>
                  </a:ext>
                </a:extLst>
              </a:tr>
              <a:tr h="200345">
                <a:tc>
                  <a:txBody>
                    <a:bodyPr/>
                    <a:lstStyle/>
                    <a:p>
                      <a:pPr algn="ctr">
                        <a:lnSpc>
                          <a:spcPct val="100000"/>
                        </a:lnSpc>
                      </a:pPr>
                      <a:r>
                        <a:rPr lang="en-US" sz="700" dirty="0"/>
                        <a:t>12</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Lower Address Register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762316"/>
                  </a:ext>
                </a:extLst>
              </a:tr>
              <a:tr h="200345">
                <a:tc>
                  <a:txBody>
                    <a:bodyPr/>
                    <a:lstStyle/>
                    <a:p>
                      <a:pPr algn="ctr">
                        <a:lnSpc>
                          <a:spcPct val="100000"/>
                        </a:lnSpc>
                      </a:pPr>
                      <a:r>
                        <a:rPr lang="en-US" sz="700"/>
                        <a:t>11</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Mem Write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66008767"/>
                  </a:ext>
                </a:extLst>
              </a:tr>
              <a:tr h="200345">
                <a:tc>
                  <a:txBody>
                    <a:bodyPr/>
                    <a:lstStyle/>
                    <a:p>
                      <a:pPr algn="ctr">
                        <a:lnSpc>
                          <a:spcPct val="100000"/>
                        </a:lnSpc>
                      </a:pPr>
                      <a:r>
                        <a:rPr lang="en-US" sz="700"/>
                        <a:t>10</a:t>
                      </a:r>
                    </a:p>
                  </a:txBody>
                  <a:tcPr anchor="ctr"/>
                </a:tc>
                <a:tc>
                  <a:txBody>
                    <a:bodyPr/>
                    <a:lstStyle/>
                    <a:p>
                      <a:pPr algn="l">
                        <a:lnSpc>
                          <a:spcPct val="100000"/>
                        </a:lnSpc>
                      </a:pPr>
                      <a:r>
                        <a:rPr lang="en-US" sz="700"/>
                        <a:t>Mem Read</a:t>
                      </a:r>
                    </a:p>
                  </a:txBody>
                  <a:tcPr anchor="ctr"/>
                </a:tc>
                <a:extLst>
                  <a:ext uri="{0D108BD9-81ED-4DB2-BD59-A6C34878D82A}">
                    <a16:rowId xmlns:a16="http://schemas.microsoft.com/office/drawing/2014/main" val="707415226"/>
                  </a:ext>
                </a:extLst>
              </a:tr>
              <a:tr h="200345">
                <a:tc>
                  <a:txBody>
                    <a:bodyPr/>
                    <a:lstStyle/>
                    <a:p>
                      <a:pPr algn="ctr">
                        <a:lnSpc>
                          <a:spcPct val="100000"/>
                        </a:lnSpc>
                      </a:pPr>
                      <a:r>
                        <a:rPr lang="en-US" sz="700"/>
                        <a:t>9</a:t>
                      </a:r>
                    </a:p>
                  </a:txBody>
                  <a:tcPr anchor="ctr"/>
                </a:tc>
                <a:tc>
                  <a:txBody>
                    <a:bodyPr/>
                    <a:lstStyle/>
                    <a:p>
                      <a:pPr algn="l">
                        <a:lnSpc>
                          <a:spcPct val="100000"/>
                        </a:lnSpc>
                      </a:pPr>
                      <a:r>
                        <a:rPr lang="en-US" sz="700"/>
                        <a:t>PC Out</a:t>
                      </a:r>
                    </a:p>
                  </a:txBody>
                  <a:tcPr anchor="ctr"/>
                </a:tc>
                <a:extLst>
                  <a:ext uri="{0D108BD9-81ED-4DB2-BD59-A6C34878D82A}">
                    <a16:rowId xmlns:a16="http://schemas.microsoft.com/office/drawing/2014/main" val="1663806429"/>
                  </a:ext>
                </a:extLst>
              </a:tr>
              <a:tr h="200345">
                <a:tc>
                  <a:txBody>
                    <a:bodyPr/>
                    <a:lstStyle/>
                    <a:p>
                      <a:pPr algn="ctr">
                        <a:lnSpc>
                          <a:spcPct val="100000"/>
                        </a:lnSpc>
                      </a:pPr>
                      <a:r>
                        <a:rPr lang="en-US" sz="700" dirty="0"/>
                        <a:t>8</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a:t>PC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27957"/>
                  </a:ext>
                </a:extLst>
              </a:tr>
              <a:tr h="200345">
                <a:tc>
                  <a:txBody>
                    <a:bodyPr/>
                    <a:lstStyle/>
                    <a:p>
                      <a:pPr algn="ctr">
                        <a:lnSpc>
                          <a:spcPct val="100000"/>
                        </a:lnSpc>
                      </a:pPr>
                      <a:r>
                        <a:rPr lang="en-US" sz="700"/>
                        <a:t>7</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PC advance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70910443"/>
                  </a:ext>
                </a:extLst>
              </a:tr>
              <a:tr h="200345">
                <a:tc>
                  <a:txBody>
                    <a:bodyPr/>
                    <a:lstStyle/>
                    <a:p>
                      <a:pPr algn="ctr">
                        <a:lnSpc>
                          <a:spcPct val="100000"/>
                        </a:lnSpc>
                      </a:pPr>
                      <a:r>
                        <a:rPr lang="en-US" sz="700"/>
                        <a:t>6</a:t>
                      </a:r>
                    </a:p>
                  </a:txBody>
                  <a:tcPr anchor="ctr"/>
                </a:tc>
                <a:tc>
                  <a:txBody>
                    <a:bodyPr/>
                    <a:lstStyle/>
                    <a:p>
                      <a:pPr algn="l">
                        <a:lnSpc>
                          <a:spcPct val="100000"/>
                        </a:lnSpc>
                      </a:pPr>
                      <a:r>
                        <a:rPr lang="en-US" sz="700"/>
                        <a:t>Program Register H Write to Bus (parameter)</a:t>
                      </a:r>
                    </a:p>
                  </a:txBody>
                  <a:tcPr anchor="ctr"/>
                </a:tc>
                <a:extLst>
                  <a:ext uri="{0D108BD9-81ED-4DB2-BD59-A6C34878D82A}">
                    <a16:rowId xmlns:a16="http://schemas.microsoft.com/office/drawing/2014/main" val="631651838"/>
                  </a:ext>
                </a:extLst>
              </a:tr>
              <a:tr h="200345">
                <a:tc>
                  <a:txBody>
                    <a:bodyPr/>
                    <a:lstStyle/>
                    <a:p>
                      <a:pPr algn="ctr">
                        <a:lnSpc>
                          <a:spcPct val="100000"/>
                        </a:lnSpc>
                      </a:pPr>
                      <a:r>
                        <a:rPr lang="en-US" sz="700"/>
                        <a:t>5</a:t>
                      </a:r>
                    </a:p>
                  </a:txBody>
                  <a:tcPr anchor="ctr"/>
                </a:tc>
                <a:tc>
                  <a:txBody>
                    <a:bodyPr/>
                    <a:lstStyle/>
                    <a:p>
                      <a:pPr algn="l">
                        <a:lnSpc>
                          <a:spcPct val="100000"/>
                        </a:lnSpc>
                      </a:pPr>
                      <a:r>
                        <a:rPr lang="en-US" sz="700"/>
                        <a:t>Register File Input Enable</a:t>
                      </a:r>
                    </a:p>
                  </a:txBody>
                  <a:tcPr anchor="ctr"/>
                </a:tc>
                <a:extLst>
                  <a:ext uri="{0D108BD9-81ED-4DB2-BD59-A6C34878D82A}">
                    <a16:rowId xmlns:a16="http://schemas.microsoft.com/office/drawing/2014/main" val="1592812184"/>
                  </a:ext>
                </a:extLst>
              </a:tr>
              <a:tr h="200345">
                <a:tc>
                  <a:txBody>
                    <a:bodyPr/>
                    <a:lstStyle/>
                    <a:p>
                      <a:pPr algn="ctr">
                        <a:lnSpc>
                          <a:spcPct val="100000"/>
                        </a:lnSpc>
                      </a:pPr>
                      <a:r>
                        <a:rPr lang="en-US" sz="700" dirty="0"/>
                        <a:t>4</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Register File Output Enable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5793510"/>
                  </a:ext>
                </a:extLst>
              </a:tr>
              <a:tr h="200345">
                <a:tc>
                  <a:txBody>
                    <a:bodyPr/>
                    <a:lstStyle/>
                    <a:p>
                      <a:pPr algn="ctr">
                        <a:lnSpc>
                          <a:spcPct val="100000"/>
                        </a:lnSpc>
                      </a:pPr>
                      <a:r>
                        <a:rPr lang="en-US" sz="700"/>
                        <a:t>3</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Register File Output Select (parameter – 0 -&gt; Rs1, 1 -&gt; Rs2)</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46366285"/>
                  </a:ext>
                </a:extLst>
              </a:tr>
              <a:tr h="0">
                <a:tc>
                  <a:txBody>
                    <a:bodyPr/>
                    <a:lstStyle/>
                    <a:p>
                      <a:pPr algn="ctr">
                        <a:lnSpc>
                          <a:spcPct val="100000"/>
                        </a:lnSpc>
                      </a:pPr>
                      <a:r>
                        <a:rPr lang="en-US" sz="700"/>
                        <a:t>2</a:t>
                      </a:r>
                    </a:p>
                  </a:txBody>
                  <a:tcPr anchor="ctr"/>
                </a:tc>
                <a:tc>
                  <a:txBody>
                    <a:bodyPr/>
                    <a:lstStyle/>
                    <a:p>
                      <a:pPr algn="l">
                        <a:lnSpc>
                          <a:spcPct val="100000"/>
                        </a:lnSpc>
                      </a:pPr>
                      <a:r>
                        <a:rPr lang="en-US" sz="700" dirty="0"/>
                        <a:t>ALU output enable</a:t>
                      </a:r>
                    </a:p>
                  </a:txBody>
                  <a:tcPr anchor="ctr"/>
                </a:tc>
                <a:extLst>
                  <a:ext uri="{0D108BD9-81ED-4DB2-BD59-A6C34878D82A}">
                    <a16:rowId xmlns:a16="http://schemas.microsoft.com/office/drawing/2014/main" val="2615342211"/>
                  </a:ext>
                </a:extLst>
              </a:tr>
              <a:tr h="156274">
                <a:tc>
                  <a:txBody>
                    <a:bodyPr/>
                    <a:lstStyle/>
                    <a:p>
                      <a:pPr algn="ctr">
                        <a:lnSpc>
                          <a:spcPct val="100000"/>
                        </a:lnSpc>
                      </a:pPr>
                      <a:r>
                        <a:rPr lang="en-US" sz="700"/>
                        <a:t>1</a:t>
                      </a:r>
                    </a:p>
                  </a:txBody>
                  <a:tcPr anchor="ctr"/>
                </a:tc>
                <a:tc>
                  <a:txBody>
                    <a:bodyPr/>
                    <a:lstStyle/>
                    <a:p>
                      <a:pPr algn="l">
                        <a:lnSpc>
                          <a:spcPct val="100000"/>
                        </a:lnSpc>
                      </a:pPr>
                      <a:r>
                        <a:rPr lang="en-US" sz="700" dirty="0"/>
                        <a:t>ALU load register A</a:t>
                      </a:r>
                    </a:p>
                  </a:txBody>
                  <a:tcPr marT="0" anchor="ctr"/>
                </a:tc>
                <a:extLst>
                  <a:ext uri="{0D108BD9-81ED-4DB2-BD59-A6C34878D82A}">
                    <a16:rowId xmlns:a16="http://schemas.microsoft.com/office/drawing/2014/main" val="2055856817"/>
                  </a:ext>
                </a:extLst>
              </a:tr>
              <a:tr h="200345">
                <a:tc>
                  <a:txBody>
                    <a:bodyPr/>
                    <a:lstStyle/>
                    <a:p>
                      <a:pPr algn="ctr">
                        <a:lnSpc>
                          <a:spcPct val="100000"/>
                        </a:lnSpc>
                      </a:pPr>
                      <a:r>
                        <a:rPr lang="en-US" sz="700"/>
                        <a:t>0</a:t>
                      </a:r>
                    </a:p>
                  </a:txBody>
                  <a:tcPr anchor="ctr"/>
                </a:tc>
                <a:tc>
                  <a:txBody>
                    <a:bodyPr/>
                    <a:lstStyle/>
                    <a:p>
                      <a:pPr algn="l">
                        <a:lnSpc>
                          <a:spcPct val="100000"/>
                        </a:lnSpc>
                      </a:pPr>
                      <a:r>
                        <a:rPr lang="en-US" sz="700" dirty="0"/>
                        <a:t>ALU load register B</a:t>
                      </a:r>
                    </a:p>
                  </a:txBody>
                  <a:tcPr anchor="ct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926979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2BFAE-2BDB-2E30-9E79-6CF7D052BD04}"/>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9E88296B-E9B1-10A4-22D9-3D3286586057}"/>
              </a:ext>
            </a:extLst>
          </p:cNvPr>
          <p:cNvSpPr>
            <a:spLocks noGrp="1"/>
          </p:cNvSpPr>
          <p:nvPr>
            <p:ph type="ctrTitle"/>
          </p:nvPr>
        </p:nvSpPr>
        <p:spPr>
          <a:xfrm>
            <a:off x="914400" y="182880"/>
            <a:ext cx="9144000" cy="457200"/>
          </a:xfrm>
        </p:spPr>
        <p:txBody>
          <a:bodyPr/>
          <a:lstStyle/>
          <a:p>
            <a:r>
              <a:rPr lang="en-US" dirty="0"/>
              <a:t>Micro-Instructions Control: Store Data Byte with Offset 1 (SDW1) (10110)</a:t>
            </a:r>
          </a:p>
        </p:txBody>
      </p:sp>
      <p:graphicFrame>
        <p:nvGraphicFramePr>
          <p:cNvPr id="5" name="Table 4">
            <a:extLst>
              <a:ext uri="{FF2B5EF4-FFF2-40B4-BE49-F238E27FC236}">
                <a16:creationId xmlns:a16="http://schemas.microsoft.com/office/drawing/2014/main" id="{B2DF9C6D-E18C-FB77-F334-7A3B7C81B964}"/>
              </a:ext>
            </a:extLst>
          </p:cNvPr>
          <p:cNvGraphicFramePr>
            <a:graphicFrameLocks noGrp="1"/>
          </p:cNvGraphicFramePr>
          <p:nvPr>
            <p:extLst>
              <p:ext uri="{D42A27DB-BD31-4B8C-83A1-F6EECF244321}">
                <p14:modId xmlns:p14="http://schemas.microsoft.com/office/powerpoint/2010/main" val="3802436728"/>
              </p:ext>
            </p:extLst>
          </p:nvPr>
        </p:nvGraphicFramePr>
        <p:xfrm>
          <a:off x="4716581" y="742463"/>
          <a:ext cx="6249874" cy="1914639"/>
        </p:xfrm>
        <a:graphic>
          <a:graphicData uri="http://schemas.openxmlformats.org/drawingml/2006/table">
            <a:tbl>
              <a:tblPr firstRow="1" bandRow="1">
                <a:tableStyleId>{5C22544A-7EE6-4342-B048-85BDC9FD1C3A}</a:tableStyleId>
              </a:tblPr>
              <a:tblGrid>
                <a:gridCol w="948528">
                  <a:extLst>
                    <a:ext uri="{9D8B030D-6E8A-4147-A177-3AD203B41FA5}">
                      <a16:colId xmlns:a16="http://schemas.microsoft.com/office/drawing/2014/main" val="1217920130"/>
                    </a:ext>
                  </a:extLst>
                </a:gridCol>
                <a:gridCol w="2465917">
                  <a:extLst>
                    <a:ext uri="{9D8B030D-6E8A-4147-A177-3AD203B41FA5}">
                      <a16:colId xmlns:a16="http://schemas.microsoft.com/office/drawing/2014/main" val="1475888205"/>
                    </a:ext>
                  </a:extLst>
                </a:gridCol>
                <a:gridCol w="2835429">
                  <a:extLst>
                    <a:ext uri="{9D8B030D-6E8A-4147-A177-3AD203B41FA5}">
                      <a16:colId xmlns:a16="http://schemas.microsoft.com/office/drawing/2014/main" val="2801792198"/>
                    </a:ext>
                  </a:extLst>
                </a:gridCol>
              </a:tblGrid>
              <a:tr h="324599">
                <a:tc>
                  <a:txBody>
                    <a:bodyPr/>
                    <a:lstStyle/>
                    <a:p>
                      <a:r>
                        <a:rPr lang="en-US" sz="1200" dirty="0"/>
                        <a:t>Cycle #</a:t>
                      </a:r>
                    </a:p>
                  </a:txBody>
                  <a:tcPr/>
                </a:tc>
                <a:tc>
                  <a:txBody>
                    <a:bodyPr/>
                    <a:lstStyle/>
                    <a:p>
                      <a:r>
                        <a:rPr lang="en-US" sz="1200" dirty="0"/>
                        <a:t>Instruction</a:t>
                      </a:r>
                    </a:p>
                  </a:txBody>
                  <a:tcPr/>
                </a:tc>
                <a:tc>
                  <a:txBody>
                    <a:bodyPr/>
                    <a:lstStyle/>
                    <a:p>
                      <a:r>
                        <a:rPr lang="en-US" sz="1200"/>
                        <a:t>Explanation</a:t>
                      </a:r>
                    </a:p>
                  </a:txBody>
                  <a:tcPr/>
                </a:tc>
                <a:extLst>
                  <a:ext uri="{0D108BD9-81ED-4DB2-BD59-A6C34878D82A}">
                    <a16:rowId xmlns:a16="http://schemas.microsoft.com/office/drawing/2014/main" val="2319756336"/>
                  </a:ext>
                </a:extLst>
              </a:tr>
              <a:tr h="579120">
                <a:tc>
                  <a:txBody>
                    <a:bodyPr/>
                    <a:lstStyle/>
                    <a:p>
                      <a:pPr algn="ctr"/>
                      <a:r>
                        <a:rPr lang="en-US" sz="1200"/>
                        <a:t>0</a:t>
                      </a:r>
                    </a:p>
                  </a:txBody>
                  <a:tcPr/>
                </a:tc>
                <a:tc>
                  <a:txBody>
                    <a:bodyPr/>
                    <a:lstStyle/>
                    <a:p>
                      <a:pPr algn="l"/>
                      <a:r>
                        <a:rPr lang="en-US" sz="1200" dirty="0"/>
                        <a:t>0x08_00_40</a:t>
                      </a:r>
                    </a:p>
                  </a:txBody>
                  <a:tcPr/>
                </a:tc>
                <a:tc>
                  <a:txBody>
                    <a:bodyPr/>
                    <a:lstStyle/>
                    <a:p>
                      <a:pPr algn="l"/>
                      <a:r>
                        <a:rPr lang="en-US" sz="1200" dirty="0"/>
                        <a:t>Write Imm to the Data Bus, write </a:t>
                      </a:r>
                      <a:r>
                        <a:rPr lang="en-US" sz="1200" dirty="0" err="1"/>
                        <a:t>ARSrc</a:t>
                      </a:r>
                      <a:r>
                        <a:rPr lang="en-US" sz="1200" dirty="0"/>
                        <a:t> to the Address Bus, and set </a:t>
                      </a:r>
                      <a:r>
                        <a:rPr lang="en-US" sz="1200" dirty="0" err="1"/>
                        <a:t>TmpAR</a:t>
                      </a:r>
                      <a:r>
                        <a:rPr lang="en-US" sz="1200" dirty="0"/>
                        <a:t> to read.</a:t>
                      </a:r>
                    </a:p>
                  </a:txBody>
                  <a:tcPr/>
                </a:tc>
                <a:extLst>
                  <a:ext uri="{0D108BD9-81ED-4DB2-BD59-A6C34878D82A}">
                    <a16:rowId xmlns:a16="http://schemas.microsoft.com/office/drawing/2014/main" val="2570910443"/>
                  </a:ext>
                </a:extLst>
              </a:tr>
              <a:tr h="579120">
                <a:tc>
                  <a:txBody>
                    <a:bodyPr/>
                    <a:lstStyle/>
                    <a:p>
                      <a:pPr algn="ctr"/>
                      <a:r>
                        <a:rPr lang="en-US" sz="12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0x10_28_10</a:t>
                      </a:r>
                    </a:p>
                  </a:txBody>
                  <a:tcPr/>
                </a:tc>
                <a:tc>
                  <a:txBody>
                    <a:bodyPr/>
                    <a:lstStyle/>
                    <a:p>
                      <a:pPr algn="l"/>
                      <a:r>
                        <a:rPr lang="en-US" sz="1200" dirty="0"/>
                        <a:t>Write </a:t>
                      </a:r>
                      <a:r>
                        <a:rPr lang="en-US" sz="1200" dirty="0" err="1"/>
                        <a:t>TmpAR</a:t>
                      </a:r>
                      <a:r>
                        <a:rPr lang="en-US" sz="1200" dirty="0"/>
                        <a:t> to the Address Bus, write Rs (Rd) to the Data Bus, and set Memory to read from the Data Bus.</a:t>
                      </a:r>
                    </a:p>
                  </a:txBody>
                  <a:tcPr/>
                </a:tc>
                <a:extLst>
                  <a:ext uri="{0D108BD9-81ED-4DB2-BD59-A6C34878D82A}">
                    <a16:rowId xmlns:a16="http://schemas.microsoft.com/office/drawing/2014/main" val="631651838"/>
                  </a:ext>
                </a:extLst>
              </a:tr>
              <a:tr h="370840">
                <a:tc>
                  <a:txBody>
                    <a:bodyPr/>
                    <a:lstStyle/>
                    <a:p>
                      <a:pPr algn="ctr"/>
                      <a:r>
                        <a:rPr lang="en-US" sz="12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0x00_00_80</a:t>
                      </a:r>
                    </a:p>
                  </a:txBody>
                  <a:tcPr/>
                </a:tc>
                <a:tc>
                  <a:txBody>
                    <a:bodyPr/>
                    <a:lstStyle/>
                    <a:p>
                      <a:pPr algn="l"/>
                      <a:r>
                        <a:rPr lang="en-US" sz="1200" dirty="0"/>
                        <a:t>Advance PC.</a:t>
                      </a:r>
                    </a:p>
                  </a:txBody>
                  <a:tcPr/>
                </a:tc>
                <a:extLst>
                  <a:ext uri="{0D108BD9-81ED-4DB2-BD59-A6C34878D82A}">
                    <a16:rowId xmlns:a16="http://schemas.microsoft.com/office/drawing/2014/main" val="1592812184"/>
                  </a:ext>
                </a:extLst>
              </a:tr>
            </a:tbl>
          </a:graphicData>
        </a:graphic>
      </p:graphicFrame>
      <p:pic>
        <p:nvPicPr>
          <p:cNvPr id="2" name="Picture 1">
            <a:hlinkClick r:id="rId3" action="ppaction://hlinksldjump"/>
            <a:extLst>
              <a:ext uri="{FF2B5EF4-FFF2-40B4-BE49-F238E27FC236}">
                <a16:creationId xmlns:a16="http://schemas.microsoft.com/office/drawing/2014/main" id="{B8AE6F08-AF30-067F-3036-58069DAC93EE}"/>
              </a:ext>
            </a:extLst>
          </p:cNvPr>
          <p:cNvPicPr>
            <a:picLocks noChangeAspect="1"/>
          </p:cNvPicPr>
          <p:nvPr/>
        </p:nvPicPr>
        <p:blipFill>
          <a:blip r:embed="rId4"/>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1808A1A7-AB55-1E12-65C3-1EF83ECA8904}"/>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62</a:t>
            </a:fld>
            <a:endParaRPr lang="en-US" b="1">
              <a:solidFill>
                <a:schemeClr val="bg1"/>
              </a:solidFill>
            </a:endParaRPr>
          </a:p>
        </p:txBody>
      </p:sp>
      <p:graphicFrame>
        <p:nvGraphicFramePr>
          <p:cNvPr id="3" name="Table 4">
            <a:extLst>
              <a:ext uri="{FF2B5EF4-FFF2-40B4-BE49-F238E27FC236}">
                <a16:creationId xmlns:a16="http://schemas.microsoft.com/office/drawing/2014/main" id="{FD4D6F06-8088-1C32-ADFB-A52488FEDA10}"/>
              </a:ext>
            </a:extLst>
          </p:cNvPr>
          <p:cNvGraphicFramePr>
            <a:graphicFrameLocks noGrp="1"/>
          </p:cNvGraphicFramePr>
          <p:nvPr>
            <p:extLst>
              <p:ext uri="{D42A27DB-BD31-4B8C-83A1-F6EECF244321}">
                <p14:modId xmlns:p14="http://schemas.microsoft.com/office/powerpoint/2010/main" val="1593699586"/>
              </p:ext>
            </p:extLst>
          </p:nvPr>
        </p:nvGraphicFramePr>
        <p:xfrm>
          <a:off x="179752" y="5818357"/>
          <a:ext cx="10583500" cy="594360"/>
        </p:xfrm>
        <a:graphic>
          <a:graphicData uri="http://schemas.openxmlformats.org/drawingml/2006/table">
            <a:tbl>
              <a:tblPr firstRow="1" bandRow="1">
                <a:tableStyleId>{5C22544A-7EE6-4342-B048-85BDC9FD1C3A}</a:tableStyleId>
              </a:tblPr>
              <a:tblGrid>
                <a:gridCol w="998667">
                  <a:extLst>
                    <a:ext uri="{9D8B030D-6E8A-4147-A177-3AD203B41FA5}">
                      <a16:colId xmlns:a16="http://schemas.microsoft.com/office/drawing/2014/main" val="1810408170"/>
                    </a:ext>
                  </a:extLst>
                </a:gridCol>
                <a:gridCol w="970585">
                  <a:extLst>
                    <a:ext uri="{9D8B030D-6E8A-4147-A177-3AD203B41FA5}">
                      <a16:colId xmlns:a16="http://schemas.microsoft.com/office/drawing/2014/main" val="950391025"/>
                    </a:ext>
                  </a:extLst>
                </a:gridCol>
                <a:gridCol w="882483">
                  <a:extLst>
                    <a:ext uri="{9D8B030D-6E8A-4147-A177-3AD203B41FA5}">
                      <a16:colId xmlns:a16="http://schemas.microsoft.com/office/drawing/2014/main" val="1217920130"/>
                    </a:ext>
                  </a:extLst>
                </a:gridCol>
                <a:gridCol w="1402159">
                  <a:extLst>
                    <a:ext uri="{9D8B030D-6E8A-4147-A177-3AD203B41FA5}">
                      <a16:colId xmlns:a16="http://schemas.microsoft.com/office/drawing/2014/main" val="1475888205"/>
                    </a:ext>
                  </a:extLst>
                </a:gridCol>
                <a:gridCol w="1609969">
                  <a:extLst>
                    <a:ext uri="{9D8B030D-6E8A-4147-A177-3AD203B41FA5}">
                      <a16:colId xmlns:a16="http://schemas.microsoft.com/office/drawing/2014/main" val="1355185516"/>
                    </a:ext>
                  </a:extLst>
                </a:gridCol>
                <a:gridCol w="1304925">
                  <a:extLst>
                    <a:ext uri="{9D8B030D-6E8A-4147-A177-3AD203B41FA5}">
                      <a16:colId xmlns:a16="http://schemas.microsoft.com/office/drawing/2014/main" val="1039846299"/>
                    </a:ext>
                  </a:extLst>
                </a:gridCol>
                <a:gridCol w="3414712">
                  <a:extLst>
                    <a:ext uri="{9D8B030D-6E8A-4147-A177-3AD203B41FA5}">
                      <a16:colId xmlns:a16="http://schemas.microsoft.com/office/drawing/2014/main" val="3099546510"/>
                    </a:ext>
                  </a:extLst>
                </a:gridCol>
              </a:tblGrid>
              <a:tr h="297180">
                <a:tc>
                  <a:txBody>
                    <a:bodyPr/>
                    <a:lstStyle/>
                    <a:p>
                      <a:r>
                        <a:rPr lang="en-US" sz="1300" dirty="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dirty="0"/>
                        <a:t>SDW</a:t>
                      </a:r>
                    </a:p>
                  </a:txBody>
                  <a:tcPr>
                    <a:solidFill>
                      <a:schemeClr val="accent6"/>
                    </a:solidFill>
                  </a:tcPr>
                </a:tc>
                <a:tc gridSpan="3">
                  <a:txBody>
                    <a:bodyPr/>
                    <a:lstStyle/>
                    <a:p>
                      <a:pPr algn="ctr"/>
                      <a:r>
                        <a:rPr lang="en-US" sz="1300"/>
                        <a:t>Immediate (8-bit)</a:t>
                      </a:r>
                    </a:p>
                  </a:txBody>
                  <a:tcPr/>
                </a:tc>
                <a:tc hMerge="1">
                  <a:txBody>
                    <a:bodyPr/>
                    <a:lstStyle/>
                    <a:p>
                      <a:pPr algn="ctr"/>
                      <a:endParaRPr lang="en-US"/>
                    </a:p>
                  </a:txBody>
                  <a:tcPr/>
                </a:tc>
                <a:tc hMerge="1">
                  <a:txBody>
                    <a:bodyPr/>
                    <a:lstStyle/>
                    <a:p>
                      <a:pPr algn="ctr"/>
                      <a:r>
                        <a:rPr lang="en-US"/>
                        <a:t>Immediate (8-bit)</a:t>
                      </a:r>
                    </a:p>
                  </a:txBody>
                  <a:tcPr/>
                </a:tc>
                <a:tc>
                  <a:txBody>
                    <a:bodyPr/>
                    <a:lstStyle/>
                    <a:p>
                      <a:pPr algn="ctr"/>
                      <a:r>
                        <a:rPr lang="en-US" sz="1300" dirty="0"/>
                        <a:t>Rs (Rd)</a:t>
                      </a:r>
                    </a:p>
                  </a:txBody>
                  <a:tcPr/>
                </a:tc>
                <a:tc>
                  <a:txBody>
                    <a:bodyPr/>
                    <a:lstStyle/>
                    <a:p>
                      <a:pPr algn="ctr"/>
                      <a:r>
                        <a:rPr lang="en-US" sz="1300" dirty="0" err="1"/>
                        <a:t>ARSrc</a:t>
                      </a:r>
                      <a:r>
                        <a:rPr lang="en-US" sz="1300" dirty="0"/>
                        <a:t>[1]</a:t>
                      </a:r>
                    </a:p>
                  </a:txBody>
                  <a:tcPr/>
                </a:tc>
                <a:tc>
                  <a:txBody>
                    <a:bodyPr/>
                    <a:lstStyle/>
                    <a:p>
                      <a:pPr algn="ctr"/>
                      <a:r>
                        <a:rPr lang="en-US" sz="1300" dirty="0" err="1"/>
                        <a:t>OpCode</a:t>
                      </a:r>
                      <a:r>
                        <a:rPr lang="en-US" sz="1300" dirty="0"/>
                        <a:t>=16 (and </a:t>
                      </a:r>
                      <a:r>
                        <a:rPr lang="en-US" sz="1300" dirty="0" err="1"/>
                        <a:t>ARSrc</a:t>
                      </a:r>
                      <a:r>
                        <a:rPr lang="en-US" sz="1300" dirty="0"/>
                        <a:t>[0] = 0)</a:t>
                      </a:r>
                    </a:p>
                  </a:txBody>
                  <a:tcPr/>
                </a:tc>
                <a:extLst>
                  <a:ext uri="{0D108BD9-81ED-4DB2-BD59-A6C34878D82A}">
                    <a16:rowId xmlns:a16="http://schemas.microsoft.com/office/drawing/2014/main" val="2570910443"/>
                  </a:ext>
                </a:extLst>
              </a:tr>
            </a:tbl>
          </a:graphicData>
        </a:graphic>
      </p:graphicFrame>
      <p:sp>
        <p:nvSpPr>
          <p:cNvPr id="4" name="TextBox 3">
            <a:extLst>
              <a:ext uri="{FF2B5EF4-FFF2-40B4-BE49-F238E27FC236}">
                <a16:creationId xmlns:a16="http://schemas.microsoft.com/office/drawing/2014/main" id="{ABDD12CA-91D0-BB27-5BE6-55AB3997A132}"/>
              </a:ext>
            </a:extLst>
          </p:cNvPr>
          <p:cNvSpPr txBox="1"/>
          <p:nvPr/>
        </p:nvSpPr>
        <p:spPr>
          <a:xfrm>
            <a:off x="10966456" y="2"/>
            <a:ext cx="1223412" cy="1323439"/>
          </a:xfrm>
          <a:prstGeom prst="rect">
            <a:avLst/>
          </a:prstGeom>
          <a:noFill/>
        </p:spPr>
        <p:txBody>
          <a:bodyPr wrap="none" rtlCol="0">
            <a:spAutoFit/>
          </a:bodyPr>
          <a:lstStyle/>
          <a:p>
            <a:r>
              <a:rPr lang="en-US" sz="8000" dirty="0">
                <a:solidFill>
                  <a:schemeClr val="accent1">
                    <a:lumMod val="60000"/>
                    <a:lumOff val="40000"/>
                  </a:schemeClr>
                </a:solidFill>
              </a:rPr>
              <a:t>16</a:t>
            </a:r>
          </a:p>
        </p:txBody>
      </p:sp>
      <p:graphicFrame>
        <p:nvGraphicFramePr>
          <p:cNvPr id="8" name="Table 6">
            <a:extLst>
              <a:ext uri="{FF2B5EF4-FFF2-40B4-BE49-F238E27FC236}">
                <a16:creationId xmlns:a16="http://schemas.microsoft.com/office/drawing/2014/main" id="{9ED5A634-59A7-51C3-7253-CF9583555F36}"/>
              </a:ext>
            </a:extLst>
          </p:cNvPr>
          <p:cNvGraphicFramePr>
            <a:graphicFrameLocks noGrp="1"/>
          </p:cNvGraphicFramePr>
          <p:nvPr/>
        </p:nvGraphicFramePr>
        <p:xfrm>
          <a:off x="5576596" y="3030889"/>
          <a:ext cx="3857535" cy="1188720"/>
        </p:xfrm>
        <a:graphic>
          <a:graphicData uri="http://schemas.openxmlformats.org/drawingml/2006/table">
            <a:tbl>
              <a:tblPr firstRow="1" bandRow="1">
                <a:tableStyleId>{5C22544A-7EE6-4342-B048-85BDC9FD1C3A}</a:tableStyleId>
              </a:tblPr>
              <a:tblGrid>
                <a:gridCol w="776078">
                  <a:extLst>
                    <a:ext uri="{9D8B030D-6E8A-4147-A177-3AD203B41FA5}">
                      <a16:colId xmlns:a16="http://schemas.microsoft.com/office/drawing/2014/main" val="3639428745"/>
                    </a:ext>
                  </a:extLst>
                </a:gridCol>
                <a:gridCol w="812131">
                  <a:extLst>
                    <a:ext uri="{9D8B030D-6E8A-4147-A177-3AD203B41FA5}">
                      <a16:colId xmlns:a16="http://schemas.microsoft.com/office/drawing/2014/main" val="136219337"/>
                    </a:ext>
                  </a:extLst>
                </a:gridCol>
                <a:gridCol w="1420239">
                  <a:extLst>
                    <a:ext uri="{9D8B030D-6E8A-4147-A177-3AD203B41FA5}">
                      <a16:colId xmlns:a16="http://schemas.microsoft.com/office/drawing/2014/main" val="322570224"/>
                    </a:ext>
                  </a:extLst>
                </a:gridCol>
                <a:gridCol w="849087">
                  <a:extLst>
                    <a:ext uri="{9D8B030D-6E8A-4147-A177-3AD203B41FA5}">
                      <a16:colId xmlns:a16="http://schemas.microsoft.com/office/drawing/2014/main" val="3266938421"/>
                    </a:ext>
                  </a:extLst>
                </a:gridCol>
              </a:tblGrid>
              <a:tr h="640080">
                <a:tc>
                  <a:txBody>
                    <a:bodyPr/>
                    <a:lstStyle/>
                    <a:p>
                      <a:r>
                        <a:rPr lang="en-US" sz="1200" dirty="0"/>
                        <a:t>INSTR[5]</a:t>
                      </a:r>
                    </a:p>
                  </a:txBody>
                  <a:tcPr/>
                </a:tc>
                <a:tc>
                  <a:txBody>
                    <a:bodyPr/>
                    <a:lstStyle/>
                    <a:p>
                      <a:r>
                        <a:rPr lang="en-US" sz="1200" dirty="0"/>
                        <a:t>INSTR[0]</a:t>
                      </a:r>
                    </a:p>
                  </a:txBody>
                  <a:tcPr/>
                </a:tc>
                <a:tc>
                  <a:txBody>
                    <a:bodyPr/>
                    <a:lstStyle/>
                    <a:p>
                      <a:r>
                        <a:rPr lang="en-US" sz="1200" dirty="0" err="1"/>
                        <a:t>ARSrc</a:t>
                      </a:r>
                      <a:r>
                        <a:rPr lang="en-US" sz="1200" dirty="0"/>
                        <a:t> Address Register</a:t>
                      </a:r>
                    </a:p>
                  </a:txBody>
                  <a:tcPr/>
                </a:tc>
                <a:tc>
                  <a:txBody>
                    <a:bodyPr/>
                    <a:lstStyle/>
                    <a:p>
                      <a:r>
                        <a:rPr lang="en-US" sz="1200" dirty="0"/>
                        <a:t>Command Parameter</a:t>
                      </a:r>
                    </a:p>
                  </a:txBody>
                  <a:tcPr/>
                </a:tc>
                <a:extLst>
                  <a:ext uri="{0D108BD9-81ED-4DB2-BD59-A6C34878D82A}">
                    <a16:rowId xmlns:a16="http://schemas.microsoft.com/office/drawing/2014/main" val="727245786"/>
                  </a:ext>
                </a:extLst>
              </a:tr>
              <a:tr h="274320">
                <a:tc>
                  <a:txBody>
                    <a:bodyPr/>
                    <a:lstStyle/>
                    <a:p>
                      <a:r>
                        <a:rPr lang="en-US" sz="1200"/>
                        <a:t>0</a:t>
                      </a:r>
                    </a:p>
                  </a:txBody>
                  <a:tcPr/>
                </a:tc>
                <a:tc>
                  <a:txBody>
                    <a:bodyPr/>
                    <a:lstStyle/>
                    <a:p>
                      <a:r>
                        <a:rPr lang="en-US" sz="1200" dirty="0"/>
                        <a:t>0</a:t>
                      </a:r>
                    </a:p>
                  </a:txBody>
                  <a:tcPr/>
                </a:tc>
                <a:tc>
                  <a:txBody>
                    <a:bodyPr/>
                    <a:lstStyle/>
                    <a:p>
                      <a:r>
                        <a:rPr lang="en-US" sz="1200" dirty="0"/>
                        <a:t>PC ({PC[H], PC[L]})</a:t>
                      </a:r>
                    </a:p>
                  </a:txBody>
                  <a:tcPr>
                    <a:solidFill>
                      <a:schemeClr val="accent6">
                        <a:lumMod val="60000"/>
                        <a:lumOff val="40000"/>
                      </a:schemeClr>
                    </a:solidFill>
                  </a:tcPr>
                </a:tc>
                <a:tc>
                  <a:txBody>
                    <a:bodyPr/>
                    <a:lstStyle/>
                    <a:p>
                      <a:r>
                        <a:rPr lang="en-US" sz="1200" dirty="0"/>
                        <a:t>%PC</a:t>
                      </a:r>
                    </a:p>
                  </a:txBody>
                  <a:tcPr>
                    <a:solidFill>
                      <a:schemeClr val="accent6">
                        <a:lumMod val="60000"/>
                        <a:lumOff val="40000"/>
                      </a:schemeClr>
                    </a:solidFill>
                  </a:tcPr>
                </a:tc>
                <a:extLst>
                  <a:ext uri="{0D108BD9-81ED-4DB2-BD59-A6C34878D82A}">
                    <a16:rowId xmlns:a16="http://schemas.microsoft.com/office/drawing/2014/main" val="3427146651"/>
                  </a:ext>
                </a:extLst>
              </a:tr>
              <a:tr h="274320">
                <a:tc>
                  <a:txBody>
                    <a:bodyPr/>
                    <a:lstStyle/>
                    <a:p>
                      <a:r>
                        <a:rPr lang="en-US" sz="1200" dirty="0"/>
                        <a:t>1</a:t>
                      </a:r>
                    </a:p>
                  </a:txBody>
                  <a:tcPr/>
                </a:tc>
                <a:tc>
                  <a:txBody>
                    <a:bodyPr/>
                    <a:lstStyle/>
                    <a:p>
                      <a:r>
                        <a:rPr lang="en-US" sz="1200" dirty="0"/>
                        <a:t>0</a:t>
                      </a:r>
                    </a:p>
                  </a:txBody>
                  <a:tcPr/>
                </a:tc>
                <a:tc>
                  <a:txBody>
                    <a:bodyPr/>
                    <a:lstStyle/>
                    <a:p>
                      <a:r>
                        <a:rPr lang="en-US" sz="1200" dirty="0"/>
                        <a:t>SP</a:t>
                      </a:r>
                    </a:p>
                  </a:txBody>
                  <a:tcPr>
                    <a:solidFill>
                      <a:schemeClr val="accent6">
                        <a:lumMod val="60000"/>
                        <a:lumOff val="40000"/>
                      </a:schemeClr>
                    </a:solidFill>
                  </a:tcPr>
                </a:tc>
                <a:tc>
                  <a:txBody>
                    <a:bodyPr/>
                    <a:lstStyle/>
                    <a:p>
                      <a:r>
                        <a:rPr lang="en-US" sz="1200" dirty="0"/>
                        <a:t>%SP</a:t>
                      </a:r>
                    </a:p>
                  </a:txBody>
                  <a:tcPr>
                    <a:solidFill>
                      <a:schemeClr val="accent6">
                        <a:lumMod val="60000"/>
                        <a:lumOff val="40000"/>
                      </a:schemeClr>
                    </a:solidFill>
                  </a:tcPr>
                </a:tc>
                <a:extLst>
                  <a:ext uri="{0D108BD9-81ED-4DB2-BD59-A6C34878D82A}">
                    <a16:rowId xmlns:a16="http://schemas.microsoft.com/office/drawing/2014/main" val="1942712580"/>
                  </a:ext>
                </a:extLst>
              </a:tr>
            </a:tbl>
          </a:graphicData>
        </a:graphic>
      </p:graphicFrame>
      <p:sp>
        <p:nvSpPr>
          <p:cNvPr id="6" name="TextBox 5">
            <a:extLst>
              <a:ext uri="{FF2B5EF4-FFF2-40B4-BE49-F238E27FC236}">
                <a16:creationId xmlns:a16="http://schemas.microsoft.com/office/drawing/2014/main" id="{5447BB28-99EA-5726-21BC-6D23E2F95B09}"/>
              </a:ext>
            </a:extLst>
          </p:cNvPr>
          <p:cNvSpPr txBox="1"/>
          <p:nvPr/>
        </p:nvSpPr>
        <p:spPr>
          <a:xfrm>
            <a:off x="6615405" y="4958332"/>
            <a:ext cx="3142207"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SDW R2, 16(%SP)</a:t>
            </a:r>
          </a:p>
        </p:txBody>
      </p:sp>
      <p:sp>
        <p:nvSpPr>
          <p:cNvPr id="7" name="TextBox 6">
            <a:extLst>
              <a:ext uri="{FF2B5EF4-FFF2-40B4-BE49-F238E27FC236}">
                <a16:creationId xmlns:a16="http://schemas.microsoft.com/office/drawing/2014/main" id="{D746B2C5-420E-61DF-6700-2C88915395AA}"/>
              </a:ext>
            </a:extLst>
          </p:cNvPr>
          <p:cNvSpPr txBox="1"/>
          <p:nvPr/>
        </p:nvSpPr>
        <p:spPr>
          <a:xfrm>
            <a:off x="4876837" y="4495763"/>
            <a:ext cx="6888424"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a:t>
            </a:r>
            <a:r>
              <a:rPr lang="en-US" sz="2800" dirty="0" err="1">
                <a:solidFill>
                  <a:srgbClr val="00B050"/>
                </a:solidFill>
                <a:latin typeface="Consolas" panose="020B0609020204030204" pitchFamily="49" charset="0"/>
              </a:rPr>
              <a:t>ARSrc</a:t>
            </a:r>
            <a:r>
              <a:rPr lang="en-US" sz="2800" dirty="0">
                <a:solidFill>
                  <a:srgbClr val="00B050"/>
                </a:solidFill>
                <a:latin typeface="Consolas" panose="020B0609020204030204" pitchFamily="49" charset="0"/>
              </a:rPr>
              <a:t> + Imm) = Rs (Rd as source)</a:t>
            </a:r>
          </a:p>
        </p:txBody>
      </p:sp>
      <p:graphicFrame>
        <p:nvGraphicFramePr>
          <p:cNvPr id="9" name="Table 4">
            <a:extLst>
              <a:ext uri="{FF2B5EF4-FFF2-40B4-BE49-F238E27FC236}">
                <a16:creationId xmlns:a16="http://schemas.microsoft.com/office/drawing/2014/main" id="{C0CCEE82-0A3E-482C-6F26-5DCA13AA9827}"/>
              </a:ext>
            </a:extLst>
          </p:cNvPr>
          <p:cNvGraphicFramePr>
            <a:graphicFrameLocks noGrp="1"/>
          </p:cNvGraphicFramePr>
          <p:nvPr>
            <p:extLst>
              <p:ext uri="{D42A27DB-BD31-4B8C-83A1-F6EECF244321}">
                <p14:modId xmlns:p14="http://schemas.microsoft.com/office/powerpoint/2010/main" val="672536172"/>
              </p:ext>
            </p:extLst>
          </p:nvPr>
        </p:nvGraphicFramePr>
        <p:xfrm>
          <a:off x="179752" y="742463"/>
          <a:ext cx="4329725" cy="5004175"/>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00345">
                <a:tc>
                  <a:txBody>
                    <a:bodyPr/>
                    <a:lstStyle/>
                    <a:p>
                      <a:pPr>
                        <a:lnSpc>
                          <a:spcPct val="100000"/>
                        </a:lnSpc>
                      </a:pPr>
                      <a:r>
                        <a:rPr lang="en-US" sz="700"/>
                        <a:t>Bit</a:t>
                      </a:r>
                    </a:p>
                  </a:txBody>
                  <a:tcPr anchor="ctr"/>
                </a:tc>
                <a:tc>
                  <a:txBody>
                    <a:bodyPr/>
                    <a:lstStyle/>
                    <a:p>
                      <a:pPr>
                        <a:lnSpc>
                          <a:spcPct val="100000"/>
                        </a:lnSpc>
                      </a:pPr>
                      <a:r>
                        <a:rPr lang="en-US" sz="700" dirty="0"/>
                        <a:t>Operation</a:t>
                      </a:r>
                    </a:p>
                  </a:txBody>
                  <a:tcPr anchor="ctr"/>
                </a:tc>
                <a:extLst>
                  <a:ext uri="{0D108BD9-81ED-4DB2-BD59-A6C34878D82A}">
                    <a16:rowId xmlns:a16="http://schemas.microsoft.com/office/drawing/2014/main" val="2319756336"/>
                  </a:ext>
                </a:extLst>
              </a:tr>
              <a:tr h="200345">
                <a:tc>
                  <a:txBody>
                    <a:bodyPr/>
                    <a:lstStyle/>
                    <a:p>
                      <a:pPr algn="ctr">
                        <a:lnSpc>
                          <a:spcPct val="100000"/>
                        </a:lnSpc>
                      </a:pPr>
                      <a:r>
                        <a:rPr lang="en-US" sz="700" dirty="0"/>
                        <a:t>23</a:t>
                      </a:r>
                    </a:p>
                  </a:txBody>
                  <a:tcPr anchor="ctr"/>
                </a:tc>
                <a:tc>
                  <a:txBody>
                    <a:bodyPr/>
                    <a:lstStyle/>
                    <a:p>
                      <a:pPr algn="l">
                        <a:lnSpc>
                          <a:spcPct val="100000"/>
                        </a:lnSpc>
                      </a:pPr>
                      <a:r>
                        <a:rPr lang="en-US" sz="700" dirty="0"/>
                        <a:t>Not Used</a:t>
                      </a:r>
                    </a:p>
                  </a:txBody>
                  <a:tcPr anchor="ctr"/>
                </a:tc>
                <a:extLst>
                  <a:ext uri="{0D108BD9-81ED-4DB2-BD59-A6C34878D82A}">
                    <a16:rowId xmlns:a16="http://schemas.microsoft.com/office/drawing/2014/main" val="3576468534"/>
                  </a:ext>
                </a:extLst>
              </a:tr>
              <a:tr h="200345">
                <a:tc>
                  <a:txBody>
                    <a:bodyPr/>
                    <a:lstStyle/>
                    <a:p>
                      <a:pPr algn="ctr">
                        <a:lnSpc>
                          <a:spcPct val="100000"/>
                        </a:lnSpc>
                      </a:pPr>
                      <a:r>
                        <a:rPr lang="en-US" sz="700" dirty="0"/>
                        <a:t>22</a:t>
                      </a:r>
                    </a:p>
                  </a:txBody>
                  <a:tcPr anchor="ctr"/>
                </a:tc>
                <a:tc>
                  <a:txBody>
                    <a:bodyPr/>
                    <a:lstStyle/>
                    <a:p>
                      <a:pPr algn="l">
                        <a:lnSpc>
                          <a:spcPct val="100000"/>
                        </a:lnSpc>
                      </a:pPr>
                      <a:r>
                        <a:rPr lang="en-US" sz="700" dirty="0" err="1"/>
                        <a:t>AddressHorL</a:t>
                      </a:r>
                      <a:endParaRPr lang="en-US" sz="700" dirty="0"/>
                    </a:p>
                  </a:txBody>
                  <a:tcPr anchor="ctr"/>
                </a:tc>
                <a:extLst>
                  <a:ext uri="{0D108BD9-81ED-4DB2-BD59-A6C34878D82A}">
                    <a16:rowId xmlns:a16="http://schemas.microsoft.com/office/drawing/2014/main" val="79971578"/>
                  </a:ext>
                </a:extLst>
              </a:tr>
              <a:tr h="200345">
                <a:tc>
                  <a:txBody>
                    <a:bodyPr/>
                    <a:lstStyle/>
                    <a:p>
                      <a:pPr algn="ctr">
                        <a:lnSpc>
                          <a:spcPct val="100000"/>
                        </a:lnSpc>
                      </a:pPr>
                      <a:r>
                        <a:rPr lang="en-US" sz="700" dirty="0"/>
                        <a:t>21</a:t>
                      </a:r>
                    </a:p>
                  </a:txBody>
                  <a:tcPr anchor="ctr"/>
                </a:tc>
                <a:tc>
                  <a:txBody>
                    <a:bodyPr/>
                    <a:lstStyle/>
                    <a:p>
                      <a:pPr algn="l">
                        <a:lnSpc>
                          <a:spcPct val="100000"/>
                        </a:lnSpc>
                      </a:pPr>
                      <a:r>
                        <a:rPr lang="en-US" sz="700" dirty="0" err="1"/>
                        <a:t>AddressBusToDataBus</a:t>
                      </a:r>
                      <a:endParaRPr lang="en-US" sz="700" dirty="0"/>
                    </a:p>
                  </a:txBody>
                  <a:tcPr anchor="ctr"/>
                </a:tc>
                <a:extLst>
                  <a:ext uri="{0D108BD9-81ED-4DB2-BD59-A6C34878D82A}">
                    <a16:rowId xmlns:a16="http://schemas.microsoft.com/office/drawing/2014/main" val="4135939119"/>
                  </a:ext>
                </a:extLst>
              </a:tr>
              <a:tr h="200345">
                <a:tc>
                  <a:txBody>
                    <a:bodyPr/>
                    <a:lstStyle/>
                    <a:p>
                      <a:pPr algn="ctr">
                        <a:lnSpc>
                          <a:spcPct val="100000"/>
                        </a:lnSpc>
                      </a:pPr>
                      <a:r>
                        <a:rPr lang="en-US" sz="700" dirty="0"/>
                        <a:t>20</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err="1"/>
                        <a:t>TmpARWrite</a:t>
                      </a:r>
                      <a:endParaRPr lang="en-US" sz="700"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9580944"/>
                  </a:ext>
                </a:extLst>
              </a:tr>
              <a:tr h="200345">
                <a:tc>
                  <a:txBody>
                    <a:bodyPr/>
                    <a:lstStyle/>
                    <a:p>
                      <a:pPr algn="ctr">
                        <a:lnSpc>
                          <a:spcPct val="100000"/>
                        </a:lnSpc>
                      </a:pPr>
                      <a:r>
                        <a:rPr lang="en-US" sz="700" dirty="0"/>
                        <a:t>19</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err="1"/>
                        <a:t>TmpARRead</a:t>
                      </a:r>
                      <a:endParaRPr lang="en-US" sz="700"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35159618"/>
                  </a:ext>
                </a:extLst>
              </a:tr>
              <a:tr h="200345">
                <a:tc>
                  <a:txBody>
                    <a:bodyPr/>
                    <a:lstStyle/>
                    <a:p>
                      <a:pPr algn="ctr">
                        <a:lnSpc>
                          <a:spcPct val="100000"/>
                        </a:lnSpc>
                      </a:pPr>
                      <a:r>
                        <a:rPr lang="en-US" sz="700" dirty="0"/>
                        <a:t>18</a:t>
                      </a:r>
                    </a:p>
                  </a:txBody>
                  <a:tcPr anchor="ctr"/>
                </a:tc>
                <a:tc>
                  <a:txBody>
                    <a:bodyPr/>
                    <a:lstStyle/>
                    <a:p>
                      <a:pPr algn="l">
                        <a:lnSpc>
                          <a:spcPct val="100000"/>
                        </a:lnSpc>
                      </a:pPr>
                      <a:r>
                        <a:rPr lang="en-US" sz="700" dirty="0" err="1"/>
                        <a:t>loadARHorL</a:t>
                      </a:r>
                      <a:endParaRPr lang="en-US" sz="700" dirty="0"/>
                    </a:p>
                  </a:txBody>
                  <a:tcPr anchor="ctr"/>
                </a:tc>
                <a:extLst>
                  <a:ext uri="{0D108BD9-81ED-4DB2-BD59-A6C34878D82A}">
                    <a16:rowId xmlns:a16="http://schemas.microsoft.com/office/drawing/2014/main" val="2357817394"/>
                  </a:ext>
                </a:extLst>
              </a:tr>
              <a:tr h="200345">
                <a:tc>
                  <a:txBody>
                    <a:bodyPr/>
                    <a:lstStyle/>
                    <a:p>
                      <a:pPr algn="ctr">
                        <a:lnSpc>
                          <a:spcPct val="100000"/>
                        </a:lnSpc>
                      </a:pPr>
                      <a:r>
                        <a:rPr lang="en-US" sz="700"/>
                        <a:t>17</a:t>
                      </a:r>
                    </a:p>
                  </a:txBody>
                  <a:tcPr anchor="ctr"/>
                </a:tc>
                <a:tc>
                  <a:txBody>
                    <a:bodyPr/>
                    <a:lstStyle/>
                    <a:p>
                      <a:pPr algn="l">
                        <a:lnSpc>
                          <a:spcPct val="100000"/>
                        </a:lnSpc>
                      </a:pPr>
                      <a:r>
                        <a:rPr lang="en-US" sz="700" dirty="0" err="1"/>
                        <a:t>loadAR</a:t>
                      </a:r>
                      <a:r>
                        <a:rPr lang="en-US" sz="700" dirty="0"/>
                        <a:t> (formerly: Load Special Pointer)</a:t>
                      </a:r>
                    </a:p>
                  </a:txBody>
                  <a:tcPr anchor="ctr"/>
                </a:tc>
                <a:extLst>
                  <a:ext uri="{0D108BD9-81ED-4DB2-BD59-A6C34878D82A}">
                    <a16:rowId xmlns:a16="http://schemas.microsoft.com/office/drawing/2014/main" val="2759210480"/>
                  </a:ext>
                </a:extLst>
              </a:tr>
              <a:tr h="200345">
                <a:tc>
                  <a:txBody>
                    <a:bodyPr/>
                    <a:lstStyle/>
                    <a:p>
                      <a:pPr algn="ctr">
                        <a:lnSpc>
                          <a:spcPct val="100000"/>
                        </a:lnSpc>
                      </a:pPr>
                      <a:r>
                        <a:rPr lang="en-US" sz="700" dirty="0"/>
                        <a:t>16</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Stack Pointer Increment / Decrement (0: decrease / 1: increase)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6363256"/>
                  </a:ext>
                </a:extLst>
              </a:tr>
              <a:tr h="200345">
                <a:tc>
                  <a:txBody>
                    <a:bodyPr/>
                    <a:lstStyle/>
                    <a:p>
                      <a:pPr algn="ctr">
                        <a:lnSpc>
                          <a:spcPct val="100000"/>
                        </a:lnSpc>
                      </a:pPr>
                      <a:r>
                        <a:rPr lang="en-US" sz="700"/>
                        <a:t>15</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Stack Pointer Count</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49660566"/>
                  </a:ext>
                </a:extLst>
              </a:tr>
              <a:tr h="200345">
                <a:tc>
                  <a:txBody>
                    <a:bodyPr/>
                    <a:lstStyle/>
                    <a:p>
                      <a:pPr algn="ctr">
                        <a:lnSpc>
                          <a:spcPct val="100000"/>
                        </a:lnSpc>
                      </a:pPr>
                      <a:r>
                        <a:rPr lang="en-US" sz="700"/>
                        <a:t>14</a:t>
                      </a:r>
                    </a:p>
                  </a:txBody>
                  <a:tcPr anchor="ctr"/>
                </a:tc>
                <a:tc>
                  <a:txBody>
                    <a:bodyPr/>
                    <a:lstStyle/>
                    <a:p>
                      <a:pPr algn="l">
                        <a:lnSpc>
                          <a:spcPct val="100000"/>
                        </a:lnSpc>
                      </a:pPr>
                      <a:r>
                        <a:rPr lang="en-US" sz="700" dirty="0"/>
                        <a:t>SP Out (formerly: RAM Address Select (0: Address register / 1: Stack pointer))</a:t>
                      </a:r>
                    </a:p>
                  </a:txBody>
                  <a:tcPr anchor="ctr"/>
                </a:tc>
                <a:extLst>
                  <a:ext uri="{0D108BD9-81ED-4DB2-BD59-A6C34878D82A}">
                    <a16:rowId xmlns:a16="http://schemas.microsoft.com/office/drawing/2014/main" val="645489424"/>
                  </a:ext>
                </a:extLst>
              </a:tr>
              <a:tr h="200345">
                <a:tc>
                  <a:txBody>
                    <a:bodyPr/>
                    <a:lstStyle/>
                    <a:p>
                      <a:pPr algn="ctr">
                        <a:lnSpc>
                          <a:spcPct val="100000"/>
                        </a:lnSpc>
                      </a:pPr>
                      <a:r>
                        <a:rPr lang="en-US" sz="700"/>
                        <a:t>13</a:t>
                      </a:r>
                    </a:p>
                  </a:txBody>
                  <a:tcPr anchor="ctr"/>
                </a:tc>
                <a:tc>
                  <a:txBody>
                    <a:bodyPr/>
                    <a:lstStyle/>
                    <a:p>
                      <a:pPr algn="l">
                        <a:lnSpc>
                          <a:spcPct val="100000"/>
                        </a:lnSpc>
                      </a:pPr>
                      <a:r>
                        <a:rPr lang="en-US" sz="700"/>
                        <a:t>Use Rd as Source</a:t>
                      </a:r>
                    </a:p>
                  </a:txBody>
                  <a:tcPr anchor="ctr"/>
                </a:tc>
                <a:extLst>
                  <a:ext uri="{0D108BD9-81ED-4DB2-BD59-A6C34878D82A}">
                    <a16:rowId xmlns:a16="http://schemas.microsoft.com/office/drawing/2014/main" val="2745442092"/>
                  </a:ext>
                </a:extLst>
              </a:tr>
              <a:tr h="200345">
                <a:tc>
                  <a:txBody>
                    <a:bodyPr/>
                    <a:lstStyle/>
                    <a:p>
                      <a:pPr algn="ctr">
                        <a:lnSpc>
                          <a:spcPct val="100000"/>
                        </a:lnSpc>
                      </a:pPr>
                      <a:r>
                        <a:rPr lang="en-US" sz="700" dirty="0"/>
                        <a:t>12</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Lower Address Register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762316"/>
                  </a:ext>
                </a:extLst>
              </a:tr>
              <a:tr h="200345">
                <a:tc>
                  <a:txBody>
                    <a:bodyPr/>
                    <a:lstStyle/>
                    <a:p>
                      <a:pPr algn="ctr">
                        <a:lnSpc>
                          <a:spcPct val="100000"/>
                        </a:lnSpc>
                      </a:pPr>
                      <a:r>
                        <a:rPr lang="en-US" sz="700"/>
                        <a:t>11</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Mem Write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66008767"/>
                  </a:ext>
                </a:extLst>
              </a:tr>
              <a:tr h="200345">
                <a:tc>
                  <a:txBody>
                    <a:bodyPr/>
                    <a:lstStyle/>
                    <a:p>
                      <a:pPr algn="ctr">
                        <a:lnSpc>
                          <a:spcPct val="100000"/>
                        </a:lnSpc>
                      </a:pPr>
                      <a:r>
                        <a:rPr lang="en-US" sz="700"/>
                        <a:t>10</a:t>
                      </a:r>
                    </a:p>
                  </a:txBody>
                  <a:tcPr anchor="ctr"/>
                </a:tc>
                <a:tc>
                  <a:txBody>
                    <a:bodyPr/>
                    <a:lstStyle/>
                    <a:p>
                      <a:pPr algn="l">
                        <a:lnSpc>
                          <a:spcPct val="100000"/>
                        </a:lnSpc>
                      </a:pPr>
                      <a:r>
                        <a:rPr lang="en-US" sz="700"/>
                        <a:t>Mem Read</a:t>
                      </a:r>
                    </a:p>
                  </a:txBody>
                  <a:tcPr anchor="ctr"/>
                </a:tc>
                <a:extLst>
                  <a:ext uri="{0D108BD9-81ED-4DB2-BD59-A6C34878D82A}">
                    <a16:rowId xmlns:a16="http://schemas.microsoft.com/office/drawing/2014/main" val="707415226"/>
                  </a:ext>
                </a:extLst>
              </a:tr>
              <a:tr h="200345">
                <a:tc>
                  <a:txBody>
                    <a:bodyPr/>
                    <a:lstStyle/>
                    <a:p>
                      <a:pPr algn="ctr">
                        <a:lnSpc>
                          <a:spcPct val="100000"/>
                        </a:lnSpc>
                      </a:pPr>
                      <a:r>
                        <a:rPr lang="en-US" sz="700"/>
                        <a:t>9</a:t>
                      </a:r>
                    </a:p>
                  </a:txBody>
                  <a:tcPr anchor="ctr"/>
                </a:tc>
                <a:tc>
                  <a:txBody>
                    <a:bodyPr/>
                    <a:lstStyle/>
                    <a:p>
                      <a:pPr algn="l">
                        <a:lnSpc>
                          <a:spcPct val="100000"/>
                        </a:lnSpc>
                      </a:pPr>
                      <a:r>
                        <a:rPr lang="en-US" sz="700"/>
                        <a:t>PC Out</a:t>
                      </a:r>
                    </a:p>
                  </a:txBody>
                  <a:tcPr anchor="ctr"/>
                </a:tc>
                <a:extLst>
                  <a:ext uri="{0D108BD9-81ED-4DB2-BD59-A6C34878D82A}">
                    <a16:rowId xmlns:a16="http://schemas.microsoft.com/office/drawing/2014/main" val="1663806429"/>
                  </a:ext>
                </a:extLst>
              </a:tr>
              <a:tr h="200345">
                <a:tc>
                  <a:txBody>
                    <a:bodyPr/>
                    <a:lstStyle/>
                    <a:p>
                      <a:pPr algn="ctr">
                        <a:lnSpc>
                          <a:spcPct val="100000"/>
                        </a:lnSpc>
                      </a:pPr>
                      <a:r>
                        <a:rPr lang="en-US" sz="700" dirty="0"/>
                        <a:t>8</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a:t>PC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27957"/>
                  </a:ext>
                </a:extLst>
              </a:tr>
              <a:tr h="200345">
                <a:tc>
                  <a:txBody>
                    <a:bodyPr/>
                    <a:lstStyle/>
                    <a:p>
                      <a:pPr algn="ctr">
                        <a:lnSpc>
                          <a:spcPct val="100000"/>
                        </a:lnSpc>
                      </a:pPr>
                      <a:r>
                        <a:rPr lang="en-US" sz="700"/>
                        <a:t>7</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PC advance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70910443"/>
                  </a:ext>
                </a:extLst>
              </a:tr>
              <a:tr h="200345">
                <a:tc>
                  <a:txBody>
                    <a:bodyPr/>
                    <a:lstStyle/>
                    <a:p>
                      <a:pPr algn="ctr">
                        <a:lnSpc>
                          <a:spcPct val="100000"/>
                        </a:lnSpc>
                      </a:pPr>
                      <a:r>
                        <a:rPr lang="en-US" sz="700"/>
                        <a:t>6</a:t>
                      </a:r>
                    </a:p>
                  </a:txBody>
                  <a:tcPr anchor="ctr"/>
                </a:tc>
                <a:tc>
                  <a:txBody>
                    <a:bodyPr/>
                    <a:lstStyle/>
                    <a:p>
                      <a:pPr algn="l">
                        <a:lnSpc>
                          <a:spcPct val="100000"/>
                        </a:lnSpc>
                      </a:pPr>
                      <a:r>
                        <a:rPr lang="en-US" sz="700"/>
                        <a:t>Program Register H Write to Bus (parameter)</a:t>
                      </a:r>
                    </a:p>
                  </a:txBody>
                  <a:tcPr anchor="ctr"/>
                </a:tc>
                <a:extLst>
                  <a:ext uri="{0D108BD9-81ED-4DB2-BD59-A6C34878D82A}">
                    <a16:rowId xmlns:a16="http://schemas.microsoft.com/office/drawing/2014/main" val="631651838"/>
                  </a:ext>
                </a:extLst>
              </a:tr>
              <a:tr h="200345">
                <a:tc>
                  <a:txBody>
                    <a:bodyPr/>
                    <a:lstStyle/>
                    <a:p>
                      <a:pPr algn="ctr">
                        <a:lnSpc>
                          <a:spcPct val="100000"/>
                        </a:lnSpc>
                      </a:pPr>
                      <a:r>
                        <a:rPr lang="en-US" sz="700"/>
                        <a:t>5</a:t>
                      </a:r>
                    </a:p>
                  </a:txBody>
                  <a:tcPr anchor="ctr"/>
                </a:tc>
                <a:tc>
                  <a:txBody>
                    <a:bodyPr/>
                    <a:lstStyle/>
                    <a:p>
                      <a:pPr algn="l">
                        <a:lnSpc>
                          <a:spcPct val="100000"/>
                        </a:lnSpc>
                      </a:pPr>
                      <a:r>
                        <a:rPr lang="en-US" sz="700"/>
                        <a:t>Register File Input Enable</a:t>
                      </a:r>
                    </a:p>
                  </a:txBody>
                  <a:tcPr anchor="ctr"/>
                </a:tc>
                <a:extLst>
                  <a:ext uri="{0D108BD9-81ED-4DB2-BD59-A6C34878D82A}">
                    <a16:rowId xmlns:a16="http://schemas.microsoft.com/office/drawing/2014/main" val="1592812184"/>
                  </a:ext>
                </a:extLst>
              </a:tr>
              <a:tr h="200345">
                <a:tc>
                  <a:txBody>
                    <a:bodyPr/>
                    <a:lstStyle/>
                    <a:p>
                      <a:pPr algn="ctr">
                        <a:lnSpc>
                          <a:spcPct val="100000"/>
                        </a:lnSpc>
                      </a:pPr>
                      <a:r>
                        <a:rPr lang="en-US" sz="700" dirty="0"/>
                        <a:t>4</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Register File Output Enable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5793510"/>
                  </a:ext>
                </a:extLst>
              </a:tr>
              <a:tr h="200345">
                <a:tc>
                  <a:txBody>
                    <a:bodyPr/>
                    <a:lstStyle/>
                    <a:p>
                      <a:pPr algn="ctr">
                        <a:lnSpc>
                          <a:spcPct val="100000"/>
                        </a:lnSpc>
                      </a:pPr>
                      <a:r>
                        <a:rPr lang="en-US" sz="700"/>
                        <a:t>3</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Register File Output Select (parameter – 0 -&gt; Rs1, 1 -&gt; Rs2)</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46366285"/>
                  </a:ext>
                </a:extLst>
              </a:tr>
              <a:tr h="0">
                <a:tc>
                  <a:txBody>
                    <a:bodyPr/>
                    <a:lstStyle/>
                    <a:p>
                      <a:pPr algn="ctr">
                        <a:lnSpc>
                          <a:spcPct val="100000"/>
                        </a:lnSpc>
                      </a:pPr>
                      <a:r>
                        <a:rPr lang="en-US" sz="700"/>
                        <a:t>2</a:t>
                      </a:r>
                    </a:p>
                  </a:txBody>
                  <a:tcPr anchor="ctr"/>
                </a:tc>
                <a:tc>
                  <a:txBody>
                    <a:bodyPr/>
                    <a:lstStyle/>
                    <a:p>
                      <a:pPr algn="l">
                        <a:lnSpc>
                          <a:spcPct val="100000"/>
                        </a:lnSpc>
                      </a:pPr>
                      <a:r>
                        <a:rPr lang="en-US" sz="700" dirty="0"/>
                        <a:t>ALU output enable</a:t>
                      </a:r>
                    </a:p>
                  </a:txBody>
                  <a:tcPr anchor="ctr"/>
                </a:tc>
                <a:extLst>
                  <a:ext uri="{0D108BD9-81ED-4DB2-BD59-A6C34878D82A}">
                    <a16:rowId xmlns:a16="http://schemas.microsoft.com/office/drawing/2014/main" val="2615342211"/>
                  </a:ext>
                </a:extLst>
              </a:tr>
              <a:tr h="156274">
                <a:tc>
                  <a:txBody>
                    <a:bodyPr/>
                    <a:lstStyle/>
                    <a:p>
                      <a:pPr algn="ctr">
                        <a:lnSpc>
                          <a:spcPct val="100000"/>
                        </a:lnSpc>
                      </a:pPr>
                      <a:r>
                        <a:rPr lang="en-US" sz="700"/>
                        <a:t>1</a:t>
                      </a:r>
                    </a:p>
                  </a:txBody>
                  <a:tcPr anchor="ctr"/>
                </a:tc>
                <a:tc>
                  <a:txBody>
                    <a:bodyPr/>
                    <a:lstStyle/>
                    <a:p>
                      <a:pPr algn="l">
                        <a:lnSpc>
                          <a:spcPct val="100000"/>
                        </a:lnSpc>
                      </a:pPr>
                      <a:r>
                        <a:rPr lang="en-US" sz="700" dirty="0"/>
                        <a:t>ALU load register A</a:t>
                      </a:r>
                    </a:p>
                  </a:txBody>
                  <a:tcPr marT="0" anchor="ctr"/>
                </a:tc>
                <a:extLst>
                  <a:ext uri="{0D108BD9-81ED-4DB2-BD59-A6C34878D82A}">
                    <a16:rowId xmlns:a16="http://schemas.microsoft.com/office/drawing/2014/main" val="2055856817"/>
                  </a:ext>
                </a:extLst>
              </a:tr>
              <a:tr h="200345">
                <a:tc>
                  <a:txBody>
                    <a:bodyPr/>
                    <a:lstStyle/>
                    <a:p>
                      <a:pPr algn="ctr">
                        <a:lnSpc>
                          <a:spcPct val="100000"/>
                        </a:lnSpc>
                      </a:pPr>
                      <a:r>
                        <a:rPr lang="en-US" sz="700"/>
                        <a:t>0</a:t>
                      </a:r>
                    </a:p>
                  </a:txBody>
                  <a:tcPr anchor="ctr"/>
                </a:tc>
                <a:tc>
                  <a:txBody>
                    <a:bodyPr/>
                    <a:lstStyle/>
                    <a:p>
                      <a:pPr algn="l">
                        <a:lnSpc>
                          <a:spcPct val="100000"/>
                        </a:lnSpc>
                      </a:pPr>
                      <a:r>
                        <a:rPr lang="en-US" sz="700" dirty="0"/>
                        <a:t>ALU load register B</a:t>
                      </a:r>
                    </a:p>
                  </a:txBody>
                  <a:tcPr anchor="ct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3343601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9EFD1-CAFC-C119-CEE0-D44888A48044}"/>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9459A99F-A78B-F13F-9CA7-E5786EE8A896}"/>
              </a:ext>
            </a:extLst>
          </p:cNvPr>
          <p:cNvSpPr>
            <a:spLocks noGrp="1"/>
          </p:cNvSpPr>
          <p:nvPr>
            <p:ph type="ctrTitle"/>
          </p:nvPr>
        </p:nvSpPr>
        <p:spPr>
          <a:xfrm>
            <a:off x="914400" y="182880"/>
            <a:ext cx="9144000" cy="457200"/>
          </a:xfrm>
        </p:spPr>
        <p:txBody>
          <a:bodyPr/>
          <a:lstStyle/>
          <a:p>
            <a:r>
              <a:rPr lang="en-US" dirty="0"/>
              <a:t>Micro-Instructions Control: Store Data Byte with Offset 2 (SDW2) (10111)</a:t>
            </a:r>
          </a:p>
        </p:txBody>
      </p:sp>
      <p:graphicFrame>
        <p:nvGraphicFramePr>
          <p:cNvPr id="5" name="Table 4">
            <a:extLst>
              <a:ext uri="{FF2B5EF4-FFF2-40B4-BE49-F238E27FC236}">
                <a16:creationId xmlns:a16="http://schemas.microsoft.com/office/drawing/2014/main" id="{F627796E-7072-C94F-9097-E55AACCDB33E}"/>
              </a:ext>
            </a:extLst>
          </p:cNvPr>
          <p:cNvGraphicFramePr>
            <a:graphicFrameLocks noGrp="1"/>
          </p:cNvGraphicFramePr>
          <p:nvPr>
            <p:extLst>
              <p:ext uri="{D42A27DB-BD31-4B8C-83A1-F6EECF244321}">
                <p14:modId xmlns:p14="http://schemas.microsoft.com/office/powerpoint/2010/main" val="4031063238"/>
              </p:ext>
            </p:extLst>
          </p:nvPr>
        </p:nvGraphicFramePr>
        <p:xfrm>
          <a:off x="4716581" y="742463"/>
          <a:ext cx="6249874" cy="1914639"/>
        </p:xfrm>
        <a:graphic>
          <a:graphicData uri="http://schemas.openxmlformats.org/drawingml/2006/table">
            <a:tbl>
              <a:tblPr firstRow="1" bandRow="1">
                <a:tableStyleId>{5C22544A-7EE6-4342-B048-85BDC9FD1C3A}</a:tableStyleId>
              </a:tblPr>
              <a:tblGrid>
                <a:gridCol w="948528">
                  <a:extLst>
                    <a:ext uri="{9D8B030D-6E8A-4147-A177-3AD203B41FA5}">
                      <a16:colId xmlns:a16="http://schemas.microsoft.com/office/drawing/2014/main" val="1217920130"/>
                    </a:ext>
                  </a:extLst>
                </a:gridCol>
                <a:gridCol w="2465917">
                  <a:extLst>
                    <a:ext uri="{9D8B030D-6E8A-4147-A177-3AD203B41FA5}">
                      <a16:colId xmlns:a16="http://schemas.microsoft.com/office/drawing/2014/main" val="1475888205"/>
                    </a:ext>
                  </a:extLst>
                </a:gridCol>
                <a:gridCol w="2835429">
                  <a:extLst>
                    <a:ext uri="{9D8B030D-6E8A-4147-A177-3AD203B41FA5}">
                      <a16:colId xmlns:a16="http://schemas.microsoft.com/office/drawing/2014/main" val="2801792198"/>
                    </a:ext>
                  </a:extLst>
                </a:gridCol>
              </a:tblGrid>
              <a:tr h="324599">
                <a:tc>
                  <a:txBody>
                    <a:bodyPr/>
                    <a:lstStyle/>
                    <a:p>
                      <a:r>
                        <a:rPr lang="en-US" sz="1200" dirty="0"/>
                        <a:t>Cycle #</a:t>
                      </a:r>
                    </a:p>
                  </a:txBody>
                  <a:tcPr/>
                </a:tc>
                <a:tc>
                  <a:txBody>
                    <a:bodyPr/>
                    <a:lstStyle/>
                    <a:p>
                      <a:r>
                        <a:rPr lang="en-US" sz="1200" dirty="0"/>
                        <a:t>Instruction</a:t>
                      </a:r>
                    </a:p>
                  </a:txBody>
                  <a:tcPr/>
                </a:tc>
                <a:tc>
                  <a:txBody>
                    <a:bodyPr/>
                    <a:lstStyle/>
                    <a:p>
                      <a:r>
                        <a:rPr lang="en-US" sz="1200"/>
                        <a:t>Explanation</a:t>
                      </a:r>
                    </a:p>
                  </a:txBody>
                  <a:tcPr/>
                </a:tc>
                <a:extLst>
                  <a:ext uri="{0D108BD9-81ED-4DB2-BD59-A6C34878D82A}">
                    <a16:rowId xmlns:a16="http://schemas.microsoft.com/office/drawing/2014/main" val="2319756336"/>
                  </a:ext>
                </a:extLst>
              </a:tr>
              <a:tr h="579120">
                <a:tc>
                  <a:txBody>
                    <a:bodyPr/>
                    <a:lstStyle/>
                    <a:p>
                      <a:pPr algn="ctr"/>
                      <a:r>
                        <a:rPr lang="en-US" sz="1200"/>
                        <a:t>0</a:t>
                      </a:r>
                    </a:p>
                  </a:txBody>
                  <a:tcPr/>
                </a:tc>
                <a:tc>
                  <a:txBody>
                    <a:bodyPr/>
                    <a:lstStyle/>
                    <a:p>
                      <a:pPr algn="l"/>
                      <a:r>
                        <a:rPr lang="en-US" sz="1200"/>
                        <a:t>0x08_00_40</a:t>
                      </a:r>
                      <a:endParaRPr lang="en-US" sz="1200" dirty="0"/>
                    </a:p>
                  </a:txBody>
                  <a:tcPr/>
                </a:tc>
                <a:tc>
                  <a:txBody>
                    <a:bodyPr/>
                    <a:lstStyle/>
                    <a:p>
                      <a:pPr algn="l"/>
                      <a:r>
                        <a:rPr lang="en-US" sz="1200" dirty="0"/>
                        <a:t>Write Imm to the Data Bus, write </a:t>
                      </a:r>
                      <a:r>
                        <a:rPr lang="en-US" sz="1200" dirty="0" err="1"/>
                        <a:t>ARSrc</a:t>
                      </a:r>
                      <a:r>
                        <a:rPr lang="en-US" sz="1200" dirty="0"/>
                        <a:t> to the Address Bus, and set </a:t>
                      </a:r>
                      <a:r>
                        <a:rPr lang="en-US" sz="1200" dirty="0" err="1"/>
                        <a:t>TmpAR</a:t>
                      </a:r>
                      <a:r>
                        <a:rPr lang="en-US" sz="1200" dirty="0"/>
                        <a:t> to read.</a:t>
                      </a:r>
                    </a:p>
                  </a:txBody>
                  <a:tcPr/>
                </a:tc>
                <a:extLst>
                  <a:ext uri="{0D108BD9-81ED-4DB2-BD59-A6C34878D82A}">
                    <a16:rowId xmlns:a16="http://schemas.microsoft.com/office/drawing/2014/main" val="2570910443"/>
                  </a:ext>
                </a:extLst>
              </a:tr>
              <a:tr h="579120">
                <a:tc>
                  <a:txBody>
                    <a:bodyPr/>
                    <a:lstStyle/>
                    <a:p>
                      <a:pPr algn="ctr"/>
                      <a:r>
                        <a:rPr lang="en-US" sz="12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0x10_28_10</a:t>
                      </a:r>
                      <a:endParaRPr lang="en-US" sz="1200" dirty="0"/>
                    </a:p>
                  </a:txBody>
                  <a:tcPr/>
                </a:tc>
                <a:tc>
                  <a:txBody>
                    <a:bodyPr/>
                    <a:lstStyle/>
                    <a:p>
                      <a:pPr algn="l"/>
                      <a:r>
                        <a:rPr lang="en-US" sz="1200"/>
                        <a:t>Write TmpAR to the Address Bus, write Rs (Rd) to the Data Bus, and set Memory to read from the Data Bus.</a:t>
                      </a:r>
                      <a:endParaRPr lang="en-US" sz="1200" dirty="0"/>
                    </a:p>
                  </a:txBody>
                  <a:tcPr/>
                </a:tc>
                <a:extLst>
                  <a:ext uri="{0D108BD9-81ED-4DB2-BD59-A6C34878D82A}">
                    <a16:rowId xmlns:a16="http://schemas.microsoft.com/office/drawing/2014/main" val="631651838"/>
                  </a:ext>
                </a:extLst>
              </a:tr>
              <a:tr h="370840">
                <a:tc>
                  <a:txBody>
                    <a:bodyPr/>
                    <a:lstStyle/>
                    <a:p>
                      <a:pPr algn="ctr"/>
                      <a:r>
                        <a:rPr lang="en-US" sz="12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0x00_00_80</a:t>
                      </a:r>
                      <a:endParaRPr lang="en-US" sz="1200" dirty="0"/>
                    </a:p>
                  </a:txBody>
                  <a:tcPr/>
                </a:tc>
                <a:tc>
                  <a:txBody>
                    <a:bodyPr/>
                    <a:lstStyle/>
                    <a:p>
                      <a:pPr algn="l"/>
                      <a:r>
                        <a:rPr lang="en-US" sz="1200" dirty="0"/>
                        <a:t>Advance PC.</a:t>
                      </a:r>
                    </a:p>
                  </a:txBody>
                  <a:tcPr/>
                </a:tc>
                <a:extLst>
                  <a:ext uri="{0D108BD9-81ED-4DB2-BD59-A6C34878D82A}">
                    <a16:rowId xmlns:a16="http://schemas.microsoft.com/office/drawing/2014/main" val="1592812184"/>
                  </a:ext>
                </a:extLst>
              </a:tr>
            </a:tbl>
          </a:graphicData>
        </a:graphic>
      </p:graphicFrame>
      <p:pic>
        <p:nvPicPr>
          <p:cNvPr id="2" name="Picture 1">
            <a:hlinkClick r:id="rId3" action="ppaction://hlinksldjump"/>
            <a:extLst>
              <a:ext uri="{FF2B5EF4-FFF2-40B4-BE49-F238E27FC236}">
                <a16:creationId xmlns:a16="http://schemas.microsoft.com/office/drawing/2014/main" id="{035801AA-5029-0DBF-8AFB-BFBFBAC04B19}"/>
              </a:ext>
            </a:extLst>
          </p:cNvPr>
          <p:cNvPicPr>
            <a:picLocks noChangeAspect="1"/>
          </p:cNvPicPr>
          <p:nvPr/>
        </p:nvPicPr>
        <p:blipFill>
          <a:blip r:embed="rId4"/>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DC6A4B16-A48F-ECDE-5027-F10632B35193}"/>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63</a:t>
            </a:fld>
            <a:endParaRPr lang="en-US" b="1">
              <a:solidFill>
                <a:schemeClr val="bg1"/>
              </a:solidFill>
            </a:endParaRPr>
          </a:p>
        </p:txBody>
      </p:sp>
      <p:graphicFrame>
        <p:nvGraphicFramePr>
          <p:cNvPr id="3" name="Table 4">
            <a:extLst>
              <a:ext uri="{FF2B5EF4-FFF2-40B4-BE49-F238E27FC236}">
                <a16:creationId xmlns:a16="http://schemas.microsoft.com/office/drawing/2014/main" id="{7E243013-41E5-038F-77CA-EFF4254152EB}"/>
              </a:ext>
            </a:extLst>
          </p:cNvPr>
          <p:cNvGraphicFramePr>
            <a:graphicFrameLocks noGrp="1"/>
          </p:cNvGraphicFramePr>
          <p:nvPr>
            <p:extLst>
              <p:ext uri="{D42A27DB-BD31-4B8C-83A1-F6EECF244321}">
                <p14:modId xmlns:p14="http://schemas.microsoft.com/office/powerpoint/2010/main" val="3447676147"/>
              </p:ext>
            </p:extLst>
          </p:nvPr>
        </p:nvGraphicFramePr>
        <p:xfrm>
          <a:off x="179752" y="5818357"/>
          <a:ext cx="10583500" cy="594360"/>
        </p:xfrm>
        <a:graphic>
          <a:graphicData uri="http://schemas.openxmlformats.org/drawingml/2006/table">
            <a:tbl>
              <a:tblPr firstRow="1" bandRow="1">
                <a:tableStyleId>{5C22544A-7EE6-4342-B048-85BDC9FD1C3A}</a:tableStyleId>
              </a:tblPr>
              <a:tblGrid>
                <a:gridCol w="998667">
                  <a:extLst>
                    <a:ext uri="{9D8B030D-6E8A-4147-A177-3AD203B41FA5}">
                      <a16:colId xmlns:a16="http://schemas.microsoft.com/office/drawing/2014/main" val="1810408170"/>
                    </a:ext>
                  </a:extLst>
                </a:gridCol>
                <a:gridCol w="970585">
                  <a:extLst>
                    <a:ext uri="{9D8B030D-6E8A-4147-A177-3AD203B41FA5}">
                      <a16:colId xmlns:a16="http://schemas.microsoft.com/office/drawing/2014/main" val="950391025"/>
                    </a:ext>
                  </a:extLst>
                </a:gridCol>
                <a:gridCol w="882483">
                  <a:extLst>
                    <a:ext uri="{9D8B030D-6E8A-4147-A177-3AD203B41FA5}">
                      <a16:colId xmlns:a16="http://schemas.microsoft.com/office/drawing/2014/main" val="1217920130"/>
                    </a:ext>
                  </a:extLst>
                </a:gridCol>
                <a:gridCol w="1402159">
                  <a:extLst>
                    <a:ext uri="{9D8B030D-6E8A-4147-A177-3AD203B41FA5}">
                      <a16:colId xmlns:a16="http://schemas.microsoft.com/office/drawing/2014/main" val="1475888205"/>
                    </a:ext>
                  </a:extLst>
                </a:gridCol>
                <a:gridCol w="1609969">
                  <a:extLst>
                    <a:ext uri="{9D8B030D-6E8A-4147-A177-3AD203B41FA5}">
                      <a16:colId xmlns:a16="http://schemas.microsoft.com/office/drawing/2014/main" val="1355185516"/>
                    </a:ext>
                  </a:extLst>
                </a:gridCol>
                <a:gridCol w="1304925">
                  <a:extLst>
                    <a:ext uri="{9D8B030D-6E8A-4147-A177-3AD203B41FA5}">
                      <a16:colId xmlns:a16="http://schemas.microsoft.com/office/drawing/2014/main" val="1039846299"/>
                    </a:ext>
                  </a:extLst>
                </a:gridCol>
                <a:gridCol w="3414712">
                  <a:extLst>
                    <a:ext uri="{9D8B030D-6E8A-4147-A177-3AD203B41FA5}">
                      <a16:colId xmlns:a16="http://schemas.microsoft.com/office/drawing/2014/main" val="3099546510"/>
                    </a:ext>
                  </a:extLst>
                </a:gridCol>
              </a:tblGrid>
              <a:tr h="297180">
                <a:tc>
                  <a:txBody>
                    <a:bodyPr/>
                    <a:lstStyle/>
                    <a:p>
                      <a:r>
                        <a:rPr lang="en-US" sz="1300" dirty="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dirty="0"/>
                        <a:t>SDW</a:t>
                      </a:r>
                    </a:p>
                  </a:txBody>
                  <a:tcPr>
                    <a:solidFill>
                      <a:schemeClr val="accent6"/>
                    </a:solidFill>
                  </a:tcPr>
                </a:tc>
                <a:tc gridSpan="3">
                  <a:txBody>
                    <a:bodyPr/>
                    <a:lstStyle/>
                    <a:p>
                      <a:pPr algn="ctr"/>
                      <a:r>
                        <a:rPr lang="en-US" sz="1300"/>
                        <a:t>Immediate (8-bit)</a:t>
                      </a:r>
                    </a:p>
                  </a:txBody>
                  <a:tcPr/>
                </a:tc>
                <a:tc hMerge="1">
                  <a:txBody>
                    <a:bodyPr/>
                    <a:lstStyle/>
                    <a:p>
                      <a:pPr algn="ctr"/>
                      <a:endParaRPr lang="en-US"/>
                    </a:p>
                  </a:txBody>
                  <a:tcPr/>
                </a:tc>
                <a:tc hMerge="1">
                  <a:txBody>
                    <a:bodyPr/>
                    <a:lstStyle/>
                    <a:p>
                      <a:pPr algn="ctr"/>
                      <a:r>
                        <a:rPr lang="en-US"/>
                        <a:t>Immediate (8-bit)</a:t>
                      </a:r>
                    </a:p>
                  </a:txBody>
                  <a:tcPr/>
                </a:tc>
                <a:tc>
                  <a:txBody>
                    <a:bodyPr/>
                    <a:lstStyle/>
                    <a:p>
                      <a:pPr algn="ctr"/>
                      <a:r>
                        <a:rPr lang="en-US" sz="1300" dirty="0"/>
                        <a:t>Rs (Rd)</a:t>
                      </a:r>
                    </a:p>
                  </a:txBody>
                  <a:tcPr/>
                </a:tc>
                <a:tc>
                  <a:txBody>
                    <a:bodyPr/>
                    <a:lstStyle/>
                    <a:p>
                      <a:pPr algn="ctr"/>
                      <a:r>
                        <a:rPr lang="en-US" sz="1300" dirty="0" err="1"/>
                        <a:t>ARSrc</a:t>
                      </a:r>
                      <a:r>
                        <a:rPr lang="en-US" sz="1300" dirty="0"/>
                        <a:t>[1]</a:t>
                      </a:r>
                    </a:p>
                  </a:txBody>
                  <a:tcPr/>
                </a:tc>
                <a:tc>
                  <a:txBody>
                    <a:bodyPr/>
                    <a:lstStyle/>
                    <a:p>
                      <a:pPr algn="ctr"/>
                      <a:r>
                        <a:rPr lang="en-US" sz="1300" dirty="0" err="1"/>
                        <a:t>OpCode</a:t>
                      </a:r>
                      <a:r>
                        <a:rPr lang="en-US" sz="1300" dirty="0"/>
                        <a:t>=17 (and </a:t>
                      </a:r>
                      <a:r>
                        <a:rPr lang="en-US" sz="1300" dirty="0" err="1"/>
                        <a:t>ARSrc</a:t>
                      </a:r>
                      <a:r>
                        <a:rPr lang="en-US" sz="1300" dirty="0"/>
                        <a:t>[0] = 1)</a:t>
                      </a:r>
                    </a:p>
                  </a:txBody>
                  <a:tcPr/>
                </a:tc>
                <a:extLst>
                  <a:ext uri="{0D108BD9-81ED-4DB2-BD59-A6C34878D82A}">
                    <a16:rowId xmlns:a16="http://schemas.microsoft.com/office/drawing/2014/main" val="2570910443"/>
                  </a:ext>
                </a:extLst>
              </a:tr>
            </a:tbl>
          </a:graphicData>
        </a:graphic>
      </p:graphicFrame>
      <p:sp>
        <p:nvSpPr>
          <p:cNvPr id="4" name="TextBox 3">
            <a:extLst>
              <a:ext uri="{FF2B5EF4-FFF2-40B4-BE49-F238E27FC236}">
                <a16:creationId xmlns:a16="http://schemas.microsoft.com/office/drawing/2014/main" id="{F880A3E9-DD48-B004-C843-2B190F686316}"/>
              </a:ext>
            </a:extLst>
          </p:cNvPr>
          <p:cNvSpPr txBox="1"/>
          <p:nvPr/>
        </p:nvSpPr>
        <p:spPr>
          <a:xfrm>
            <a:off x="10966456" y="2"/>
            <a:ext cx="1223412" cy="1323439"/>
          </a:xfrm>
          <a:prstGeom prst="rect">
            <a:avLst/>
          </a:prstGeom>
          <a:noFill/>
        </p:spPr>
        <p:txBody>
          <a:bodyPr wrap="none" rtlCol="0">
            <a:spAutoFit/>
          </a:bodyPr>
          <a:lstStyle/>
          <a:p>
            <a:r>
              <a:rPr lang="en-US" sz="8000" dirty="0">
                <a:solidFill>
                  <a:schemeClr val="accent1">
                    <a:lumMod val="60000"/>
                    <a:lumOff val="40000"/>
                  </a:schemeClr>
                </a:solidFill>
              </a:rPr>
              <a:t>17</a:t>
            </a:r>
          </a:p>
        </p:txBody>
      </p:sp>
      <p:graphicFrame>
        <p:nvGraphicFramePr>
          <p:cNvPr id="8" name="Table 6">
            <a:extLst>
              <a:ext uri="{FF2B5EF4-FFF2-40B4-BE49-F238E27FC236}">
                <a16:creationId xmlns:a16="http://schemas.microsoft.com/office/drawing/2014/main" id="{D5676FAE-B7E2-295F-0CE1-27777E7786BB}"/>
              </a:ext>
            </a:extLst>
          </p:cNvPr>
          <p:cNvGraphicFramePr>
            <a:graphicFrameLocks noGrp="1"/>
          </p:cNvGraphicFramePr>
          <p:nvPr>
            <p:extLst>
              <p:ext uri="{D42A27DB-BD31-4B8C-83A1-F6EECF244321}">
                <p14:modId xmlns:p14="http://schemas.microsoft.com/office/powerpoint/2010/main" val="3417242325"/>
              </p:ext>
            </p:extLst>
          </p:nvPr>
        </p:nvGraphicFramePr>
        <p:xfrm>
          <a:off x="5576596" y="3030889"/>
          <a:ext cx="3857535" cy="1188720"/>
        </p:xfrm>
        <a:graphic>
          <a:graphicData uri="http://schemas.openxmlformats.org/drawingml/2006/table">
            <a:tbl>
              <a:tblPr firstRow="1" bandRow="1">
                <a:tableStyleId>{5C22544A-7EE6-4342-B048-85BDC9FD1C3A}</a:tableStyleId>
              </a:tblPr>
              <a:tblGrid>
                <a:gridCol w="776078">
                  <a:extLst>
                    <a:ext uri="{9D8B030D-6E8A-4147-A177-3AD203B41FA5}">
                      <a16:colId xmlns:a16="http://schemas.microsoft.com/office/drawing/2014/main" val="3639428745"/>
                    </a:ext>
                  </a:extLst>
                </a:gridCol>
                <a:gridCol w="812131">
                  <a:extLst>
                    <a:ext uri="{9D8B030D-6E8A-4147-A177-3AD203B41FA5}">
                      <a16:colId xmlns:a16="http://schemas.microsoft.com/office/drawing/2014/main" val="136219337"/>
                    </a:ext>
                  </a:extLst>
                </a:gridCol>
                <a:gridCol w="1420239">
                  <a:extLst>
                    <a:ext uri="{9D8B030D-6E8A-4147-A177-3AD203B41FA5}">
                      <a16:colId xmlns:a16="http://schemas.microsoft.com/office/drawing/2014/main" val="322570224"/>
                    </a:ext>
                  </a:extLst>
                </a:gridCol>
                <a:gridCol w="849087">
                  <a:extLst>
                    <a:ext uri="{9D8B030D-6E8A-4147-A177-3AD203B41FA5}">
                      <a16:colId xmlns:a16="http://schemas.microsoft.com/office/drawing/2014/main" val="3266938421"/>
                    </a:ext>
                  </a:extLst>
                </a:gridCol>
              </a:tblGrid>
              <a:tr h="640080">
                <a:tc>
                  <a:txBody>
                    <a:bodyPr/>
                    <a:lstStyle/>
                    <a:p>
                      <a:r>
                        <a:rPr lang="en-US" sz="1200" dirty="0"/>
                        <a:t>INSTR[5]</a:t>
                      </a:r>
                    </a:p>
                  </a:txBody>
                  <a:tcPr/>
                </a:tc>
                <a:tc>
                  <a:txBody>
                    <a:bodyPr/>
                    <a:lstStyle/>
                    <a:p>
                      <a:r>
                        <a:rPr lang="en-US" sz="1200" dirty="0"/>
                        <a:t>INSTR[0]</a:t>
                      </a:r>
                    </a:p>
                  </a:txBody>
                  <a:tcPr/>
                </a:tc>
                <a:tc>
                  <a:txBody>
                    <a:bodyPr/>
                    <a:lstStyle/>
                    <a:p>
                      <a:r>
                        <a:rPr lang="en-US" sz="1200" dirty="0" err="1"/>
                        <a:t>ARSrc</a:t>
                      </a:r>
                      <a:r>
                        <a:rPr lang="en-US" sz="1200" dirty="0"/>
                        <a:t> Address Register</a:t>
                      </a:r>
                    </a:p>
                  </a:txBody>
                  <a:tcPr/>
                </a:tc>
                <a:tc>
                  <a:txBody>
                    <a:bodyPr/>
                    <a:lstStyle/>
                    <a:p>
                      <a:r>
                        <a:rPr lang="en-US" sz="1200" dirty="0"/>
                        <a:t>Command Parameter</a:t>
                      </a:r>
                    </a:p>
                  </a:txBody>
                  <a:tcPr/>
                </a:tc>
                <a:extLst>
                  <a:ext uri="{0D108BD9-81ED-4DB2-BD59-A6C34878D82A}">
                    <a16:rowId xmlns:a16="http://schemas.microsoft.com/office/drawing/2014/main" val="727245786"/>
                  </a:ext>
                </a:extLst>
              </a:tr>
              <a:tr h="274320">
                <a:tc>
                  <a:txBody>
                    <a:bodyPr/>
                    <a:lstStyle/>
                    <a:p>
                      <a:r>
                        <a:rPr lang="en-US" sz="1200"/>
                        <a:t>0</a:t>
                      </a:r>
                    </a:p>
                  </a:txBody>
                  <a:tcPr/>
                </a:tc>
                <a:tc>
                  <a:txBody>
                    <a:bodyPr/>
                    <a:lstStyle/>
                    <a:p>
                      <a:r>
                        <a:rPr lang="en-US" sz="1200" dirty="0"/>
                        <a:t>1</a:t>
                      </a:r>
                    </a:p>
                  </a:txBody>
                  <a:tcPr/>
                </a:tc>
                <a:tc>
                  <a:txBody>
                    <a:bodyPr/>
                    <a:lstStyle/>
                    <a:p>
                      <a:r>
                        <a:rPr lang="en-US" sz="1200" dirty="0"/>
                        <a:t>DP</a:t>
                      </a:r>
                    </a:p>
                  </a:txBody>
                  <a:tcPr>
                    <a:solidFill>
                      <a:schemeClr val="accent6">
                        <a:lumMod val="60000"/>
                        <a:lumOff val="40000"/>
                      </a:schemeClr>
                    </a:solidFill>
                  </a:tcPr>
                </a:tc>
                <a:tc>
                  <a:txBody>
                    <a:bodyPr/>
                    <a:lstStyle/>
                    <a:p>
                      <a:r>
                        <a:rPr lang="en-US" sz="1200" dirty="0"/>
                        <a:t>%DP</a:t>
                      </a:r>
                    </a:p>
                  </a:txBody>
                  <a:tcPr>
                    <a:solidFill>
                      <a:schemeClr val="accent6">
                        <a:lumMod val="60000"/>
                        <a:lumOff val="40000"/>
                      </a:schemeClr>
                    </a:solidFill>
                  </a:tcPr>
                </a:tc>
                <a:extLst>
                  <a:ext uri="{0D108BD9-81ED-4DB2-BD59-A6C34878D82A}">
                    <a16:rowId xmlns:a16="http://schemas.microsoft.com/office/drawing/2014/main" val="3427146651"/>
                  </a:ext>
                </a:extLst>
              </a:tr>
              <a:tr h="274320">
                <a:tc>
                  <a:txBody>
                    <a:bodyPr/>
                    <a:lstStyle/>
                    <a:p>
                      <a:r>
                        <a:rPr lang="en-US" sz="1200" dirty="0"/>
                        <a:t>1</a:t>
                      </a:r>
                    </a:p>
                  </a:txBody>
                  <a:tcPr/>
                </a:tc>
                <a:tc>
                  <a:txBody>
                    <a:bodyPr/>
                    <a:lstStyle/>
                    <a:p>
                      <a:r>
                        <a:rPr lang="en-US" sz="1200" dirty="0"/>
                        <a:t>1</a:t>
                      </a:r>
                    </a:p>
                  </a:txBody>
                  <a:tcPr/>
                </a:tc>
                <a:tc>
                  <a:txBody>
                    <a:bodyPr/>
                    <a:lstStyle/>
                    <a:p>
                      <a:r>
                        <a:rPr lang="en-US" sz="1200" dirty="0"/>
                        <a:t>BP</a:t>
                      </a:r>
                    </a:p>
                  </a:txBody>
                  <a:tcPr>
                    <a:solidFill>
                      <a:schemeClr val="accent6">
                        <a:lumMod val="60000"/>
                        <a:lumOff val="40000"/>
                      </a:schemeClr>
                    </a:solidFill>
                  </a:tcPr>
                </a:tc>
                <a:tc>
                  <a:txBody>
                    <a:bodyPr/>
                    <a:lstStyle/>
                    <a:p>
                      <a:r>
                        <a:rPr lang="en-US" sz="1200" dirty="0"/>
                        <a:t>%BP</a:t>
                      </a:r>
                    </a:p>
                  </a:txBody>
                  <a:tcPr>
                    <a:solidFill>
                      <a:schemeClr val="accent6">
                        <a:lumMod val="60000"/>
                        <a:lumOff val="40000"/>
                      </a:schemeClr>
                    </a:solidFill>
                  </a:tcPr>
                </a:tc>
                <a:extLst>
                  <a:ext uri="{0D108BD9-81ED-4DB2-BD59-A6C34878D82A}">
                    <a16:rowId xmlns:a16="http://schemas.microsoft.com/office/drawing/2014/main" val="1942712580"/>
                  </a:ext>
                </a:extLst>
              </a:tr>
            </a:tbl>
          </a:graphicData>
        </a:graphic>
      </p:graphicFrame>
      <p:sp>
        <p:nvSpPr>
          <p:cNvPr id="6" name="TextBox 5">
            <a:extLst>
              <a:ext uri="{FF2B5EF4-FFF2-40B4-BE49-F238E27FC236}">
                <a16:creationId xmlns:a16="http://schemas.microsoft.com/office/drawing/2014/main" id="{E363269C-81F2-6FEC-6893-C0FFECB6C248}"/>
              </a:ext>
            </a:extLst>
          </p:cNvPr>
          <p:cNvSpPr txBox="1"/>
          <p:nvPr/>
        </p:nvSpPr>
        <p:spPr>
          <a:xfrm>
            <a:off x="6615405" y="4958332"/>
            <a:ext cx="3142207"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SDW R0, %BP, #0</a:t>
            </a:r>
          </a:p>
        </p:txBody>
      </p:sp>
      <p:sp>
        <p:nvSpPr>
          <p:cNvPr id="7" name="TextBox 6">
            <a:extLst>
              <a:ext uri="{FF2B5EF4-FFF2-40B4-BE49-F238E27FC236}">
                <a16:creationId xmlns:a16="http://schemas.microsoft.com/office/drawing/2014/main" id="{15AC6BEF-356D-ABD3-8DCF-8F63E4260BBF}"/>
              </a:ext>
            </a:extLst>
          </p:cNvPr>
          <p:cNvSpPr txBox="1"/>
          <p:nvPr/>
        </p:nvSpPr>
        <p:spPr>
          <a:xfrm>
            <a:off x="4876837" y="4495763"/>
            <a:ext cx="6888424"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a:t>
            </a:r>
            <a:r>
              <a:rPr lang="en-US" sz="2800" dirty="0" err="1">
                <a:solidFill>
                  <a:srgbClr val="00B050"/>
                </a:solidFill>
                <a:latin typeface="Consolas" panose="020B0609020204030204" pitchFamily="49" charset="0"/>
              </a:rPr>
              <a:t>ARSrc</a:t>
            </a:r>
            <a:r>
              <a:rPr lang="en-US" sz="2800" dirty="0">
                <a:solidFill>
                  <a:srgbClr val="00B050"/>
                </a:solidFill>
                <a:latin typeface="Consolas" panose="020B0609020204030204" pitchFamily="49" charset="0"/>
              </a:rPr>
              <a:t> + Imm) = Rs (Rd as source)</a:t>
            </a:r>
          </a:p>
        </p:txBody>
      </p:sp>
      <p:graphicFrame>
        <p:nvGraphicFramePr>
          <p:cNvPr id="9" name="Table 4">
            <a:extLst>
              <a:ext uri="{FF2B5EF4-FFF2-40B4-BE49-F238E27FC236}">
                <a16:creationId xmlns:a16="http://schemas.microsoft.com/office/drawing/2014/main" id="{D3274C48-DA2A-A3A7-4F08-490414B7E5E7}"/>
              </a:ext>
            </a:extLst>
          </p:cNvPr>
          <p:cNvGraphicFramePr>
            <a:graphicFrameLocks noGrp="1"/>
          </p:cNvGraphicFramePr>
          <p:nvPr>
            <p:extLst>
              <p:ext uri="{D42A27DB-BD31-4B8C-83A1-F6EECF244321}">
                <p14:modId xmlns:p14="http://schemas.microsoft.com/office/powerpoint/2010/main" val="672536172"/>
              </p:ext>
            </p:extLst>
          </p:nvPr>
        </p:nvGraphicFramePr>
        <p:xfrm>
          <a:off x="179752" y="742463"/>
          <a:ext cx="4329725" cy="5004175"/>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00345">
                <a:tc>
                  <a:txBody>
                    <a:bodyPr/>
                    <a:lstStyle/>
                    <a:p>
                      <a:pPr>
                        <a:lnSpc>
                          <a:spcPct val="100000"/>
                        </a:lnSpc>
                      </a:pPr>
                      <a:r>
                        <a:rPr lang="en-US" sz="700"/>
                        <a:t>Bit</a:t>
                      </a:r>
                    </a:p>
                  </a:txBody>
                  <a:tcPr anchor="ctr"/>
                </a:tc>
                <a:tc>
                  <a:txBody>
                    <a:bodyPr/>
                    <a:lstStyle/>
                    <a:p>
                      <a:pPr>
                        <a:lnSpc>
                          <a:spcPct val="100000"/>
                        </a:lnSpc>
                      </a:pPr>
                      <a:r>
                        <a:rPr lang="en-US" sz="700" dirty="0"/>
                        <a:t>Operation</a:t>
                      </a:r>
                    </a:p>
                  </a:txBody>
                  <a:tcPr anchor="ctr"/>
                </a:tc>
                <a:extLst>
                  <a:ext uri="{0D108BD9-81ED-4DB2-BD59-A6C34878D82A}">
                    <a16:rowId xmlns:a16="http://schemas.microsoft.com/office/drawing/2014/main" val="2319756336"/>
                  </a:ext>
                </a:extLst>
              </a:tr>
              <a:tr h="200345">
                <a:tc>
                  <a:txBody>
                    <a:bodyPr/>
                    <a:lstStyle/>
                    <a:p>
                      <a:pPr algn="ctr">
                        <a:lnSpc>
                          <a:spcPct val="100000"/>
                        </a:lnSpc>
                      </a:pPr>
                      <a:r>
                        <a:rPr lang="en-US" sz="700" dirty="0"/>
                        <a:t>23</a:t>
                      </a:r>
                    </a:p>
                  </a:txBody>
                  <a:tcPr anchor="ctr"/>
                </a:tc>
                <a:tc>
                  <a:txBody>
                    <a:bodyPr/>
                    <a:lstStyle/>
                    <a:p>
                      <a:pPr algn="l">
                        <a:lnSpc>
                          <a:spcPct val="100000"/>
                        </a:lnSpc>
                      </a:pPr>
                      <a:r>
                        <a:rPr lang="en-US" sz="700" dirty="0"/>
                        <a:t>Not Used</a:t>
                      </a:r>
                    </a:p>
                  </a:txBody>
                  <a:tcPr anchor="ctr"/>
                </a:tc>
                <a:extLst>
                  <a:ext uri="{0D108BD9-81ED-4DB2-BD59-A6C34878D82A}">
                    <a16:rowId xmlns:a16="http://schemas.microsoft.com/office/drawing/2014/main" val="3576468534"/>
                  </a:ext>
                </a:extLst>
              </a:tr>
              <a:tr h="200345">
                <a:tc>
                  <a:txBody>
                    <a:bodyPr/>
                    <a:lstStyle/>
                    <a:p>
                      <a:pPr algn="ctr">
                        <a:lnSpc>
                          <a:spcPct val="100000"/>
                        </a:lnSpc>
                      </a:pPr>
                      <a:r>
                        <a:rPr lang="en-US" sz="700" dirty="0"/>
                        <a:t>22</a:t>
                      </a:r>
                    </a:p>
                  </a:txBody>
                  <a:tcPr anchor="ctr"/>
                </a:tc>
                <a:tc>
                  <a:txBody>
                    <a:bodyPr/>
                    <a:lstStyle/>
                    <a:p>
                      <a:pPr algn="l">
                        <a:lnSpc>
                          <a:spcPct val="100000"/>
                        </a:lnSpc>
                      </a:pPr>
                      <a:r>
                        <a:rPr lang="en-US" sz="700" dirty="0" err="1"/>
                        <a:t>AddressHorL</a:t>
                      </a:r>
                      <a:endParaRPr lang="en-US" sz="700" dirty="0"/>
                    </a:p>
                  </a:txBody>
                  <a:tcPr anchor="ctr"/>
                </a:tc>
                <a:extLst>
                  <a:ext uri="{0D108BD9-81ED-4DB2-BD59-A6C34878D82A}">
                    <a16:rowId xmlns:a16="http://schemas.microsoft.com/office/drawing/2014/main" val="79971578"/>
                  </a:ext>
                </a:extLst>
              </a:tr>
              <a:tr h="200345">
                <a:tc>
                  <a:txBody>
                    <a:bodyPr/>
                    <a:lstStyle/>
                    <a:p>
                      <a:pPr algn="ctr">
                        <a:lnSpc>
                          <a:spcPct val="100000"/>
                        </a:lnSpc>
                      </a:pPr>
                      <a:r>
                        <a:rPr lang="en-US" sz="700" dirty="0"/>
                        <a:t>21</a:t>
                      </a:r>
                    </a:p>
                  </a:txBody>
                  <a:tcPr anchor="ctr"/>
                </a:tc>
                <a:tc>
                  <a:txBody>
                    <a:bodyPr/>
                    <a:lstStyle/>
                    <a:p>
                      <a:pPr algn="l">
                        <a:lnSpc>
                          <a:spcPct val="100000"/>
                        </a:lnSpc>
                      </a:pPr>
                      <a:r>
                        <a:rPr lang="en-US" sz="700" dirty="0" err="1"/>
                        <a:t>AddressBusToDataBus</a:t>
                      </a:r>
                      <a:endParaRPr lang="en-US" sz="700" dirty="0"/>
                    </a:p>
                  </a:txBody>
                  <a:tcPr anchor="ctr"/>
                </a:tc>
                <a:extLst>
                  <a:ext uri="{0D108BD9-81ED-4DB2-BD59-A6C34878D82A}">
                    <a16:rowId xmlns:a16="http://schemas.microsoft.com/office/drawing/2014/main" val="4135939119"/>
                  </a:ext>
                </a:extLst>
              </a:tr>
              <a:tr h="200345">
                <a:tc>
                  <a:txBody>
                    <a:bodyPr/>
                    <a:lstStyle/>
                    <a:p>
                      <a:pPr algn="ctr">
                        <a:lnSpc>
                          <a:spcPct val="100000"/>
                        </a:lnSpc>
                      </a:pPr>
                      <a:r>
                        <a:rPr lang="en-US" sz="700" dirty="0"/>
                        <a:t>20</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err="1"/>
                        <a:t>TmpARWrite</a:t>
                      </a:r>
                      <a:endParaRPr lang="en-US" sz="700"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9580944"/>
                  </a:ext>
                </a:extLst>
              </a:tr>
              <a:tr h="200345">
                <a:tc>
                  <a:txBody>
                    <a:bodyPr/>
                    <a:lstStyle/>
                    <a:p>
                      <a:pPr algn="ctr">
                        <a:lnSpc>
                          <a:spcPct val="100000"/>
                        </a:lnSpc>
                      </a:pPr>
                      <a:r>
                        <a:rPr lang="en-US" sz="700" dirty="0"/>
                        <a:t>19</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err="1"/>
                        <a:t>TmpARRead</a:t>
                      </a:r>
                      <a:endParaRPr lang="en-US" sz="700"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35159618"/>
                  </a:ext>
                </a:extLst>
              </a:tr>
              <a:tr h="200345">
                <a:tc>
                  <a:txBody>
                    <a:bodyPr/>
                    <a:lstStyle/>
                    <a:p>
                      <a:pPr algn="ctr">
                        <a:lnSpc>
                          <a:spcPct val="100000"/>
                        </a:lnSpc>
                      </a:pPr>
                      <a:r>
                        <a:rPr lang="en-US" sz="700" dirty="0"/>
                        <a:t>18</a:t>
                      </a:r>
                    </a:p>
                  </a:txBody>
                  <a:tcPr anchor="ctr"/>
                </a:tc>
                <a:tc>
                  <a:txBody>
                    <a:bodyPr/>
                    <a:lstStyle/>
                    <a:p>
                      <a:pPr algn="l">
                        <a:lnSpc>
                          <a:spcPct val="100000"/>
                        </a:lnSpc>
                      </a:pPr>
                      <a:r>
                        <a:rPr lang="en-US" sz="700" dirty="0" err="1"/>
                        <a:t>loadARHorL</a:t>
                      </a:r>
                      <a:endParaRPr lang="en-US" sz="700" dirty="0"/>
                    </a:p>
                  </a:txBody>
                  <a:tcPr anchor="ctr"/>
                </a:tc>
                <a:extLst>
                  <a:ext uri="{0D108BD9-81ED-4DB2-BD59-A6C34878D82A}">
                    <a16:rowId xmlns:a16="http://schemas.microsoft.com/office/drawing/2014/main" val="2357817394"/>
                  </a:ext>
                </a:extLst>
              </a:tr>
              <a:tr h="200345">
                <a:tc>
                  <a:txBody>
                    <a:bodyPr/>
                    <a:lstStyle/>
                    <a:p>
                      <a:pPr algn="ctr">
                        <a:lnSpc>
                          <a:spcPct val="100000"/>
                        </a:lnSpc>
                      </a:pPr>
                      <a:r>
                        <a:rPr lang="en-US" sz="700"/>
                        <a:t>17</a:t>
                      </a:r>
                    </a:p>
                  </a:txBody>
                  <a:tcPr anchor="ctr"/>
                </a:tc>
                <a:tc>
                  <a:txBody>
                    <a:bodyPr/>
                    <a:lstStyle/>
                    <a:p>
                      <a:pPr algn="l">
                        <a:lnSpc>
                          <a:spcPct val="100000"/>
                        </a:lnSpc>
                      </a:pPr>
                      <a:r>
                        <a:rPr lang="en-US" sz="700" dirty="0" err="1"/>
                        <a:t>loadAR</a:t>
                      </a:r>
                      <a:r>
                        <a:rPr lang="en-US" sz="700" dirty="0"/>
                        <a:t> (formerly: Load Special Pointer)</a:t>
                      </a:r>
                    </a:p>
                  </a:txBody>
                  <a:tcPr anchor="ctr"/>
                </a:tc>
                <a:extLst>
                  <a:ext uri="{0D108BD9-81ED-4DB2-BD59-A6C34878D82A}">
                    <a16:rowId xmlns:a16="http://schemas.microsoft.com/office/drawing/2014/main" val="2759210480"/>
                  </a:ext>
                </a:extLst>
              </a:tr>
              <a:tr h="200345">
                <a:tc>
                  <a:txBody>
                    <a:bodyPr/>
                    <a:lstStyle/>
                    <a:p>
                      <a:pPr algn="ctr">
                        <a:lnSpc>
                          <a:spcPct val="100000"/>
                        </a:lnSpc>
                      </a:pPr>
                      <a:r>
                        <a:rPr lang="en-US" sz="700" dirty="0"/>
                        <a:t>16</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Stack Pointer Increment / Decrement (0: decrease / 1: increase)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6363256"/>
                  </a:ext>
                </a:extLst>
              </a:tr>
              <a:tr h="200345">
                <a:tc>
                  <a:txBody>
                    <a:bodyPr/>
                    <a:lstStyle/>
                    <a:p>
                      <a:pPr algn="ctr">
                        <a:lnSpc>
                          <a:spcPct val="100000"/>
                        </a:lnSpc>
                      </a:pPr>
                      <a:r>
                        <a:rPr lang="en-US" sz="700"/>
                        <a:t>15</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Stack Pointer Count</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49660566"/>
                  </a:ext>
                </a:extLst>
              </a:tr>
              <a:tr h="200345">
                <a:tc>
                  <a:txBody>
                    <a:bodyPr/>
                    <a:lstStyle/>
                    <a:p>
                      <a:pPr algn="ctr">
                        <a:lnSpc>
                          <a:spcPct val="100000"/>
                        </a:lnSpc>
                      </a:pPr>
                      <a:r>
                        <a:rPr lang="en-US" sz="700"/>
                        <a:t>14</a:t>
                      </a:r>
                    </a:p>
                  </a:txBody>
                  <a:tcPr anchor="ctr"/>
                </a:tc>
                <a:tc>
                  <a:txBody>
                    <a:bodyPr/>
                    <a:lstStyle/>
                    <a:p>
                      <a:pPr algn="l">
                        <a:lnSpc>
                          <a:spcPct val="100000"/>
                        </a:lnSpc>
                      </a:pPr>
                      <a:r>
                        <a:rPr lang="en-US" sz="700" dirty="0"/>
                        <a:t>SP Out (formerly: RAM Address Select (0: Address register / 1: Stack pointer))</a:t>
                      </a:r>
                    </a:p>
                  </a:txBody>
                  <a:tcPr anchor="ctr"/>
                </a:tc>
                <a:extLst>
                  <a:ext uri="{0D108BD9-81ED-4DB2-BD59-A6C34878D82A}">
                    <a16:rowId xmlns:a16="http://schemas.microsoft.com/office/drawing/2014/main" val="645489424"/>
                  </a:ext>
                </a:extLst>
              </a:tr>
              <a:tr h="200345">
                <a:tc>
                  <a:txBody>
                    <a:bodyPr/>
                    <a:lstStyle/>
                    <a:p>
                      <a:pPr algn="ctr">
                        <a:lnSpc>
                          <a:spcPct val="100000"/>
                        </a:lnSpc>
                      </a:pPr>
                      <a:r>
                        <a:rPr lang="en-US" sz="700"/>
                        <a:t>13</a:t>
                      </a:r>
                    </a:p>
                  </a:txBody>
                  <a:tcPr anchor="ctr"/>
                </a:tc>
                <a:tc>
                  <a:txBody>
                    <a:bodyPr/>
                    <a:lstStyle/>
                    <a:p>
                      <a:pPr algn="l">
                        <a:lnSpc>
                          <a:spcPct val="100000"/>
                        </a:lnSpc>
                      </a:pPr>
                      <a:r>
                        <a:rPr lang="en-US" sz="700"/>
                        <a:t>Use Rd as Source</a:t>
                      </a:r>
                    </a:p>
                  </a:txBody>
                  <a:tcPr anchor="ctr"/>
                </a:tc>
                <a:extLst>
                  <a:ext uri="{0D108BD9-81ED-4DB2-BD59-A6C34878D82A}">
                    <a16:rowId xmlns:a16="http://schemas.microsoft.com/office/drawing/2014/main" val="2745442092"/>
                  </a:ext>
                </a:extLst>
              </a:tr>
              <a:tr h="200345">
                <a:tc>
                  <a:txBody>
                    <a:bodyPr/>
                    <a:lstStyle/>
                    <a:p>
                      <a:pPr algn="ctr">
                        <a:lnSpc>
                          <a:spcPct val="100000"/>
                        </a:lnSpc>
                      </a:pPr>
                      <a:r>
                        <a:rPr lang="en-US" sz="700" dirty="0"/>
                        <a:t>12</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Lower Address Register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762316"/>
                  </a:ext>
                </a:extLst>
              </a:tr>
              <a:tr h="200345">
                <a:tc>
                  <a:txBody>
                    <a:bodyPr/>
                    <a:lstStyle/>
                    <a:p>
                      <a:pPr algn="ctr">
                        <a:lnSpc>
                          <a:spcPct val="100000"/>
                        </a:lnSpc>
                      </a:pPr>
                      <a:r>
                        <a:rPr lang="en-US" sz="700"/>
                        <a:t>11</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Mem Write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66008767"/>
                  </a:ext>
                </a:extLst>
              </a:tr>
              <a:tr h="200345">
                <a:tc>
                  <a:txBody>
                    <a:bodyPr/>
                    <a:lstStyle/>
                    <a:p>
                      <a:pPr algn="ctr">
                        <a:lnSpc>
                          <a:spcPct val="100000"/>
                        </a:lnSpc>
                      </a:pPr>
                      <a:r>
                        <a:rPr lang="en-US" sz="700"/>
                        <a:t>10</a:t>
                      </a:r>
                    </a:p>
                  </a:txBody>
                  <a:tcPr anchor="ctr"/>
                </a:tc>
                <a:tc>
                  <a:txBody>
                    <a:bodyPr/>
                    <a:lstStyle/>
                    <a:p>
                      <a:pPr algn="l">
                        <a:lnSpc>
                          <a:spcPct val="100000"/>
                        </a:lnSpc>
                      </a:pPr>
                      <a:r>
                        <a:rPr lang="en-US" sz="700"/>
                        <a:t>Mem Read</a:t>
                      </a:r>
                    </a:p>
                  </a:txBody>
                  <a:tcPr anchor="ctr"/>
                </a:tc>
                <a:extLst>
                  <a:ext uri="{0D108BD9-81ED-4DB2-BD59-A6C34878D82A}">
                    <a16:rowId xmlns:a16="http://schemas.microsoft.com/office/drawing/2014/main" val="707415226"/>
                  </a:ext>
                </a:extLst>
              </a:tr>
              <a:tr h="200345">
                <a:tc>
                  <a:txBody>
                    <a:bodyPr/>
                    <a:lstStyle/>
                    <a:p>
                      <a:pPr algn="ctr">
                        <a:lnSpc>
                          <a:spcPct val="100000"/>
                        </a:lnSpc>
                      </a:pPr>
                      <a:r>
                        <a:rPr lang="en-US" sz="700"/>
                        <a:t>9</a:t>
                      </a:r>
                    </a:p>
                  </a:txBody>
                  <a:tcPr anchor="ctr"/>
                </a:tc>
                <a:tc>
                  <a:txBody>
                    <a:bodyPr/>
                    <a:lstStyle/>
                    <a:p>
                      <a:pPr algn="l">
                        <a:lnSpc>
                          <a:spcPct val="100000"/>
                        </a:lnSpc>
                      </a:pPr>
                      <a:r>
                        <a:rPr lang="en-US" sz="700"/>
                        <a:t>PC Out</a:t>
                      </a:r>
                    </a:p>
                  </a:txBody>
                  <a:tcPr anchor="ctr"/>
                </a:tc>
                <a:extLst>
                  <a:ext uri="{0D108BD9-81ED-4DB2-BD59-A6C34878D82A}">
                    <a16:rowId xmlns:a16="http://schemas.microsoft.com/office/drawing/2014/main" val="1663806429"/>
                  </a:ext>
                </a:extLst>
              </a:tr>
              <a:tr h="200345">
                <a:tc>
                  <a:txBody>
                    <a:bodyPr/>
                    <a:lstStyle/>
                    <a:p>
                      <a:pPr algn="ctr">
                        <a:lnSpc>
                          <a:spcPct val="100000"/>
                        </a:lnSpc>
                      </a:pPr>
                      <a:r>
                        <a:rPr lang="en-US" sz="700" dirty="0"/>
                        <a:t>8</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a:t>PC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27957"/>
                  </a:ext>
                </a:extLst>
              </a:tr>
              <a:tr h="200345">
                <a:tc>
                  <a:txBody>
                    <a:bodyPr/>
                    <a:lstStyle/>
                    <a:p>
                      <a:pPr algn="ctr">
                        <a:lnSpc>
                          <a:spcPct val="100000"/>
                        </a:lnSpc>
                      </a:pPr>
                      <a:r>
                        <a:rPr lang="en-US" sz="700"/>
                        <a:t>7</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PC advance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70910443"/>
                  </a:ext>
                </a:extLst>
              </a:tr>
              <a:tr h="200345">
                <a:tc>
                  <a:txBody>
                    <a:bodyPr/>
                    <a:lstStyle/>
                    <a:p>
                      <a:pPr algn="ctr">
                        <a:lnSpc>
                          <a:spcPct val="100000"/>
                        </a:lnSpc>
                      </a:pPr>
                      <a:r>
                        <a:rPr lang="en-US" sz="700"/>
                        <a:t>6</a:t>
                      </a:r>
                    </a:p>
                  </a:txBody>
                  <a:tcPr anchor="ctr"/>
                </a:tc>
                <a:tc>
                  <a:txBody>
                    <a:bodyPr/>
                    <a:lstStyle/>
                    <a:p>
                      <a:pPr algn="l">
                        <a:lnSpc>
                          <a:spcPct val="100000"/>
                        </a:lnSpc>
                      </a:pPr>
                      <a:r>
                        <a:rPr lang="en-US" sz="700"/>
                        <a:t>Program Register H Write to Bus (parameter)</a:t>
                      </a:r>
                    </a:p>
                  </a:txBody>
                  <a:tcPr anchor="ctr"/>
                </a:tc>
                <a:extLst>
                  <a:ext uri="{0D108BD9-81ED-4DB2-BD59-A6C34878D82A}">
                    <a16:rowId xmlns:a16="http://schemas.microsoft.com/office/drawing/2014/main" val="631651838"/>
                  </a:ext>
                </a:extLst>
              </a:tr>
              <a:tr h="200345">
                <a:tc>
                  <a:txBody>
                    <a:bodyPr/>
                    <a:lstStyle/>
                    <a:p>
                      <a:pPr algn="ctr">
                        <a:lnSpc>
                          <a:spcPct val="100000"/>
                        </a:lnSpc>
                      </a:pPr>
                      <a:r>
                        <a:rPr lang="en-US" sz="700"/>
                        <a:t>5</a:t>
                      </a:r>
                    </a:p>
                  </a:txBody>
                  <a:tcPr anchor="ctr"/>
                </a:tc>
                <a:tc>
                  <a:txBody>
                    <a:bodyPr/>
                    <a:lstStyle/>
                    <a:p>
                      <a:pPr algn="l">
                        <a:lnSpc>
                          <a:spcPct val="100000"/>
                        </a:lnSpc>
                      </a:pPr>
                      <a:r>
                        <a:rPr lang="en-US" sz="700"/>
                        <a:t>Register File Input Enable</a:t>
                      </a:r>
                    </a:p>
                  </a:txBody>
                  <a:tcPr anchor="ctr"/>
                </a:tc>
                <a:extLst>
                  <a:ext uri="{0D108BD9-81ED-4DB2-BD59-A6C34878D82A}">
                    <a16:rowId xmlns:a16="http://schemas.microsoft.com/office/drawing/2014/main" val="1592812184"/>
                  </a:ext>
                </a:extLst>
              </a:tr>
              <a:tr h="200345">
                <a:tc>
                  <a:txBody>
                    <a:bodyPr/>
                    <a:lstStyle/>
                    <a:p>
                      <a:pPr algn="ctr">
                        <a:lnSpc>
                          <a:spcPct val="100000"/>
                        </a:lnSpc>
                      </a:pPr>
                      <a:r>
                        <a:rPr lang="en-US" sz="700" dirty="0"/>
                        <a:t>4</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Register File Output Enable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5793510"/>
                  </a:ext>
                </a:extLst>
              </a:tr>
              <a:tr h="200345">
                <a:tc>
                  <a:txBody>
                    <a:bodyPr/>
                    <a:lstStyle/>
                    <a:p>
                      <a:pPr algn="ctr">
                        <a:lnSpc>
                          <a:spcPct val="100000"/>
                        </a:lnSpc>
                      </a:pPr>
                      <a:r>
                        <a:rPr lang="en-US" sz="700"/>
                        <a:t>3</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Register File Output Select (parameter – 0 -&gt; Rs1, 1 -&gt; Rs2)</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46366285"/>
                  </a:ext>
                </a:extLst>
              </a:tr>
              <a:tr h="0">
                <a:tc>
                  <a:txBody>
                    <a:bodyPr/>
                    <a:lstStyle/>
                    <a:p>
                      <a:pPr algn="ctr">
                        <a:lnSpc>
                          <a:spcPct val="100000"/>
                        </a:lnSpc>
                      </a:pPr>
                      <a:r>
                        <a:rPr lang="en-US" sz="700"/>
                        <a:t>2</a:t>
                      </a:r>
                    </a:p>
                  </a:txBody>
                  <a:tcPr anchor="ctr"/>
                </a:tc>
                <a:tc>
                  <a:txBody>
                    <a:bodyPr/>
                    <a:lstStyle/>
                    <a:p>
                      <a:pPr algn="l">
                        <a:lnSpc>
                          <a:spcPct val="100000"/>
                        </a:lnSpc>
                      </a:pPr>
                      <a:r>
                        <a:rPr lang="en-US" sz="700" dirty="0"/>
                        <a:t>ALU output enable</a:t>
                      </a:r>
                    </a:p>
                  </a:txBody>
                  <a:tcPr anchor="ctr"/>
                </a:tc>
                <a:extLst>
                  <a:ext uri="{0D108BD9-81ED-4DB2-BD59-A6C34878D82A}">
                    <a16:rowId xmlns:a16="http://schemas.microsoft.com/office/drawing/2014/main" val="2615342211"/>
                  </a:ext>
                </a:extLst>
              </a:tr>
              <a:tr h="156274">
                <a:tc>
                  <a:txBody>
                    <a:bodyPr/>
                    <a:lstStyle/>
                    <a:p>
                      <a:pPr algn="ctr">
                        <a:lnSpc>
                          <a:spcPct val="100000"/>
                        </a:lnSpc>
                      </a:pPr>
                      <a:r>
                        <a:rPr lang="en-US" sz="700"/>
                        <a:t>1</a:t>
                      </a:r>
                    </a:p>
                  </a:txBody>
                  <a:tcPr anchor="ctr"/>
                </a:tc>
                <a:tc>
                  <a:txBody>
                    <a:bodyPr/>
                    <a:lstStyle/>
                    <a:p>
                      <a:pPr algn="l">
                        <a:lnSpc>
                          <a:spcPct val="100000"/>
                        </a:lnSpc>
                      </a:pPr>
                      <a:r>
                        <a:rPr lang="en-US" sz="700" dirty="0"/>
                        <a:t>ALU load register A</a:t>
                      </a:r>
                    </a:p>
                  </a:txBody>
                  <a:tcPr marT="0" anchor="ctr"/>
                </a:tc>
                <a:extLst>
                  <a:ext uri="{0D108BD9-81ED-4DB2-BD59-A6C34878D82A}">
                    <a16:rowId xmlns:a16="http://schemas.microsoft.com/office/drawing/2014/main" val="2055856817"/>
                  </a:ext>
                </a:extLst>
              </a:tr>
              <a:tr h="200345">
                <a:tc>
                  <a:txBody>
                    <a:bodyPr/>
                    <a:lstStyle/>
                    <a:p>
                      <a:pPr algn="ctr">
                        <a:lnSpc>
                          <a:spcPct val="100000"/>
                        </a:lnSpc>
                      </a:pPr>
                      <a:r>
                        <a:rPr lang="en-US" sz="700"/>
                        <a:t>0</a:t>
                      </a:r>
                    </a:p>
                  </a:txBody>
                  <a:tcPr anchor="ctr"/>
                </a:tc>
                <a:tc>
                  <a:txBody>
                    <a:bodyPr/>
                    <a:lstStyle/>
                    <a:p>
                      <a:pPr algn="l">
                        <a:lnSpc>
                          <a:spcPct val="100000"/>
                        </a:lnSpc>
                      </a:pPr>
                      <a:r>
                        <a:rPr lang="en-US" sz="700" dirty="0"/>
                        <a:t>ALU load register B</a:t>
                      </a:r>
                    </a:p>
                  </a:txBody>
                  <a:tcPr anchor="ct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3183171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9021E-85D8-8B6F-B91B-51E534EA9500}"/>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810329A9-AB57-E092-FB86-B248B76AF665}"/>
              </a:ext>
            </a:extLst>
          </p:cNvPr>
          <p:cNvSpPr>
            <a:spLocks noGrp="1"/>
          </p:cNvSpPr>
          <p:nvPr>
            <p:ph type="ctrTitle"/>
          </p:nvPr>
        </p:nvSpPr>
        <p:spPr>
          <a:xfrm>
            <a:off x="914400" y="182880"/>
            <a:ext cx="9932068" cy="457200"/>
          </a:xfrm>
        </p:spPr>
        <p:txBody>
          <a:bodyPr/>
          <a:lstStyle/>
          <a:p>
            <a:r>
              <a:rPr lang="en-US" dirty="0"/>
              <a:t>Micro-Instructions Control: Address with Offset to Address 1 (MAA1) (11000)</a:t>
            </a:r>
          </a:p>
        </p:txBody>
      </p:sp>
      <p:graphicFrame>
        <p:nvGraphicFramePr>
          <p:cNvPr id="5" name="Table 4">
            <a:extLst>
              <a:ext uri="{FF2B5EF4-FFF2-40B4-BE49-F238E27FC236}">
                <a16:creationId xmlns:a16="http://schemas.microsoft.com/office/drawing/2014/main" id="{725877E0-DE7C-C2C4-ED12-E885F7DFB478}"/>
              </a:ext>
            </a:extLst>
          </p:cNvPr>
          <p:cNvGraphicFramePr>
            <a:graphicFrameLocks noGrp="1"/>
          </p:cNvGraphicFramePr>
          <p:nvPr>
            <p:extLst>
              <p:ext uri="{D42A27DB-BD31-4B8C-83A1-F6EECF244321}">
                <p14:modId xmlns:p14="http://schemas.microsoft.com/office/powerpoint/2010/main" val="2796957097"/>
              </p:ext>
            </p:extLst>
          </p:nvPr>
        </p:nvGraphicFramePr>
        <p:xfrm>
          <a:off x="4716581" y="742463"/>
          <a:ext cx="6249874" cy="3133839"/>
        </p:xfrm>
        <a:graphic>
          <a:graphicData uri="http://schemas.openxmlformats.org/drawingml/2006/table">
            <a:tbl>
              <a:tblPr firstRow="1" bandRow="1">
                <a:tableStyleId>{5C22544A-7EE6-4342-B048-85BDC9FD1C3A}</a:tableStyleId>
              </a:tblPr>
              <a:tblGrid>
                <a:gridCol w="948528">
                  <a:extLst>
                    <a:ext uri="{9D8B030D-6E8A-4147-A177-3AD203B41FA5}">
                      <a16:colId xmlns:a16="http://schemas.microsoft.com/office/drawing/2014/main" val="1217920130"/>
                    </a:ext>
                  </a:extLst>
                </a:gridCol>
                <a:gridCol w="2465917">
                  <a:extLst>
                    <a:ext uri="{9D8B030D-6E8A-4147-A177-3AD203B41FA5}">
                      <a16:colId xmlns:a16="http://schemas.microsoft.com/office/drawing/2014/main" val="1475888205"/>
                    </a:ext>
                  </a:extLst>
                </a:gridCol>
                <a:gridCol w="2835429">
                  <a:extLst>
                    <a:ext uri="{9D8B030D-6E8A-4147-A177-3AD203B41FA5}">
                      <a16:colId xmlns:a16="http://schemas.microsoft.com/office/drawing/2014/main" val="2801792198"/>
                    </a:ext>
                  </a:extLst>
                </a:gridCol>
              </a:tblGrid>
              <a:tr h="324599">
                <a:tc>
                  <a:txBody>
                    <a:bodyPr/>
                    <a:lstStyle/>
                    <a:p>
                      <a:r>
                        <a:rPr lang="en-US" sz="1200" dirty="0"/>
                        <a:t>Cycle #</a:t>
                      </a:r>
                    </a:p>
                  </a:txBody>
                  <a:tcPr/>
                </a:tc>
                <a:tc>
                  <a:txBody>
                    <a:bodyPr/>
                    <a:lstStyle/>
                    <a:p>
                      <a:r>
                        <a:rPr lang="en-US" sz="1200" dirty="0"/>
                        <a:t>Instruction</a:t>
                      </a:r>
                    </a:p>
                  </a:txBody>
                  <a:tcPr/>
                </a:tc>
                <a:tc>
                  <a:txBody>
                    <a:bodyPr/>
                    <a:lstStyle/>
                    <a:p>
                      <a:r>
                        <a:rPr lang="en-US" sz="1200"/>
                        <a:t>Explanation</a:t>
                      </a:r>
                    </a:p>
                  </a:txBody>
                  <a:tcPr/>
                </a:tc>
                <a:extLst>
                  <a:ext uri="{0D108BD9-81ED-4DB2-BD59-A6C34878D82A}">
                    <a16:rowId xmlns:a16="http://schemas.microsoft.com/office/drawing/2014/main" val="2319756336"/>
                  </a:ext>
                </a:extLst>
              </a:tr>
              <a:tr h="579120">
                <a:tc>
                  <a:txBody>
                    <a:bodyPr/>
                    <a:lstStyle/>
                    <a:p>
                      <a:pPr algn="ctr"/>
                      <a:r>
                        <a:rPr lang="en-US" sz="1200"/>
                        <a:t>0</a:t>
                      </a:r>
                    </a:p>
                  </a:txBody>
                  <a:tcPr/>
                </a:tc>
                <a:tc>
                  <a:txBody>
                    <a:bodyPr/>
                    <a:lstStyle/>
                    <a:p>
                      <a:pPr algn="l"/>
                      <a:r>
                        <a:rPr lang="en-US" sz="1200" dirty="0"/>
                        <a:t>0x08_00_40</a:t>
                      </a:r>
                    </a:p>
                  </a:txBody>
                  <a:tcPr/>
                </a:tc>
                <a:tc>
                  <a:txBody>
                    <a:bodyPr/>
                    <a:lstStyle/>
                    <a:p>
                      <a:pPr algn="l"/>
                      <a:r>
                        <a:rPr lang="en-US" sz="1200" dirty="0"/>
                        <a:t>Write Imm to the Data Bus, </a:t>
                      </a:r>
                      <a:r>
                        <a:rPr lang="en-US" sz="1200" dirty="0" err="1"/>
                        <a:t>ARSrc</a:t>
                      </a:r>
                      <a:r>
                        <a:rPr lang="en-US" sz="1200" dirty="0"/>
                        <a:t> to the Address Bus, and set </a:t>
                      </a:r>
                      <a:r>
                        <a:rPr lang="en-US" sz="1200" dirty="0" err="1"/>
                        <a:t>TmpAR</a:t>
                      </a:r>
                      <a:r>
                        <a:rPr lang="en-US" sz="1200" dirty="0"/>
                        <a:t> to read.</a:t>
                      </a:r>
                    </a:p>
                  </a:txBody>
                  <a:tcPr/>
                </a:tc>
                <a:extLst>
                  <a:ext uri="{0D108BD9-81ED-4DB2-BD59-A6C34878D82A}">
                    <a16:rowId xmlns:a16="http://schemas.microsoft.com/office/drawing/2014/main" val="2570910443"/>
                  </a:ext>
                </a:extLst>
              </a:tr>
              <a:tr h="579120">
                <a:tc>
                  <a:txBody>
                    <a:bodyPr/>
                    <a:lstStyle/>
                    <a:p>
                      <a:pPr algn="ctr"/>
                      <a:r>
                        <a:rPr lang="en-US" sz="12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0x10_00_00</a:t>
                      </a:r>
                    </a:p>
                  </a:txBody>
                  <a:tcPr/>
                </a:tc>
                <a:tc>
                  <a:txBody>
                    <a:bodyPr/>
                    <a:lstStyle/>
                    <a:p>
                      <a:pPr algn="l"/>
                      <a:r>
                        <a:rPr lang="en-US" sz="1200" dirty="0"/>
                        <a:t>Write </a:t>
                      </a:r>
                      <a:r>
                        <a:rPr lang="en-US" sz="1200" dirty="0" err="1"/>
                        <a:t>TmpAR</a:t>
                      </a:r>
                      <a:r>
                        <a:rPr lang="en-US" sz="1200" dirty="0"/>
                        <a:t> to the Address Bus.</a:t>
                      </a:r>
                    </a:p>
                  </a:txBody>
                  <a:tcPr/>
                </a:tc>
                <a:extLst>
                  <a:ext uri="{0D108BD9-81ED-4DB2-BD59-A6C34878D82A}">
                    <a16:rowId xmlns:a16="http://schemas.microsoft.com/office/drawing/2014/main" val="631651838"/>
                  </a:ext>
                </a:extLst>
              </a:tr>
              <a:tr h="370840">
                <a:tc>
                  <a:txBody>
                    <a:bodyPr/>
                    <a:lstStyle/>
                    <a:p>
                      <a:pPr algn="ctr"/>
                      <a:r>
                        <a:rPr lang="en-US" sz="12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0x32_00_00</a:t>
                      </a:r>
                    </a:p>
                  </a:txBody>
                  <a:tcPr/>
                </a:tc>
                <a:tc>
                  <a:txBody>
                    <a:bodyPr/>
                    <a:lstStyle/>
                    <a:p>
                      <a:pPr algn="l"/>
                      <a:r>
                        <a:rPr lang="en-US" sz="1200" dirty="0"/>
                        <a:t>Write </a:t>
                      </a:r>
                      <a:r>
                        <a:rPr lang="en-US" sz="1200" dirty="0" err="1"/>
                        <a:t>TmpAR</a:t>
                      </a:r>
                      <a:r>
                        <a:rPr lang="en-US" sz="1200" dirty="0"/>
                        <a:t> to the Address Bus, Address Bus Low register to the Data Bus, and set ARDest[L] to read from the Data Bus.</a:t>
                      </a:r>
                    </a:p>
                  </a:txBody>
                  <a:tcPr/>
                </a:tc>
                <a:extLst>
                  <a:ext uri="{0D108BD9-81ED-4DB2-BD59-A6C34878D82A}">
                    <a16:rowId xmlns:a16="http://schemas.microsoft.com/office/drawing/2014/main" val="1592812184"/>
                  </a:ext>
                </a:extLst>
              </a:tr>
              <a:tr h="370840">
                <a:tc>
                  <a:txBody>
                    <a:bodyPr/>
                    <a:lstStyle/>
                    <a:p>
                      <a:pPr algn="ctr"/>
                      <a:r>
                        <a:rPr lang="en-US" sz="1200"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0x66_00_00</a:t>
                      </a:r>
                    </a:p>
                  </a:txBody>
                  <a:tcPr/>
                </a:tc>
                <a:tc>
                  <a:txBody>
                    <a:bodyPr/>
                    <a:lstStyle/>
                    <a:p>
                      <a:pPr algn="l"/>
                      <a:r>
                        <a:rPr lang="en-US" sz="1200" dirty="0"/>
                        <a:t>Write Address Bus High Register to the Data Bus and set ARDest[H] to read from the Data Bus.</a:t>
                      </a:r>
                    </a:p>
                  </a:txBody>
                  <a:tcPr/>
                </a:tc>
                <a:extLst>
                  <a:ext uri="{0D108BD9-81ED-4DB2-BD59-A6C34878D82A}">
                    <a16:rowId xmlns:a16="http://schemas.microsoft.com/office/drawing/2014/main" val="3699770866"/>
                  </a:ext>
                </a:extLst>
              </a:tr>
              <a:tr h="370840">
                <a:tc>
                  <a:txBody>
                    <a:bodyPr/>
                    <a:lstStyle/>
                    <a:p>
                      <a:pPr algn="ctr"/>
                      <a:r>
                        <a:rPr lang="en-US" sz="1200"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0x_00_00_80</a:t>
                      </a:r>
                    </a:p>
                  </a:txBody>
                  <a:tcPr/>
                </a:tc>
                <a:tc>
                  <a:txBody>
                    <a:bodyPr/>
                    <a:lstStyle/>
                    <a:p>
                      <a:pPr algn="l"/>
                      <a:r>
                        <a:rPr lang="en-US" sz="1200" dirty="0"/>
                        <a:t>Advance PC.</a:t>
                      </a:r>
                    </a:p>
                  </a:txBody>
                  <a:tcPr/>
                </a:tc>
                <a:extLst>
                  <a:ext uri="{0D108BD9-81ED-4DB2-BD59-A6C34878D82A}">
                    <a16:rowId xmlns:a16="http://schemas.microsoft.com/office/drawing/2014/main" val="3288668263"/>
                  </a:ext>
                </a:extLst>
              </a:tr>
            </a:tbl>
          </a:graphicData>
        </a:graphic>
      </p:graphicFrame>
      <p:pic>
        <p:nvPicPr>
          <p:cNvPr id="2" name="Picture 1">
            <a:hlinkClick r:id="rId3" action="ppaction://hlinksldjump"/>
            <a:extLst>
              <a:ext uri="{FF2B5EF4-FFF2-40B4-BE49-F238E27FC236}">
                <a16:creationId xmlns:a16="http://schemas.microsoft.com/office/drawing/2014/main" id="{637DF3AF-730D-11CD-6029-FBE6572D5E2A}"/>
              </a:ext>
            </a:extLst>
          </p:cNvPr>
          <p:cNvPicPr>
            <a:picLocks noChangeAspect="1"/>
          </p:cNvPicPr>
          <p:nvPr/>
        </p:nvPicPr>
        <p:blipFill>
          <a:blip r:embed="rId4"/>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4BA6D162-5692-93C2-A780-410A94454E1C}"/>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64</a:t>
            </a:fld>
            <a:endParaRPr lang="en-US" b="1">
              <a:solidFill>
                <a:schemeClr val="bg1"/>
              </a:solidFill>
            </a:endParaRPr>
          </a:p>
        </p:txBody>
      </p:sp>
      <p:graphicFrame>
        <p:nvGraphicFramePr>
          <p:cNvPr id="3" name="Table 4">
            <a:extLst>
              <a:ext uri="{FF2B5EF4-FFF2-40B4-BE49-F238E27FC236}">
                <a16:creationId xmlns:a16="http://schemas.microsoft.com/office/drawing/2014/main" id="{377250E4-9A8C-15E6-96C1-D2FADD9716F9}"/>
              </a:ext>
            </a:extLst>
          </p:cNvPr>
          <p:cNvGraphicFramePr>
            <a:graphicFrameLocks noGrp="1"/>
          </p:cNvGraphicFramePr>
          <p:nvPr>
            <p:extLst>
              <p:ext uri="{D42A27DB-BD31-4B8C-83A1-F6EECF244321}">
                <p14:modId xmlns:p14="http://schemas.microsoft.com/office/powerpoint/2010/main" val="1389416027"/>
              </p:ext>
            </p:extLst>
          </p:nvPr>
        </p:nvGraphicFramePr>
        <p:xfrm>
          <a:off x="179752" y="5818357"/>
          <a:ext cx="10583500" cy="586740"/>
        </p:xfrm>
        <a:graphic>
          <a:graphicData uri="http://schemas.openxmlformats.org/drawingml/2006/table">
            <a:tbl>
              <a:tblPr firstRow="1" bandRow="1">
                <a:tableStyleId>{5C22544A-7EE6-4342-B048-85BDC9FD1C3A}</a:tableStyleId>
              </a:tblPr>
              <a:tblGrid>
                <a:gridCol w="998667">
                  <a:extLst>
                    <a:ext uri="{9D8B030D-6E8A-4147-A177-3AD203B41FA5}">
                      <a16:colId xmlns:a16="http://schemas.microsoft.com/office/drawing/2014/main" val="1810408170"/>
                    </a:ext>
                  </a:extLst>
                </a:gridCol>
                <a:gridCol w="970585">
                  <a:extLst>
                    <a:ext uri="{9D8B030D-6E8A-4147-A177-3AD203B41FA5}">
                      <a16:colId xmlns:a16="http://schemas.microsoft.com/office/drawing/2014/main" val="950391025"/>
                    </a:ext>
                  </a:extLst>
                </a:gridCol>
                <a:gridCol w="882483">
                  <a:extLst>
                    <a:ext uri="{9D8B030D-6E8A-4147-A177-3AD203B41FA5}">
                      <a16:colId xmlns:a16="http://schemas.microsoft.com/office/drawing/2014/main" val="1217920130"/>
                    </a:ext>
                  </a:extLst>
                </a:gridCol>
                <a:gridCol w="1402159">
                  <a:extLst>
                    <a:ext uri="{9D8B030D-6E8A-4147-A177-3AD203B41FA5}">
                      <a16:colId xmlns:a16="http://schemas.microsoft.com/office/drawing/2014/main" val="1475888205"/>
                    </a:ext>
                  </a:extLst>
                </a:gridCol>
                <a:gridCol w="1609969">
                  <a:extLst>
                    <a:ext uri="{9D8B030D-6E8A-4147-A177-3AD203B41FA5}">
                      <a16:colId xmlns:a16="http://schemas.microsoft.com/office/drawing/2014/main" val="1355185516"/>
                    </a:ext>
                  </a:extLst>
                </a:gridCol>
                <a:gridCol w="1304925">
                  <a:extLst>
                    <a:ext uri="{9D8B030D-6E8A-4147-A177-3AD203B41FA5}">
                      <a16:colId xmlns:a16="http://schemas.microsoft.com/office/drawing/2014/main" val="1039846299"/>
                    </a:ext>
                  </a:extLst>
                </a:gridCol>
                <a:gridCol w="3414712">
                  <a:extLst>
                    <a:ext uri="{9D8B030D-6E8A-4147-A177-3AD203B41FA5}">
                      <a16:colId xmlns:a16="http://schemas.microsoft.com/office/drawing/2014/main" val="3099546510"/>
                    </a:ext>
                  </a:extLst>
                </a:gridCol>
              </a:tblGrid>
              <a:tr h="297180">
                <a:tc>
                  <a:txBody>
                    <a:bodyPr/>
                    <a:lstStyle/>
                    <a:p>
                      <a:r>
                        <a:rPr lang="en-US" sz="1300" dirty="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146900">
                <a:tc>
                  <a:txBody>
                    <a:bodyPr/>
                    <a:lstStyle/>
                    <a:p>
                      <a:pPr algn="ctr"/>
                      <a:r>
                        <a:rPr lang="en-US" sz="1300" dirty="0"/>
                        <a:t>MAA</a:t>
                      </a:r>
                    </a:p>
                  </a:txBody>
                  <a:tcPr>
                    <a:solidFill>
                      <a:schemeClr val="accent6"/>
                    </a:solidFill>
                  </a:tcPr>
                </a:tc>
                <a:tc gridSpan="3">
                  <a:txBody>
                    <a:bodyPr/>
                    <a:lstStyle/>
                    <a:p>
                      <a:pPr algn="ctr"/>
                      <a:r>
                        <a:rPr lang="en-US" sz="1300"/>
                        <a:t>Immediate (8-bit)</a:t>
                      </a:r>
                    </a:p>
                  </a:txBody>
                  <a:tcPr/>
                </a:tc>
                <a:tc hMerge="1">
                  <a:txBody>
                    <a:bodyPr/>
                    <a:lstStyle/>
                    <a:p>
                      <a:pPr algn="ctr"/>
                      <a:endParaRPr lang="en-US"/>
                    </a:p>
                  </a:txBody>
                  <a:tcPr/>
                </a:tc>
                <a:tc hMerge="1">
                  <a:txBody>
                    <a:bodyPr/>
                    <a:lstStyle/>
                    <a:p>
                      <a:pPr algn="ctr"/>
                      <a:r>
                        <a:rPr lang="en-US"/>
                        <a:t>Immediate (8-bit)</a:t>
                      </a:r>
                    </a:p>
                  </a:txBody>
                  <a:tcPr/>
                </a:tc>
                <a:tc>
                  <a:txBody>
                    <a:bodyPr/>
                    <a:lstStyle/>
                    <a:p>
                      <a:pPr algn="ctr"/>
                      <a:r>
                        <a:rPr lang="en-US" sz="1300" dirty="0"/>
                        <a:t>ARDest</a:t>
                      </a:r>
                    </a:p>
                  </a:txBody>
                  <a:tcPr/>
                </a:tc>
                <a:tc>
                  <a:txBody>
                    <a:bodyPr/>
                    <a:lstStyle/>
                    <a:p>
                      <a:pPr algn="ctr"/>
                      <a:r>
                        <a:rPr lang="en-US" sz="1300" dirty="0" err="1"/>
                        <a:t>ARSrc</a:t>
                      </a:r>
                      <a:r>
                        <a:rPr lang="en-US" sz="1300" dirty="0"/>
                        <a:t>[1]</a:t>
                      </a:r>
                    </a:p>
                  </a:txBody>
                  <a:tcPr/>
                </a:tc>
                <a:tc>
                  <a:txBody>
                    <a:bodyPr/>
                    <a:lstStyle/>
                    <a:p>
                      <a:pPr algn="ctr"/>
                      <a:r>
                        <a:rPr lang="en-US" sz="1300" dirty="0" err="1"/>
                        <a:t>OpCode</a:t>
                      </a:r>
                      <a:r>
                        <a:rPr lang="en-US" sz="1300" dirty="0"/>
                        <a:t>=18 (and </a:t>
                      </a:r>
                      <a:r>
                        <a:rPr lang="en-US" sz="1300" dirty="0" err="1"/>
                        <a:t>ARSrc</a:t>
                      </a:r>
                      <a:r>
                        <a:rPr lang="en-US" sz="1300" dirty="0"/>
                        <a:t>[0] = 0)</a:t>
                      </a:r>
                    </a:p>
                  </a:txBody>
                  <a:tcPr/>
                </a:tc>
                <a:extLst>
                  <a:ext uri="{0D108BD9-81ED-4DB2-BD59-A6C34878D82A}">
                    <a16:rowId xmlns:a16="http://schemas.microsoft.com/office/drawing/2014/main" val="2570910443"/>
                  </a:ext>
                </a:extLst>
              </a:tr>
            </a:tbl>
          </a:graphicData>
        </a:graphic>
      </p:graphicFrame>
      <p:sp>
        <p:nvSpPr>
          <p:cNvPr id="4" name="TextBox 3">
            <a:extLst>
              <a:ext uri="{FF2B5EF4-FFF2-40B4-BE49-F238E27FC236}">
                <a16:creationId xmlns:a16="http://schemas.microsoft.com/office/drawing/2014/main" id="{0ABE0075-99C1-4508-F26B-472A46398FE6}"/>
              </a:ext>
            </a:extLst>
          </p:cNvPr>
          <p:cNvSpPr txBox="1"/>
          <p:nvPr/>
        </p:nvSpPr>
        <p:spPr>
          <a:xfrm>
            <a:off x="10966456" y="2"/>
            <a:ext cx="1223412" cy="1323439"/>
          </a:xfrm>
          <a:prstGeom prst="rect">
            <a:avLst/>
          </a:prstGeom>
          <a:noFill/>
        </p:spPr>
        <p:txBody>
          <a:bodyPr wrap="none" rtlCol="0">
            <a:spAutoFit/>
          </a:bodyPr>
          <a:lstStyle/>
          <a:p>
            <a:r>
              <a:rPr lang="en-US" sz="8000" dirty="0">
                <a:solidFill>
                  <a:schemeClr val="accent1">
                    <a:lumMod val="60000"/>
                    <a:lumOff val="40000"/>
                  </a:schemeClr>
                </a:solidFill>
              </a:rPr>
              <a:t>18</a:t>
            </a:r>
          </a:p>
        </p:txBody>
      </p:sp>
      <p:sp>
        <p:nvSpPr>
          <p:cNvPr id="6" name="TextBox 5">
            <a:extLst>
              <a:ext uri="{FF2B5EF4-FFF2-40B4-BE49-F238E27FC236}">
                <a16:creationId xmlns:a16="http://schemas.microsoft.com/office/drawing/2014/main" id="{564E64F4-97E6-9138-0572-EC0BB08C240B}"/>
              </a:ext>
            </a:extLst>
          </p:cNvPr>
          <p:cNvSpPr txBox="1"/>
          <p:nvPr/>
        </p:nvSpPr>
        <p:spPr>
          <a:xfrm>
            <a:off x="4564622" y="4514839"/>
            <a:ext cx="2582758" cy="400110"/>
          </a:xfrm>
          <a:prstGeom prst="rect">
            <a:avLst/>
          </a:prstGeom>
          <a:noFill/>
        </p:spPr>
        <p:txBody>
          <a:bodyPr wrap="none" rtlCol="0">
            <a:spAutoFit/>
          </a:bodyPr>
          <a:lstStyle/>
          <a:p>
            <a:r>
              <a:rPr lang="en-US" sz="2000" dirty="0">
                <a:solidFill>
                  <a:srgbClr val="00B050"/>
                </a:solidFill>
                <a:latin typeface="Consolas" panose="020B0609020204030204" pitchFamily="49" charset="0"/>
              </a:rPr>
              <a:t>MAA %SP, %SP, #-1</a:t>
            </a:r>
          </a:p>
        </p:txBody>
      </p:sp>
      <p:sp>
        <p:nvSpPr>
          <p:cNvPr id="7" name="TextBox 6">
            <a:extLst>
              <a:ext uri="{FF2B5EF4-FFF2-40B4-BE49-F238E27FC236}">
                <a16:creationId xmlns:a16="http://schemas.microsoft.com/office/drawing/2014/main" id="{71664CB6-8862-CCD6-B787-F000EAD028E1}"/>
              </a:ext>
            </a:extLst>
          </p:cNvPr>
          <p:cNvSpPr txBox="1"/>
          <p:nvPr/>
        </p:nvSpPr>
        <p:spPr>
          <a:xfrm>
            <a:off x="4564622" y="4095543"/>
            <a:ext cx="3005951" cy="400110"/>
          </a:xfrm>
          <a:prstGeom prst="rect">
            <a:avLst/>
          </a:prstGeom>
          <a:noFill/>
        </p:spPr>
        <p:txBody>
          <a:bodyPr wrap="none" rtlCol="0">
            <a:spAutoFit/>
          </a:bodyPr>
          <a:lstStyle/>
          <a:p>
            <a:r>
              <a:rPr lang="en-US" sz="2000" dirty="0">
                <a:solidFill>
                  <a:srgbClr val="00B050"/>
                </a:solidFill>
                <a:latin typeface="Consolas" panose="020B0609020204030204" pitchFamily="49" charset="0"/>
              </a:rPr>
              <a:t>ARDest = </a:t>
            </a:r>
            <a:r>
              <a:rPr lang="en-US" sz="2000" dirty="0" err="1">
                <a:solidFill>
                  <a:srgbClr val="00B050"/>
                </a:solidFill>
                <a:latin typeface="Consolas" panose="020B0609020204030204" pitchFamily="49" charset="0"/>
              </a:rPr>
              <a:t>ARSrc</a:t>
            </a:r>
            <a:r>
              <a:rPr lang="en-US" sz="2000" dirty="0">
                <a:solidFill>
                  <a:srgbClr val="00B050"/>
                </a:solidFill>
                <a:latin typeface="Consolas" panose="020B0609020204030204" pitchFamily="49" charset="0"/>
              </a:rPr>
              <a:t> + Imm</a:t>
            </a:r>
          </a:p>
        </p:txBody>
      </p:sp>
      <p:graphicFrame>
        <p:nvGraphicFramePr>
          <p:cNvPr id="9" name="Table 6">
            <a:extLst>
              <a:ext uri="{FF2B5EF4-FFF2-40B4-BE49-F238E27FC236}">
                <a16:creationId xmlns:a16="http://schemas.microsoft.com/office/drawing/2014/main" id="{5CEDC4E4-5D0B-1B22-6C69-7865166A129F}"/>
              </a:ext>
            </a:extLst>
          </p:cNvPr>
          <p:cNvGraphicFramePr>
            <a:graphicFrameLocks noGrp="1"/>
          </p:cNvGraphicFramePr>
          <p:nvPr>
            <p:extLst>
              <p:ext uri="{D42A27DB-BD31-4B8C-83A1-F6EECF244321}">
                <p14:modId xmlns:p14="http://schemas.microsoft.com/office/powerpoint/2010/main" val="825187370"/>
              </p:ext>
            </p:extLst>
          </p:nvPr>
        </p:nvGraphicFramePr>
        <p:xfrm>
          <a:off x="7923209" y="4095543"/>
          <a:ext cx="3857535" cy="1188720"/>
        </p:xfrm>
        <a:graphic>
          <a:graphicData uri="http://schemas.openxmlformats.org/drawingml/2006/table">
            <a:tbl>
              <a:tblPr firstRow="1" bandRow="1">
                <a:tableStyleId>{5C22544A-7EE6-4342-B048-85BDC9FD1C3A}</a:tableStyleId>
              </a:tblPr>
              <a:tblGrid>
                <a:gridCol w="776078">
                  <a:extLst>
                    <a:ext uri="{9D8B030D-6E8A-4147-A177-3AD203B41FA5}">
                      <a16:colId xmlns:a16="http://schemas.microsoft.com/office/drawing/2014/main" val="3639428745"/>
                    </a:ext>
                  </a:extLst>
                </a:gridCol>
                <a:gridCol w="812131">
                  <a:extLst>
                    <a:ext uri="{9D8B030D-6E8A-4147-A177-3AD203B41FA5}">
                      <a16:colId xmlns:a16="http://schemas.microsoft.com/office/drawing/2014/main" val="136219337"/>
                    </a:ext>
                  </a:extLst>
                </a:gridCol>
                <a:gridCol w="1420239">
                  <a:extLst>
                    <a:ext uri="{9D8B030D-6E8A-4147-A177-3AD203B41FA5}">
                      <a16:colId xmlns:a16="http://schemas.microsoft.com/office/drawing/2014/main" val="322570224"/>
                    </a:ext>
                  </a:extLst>
                </a:gridCol>
                <a:gridCol w="849087">
                  <a:extLst>
                    <a:ext uri="{9D8B030D-6E8A-4147-A177-3AD203B41FA5}">
                      <a16:colId xmlns:a16="http://schemas.microsoft.com/office/drawing/2014/main" val="3266938421"/>
                    </a:ext>
                  </a:extLst>
                </a:gridCol>
              </a:tblGrid>
              <a:tr h="640080">
                <a:tc>
                  <a:txBody>
                    <a:bodyPr/>
                    <a:lstStyle/>
                    <a:p>
                      <a:r>
                        <a:rPr lang="en-US" sz="1200" dirty="0"/>
                        <a:t>INSTR[5]</a:t>
                      </a:r>
                    </a:p>
                  </a:txBody>
                  <a:tcPr/>
                </a:tc>
                <a:tc>
                  <a:txBody>
                    <a:bodyPr/>
                    <a:lstStyle/>
                    <a:p>
                      <a:r>
                        <a:rPr lang="en-US" sz="1200" dirty="0"/>
                        <a:t>INSTR[0]</a:t>
                      </a:r>
                    </a:p>
                  </a:txBody>
                  <a:tcPr/>
                </a:tc>
                <a:tc>
                  <a:txBody>
                    <a:bodyPr/>
                    <a:lstStyle/>
                    <a:p>
                      <a:r>
                        <a:rPr lang="en-US" sz="1200" dirty="0" err="1"/>
                        <a:t>ARSrc</a:t>
                      </a:r>
                      <a:r>
                        <a:rPr lang="en-US" sz="1200" dirty="0"/>
                        <a:t> Address Register</a:t>
                      </a:r>
                    </a:p>
                  </a:txBody>
                  <a:tcPr/>
                </a:tc>
                <a:tc>
                  <a:txBody>
                    <a:bodyPr/>
                    <a:lstStyle/>
                    <a:p>
                      <a:r>
                        <a:rPr lang="en-US" sz="1200" dirty="0"/>
                        <a:t>Command Parameter</a:t>
                      </a:r>
                    </a:p>
                  </a:txBody>
                  <a:tcPr/>
                </a:tc>
                <a:extLst>
                  <a:ext uri="{0D108BD9-81ED-4DB2-BD59-A6C34878D82A}">
                    <a16:rowId xmlns:a16="http://schemas.microsoft.com/office/drawing/2014/main" val="727245786"/>
                  </a:ext>
                </a:extLst>
              </a:tr>
              <a:tr h="274320">
                <a:tc>
                  <a:txBody>
                    <a:bodyPr/>
                    <a:lstStyle/>
                    <a:p>
                      <a:r>
                        <a:rPr lang="en-US" sz="1200" dirty="0"/>
                        <a:t>0</a:t>
                      </a:r>
                    </a:p>
                  </a:txBody>
                  <a:tcPr/>
                </a:tc>
                <a:tc>
                  <a:txBody>
                    <a:bodyPr/>
                    <a:lstStyle/>
                    <a:p>
                      <a:r>
                        <a:rPr lang="en-US" sz="1200" dirty="0"/>
                        <a:t>0</a:t>
                      </a:r>
                    </a:p>
                  </a:txBody>
                  <a:tcPr/>
                </a:tc>
                <a:tc>
                  <a:txBody>
                    <a:bodyPr/>
                    <a:lstStyle/>
                    <a:p>
                      <a:r>
                        <a:rPr lang="en-US" sz="1200" dirty="0"/>
                        <a:t>PC ({PC[H], PC[L]})</a:t>
                      </a:r>
                    </a:p>
                  </a:txBody>
                  <a:tcPr>
                    <a:solidFill>
                      <a:schemeClr val="accent6">
                        <a:lumMod val="60000"/>
                        <a:lumOff val="40000"/>
                      </a:schemeClr>
                    </a:solidFill>
                  </a:tcPr>
                </a:tc>
                <a:tc>
                  <a:txBody>
                    <a:bodyPr/>
                    <a:lstStyle/>
                    <a:p>
                      <a:r>
                        <a:rPr lang="en-US" sz="1200" dirty="0"/>
                        <a:t>%PC</a:t>
                      </a:r>
                    </a:p>
                  </a:txBody>
                  <a:tcPr>
                    <a:solidFill>
                      <a:schemeClr val="accent6">
                        <a:lumMod val="60000"/>
                        <a:lumOff val="40000"/>
                      </a:schemeClr>
                    </a:solidFill>
                  </a:tcPr>
                </a:tc>
                <a:extLst>
                  <a:ext uri="{0D108BD9-81ED-4DB2-BD59-A6C34878D82A}">
                    <a16:rowId xmlns:a16="http://schemas.microsoft.com/office/drawing/2014/main" val="3427146651"/>
                  </a:ext>
                </a:extLst>
              </a:tr>
              <a:tr h="274320">
                <a:tc>
                  <a:txBody>
                    <a:bodyPr/>
                    <a:lstStyle/>
                    <a:p>
                      <a:r>
                        <a:rPr lang="en-US" sz="1200" dirty="0"/>
                        <a:t>1</a:t>
                      </a:r>
                    </a:p>
                  </a:txBody>
                  <a:tcPr/>
                </a:tc>
                <a:tc>
                  <a:txBody>
                    <a:bodyPr/>
                    <a:lstStyle/>
                    <a:p>
                      <a:r>
                        <a:rPr lang="en-US" sz="1200" dirty="0"/>
                        <a:t>0</a:t>
                      </a:r>
                    </a:p>
                  </a:txBody>
                  <a:tcPr/>
                </a:tc>
                <a:tc>
                  <a:txBody>
                    <a:bodyPr/>
                    <a:lstStyle/>
                    <a:p>
                      <a:r>
                        <a:rPr lang="en-US" sz="1200" dirty="0"/>
                        <a:t>SP</a:t>
                      </a:r>
                    </a:p>
                  </a:txBody>
                  <a:tcPr>
                    <a:solidFill>
                      <a:schemeClr val="accent6">
                        <a:lumMod val="60000"/>
                        <a:lumOff val="40000"/>
                      </a:schemeClr>
                    </a:solidFill>
                  </a:tcPr>
                </a:tc>
                <a:tc>
                  <a:txBody>
                    <a:bodyPr/>
                    <a:lstStyle/>
                    <a:p>
                      <a:r>
                        <a:rPr lang="en-US" sz="1200" dirty="0"/>
                        <a:t>%SP</a:t>
                      </a:r>
                    </a:p>
                  </a:txBody>
                  <a:tcPr>
                    <a:solidFill>
                      <a:schemeClr val="accent6">
                        <a:lumMod val="60000"/>
                        <a:lumOff val="40000"/>
                      </a:schemeClr>
                    </a:solidFill>
                  </a:tcPr>
                </a:tc>
                <a:extLst>
                  <a:ext uri="{0D108BD9-81ED-4DB2-BD59-A6C34878D82A}">
                    <a16:rowId xmlns:a16="http://schemas.microsoft.com/office/drawing/2014/main" val="1942712580"/>
                  </a:ext>
                </a:extLst>
              </a:tr>
            </a:tbl>
          </a:graphicData>
        </a:graphic>
      </p:graphicFrame>
      <p:sp>
        <p:nvSpPr>
          <p:cNvPr id="8" name="TextBox 7">
            <a:extLst>
              <a:ext uri="{FF2B5EF4-FFF2-40B4-BE49-F238E27FC236}">
                <a16:creationId xmlns:a16="http://schemas.microsoft.com/office/drawing/2014/main" id="{34984507-0453-5921-1501-7B81011633B6}"/>
              </a:ext>
            </a:extLst>
          </p:cNvPr>
          <p:cNvSpPr txBox="1"/>
          <p:nvPr/>
        </p:nvSpPr>
        <p:spPr>
          <a:xfrm>
            <a:off x="4413302" y="6373149"/>
            <a:ext cx="1541633" cy="276999"/>
          </a:xfrm>
          <a:prstGeom prst="rect">
            <a:avLst/>
          </a:prstGeom>
          <a:noFill/>
        </p:spPr>
        <p:txBody>
          <a:bodyPr wrap="square" rtlCol="0">
            <a:spAutoFit/>
          </a:bodyPr>
          <a:lstStyle/>
          <a:p>
            <a:r>
              <a:rPr lang="en-US" sz="1200" dirty="0"/>
              <a:t>0-PC, 1-DP, 2-SP, 3-BP</a:t>
            </a:r>
          </a:p>
        </p:txBody>
      </p:sp>
      <p:graphicFrame>
        <p:nvGraphicFramePr>
          <p:cNvPr id="10" name="Table 4">
            <a:extLst>
              <a:ext uri="{FF2B5EF4-FFF2-40B4-BE49-F238E27FC236}">
                <a16:creationId xmlns:a16="http://schemas.microsoft.com/office/drawing/2014/main" id="{FCCA6886-2C56-1E8D-46C5-7C354F95408C}"/>
              </a:ext>
            </a:extLst>
          </p:cNvPr>
          <p:cNvGraphicFramePr>
            <a:graphicFrameLocks noGrp="1"/>
          </p:cNvGraphicFramePr>
          <p:nvPr>
            <p:extLst>
              <p:ext uri="{D42A27DB-BD31-4B8C-83A1-F6EECF244321}">
                <p14:modId xmlns:p14="http://schemas.microsoft.com/office/powerpoint/2010/main" val="672536172"/>
              </p:ext>
            </p:extLst>
          </p:nvPr>
        </p:nvGraphicFramePr>
        <p:xfrm>
          <a:off x="179752" y="742463"/>
          <a:ext cx="4329725" cy="5004175"/>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00345">
                <a:tc>
                  <a:txBody>
                    <a:bodyPr/>
                    <a:lstStyle/>
                    <a:p>
                      <a:pPr>
                        <a:lnSpc>
                          <a:spcPct val="100000"/>
                        </a:lnSpc>
                      </a:pPr>
                      <a:r>
                        <a:rPr lang="en-US" sz="700"/>
                        <a:t>Bit</a:t>
                      </a:r>
                    </a:p>
                  </a:txBody>
                  <a:tcPr anchor="ctr"/>
                </a:tc>
                <a:tc>
                  <a:txBody>
                    <a:bodyPr/>
                    <a:lstStyle/>
                    <a:p>
                      <a:pPr>
                        <a:lnSpc>
                          <a:spcPct val="100000"/>
                        </a:lnSpc>
                      </a:pPr>
                      <a:r>
                        <a:rPr lang="en-US" sz="700" dirty="0"/>
                        <a:t>Operation</a:t>
                      </a:r>
                    </a:p>
                  </a:txBody>
                  <a:tcPr anchor="ctr"/>
                </a:tc>
                <a:extLst>
                  <a:ext uri="{0D108BD9-81ED-4DB2-BD59-A6C34878D82A}">
                    <a16:rowId xmlns:a16="http://schemas.microsoft.com/office/drawing/2014/main" val="2319756336"/>
                  </a:ext>
                </a:extLst>
              </a:tr>
              <a:tr h="200345">
                <a:tc>
                  <a:txBody>
                    <a:bodyPr/>
                    <a:lstStyle/>
                    <a:p>
                      <a:pPr algn="ctr">
                        <a:lnSpc>
                          <a:spcPct val="100000"/>
                        </a:lnSpc>
                      </a:pPr>
                      <a:r>
                        <a:rPr lang="en-US" sz="700" dirty="0"/>
                        <a:t>23</a:t>
                      </a:r>
                    </a:p>
                  </a:txBody>
                  <a:tcPr anchor="ctr"/>
                </a:tc>
                <a:tc>
                  <a:txBody>
                    <a:bodyPr/>
                    <a:lstStyle/>
                    <a:p>
                      <a:pPr algn="l">
                        <a:lnSpc>
                          <a:spcPct val="100000"/>
                        </a:lnSpc>
                      </a:pPr>
                      <a:r>
                        <a:rPr lang="en-US" sz="700" dirty="0"/>
                        <a:t>Not Used</a:t>
                      </a:r>
                    </a:p>
                  </a:txBody>
                  <a:tcPr anchor="ctr"/>
                </a:tc>
                <a:extLst>
                  <a:ext uri="{0D108BD9-81ED-4DB2-BD59-A6C34878D82A}">
                    <a16:rowId xmlns:a16="http://schemas.microsoft.com/office/drawing/2014/main" val="3576468534"/>
                  </a:ext>
                </a:extLst>
              </a:tr>
              <a:tr h="200345">
                <a:tc>
                  <a:txBody>
                    <a:bodyPr/>
                    <a:lstStyle/>
                    <a:p>
                      <a:pPr algn="ctr">
                        <a:lnSpc>
                          <a:spcPct val="100000"/>
                        </a:lnSpc>
                      </a:pPr>
                      <a:r>
                        <a:rPr lang="en-US" sz="700" dirty="0"/>
                        <a:t>22</a:t>
                      </a:r>
                    </a:p>
                  </a:txBody>
                  <a:tcPr anchor="ctr"/>
                </a:tc>
                <a:tc>
                  <a:txBody>
                    <a:bodyPr/>
                    <a:lstStyle/>
                    <a:p>
                      <a:pPr algn="l">
                        <a:lnSpc>
                          <a:spcPct val="100000"/>
                        </a:lnSpc>
                      </a:pPr>
                      <a:r>
                        <a:rPr lang="en-US" sz="700" dirty="0" err="1"/>
                        <a:t>AddressHorL</a:t>
                      </a:r>
                      <a:endParaRPr lang="en-US" sz="700" dirty="0"/>
                    </a:p>
                  </a:txBody>
                  <a:tcPr anchor="ctr"/>
                </a:tc>
                <a:extLst>
                  <a:ext uri="{0D108BD9-81ED-4DB2-BD59-A6C34878D82A}">
                    <a16:rowId xmlns:a16="http://schemas.microsoft.com/office/drawing/2014/main" val="79971578"/>
                  </a:ext>
                </a:extLst>
              </a:tr>
              <a:tr h="200345">
                <a:tc>
                  <a:txBody>
                    <a:bodyPr/>
                    <a:lstStyle/>
                    <a:p>
                      <a:pPr algn="ctr">
                        <a:lnSpc>
                          <a:spcPct val="100000"/>
                        </a:lnSpc>
                      </a:pPr>
                      <a:r>
                        <a:rPr lang="en-US" sz="700" dirty="0"/>
                        <a:t>21</a:t>
                      </a:r>
                    </a:p>
                  </a:txBody>
                  <a:tcPr anchor="ctr"/>
                </a:tc>
                <a:tc>
                  <a:txBody>
                    <a:bodyPr/>
                    <a:lstStyle/>
                    <a:p>
                      <a:pPr algn="l">
                        <a:lnSpc>
                          <a:spcPct val="100000"/>
                        </a:lnSpc>
                      </a:pPr>
                      <a:r>
                        <a:rPr lang="en-US" sz="700" dirty="0" err="1"/>
                        <a:t>AddressBusToDataBus</a:t>
                      </a:r>
                      <a:endParaRPr lang="en-US" sz="700" dirty="0"/>
                    </a:p>
                  </a:txBody>
                  <a:tcPr anchor="ctr"/>
                </a:tc>
                <a:extLst>
                  <a:ext uri="{0D108BD9-81ED-4DB2-BD59-A6C34878D82A}">
                    <a16:rowId xmlns:a16="http://schemas.microsoft.com/office/drawing/2014/main" val="4135939119"/>
                  </a:ext>
                </a:extLst>
              </a:tr>
              <a:tr h="200345">
                <a:tc>
                  <a:txBody>
                    <a:bodyPr/>
                    <a:lstStyle/>
                    <a:p>
                      <a:pPr algn="ctr">
                        <a:lnSpc>
                          <a:spcPct val="100000"/>
                        </a:lnSpc>
                      </a:pPr>
                      <a:r>
                        <a:rPr lang="en-US" sz="700" dirty="0"/>
                        <a:t>20</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err="1"/>
                        <a:t>TmpARWrite</a:t>
                      </a:r>
                      <a:endParaRPr lang="en-US" sz="700"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9580944"/>
                  </a:ext>
                </a:extLst>
              </a:tr>
              <a:tr h="200345">
                <a:tc>
                  <a:txBody>
                    <a:bodyPr/>
                    <a:lstStyle/>
                    <a:p>
                      <a:pPr algn="ctr">
                        <a:lnSpc>
                          <a:spcPct val="100000"/>
                        </a:lnSpc>
                      </a:pPr>
                      <a:r>
                        <a:rPr lang="en-US" sz="700" dirty="0"/>
                        <a:t>19</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err="1"/>
                        <a:t>TmpARRead</a:t>
                      </a:r>
                      <a:endParaRPr lang="en-US" sz="700"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35159618"/>
                  </a:ext>
                </a:extLst>
              </a:tr>
              <a:tr h="200345">
                <a:tc>
                  <a:txBody>
                    <a:bodyPr/>
                    <a:lstStyle/>
                    <a:p>
                      <a:pPr algn="ctr">
                        <a:lnSpc>
                          <a:spcPct val="100000"/>
                        </a:lnSpc>
                      </a:pPr>
                      <a:r>
                        <a:rPr lang="en-US" sz="700" dirty="0"/>
                        <a:t>18</a:t>
                      </a:r>
                    </a:p>
                  </a:txBody>
                  <a:tcPr anchor="ctr"/>
                </a:tc>
                <a:tc>
                  <a:txBody>
                    <a:bodyPr/>
                    <a:lstStyle/>
                    <a:p>
                      <a:pPr algn="l">
                        <a:lnSpc>
                          <a:spcPct val="100000"/>
                        </a:lnSpc>
                      </a:pPr>
                      <a:r>
                        <a:rPr lang="en-US" sz="700" dirty="0" err="1"/>
                        <a:t>loadARHorL</a:t>
                      </a:r>
                      <a:endParaRPr lang="en-US" sz="700" dirty="0"/>
                    </a:p>
                  </a:txBody>
                  <a:tcPr anchor="ctr"/>
                </a:tc>
                <a:extLst>
                  <a:ext uri="{0D108BD9-81ED-4DB2-BD59-A6C34878D82A}">
                    <a16:rowId xmlns:a16="http://schemas.microsoft.com/office/drawing/2014/main" val="2357817394"/>
                  </a:ext>
                </a:extLst>
              </a:tr>
              <a:tr h="200345">
                <a:tc>
                  <a:txBody>
                    <a:bodyPr/>
                    <a:lstStyle/>
                    <a:p>
                      <a:pPr algn="ctr">
                        <a:lnSpc>
                          <a:spcPct val="100000"/>
                        </a:lnSpc>
                      </a:pPr>
                      <a:r>
                        <a:rPr lang="en-US" sz="700"/>
                        <a:t>17</a:t>
                      </a:r>
                    </a:p>
                  </a:txBody>
                  <a:tcPr anchor="ctr"/>
                </a:tc>
                <a:tc>
                  <a:txBody>
                    <a:bodyPr/>
                    <a:lstStyle/>
                    <a:p>
                      <a:pPr algn="l">
                        <a:lnSpc>
                          <a:spcPct val="100000"/>
                        </a:lnSpc>
                      </a:pPr>
                      <a:r>
                        <a:rPr lang="en-US" sz="700" dirty="0" err="1"/>
                        <a:t>loadAR</a:t>
                      </a:r>
                      <a:r>
                        <a:rPr lang="en-US" sz="700" dirty="0"/>
                        <a:t> (formerly: Load Special Pointer)</a:t>
                      </a:r>
                    </a:p>
                  </a:txBody>
                  <a:tcPr anchor="ctr"/>
                </a:tc>
                <a:extLst>
                  <a:ext uri="{0D108BD9-81ED-4DB2-BD59-A6C34878D82A}">
                    <a16:rowId xmlns:a16="http://schemas.microsoft.com/office/drawing/2014/main" val="2759210480"/>
                  </a:ext>
                </a:extLst>
              </a:tr>
              <a:tr h="200345">
                <a:tc>
                  <a:txBody>
                    <a:bodyPr/>
                    <a:lstStyle/>
                    <a:p>
                      <a:pPr algn="ctr">
                        <a:lnSpc>
                          <a:spcPct val="100000"/>
                        </a:lnSpc>
                      </a:pPr>
                      <a:r>
                        <a:rPr lang="en-US" sz="700" dirty="0"/>
                        <a:t>16</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Stack Pointer Increment / Decrement (0: decrease / 1: increase)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6363256"/>
                  </a:ext>
                </a:extLst>
              </a:tr>
              <a:tr h="200345">
                <a:tc>
                  <a:txBody>
                    <a:bodyPr/>
                    <a:lstStyle/>
                    <a:p>
                      <a:pPr algn="ctr">
                        <a:lnSpc>
                          <a:spcPct val="100000"/>
                        </a:lnSpc>
                      </a:pPr>
                      <a:r>
                        <a:rPr lang="en-US" sz="700"/>
                        <a:t>15</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Stack Pointer Count</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49660566"/>
                  </a:ext>
                </a:extLst>
              </a:tr>
              <a:tr h="200345">
                <a:tc>
                  <a:txBody>
                    <a:bodyPr/>
                    <a:lstStyle/>
                    <a:p>
                      <a:pPr algn="ctr">
                        <a:lnSpc>
                          <a:spcPct val="100000"/>
                        </a:lnSpc>
                      </a:pPr>
                      <a:r>
                        <a:rPr lang="en-US" sz="700"/>
                        <a:t>14</a:t>
                      </a:r>
                    </a:p>
                  </a:txBody>
                  <a:tcPr anchor="ctr"/>
                </a:tc>
                <a:tc>
                  <a:txBody>
                    <a:bodyPr/>
                    <a:lstStyle/>
                    <a:p>
                      <a:pPr algn="l">
                        <a:lnSpc>
                          <a:spcPct val="100000"/>
                        </a:lnSpc>
                      </a:pPr>
                      <a:r>
                        <a:rPr lang="en-US" sz="700" dirty="0"/>
                        <a:t>SP Out (formerly: RAM Address Select (0: Address register / 1: Stack pointer))</a:t>
                      </a:r>
                    </a:p>
                  </a:txBody>
                  <a:tcPr anchor="ctr"/>
                </a:tc>
                <a:extLst>
                  <a:ext uri="{0D108BD9-81ED-4DB2-BD59-A6C34878D82A}">
                    <a16:rowId xmlns:a16="http://schemas.microsoft.com/office/drawing/2014/main" val="645489424"/>
                  </a:ext>
                </a:extLst>
              </a:tr>
              <a:tr h="200345">
                <a:tc>
                  <a:txBody>
                    <a:bodyPr/>
                    <a:lstStyle/>
                    <a:p>
                      <a:pPr algn="ctr">
                        <a:lnSpc>
                          <a:spcPct val="100000"/>
                        </a:lnSpc>
                      </a:pPr>
                      <a:r>
                        <a:rPr lang="en-US" sz="700"/>
                        <a:t>13</a:t>
                      </a:r>
                    </a:p>
                  </a:txBody>
                  <a:tcPr anchor="ctr"/>
                </a:tc>
                <a:tc>
                  <a:txBody>
                    <a:bodyPr/>
                    <a:lstStyle/>
                    <a:p>
                      <a:pPr algn="l">
                        <a:lnSpc>
                          <a:spcPct val="100000"/>
                        </a:lnSpc>
                      </a:pPr>
                      <a:r>
                        <a:rPr lang="en-US" sz="700"/>
                        <a:t>Use Rd as Source</a:t>
                      </a:r>
                    </a:p>
                  </a:txBody>
                  <a:tcPr anchor="ctr"/>
                </a:tc>
                <a:extLst>
                  <a:ext uri="{0D108BD9-81ED-4DB2-BD59-A6C34878D82A}">
                    <a16:rowId xmlns:a16="http://schemas.microsoft.com/office/drawing/2014/main" val="2745442092"/>
                  </a:ext>
                </a:extLst>
              </a:tr>
              <a:tr h="200345">
                <a:tc>
                  <a:txBody>
                    <a:bodyPr/>
                    <a:lstStyle/>
                    <a:p>
                      <a:pPr algn="ctr">
                        <a:lnSpc>
                          <a:spcPct val="100000"/>
                        </a:lnSpc>
                      </a:pPr>
                      <a:r>
                        <a:rPr lang="en-US" sz="700" dirty="0"/>
                        <a:t>12</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Lower Address Register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762316"/>
                  </a:ext>
                </a:extLst>
              </a:tr>
              <a:tr h="200345">
                <a:tc>
                  <a:txBody>
                    <a:bodyPr/>
                    <a:lstStyle/>
                    <a:p>
                      <a:pPr algn="ctr">
                        <a:lnSpc>
                          <a:spcPct val="100000"/>
                        </a:lnSpc>
                      </a:pPr>
                      <a:r>
                        <a:rPr lang="en-US" sz="700"/>
                        <a:t>11</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Mem Write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66008767"/>
                  </a:ext>
                </a:extLst>
              </a:tr>
              <a:tr h="200345">
                <a:tc>
                  <a:txBody>
                    <a:bodyPr/>
                    <a:lstStyle/>
                    <a:p>
                      <a:pPr algn="ctr">
                        <a:lnSpc>
                          <a:spcPct val="100000"/>
                        </a:lnSpc>
                      </a:pPr>
                      <a:r>
                        <a:rPr lang="en-US" sz="700"/>
                        <a:t>10</a:t>
                      </a:r>
                    </a:p>
                  </a:txBody>
                  <a:tcPr anchor="ctr"/>
                </a:tc>
                <a:tc>
                  <a:txBody>
                    <a:bodyPr/>
                    <a:lstStyle/>
                    <a:p>
                      <a:pPr algn="l">
                        <a:lnSpc>
                          <a:spcPct val="100000"/>
                        </a:lnSpc>
                      </a:pPr>
                      <a:r>
                        <a:rPr lang="en-US" sz="700"/>
                        <a:t>Mem Read</a:t>
                      </a:r>
                    </a:p>
                  </a:txBody>
                  <a:tcPr anchor="ctr"/>
                </a:tc>
                <a:extLst>
                  <a:ext uri="{0D108BD9-81ED-4DB2-BD59-A6C34878D82A}">
                    <a16:rowId xmlns:a16="http://schemas.microsoft.com/office/drawing/2014/main" val="707415226"/>
                  </a:ext>
                </a:extLst>
              </a:tr>
              <a:tr h="200345">
                <a:tc>
                  <a:txBody>
                    <a:bodyPr/>
                    <a:lstStyle/>
                    <a:p>
                      <a:pPr algn="ctr">
                        <a:lnSpc>
                          <a:spcPct val="100000"/>
                        </a:lnSpc>
                      </a:pPr>
                      <a:r>
                        <a:rPr lang="en-US" sz="700"/>
                        <a:t>9</a:t>
                      </a:r>
                    </a:p>
                  </a:txBody>
                  <a:tcPr anchor="ctr"/>
                </a:tc>
                <a:tc>
                  <a:txBody>
                    <a:bodyPr/>
                    <a:lstStyle/>
                    <a:p>
                      <a:pPr algn="l">
                        <a:lnSpc>
                          <a:spcPct val="100000"/>
                        </a:lnSpc>
                      </a:pPr>
                      <a:r>
                        <a:rPr lang="en-US" sz="700"/>
                        <a:t>PC Out</a:t>
                      </a:r>
                    </a:p>
                  </a:txBody>
                  <a:tcPr anchor="ctr"/>
                </a:tc>
                <a:extLst>
                  <a:ext uri="{0D108BD9-81ED-4DB2-BD59-A6C34878D82A}">
                    <a16:rowId xmlns:a16="http://schemas.microsoft.com/office/drawing/2014/main" val="1663806429"/>
                  </a:ext>
                </a:extLst>
              </a:tr>
              <a:tr h="200345">
                <a:tc>
                  <a:txBody>
                    <a:bodyPr/>
                    <a:lstStyle/>
                    <a:p>
                      <a:pPr algn="ctr">
                        <a:lnSpc>
                          <a:spcPct val="100000"/>
                        </a:lnSpc>
                      </a:pPr>
                      <a:r>
                        <a:rPr lang="en-US" sz="700" dirty="0"/>
                        <a:t>8</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a:t>PC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27957"/>
                  </a:ext>
                </a:extLst>
              </a:tr>
              <a:tr h="200345">
                <a:tc>
                  <a:txBody>
                    <a:bodyPr/>
                    <a:lstStyle/>
                    <a:p>
                      <a:pPr algn="ctr">
                        <a:lnSpc>
                          <a:spcPct val="100000"/>
                        </a:lnSpc>
                      </a:pPr>
                      <a:r>
                        <a:rPr lang="en-US" sz="700"/>
                        <a:t>7</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PC advance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70910443"/>
                  </a:ext>
                </a:extLst>
              </a:tr>
              <a:tr h="200345">
                <a:tc>
                  <a:txBody>
                    <a:bodyPr/>
                    <a:lstStyle/>
                    <a:p>
                      <a:pPr algn="ctr">
                        <a:lnSpc>
                          <a:spcPct val="100000"/>
                        </a:lnSpc>
                      </a:pPr>
                      <a:r>
                        <a:rPr lang="en-US" sz="700"/>
                        <a:t>6</a:t>
                      </a:r>
                    </a:p>
                  </a:txBody>
                  <a:tcPr anchor="ctr"/>
                </a:tc>
                <a:tc>
                  <a:txBody>
                    <a:bodyPr/>
                    <a:lstStyle/>
                    <a:p>
                      <a:pPr algn="l">
                        <a:lnSpc>
                          <a:spcPct val="100000"/>
                        </a:lnSpc>
                      </a:pPr>
                      <a:r>
                        <a:rPr lang="en-US" sz="700"/>
                        <a:t>Program Register H Write to Bus (parameter)</a:t>
                      </a:r>
                    </a:p>
                  </a:txBody>
                  <a:tcPr anchor="ctr"/>
                </a:tc>
                <a:extLst>
                  <a:ext uri="{0D108BD9-81ED-4DB2-BD59-A6C34878D82A}">
                    <a16:rowId xmlns:a16="http://schemas.microsoft.com/office/drawing/2014/main" val="631651838"/>
                  </a:ext>
                </a:extLst>
              </a:tr>
              <a:tr h="200345">
                <a:tc>
                  <a:txBody>
                    <a:bodyPr/>
                    <a:lstStyle/>
                    <a:p>
                      <a:pPr algn="ctr">
                        <a:lnSpc>
                          <a:spcPct val="100000"/>
                        </a:lnSpc>
                      </a:pPr>
                      <a:r>
                        <a:rPr lang="en-US" sz="700"/>
                        <a:t>5</a:t>
                      </a:r>
                    </a:p>
                  </a:txBody>
                  <a:tcPr anchor="ctr"/>
                </a:tc>
                <a:tc>
                  <a:txBody>
                    <a:bodyPr/>
                    <a:lstStyle/>
                    <a:p>
                      <a:pPr algn="l">
                        <a:lnSpc>
                          <a:spcPct val="100000"/>
                        </a:lnSpc>
                      </a:pPr>
                      <a:r>
                        <a:rPr lang="en-US" sz="700"/>
                        <a:t>Register File Input Enable</a:t>
                      </a:r>
                    </a:p>
                  </a:txBody>
                  <a:tcPr anchor="ctr"/>
                </a:tc>
                <a:extLst>
                  <a:ext uri="{0D108BD9-81ED-4DB2-BD59-A6C34878D82A}">
                    <a16:rowId xmlns:a16="http://schemas.microsoft.com/office/drawing/2014/main" val="1592812184"/>
                  </a:ext>
                </a:extLst>
              </a:tr>
              <a:tr h="200345">
                <a:tc>
                  <a:txBody>
                    <a:bodyPr/>
                    <a:lstStyle/>
                    <a:p>
                      <a:pPr algn="ctr">
                        <a:lnSpc>
                          <a:spcPct val="100000"/>
                        </a:lnSpc>
                      </a:pPr>
                      <a:r>
                        <a:rPr lang="en-US" sz="700" dirty="0"/>
                        <a:t>4</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Register File Output Enable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5793510"/>
                  </a:ext>
                </a:extLst>
              </a:tr>
              <a:tr h="200345">
                <a:tc>
                  <a:txBody>
                    <a:bodyPr/>
                    <a:lstStyle/>
                    <a:p>
                      <a:pPr algn="ctr">
                        <a:lnSpc>
                          <a:spcPct val="100000"/>
                        </a:lnSpc>
                      </a:pPr>
                      <a:r>
                        <a:rPr lang="en-US" sz="700"/>
                        <a:t>3</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Register File Output Select (parameter – 0 -&gt; Rs1, 1 -&gt; Rs2)</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46366285"/>
                  </a:ext>
                </a:extLst>
              </a:tr>
              <a:tr h="0">
                <a:tc>
                  <a:txBody>
                    <a:bodyPr/>
                    <a:lstStyle/>
                    <a:p>
                      <a:pPr algn="ctr">
                        <a:lnSpc>
                          <a:spcPct val="100000"/>
                        </a:lnSpc>
                      </a:pPr>
                      <a:r>
                        <a:rPr lang="en-US" sz="700"/>
                        <a:t>2</a:t>
                      </a:r>
                    </a:p>
                  </a:txBody>
                  <a:tcPr anchor="ctr"/>
                </a:tc>
                <a:tc>
                  <a:txBody>
                    <a:bodyPr/>
                    <a:lstStyle/>
                    <a:p>
                      <a:pPr algn="l">
                        <a:lnSpc>
                          <a:spcPct val="100000"/>
                        </a:lnSpc>
                      </a:pPr>
                      <a:r>
                        <a:rPr lang="en-US" sz="700" dirty="0"/>
                        <a:t>ALU output enable</a:t>
                      </a:r>
                    </a:p>
                  </a:txBody>
                  <a:tcPr anchor="ctr"/>
                </a:tc>
                <a:extLst>
                  <a:ext uri="{0D108BD9-81ED-4DB2-BD59-A6C34878D82A}">
                    <a16:rowId xmlns:a16="http://schemas.microsoft.com/office/drawing/2014/main" val="2615342211"/>
                  </a:ext>
                </a:extLst>
              </a:tr>
              <a:tr h="156274">
                <a:tc>
                  <a:txBody>
                    <a:bodyPr/>
                    <a:lstStyle/>
                    <a:p>
                      <a:pPr algn="ctr">
                        <a:lnSpc>
                          <a:spcPct val="100000"/>
                        </a:lnSpc>
                      </a:pPr>
                      <a:r>
                        <a:rPr lang="en-US" sz="700"/>
                        <a:t>1</a:t>
                      </a:r>
                    </a:p>
                  </a:txBody>
                  <a:tcPr anchor="ctr"/>
                </a:tc>
                <a:tc>
                  <a:txBody>
                    <a:bodyPr/>
                    <a:lstStyle/>
                    <a:p>
                      <a:pPr algn="l">
                        <a:lnSpc>
                          <a:spcPct val="100000"/>
                        </a:lnSpc>
                      </a:pPr>
                      <a:r>
                        <a:rPr lang="en-US" sz="700" dirty="0"/>
                        <a:t>ALU load register A</a:t>
                      </a:r>
                    </a:p>
                  </a:txBody>
                  <a:tcPr marT="0" anchor="ctr"/>
                </a:tc>
                <a:extLst>
                  <a:ext uri="{0D108BD9-81ED-4DB2-BD59-A6C34878D82A}">
                    <a16:rowId xmlns:a16="http://schemas.microsoft.com/office/drawing/2014/main" val="2055856817"/>
                  </a:ext>
                </a:extLst>
              </a:tr>
              <a:tr h="200345">
                <a:tc>
                  <a:txBody>
                    <a:bodyPr/>
                    <a:lstStyle/>
                    <a:p>
                      <a:pPr algn="ctr">
                        <a:lnSpc>
                          <a:spcPct val="100000"/>
                        </a:lnSpc>
                      </a:pPr>
                      <a:r>
                        <a:rPr lang="en-US" sz="700"/>
                        <a:t>0</a:t>
                      </a:r>
                    </a:p>
                  </a:txBody>
                  <a:tcPr anchor="ctr"/>
                </a:tc>
                <a:tc>
                  <a:txBody>
                    <a:bodyPr/>
                    <a:lstStyle/>
                    <a:p>
                      <a:pPr algn="l">
                        <a:lnSpc>
                          <a:spcPct val="100000"/>
                        </a:lnSpc>
                      </a:pPr>
                      <a:r>
                        <a:rPr lang="en-US" sz="700" dirty="0"/>
                        <a:t>ALU load register B</a:t>
                      </a:r>
                    </a:p>
                  </a:txBody>
                  <a:tcPr anchor="ct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342684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34E04-D61B-7E89-ECC1-D955AF3E54AA}"/>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0E218DE2-69D0-320C-840E-D6CFAFA386E9}"/>
              </a:ext>
            </a:extLst>
          </p:cNvPr>
          <p:cNvSpPr>
            <a:spLocks noGrp="1"/>
          </p:cNvSpPr>
          <p:nvPr>
            <p:ph type="ctrTitle"/>
          </p:nvPr>
        </p:nvSpPr>
        <p:spPr>
          <a:xfrm>
            <a:off x="914400" y="182880"/>
            <a:ext cx="9932068" cy="457200"/>
          </a:xfrm>
        </p:spPr>
        <p:txBody>
          <a:bodyPr/>
          <a:lstStyle/>
          <a:p>
            <a:r>
              <a:rPr lang="en-US" dirty="0"/>
              <a:t>Micro-Instructions Control: Address with Offset to Address 2 (MAA2) (11001)</a:t>
            </a:r>
          </a:p>
        </p:txBody>
      </p:sp>
      <p:graphicFrame>
        <p:nvGraphicFramePr>
          <p:cNvPr id="5" name="Table 4">
            <a:extLst>
              <a:ext uri="{FF2B5EF4-FFF2-40B4-BE49-F238E27FC236}">
                <a16:creationId xmlns:a16="http://schemas.microsoft.com/office/drawing/2014/main" id="{6079270A-6A29-F07B-E01B-5C6C4B0C3CED}"/>
              </a:ext>
            </a:extLst>
          </p:cNvPr>
          <p:cNvGraphicFramePr>
            <a:graphicFrameLocks noGrp="1"/>
          </p:cNvGraphicFramePr>
          <p:nvPr/>
        </p:nvGraphicFramePr>
        <p:xfrm>
          <a:off x="4716581" y="742463"/>
          <a:ext cx="6249874" cy="3133839"/>
        </p:xfrm>
        <a:graphic>
          <a:graphicData uri="http://schemas.openxmlformats.org/drawingml/2006/table">
            <a:tbl>
              <a:tblPr firstRow="1" bandRow="1">
                <a:tableStyleId>{5C22544A-7EE6-4342-B048-85BDC9FD1C3A}</a:tableStyleId>
              </a:tblPr>
              <a:tblGrid>
                <a:gridCol w="948528">
                  <a:extLst>
                    <a:ext uri="{9D8B030D-6E8A-4147-A177-3AD203B41FA5}">
                      <a16:colId xmlns:a16="http://schemas.microsoft.com/office/drawing/2014/main" val="1217920130"/>
                    </a:ext>
                  </a:extLst>
                </a:gridCol>
                <a:gridCol w="2465917">
                  <a:extLst>
                    <a:ext uri="{9D8B030D-6E8A-4147-A177-3AD203B41FA5}">
                      <a16:colId xmlns:a16="http://schemas.microsoft.com/office/drawing/2014/main" val="1475888205"/>
                    </a:ext>
                  </a:extLst>
                </a:gridCol>
                <a:gridCol w="2835429">
                  <a:extLst>
                    <a:ext uri="{9D8B030D-6E8A-4147-A177-3AD203B41FA5}">
                      <a16:colId xmlns:a16="http://schemas.microsoft.com/office/drawing/2014/main" val="2801792198"/>
                    </a:ext>
                  </a:extLst>
                </a:gridCol>
              </a:tblGrid>
              <a:tr h="324599">
                <a:tc>
                  <a:txBody>
                    <a:bodyPr/>
                    <a:lstStyle/>
                    <a:p>
                      <a:r>
                        <a:rPr lang="en-US" sz="1200" dirty="0"/>
                        <a:t>Cycle #</a:t>
                      </a:r>
                    </a:p>
                  </a:txBody>
                  <a:tcPr/>
                </a:tc>
                <a:tc>
                  <a:txBody>
                    <a:bodyPr/>
                    <a:lstStyle/>
                    <a:p>
                      <a:r>
                        <a:rPr lang="en-US" sz="1200" dirty="0"/>
                        <a:t>Instruction</a:t>
                      </a:r>
                    </a:p>
                  </a:txBody>
                  <a:tcPr/>
                </a:tc>
                <a:tc>
                  <a:txBody>
                    <a:bodyPr/>
                    <a:lstStyle/>
                    <a:p>
                      <a:r>
                        <a:rPr lang="en-US" sz="1200"/>
                        <a:t>Explanation</a:t>
                      </a:r>
                    </a:p>
                  </a:txBody>
                  <a:tcPr/>
                </a:tc>
                <a:extLst>
                  <a:ext uri="{0D108BD9-81ED-4DB2-BD59-A6C34878D82A}">
                    <a16:rowId xmlns:a16="http://schemas.microsoft.com/office/drawing/2014/main" val="2319756336"/>
                  </a:ext>
                </a:extLst>
              </a:tr>
              <a:tr h="579120">
                <a:tc>
                  <a:txBody>
                    <a:bodyPr/>
                    <a:lstStyle/>
                    <a:p>
                      <a:pPr algn="ctr"/>
                      <a:r>
                        <a:rPr lang="en-US" sz="1200"/>
                        <a:t>0</a:t>
                      </a:r>
                    </a:p>
                  </a:txBody>
                  <a:tcPr/>
                </a:tc>
                <a:tc>
                  <a:txBody>
                    <a:bodyPr/>
                    <a:lstStyle/>
                    <a:p>
                      <a:pPr algn="l"/>
                      <a:r>
                        <a:rPr lang="en-US" sz="1200" dirty="0"/>
                        <a:t>0x08_00_40</a:t>
                      </a:r>
                    </a:p>
                  </a:txBody>
                  <a:tcPr/>
                </a:tc>
                <a:tc>
                  <a:txBody>
                    <a:bodyPr/>
                    <a:lstStyle/>
                    <a:p>
                      <a:pPr algn="l"/>
                      <a:r>
                        <a:rPr lang="en-US" sz="1200" dirty="0"/>
                        <a:t>Write Imm to the Data Bus, </a:t>
                      </a:r>
                      <a:r>
                        <a:rPr lang="en-US" sz="1200" dirty="0" err="1"/>
                        <a:t>ARSrc</a:t>
                      </a:r>
                      <a:r>
                        <a:rPr lang="en-US" sz="1200" dirty="0"/>
                        <a:t> to the Address Bus, and set </a:t>
                      </a:r>
                      <a:r>
                        <a:rPr lang="en-US" sz="1200" dirty="0" err="1"/>
                        <a:t>TmpAR</a:t>
                      </a:r>
                      <a:r>
                        <a:rPr lang="en-US" sz="1200" dirty="0"/>
                        <a:t> to read.</a:t>
                      </a:r>
                    </a:p>
                  </a:txBody>
                  <a:tcPr/>
                </a:tc>
                <a:extLst>
                  <a:ext uri="{0D108BD9-81ED-4DB2-BD59-A6C34878D82A}">
                    <a16:rowId xmlns:a16="http://schemas.microsoft.com/office/drawing/2014/main" val="2570910443"/>
                  </a:ext>
                </a:extLst>
              </a:tr>
              <a:tr h="579120">
                <a:tc>
                  <a:txBody>
                    <a:bodyPr/>
                    <a:lstStyle/>
                    <a:p>
                      <a:pPr algn="ctr"/>
                      <a:r>
                        <a:rPr lang="en-US" sz="12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0x10_00_00</a:t>
                      </a:r>
                    </a:p>
                  </a:txBody>
                  <a:tcPr/>
                </a:tc>
                <a:tc>
                  <a:txBody>
                    <a:bodyPr/>
                    <a:lstStyle/>
                    <a:p>
                      <a:pPr algn="l"/>
                      <a:r>
                        <a:rPr lang="en-US" sz="1200" dirty="0"/>
                        <a:t>Write </a:t>
                      </a:r>
                      <a:r>
                        <a:rPr lang="en-US" sz="1200" dirty="0" err="1"/>
                        <a:t>TmpAR</a:t>
                      </a:r>
                      <a:r>
                        <a:rPr lang="en-US" sz="1200" dirty="0"/>
                        <a:t> to the Address Bus.</a:t>
                      </a:r>
                    </a:p>
                  </a:txBody>
                  <a:tcPr/>
                </a:tc>
                <a:extLst>
                  <a:ext uri="{0D108BD9-81ED-4DB2-BD59-A6C34878D82A}">
                    <a16:rowId xmlns:a16="http://schemas.microsoft.com/office/drawing/2014/main" val="631651838"/>
                  </a:ext>
                </a:extLst>
              </a:tr>
              <a:tr h="370840">
                <a:tc>
                  <a:txBody>
                    <a:bodyPr/>
                    <a:lstStyle/>
                    <a:p>
                      <a:pPr algn="ctr"/>
                      <a:r>
                        <a:rPr lang="en-US" sz="12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0x32_00_00</a:t>
                      </a:r>
                    </a:p>
                  </a:txBody>
                  <a:tcPr/>
                </a:tc>
                <a:tc>
                  <a:txBody>
                    <a:bodyPr/>
                    <a:lstStyle/>
                    <a:p>
                      <a:pPr algn="l"/>
                      <a:r>
                        <a:rPr lang="en-US" sz="1200" dirty="0"/>
                        <a:t>Write </a:t>
                      </a:r>
                      <a:r>
                        <a:rPr lang="en-US" sz="1200" dirty="0" err="1"/>
                        <a:t>TmpAR</a:t>
                      </a:r>
                      <a:r>
                        <a:rPr lang="en-US" sz="1200" dirty="0"/>
                        <a:t> to the Address Bus, Address Bus Low register to the Data Bus, and set ARDest[L] to read from the Data Bus.</a:t>
                      </a:r>
                    </a:p>
                  </a:txBody>
                  <a:tcPr/>
                </a:tc>
                <a:extLst>
                  <a:ext uri="{0D108BD9-81ED-4DB2-BD59-A6C34878D82A}">
                    <a16:rowId xmlns:a16="http://schemas.microsoft.com/office/drawing/2014/main" val="1592812184"/>
                  </a:ext>
                </a:extLst>
              </a:tr>
              <a:tr h="370840">
                <a:tc>
                  <a:txBody>
                    <a:bodyPr/>
                    <a:lstStyle/>
                    <a:p>
                      <a:pPr algn="ctr"/>
                      <a:r>
                        <a:rPr lang="en-US" sz="1200"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0x66_00_00</a:t>
                      </a:r>
                    </a:p>
                  </a:txBody>
                  <a:tcPr/>
                </a:tc>
                <a:tc>
                  <a:txBody>
                    <a:bodyPr/>
                    <a:lstStyle/>
                    <a:p>
                      <a:pPr algn="l"/>
                      <a:r>
                        <a:rPr lang="en-US" sz="1200" dirty="0"/>
                        <a:t>Write Address Bus High Register to the Data Bus and set ARDest[H] to read from the Data Bus.</a:t>
                      </a:r>
                    </a:p>
                  </a:txBody>
                  <a:tcPr/>
                </a:tc>
                <a:extLst>
                  <a:ext uri="{0D108BD9-81ED-4DB2-BD59-A6C34878D82A}">
                    <a16:rowId xmlns:a16="http://schemas.microsoft.com/office/drawing/2014/main" val="3699770866"/>
                  </a:ext>
                </a:extLst>
              </a:tr>
              <a:tr h="370840">
                <a:tc>
                  <a:txBody>
                    <a:bodyPr/>
                    <a:lstStyle/>
                    <a:p>
                      <a:pPr algn="ctr"/>
                      <a:r>
                        <a:rPr lang="en-US" sz="1200"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0x_00_00_80</a:t>
                      </a:r>
                    </a:p>
                  </a:txBody>
                  <a:tcPr/>
                </a:tc>
                <a:tc>
                  <a:txBody>
                    <a:bodyPr/>
                    <a:lstStyle/>
                    <a:p>
                      <a:pPr algn="l"/>
                      <a:r>
                        <a:rPr lang="en-US" sz="1200" dirty="0"/>
                        <a:t>Advance PC.</a:t>
                      </a:r>
                    </a:p>
                  </a:txBody>
                  <a:tcPr/>
                </a:tc>
                <a:extLst>
                  <a:ext uri="{0D108BD9-81ED-4DB2-BD59-A6C34878D82A}">
                    <a16:rowId xmlns:a16="http://schemas.microsoft.com/office/drawing/2014/main" val="3288668263"/>
                  </a:ext>
                </a:extLst>
              </a:tr>
            </a:tbl>
          </a:graphicData>
        </a:graphic>
      </p:graphicFrame>
      <p:pic>
        <p:nvPicPr>
          <p:cNvPr id="2" name="Picture 1">
            <a:hlinkClick r:id="rId3" action="ppaction://hlinksldjump"/>
            <a:extLst>
              <a:ext uri="{FF2B5EF4-FFF2-40B4-BE49-F238E27FC236}">
                <a16:creationId xmlns:a16="http://schemas.microsoft.com/office/drawing/2014/main" id="{02A8BC71-0AD7-16B1-A503-F3679BF4884E}"/>
              </a:ext>
            </a:extLst>
          </p:cNvPr>
          <p:cNvPicPr>
            <a:picLocks noChangeAspect="1"/>
          </p:cNvPicPr>
          <p:nvPr/>
        </p:nvPicPr>
        <p:blipFill>
          <a:blip r:embed="rId4"/>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E69F3810-49CB-9817-2268-FBDA46670769}"/>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65</a:t>
            </a:fld>
            <a:endParaRPr lang="en-US" b="1">
              <a:solidFill>
                <a:schemeClr val="bg1"/>
              </a:solidFill>
            </a:endParaRPr>
          </a:p>
        </p:txBody>
      </p:sp>
      <p:graphicFrame>
        <p:nvGraphicFramePr>
          <p:cNvPr id="3" name="Table 4">
            <a:extLst>
              <a:ext uri="{FF2B5EF4-FFF2-40B4-BE49-F238E27FC236}">
                <a16:creationId xmlns:a16="http://schemas.microsoft.com/office/drawing/2014/main" id="{5B934D8B-233B-342F-0C5D-EA4431C40433}"/>
              </a:ext>
            </a:extLst>
          </p:cNvPr>
          <p:cNvGraphicFramePr>
            <a:graphicFrameLocks noGrp="1"/>
          </p:cNvGraphicFramePr>
          <p:nvPr>
            <p:extLst>
              <p:ext uri="{D42A27DB-BD31-4B8C-83A1-F6EECF244321}">
                <p14:modId xmlns:p14="http://schemas.microsoft.com/office/powerpoint/2010/main" val="1332291618"/>
              </p:ext>
            </p:extLst>
          </p:nvPr>
        </p:nvGraphicFramePr>
        <p:xfrm>
          <a:off x="179752" y="5818357"/>
          <a:ext cx="10583500" cy="586740"/>
        </p:xfrm>
        <a:graphic>
          <a:graphicData uri="http://schemas.openxmlformats.org/drawingml/2006/table">
            <a:tbl>
              <a:tblPr firstRow="1" bandRow="1">
                <a:tableStyleId>{5C22544A-7EE6-4342-B048-85BDC9FD1C3A}</a:tableStyleId>
              </a:tblPr>
              <a:tblGrid>
                <a:gridCol w="998667">
                  <a:extLst>
                    <a:ext uri="{9D8B030D-6E8A-4147-A177-3AD203B41FA5}">
                      <a16:colId xmlns:a16="http://schemas.microsoft.com/office/drawing/2014/main" val="1810408170"/>
                    </a:ext>
                  </a:extLst>
                </a:gridCol>
                <a:gridCol w="970585">
                  <a:extLst>
                    <a:ext uri="{9D8B030D-6E8A-4147-A177-3AD203B41FA5}">
                      <a16:colId xmlns:a16="http://schemas.microsoft.com/office/drawing/2014/main" val="950391025"/>
                    </a:ext>
                  </a:extLst>
                </a:gridCol>
                <a:gridCol w="882483">
                  <a:extLst>
                    <a:ext uri="{9D8B030D-6E8A-4147-A177-3AD203B41FA5}">
                      <a16:colId xmlns:a16="http://schemas.microsoft.com/office/drawing/2014/main" val="1217920130"/>
                    </a:ext>
                  </a:extLst>
                </a:gridCol>
                <a:gridCol w="1402159">
                  <a:extLst>
                    <a:ext uri="{9D8B030D-6E8A-4147-A177-3AD203B41FA5}">
                      <a16:colId xmlns:a16="http://schemas.microsoft.com/office/drawing/2014/main" val="1475888205"/>
                    </a:ext>
                  </a:extLst>
                </a:gridCol>
                <a:gridCol w="1609969">
                  <a:extLst>
                    <a:ext uri="{9D8B030D-6E8A-4147-A177-3AD203B41FA5}">
                      <a16:colId xmlns:a16="http://schemas.microsoft.com/office/drawing/2014/main" val="1355185516"/>
                    </a:ext>
                  </a:extLst>
                </a:gridCol>
                <a:gridCol w="1304925">
                  <a:extLst>
                    <a:ext uri="{9D8B030D-6E8A-4147-A177-3AD203B41FA5}">
                      <a16:colId xmlns:a16="http://schemas.microsoft.com/office/drawing/2014/main" val="1039846299"/>
                    </a:ext>
                  </a:extLst>
                </a:gridCol>
                <a:gridCol w="3414712">
                  <a:extLst>
                    <a:ext uri="{9D8B030D-6E8A-4147-A177-3AD203B41FA5}">
                      <a16:colId xmlns:a16="http://schemas.microsoft.com/office/drawing/2014/main" val="3099546510"/>
                    </a:ext>
                  </a:extLst>
                </a:gridCol>
              </a:tblGrid>
              <a:tr h="297180">
                <a:tc>
                  <a:txBody>
                    <a:bodyPr/>
                    <a:lstStyle/>
                    <a:p>
                      <a:r>
                        <a:rPr lang="en-US" sz="1300" dirty="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146900">
                <a:tc>
                  <a:txBody>
                    <a:bodyPr/>
                    <a:lstStyle/>
                    <a:p>
                      <a:pPr algn="ctr"/>
                      <a:r>
                        <a:rPr lang="en-US" sz="1300" dirty="0"/>
                        <a:t>MAA</a:t>
                      </a:r>
                    </a:p>
                  </a:txBody>
                  <a:tcPr>
                    <a:solidFill>
                      <a:schemeClr val="accent6"/>
                    </a:solidFill>
                  </a:tcPr>
                </a:tc>
                <a:tc gridSpan="3">
                  <a:txBody>
                    <a:bodyPr/>
                    <a:lstStyle/>
                    <a:p>
                      <a:pPr algn="ctr"/>
                      <a:r>
                        <a:rPr lang="en-US" sz="1300"/>
                        <a:t>Immediate (8-bit)</a:t>
                      </a:r>
                    </a:p>
                  </a:txBody>
                  <a:tcPr/>
                </a:tc>
                <a:tc hMerge="1">
                  <a:txBody>
                    <a:bodyPr/>
                    <a:lstStyle/>
                    <a:p>
                      <a:pPr algn="ctr"/>
                      <a:endParaRPr lang="en-US"/>
                    </a:p>
                  </a:txBody>
                  <a:tcPr/>
                </a:tc>
                <a:tc hMerge="1">
                  <a:txBody>
                    <a:bodyPr/>
                    <a:lstStyle/>
                    <a:p>
                      <a:pPr algn="ctr"/>
                      <a:r>
                        <a:rPr lang="en-US"/>
                        <a:t>Immediate (8-bit)</a:t>
                      </a:r>
                    </a:p>
                  </a:txBody>
                  <a:tcPr/>
                </a:tc>
                <a:tc>
                  <a:txBody>
                    <a:bodyPr/>
                    <a:lstStyle/>
                    <a:p>
                      <a:pPr algn="ctr"/>
                      <a:r>
                        <a:rPr lang="en-US" sz="1300" dirty="0"/>
                        <a:t>ARDest</a:t>
                      </a:r>
                    </a:p>
                  </a:txBody>
                  <a:tcPr/>
                </a:tc>
                <a:tc>
                  <a:txBody>
                    <a:bodyPr/>
                    <a:lstStyle/>
                    <a:p>
                      <a:pPr algn="ctr"/>
                      <a:r>
                        <a:rPr lang="en-US" sz="1300" dirty="0" err="1"/>
                        <a:t>ARSrc</a:t>
                      </a:r>
                      <a:r>
                        <a:rPr lang="en-US" sz="1300" dirty="0"/>
                        <a:t>[1]</a:t>
                      </a:r>
                    </a:p>
                  </a:txBody>
                  <a:tcPr/>
                </a:tc>
                <a:tc>
                  <a:txBody>
                    <a:bodyPr/>
                    <a:lstStyle/>
                    <a:p>
                      <a:pPr algn="ctr"/>
                      <a:r>
                        <a:rPr lang="en-US" sz="1300" dirty="0" err="1"/>
                        <a:t>OpCode</a:t>
                      </a:r>
                      <a:r>
                        <a:rPr lang="en-US" sz="1300" dirty="0"/>
                        <a:t>=19 (and </a:t>
                      </a:r>
                      <a:r>
                        <a:rPr lang="en-US" sz="1300" dirty="0" err="1"/>
                        <a:t>ARSrc</a:t>
                      </a:r>
                      <a:r>
                        <a:rPr lang="en-US" sz="1300" dirty="0"/>
                        <a:t>[0] = 1)</a:t>
                      </a:r>
                    </a:p>
                  </a:txBody>
                  <a:tcPr/>
                </a:tc>
                <a:extLst>
                  <a:ext uri="{0D108BD9-81ED-4DB2-BD59-A6C34878D82A}">
                    <a16:rowId xmlns:a16="http://schemas.microsoft.com/office/drawing/2014/main" val="2570910443"/>
                  </a:ext>
                </a:extLst>
              </a:tr>
            </a:tbl>
          </a:graphicData>
        </a:graphic>
      </p:graphicFrame>
      <p:sp>
        <p:nvSpPr>
          <p:cNvPr id="4" name="TextBox 3">
            <a:extLst>
              <a:ext uri="{FF2B5EF4-FFF2-40B4-BE49-F238E27FC236}">
                <a16:creationId xmlns:a16="http://schemas.microsoft.com/office/drawing/2014/main" id="{2BA27B42-192E-8709-1B23-16001A4B1D6C}"/>
              </a:ext>
            </a:extLst>
          </p:cNvPr>
          <p:cNvSpPr txBox="1"/>
          <p:nvPr/>
        </p:nvSpPr>
        <p:spPr>
          <a:xfrm>
            <a:off x="10966456" y="2"/>
            <a:ext cx="1223412" cy="1323439"/>
          </a:xfrm>
          <a:prstGeom prst="rect">
            <a:avLst/>
          </a:prstGeom>
          <a:noFill/>
        </p:spPr>
        <p:txBody>
          <a:bodyPr wrap="none" rtlCol="0">
            <a:spAutoFit/>
          </a:bodyPr>
          <a:lstStyle/>
          <a:p>
            <a:r>
              <a:rPr lang="en-US" sz="8000" dirty="0">
                <a:solidFill>
                  <a:schemeClr val="accent1">
                    <a:lumMod val="60000"/>
                    <a:lumOff val="40000"/>
                  </a:schemeClr>
                </a:solidFill>
              </a:rPr>
              <a:t>19</a:t>
            </a:r>
          </a:p>
        </p:txBody>
      </p:sp>
      <p:sp>
        <p:nvSpPr>
          <p:cNvPr id="6" name="TextBox 5">
            <a:extLst>
              <a:ext uri="{FF2B5EF4-FFF2-40B4-BE49-F238E27FC236}">
                <a16:creationId xmlns:a16="http://schemas.microsoft.com/office/drawing/2014/main" id="{9B7AE9E3-C191-D733-7C96-D33D139E08AB}"/>
              </a:ext>
            </a:extLst>
          </p:cNvPr>
          <p:cNvSpPr txBox="1"/>
          <p:nvPr/>
        </p:nvSpPr>
        <p:spPr>
          <a:xfrm>
            <a:off x="4564622" y="4514839"/>
            <a:ext cx="2582758" cy="400110"/>
          </a:xfrm>
          <a:prstGeom prst="rect">
            <a:avLst/>
          </a:prstGeom>
          <a:noFill/>
        </p:spPr>
        <p:txBody>
          <a:bodyPr wrap="none" rtlCol="0">
            <a:spAutoFit/>
          </a:bodyPr>
          <a:lstStyle/>
          <a:p>
            <a:r>
              <a:rPr lang="en-US" sz="2000" dirty="0">
                <a:solidFill>
                  <a:srgbClr val="00B050"/>
                </a:solidFill>
                <a:latin typeface="Consolas" panose="020B0609020204030204" pitchFamily="49" charset="0"/>
              </a:rPr>
              <a:t>MAA %DP, %BP, #-1</a:t>
            </a:r>
          </a:p>
        </p:txBody>
      </p:sp>
      <p:sp>
        <p:nvSpPr>
          <p:cNvPr id="7" name="TextBox 6">
            <a:extLst>
              <a:ext uri="{FF2B5EF4-FFF2-40B4-BE49-F238E27FC236}">
                <a16:creationId xmlns:a16="http://schemas.microsoft.com/office/drawing/2014/main" id="{E152FB5E-31C7-5CED-ED6B-9D60357F60E3}"/>
              </a:ext>
            </a:extLst>
          </p:cNvPr>
          <p:cNvSpPr txBox="1"/>
          <p:nvPr/>
        </p:nvSpPr>
        <p:spPr>
          <a:xfrm>
            <a:off x="4564622" y="4095543"/>
            <a:ext cx="3005951" cy="400110"/>
          </a:xfrm>
          <a:prstGeom prst="rect">
            <a:avLst/>
          </a:prstGeom>
          <a:noFill/>
        </p:spPr>
        <p:txBody>
          <a:bodyPr wrap="none" rtlCol="0">
            <a:spAutoFit/>
          </a:bodyPr>
          <a:lstStyle/>
          <a:p>
            <a:r>
              <a:rPr lang="en-US" sz="2000" dirty="0">
                <a:solidFill>
                  <a:srgbClr val="00B050"/>
                </a:solidFill>
                <a:latin typeface="Consolas" panose="020B0609020204030204" pitchFamily="49" charset="0"/>
              </a:rPr>
              <a:t>ARDest = </a:t>
            </a:r>
            <a:r>
              <a:rPr lang="en-US" sz="2000" dirty="0" err="1">
                <a:solidFill>
                  <a:srgbClr val="00B050"/>
                </a:solidFill>
                <a:latin typeface="Consolas" panose="020B0609020204030204" pitchFamily="49" charset="0"/>
              </a:rPr>
              <a:t>ARSrc</a:t>
            </a:r>
            <a:r>
              <a:rPr lang="en-US" sz="2000" dirty="0">
                <a:solidFill>
                  <a:srgbClr val="00B050"/>
                </a:solidFill>
                <a:latin typeface="Consolas" panose="020B0609020204030204" pitchFamily="49" charset="0"/>
              </a:rPr>
              <a:t> + Imm</a:t>
            </a:r>
          </a:p>
        </p:txBody>
      </p:sp>
      <p:graphicFrame>
        <p:nvGraphicFramePr>
          <p:cNvPr id="9" name="Table 6">
            <a:extLst>
              <a:ext uri="{FF2B5EF4-FFF2-40B4-BE49-F238E27FC236}">
                <a16:creationId xmlns:a16="http://schemas.microsoft.com/office/drawing/2014/main" id="{BB8526B8-4FBB-79E5-76DA-FDD6EED3B104}"/>
              </a:ext>
            </a:extLst>
          </p:cNvPr>
          <p:cNvGraphicFramePr>
            <a:graphicFrameLocks noGrp="1"/>
          </p:cNvGraphicFramePr>
          <p:nvPr>
            <p:extLst>
              <p:ext uri="{D42A27DB-BD31-4B8C-83A1-F6EECF244321}">
                <p14:modId xmlns:p14="http://schemas.microsoft.com/office/powerpoint/2010/main" val="4249373491"/>
              </p:ext>
            </p:extLst>
          </p:nvPr>
        </p:nvGraphicFramePr>
        <p:xfrm>
          <a:off x="7923209" y="4095543"/>
          <a:ext cx="3857535" cy="1188720"/>
        </p:xfrm>
        <a:graphic>
          <a:graphicData uri="http://schemas.openxmlformats.org/drawingml/2006/table">
            <a:tbl>
              <a:tblPr firstRow="1" bandRow="1">
                <a:tableStyleId>{5C22544A-7EE6-4342-B048-85BDC9FD1C3A}</a:tableStyleId>
              </a:tblPr>
              <a:tblGrid>
                <a:gridCol w="776078">
                  <a:extLst>
                    <a:ext uri="{9D8B030D-6E8A-4147-A177-3AD203B41FA5}">
                      <a16:colId xmlns:a16="http://schemas.microsoft.com/office/drawing/2014/main" val="3639428745"/>
                    </a:ext>
                  </a:extLst>
                </a:gridCol>
                <a:gridCol w="812131">
                  <a:extLst>
                    <a:ext uri="{9D8B030D-6E8A-4147-A177-3AD203B41FA5}">
                      <a16:colId xmlns:a16="http://schemas.microsoft.com/office/drawing/2014/main" val="136219337"/>
                    </a:ext>
                  </a:extLst>
                </a:gridCol>
                <a:gridCol w="1420239">
                  <a:extLst>
                    <a:ext uri="{9D8B030D-6E8A-4147-A177-3AD203B41FA5}">
                      <a16:colId xmlns:a16="http://schemas.microsoft.com/office/drawing/2014/main" val="322570224"/>
                    </a:ext>
                  </a:extLst>
                </a:gridCol>
                <a:gridCol w="849087">
                  <a:extLst>
                    <a:ext uri="{9D8B030D-6E8A-4147-A177-3AD203B41FA5}">
                      <a16:colId xmlns:a16="http://schemas.microsoft.com/office/drawing/2014/main" val="3266938421"/>
                    </a:ext>
                  </a:extLst>
                </a:gridCol>
              </a:tblGrid>
              <a:tr h="640080">
                <a:tc>
                  <a:txBody>
                    <a:bodyPr/>
                    <a:lstStyle/>
                    <a:p>
                      <a:r>
                        <a:rPr lang="en-US" sz="1200" dirty="0"/>
                        <a:t>INSTR[5]</a:t>
                      </a:r>
                    </a:p>
                  </a:txBody>
                  <a:tcPr/>
                </a:tc>
                <a:tc>
                  <a:txBody>
                    <a:bodyPr/>
                    <a:lstStyle/>
                    <a:p>
                      <a:r>
                        <a:rPr lang="en-US" sz="1200" dirty="0"/>
                        <a:t>INSTR[0]</a:t>
                      </a:r>
                    </a:p>
                  </a:txBody>
                  <a:tcPr/>
                </a:tc>
                <a:tc>
                  <a:txBody>
                    <a:bodyPr/>
                    <a:lstStyle/>
                    <a:p>
                      <a:r>
                        <a:rPr lang="en-US" sz="1200" dirty="0" err="1"/>
                        <a:t>ARSrc</a:t>
                      </a:r>
                      <a:r>
                        <a:rPr lang="en-US" sz="1200" dirty="0"/>
                        <a:t> Address Register</a:t>
                      </a:r>
                    </a:p>
                  </a:txBody>
                  <a:tcPr/>
                </a:tc>
                <a:tc>
                  <a:txBody>
                    <a:bodyPr/>
                    <a:lstStyle/>
                    <a:p>
                      <a:r>
                        <a:rPr lang="en-US" sz="1200" dirty="0"/>
                        <a:t>Command Parameter</a:t>
                      </a:r>
                    </a:p>
                  </a:txBody>
                  <a:tcPr/>
                </a:tc>
                <a:extLst>
                  <a:ext uri="{0D108BD9-81ED-4DB2-BD59-A6C34878D82A}">
                    <a16:rowId xmlns:a16="http://schemas.microsoft.com/office/drawing/2014/main" val="727245786"/>
                  </a:ext>
                </a:extLst>
              </a:tr>
              <a:tr h="274320">
                <a:tc>
                  <a:txBody>
                    <a:bodyPr/>
                    <a:lstStyle/>
                    <a:p>
                      <a:r>
                        <a:rPr lang="en-US" sz="1200" dirty="0"/>
                        <a:t>0</a:t>
                      </a:r>
                    </a:p>
                  </a:txBody>
                  <a:tcPr/>
                </a:tc>
                <a:tc>
                  <a:txBody>
                    <a:bodyPr/>
                    <a:lstStyle/>
                    <a:p>
                      <a:r>
                        <a:rPr lang="en-US" sz="1200" dirty="0"/>
                        <a:t>1</a:t>
                      </a:r>
                    </a:p>
                  </a:txBody>
                  <a:tcPr/>
                </a:tc>
                <a:tc>
                  <a:txBody>
                    <a:bodyPr/>
                    <a:lstStyle/>
                    <a:p>
                      <a:r>
                        <a:rPr lang="en-US" sz="1200" dirty="0"/>
                        <a:t>DP</a:t>
                      </a:r>
                    </a:p>
                  </a:txBody>
                  <a:tcPr>
                    <a:solidFill>
                      <a:schemeClr val="accent6">
                        <a:lumMod val="60000"/>
                        <a:lumOff val="40000"/>
                      </a:schemeClr>
                    </a:solidFill>
                  </a:tcPr>
                </a:tc>
                <a:tc>
                  <a:txBody>
                    <a:bodyPr/>
                    <a:lstStyle/>
                    <a:p>
                      <a:r>
                        <a:rPr lang="en-US" sz="1200" dirty="0"/>
                        <a:t>%DP</a:t>
                      </a:r>
                    </a:p>
                  </a:txBody>
                  <a:tcPr>
                    <a:solidFill>
                      <a:schemeClr val="accent6">
                        <a:lumMod val="60000"/>
                        <a:lumOff val="40000"/>
                      </a:schemeClr>
                    </a:solidFill>
                  </a:tcPr>
                </a:tc>
                <a:extLst>
                  <a:ext uri="{0D108BD9-81ED-4DB2-BD59-A6C34878D82A}">
                    <a16:rowId xmlns:a16="http://schemas.microsoft.com/office/drawing/2014/main" val="3427146651"/>
                  </a:ext>
                </a:extLst>
              </a:tr>
              <a:tr h="274320">
                <a:tc>
                  <a:txBody>
                    <a:bodyPr/>
                    <a:lstStyle/>
                    <a:p>
                      <a:r>
                        <a:rPr lang="en-US" sz="1200" dirty="0"/>
                        <a:t>1</a:t>
                      </a:r>
                    </a:p>
                  </a:txBody>
                  <a:tcPr/>
                </a:tc>
                <a:tc>
                  <a:txBody>
                    <a:bodyPr/>
                    <a:lstStyle/>
                    <a:p>
                      <a:r>
                        <a:rPr lang="en-US" sz="1200" dirty="0"/>
                        <a:t>1</a:t>
                      </a:r>
                    </a:p>
                  </a:txBody>
                  <a:tcPr/>
                </a:tc>
                <a:tc>
                  <a:txBody>
                    <a:bodyPr/>
                    <a:lstStyle/>
                    <a:p>
                      <a:r>
                        <a:rPr lang="en-US" sz="1200" dirty="0"/>
                        <a:t>BP</a:t>
                      </a:r>
                    </a:p>
                  </a:txBody>
                  <a:tcPr>
                    <a:solidFill>
                      <a:schemeClr val="accent6">
                        <a:lumMod val="60000"/>
                        <a:lumOff val="40000"/>
                      </a:schemeClr>
                    </a:solidFill>
                  </a:tcPr>
                </a:tc>
                <a:tc>
                  <a:txBody>
                    <a:bodyPr/>
                    <a:lstStyle/>
                    <a:p>
                      <a:r>
                        <a:rPr lang="en-US" sz="1200" dirty="0"/>
                        <a:t>%BP</a:t>
                      </a:r>
                    </a:p>
                  </a:txBody>
                  <a:tcPr>
                    <a:solidFill>
                      <a:schemeClr val="accent6">
                        <a:lumMod val="60000"/>
                        <a:lumOff val="40000"/>
                      </a:schemeClr>
                    </a:solidFill>
                  </a:tcPr>
                </a:tc>
                <a:extLst>
                  <a:ext uri="{0D108BD9-81ED-4DB2-BD59-A6C34878D82A}">
                    <a16:rowId xmlns:a16="http://schemas.microsoft.com/office/drawing/2014/main" val="1942712580"/>
                  </a:ext>
                </a:extLst>
              </a:tr>
            </a:tbl>
          </a:graphicData>
        </a:graphic>
      </p:graphicFrame>
      <p:sp>
        <p:nvSpPr>
          <p:cNvPr id="8" name="TextBox 7">
            <a:extLst>
              <a:ext uri="{FF2B5EF4-FFF2-40B4-BE49-F238E27FC236}">
                <a16:creationId xmlns:a16="http://schemas.microsoft.com/office/drawing/2014/main" id="{F541F74A-F8C9-B9EA-9D3F-F27D95709549}"/>
              </a:ext>
            </a:extLst>
          </p:cNvPr>
          <p:cNvSpPr txBox="1"/>
          <p:nvPr/>
        </p:nvSpPr>
        <p:spPr>
          <a:xfrm>
            <a:off x="4413302" y="6373149"/>
            <a:ext cx="1541633" cy="276999"/>
          </a:xfrm>
          <a:prstGeom prst="rect">
            <a:avLst/>
          </a:prstGeom>
          <a:noFill/>
        </p:spPr>
        <p:txBody>
          <a:bodyPr wrap="square" rtlCol="0">
            <a:spAutoFit/>
          </a:bodyPr>
          <a:lstStyle/>
          <a:p>
            <a:r>
              <a:rPr lang="en-US" sz="1200" dirty="0"/>
              <a:t>0-PC, 1-DP, 2-SP, 3-BP</a:t>
            </a:r>
          </a:p>
        </p:txBody>
      </p:sp>
      <p:graphicFrame>
        <p:nvGraphicFramePr>
          <p:cNvPr id="10" name="Table 4">
            <a:extLst>
              <a:ext uri="{FF2B5EF4-FFF2-40B4-BE49-F238E27FC236}">
                <a16:creationId xmlns:a16="http://schemas.microsoft.com/office/drawing/2014/main" id="{85005980-1BA3-E945-103A-7CB6E17D74E6}"/>
              </a:ext>
            </a:extLst>
          </p:cNvPr>
          <p:cNvGraphicFramePr>
            <a:graphicFrameLocks noGrp="1"/>
          </p:cNvGraphicFramePr>
          <p:nvPr>
            <p:extLst>
              <p:ext uri="{D42A27DB-BD31-4B8C-83A1-F6EECF244321}">
                <p14:modId xmlns:p14="http://schemas.microsoft.com/office/powerpoint/2010/main" val="672536172"/>
              </p:ext>
            </p:extLst>
          </p:nvPr>
        </p:nvGraphicFramePr>
        <p:xfrm>
          <a:off x="179752" y="742463"/>
          <a:ext cx="4329725" cy="5004175"/>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00345">
                <a:tc>
                  <a:txBody>
                    <a:bodyPr/>
                    <a:lstStyle/>
                    <a:p>
                      <a:pPr>
                        <a:lnSpc>
                          <a:spcPct val="100000"/>
                        </a:lnSpc>
                      </a:pPr>
                      <a:r>
                        <a:rPr lang="en-US" sz="700"/>
                        <a:t>Bit</a:t>
                      </a:r>
                    </a:p>
                  </a:txBody>
                  <a:tcPr anchor="ctr"/>
                </a:tc>
                <a:tc>
                  <a:txBody>
                    <a:bodyPr/>
                    <a:lstStyle/>
                    <a:p>
                      <a:pPr>
                        <a:lnSpc>
                          <a:spcPct val="100000"/>
                        </a:lnSpc>
                      </a:pPr>
                      <a:r>
                        <a:rPr lang="en-US" sz="700" dirty="0"/>
                        <a:t>Operation</a:t>
                      </a:r>
                    </a:p>
                  </a:txBody>
                  <a:tcPr anchor="ctr"/>
                </a:tc>
                <a:extLst>
                  <a:ext uri="{0D108BD9-81ED-4DB2-BD59-A6C34878D82A}">
                    <a16:rowId xmlns:a16="http://schemas.microsoft.com/office/drawing/2014/main" val="2319756336"/>
                  </a:ext>
                </a:extLst>
              </a:tr>
              <a:tr h="200345">
                <a:tc>
                  <a:txBody>
                    <a:bodyPr/>
                    <a:lstStyle/>
                    <a:p>
                      <a:pPr algn="ctr">
                        <a:lnSpc>
                          <a:spcPct val="100000"/>
                        </a:lnSpc>
                      </a:pPr>
                      <a:r>
                        <a:rPr lang="en-US" sz="700" dirty="0"/>
                        <a:t>23</a:t>
                      </a:r>
                    </a:p>
                  </a:txBody>
                  <a:tcPr anchor="ctr"/>
                </a:tc>
                <a:tc>
                  <a:txBody>
                    <a:bodyPr/>
                    <a:lstStyle/>
                    <a:p>
                      <a:pPr algn="l">
                        <a:lnSpc>
                          <a:spcPct val="100000"/>
                        </a:lnSpc>
                      </a:pPr>
                      <a:r>
                        <a:rPr lang="en-US" sz="700" dirty="0"/>
                        <a:t>Not Used</a:t>
                      </a:r>
                    </a:p>
                  </a:txBody>
                  <a:tcPr anchor="ctr"/>
                </a:tc>
                <a:extLst>
                  <a:ext uri="{0D108BD9-81ED-4DB2-BD59-A6C34878D82A}">
                    <a16:rowId xmlns:a16="http://schemas.microsoft.com/office/drawing/2014/main" val="3576468534"/>
                  </a:ext>
                </a:extLst>
              </a:tr>
              <a:tr h="200345">
                <a:tc>
                  <a:txBody>
                    <a:bodyPr/>
                    <a:lstStyle/>
                    <a:p>
                      <a:pPr algn="ctr">
                        <a:lnSpc>
                          <a:spcPct val="100000"/>
                        </a:lnSpc>
                      </a:pPr>
                      <a:r>
                        <a:rPr lang="en-US" sz="700" dirty="0"/>
                        <a:t>22</a:t>
                      </a:r>
                    </a:p>
                  </a:txBody>
                  <a:tcPr anchor="ctr"/>
                </a:tc>
                <a:tc>
                  <a:txBody>
                    <a:bodyPr/>
                    <a:lstStyle/>
                    <a:p>
                      <a:pPr algn="l">
                        <a:lnSpc>
                          <a:spcPct val="100000"/>
                        </a:lnSpc>
                      </a:pPr>
                      <a:r>
                        <a:rPr lang="en-US" sz="700" dirty="0" err="1"/>
                        <a:t>AddressHorL</a:t>
                      </a:r>
                      <a:endParaRPr lang="en-US" sz="700" dirty="0"/>
                    </a:p>
                  </a:txBody>
                  <a:tcPr anchor="ctr"/>
                </a:tc>
                <a:extLst>
                  <a:ext uri="{0D108BD9-81ED-4DB2-BD59-A6C34878D82A}">
                    <a16:rowId xmlns:a16="http://schemas.microsoft.com/office/drawing/2014/main" val="79971578"/>
                  </a:ext>
                </a:extLst>
              </a:tr>
              <a:tr h="200345">
                <a:tc>
                  <a:txBody>
                    <a:bodyPr/>
                    <a:lstStyle/>
                    <a:p>
                      <a:pPr algn="ctr">
                        <a:lnSpc>
                          <a:spcPct val="100000"/>
                        </a:lnSpc>
                      </a:pPr>
                      <a:r>
                        <a:rPr lang="en-US" sz="700" dirty="0"/>
                        <a:t>21</a:t>
                      </a:r>
                    </a:p>
                  </a:txBody>
                  <a:tcPr anchor="ctr"/>
                </a:tc>
                <a:tc>
                  <a:txBody>
                    <a:bodyPr/>
                    <a:lstStyle/>
                    <a:p>
                      <a:pPr algn="l">
                        <a:lnSpc>
                          <a:spcPct val="100000"/>
                        </a:lnSpc>
                      </a:pPr>
                      <a:r>
                        <a:rPr lang="en-US" sz="700" dirty="0" err="1"/>
                        <a:t>AddressBusToDataBus</a:t>
                      </a:r>
                      <a:endParaRPr lang="en-US" sz="700" dirty="0"/>
                    </a:p>
                  </a:txBody>
                  <a:tcPr anchor="ctr"/>
                </a:tc>
                <a:extLst>
                  <a:ext uri="{0D108BD9-81ED-4DB2-BD59-A6C34878D82A}">
                    <a16:rowId xmlns:a16="http://schemas.microsoft.com/office/drawing/2014/main" val="4135939119"/>
                  </a:ext>
                </a:extLst>
              </a:tr>
              <a:tr h="200345">
                <a:tc>
                  <a:txBody>
                    <a:bodyPr/>
                    <a:lstStyle/>
                    <a:p>
                      <a:pPr algn="ctr">
                        <a:lnSpc>
                          <a:spcPct val="100000"/>
                        </a:lnSpc>
                      </a:pPr>
                      <a:r>
                        <a:rPr lang="en-US" sz="700" dirty="0"/>
                        <a:t>20</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err="1"/>
                        <a:t>TmpARWrite</a:t>
                      </a:r>
                      <a:endParaRPr lang="en-US" sz="700"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9580944"/>
                  </a:ext>
                </a:extLst>
              </a:tr>
              <a:tr h="200345">
                <a:tc>
                  <a:txBody>
                    <a:bodyPr/>
                    <a:lstStyle/>
                    <a:p>
                      <a:pPr algn="ctr">
                        <a:lnSpc>
                          <a:spcPct val="100000"/>
                        </a:lnSpc>
                      </a:pPr>
                      <a:r>
                        <a:rPr lang="en-US" sz="700" dirty="0"/>
                        <a:t>19</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err="1"/>
                        <a:t>TmpARRead</a:t>
                      </a:r>
                      <a:endParaRPr lang="en-US" sz="700"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35159618"/>
                  </a:ext>
                </a:extLst>
              </a:tr>
              <a:tr h="200345">
                <a:tc>
                  <a:txBody>
                    <a:bodyPr/>
                    <a:lstStyle/>
                    <a:p>
                      <a:pPr algn="ctr">
                        <a:lnSpc>
                          <a:spcPct val="100000"/>
                        </a:lnSpc>
                      </a:pPr>
                      <a:r>
                        <a:rPr lang="en-US" sz="700" dirty="0"/>
                        <a:t>18</a:t>
                      </a:r>
                    </a:p>
                  </a:txBody>
                  <a:tcPr anchor="ctr"/>
                </a:tc>
                <a:tc>
                  <a:txBody>
                    <a:bodyPr/>
                    <a:lstStyle/>
                    <a:p>
                      <a:pPr algn="l">
                        <a:lnSpc>
                          <a:spcPct val="100000"/>
                        </a:lnSpc>
                      </a:pPr>
                      <a:r>
                        <a:rPr lang="en-US" sz="700" dirty="0" err="1"/>
                        <a:t>loadARHorL</a:t>
                      </a:r>
                      <a:endParaRPr lang="en-US" sz="700" dirty="0"/>
                    </a:p>
                  </a:txBody>
                  <a:tcPr anchor="ctr"/>
                </a:tc>
                <a:extLst>
                  <a:ext uri="{0D108BD9-81ED-4DB2-BD59-A6C34878D82A}">
                    <a16:rowId xmlns:a16="http://schemas.microsoft.com/office/drawing/2014/main" val="2357817394"/>
                  </a:ext>
                </a:extLst>
              </a:tr>
              <a:tr h="200345">
                <a:tc>
                  <a:txBody>
                    <a:bodyPr/>
                    <a:lstStyle/>
                    <a:p>
                      <a:pPr algn="ctr">
                        <a:lnSpc>
                          <a:spcPct val="100000"/>
                        </a:lnSpc>
                      </a:pPr>
                      <a:r>
                        <a:rPr lang="en-US" sz="700"/>
                        <a:t>17</a:t>
                      </a:r>
                    </a:p>
                  </a:txBody>
                  <a:tcPr anchor="ctr"/>
                </a:tc>
                <a:tc>
                  <a:txBody>
                    <a:bodyPr/>
                    <a:lstStyle/>
                    <a:p>
                      <a:pPr algn="l">
                        <a:lnSpc>
                          <a:spcPct val="100000"/>
                        </a:lnSpc>
                      </a:pPr>
                      <a:r>
                        <a:rPr lang="en-US" sz="700" dirty="0" err="1"/>
                        <a:t>loadAR</a:t>
                      </a:r>
                      <a:r>
                        <a:rPr lang="en-US" sz="700" dirty="0"/>
                        <a:t> (formerly: Load Special Pointer)</a:t>
                      </a:r>
                    </a:p>
                  </a:txBody>
                  <a:tcPr anchor="ctr"/>
                </a:tc>
                <a:extLst>
                  <a:ext uri="{0D108BD9-81ED-4DB2-BD59-A6C34878D82A}">
                    <a16:rowId xmlns:a16="http://schemas.microsoft.com/office/drawing/2014/main" val="2759210480"/>
                  </a:ext>
                </a:extLst>
              </a:tr>
              <a:tr h="200345">
                <a:tc>
                  <a:txBody>
                    <a:bodyPr/>
                    <a:lstStyle/>
                    <a:p>
                      <a:pPr algn="ctr">
                        <a:lnSpc>
                          <a:spcPct val="100000"/>
                        </a:lnSpc>
                      </a:pPr>
                      <a:r>
                        <a:rPr lang="en-US" sz="700" dirty="0"/>
                        <a:t>16</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Stack Pointer Increment / Decrement (0: decrease / 1: increase)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6363256"/>
                  </a:ext>
                </a:extLst>
              </a:tr>
              <a:tr h="200345">
                <a:tc>
                  <a:txBody>
                    <a:bodyPr/>
                    <a:lstStyle/>
                    <a:p>
                      <a:pPr algn="ctr">
                        <a:lnSpc>
                          <a:spcPct val="100000"/>
                        </a:lnSpc>
                      </a:pPr>
                      <a:r>
                        <a:rPr lang="en-US" sz="700"/>
                        <a:t>15</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Stack Pointer Count</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49660566"/>
                  </a:ext>
                </a:extLst>
              </a:tr>
              <a:tr h="200345">
                <a:tc>
                  <a:txBody>
                    <a:bodyPr/>
                    <a:lstStyle/>
                    <a:p>
                      <a:pPr algn="ctr">
                        <a:lnSpc>
                          <a:spcPct val="100000"/>
                        </a:lnSpc>
                      </a:pPr>
                      <a:r>
                        <a:rPr lang="en-US" sz="700"/>
                        <a:t>14</a:t>
                      </a:r>
                    </a:p>
                  </a:txBody>
                  <a:tcPr anchor="ctr"/>
                </a:tc>
                <a:tc>
                  <a:txBody>
                    <a:bodyPr/>
                    <a:lstStyle/>
                    <a:p>
                      <a:pPr algn="l">
                        <a:lnSpc>
                          <a:spcPct val="100000"/>
                        </a:lnSpc>
                      </a:pPr>
                      <a:r>
                        <a:rPr lang="en-US" sz="700" dirty="0"/>
                        <a:t>SP Out (formerly: RAM Address Select (0: Address register / 1: Stack pointer))</a:t>
                      </a:r>
                    </a:p>
                  </a:txBody>
                  <a:tcPr anchor="ctr"/>
                </a:tc>
                <a:extLst>
                  <a:ext uri="{0D108BD9-81ED-4DB2-BD59-A6C34878D82A}">
                    <a16:rowId xmlns:a16="http://schemas.microsoft.com/office/drawing/2014/main" val="645489424"/>
                  </a:ext>
                </a:extLst>
              </a:tr>
              <a:tr h="200345">
                <a:tc>
                  <a:txBody>
                    <a:bodyPr/>
                    <a:lstStyle/>
                    <a:p>
                      <a:pPr algn="ctr">
                        <a:lnSpc>
                          <a:spcPct val="100000"/>
                        </a:lnSpc>
                      </a:pPr>
                      <a:r>
                        <a:rPr lang="en-US" sz="700"/>
                        <a:t>13</a:t>
                      </a:r>
                    </a:p>
                  </a:txBody>
                  <a:tcPr anchor="ctr"/>
                </a:tc>
                <a:tc>
                  <a:txBody>
                    <a:bodyPr/>
                    <a:lstStyle/>
                    <a:p>
                      <a:pPr algn="l">
                        <a:lnSpc>
                          <a:spcPct val="100000"/>
                        </a:lnSpc>
                      </a:pPr>
                      <a:r>
                        <a:rPr lang="en-US" sz="700"/>
                        <a:t>Use Rd as Source</a:t>
                      </a:r>
                    </a:p>
                  </a:txBody>
                  <a:tcPr anchor="ctr"/>
                </a:tc>
                <a:extLst>
                  <a:ext uri="{0D108BD9-81ED-4DB2-BD59-A6C34878D82A}">
                    <a16:rowId xmlns:a16="http://schemas.microsoft.com/office/drawing/2014/main" val="2745442092"/>
                  </a:ext>
                </a:extLst>
              </a:tr>
              <a:tr h="200345">
                <a:tc>
                  <a:txBody>
                    <a:bodyPr/>
                    <a:lstStyle/>
                    <a:p>
                      <a:pPr algn="ctr">
                        <a:lnSpc>
                          <a:spcPct val="100000"/>
                        </a:lnSpc>
                      </a:pPr>
                      <a:r>
                        <a:rPr lang="en-US" sz="700" dirty="0"/>
                        <a:t>12</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Lower Address Register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762316"/>
                  </a:ext>
                </a:extLst>
              </a:tr>
              <a:tr h="200345">
                <a:tc>
                  <a:txBody>
                    <a:bodyPr/>
                    <a:lstStyle/>
                    <a:p>
                      <a:pPr algn="ctr">
                        <a:lnSpc>
                          <a:spcPct val="100000"/>
                        </a:lnSpc>
                      </a:pPr>
                      <a:r>
                        <a:rPr lang="en-US" sz="700"/>
                        <a:t>11</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Mem Write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66008767"/>
                  </a:ext>
                </a:extLst>
              </a:tr>
              <a:tr h="200345">
                <a:tc>
                  <a:txBody>
                    <a:bodyPr/>
                    <a:lstStyle/>
                    <a:p>
                      <a:pPr algn="ctr">
                        <a:lnSpc>
                          <a:spcPct val="100000"/>
                        </a:lnSpc>
                      </a:pPr>
                      <a:r>
                        <a:rPr lang="en-US" sz="700"/>
                        <a:t>10</a:t>
                      </a:r>
                    </a:p>
                  </a:txBody>
                  <a:tcPr anchor="ctr"/>
                </a:tc>
                <a:tc>
                  <a:txBody>
                    <a:bodyPr/>
                    <a:lstStyle/>
                    <a:p>
                      <a:pPr algn="l">
                        <a:lnSpc>
                          <a:spcPct val="100000"/>
                        </a:lnSpc>
                      </a:pPr>
                      <a:r>
                        <a:rPr lang="en-US" sz="700"/>
                        <a:t>Mem Read</a:t>
                      </a:r>
                    </a:p>
                  </a:txBody>
                  <a:tcPr anchor="ctr"/>
                </a:tc>
                <a:extLst>
                  <a:ext uri="{0D108BD9-81ED-4DB2-BD59-A6C34878D82A}">
                    <a16:rowId xmlns:a16="http://schemas.microsoft.com/office/drawing/2014/main" val="707415226"/>
                  </a:ext>
                </a:extLst>
              </a:tr>
              <a:tr h="200345">
                <a:tc>
                  <a:txBody>
                    <a:bodyPr/>
                    <a:lstStyle/>
                    <a:p>
                      <a:pPr algn="ctr">
                        <a:lnSpc>
                          <a:spcPct val="100000"/>
                        </a:lnSpc>
                      </a:pPr>
                      <a:r>
                        <a:rPr lang="en-US" sz="700"/>
                        <a:t>9</a:t>
                      </a:r>
                    </a:p>
                  </a:txBody>
                  <a:tcPr anchor="ctr"/>
                </a:tc>
                <a:tc>
                  <a:txBody>
                    <a:bodyPr/>
                    <a:lstStyle/>
                    <a:p>
                      <a:pPr algn="l">
                        <a:lnSpc>
                          <a:spcPct val="100000"/>
                        </a:lnSpc>
                      </a:pPr>
                      <a:r>
                        <a:rPr lang="en-US" sz="700"/>
                        <a:t>PC Out</a:t>
                      </a:r>
                    </a:p>
                  </a:txBody>
                  <a:tcPr anchor="ctr"/>
                </a:tc>
                <a:extLst>
                  <a:ext uri="{0D108BD9-81ED-4DB2-BD59-A6C34878D82A}">
                    <a16:rowId xmlns:a16="http://schemas.microsoft.com/office/drawing/2014/main" val="1663806429"/>
                  </a:ext>
                </a:extLst>
              </a:tr>
              <a:tr h="200345">
                <a:tc>
                  <a:txBody>
                    <a:bodyPr/>
                    <a:lstStyle/>
                    <a:p>
                      <a:pPr algn="ctr">
                        <a:lnSpc>
                          <a:spcPct val="100000"/>
                        </a:lnSpc>
                      </a:pPr>
                      <a:r>
                        <a:rPr lang="en-US" sz="700" dirty="0"/>
                        <a:t>8</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a:t>PC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27957"/>
                  </a:ext>
                </a:extLst>
              </a:tr>
              <a:tr h="200345">
                <a:tc>
                  <a:txBody>
                    <a:bodyPr/>
                    <a:lstStyle/>
                    <a:p>
                      <a:pPr algn="ctr">
                        <a:lnSpc>
                          <a:spcPct val="100000"/>
                        </a:lnSpc>
                      </a:pPr>
                      <a:r>
                        <a:rPr lang="en-US" sz="700"/>
                        <a:t>7</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PC advance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70910443"/>
                  </a:ext>
                </a:extLst>
              </a:tr>
              <a:tr h="200345">
                <a:tc>
                  <a:txBody>
                    <a:bodyPr/>
                    <a:lstStyle/>
                    <a:p>
                      <a:pPr algn="ctr">
                        <a:lnSpc>
                          <a:spcPct val="100000"/>
                        </a:lnSpc>
                      </a:pPr>
                      <a:r>
                        <a:rPr lang="en-US" sz="700"/>
                        <a:t>6</a:t>
                      </a:r>
                    </a:p>
                  </a:txBody>
                  <a:tcPr anchor="ctr"/>
                </a:tc>
                <a:tc>
                  <a:txBody>
                    <a:bodyPr/>
                    <a:lstStyle/>
                    <a:p>
                      <a:pPr algn="l">
                        <a:lnSpc>
                          <a:spcPct val="100000"/>
                        </a:lnSpc>
                      </a:pPr>
                      <a:r>
                        <a:rPr lang="en-US" sz="700"/>
                        <a:t>Program Register H Write to Bus (parameter)</a:t>
                      </a:r>
                    </a:p>
                  </a:txBody>
                  <a:tcPr anchor="ctr"/>
                </a:tc>
                <a:extLst>
                  <a:ext uri="{0D108BD9-81ED-4DB2-BD59-A6C34878D82A}">
                    <a16:rowId xmlns:a16="http://schemas.microsoft.com/office/drawing/2014/main" val="631651838"/>
                  </a:ext>
                </a:extLst>
              </a:tr>
              <a:tr h="200345">
                <a:tc>
                  <a:txBody>
                    <a:bodyPr/>
                    <a:lstStyle/>
                    <a:p>
                      <a:pPr algn="ctr">
                        <a:lnSpc>
                          <a:spcPct val="100000"/>
                        </a:lnSpc>
                      </a:pPr>
                      <a:r>
                        <a:rPr lang="en-US" sz="700"/>
                        <a:t>5</a:t>
                      </a:r>
                    </a:p>
                  </a:txBody>
                  <a:tcPr anchor="ctr"/>
                </a:tc>
                <a:tc>
                  <a:txBody>
                    <a:bodyPr/>
                    <a:lstStyle/>
                    <a:p>
                      <a:pPr algn="l">
                        <a:lnSpc>
                          <a:spcPct val="100000"/>
                        </a:lnSpc>
                      </a:pPr>
                      <a:r>
                        <a:rPr lang="en-US" sz="700"/>
                        <a:t>Register File Input Enable</a:t>
                      </a:r>
                    </a:p>
                  </a:txBody>
                  <a:tcPr anchor="ctr"/>
                </a:tc>
                <a:extLst>
                  <a:ext uri="{0D108BD9-81ED-4DB2-BD59-A6C34878D82A}">
                    <a16:rowId xmlns:a16="http://schemas.microsoft.com/office/drawing/2014/main" val="1592812184"/>
                  </a:ext>
                </a:extLst>
              </a:tr>
              <a:tr h="200345">
                <a:tc>
                  <a:txBody>
                    <a:bodyPr/>
                    <a:lstStyle/>
                    <a:p>
                      <a:pPr algn="ctr">
                        <a:lnSpc>
                          <a:spcPct val="100000"/>
                        </a:lnSpc>
                      </a:pPr>
                      <a:r>
                        <a:rPr lang="en-US" sz="700" dirty="0"/>
                        <a:t>4</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Register File Output Enable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5793510"/>
                  </a:ext>
                </a:extLst>
              </a:tr>
              <a:tr h="200345">
                <a:tc>
                  <a:txBody>
                    <a:bodyPr/>
                    <a:lstStyle/>
                    <a:p>
                      <a:pPr algn="ctr">
                        <a:lnSpc>
                          <a:spcPct val="100000"/>
                        </a:lnSpc>
                      </a:pPr>
                      <a:r>
                        <a:rPr lang="en-US" sz="700"/>
                        <a:t>3</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Register File Output Select (parameter – 0 -&gt; Rs1, 1 -&gt; Rs2)</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46366285"/>
                  </a:ext>
                </a:extLst>
              </a:tr>
              <a:tr h="0">
                <a:tc>
                  <a:txBody>
                    <a:bodyPr/>
                    <a:lstStyle/>
                    <a:p>
                      <a:pPr algn="ctr">
                        <a:lnSpc>
                          <a:spcPct val="100000"/>
                        </a:lnSpc>
                      </a:pPr>
                      <a:r>
                        <a:rPr lang="en-US" sz="700"/>
                        <a:t>2</a:t>
                      </a:r>
                    </a:p>
                  </a:txBody>
                  <a:tcPr anchor="ctr"/>
                </a:tc>
                <a:tc>
                  <a:txBody>
                    <a:bodyPr/>
                    <a:lstStyle/>
                    <a:p>
                      <a:pPr algn="l">
                        <a:lnSpc>
                          <a:spcPct val="100000"/>
                        </a:lnSpc>
                      </a:pPr>
                      <a:r>
                        <a:rPr lang="en-US" sz="700" dirty="0"/>
                        <a:t>ALU output enable</a:t>
                      </a:r>
                    </a:p>
                  </a:txBody>
                  <a:tcPr anchor="ctr"/>
                </a:tc>
                <a:extLst>
                  <a:ext uri="{0D108BD9-81ED-4DB2-BD59-A6C34878D82A}">
                    <a16:rowId xmlns:a16="http://schemas.microsoft.com/office/drawing/2014/main" val="2615342211"/>
                  </a:ext>
                </a:extLst>
              </a:tr>
              <a:tr h="156274">
                <a:tc>
                  <a:txBody>
                    <a:bodyPr/>
                    <a:lstStyle/>
                    <a:p>
                      <a:pPr algn="ctr">
                        <a:lnSpc>
                          <a:spcPct val="100000"/>
                        </a:lnSpc>
                      </a:pPr>
                      <a:r>
                        <a:rPr lang="en-US" sz="700"/>
                        <a:t>1</a:t>
                      </a:r>
                    </a:p>
                  </a:txBody>
                  <a:tcPr anchor="ctr"/>
                </a:tc>
                <a:tc>
                  <a:txBody>
                    <a:bodyPr/>
                    <a:lstStyle/>
                    <a:p>
                      <a:pPr algn="l">
                        <a:lnSpc>
                          <a:spcPct val="100000"/>
                        </a:lnSpc>
                      </a:pPr>
                      <a:r>
                        <a:rPr lang="en-US" sz="700" dirty="0"/>
                        <a:t>ALU load register A</a:t>
                      </a:r>
                    </a:p>
                  </a:txBody>
                  <a:tcPr marT="0" anchor="ctr"/>
                </a:tc>
                <a:extLst>
                  <a:ext uri="{0D108BD9-81ED-4DB2-BD59-A6C34878D82A}">
                    <a16:rowId xmlns:a16="http://schemas.microsoft.com/office/drawing/2014/main" val="2055856817"/>
                  </a:ext>
                </a:extLst>
              </a:tr>
              <a:tr h="200345">
                <a:tc>
                  <a:txBody>
                    <a:bodyPr/>
                    <a:lstStyle/>
                    <a:p>
                      <a:pPr algn="ctr">
                        <a:lnSpc>
                          <a:spcPct val="100000"/>
                        </a:lnSpc>
                      </a:pPr>
                      <a:r>
                        <a:rPr lang="en-US" sz="700"/>
                        <a:t>0</a:t>
                      </a:r>
                    </a:p>
                  </a:txBody>
                  <a:tcPr anchor="ctr"/>
                </a:tc>
                <a:tc>
                  <a:txBody>
                    <a:bodyPr/>
                    <a:lstStyle/>
                    <a:p>
                      <a:pPr algn="l">
                        <a:lnSpc>
                          <a:spcPct val="100000"/>
                        </a:lnSpc>
                      </a:pPr>
                      <a:r>
                        <a:rPr lang="en-US" sz="700" dirty="0"/>
                        <a:t>ALU load register B</a:t>
                      </a:r>
                    </a:p>
                  </a:txBody>
                  <a:tcPr anchor="ct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2265366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A888C-8284-AEFD-1D97-B00EE09E3264}"/>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F3C25C2C-1852-ECEF-6EA6-D1D7CEAA3C56}"/>
              </a:ext>
            </a:extLst>
          </p:cNvPr>
          <p:cNvSpPr>
            <a:spLocks noGrp="1"/>
          </p:cNvSpPr>
          <p:nvPr>
            <p:ph type="ctrTitle"/>
          </p:nvPr>
        </p:nvSpPr>
        <p:spPr>
          <a:xfrm>
            <a:off x="914399" y="182880"/>
            <a:ext cx="10052055" cy="457200"/>
          </a:xfrm>
        </p:spPr>
        <p:txBody>
          <a:bodyPr/>
          <a:lstStyle/>
          <a:p>
            <a:r>
              <a:rPr lang="en-US" dirty="0"/>
              <a:t>Micro-Instructions Control: Move Address to General register (MAG) (11010)</a:t>
            </a:r>
          </a:p>
        </p:txBody>
      </p:sp>
      <p:graphicFrame>
        <p:nvGraphicFramePr>
          <p:cNvPr id="5" name="Table 4">
            <a:extLst>
              <a:ext uri="{FF2B5EF4-FFF2-40B4-BE49-F238E27FC236}">
                <a16:creationId xmlns:a16="http://schemas.microsoft.com/office/drawing/2014/main" id="{CF6B5C7D-EE6C-76E4-51C0-464FDCE52D4F}"/>
              </a:ext>
            </a:extLst>
          </p:cNvPr>
          <p:cNvGraphicFramePr>
            <a:graphicFrameLocks noGrp="1"/>
          </p:cNvGraphicFramePr>
          <p:nvPr>
            <p:extLst>
              <p:ext uri="{D42A27DB-BD31-4B8C-83A1-F6EECF244321}">
                <p14:modId xmlns:p14="http://schemas.microsoft.com/office/powerpoint/2010/main" val="78237980"/>
              </p:ext>
            </p:extLst>
          </p:nvPr>
        </p:nvGraphicFramePr>
        <p:xfrm>
          <a:off x="4716581" y="742463"/>
          <a:ext cx="6249874" cy="2097519"/>
        </p:xfrm>
        <a:graphic>
          <a:graphicData uri="http://schemas.openxmlformats.org/drawingml/2006/table">
            <a:tbl>
              <a:tblPr firstRow="1" bandRow="1">
                <a:tableStyleId>{5C22544A-7EE6-4342-B048-85BDC9FD1C3A}</a:tableStyleId>
              </a:tblPr>
              <a:tblGrid>
                <a:gridCol w="948528">
                  <a:extLst>
                    <a:ext uri="{9D8B030D-6E8A-4147-A177-3AD203B41FA5}">
                      <a16:colId xmlns:a16="http://schemas.microsoft.com/office/drawing/2014/main" val="1217920130"/>
                    </a:ext>
                  </a:extLst>
                </a:gridCol>
                <a:gridCol w="2465917">
                  <a:extLst>
                    <a:ext uri="{9D8B030D-6E8A-4147-A177-3AD203B41FA5}">
                      <a16:colId xmlns:a16="http://schemas.microsoft.com/office/drawing/2014/main" val="1475888205"/>
                    </a:ext>
                  </a:extLst>
                </a:gridCol>
                <a:gridCol w="2835429">
                  <a:extLst>
                    <a:ext uri="{9D8B030D-6E8A-4147-A177-3AD203B41FA5}">
                      <a16:colId xmlns:a16="http://schemas.microsoft.com/office/drawing/2014/main" val="2801792198"/>
                    </a:ext>
                  </a:extLst>
                </a:gridCol>
              </a:tblGrid>
              <a:tr h="324599">
                <a:tc>
                  <a:txBody>
                    <a:bodyPr/>
                    <a:lstStyle/>
                    <a:p>
                      <a:r>
                        <a:rPr lang="en-US" sz="1200" dirty="0"/>
                        <a:t>Cycle #</a:t>
                      </a:r>
                    </a:p>
                  </a:txBody>
                  <a:tcPr/>
                </a:tc>
                <a:tc>
                  <a:txBody>
                    <a:bodyPr/>
                    <a:lstStyle/>
                    <a:p>
                      <a:r>
                        <a:rPr lang="en-US" sz="1200" dirty="0"/>
                        <a:t>Instruction</a:t>
                      </a:r>
                    </a:p>
                  </a:txBody>
                  <a:tcPr/>
                </a:tc>
                <a:tc>
                  <a:txBody>
                    <a:bodyPr/>
                    <a:lstStyle/>
                    <a:p>
                      <a:r>
                        <a:rPr lang="en-US" sz="1200"/>
                        <a:t>Explanation</a:t>
                      </a:r>
                    </a:p>
                  </a:txBody>
                  <a:tcPr/>
                </a:tc>
                <a:extLst>
                  <a:ext uri="{0D108BD9-81ED-4DB2-BD59-A6C34878D82A}">
                    <a16:rowId xmlns:a16="http://schemas.microsoft.com/office/drawing/2014/main" val="2319756336"/>
                  </a:ext>
                </a:extLst>
              </a:tr>
              <a:tr h="579120">
                <a:tc>
                  <a:txBody>
                    <a:bodyPr/>
                    <a:lstStyle/>
                    <a:p>
                      <a:pPr algn="ctr"/>
                      <a:r>
                        <a:rPr lang="en-US" sz="1200"/>
                        <a:t>0</a:t>
                      </a:r>
                    </a:p>
                  </a:txBody>
                  <a:tcPr/>
                </a:tc>
                <a:tc>
                  <a:txBody>
                    <a:bodyPr/>
                    <a:lstStyle/>
                    <a:p>
                      <a:pPr algn="l"/>
                      <a:r>
                        <a:rPr lang="en-US" sz="1200" dirty="0"/>
                        <a:t>0x00_00_00</a:t>
                      </a:r>
                    </a:p>
                  </a:txBody>
                  <a:tcPr/>
                </a:tc>
                <a:tc>
                  <a:txBody>
                    <a:bodyPr/>
                    <a:lstStyle/>
                    <a:p>
                      <a:pPr algn="l"/>
                      <a:r>
                        <a:rPr lang="en-US" sz="1200" dirty="0"/>
                        <a:t>Write </a:t>
                      </a:r>
                      <a:r>
                        <a:rPr lang="en-US" sz="1200" dirty="0" err="1"/>
                        <a:t>ARSrc</a:t>
                      </a:r>
                      <a:r>
                        <a:rPr lang="en-US" sz="1200" dirty="0"/>
                        <a:t> to the Address Bus (special behavior due to opcode being MAG).</a:t>
                      </a:r>
                    </a:p>
                  </a:txBody>
                  <a:tcPr/>
                </a:tc>
                <a:extLst>
                  <a:ext uri="{0D108BD9-81ED-4DB2-BD59-A6C34878D82A}">
                    <a16:rowId xmlns:a16="http://schemas.microsoft.com/office/drawing/2014/main" val="2570910443"/>
                  </a:ext>
                </a:extLst>
              </a:tr>
              <a:tr h="579120">
                <a:tc>
                  <a:txBody>
                    <a:bodyPr/>
                    <a:lstStyle/>
                    <a:p>
                      <a:pPr algn="ctr"/>
                      <a:r>
                        <a:rPr lang="en-US" sz="12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0x20_00_20</a:t>
                      </a:r>
                    </a:p>
                  </a:txBody>
                  <a:tcPr/>
                </a:tc>
                <a:tc>
                  <a:txBody>
                    <a:bodyPr/>
                    <a:lstStyle/>
                    <a:p>
                      <a:pPr algn="l"/>
                      <a:r>
                        <a:rPr lang="en-US" sz="1200" dirty="0"/>
                        <a:t>Write Address Bus L/H Register to the Data Bus (L or H determined by the (AR) L/H instruction operand) and set Rd to read from the Data Bus.</a:t>
                      </a:r>
                    </a:p>
                  </a:txBody>
                  <a:tcPr/>
                </a:tc>
                <a:extLst>
                  <a:ext uri="{0D108BD9-81ED-4DB2-BD59-A6C34878D82A}">
                    <a16:rowId xmlns:a16="http://schemas.microsoft.com/office/drawing/2014/main" val="631651838"/>
                  </a:ext>
                </a:extLst>
              </a:tr>
              <a:tr h="370840">
                <a:tc>
                  <a:txBody>
                    <a:bodyPr/>
                    <a:lstStyle/>
                    <a:p>
                      <a:pPr algn="ctr"/>
                      <a:r>
                        <a:rPr lang="en-US" sz="12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0x00_00_80</a:t>
                      </a:r>
                    </a:p>
                  </a:txBody>
                  <a:tcPr/>
                </a:tc>
                <a:tc>
                  <a:txBody>
                    <a:bodyPr/>
                    <a:lstStyle/>
                    <a:p>
                      <a:pPr algn="l"/>
                      <a:r>
                        <a:rPr lang="en-US" sz="1200" dirty="0"/>
                        <a:t>Advance PC.</a:t>
                      </a:r>
                    </a:p>
                  </a:txBody>
                  <a:tcPr/>
                </a:tc>
                <a:extLst>
                  <a:ext uri="{0D108BD9-81ED-4DB2-BD59-A6C34878D82A}">
                    <a16:rowId xmlns:a16="http://schemas.microsoft.com/office/drawing/2014/main" val="1592812184"/>
                  </a:ext>
                </a:extLst>
              </a:tr>
            </a:tbl>
          </a:graphicData>
        </a:graphic>
      </p:graphicFrame>
      <p:pic>
        <p:nvPicPr>
          <p:cNvPr id="2" name="Picture 1">
            <a:hlinkClick r:id="rId3" action="ppaction://hlinksldjump"/>
            <a:extLst>
              <a:ext uri="{FF2B5EF4-FFF2-40B4-BE49-F238E27FC236}">
                <a16:creationId xmlns:a16="http://schemas.microsoft.com/office/drawing/2014/main" id="{A1E08A24-7CF5-9D37-3DF3-404EC074736B}"/>
              </a:ext>
            </a:extLst>
          </p:cNvPr>
          <p:cNvPicPr>
            <a:picLocks noChangeAspect="1"/>
          </p:cNvPicPr>
          <p:nvPr/>
        </p:nvPicPr>
        <p:blipFill>
          <a:blip r:embed="rId4"/>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4266117B-96E3-2FA1-270F-C0CC46BAF0FB}"/>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66</a:t>
            </a:fld>
            <a:endParaRPr lang="en-US" b="1">
              <a:solidFill>
                <a:schemeClr val="bg1"/>
              </a:solidFill>
            </a:endParaRPr>
          </a:p>
        </p:txBody>
      </p:sp>
      <p:graphicFrame>
        <p:nvGraphicFramePr>
          <p:cNvPr id="3" name="Table 4">
            <a:extLst>
              <a:ext uri="{FF2B5EF4-FFF2-40B4-BE49-F238E27FC236}">
                <a16:creationId xmlns:a16="http://schemas.microsoft.com/office/drawing/2014/main" id="{B90C8B16-E97C-0BE2-6C84-5382787FE8BE}"/>
              </a:ext>
            </a:extLst>
          </p:cNvPr>
          <p:cNvGraphicFramePr>
            <a:graphicFrameLocks noGrp="1"/>
          </p:cNvGraphicFramePr>
          <p:nvPr>
            <p:extLst>
              <p:ext uri="{D42A27DB-BD31-4B8C-83A1-F6EECF244321}">
                <p14:modId xmlns:p14="http://schemas.microsoft.com/office/powerpoint/2010/main" val="1902629655"/>
              </p:ext>
            </p:extLst>
          </p:nvPr>
        </p:nvGraphicFramePr>
        <p:xfrm>
          <a:off x="179752" y="5818357"/>
          <a:ext cx="10583501" cy="594360"/>
        </p:xfrm>
        <a:graphic>
          <a:graphicData uri="http://schemas.openxmlformats.org/drawingml/2006/table">
            <a:tbl>
              <a:tblPr firstRow="1" bandRow="1">
                <a:tableStyleId>{5C22544A-7EE6-4342-B048-85BDC9FD1C3A}</a:tableStyleId>
              </a:tblPr>
              <a:tblGrid>
                <a:gridCol w="998667">
                  <a:extLst>
                    <a:ext uri="{9D8B030D-6E8A-4147-A177-3AD203B41FA5}">
                      <a16:colId xmlns:a16="http://schemas.microsoft.com/office/drawing/2014/main" val="1810408170"/>
                    </a:ext>
                  </a:extLst>
                </a:gridCol>
                <a:gridCol w="970585">
                  <a:extLst>
                    <a:ext uri="{9D8B030D-6E8A-4147-A177-3AD203B41FA5}">
                      <a16:colId xmlns:a16="http://schemas.microsoft.com/office/drawing/2014/main" val="950391025"/>
                    </a:ext>
                  </a:extLst>
                </a:gridCol>
                <a:gridCol w="882484">
                  <a:extLst>
                    <a:ext uri="{9D8B030D-6E8A-4147-A177-3AD203B41FA5}">
                      <a16:colId xmlns:a16="http://schemas.microsoft.com/office/drawing/2014/main" val="1217920130"/>
                    </a:ext>
                  </a:extLst>
                </a:gridCol>
                <a:gridCol w="1402159">
                  <a:extLst>
                    <a:ext uri="{9D8B030D-6E8A-4147-A177-3AD203B41FA5}">
                      <a16:colId xmlns:a16="http://schemas.microsoft.com/office/drawing/2014/main" val="1475888205"/>
                    </a:ext>
                  </a:extLst>
                </a:gridCol>
                <a:gridCol w="1609969">
                  <a:extLst>
                    <a:ext uri="{9D8B030D-6E8A-4147-A177-3AD203B41FA5}">
                      <a16:colId xmlns:a16="http://schemas.microsoft.com/office/drawing/2014/main" val="1355185516"/>
                    </a:ext>
                  </a:extLst>
                </a:gridCol>
                <a:gridCol w="1304925">
                  <a:extLst>
                    <a:ext uri="{9D8B030D-6E8A-4147-A177-3AD203B41FA5}">
                      <a16:colId xmlns:a16="http://schemas.microsoft.com/office/drawing/2014/main" val="1039846299"/>
                    </a:ext>
                  </a:extLst>
                </a:gridCol>
                <a:gridCol w="3414712">
                  <a:extLst>
                    <a:ext uri="{9D8B030D-6E8A-4147-A177-3AD203B41FA5}">
                      <a16:colId xmlns:a16="http://schemas.microsoft.com/office/drawing/2014/main" val="3099546510"/>
                    </a:ext>
                  </a:extLst>
                </a:gridCol>
              </a:tblGrid>
              <a:tr h="297180">
                <a:tc>
                  <a:txBody>
                    <a:bodyPr/>
                    <a:lstStyle/>
                    <a:p>
                      <a:r>
                        <a:rPr lang="en-US" sz="1300" dirty="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dirty="0"/>
                        <a:t>MAG</a:t>
                      </a:r>
                    </a:p>
                  </a:txBody>
                  <a:tcPr>
                    <a:solidFill>
                      <a:schemeClr val="accent6"/>
                    </a:solidFill>
                  </a:tcPr>
                </a:tc>
                <a:tc gridSpan="2">
                  <a:txBody>
                    <a:bodyPr/>
                    <a:lstStyle/>
                    <a:p>
                      <a:pPr algn="ctr"/>
                      <a:r>
                        <a:rPr lang="en-US" sz="1300" dirty="0"/>
                        <a:t>XXXX</a:t>
                      </a:r>
                    </a:p>
                  </a:txBody>
                  <a:tcPr/>
                </a:tc>
                <a:tc hMerge="1">
                  <a:txBody>
                    <a:bodyPr/>
                    <a:lstStyle/>
                    <a:p>
                      <a:pPr algn="ctr"/>
                      <a:endParaRPr lang="en-US"/>
                    </a:p>
                  </a:txBody>
                  <a:tcPr/>
                </a:tc>
                <a:tc>
                  <a:txBody>
                    <a:bodyPr/>
                    <a:lstStyle/>
                    <a:p>
                      <a:pPr algn="ctr"/>
                      <a:r>
                        <a:rPr lang="en-US" sz="1300" dirty="0" err="1"/>
                        <a:t>ARSrc</a:t>
                      </a:r>
                      <a:endParaRPr lang="en-US" sz="1300" dirty="0"/>
                    </a:p>
                  </a:txBody>
                  <a:tcPr/>
                </a:tc>
                <a:tc>
                  <a:txBody>
                    <a:bodyPr/>
                    <a:lstStyle/>
                    <a:p>
                      <a:pPr algn="ctr"/>
                      <a:r>
                        <a:rPr lang="en-US" sz="1300" dirty="0"/>
                        <a:t>Rd</a:t>
                      </a:r>
                    </a:p>
                  </a:txBody>
                  <a:tcPr/>
                </a:tc>
                <a:tc>
                  <a:txBody>
                    <a:bodyPr/>
                    <a:lstStyle/>
                    <a:p>
                      <a:pPr algn="ctr"/>
                      <a:r>
                        <a:rPr lang="en-US" sz="1300" dirty="0"/>
                        <a:t>(AR) L/H</a:t>
                      </a:r>
                    </a:p>
                  </a:txBody>
                  <a:tcPr/>
                </a:tc>
                <a:tc>
                  <a:txBody>
                    <a:bodyPr/>
                    <a:lstStyle/>
                    <a:p>
                      <a:pPr algn="ctr"/>
                      <a:r>
                        <a:rPr lang="en-US" sz="1300" dirty="0" err="1"/>
                        <a:t>OpCode</a:t>
                      </a:r>
                      <a:r>
                        <a:rPr lang="en-US" sz="1300" dirty="0"/>
                        <a:t>=1a</a:t>
                      </a:r>
                    </a:p>
                  </a:txBody>
                  <a:tcPr/>
                </a:tc>
                <a:extLst>
                  <a:ext uri="{0D108BD9-81ED-4DB2-BD59-A6C34878D82A}">
                    <a16:rowId xmlns:a16="http://schemas.microsoft.com/office/drawing/2014/main" val="2570910443"/>
                  </a:ext>
                </a:extLst>
              </a:tr>
            </a:tbl>
          </a:graphicData>
        </a:graphic>
      </p:graphicFrame>
      <p:sp>
        <p:nvSpPr>
          <p:cNvPr id="4" name="TextBox 3">
            <a:extLst>
              <a:ext uri="{FF2B5EF4-FFF2-40B4-BE49-F238E27FC236}">
                <a16:creationId xmlns:a16="http://schemas.microsoft.com/office/drawing/2014/main" id="{C2620FAB-D9EF-D16E-9D9C-86029D1E70BE}"/>
              </a:ext>
            </a:extLst>
          </p:cNvPr>
          <p:cNvSpPr txBox="1"/>
          <p:nvPr/>
        </p:nvSpPr>
        <p:spPr>
          <a:xfrm>
            <a:off x="10966456" y="2"/>
            <a:ext cx="1297150" cy="1323439"/>
          </a:xfrm>
          <a:prstGeom prst="rect">
            <a:avLst/>
          </a:prstGeom>
          <a:noFill/>
        </p:spPr>
        <p:txBody>
          <a:bodyPr wrap="none" rtlCol="0">
            <a:spAutoFit/>
          </a:bodyPr>
          <a:lstStyle/>
          <a:p>
            <a:r>
              <a:rPr lang="en-US" sz="8000" dirty="0">
                <a:solidFill>
                  <a:schemeClr val="accent1">
                    <a:lumMod val="60000"/>
                    <a:lumOff val="40000"/>
                  </a:schemeClr>
                </a:solidFill>
              </a:rPr>
              <a:t>1A</a:t>
            </a:r>
          </a:p>
        </p:txBody>
      </p:sp>
      <p:sp>
        <p:nvSpPr>
          <p:cNvPr id="6" name="TextBox 5">
            <a:extLst>
              <a:ext uri="{FF2B5EF4-FFF2-40B4-BE49-F238E27FC236}">
                <a16:creationId xmlns:a16="http://schemas.microsoft.com/office/drawing/2014/main" id="{439E498B-609C-25E3-9A99-05681A1D0EE1}"/>
              </a:ext>
            </a:extLst>
          </p:cNvPr>
          <p:cNvSpPr txBox="1"/>
          <p:nvPr/>
        </p:nvSpPr>
        <p:spPr>
          <a:xfrm>
            <a:off x="4876837" y="4916582"/>
            <a:ext cx="2945037"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MAG R3, %SP, L</a:t>
            </a:r>
          </a:p>
        </p:txBody>
      </p:sp>
      <p:sp>
        <p:nvSpPr>
          <p:cNvPr id="7" name="TextBox 6">
            <a:extLst>
              <a:ext uri="{FF2B5EF4-FFF2-40B4-BE49-F238E27FC236}">
                <a16:creationId xmlns:a16="http://schemas.microsoft.com/office/drawing/2014/main" id="{2EA5ACB4-7A60-3FD0-A1C9-3AFEEB7F3002}"/>
              </a:ext>
            </a:extLst>
          </p:cNvPr>
          <p:cNvSpPr txBox="1"/>
          <p:nvPr/>
        </p:nvSpPr>
        <p:spPr>
          <a:xfrm>
            <a:off x="4876837" y="4495763"/>
            <a:ext cx="3142207"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Rd = </a:t>
            </a:r>
            <a:r>
              <a:rPr lang="en-US" sz="2800" dirty="0" err="1">
                <a:solidFill>
                  <a:srgbClr val="00B050"/>
                </a:solidFill>
                <a:latin typeface="Consolas" panose="020B0609020204030204" pitchFamily="49" charset="0"/>
              </a:rPr>
              <a:t>ARSrc</a:t>
            </a:r>
            <a:r>
              <a:rPr lang="en-US" sz="2800" dirty="0">
                <a:solidFill>
                  <a:srgbClr val="00B050"/>
                </a:solidFill>
                <a:latin typeface="Consolas" panose="020B0609020204030204" pitchFamily="49" charset="0"/>
              </a:rPr>
              <a:t>[L/H]</a:t>
            </a:r>
          </a:p>
        </p:txBody>
      </p:sp>
      <p:graphicFrame>
        <p:nvGraphicFramePr>
          <p:cNvPr id="8" name="Table 4">
            <a:extLst>
              <a:ext uri="{FF2B5EF4-FFF2-40B4-BE49-F238E27FC236}">
                <a16:creationId xmlns:a16="http://schemas.microsoft.com/office/drawing/2014/main" id="{667F8A99-8487-DB10-2980-CF9E188E31AE}"/>
              </a:ext>
            </a:extLst>
          </p:cNvPr>
          <p:cNvGraphicFramePr>
            <a:graphicFrameLocks noGrp="1"/>
          </p:cNvGraphicFramePr>
          <p:nvPr>
            <p:extLst>
              <p:ext uri="{D42A27DB-BD31-4B8C-83A1-F6EECF244321}">
                <p14:modId xmlns:p14="http://schemas.microsoft.com/office/powerpoint/2010/main" val="672536172"/>
              </p:ext>
            </p:extLst>
          </p:nvPr>
        </p:nvGraphicFramePr>
        <p:xfrm>
          <a:off x="179752" y="742463"/>
          <a:ext cx="4329725" cy="5004175"/>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00345">
                <a:tc>
                  <a:txBody>
                    <a:bodyPr/>
                    <a:lstStyle/>
                    <a:p>
                      <a:pPr>
                        <a:lnSpc>
                          <a:spcPct val="100000"/>
                        </a:lnSpc>
                      </a:pPr>
                      <a:r>
                        <a:rPr lang="en-US" sz="700"/>
                        <a:t>Bit</a:t>
                      </a:r>
                    </a:p>
                  </a:txBody>
                  <a:tcPr anchor="ctr"/>
                </a:tc>
                <a:tc>
                  <a:txBody>
                    <a:bodyPr/>
                    <a:lstStyle/>
                    <a:p>
                      <a:pPr>
                        <a:lnSpc>
                          <a:spcPct val="100000"/>
                        </a:lnSpc>
                      </a:pPr>
                      <a:r>
                        <a:rPr lang="en-US" sz="700" dirty="0"/>
                        <a:t>Operation</a:t>
                      </a:r>
                    </a:p>
                  </a:txBody>
                  <a:tcPr anchor="ctr"/>
                </a:tc>
                <a:extLst>
                  <a:ext uri="{0D108BD9-81ED-4DB2-BD59-A6C34878D82A}">
                    <a16:rowId xmlns:a16="http://schemas.microsoft.com/office/drawing/2014/main" val="2319756336"/>
                  </a:ext>
                </a:extLst>
              </a:tr>
              <a:tr h="200345">
                <a:tc>
                  <a:txBody>
                    <a:bodyPr/>
                    <a:lstStyle/>
                    <a:p>
                      <a:pPr algn="ctr">
                        <a:lnSpc>
                          <a:spcPct val="100000"/>
                        </a:lnSpc>
                      </a:pPr>
                      <a:r>
                        <a:rPr lang="en-US" sz="700" dirty="0"/>
                        <a:t>23</a:t>
                      </a:r>
                    </a:p>
                  </a:txBody>
                  <a:tcPr anchor="ctr"/>
                </a:tc>
                <a:tc>
                  <a:txBody>
                    <a:bodyPr/>
                    <a:lstStyle/>
                    <a:p>
                      <a:pPr algn="l">
                        <a:lnSpc>
                          <a:spcPct val="100000"/>
                        </a:lnSpc>
                      </a:pPr>
                      <a:r>
                        <a:rPr lang="en-US" sz="700" dirty="0"/>
                        <a:t>Not Used</a:t>
                      </a:r>
                    </a:p>
                  </a:txBody>
                  <a:tcPr anchor="ctr"/>
                </a:tc>
                <a:extLst>
                  <a:ext uri="{0D108BD9-81ED-4DB2-BD59-A6C34878D82A}">
                    <a16:rowId xmlns:a16="http://schemas.microsoft.com/office/drawing/2014/main" val="3576468534"/>
                  </a:ext>
                </a:extLst>
              </a:tr>
              <a:tr h="200345">
                <a:tc>
                  <a:txBody>
                    <a:bodyPr/>
                    <a:lstStyle/>
                    <a:p>
                      <a:pPr algn="ctr">
                        <a:lnSpc>
                          <a:spcPct val="100000"/>
                        </a:lnSpc>
                      </a:pPr>
                      <a:r>
                        <a:rPr lang="en-US" sz="700" dirty="0"/>
                        <a:t>22</a:t>
                      </a:r>
                    </a:p>
                  </a:txBody>
                  <a:tcPr anchor="ctr"/>
                </a:tc>
                <a:tc>
                  <a:txBody>
                    <a:bodyPr/>
                    <a:lstStyle/>
                    <a:p>
                      <a:pPr algn="l">
                        <a:lnSpc>
                          <a:spcPct val="100000"/>
                        </a:lnSpc>
                      </a:pPr>
                      <a:r>
                        <a:rPr lang="en-US" sz="700" dirty="0" err="1"/>
                        <a:t>AddressHorL</a:t>
                      </a:r>
                      <a:endParaRPr lang="en-US" sz="700" dirty="0"/>
                    </a:p>
                  </a:txBody>
                  <a:tcPr anchor="ctr"/>
                </a:tc>
                <a:extLst>
                  <a:ext uri="{0D108BD9-81ED-4DB2-BD59-A6C34878D82A}">
                    <a16:rowId xmlns:a16="http://schemas.microsoft.com/office/drawing/2014/main" val="79971578"/>
                  </a:ext>
                </a:extLst>
              </a:tr>
              <a:tr h="200345">
                <a:tc>
                  <a:txBody>
                    <a:bodyPr/>
                    <a:lstStyle/>
                    <a:p>
                      <a:pPr algn="ctr">
                        <a:lnSpc>
                          <a:spcPct val="100000"/>
                        </a:lnSpc>
                      </a:pPr>
                      <a:r>
                        <a:rPr lang="en-US" sz="700" dirty="0"/>
                        <a:t>21</a:t>
                      </a:r>
                    </a:p>
                  </a:txBody>
                  <a:tcPr anchor="ctr"/>
                </a:tc>
                <a:tc>
                  <a:txBody>
                    <a:bodyPr/>
                    <a:lstStyle/>
                    <a:p>
                      <a:pPr algn="l">
                        <a:lnSpc>
                          <a:spcPct val="100000"/>
                        </a:lnSpc>
                      </a:pPr>
                      <a:r>
                        <a:rPr lang="en-US" sz="700" dirty="0" err="1"/>
                        <a:t>AddressBusToDataBus</a:t>
                      </a:r>
                      <a:endParaRPr lang="en-US" sz="700" dirty="0"/>
                    </a:p>
                  </a:txBody>
                  <a:tcPr anchor="ctr"/>
                </a:tc>
                <a:extLst>
                  <a:ext uri="{0D108BD9-81ED-4DB2-BD59-A6C34878D82A}">
                    <a16:rowId xmlns:a16="http://schemas.microsoft.com/office/drawing/2014/main" val="4135939119"/>
                  </a:ext>
                </a:extLst>
              </a:tr>
              <a:tr h="200345">
                <a:tc>
                  <a:txBody>
                    <a:bodyPr/>
                    <a:lstStyle/>
                    <a:p>
                      <a:pPr algn="ctr">
                        <a:lnSpc>
                          <a:spcPct val="100000"/>
                        </a:lnSpc>
                      </a:pPr>
                      <a:r>
                        <a:rPr lang="en-US" sz="700" dirty="0"/>
                        <a:t>20</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err="1"/>
                        <a:t>TmpARWrite</a:t>
                      </a:r>
                      <a:endParaRPr lang="en-US" sz="700"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9580944"/>
                  </a:ext>
                </a:extLst>
              </a:tr>
              <a:tr h="200345">
                <a:tc>
                  <a:txBody>
                    <a:bodyPr/>
                    <a:lstStyle/>
                    <a:p>
                      <a:pPr algn="ctr">
                        <a:lnSpc>
                          <a:spcPct val="100000"/>
                        </a:lnSpc>
                      </a:pPr>
                      <a:r>
                        <a:rPr lang="en-US" sz="700" dirty="0"/>
                        <a:t>19</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err="1"/>
                        <a:t>TmpARRead</a:t>
                      </a:r>
                      <a:endParaRPr lang="en-US" sz="700"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35159618"/>
                  </a:ext>
                </a:extLst>
              </a:tr>
              <a:tr h="200345">
                <a:tc>
                  <a:txBody>
                    <a:bodyPr/>
                    <a:lstStyle/>
                    <a:p>
                      <a:pPr algn="ctr">
                        <a:lnSpc>
                          <a:spcPct val="100000"/>
                        </a:lnSpc>
                      </a:pPr>
                      <a:r>
                        <a:rPr lang="en-US" sz="700" dirty="0"/>
                        <a:t>18</a:t>
                      </a:r>
                    </a:p>
                  </a:txBody>
                  <a:tcPr anchor="ctr"/>
                </a:tc>
                <a:tc>
                  <a:txBody>
                    <a:bodyPr/>
                    <a:lstStyle/>
                    <a:p>
                      <a:pPr algn="l">
                        <a:lnSpc>
                          <a:spcPct val="100000"/>
                        </a:lnSpc>
                      </a:pPr>
                      <a:r>
                        <a:rPr lang="en-US" sz="700" dirty="0" err="1"/>
                        <a:t>loadARHorL</a:t>
                      </a:r>
                      <a:endParaRPr lang="en-US" sz="700" dirty="0"/>
                    </a:p>
                  </a:txBody>
                  <a:tcPr anchor="ctr"/>
                </a:tc>
                <a:extLst>
                  <a:ext uri="{0D108BD9-81ED-4DB2-BD59-A6C34878D82A}">
                    <a16:rowId xmlns:a16="http://schemas.microsoft.com/office/drawing/2014/main" val="2357817394"/>
                  </a:ext>
                </a:extLst>
              </a:tr>
              <a:tr h="200345">
                <a:tc>
                  <a:txBody>
                    <a:bodyPr/>
                    <a:lstStyle/>
                    <a:p>
                      <a:pPr algn="ctr">
                        <a:lnSpc>
                          <a:spcPct val="100000"/>
                        </a:lnSpc>
                      </a:pPr>
                      <a:r>
                        <a:rPr lang="en-US" sz="700"/>
                        <a:t>17</a:t>
                      </a:r>
                    </a:p>
                  </a:txBody>
                  <a:tcPr anchor="ctr"/>
                </a:tc>
                <a:tc>
                  <a:txBody>
                    <a:bodyPr/>
                    <a:lstStyle/>
                    <a:p>
                      <a:pPr algn="l">
                        <a:lnSpc>
                          <a:spcPct val="100000"/>
                        </a:lnSpc>
                      </a:pPr>
                      <a:r>
                        <a:rPr lang="en-US" sz="700" dirty="0" err="1"/>
                        <a:t>loadAR</a:t>
                      </a:r>
                      <a:r>
                        <a:rPr lang="en-US" sz="700" dirty="0"/>
                        <a:t> (formerly: Load Special Pointer)</a:t>
                      </a:r>
                    </a:p>
                  </a:txBody>
                  <a:tcPr anchor="ctr"/>
                </a:tc>
                <a:extLst>
                  <a:ext uri="{0D108BD9-81ED-4DB2-BD59-A6C34878D82A}">
                    <a16:rowId xmlns:a16="http://schemas.microsoft.com/office/drawing/2014/main" val="2759210480"/>
                  </a:ext>
                </a:extLst>
              </a:tr>
              <a:tr h="200345">
                <a:tc>
                  <a:txBody>
                    <a:bodyPr/>
                    <a:lstStyle/>
                    <a:p>
                      <a:pPr algn="ctr">
                        <a:lnSpc>
                          <a:spcPct val="100000"/>
                        </a:lnSpc>
                      </a:pPr>
                      <a:r>
                        <a:rPr lang="en-US" sz="700" dirty="0"/>
                        <a:t>16</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Stack Pointer Increment / Decrement (0: decrease / 1: increase)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6363256"/>
                  </a:ext>
                </a:extLst>
              </a:tr>
              <a:tr h="200345">
                <a:tc>
                  <a:txBody>
                    <a:bodyPr/>
                    <a:lstStyle/>
                    <a:p>
                      <a:pPr algn="ctr">
                        <a:lnSpc>
                          <a:spcPct val="100000"/>
                        </a:lnSpc>
                      </a:pPr>
                      <a:r>
                        <a:rPr lang="en-US" sz="700"/>
                        <a:t>15</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Stack Pointer Count</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49660566"/>
                  </a:ext>
                </a:extLst>
              </a:tr>
              <a:tr h="200345">
                <a:tc>
                  <a:txBody>
                    <a:bodyPr/>
                    <a:lstStyle/>
                    <a:p>
                      <a:pPr algn="ctr">
                        <a:lnSpc>
                          <a:spcPct val="100000"/>
                        </a:lnSpc>
                      </a:pPr>
                      <a:r>
                        <a:rPr lang="en-US" sz="700"/>
                        <a:t>14</a:t>
                      </a:r>
                    </a:p>
                  </a:txBody>
                  <a:tcPr anchor="ctr"/>
                </a:tc>
                <a:tc>
                  <a:txBody>
                    <a:bodyPr/>
                    <a:lstStyle/>
                    <a:p>
                      <a:pPr algn="l">
                        <a:lnSpc>
                          <a:spcPct val="100000"/>
                        </a:lnSpc>
                      </a:pPr>
                      <a:r>
                        <a:rPr lang="en-US" sz="700" dirty="0"/>
                        <a:t>SP Out (formerly: RAM Address Select (0: Address register / 1: Stack pointer))</a:t>
                      </a:r>
                    </a:p>
                  </a:txBody>
                  <a:tcPr anchor="ctr"/>
                </a:tc>
                <a:extLst>
                  <a:ext uri="{0D108BD9-81ED-4DB2-BD59-A6C34878D82A}">
                    <a16:rowId xmlns:a16="http://schemas.microsoft.com/office/drawing/2014/main" val="645489424"/>
                  </a:ext>
                </a:extLst>
              </a:tr>
              <a:tr h="200345">
                <a:tc>
                  <a:txBody>
                    <a:bodyPr/>
                    <a:lstStyle/>
                    <a:p>
                      <a:pPr algn="ctr">
                        <a:lnSpc>
                          <a:spcPct val="100000"/>
                        </a:lnSpc>
                      </a:pPr>
                      <a:r>
                        <a:rPr lang="en-US" sz="700"/>
                        <a:t>13</a:t>
                      </a:r>
                    </a:p>
                  </a:txBody>
                  <a:tcPr anchor="ctr"/>
                </a:tc>
                <a:tc>
                  <a:txBody>
                    <a:bodyPr/>
                    <a:lstStyle/>
                    <a:p>
                      <a:pPr algn="l">
                        <a:lnSpc>
                          <a:spcPct val="100000"/>
                        </a:lnSpc>
                      </a:pPr>
                      <a:r>
                        <a:rPr lang="en-US" sz="700"/>
                        <a:t>Use Rd as Source</a:t>
                      </a:r>
                    </a:p>
                  </a:txBody>
                  <a:tcPr anchor="ctr"/>
                </a:tc>
                <a:extLst>
                  <a:ext uri="{0D108BD9-81ED-4DB2-BD59-A6C34878D82A}">
                    <a16:rowId xmlns:a16="http://schemas.microsoft.com/office/drawing/2014/main" val="2745442092"/>
                  </a:ext>
                </a:extLst>
              </a:tr>
              <a:tr h="200345">
                <a:tc>
                  <a:txBody>
                    <a:bodyPr/>
                    <a:lstStyle/>
                    <a:p>
                      <a:pPr algn="ctr">
                        <a:lnSpc>
                          <a:spcPct val="100000"/>
                        </a:lnSpc>
                      </a:pPr>
                      <a:r>
                        <a:rPr lang="en-US" sz="700" dirty="0"/>
                        <a:t>12</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Lower Address Register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762316"/>
                  </a:ext>
                </a:extLst>
              </a:tr>
              <a:tr h="200345">
                <a:tc>
                  <a:txBody>
                    <a:bodyPr/>
                    <a:lstStyle/>
                    <a:p>
                      <a:pPr algn="ctr">
                        <a:lnSpc>
                          <a:spcPct val="100000"/>
                        </a:lnSpc>
                      </a:pPr>
                      <a:r>
                        <a:rPr lang="en-US" sz="700"/>
                        <a:t>11</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Mem Write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66008767"/>
                  </a:ext>
                </a:extLst>
              </a:tr>
              <a:tr h="200345">
                <a:tc>
                  <a:txBody>
                    <a:bodyPr/>
                    <a:lstStyle/>
                    <a:p>
                      <a:pPr algn="ctr">
                        <a:lnSpc>
                          <a:spcPct val="100000"/>
                        </a:lnSpc>
                      </a:pPr>
                      <a:r>
                        <a:rPr lang="en-US" sz="700"/>
                        <a:t>10</a:t>
                      </a:r>
                    </a:p>
                  </a:txBody>
                  <a:tcPr anchor="ctr"/>
                </a:tc>
                <a:tc>
                  <a:txBody>
                    <a:bodyPr/>
                    <a:lstStyle/>
                    <a:p>
                      <a:pPr algn="l">
                        <a:lnSpc>
                          <a:spcPct val="100000"/>
                        </a:lnSpc>
                      </a:pPr>
                      <a:r>
                        <a:rPr lang="en-US" sz="700"/>
                        <a:t>Mem Read</a:t>
                      </a:r>
                    </a:p>
                  </a:txBody>
                  <a:tcPr anchor="ctr"/>
                </a:tc>
                <a:extLst>
                  <a:ext uri="{0D108BD9-81ED-4DB2-BD59-A6C34878D82A}">
                    <a16:rowId xmlns:a16="http://schemas.microsoft.com/office/drawing/2014/main" val="707415226"/>
                  </a:ext>
                </a:extLst>
              </a:tr>
              <a:tr h="200345">
                <a:tc>
                  <a:txBody>
                    <a:bodyPr/>
                    <a:lstStyle/>
                    <a:p>
                      <a:pPr algn="ctr">
                        <a:lnSpc>
                          <a:spcPct val="100000"/>
                        </a:lnSpc>
                      </a:pPr>
                      <a:r>
                        <a:rPr lang="en-US" sz="700"/>
                        <a:t>9</a:t>
                      </a:r>
                    </a:p>
                  </a:txBody>
                  <a:tcPr anchor="ctr"/>
                </a:tc>
                <a:tc>
                  <a:txBody>
                    <a:bodyPr/>
                    <a:lstStyle/>
                    <a:p>
                      <a:pPr algn="l">
                        <a:lnSpc>
                          <a:spcPct val="100000"/>
                        </a:lnSpc>
                      </a:pPr>
                      <a:r>
                        <a:rPr lang="en-US" sz="700"/>
                        <a:t>PC Out</a:t>
                      </a:r>
                    </a:p>
                  </a:txBody>
                  <a:tcPr anchor="ctr"/>
                </a:tc>
                <a:extLst>
                  <a:ext uri="{0D108BD9-81ED-4DB2-BD59-A6C34878D82A}">
                    <a16:rowId xmlns:a16="http://schemas.microsoft.com/office/drawing/2014/main" val="1663806429"/>
                  </a:ext>
                </a:extLst>
              </a:tr>
              <a:tr h="200345">
                <a:tc>
                  <a:txBody>
                    <a:bodyPr/>
                    <a:lstStyle/>
                    <a:p>
                      <a:pPr algn="ctr">
                        <a:lnSpc>
                          <a:spcPct val="100000"/>
                        </a:lnSpc>
                      </a:pPr>
                      <a:r>
                        <a:rPr lang="en-US" sz="700" dirty="0"/>
                        <a:t>8</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a:t>PC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27957"/>
                  </a:ext>
                </a:extLst>
              </a:tr>
              <a:tr h="200345">
                <a:tc>
                  <a:txBody>
                    <a:bodyPr/>
                    <a:lstStyle/>
                    <a:p>
                      <a:pPr algn="ctr">
                        <a:lnSpc>
                          <a:spcPct val="100000"/>
                        </a:lnSpc>
                      </a:pPr>
                      <a:r>
                        <a:rPr lang="en-US" sz="700"/>
                        <a:t>7</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PC advance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70910443"/>
                  </a:ext>
                </a:extLst>
              </a:tr>
              <a:tr h="200345">
                <a:tc>
                  <a:txBody>
                    <a:bodyPr/>
                    <a:lstStyle/>
                    <a:p>
                      <a:pPr algn="ctr">
                        <a:lnSpc>
                          <a:spcPct val="100000"/>
                        </a:lnSpc>
                      </a:pPr>
                      <a:r>
                        <a:rPr lang="en-US" sz="700"/>
                        <a:t>6</a:t>
                      </a:r>
                    </a:p>
                  </a:txBody>
                  <a:tcPr anchor="ctr"/>
                </a:tc>
                <a:tc>
                  <a:txBody>
                    <a:bodyPr/>
                    <a:lstStyle/>
                    <a:p>
                      <a:pPr algn="l">
                        <a:lnSpc>
                          <a:spcPct val="100000"/>
                        </a:lnSpc>
                      </a:pPr>
                      <a:r>
                        <a:rPr lang="en-US" sz="700"/>
                        <a:t>Program Register H Write to Bus (parameter)</a:t>
                      </a:r>
                    </a:p>
                  </a:txBody>
                  <a:tcPr anchor="ctr"/>
                </a:tc>
                <a:extLst>
                  <a:ext uri="{0D108BD9-81ED-4DB2-BD59-A6C34878D82A}">
                    <a16:rowId xmlns:a16="http://schemas.microsoft.com/office/drawing/2014/main" val="631651838"/>
                  </a:ext>
                </a:extLst>
              </a:tr>
              <a:tr h="200345">
                <a:tc>
                  <a:txBody>
                    <a:bodyPr/>
                    <a:lstStyle/>
                    <a:p>
                      <a:pPr algn="ctr">
                        <a:lnSpc>
                          <a:spcPct val="100000"/>
                        </a:lnSpc>
                      </a:pPr>
                      <a:r>
                        <a:rPr lang="en-US" sz="700"/>
                        <a:t>5</a:t>
                      </a:r>
                    </a:p>
                  </a:txBody>
                  <a:tcPr anchor="ctr"/>
                </a:tc>
                <a:tc>
                  <a:txBody>
                    <a:bodyPr/>
                    <a:lstStyle/>
                    <a:p>
                      <a:pPr algn="l">
                        <a:lnSpc>
                          <a:spcPct val="100000"/>
                        </a:lnSpc>
                      </a:pPr>
                      <a:r>
                        <a:rPr lang="en-US" sz="700"/>
                        <a:t>Register File Input Enable</a:t>
                      </a:r>
                    </a:p>
                  </a:txBody>
                  <a:tcPr anchor="ctr"/>
                </a:tc>
                <a:extLst>
                  <a:ext uri="{0D108BD9-81ED-4DB2-BD59-A6C34878D82A}">
                    <a16:rowId xmlns:a16="http://schemas.microsoft.com/office/drawing/2014/main" val="1592812184"/>
                  </a:ext>
                </a:extLst>
              </a:tr>
              <a:tr h="200345">
                <a:tc>
                  <a:txBody>
                    <a:bodyPr/>
                    <a:lstStyle/>
                    <a:p>
                      <a:pPr algn="ctr">
                        <a:lnSpc>
                          <a:spcPct val="100000"/>
                        </a:lnSpc>
                      </a:pPr>
                      <a:r>
                        <a:rPr lang="en-US" sz="700" dirty="0"/>
                        <a:t>4</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Register File Output Enable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5793510"/>
                  </a:ext>
                </a:extLst>
              </a:tr>
              <a:tr h="200345">
                <a:tc>
                  <a:txBody>
                    <a:bodyPr/>
                    <a:lstStyle/>
                    <a:p>
                      <a:pPr algn="ctr">
                        <a:lnSpc>
                          <a:spcPct val="100000"/>
                        </a:lnSpc>
                      </a:pPr>
                      <a:r>
                        <a:rPr lang="en-US" sz="700"/>
                        <a:t>3</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Register File Output Select (parameter – 0 -&gt; Rs1, 1 -&gt; Rs2)</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46366285"/>
                  </a:ext>
                </a:extLst>
              </a:tr>
              <a:tr h="0">
                <a:tc>
                  <a:txBody>
                    <a:bodyPr/>
                    <a:lstStyle/>
                    <a:p>
                      <a:pPr algn="ctr">
                        <a:lnSpc>
                          <a:spcPct val="100000"/>
                        </a:lnSpc>
                      </a:pPr>
                      <a:r>
                        <a:rPr lang="en-US" sz="700"/>
                        <a:t>2</a:t>
                      </a:r>
                    </a:p>
                  </a:txBody>
                  <a:tcPr anchor="ctr"/>
                </a:tc>
                <a:tc>
                  <a:txBody>
                    <a:bodyPr/>
                    <a:lstStyle/>
                    <a:p>
                      <a:pPr algn="l">
                        <a:lnSpc>
                          <a:spcPct val="100000"/>
                        </a:lnSpc>
                      </a:pPr>
                      <a:r>
                        <a:rPr lang="en-US" sz="700" dirty="0"/>
                        <a:t>ALU output enable</a:t>
                      </a:r>
                    </a:p>
                  </a:txBody>
                  <a:tcPr anchor="ctr"/>
                </a:tc>
                <a:extLst>
                  <a:ext uri="{0D108BD9-81ED-4DB2-BD59-A6C34878D82A}">
                    <a16:rowId xmlns:a16="http://schemas.microsoft.com/office/drawing/2014/main" val="2615342211"/>
                  </a:ext>
                </a:extLst>
              </a:tr>
              <a:tr h="156274">
                <a:tc>
                  <a:txBody>
                    <a:bodyPr/>
                    <a:lstStyle/>
                    <a:p>
                      <a:pPr algn="ctr">
                        <a:lnSpc>
                          <a:spcPct val="100000"/>
                        </a:lnSpc>
                      </a:pPr>
                      <a:r>
                        <a:rPr lang="en-US" sz="700"/>
                        <a:t>1</a:t>
                      </a:r>
                    </a:p>
                  </a:txBody>
                  <a:tcPr anchor="ctr"/>
                </a:tc>
                <a:tc>
                  <a:txBody>
                    <a:bodyPr/>
                    <a:lstStyle/>
                    <a:p>
                      <a:pPr algn="l">
                        <a:lnSpc>
                          <a:spcPct val="100000"/>
                        </a:lnSpc>
                      </a:pPr>
                      <a:r>
                        <a:rPr lang="en-US" sz="700" dirty="0"/>
                        <a:t>ALU load register A</a:t>
                      </a:r>
                    </a:p>
                  </a:txBody>
                  <a:tcPr marT="0" anchor="ctr"/>
                </a:tc>
                <a:extLst>
                  <a:ext uri="{0D108BD9-81ED-4DB2-BD59-A6C34878D82A}">
                    <a16:rowId xmlns:a16="http://schemas.microsoft.com/office/drawing/2014/main" val="2055856817"/>
                  </a:ext>
                </a:extLst>
              </a:tr>
              <a:tr h="200345">
                <a:tc>
                  <a:txBody>
                    <a:bodyPr/>
                    <a:lstStyle/>
                    <a:p>
                      <a:pPr algn="ctr">
                        <a:lnSpc>
                          <a:spcPct val="100000"/>
                        </a:lnSpc>
                      </a:pPr>
                      <a:r>
                        <a:rPr lang="en-US" sz="700"/>
                        <a:t>0</a:t>
                      </a:r>
                    </a:p>
                  </a:txBody>
                  <a:tcPr anchor="ctr"/>
                </a:tc>
                <a:tc>
                  <a:txBody>
                    <a:bodyPr/>
                    <a:lstStyle/>
                    <a:p>
                      <a:pPr algn="l">
                        <a:lnSpc>
                          <a:spcPct val="100000"/>
                        </a:lnSpc>
                      </a:pPr>
                      <a:r>
                        <a:rPr lang="en-US" sz="700" dirty="0"/>
                        <a:t>ALU load register B</a:t>
                      </a:r>
                    </a:p>
                  </a:txBody>
                  <a:tcPr anchor="ct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3319948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2764F-CB2C-C0B9-4218-8EB9455521AD}"/>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746ABD0D-0F87-5864-383C-0D1D46C6F716}"/>
              </a:ext>
            </a:extLst>
          </p:cNvPr>
          <p:cNvSpPr>
            <a:spLocks noGrp="1"/>
          </p:cNvSpPr>
          <p:nvPr>
            <p:ph type="ctrTitle"/>
          </p:nvPr>
        </p:nvSpPr>
        <p:spPr>
          <a:xfrm>
            <a:off x="914399" y="182880"/>
            <a:ext cx="10052055" cy="457200"/>
          </a:xfrm>
        </p:spPr>
        <p:txBody>
          <a:bodyPr/>
          <a:lstStyle/>
          <a:p>
            <a:r>
              <a:rPr lang="en-US" dirty="0"/>
              <a:t>Micro-Instructions Control: Load Address register(LDA) (11011)</a:t>
            </a:r>
          </a:p>
        </p:txBody>
      </p:sp>
      <p:graphicFrame>
        <p:nvGraphicFramePr>
          <p:cNvPr id="5" name="Table 4">
            <a:extLst>
              <a:ext uri="{FF2B5EF4-FFF2-40B4-BE49-F238E27FC236}">
                <a16:creationId xmlns:a16="http://schemas.microsoft.com/office/drawing/2014/main" id="{42A89C1C-F67E-3146-D431-455A69663A44}"/>
              </a:ext>
            </a:extLst>
          </p:cNvPr>
          <p:cNvGraphicFramePr>
            <a:graphicFrameLocks noGrp="1"/>
          </p:cNvGraphicFramePr>
          <p:nvPr>
            <p:extLst>
              <p:ext uri="{D42A27DB-BD31-4B8C-83A1-F6EECF244321}">
                <p14:modId xmlns:p14="http://schemas.microsoft.com/office/powerpoint/2010/main" val="4124494523"/>
              </p:ext>
            </p:extLst>
          </p:nvPr>
        </p:nvGraphicFramePr>
        <p:xfrm>
          <a:off x="4716581" y="742463"/>
          <a:ext cx="6249874" cy="1482839"/>
        </p:xfrm>
        <a:graphic>
          <a:graphicData uri="http://schemas.openxmlformats.org/drawingml/2006/table">
            <a:tbl>
              <a:tblPr firstRow="1" bandRow="1">
                <a:tableStyleId>{5C22544A-7EE6-4342-B048-85BDC9FD1C3A}</a:tableStyleId>
              </a:tblPr>
              <a:tblGrid>
                <a:gridCol w="948528">
                  <a:extLst>
                    <a:ext uri="{9D8B030D-6E8A-4147-A177-3AD203B41FA5}">
                      <a16:colId xmlns:a16="http://schemas.microsoft.com/office/drawing/2014/main" val="1217920130"/>
                    </a:ext>
                  </a:extLst>
                </a:gridCol>
                <a:gridCol w="2465917">
                  <a:extLst>
                    <a:ext uri="{9D8B030D-6E8A-4147-A177-3AD203B41FA5}">
                      <a16:colId xmlns:a16="http://schemas.microsoft.com/office/drawing/2014/main" val="1475888205"/>
                    </a:ext>
                  </a:extLst>
                </a:gridCol>
                <a:gridCol w="2835429">
                  <a:extLst>
                    <a:ext uri="{9D8B030D-6E8A-4147-A177-3AD203B41FA5}">
                      <a16:colId xmlns:a16="http://schemas.microsoft.com/office/drawing/2014/main" val="2801792198"/>
                    </a:ext>
                  </a:extLst>
                </a:gridCol>
              </a:tblGrid>
              <a:tr h="324599">
                <a:tc>
                  <a:txBody>
                    <a:bodyPr/>
                    <a:lstStyle/>
                    <a:p>
                      <a:r>
                        <a:rPr lang="en-US" sz="1200" dirty="0"/>
                        <a:t>Cycle #</a:t>
                      </a:r>
                    </a:p>
                  </a:txBody>
                  <a:tcPr/>
                </a:tc>
                <a:tc>
                  <a:txBody>
                    <a:bodyPr/>
                    <a:lstStyle/>
                    <a:p>
                      <a:r>
                        <a:rPr lang="en-US" sz="1200" dirty="0"/>
                        <a:t>Instruction</a:t>
                      </a:r>
                    </a:p>
                  </a:txBody>
                  <a:tcPr/>
                </a:tc>
                <a:tc>
                  <a:txBody>
                    <a:bodyPr/>
                    <a:lstStyle/>
                    <a:p>
                      <a:r>
                        <a:rPr lang="en-US" sz="1200"/>
                        <a:t>Explanation</a:t>
                      </a:r>
                    </a:p>
                  </a:txBody>
                  <a:tcPr/>
                </a:tc>
                <a:extLst>
                  <a:ext uri="{0D108BD9-81ED-4DB2-BD59-A6C34878D82A}">
                    <a16:rowId xmlns:a16="http://schemas.microsoft.com/office/drawing/2014/main" val="2319756336"/>
                  </a:ext>
                </a:extLst>
              </a:tr>
              <a:tr h="579120">
                <a:tc>
                  <a:txBody>
                    <a:bodyPr/>
                    <a:lstStyle/>
                    <a:p>
                      <a:pPr algn="ctr"/>
                      <a:r>
                        <a:rPr lang="en-US" sz="1200"/>
                        <a:t>0</a:t>
                      </a:r>
                    </a:p>
                  </a:txBody>
                  <a:tcPr/>
                </a:tc>
                <a:tc>
                  <a:txBody>
                    <a:bodyPr/>
                    <a:lstStyle/>
                    <a:p>
                      <a:pPr algn="l"/>
                      <a:r>
                        <a:rPr lang="en-US" sz="1200" dirty="0"/>
                        <a:t>0x02_00_40</a:t>
                      </a:r>
                    </a:p>
                  </a:txBody>
                  <a:tcPr/>
                </a:tc>
                <a:tc>
                  <a:txBody>
                    <a:bodyPr/>
                    <a:lstStyle/>
                    <a:p>
                      <a:pPr algn="l"/>
                      <a:r>
                        <a:rPr lang="en-US" sz="1200" dirty="0"/>
                        <a:t>Write Imm to the Data Bus and set ARDest[L/H] to read from the Data Bus.</a:t>
                      </a:r>
                    </a:p>
                  </a:txBody>
                  <a:tcPr/>
                </a:tc>
                <a:extLst>
                  <a:ext uri="{0D108BD9-81ED-4DB2-BD59-A6C34878D82A}">
                    <a16:rowId xmlns:a16="http://schemas.microsoft.com/office/drawing/2014/main" val="2570910443"/>
                  </a:ext>
                </a:extLst>
              </a:tr>
              <a:tr h="579120">
                <a:tc>
                  <a:txBody>
                    <a:bodyPr/>
                    <a:lstStyle/>
                    <a:p>
                      <a:pPr algn="ctr"/>
                      <a:r>
                        <a:rPr lang="en-US" sz="12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0x00_00_80</a:t>
                      </a:r>
                    </a:p>
                  </a:txBody>
                  <a:tcPr/>
                </a:tc>
                <a:tc>
                  <a:txBody>
                    <a:bodyPr/>
                    <a:lstStyle/>
                    <a:p>
                      <a:pPr algn="l"/>
                      <a:r>
                        <a:rPr lang="en-US" sz="1200" dirty="0"/>
                        <a:t>Advance PC.</a:t>
                      </a:r>
                    </a:p>
                  </a:txBody>
                  <a:tcPr/>
                </a:tc>
                <a:extLst>
                  <a:ext uri="{0D108BD9-81ED-4DB2-BD59-A6C34878D82A}">
                    <a16:rowId xmlns:a16="http://schemas.microsoft.com/office/drawing/2014/main" val="631651838"/>
                  </a:ext>
                </a:extLst>
              </a:tr>
            </a:tbl>
          </a:graphicData>
        </a:graphic>
      </p:graphicFrame>
      <p:pic>
        <p:nvPicPr>
          <p:cNvPr id="2" name="Picture 1">
            <a:hlinkClick r:id="rId3" action="ppaction://hlinksldjump"/>
            <a:extLst>
              <a:ext uri="{FF2B5EF4-FFF2-40B4-BE49-F238E27FC236}">
                <a16:creationId xmlns:a16="http://schemas.microsoft.com/office/drawing/2014/main" id="{687E9B2D-8A0F-50DC-0C1B-3E772D4758EA}"/>
              </a:ext>
            </a:extLst>
          </p:cNvPr>
          <p:cNvPicPr>
            <a:picLocks noChangeAspect="1"/>
          </p:cNvPicPr>
          <p:nvPr/>
        </p:nvPicPr>
        <p:blipFill>
          <a:blip r:embed="rId4"/>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8FC7EA34-A969-719C-33B8-81EB872CFCC3}"/>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67</a:t>
            </a:fld>
            <a:endParaRPr lang="en-US" b="1">
              <a:solidFill>
                <a:schemeClr val="bg1"/>
              </a:solidFill>
            </a:endParaRPr>
          </a:p>
        </p:txBody>
      </p:sp>
      <p:graphicFrame>
        <p:nvGraphicFramePr>
          <p:cNvPr id="3" name="Table 4">
            <a:extLst>
              <a:ext uri="{FF2B5EF4-FFF2-40B4-BE49-F238E27FC236}">
                <a16:creationId xmlns:a16="http://schemas.microsoft.com/office/drawing/2014/main" id="{5F8237CB-0D1C-2B0F-C823-BF0D3157BC07}"/>
              </a:ext>
            </a:extLst>
          </p:cNvPr>
          <p:cNvGraphicFramePr>
            <a:graphicFrameLocks noGrp="1"/>
          </p:cNvGraphicFramePr>
          <p:nvPr>
            <p:extLst>
              <p:ext uri="{D42A27DB-BD31-4B8C-83A1-F6EECF244321}">
                <p14:modId xmlns:p14="http://schemas.microsoft.com/office/powerpoint/2010/main" val="282643380"/>
              </p:ext>
            </p:extLst>
          </p:nvPr>
        </p:nvGraphicFramePr>
        <p:xfrm>
          <a:off x="179752" y="5818357"/>
          <a:ext cx="10583501" cy="594360"/>
        </p:xfrm>
        <a:graphic>
          <a:graphicData uri="http://schemas.openxmlformats.org/drawingml/2006/table">
            <a:tbl>
              <a:tblPr firstRow="1" bandRow="1">
                <a:tableStyleId>{5C22544A-7EE6-4342-B048-85BDC9FD1C3A}</a:tableStyleId>
              </a:tblPr>
              <a:tblGrid>
                <a:gridCol w="998667">
                  <a:extLst>
                    <a:ext uri="{9D8B030D-6E8A-4147-A177-3AD203B41FA5}">
                      <a16:colId xmlns:a16="http://schemas.microsoft.com/office/drawing/2014/main" val="1810408170"/>
                    </a:ext>
                  </a:extLst>
                </a:gridCol>
                <a:gridCol w="970585">
                  <a:extLst>
                    <a:ext uri="{9D8B030D-6E8A-4147-A177-3AD203B41FA5}">
                      <a16:colId xmlns:a16="http://schemas.microsoft.com/office/drawing/2014/main" val="950391025"/>
                    </a:ext>
                  </a:extLst>
                </a:gridCol>
                <a:gridCol w="882484">
                  <a:extLst>
                    <a:ext uri="{9D8B030D-6E8A-4147-A177-3AD203B41FA5}">
                      <a16:colId xmlns:a16="http://schemas.microsoft.com/office/drawing/2014/main" val="1217920130"/>
                    </a:ext>
                  </a:extLst>
                </a:gridCol>
                <a:gridCol w="1402159">
                  <a:extLst>
                    <a:ext uri="{9D8B030D-6E8A-4147-A177-3AD203B41FA5}">
                      <a16:colId xmlns:a16="http://schemas.microsoft.com/office/drawing/2014/main" val="1475888205"/>
                    </a:ext>
                  </a:extLst>
                </a:gridCol>
                <a:gridCol w="1609969">
                  <a:extLst>
                    <a:ext uri="{9D8B030D-6E8A-4147-A177-3AD203B41FA5}">
                      <a16:colId xmlns:a16="http://schemas.microsoft.com/office/drawing/2014/main" val="1355185516"/>
                    </a:ext>
                  </a:extLst>
                </a:gridCol>
                <a:gridCol w="1304925">
                  <a:extLst>
                    <a:ext uri="{9D8B030D-6E8A-4147-A177-3AD203B41FA5}">
                      <a16:colId xmlns:a16="http://schemas.microsoft.com/office/drawing/2014/main" val="1039846299"/>
                    </a:ext>
                  </a:extLst>
                </a:gridCol>
                <a:gridCol w="3414712">
                  <a:extLst>
                    <a:ext uri="{9D8B030D-6E8A-4147-A177-3AD203B41FA5}">
                      <a16:colId xmlns:a16="http://schemas.microsoft.com/office/drawing/2014/main" val="3099546510"/>
                    </a:ext>
                  </a:extLst>
                </a:gridCol>
              </a:tblGrid>
              <a:tr h="297180">
                <a:tc>
                  <a:txBody>
                    <a:bodyPr/>
                    <a:lstStyle/>
                    <a:p>
                      <a:r>
                        <a:rPr lang="en-US" sz="1300" dirty="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dirty="0"/>
                        <a:t>LDA</a:t>
                      </a:r>
                    </a:p>
                  </a:txBody>
                  <a:tcPr>
                    <a:solidFill>
                      <a:schemeClr val="accent6"/>
                    </a:solidFill>
                  </a:tcPr>
                </a:tc>
                <a:tc gridSpan="3">
                  <a:txBody>
                    <a:bodyPr/>
                    <a:lstStyle/>
                    <a:p>
                      <a:pPr algn="ctr"/>
                      <a:r>
                        <a:rPr lang="en-US" sz="1300" dirty="0"/>
                        <a:t>Immediate (8-bit)</a:t>
                      </a:r>
                    </a:p>
                  </a:txBody>
                  <a:tcPr/>
                </a:tc>
                <a:tc hMerge="1">
                  <a:txBody>
                    <a:bodyPr/>
                    <a:lstStyle/>
                    <a:p>
                      <a:pPr algn="ctr"/>
                      <a:endParaRPr lang="en-US"/>
                    </a:p>
                  </a:txBody>
                  <a:tcPr/>
                </a:tc>
                <a:tc hMerge="1">
                  <a:txBody>
                    <a:bodyPr/>
                    <a:lstStyle/>
                    <a:p>
                      <a:pPr algn="ctr"/>
                      <a:endParaRPr lang="en-US" sz="1300" dirty="0"/>
                    </a:p>
                  </a:txBody>
                  <a:tcPr/>
                </a:tc>
                <a:tc>
                  <a:txBody>
                    <a:bodyPr/>
                    <a:lstStyle/>
                    <a:p>
                      <a:pPr algn="ctr"/>
                      <a:r>
                        <a:rPr lang="en-US" sz="1300" dirty="0"/>
                        <a:t>ARDest</a:t>
                      </a:r>
                    </a:p>
                  </a:txBody>
                  <a:tcPr/>
                </a:tc>
                <a:tc>
                  <a:txBody>
                    <a:bodyPr/>
                    <a:lstStyle/>
                    <a:p>
                      <a:pPr algn="ctr"/>
                      <a:r>
                        <a:rPr lang="en-US" sz="1300" dirty="0"/>
                        <a:t>(AR) L/H</a:t>
                      </a:r>
                    </a:p>
                  </a:txBody>
                  <a:tcPr/>
                </a:tc>
                <a:tc>
                  <a:txBody>
                    <a:bodyPr/>
                    <a:lstStyle/>
                    <a:p>
                      <a:pPr algn="ctr"/>
                      <a:r>
                        <a:rPr lang="en-US" sz="1300" dirty="0" err="1"/>
                        <a:t>OpCode</a:t>
                      </a:r>
                      <a:r>
                        <a:rPr lang="en-US" sz="1300" dirty="0"/>
                        <a:t>=1b</a:t>
                      </a:r>
                    </a:p>
                  </a:txBody>
                  <a:tcPr/>
                </a:tc>
                <a:extLst>
                  <a:ext uri="{0D108BD9-81ED-4DB2-BD59-A6C34878D82A}">
                    <a16:rowId xmlns:a16="http://schemas.microsoft.com/office/drawing/2014/main" val="2570910443"/>
                  </a:ext>
                </a:extLst>
              </a:tr>
            </a:tbl>
          </a:graphicData>
        </a:graphic>
      </p:graphicFrame>
      <p:sp>
        <p:nvSpPr>
          <p:cNvPr id="4" name="TextBox 3">
            <a:extLst>
              <a:ext uri="{FF2B5EF4-FFF2-40B4-BE49-F238E27FC236}">
                <a16:creationId xmlns:a16="http://schemas.microsoft.com/office/drawing/2014/main" id="{CE7F5FEF-769C-C3C3-C0A6-5370D3EDDCA5}"/>
              </a:ext>
            </a:extLst>
          </p:cNvPr>
          <p:cNvSpPr txBox="1"/>
          <p:nvPr/>
        </p:nvSpPr>
        <p:spPr>
          <a:xfrm>
            <a:off x="10966456" y="2"/>
            <a:ext cx="1261884" cy="1323439"/>
          </a:xfrm>
          <a:prstGeom prst="rect">
            <a:avLst/>
          </a:prstGeom>
          <a:noFill/>
        </p:spPr>
        <p:txBody>
          <a:bodyPr wrap="none" rtlCol="0">
            <a:spAutoFit/>
          </a:bodyPr>
          <a:lstStyle/>
          <a:p>
            <a:r>
              <a:rPr lang="en-US" sz="8000" dirty="0">
                <a:solidFill>
                  <a:schemeClr val="accent1">
                    <a:lumMod val="60000"/>
                    <a:lumOff val="40000"/>
                  </a:schemeClr>
                </a:solidFill>
              </a:rPr>
              <a:t>1B</a:t>
            </a:r>
          </a:p>
        </p:txBody>
      </p:sp>
      <p:sp>
        <p:nvSpPr>
          <p:cNvPr id="6" name="TextBox 5">
            <a:extLst>
              <a:ext uri="{FF2B5EF4-FFF2-40B4-BE49-F238E27FC236}">
                <a16:creationId xmlns:a16="http://schemas.microsoft.com/office/drawing/2014/main" id="{FBC03475-04A4-D618-6A14-D02507E63D3C}"/>
              </a:ext>
            </a:extLst>
          </p:cNvPr>
          <p:cNvSpPr txBox="1"/>
          <p:nvPr/>
        </p:nvSpPr>
        <p:spPr>
          <a:xfrm>
            <a:off x="4876837" y="4916582"/>
            <a:ext cx="3536546"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LDA %BP[L], #0x05</a:t>
            </a:r>
          </a:p>
        </p:txBody>
      </p:sp>
      <p:sp>
        <p:nvSpPr>
          <p:cNvPr id="7" name="TextBox 6">
            <a:extLst>
              <a:ext uri="{FF2B5EF4-FFF2-40B4-BE49-F238E27FC236}">
                <a16:creationId xmlns:a16="http://schemas.microsoft.com/office/drawing/2014/main" id="{E88F1E57-C78B-7BDE-BCF9-1B780DCF0677}"/>
              </a:ext>
            </a:extLst>
          </p:cNvPr>
          <p:cNvSpPr txBox="1"/>
          <p:nvPr/>
        </p:nvSpPr>
        <p:spPr>
          <a:xfrm>
            <a:off x="4876837" y="4495763"/>
            <a:ext cx="3536546"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ARDest[L/H] = Imm</a:t>
            </a:r>
          </a:p>
        </p:txBody>
      </p:sp>
      <p:sp>
        <p:nvSpPr>
          <p:cNvPr id="8" name="TextBox 7">
            <a:extLst>
              <a:ext uri="{FF2B5EF4-FFF2-40B4-BE49-F238E27FC236}">
                <a16:creationId xmlns:a16="http://schemas.microsoft.com/office/drawing/2014/main" id="{541D2061-23FE-1942-00B5-8D6ACD75F6F7}"/>
              </a:ext>
            </a:extLst>
          </p:cNvPr>
          <p:cNvSpPr txBox="1"/>
          <p:nvPr/>
        </p:nvSpPr>
        <p:spPr>
          <a:xfrm>
            <a:off x="4413302" y="6373149"/>
            <a:ext cx="1541633" cy="276999"/>
          </a:xfrm>
          <a:prstGeom prst="rect">
            <a:avLst/>
          </a:prstGeom>
          <a:noFill/>
        </p:spPr>
        <p:txBody>
          <a:bodyPr wrap="square" rtlCol="0">
            <a:spAutoFit/>
          </a:bodyPr>
          <a:lstStyle/>
          <a:p>
            <a:r>
              <a:rPr lang="en-US" sz="1200" dirty="0"/>
              <a:t>0-PC, 1-DP, 2-SP, 3-BP</a:t>
            </a:r>
          </a:p>
        </p:txBody>
      </p:sp>
      <p:graphicFrame>
        <p:nvGraphicFramePr>
          <p:cNvPr id="9" name="Table 4">
            <a:extLst>
              <a:ext uri="{FF2B5EF4-FFF2-40B4-BE49-F238E27FC236}">
                <a16:creationId xmlns:a16="http://schemas.microsoft.com/office/drawing/2014/main" id="{E3E0A1C4-C6E5-F158-B69A-7723C6BA64B8}"/>
              </a:ext>
            </a:extLst>
          </p:cNvPr>
          <p:cNvGraphicFramePr>
            <a:graphicFrameLocks noGrp="1"/>
          </p:cNvGraphicFramePr>
          <p:nvPr>
            <p:extLst>
              <p:ext uri="{D42A27DB-BD31-4B8C-83A1-F6EECF244321}">
                <p14:modId xmlns:p14="http://schemas.microsoft.com/office/powerpoint/2010/main" val="672536172"/>
              </p:ext>
            </p:extLst>
          </p:nvPr>
        </p:nvGraphicFramePr>
        <p:xfrm>
          <a:off x="179752" y="742463"/>
          <a:ext cx="4329725" cy="5004175"/>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00345">
                <a:tc>
                  <a:txBody>
                    <a:bodyPr/>
                    <a:lstStyle/>
                    <a:p>
                      <a:pPr>
                        <a:lnSpc>
                          <a:spcPct val="100000"/>
                        </a:lnSpc>
                      </a:pPr>
                      <a:r>
                        <a:rPr lang="en-US" sz="700"/>
                        <a:t>Bit</a:t>
                      </a:r>
                    </a:p>
                  </a:txBody>
                  <a:tcPr anchor="ctr"/>
                </a:tc>
                <a:tc>
                  <a:txBody>
                    <a:bodyPr/>
                    <a:lstStyle/>
                    <a:p>
                      <a:pPr>
                        <a:lnSpc>
                          <a:spcPct val="100000"/>
                        </a:lnSpc>
                      </a:pPr>
                      <a:r>
                        <a:rPr lang="en-US" sz="700" dirty="0"/>
                        <a:t>Operation</a:t>
                      </a:r>
                    </a:p>
                  </a:txBody>
                  <a:tcPr anchor="ctr"/>
                </a:tc>
                <a:extLst>
                  <a:ext uri="{0D108BD9-81ED-4DB2-BD59-A6C34878D82A}">
                    <a16:rowId xmlns:a16="http://schemas.microsoft.com/office/drawing/2014/main" val="2319756336"/>
                  </a:ext>
                </a:extLst>
              </a:tr>
              <a:tr h="200345">
                <a:tc>
                  <a:txBody>
                    <a:bodyPr/>
                    <a:lstStyle/>
                    <a:p>
                      <a:pPr algn="ctr">
                        <a:lnSpc>
                          <a:spcPct val="100000"/>
                        </a:lnSpc>
                      </a:pPr>
                      <a:r>
                        <a:rPr lang="en-US" sz="700" dirty="0"/>
                        <a:t>23</a:t>
                      </a:r>
                    </a:p>
                  </a:txBody>
                  <a:tcPr anchor="ctr"/>
                </a:tc>
                <a:tc>
                  <a:txBody>
                    <a:bodyPr/>
                    <a:lstStyle/>
                    <a:p>
                      <a:pPr algn="l">
                        <a:lnSpc>
                          <a:spcPct val="100000"/>
                        </a:lnSpc>
                      </a:pPr>
                      <a:r>
                        <a:rPr lang="en-US" sz="700" dirty="0"/>
                        <a:t>Not Used</a:t>
                      </a:r>
                    </a:p>
                  </a:txBody>
                  <a:tcPr anchor="ctr"/>
                </a:tc>
                <a:extLst>
                  <a:ext uri="{0D108BD9-81ED-4DB2-BD59-A6C34878D82A}">
                    <a16:rowId xmlns:a16="http://schemas.microsoft.com/office/drawing/2014/main" val="3576468534"/>
                  </a:ext>
                </a:extLst>
              </a:tr>
              <a:tr h="200345">
                <a:tc>
                  <a:txBody>
                    <a:bodyPr/>
                    <a:lstStyle/>
                    <a:p>
                      <a:pPr algn="ctr">
                        <a:lnSpc>
                          <a:spcPct val="100000"/>
                        </a:lnSpc>
                      </a:pPr>
                      <a:r>
                        <a:rPr lang="en-US" sz="700" dirty="0"/>
                        <a:t>22</a:t>
                      </a:r>
                    </a:p>
                  </a:txBody>
                  <a:tcPr anchor="ctr"/>
                </a:tc>
                <a:tc>
                  <a:txBody>
                    <a:bodyPr/>
                    <a:lstStyle/>
                    <a:p>
                      <a:pPr algn="l">
                        <a:lnSpc>
                          <a:spcPct val="100000"/>
                        </a:lnSpc>
                      </a:pPr>
                      <a:r>
                        <a:rPr lang="en-US" sz="700" dirty="0" err="1"/>
                        <a:t>AddressHorL</a:t>
                      </a:r>
                      <a:endParaRPr lang="en-US" sz="700" dirty="0"/>
                    </a:p>
                  </a:txBody>
                  <a:tcPr anchor="ctr"/>
                </a:tc>
                <a:extLst>
                  <a:ext uri="{0D108BD9-81ED-4DB2-BD59-A6C34878D82A}">
                    <a16:rowId xmlns:a16="http://schemas.microsoft.com/office/drawing/2014/main" val="79971578"/>
                  </a:ext>
                </a:extLst>
              </a:tr>
              <a:tr h="200345">
                <a:tc>
                  <a:txBody>
                    <a:bodyPr/>
                    <a:lstStyle/>
                    <a:p>
                      <a:pPr algn="ctr">
                        <a:lnSpc>
                          <a:spcPct val="100000"/>
                        </a:lnSpc>
                      </a:pPr>
                      <a:r>
                        <a:rPr lang="en-US" sz="700" dirty="0"/>
                        <a:t>21</a:t>
                      </a:r>
                    </a:p>
                  </a:txBody>
                  <a:tcPr anchor="ctr"/>
                </a:tc>
                <a:tc>
                  <a:txBody>
                    <a:bodyPr/>
                    <a:lstStyle/>
                    <a:p>
                      <a:pPr algn="l">
                        <a:lnSpc>
                          <a:spcPct val="100000"/>
                        </a:lnSpc>
                      </a:pPr>
                      <a:r>
                        <a:rPr lang="en-US" sz="700" dirty="0" err="1"/>
                        <a:t>AddressBusToDataBus</a:t>
                      </a:r>
                      <a:endParaRPr lang="en-US" sz="700" dirty="0"/>
                    </a:p>
                  </a:txBody>
                  <a:tcPr anchor="ctr"/>
                </a:tc>
                <a:extLst>
                  <a:ext uri="{0D108BD9-81ED-4DB2-BD59-A6C34878D82A}">
                    <a16:rowId xmlns:a16="http://schemas.microsoft.com/office/drawing/2014/main" val="4135939119"/>
                  </a:ext>
                </a:extLst>
              </a:tr>
              <a:tr h="200345">
                <a:tc>
                  <a:txBody>
                    <a:bodyPr/>
                    <a:lstStyle/>
                    <a:p>
                      <a:pPr algn="ctr">
                        <a:lnSpc>
                          <a:spcPct val="100000"/>
                        </a:lnSpc>
                      </a:pPr>
                      <a:r>
                        <a:rPr lang="en-US" sz="700" dirty="0"/>
                        <a:t>20</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err="1"/>
                        <a:t>TmpARWrite</a:t>
                      </a:r>
                      <a:endParaRPr lang="en-US" sz="700"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9580944"/>
                  </a:ext>
                </a:extLst>
              </a:tr>
              <a:tr h="200345">
                <a:tc>
                  <a:txBody>
                    <a:bodyPr/>
                    <a:lstStyle/>
                    <a:p>
                      <a:pPr algn="ctr">
                        <a:lnSpc>
                          <a:spcPct val="100000"/>
                        </a:lnSpc>
                      </a:pPr>
                      <a:r>
                        <a:rPr lang="en-US" sz="700" dirty="0"/>
                        <a:t>19</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err="1"/>
                        <a:t>TmpARRead</a:t>
                      </a:r>
                      <a:endParaRPr lang="en-US" sz="700"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35159618"/>
                  </a:ext>
                </a:extLst>
              </a:tr>
              <a:tr h="200345">
                <a:tc>
                  <a:txBody>
                    <a:bodyPr/>
                    <a:lstStyle/>
                    <a:p>
                      <a:pPr algn="ctr">
                        <a:lnSpc>
                          <a:spcPct val="100000"/>
                        </a:lnSpc>
                      </a:pPr>
                      <a:r>
                        <a:rPr lang="en-US" sz="700" dirty="0"/>
                        <a:t>18</a:t>
                      </a:r>
                    </a:p>
                  </a:txBody>
                  <a:tcPr anchor="ctr"/>
                </a:tc>
                <a:tc>
                  <a:txBody>
                    <a:bodyPr/>
                    <a:lstStyle/>
                    <a:p>
                      <a:pPr algn="l">
                        <a:lnSpc>
                          <a:spcPct val="100000"/>
                        </a:lnSpc>
                      </a:pPr>
                      <a:r>
                        <a:rPr lang="en-US" sz="700" dirty="0" err="1"/>
                        <a:t>loadARHorL</a:t>
                      </a:r>
                      <a:endParaRPr lang="en-US" sz="700" dirty="0"/>
                    </a:p>
                  </a:txBody>
                  <a:tcPr anchor="ctr"/>
                </a:tc>
                <a:extLst>
                  <a:ext uri="{0D108BD9-81ED-4DB2-BD59-A6C34878D82A}">
                    <a16:rowId xmlns:a16="http://schemas.microsoft.com/office/drawing/2014/main" val="2357817394"/>
                  </a:ext>
                </a:extLst>
              </a:tr>
              <a:tr h="200345">
                <a:tc>
                  <a:txBody>
                    <a:bodyPr/>
                    <a:lstStyle/>
                    <a:p>
                      <a:pPr algn="ctr">
                        <a:lnSpc>
                          <a:spcPct val="100000"/>
                        </a:lnSpc>
                      </a:pPr>
                      <a:r>
                        <a:rPr lang="en-US" sz="700"/>
                        <a:t>17</a:t>
                      </a:r>
                    </a:p>
                  </a:txBody>
                  <a:tcPr anchor="ctr"/>
                </a:tc>
                <a:tc>
                  <a:txBody>
                    <a:bodyPr/>
                    <a:lstStyle/>
                    <a:p>
                      <a:pPr algn="l">
                        <a:lnSpc>
                          <a:spcPct val="100000"/>
                        </a:lnSpc>
                      </a:pPr>
                      <a:r>
                        <a:rPr lang="en-US" sz="700" dirty="0" err="1"/>
                        <a:t>loadAR</a:t>
                      </a:r>
                      <a:r>
                        <a:rPr lang="en-US" sz="700" dirty="0"/>
                        <a:t> (formerly: Load Special Pointer)</a:t>
                      </a:r>
                    </a:p>
                  </a:txBody>
                  <a:tcPr anchor="ctr"/>
                </a:tc>
                <a:extLst>
                  <a:ext uri="{0D108BD9-81ED-4DB2-BD59-A6C34878D82A}">
                    <a16:rowId xmlns:a16="http://schemas.microsoft.com/office/drawing/2014/main" val="2759210480"/>
                  </a:ext>
                </a:extLst>
              </a:tr>
              <a:tr h="200345">
                <a:tc>
                  <a:txBody>
                    <a:bodyPr/>
                    <a:lstStyle/>
                    <a:p>
                      <a:pPr algn="ctr">
                        <a:lnSpc>
                          <a:spcPct val="100000"/>
                        </a:lnSpc>
                      </a:pPr>
                      <a:r>
                        <a:rPr lang="en-US" sz="700" dirty="0"/>
                        <a:t>16</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Stack Pointer Increment / Decrement (0: decrease / 1: increase)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6363256"/>
                  </a:ext>
                </a:extLst>
              </a:tr>
              <a:tr h="200345">
                <a:tc>
                  <a:txBody>
                    <a:bodyPr/>
                    <a:lstStyle/>
                    <a:p>
                      <a:pPr algn="ctr">
                        <a:lnSpc>
                          <a:spcPct val="100000"/>
                        </a:lnSpc>
                      </a:pPr>
                      <a:r>
                        <a:rPr lang="en-US" sz="700"/>
                        <a:t>15</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Stack Pointer Count</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49660566"/>
                  </a:ext>
                </a:extLst>
              </a:tr>
              <a:tr h="200345">
                <a:tc>
                  <a:txBody>
                    <a:bodyPr/>
                    <a:lstStyle/>
                    <a:p>
                      <a:pPr algn="ctr">
                        <a:lnSpc>
                          <a:spcPct val="100000"/>
                        </a:lnSpc>
                      </a:pPr>
                      <a:r>
                        <a:rPr lang="en-US" sz="700"/>
                        <a:t>14</a:t>
                      </a:r>
                    </a:p>
                  </a:txBody>
                  <a:tcPr anchor="ctr"/>
                </a:tc>
                <a:tc>
                  <a:txBody>
                    <a:bodyPr/>
                    <a:lstStyle/>
                    <a:p>
                      <a:pPr algn="l">
                        <a:lnSpc>
                          <a:spcPct val="100000"/>
                        </a:lnSpc>
                      </a:pPr>
                      <a:r>
                        <a:rPr lang="en-US" sz="700" dirty="0"/>
                        <a:t>SP Out (formerly: RAM Address Select (0: Address register / 1: Stack pointer))</a:t>
                      </a:r>
                    </a:p>
                  </a:txBody>
                  <a:tcPr anchor="ctr"/>
                </a:tc>
                <a:extLst>
                  <a:ext uri="{0D108BD9-81ED-4DB2-BD59-A6C34878D82A}">
                    <a16:rowId xmlns:a16="http://schemas.microsoft.com/office/drawing/2014/main" val="645489424"/>
                  </a:ext>
                </a:extLst>
              </a:tr>
              <a:tr h="200345">
                <a:tc>
                  <a:txBody>
                    <a:bodyPr/>
                    <a:lstStyle/>
                    <a:p>
                      <a:pPr algn="ctr">
                        <a:lnSpc>
                          <a:spcPct val="100000"/>
                        </a:lnSpc>
                      </a:pPr>
                      <a:r>
                        <a:rPr lang="en-US" sz="700"/>
                        <a:t>13</a:t>
                      </a:r>
                    </a:p>
                  </a:txBody>
                  <a:tcPr anchor="ctr"/>
                </a:tc>
                <a:tc>
                  <a:txBody>
                    <a:bodyPr/>
                    <a:lstStyle/>
                    <a:p>
                      <a:pPr algn="l">
                        <a:lnSpc>
                          <a:spcPct val="100000"/>
                        </a:lnSpc>
                      </a:pPr>
                      <a:r>
                        <a:rPr lang="en-US" sz="700"/>
                        <a:t>Use Rd as Source</a:t>
                      </a:r>
                    </a:p>
                  </a:txBody>
                  <a:tcPr anchor="ctr"/>
                </a:tc>
                <a:extLst>
                  <a:ext uri="{0D108BD9-81ED-4DB2-BD59-A6C34878D82A}">
                    <a16:rowId xmlns:a16="http://schemas.microsoft.com/office/drawing/2014/main" val="2745442092"/>
                  </a:ext>
                </a:extLst>
              </a:tr>
              <a:tr h="200345">
                <a:tc>
                  <a:txBody>
                    <a:bodyPr/>
                    <a:lstStyle/>
                    <a:p>
                      <a:pPr algn="ctr">
                        <a:lnSpc>
                          <a:spcPct val="100000"/>
                        </a:lnSpc>
                      </a:pPr>
                      <a:r>
                        <a:rPr lang="en-US" sz="700" dirty="0"/>
                        <a:t>12</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Lower Address Register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762316"/>
                  </a:ext>
                </a:extLst>
              </a:tr>
              <a:tr h="200345">
                <a:tc>
                  <a:txBody>
                    <a:bodyPr/>
                    <a:lstStyle/>
                    <a:p>
                      <a:pPr algn="ctr">
                        <a:lnSpc>
                          <a:spcPct val="100000"/>
                        </a:lnSpc>
                      </a:pPr>
                      <a:r>
                        <a:rPr lang="en-US" sz="700"/>
                        <a:t>11</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Mem Write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66008767"/>
                  </a:ext>
                </a:extLst>
              </a:tr>
              <a:tr h="200345">
                <a:tc>
                  <a:txBody>
                    <a:bodyPr/>
                    <a:lstStyle/>
                    <a:p>
                      <a:pPr algn="ctr">
                        <a:lnSpc>
                          <a:spcPct val="100000"/>
                        </a:lnSpc>
                      </a:pPr>
                      <a:r>
                        <a:rPr lang="en-US" sz="700"/>
                        <a:t>10</a:t>
                      </a:r>
                    </a:p>
                  </a:txBody>
                  <a:tcPr anchor="ctr"/>
                </a:tc>
                <a:tc>
                  <a:txBody>
                    <a:bodyPr/>
                    <a:lstStyle/>
                    <a:p>
                      <a:pPr algn="l">
                        <a:lnSpc>
                          <a:spcPct val="100000"/>
                        </a:lnSpc>
                      </a:pPr>
                      <a:r>
                        <a:rPr lang="en-US" sz="700"/>
                        <a:t>Mem Read</a:t>
                      </a:r>
                    </a:p>
                  </a:txBody>
                  <a:tcPr anchor="ctr"/>
                </a:tc>
                <a:extLst>
                  <a:ext uri="{0D108BD9-81ED-4DB2-BD59-A6C34878D82A}">
                    <a16:rowId xmlns:a16="http://schemas.microsoft.com/office/drawing/2014/main" val="707415226"/>
                  </a:ext>
                </a:extLst>
              </a:tr>
              <a:tr h="200345">
                <a:tc>
                  <a:txBody>
                    <a:bodyPr/>
                    <a:lstStyle/>
                    <a:p>
                      <a:pPr algn="ctr">
                        <a:lnSpc>
                          <a:spcPct val="100000"/>
                        </a:lnSpc>
                      </a:pPr>
                      <a:r>
                        <a:rPr lang="en-US" sz="700"/>
                        <a:t>9</a:t>
                      </a:r>
                    </a:p>
                  </a:txBody>
                  <a:tcPr anchor="ctr"/>
                </a:tc>
                <a:tc>
                  <a:txBody>
                    <a:bodyPr/>
                    <a:lstStyle/>
                    <a:p>
                      <a:pPr algn="l">
                        <a:lnSpc>
                          <a:spcPct val="100000"/>
                        </a:lnSpc>
                      </a:pPr>
                      <a:r>
                        <a:rPr lang="en-US" sz="700"/>
                        <a:t>PC Out</a:t>
                      </a:r>
                    </a:p>
                  </a:txBody>
                  <a:tcPr anchor="ctr"/>
                </a:tc>
                <a:extLst>
                  <a:ext uri="{0D108BD9-81ED-4DB2-BD59-A6C34878D82A}">
                    <a16:rowId xmlns:a16="http://schemas.microsoft.com/office/drawing/2014/main" val="1663806429"/>
                  </a:ext>
                </a:extLst>
              </a:tr>
              <a:tr h="200345">
                <a:tc>
                  <a:txBody>
                    <a:bodyPr/>
                    <a:lstStyle/>
                    <a:p>
                      <a:pPr algn="ctr">
                        <a:lnSpc>
                          <a:spcPct val="100000"/>
                        </a:lnSpc>
                      </a:pPr>
                      <a:r>
                        <a:rPr lang="en-US" sz="700" dirty="0"/>
                        <a:t>8</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a:t>PC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27957"/>
                  </a:ext>
                </a:extLst>
              </a:tr>
              <a:tr h="200345">
                <a:tc>
                  <a:txBody>
                    <a:bodyPr/>
                    <a:lstStyle/>
                    <a:p>
                      <a:pPr algn="ctr">
                        <a:lnSpc>
                          <a:spcPct val="100000"/>
                        </a:lnSpc>
                      </a:pPr>
                      <a:r>
                        <a:rPr lang="en-US" sz="700"/>
                        <a:t>7</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PC advance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70910443"/>
                  </a:ext>
                </a:extLst>
              </a:tr>
              <a:tr h="200345">
                <a:tc>
                  <a:txBody>
                    <a:bodyPr/>
                    <a:lstStyle/>
                    <a:p>
                      <a:pPr algn="ctr">
                        <a:lnSpc>
                          <a:spcPct val="100000"/>
                        </a:lnSpc>
                      </a:pPr>
                      <a:r>
                        <a:rPr lang="en-US" sz="700"/>
                        <a:t>6</a:t>
                      </a:r>
                    </a:p>
                  </a:txBody>
                  <a:tcPr anchor="ctr"/>
                </a:tc>
                <a:tc>
                  <a:txBody>
                    <a:bodyPr/>
                    <a:lstStyle/>
                    <a:p>
                      <a:pPr algn="l">
                        <a:lnSpc>
                          <a:spcPct val="100000"/>
                        </a:lnSpc>
                      </a:pPr>
                      <a:r>
                        <a:rPr lang="en-US" sz="700"/>
                        <a:t>Program Register H Write to Bus (parameter)</a:t>
                      </a:r>
                    </a:p>
                  </a:txBody>
                  <a:tcPr anchor="ctr"/>
                </a:tc>
                <a:extLst>
                  <a:ext uri="{0D108BD9-81ED-4DB2-BD59-A6C34878D82A}">
                    <a16:rowId xmlns:a16="http://schemas.microsoft.com/office/drawing/2014/main" val="631651838"/>
                  </a:ext>
                </a:extLst>
              </a:tr>
              <a:tr h="200345">
                <a:tc>
                  <a:txBody>
                    <a:bodyPr/>
                    <a:lstStyle/>
                    <a:p>
                      <a:pPr algn="ctr">
                        <a:lnSpc>
                          <a:spcPct val="100000"/>
                        </a:lnSpc>
                      </a:pPr>
                      <a:r>
                        <a:rPr lang="en-US" sz="700"/>
                        <a:t>5</a:t>
                      </a:r>
                    </a:p>
                  </a:txBody>
                  <a:tcPr anchor="ctr"/>
                </a:tc>
                <a:tc>
                  <a:txBody>
                    <a:bodyPr/>
                    <a:lstStyle/>
                    <a:p>
                      <a:pPr algn="l">
                        <a:lnSpc>
                          <a:spcPct val="100000"/>
                        </a:lnSpc>
                      </a:pPr>
                      <a:r>
                        <a:rPr lang="en-US" sz="700"/>
                        <a:t>Register File Input Enable</a:t>
                      </a:r>
                    </a:p>
                  </a:txBody>
                  <a:tcPr anchor="ctr"/>
                </a:tc>
                <a:extLst>
                  <a:ext uri="{0D108BD9-81ED-4DB2-BD59-A6C34878D82A}">
                    <a16:rowId xmlns:a16="http://schemas.microsoft.com/office/drawing/2014/main" val="1592812184"/>
                  </a:ext>
                </a:extLst>
              </a:tr>
              <a:tr h="200345">
                <a:tc>
                  <a:txBody>
                    <a:bodyPr/>
                    <a:lstStyle/>
                    <a:p>
                      <a:pPr algn="ctr">
                        <a:lnSpc>
                          <a:spcPct val="100000"/>
                        </a:lnSpc>
                      </a:pPr>
                      <a:r>
                        <a:rPr lang="en-US" sz="700" dirty="0"/>
                        <a:t>4</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Register File Output Enable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5793510"/>
                  </a:ext>
                </a:extLst>
              </a:tr>
              <a:tr h="200345">
                <a:tc>
                  <a:txBody>
                    <a:bodyPr/>
                    <a:lstStyle/>
                    <a:p>
                      <a:pPr algn="ctr">
                        <a:lnSpc>
                          <a:spcPct val="100000"/>
                        </a:lnSpc>
                      </a:pPr>
                      <a:r>
                        <a:rPr lang="en-US" sz="700"/>
                        <a:t>3</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Register File Output Select (parameter – 0 -&gt; Rs1, 1 -&gt; Rs2)</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46366285"/>
                  </a:ext>
                </a:extLst>
              </a:tr>
              <a:tr h="0">
                <a:tc>
                  <a:txBody>
                    <a:bodyPr/>
                    <a:lstStyle/>
                    <a:p>
                      <a:pPr algn="ctr">
                        <a:lnSpc>
                          <a:spcPct val="100000"/>
                        </a:lnSpc>
                      </a:pPr>
                      <a:r>
                        <a:rPr lang="en-US" sz="700"/>
                        <a:t>2</a:t>
                      </a:r>
                    </a:p>
                  </a:txBody>
                  <a:tcPr anchor="ctr"/>
                </a:tc>
                <a:tc>
                  <a:txBody>
                    <a:bodyPr/>
                    <a:lstStyle/>
                    <a:p>
                      <a:pPr algn="l">
                        <a:lnSpc>
                          <a:spcPct val="100000"/>
                        </a:lnSpc>
                      </a:pPr>
                      <a:r>
                        <a:rPr lang="en-US" sz="700" dirty="0"/>
                        <a:t>ALU output enable</a:t>
                      </a:r>
                    </a:p>
                  </a:txBody>
                  <a:tcPr anchor="ctr"/>
                </a:tc>
                <a:extLst>
                  <a:ext uri="{0D108BD9-81ED-4DB2-BD59-A6C34878D82A}">
                    <a16:rowId xmlns:a16="http://schemas.microsoft.com/office/drawing/2014/main" val="2615342211"/>
                  </a:ext>
                </a:extLst>
              </a:tr>
              <a:tr h="156274">
                <a:tc>
                  <a:txBody>
                    <a:bodyPr/>
                    <a:lstStyle/>
                    <a:p>
                      <a:pPr algn="ctr">
                        <a:lnSpc>
                          <a:spcPct val="100000"/>
                        </a:lnSpc>
                      </a:pPr>
                      <a:r>
                        <a:rPr lang="en-US" sz="700"/>
                        <a:t>1</a:t>
                      </a:r>
                    </a:p>
                  </a:txBody>
                  <a:tcPr anchor="ctr"/>
                </a:tc>
                <a:tc>
                  <a:txBody>
                    <a:bodyPr/>
                    <a:lstStyle/>
                    <a:p>
                      <a:pPr algn="l">
                        <a:lnSpc>
                          <a:spcPct val="100000"/>
                        </a:lnSpc>
                      </a:pPr>
                      <a:r>
                        <a:rPr lang="en-US" sz="700" dirty="0"/>
                        <a:t>ALU load register A</a:t>
                      </a:r>
                    </a:p>
                  </a:txBody>
                  <a:tcPr marT="0" anchor="ctr"/>
                </a:tc>
                <a:extLst>
                  <a:ext uri="{0D108BD9-81ED-4DB2-BD59-A6C34878D82A}">
                    <a16:rowId xmlns:a16="http://schemas.microsoft.com/office/drawing/2014/main" val="2055856817"/>
                  </a:ext>
                </a:extLst>
              </a:tr>
              <a:tr h="200345">
                <a:tc>
                  <a:txBody>
                    <a:bodyPr/>
                    <a:lstStyle/>
                    <a:p>
                      <a:pPr algn="ctr">
                        <a:lnSpc>
                          <a:spcPct val="100000"/>
                        </a:lnSpc>
                      </a:pPr>
                      <a:r>
                        <a:rPr lang="en-US" sz="700"/>
                        <a:t>0</a:t>
                      </a:r>
                    </a:p>
                  </a:txBody>
                  <a:tcPr anchor="ctr"/>
                </a:tc>
                <a:tc>
                  <a:txBody>
                    <a:bodyPr/>
                    <a:lstStyle/>
                    <a:p>
                      <a:pPr algn="l">
                        <a:lnSpc>
                          <a:spcPct val="100000"/>
                        </a:lnSpc>
                      </a:pPr>
                      <a:r>
                        <a:rPr lang="en-US" sz="700" dirty="0"/>
                        <a:t>ALU load register B</a:t>
                      </a:r>
                    </a:p>
                  </a:txBody>
                  <a:tcPr anchor="ct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4097590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EBD90-4766-B635-E162-46A4F0050CED}"/>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5A26D2AA-17A1-4C53-19B8-A16603D3EC4C}"/>
              </a:ext>
            </a:extLst>
          </p:cNvPr>
          <p:cNvSpPr>
            <a:spLocks noGrp="1"/>
          </p:cNvSpPr>
          <p:nvPr>
            <p:ph type="ctrTitle"/>
          </p:nvPr>
        </p:nvSpPr>
        <p:spPr>
          <a:xfrm>
            <a:off x="914399" y="182880"/>
            <a:ext cx="10052055" cy="457200"/>
          </a:xfrm>
        </p:spPr>
        <p:txBody>
          <a:bodyPr/>
          <a:lstStyle/>
          <a:p>
            <a:r>
              <a:rPr lang="en-US" dirty="0"/>
              <a:t>Micro-Instructions Control: Move General to Address register (MGA) (11100)</a:t>
            </a:r>
          </a:p>
        </p:txBody>
      </p:sp>
      <p:graphicFrame>
        <p:nvGraphicFramePr>
          <p:cNvPr id="5" name="Table 4">
            <a:extLst>
              <a:ext uri="{FF2B5EF4-FFF2-40B4-BE49-F238E27FC236}">
                <a16:creationId xmlns:a16="http://schemas.microsoft.com/office/drawing/2014/main" id="{FE695317-3722-A085-C2C4-6E9A6F60B34C}"/>
              </a:ext>
            </a:extLst>
          </p:cNvPr>
          <p:cNvGraphicFramePr>
            <a:graphicFrameLocks noGrp="1"/>
          </p:cNvGraphicFramePr>
          <p:nvPr>
            <p:extLst>
              <p:ext uri="{D42A27DB-BD31-4B8C-83A1-F6EECF244321}">
                <p14:modId xmlns:p14="http://schemas.microsoft.com/office/powerpoint/2010/main" val="3929668775"/>
              </p:ext>
            </p:extLst>
          </p:nvPr>
        </p:nvGraphicFramePr>
        <p:xfrm>
          <a:off x="4716581" y="742463"/>
          <a:ext cx="6249874" cy="1482839"/>
        </p:xfrm>
        <a:graphic>
          <a:graphicData uri="http://schemas.openxmlformats.org/drawingml/2006/table">
            <a:tbl>
              <a:tblPr firstRow="1" bandRow="1">
                <a:tableStyleId>{5C22544A-7EE6-4342-B048-85BDC9FD1C3A}</a:tableStyleId>
              </a:tblPr>
              <a:tblGrid>
                <a:gridCol w="948528">
                  <a:extLst>
                    <a:ext uri="{9D8B030D-6E8A-4147-A177-3AD203B41FA5}">
                      <a16:colId xmlns:a16="http://schemas.microsoft.com/office/drawing/2014/main" val="1217920130"/>
                    </a:ext>
                  </a:extLst>
                </a:gridCol>
                <a:gridCol w="2465917">
                  <a:extLst>
                    <a:ext uri="{9D8B030D-6E8A-4147-A177-3AD203B41FA5}">
                      <a16:colId xmlns:a16="http://schemas.microsoft.com/office/drawing/2014/main" val="1475888205"/>
                    </a:ext>
                  </a:extLst>
                </a:gridCol>
                <a:gridCol w="2835429">
                  <a:extLst>
                    <a:ext uri="{9D8B030D-6E8A-4147-A177-3AD203B41FA5}">
                      <a16:colId xmlns:a16="http://schemas.microsoft.com/office/drawing/2014/main" val="2801792198"/>
                    </a:ext>
                  </a:extLst>
                </a:gridCol>
              </a:tblGrid>
              <a:tr h="324599">
                <a:tc>
                  <a:txBody>
                    <a:bodyPr/>
                    <a:lstStyle/>
                    <a:p>
                      <a:r>
                        <a:rPr lang="en-US" sz="1200" dirty="0"/>
                        <a:t>Cycle #</a:t>
                      </a:r>
                    </a:p>
                  </a:txBody>
                  <a:tcPr/>
                </a:tc>
                <a:tc>
                  <a:txBody>
                    <a:bodyPr/>
                    <a:lstStyle/>
                    <a:p>
                      <a:r>
                        <a:rPr lang="en-US" sz="1200" dirty="0"/>
                        <a:t>Instruction</a:t>
                      </a:r>
                    </a:p>
                  </a:txBody>
                  <a:tcPr/>
                </a:tc>
                <a:tc>
                  <a:txBody>
                    <a:bodyPr/>
                    <a:lstStyle/>
                    <a:p>
                      <a:r>
                        <a:rPr lang="en-US" sz="1200"/>
                        <a:t>Explanation</a:t>
                      </a:r>
                    </a:p>
                  </a:txBody>
                  <a:tcPr/>
                </a:tc>
                <a:extLst>
                  <a:ext uri="{0D108BD9-81ED-4DB2-BD59-A6C34878D82A}">
                    <a16:rowId xmlns:a16="http://schemas.microsoft.com/office/drawing/2014/main" val="2319756336"/>
                  </a:ext>
                </a:extLst>
              </a:tr>
              <a:tr h="579120">
                <a:tc>
                  <a:txBody>
                    <a:bodyPr/>
                    <a:lstStyle/>
                    <a:p>
                      <a:pPr algn="ctr"/>
                      <a:r>
                        <a:rPr lang="en-US" sz="1200"/>
                        <a:t>0</a:t>
                      </a:r>
                    </a:p>
                  </a:txBody>
                  <a:tcPr/>
                </a:tc>
                <a:tc>
                  <a:txBody>
                    <a:bodyPr/>
                    <a:lstStyle/>
                    <a:p>
                      <a:pPr algn="l"/>
                      <a:r>
                        <a:rPr lang="en-US" sz="1200" dirty="0"/>
                        <a:t>0x02_00_10</a:t>
                      </a:r>
                    </a:p>
                  </a:txBody>
                  <a:tcPr/>
                </a:tc>
                <a:tc>
                  <a:txBody>
                    <a:bodyPr/>
                    <a:lstStyle/>
                    <a:p>
                      <a:pPr algn="l"/>
                      <a:r>
                        <a:rPr lang="en-US" sz="1200" dirty="0"/>
                        <a:t>Write Rs1 to the Data Bus and set ARDest[L/H] to read from the Data Bus.</a:t>
                      </a:r>
                    </a:p>
                  </a:txBody>
                  <a:tcPr/>
                </a:tc>
                <a:extLst>
                  <a:ext uri="{0D108BD9-81ED-4DB2-BD59-A6C34878D82A}">
                    <a16:rowId xmlns:a16="http://schemas.microsoft.com/office/drawing/2014/main" val="2570910443"/>
                  </a:ext>
                </a:extLst>
              </a:tr>
              <a:tr h="579120">
                <a:tc>
                  <a:txBody>
                    <a:bodyPr/>
                    <a:lstStyle/>
                    <a:p>
                      <a:pPr algn="ctr"/>
                      <a:r>
                        <a:rPr lang="en-US" sz="12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0x00_00_80</a:t>
                      </a:r>
                    </a:p>
                  </a:txBody>
                  <a:tcPr/>
                </a:tc>
                <a:tc>
                  <a:txBody>
                    <a:bodyPr/>
                    <a:lstStyle/>
                    <a:p>
                      <a:pPr algn="l"/>
                      <a:r>
                        <a:rPr lang="en-US" sz="1200" dirty="0"/>
                        <a:t>Advance PC.</a:t>
                      </a:r>
                    </a:p>
                  </a:txBody>
                  <a:tcPr/>
                </a:tc>
                <a:extLst>
                  <a:ext uri="{0D108BD9-81ED-4DB2-BD59-A6C34878D82A}">
                    <a16:rowId xmlns:a16="http://schemas.microsoft.com/office/drawing/2014/main" val="631651838"/>
                  </a:ext>
                </a:extLst>
              </a:tr>
            </a:tbl>
          </a:graphicData>
        </a:graphic>
      </p:graphicFrame>
      <p:pic>
        <p:nvPicPr>
          <p:cNvPr id="2" name="Picture 1">
            <a:hlinkClick r:id="rId3" action="ppaction://hlinksldjump"/>
            <a:extLst>
              <a:ext uri="{FF2B5EF4-FFF2-40B4-BE49-F238E27FC236}">
                <a16:creationId xmlns:a16="http://schemas.microsoft.com/office/drawing/2014/main" id="{13879C91-2171-68EE-0D09-CACAEA18526E}"/>
              </a:ext>
            </a:extLst>
          </p:cNvPr>
          <p:cNvPicPr>
            <a:picLocks noChangeAspect="1"/>
          </p:cNvPicPr>
          <p:nvPr/>
        </p:nvPicPr>
        <p:blipFill>
          <a:blip r:embed="rId4"/>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A7F0EC3F-B5CD-B046-DA09-3BF1FCF6F62B}"/>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68</a:t>
            </a:fld>
            <a:endParaRPr lang="en-US" b="1">
              <a:solidFill>
                <a:schemeClr val="bg1"/>
              </a:solidFill>
            </a:endParaRPr>
          </a:p>
        </p:txBody>
      </p:sp>
      <p:graphicFrame>
        <p:nvGraphicFramePr>
          <p:cNvPr id="3" name="Table 4">
            <a:extLst>
              <a:ext uri="{FF2B5EF4-FFF2-40B4-BE49-F238E27FC236}">
                <a16:creationId xmlns:a16="http://schemas.microsoft.com/office/drawing/2014/main" id="{CDF199E1-D77B-4E08-4111-7B30FD355462}"/>
              </a:ext>
            </a:extLst>
          </p:cNvPr>
          <p:cNvGraphicFramePr>
            <a:graphicFrameLocks noGrp="1"/>
          </p:cNvGraphicFramePr>
          <p:nvPr>
            <p:extLst>
              <p:ext uri="{D42A27DB-BD31-4B8C-83A1-F6EECF244321}">
                <p14:modId xmlns:p14="http://schemas.microsoft.com/office/powerpoint/2010/main" val="118620026"/>
              </p:ext>
            </p:extLst>
          </p:nvPr>
        </p:nvGraphicFramePr>
        <p:xfrm>
          <a:off x="179752" y="5818357"/>
          <a:ext cx="10656291" cy="594360"/>
        </p:xfrm>
        <a:graphic>
          <a:graphicData uri="http://schemas.openxmlformats.org/drawingml/2006/table">
            <a:tbl>
              <a:tblPr firstRow="1" bandRow="1">
                <a:tableStyleId>{5C22544A-7EE6-4342-B048-85BDC9FD1C3A}</a:tableStyleId>
              </a:tblPr>
              <a:tblGrid>
                <a:gridCol w="998667">
                  <a:extLst>
                    <a:ext uri="{9D8B030D-6E8A-4147-A177-3AD203B41FA5}">
                      <a16:colId xmlns:a16="http://schemas.microsoft.com/office/drawing/2014/main" val="1810408170"/>
                    </a:ext>
                  </a:extLst>
                </a:gridCol>
                <a:gridCol w="1043375">
                  <a:extLst>
                    <a:ext uri="{9D8B030D-6E8A-4147-A177-3AD203B41FA5}">
                      <a16:colId xmlns:a16="http://schemas.microsoft.com/office/drawing/2014/main" val="950391025"/>
                    </a:ext>
                  </a:extLst>
                </a:gridCol>
                <a:gridCol w="882484">
                  <a:extLst>
                    <a:ext uri="{9D8B030D-6E8A-4147-A177-3AD203B41FA5}">
                      <a16:colId xmlns:a16="http://schemas.microsoft.com/office/drawing/2014/main" val="1217920130"/>
                    </a:ext>
                  </a:extLst>
                </a:gridCol>
                <a:gridCol w="1402159">
                  <a:extLst>
                    <a:ext uri="{9D8B030D-6E8A-4147-A177-3AD203B41FA5}">
                      <a16:colId xmlns:a16="http://schemas.microsoft.com/office/drawing/2014/main" val="1475888205"/>
                    </a:ext>
                  </a:extLst>
                </a:gridCol>
                <a:gridCol w="1609969">
                  <a:extLst>
                    <a:ext uri="{9D8B030D-6E8A-4147-A177-3AD203B41FA5}">
                      <a16:colId xmlns:a16="http://schemas.microsoft.com/office/drawing/2014/main" val="1355185516"/>
                    </a:ext>
                  </a:extLst>
                </a:gridCol>
                <a:gridCol w="1304925">
                  <a:extLst>
                    <a:ext uri="{9D8B030D-6E8A-4147-A177-3AD203B41FA5}">
                      <a16:colId xmlns:a16="http://schemas.microsoft.com/office/drawing/2014/main" val="1039846299"/>
                    </a:ext>
                  </a:extLst>
                </a:gridCol>
                <a:gridCol w="3414712">
                  <a:extLst>
                    <a:ext uri="{9D8B030D-6E8A-4147-A177-3AD203B41FA5}">
                      <a16:colId xmlns:a16="http://schemas.microsoft.com/office/drawing/2014/main" val="3099546510"/>
                    </a:ext>
                  </a:extLst>
                </a:gridCol>
              </a:tblGrid>
              <a:tr h="297180">
                <a:tc>
                  <a:txBody>
                    <a:bodyPr/>
                    <a:lstStyle/>
                    <a:p>
                      <a:r>
                        <a:rPr lang="en-US" sz="1300" dirty="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dirty="0"/>
                        <a:t>MGA</a:t>
                      </a:r>
                    </a:p>
                  </a:txBody>
                  <a:tcPr>
                    <a:solidFill>
                      <a:schemeClr val="accent6"/>
                    </a:solidFill>
                  </a:tcPr>
                </a:tc>
                <a:tc>
                  <a:txBody>
                    <a:bodyPr/>
                    <a:lstStyle/>
                    <a:p>
                      <a:pPr algn="ctr"/>
                      <a:r>
                        <a:rPr lang="en-US" sz="1300" dirty="0"/>
                        <a:t>XX</a:t>
                      </a:r>
                    </a:p>
                  </a:txBody>
                  <a:tcPr/>
                </a:tc>
                <a:tc>
                  <a:txBody>
                    <a:bodyPr/>
                    <a:lstStyle/>
                    <a:p>
                      <a:pPr algn="ctr"/>
                      <a:r>
                        <a:rPr lang="en-US" sz="1300" dirty="0"/>
                        <a:t>Rs1</a:t>
                      </a:r>
                      <a:endParaRPr lang="en-US" dirty="0"/>
                    </a:p>
                  </a:txBody>
                  <a:tcPr/>
                </a:tc>
                <a:tc>
                  <a:txBody>
                    <a:bodyPr/>
                    <a:lstStyle/>
                    <a:p>
                      <a:pPr algn="ctr"/>
                      <a:r>
                        <a:rPr lang="en-US" sz="1300" dirty="0"/>
                        <a:t>X</a:t>
                      </a:r>
                    </a:p>
                  </a:txBody>
                  <a:tcPr/>
                </a:tc>
                <a:tc>
                  <a:txBody>
                    <a:bodyPr/>
                    <a:lstStyle/>
                    <a:p>
                      <a:pPr algn="ctr"/>
                      <a:r>
                        <a:rPr lang="en-US" sz="1300" dirty="0"/>
                        <a:t>ARDest</a:t>
                      </a:r>
                    </a:p>
                  </a:txBody>
                  <a:tcPr/>
                </a:tc>
                <a:tc>
                  <a:txBody>
                    <a:bodyPr/>
                    <a:lstStyle/>
                    <a:p>
                      <a:pPr algn="ctr"/>
                      <a:r>
                        <a:rPr lang="en-US" sz="1300" dirty="0"/>
                        <a:t>(AR) L/H</a:t>
                      </a:r>
                    </a:p>
                  </a:txBody>
                  <a:tcPr/>
                </a:tc>
                <a:tc>
                  <a:txBody>
                    <a:bodyPr/>
                    <a:lstStyle/>
                    <a:p>
                      <a:pPr algn="ctr"/>
                      <a:r>
                        <a:rPr lang="en-US" sz="1300" dirty="0" err="1"/>
                        <a:t>OpCode</a:t>
                      </a:r>
                      <a:r>
                        <a:rPr lang="en-US" sz="1300" dirty="0"/>
                        <a:t>=1c</a:t>
                      </a:r>
                    </a:p>
                  </a:txBody>
                  <a:tcPr/>
                </a:tc>
                <a:extLst>
                  <a:ext uri="{0D108BD9-81ED-4DB2-BD59-A6C34878D82A}">
                    <a16:rowId xmlns:a16="http://schemas.microsoft.com/office/drawing/2014/main" val="2570910443"/>
                  </a:ext>
                </a:extLst>
              </a:tr>
            </a:tbl>
          </a:graphicData>
        </a:graphic>
      </p:graphicFrame>
      <p:sp>
        <p:nvSpPr>
          <p:cNvPr id="4" name="TextBox 3">
            <a:extLst>
              <a:ext uri="{FF2B5EF4-FFF2-40B4-BE49-F238E27FC236}">
                <a16:creationId xmlns:a16="http://schemas.microsoft.com/office/drawing/2014/main" id="{2E3D0255-F19B-74B5-A527-3582A3A19A17}"/>
              </a:ext>
            </a:extLst>
          </p:cNvPr>
          <p:cNvSpPr txBox="1"/>
          <p:nvPr/>
        </p:nvSpPr>
        <p:spPr>
          <a:xfrm>
            <a:off x="10966456" y="2"/>
            <a:ext cx="1250663" cy="1323439"/>
          </a:xfrm>
          <a:prstGeom prst="rect">
            <a:avLst/>
          </a:prstGeom>
          <a:noFill/>
        </p:spPr>
        <p:txBody>
          <a:bodyPr wrap="none" rtlCol="0">
            <a:spAutoFit/>
          </a:bodyPr>
          <a:lstStyle/>
          <a:p>
            <a:r>
              <a:rPr lang="en-US" sz="8000" dirty="0">
                <a:solidFill>
                  <a:schemeClr val="accent1">
                    <a:lumMod val="60000"/>
                    <a:lumOff val="40000"/>
                  </a:schemeClr>
                </a:solidFill>
              </a:rPr>
              <a:t>1C</a:t>
            </a:r>
          </a:p>
        </p:txBody>
      </p:sp>
      <p:sp>
        <p:nvSpPr>
          <p:cNvPr id="6" name="TextBox 5">
            <a:extLst>
              <a:ext uri="{FF2B5EF4-FFF2-40B4-BE49-F238E27FC236}">
                <a16:creationId xmlns:a16="http://schemas.microsoft.com/office/drawing/2014/main" id="{4A815CA4-B3F3-21E9-3487-2BD3274E6B1A}"/>
              </a:ext>
            </a:extLst>
          </p:cNvPr>
          <p:cNvSpPr txBox="1"/>
          <p:nvPr/>
        </p:nvSpPr>
        <p:spPr>
          <a:xfrm>
            <a:off x="4876837" y="4916582"/>
            <a:ext cx="2945037"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MGA %SP[L], R2</a:t>
            </a:r>
          </a:p>
        </p:txBody>
      </p:sp>
      <p:sp>
        <p:nvSpPr>
          <p:cNvPr id="7" name="TextBox 6">
            <a:extLst>
              <a:ext uri="{FF2B5EF4-FFF2-40B4-BE49-F238E27FC236}">
                <a16:creationId xmlns:a16="http://schemas.microsoft.com/office/drawing/2014/main" id="{DC28D120-F5E4-F2B9-5CB1-69B1375E0A2A}"/>
              </a:ext>
            </a:extLst>
          </p:cNvPr>
          <p:cNvSpPr txBox="1"/>
          <p:nvPr/>
        </p:nvSpPr>
        <p:spPr>
          <a:xfrm>
            <a:off x="4876837" y="4495763"/>
            <a:ext cx="3536546" cy="523220"/>
          </a:xfrm>
          <a:prstGeom prst="rect">
            <a:avLst/>
          </a:prstGeom>
          <a:noFill/>
        </p:spPr>
        <p:txBody>
          <a:bodyPr wrap="none" rtlCol="0">
            <a:spAutoFit/>
          </a:bodyPr>
          <a:lstStyle/>
          <a:p>
            <a:r>
              <a:rPr lang="en-US" sz="2800" dirty="0">
                <a:solidFill>
                  <a:srgbClr val="00B050"/>
                </a:solidFill>
                <a:latin typeface="Consolas" panose="020B0609020204030204" pitchFamily="49" charset="0"/>
              </a:rPr>
              <a:t>ARDest[L/H] = Rs1</a:t>
            </a:r>
          </a:p>
        </p:txBody>
      </p:sp>
      <p:graphicFrame>
        <p:nvGraphicFramePr>
          <p:cNvPr id="8" name="Table 4">
            <a:extLst>
              <a:ext uri="{FF2B5EF4-FFF2-40B4-BE49-F238E27FC236}">
                <a16:creationId xmlns:a16="http://schemas.microsoft.com/office/drawing/2014/main" id="{1D504B7C-18B8-43F5-F07B-E4EE18C1CC9C}"/>
              </a:ext>
            </a:extLst>
          </p:cNvPr>
          <p:cNvGraphicFramePr>
            <a:graphicFrameLocks noGrp="1"/>
          </p:cNvGraphicFramePr>
          <p:nvPr>
            <p:extLst>
              <p:ext uri="{D42A27DB-BD31-4B8C-83A1-F6EECF244321}">
                <p14:modId xmlns:p14="http://schemas.microsoft.com/office/powerpoint/2010/main" val="672536172"/>
              </p:ext>
            </p:extLst>
          </p:nvPr>
        </p:nvGraphicFramePr>
        <p:xfrm>
          <a:off x="179752" y="742463"/>
          <a:ext cx="4329725" cy="5004175"/>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00345">
                <a:tc>
                  <a:txBody>
                    <a:bodyPr/>
                    <a:lstStyle/>
                    <a:p>
                      <a:pPr>
                        <a:lnSpc>
                          <a:spcPct val="100000"/>
                        </a:lnSpc>
                      </a:pPr>
                      <a:r>
                        <a:rPr lang="en-US" sz="700"/>
                        <a:t>Bit</a:t>
                      </a:r>
                    </a:p>
                  </a:txBody>
                  <a:tcPr anchor="ctr"/>
                </a:tc>
                <a:tc>
                  <a:txBody>
                    <a:bodyPr/>
                    <a:lstStyle/>
                    <a:p>
                      <a:pPr>
                        <a:lnSpc>
                          <a:spcPct val="100000"/>
                        </a:lnSpc>
                      </a:pPr>
                      <a:r>
                        <a:rPr lang="en-US" sz="700" dirty="0"/>
                        <a:t>Operation</a:t>
                      </a:r>
                    </a:p>
                  </a:txBody>
                  <a:tcPr anchor="ctr"/>
                </a:tc>
                <a:extLst>
                  <a:ext uri="{0D108BD9-81ED-4DB2-BD59-A6C34878D82A}">
                    <a16:rowId xmlns:a16="http://schemas.microsoft.com/office/drawing/2014/main" val="2319756336"/>
                  </a:ext>
                </a:extLst>
              </a:tr>
              <a:tr h="200345">
                <a:tc>
                  <a:txBody>
                    <a:bodyPr/>
                    <a:lstStyle/>
                    <a:p>
                      <a:pPr algn="ctr">
                        <a:lnSpc>
                          <a:spcPct val="100000"/>
                        </a:lnSpc>
                      </a:pPr>
                      <a:r>
                        <a:rPr lang="en-US" sz="700" dirty="0"/>
                        <a:t>23</a:t>
                      </a:r>
                    </a:p>
                  </a:txBody>
                  <a:tcPr anchor="ctr"/>
                </a:tc>
                <a:tc>
                  <a:txBody>
                    <a:bodyPr/>
                    <a:lstStyle/>
                    <a:p>
                      <a:pPr algn="l">
                        <a:lnSpc>
                          <a:spcPct val="100000"/>
                        </a:lnSpc>
                      </a:pPr>
                      <a:r>
                        <a:rPr lang="en-US" sz="700" dirty="0"/>
                        <a:t>Not Used</a:t>
                      </a:r>
                    </a:p>
                  </a:txBody>
                  <a:tcPr anchor="ctr"/>
                </a:tc>
                <a:extLst>
                  <a:ext uri="{0D108BD9-81ED-4DB2-BD59-A6C34878D82A}">
                    <a16:rowId xmlns:a16="http://schemas.microsoft.com/office/drawing/2014/main" val="3576468534"/>
                  </a:ext>
                </a:extLst>
              </a:tr>
              <a:tr h="200345">
                <a:tc>
                  <a:txBody>
                    <a:bodyPr/>
                    <a:lstStyle/>
                    <a:p>
                      <a:pPr algn="ctr">
                        <a:lnSpc>
                          <a:spcPct val="100000"/>
                        </a:lnSpc>
                      </a:pPr>
                      <a:r>
                        <a:rPr lang="en-US" sz="700" dirty="0"/>
                        <a:t>22</a:t>
                      </a:r>
                    </a:p>
                  </a:txBody>
                  <a:tcPr anchor="ctr"/>
                </a:tc>
                <a:tc>
                  <a:txBody>
                    <a:bodyPr/>
                    <a:lstStyle/>
                    <a:p>
                      <a:pPr algn="l">
                        <a:lnSpc>
                          <a:spcPct val="100000"/>
                        </a:lnSpc>
                      </a:pPr>
                      <a:r>
                        <a:rPr lang="en-US" sz="700" dirty="0" err="1"/>
                        <a:t>AddressHorL</a:t>
                      </a:r>
                      <a:endParaRPr lang="en-US" sz="700" dirty="0"/>
                    </a:p>
                  </a:txBody>
                  <a:tcPr anchor="ctr"/>
                </a:tc>
                <a:extLst>
                  <a:ext uri="{0D108BD9-81ED-4DB2-BD59-A6C34878D82A}">
                    <a16:rowId xmlns:a16="http://schemas.microsoft.com/office/drawing/2014/main" val="79971578"/>
                  </a:ext>
                </a:extLst>
              </a:tr>
              <a:tr h="200345">
                <a:tc>
                  <a:txBody>
                    <a:bodyPr/>
                    <a:lstStyle/>
                    <a:p>
                      <a:pPr algn="ctr">
                        <a:lnSpc>
                          <a:spcPct val="100000"/>
                        </a:lnSpc>
                      </a:pPr>
                      <a:r>
                        <a:rPr lang="en-US" sz="700" dirty="0"/>
                        <a:t>21</a:t>
                      </a:r>
                    </a:p>
                  </a:txBody>
                  <a:tcPr anchor="ctr"/>
                </a:tc>
                <a:tc>
                  <a:txBody>
                    <a:bodyPr/>
                    <a:lstStyle/>
                    <a:p>
                      <a:pPr algn="l">
                        <a:lnSpc>
                          <a:spcPct val="100000"/>
                        </a:lnSpc>
                      </a:pPr>
                      <a:r>
                        <a:rPr lang="en-US" sz="700" dirty="0" err="1"/>
                        <a:t>AddressBusToDataBus</a:t>
                      </a:r>
                      <a:endParaRPr lang="en-US" sz="700" dirty="0"/>
                    </a:p>
                  </a:txBody>
                  <a:tcPr anchor="ctr"/>
                </a:tc>
                <a:extLst>
                  <a:ext uri="{0D108BD9-81ED-4DB2-BD59-A6C34878D82A}">
                    <a16:rowId xmlns:a16="http://schemas.microsoft.com/office/drawing/2014/main" val="4135939119"/>
                  </a:ext>
                </a:extLst>
              </a:tr>
              <a:tr h="200345">
                <a:tc>
                  <a:txBody>
                    <a:bodyPr/>
                    <a:lstStyle/>
                    <a:p>
                      <a:pPr algn="ctr">
                        <a:lnSpc>
                          <a:spcPct val="100000"/>
                        </a:lnSpc>
                      </a:pPr>
                      <a:r>
                        <a:rPr lang="en-US" sz="700" dirty="0"/>
                        <a:t>20</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err="1"/>
                        <a:t>TmpARWrite</a:t>
                      </a:r>
                      <a:endParaRPr lang="en-US" sz="700"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9580944"/>
                  </a:ext>
                </a:extLst>
              </a:tr>
              <a:tr h="200345">
                <a:tc>
                  <a:txBody>
                    <a:bodyPr/>
                    <a:lstStyle/>
                    <a:p>
                      <a:pPr algn="ctr">
                        <a:lnSpc>
                          <a:spcPct val="100000"/>
                        </a:lnSpc>
                      </a:pPr>
                      <a:r>
                        <a:rPr lang="en-US" sz="700" dirty="0"/>
                        <a:t>19</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err="1"/>
                        <a:t>TmpARRead</a:t>
                      </a:r>
                      <a:endParaRPr lang="en-US" sz="700"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35159618"/>
                  </a:ext>
                </a:extLst>
              </a:tr>
              <a:tr h="200345">
                <a:tc>
                  <a:txBody>
                    <a:bodyPr/>
                    <a:lstStyle/>
                    <a:p>
                      <a:pPr algn="ctr">
                        <a:lnSpc>
                          <a:spcPct val="100000"/>
                        </a:lnSpc>
                      </a:pPr>
                      <a:r>
                        <a:rPr lang="en-US" sz="700" dirty="0"/>
                        <a:t>18</a:t>
                      </a:r>
                    </a:p>
                  </a:txBody>
                  <a:tcPr anchor="ctr"/>
                </a:tc>
                <a:tc>
                  <a:txBody>
                    <a:bodyPr/>
                    <a:lstStyle/>
                    <a:p>
                      <a:pPr algn="l">
                        <a:lnSpc>
                          <a:spcPct val="100000"/>
                        </a:lnSpc>
                      </a:pPr>
                      <a:r>
                        <a:rPr lang="en-US" sz="700" dirty="0" err="1"/>
                        <a:t>loadARHorL</a:t>
                      </a:r>
                      <a:endParaRPr lang="en-US" sz="700" dirty="0"/>
                    </a:p>
                  </a:txBody>
                  <a:tcPr anchor="ctr"/>
                </a:tc>
                <a:extLst>
                  <a:ext uri="{0D108BD9-81ED-4DB2-BD59-A6C34878D82A}">
                    <a16:rowId xmlns:a16="http://schemas.microsoft.com/office/drawing/2014/main" val="2357817394"/>
                  </a:ext>
                </a:extLst>
              </a:tr>
              <a:tr h="200345">
                <a:tc>
                  <a:txBody>
                    <a:bodyPr/>
                    <a:lstStyle/>
                    <a:p>
                      <a:pPr algn="ctr">
                        <a:lnSpc>
                          <a:spcPct val="100000"/>
                        </a:lnSpc>
                      </a:pPr>
                      <a:r>
                        <a:rPr lang="en-US" sz="700"/>
                        <a:t>17</a:t>
                      </a:r>
                    </a:p>
                  </a:txBody>
                  <a:tcPr anchor="ctr"/>
                </a:tc>
                <a:tc>
                  <a:txBody>
                    <a:bodyPr/>
                    <a:lstStyle/>
                    <a:p>
                      <a:pPr algn="l">
                        <a:lnSpc>
                          <a:spcPct val="100000"/>
                        </a:lnSpc>
                      </a:pPr>
                      <a:r>
                        <a:rPr lang="en-US" sz="700" dirty="0" err="1"/>
                        <a:t>loadAR</a:t>
                      </a:r>
                      <a:r>
                        <a:rPr lang="en-US" sz="700" dirty="0"/>
                        <a:t> (formerly: Load Special Pointer)</a:t>
                      </a:r>
                    </a:p>
                  </a:txBody>
                  <a:tcPr anchor="ctr"/>
                </a:tc>
                <a:extLst>
                  <a:ext uri="{0D108BD9-81ED-4DB2-BD59-A6C34878D82A}">
                    <a16:rowId xmlns:a16="http://schemas.microsoft.com/office/drawing/2014/main" val="2759210480"/>
                  </a:ext>
                </a:extLst>
              </a:tr>
              <a:tr h="200345">
                <a:tc>
                  <a:txBody>
                    <a:bodyPr/>
                    <a:lstStyle/>
                    <a:p>
                      <a:pPr algn="ctr">
                        <a:lnSpc>
                          <a:spcPct val="100000"/>
                        </a:lnSpc>
                      </a:pPr>
                      <a:r>
                        <a:rPr lang="en-US" sz="700" dirty="0"/>
                        <a:t>16</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Stack Pointer Increment / Decrement (0: decrease / 1: increase)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6363256"/>
                  </a:ext>
                </a:extLst>
              </a:tr>
              <a:tr h="200345">
                <a:tc>
                  <a:txBody>
                    <a:bodyPr/>
                    <a:lstStyle/>
                    <a:p>
                      <a:pPr algn="ctr">
                        <a:lnSpc>
                          <a:spcPct val="100000"/>
                        </a:lnSpc>
                      </a:pPr>
                      <a:r>
                        <a:rPr lang="en-US" sz="700"/>
                        <a:t>15</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Stack Pointer Count</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49660566"/>
                  </a:ext>
                </a:extLst>
              </a:tr>
              <a:tr h="200345">
                <a:tc>
                  <a:txBody>
                    <a:bodyPr/>
                    <a:lstStyle/>
                    <a:p>
                      <a:pPr algn="ctr">
                        <a:lnSpc>
                          <a:spcPct val="100000"/>
                        </a:lnSpc>
                      </a:pPr>
                      <a:r>
                        <a:rPr lang="en-US" sz="700"/>
                        <a:t>14</a:t>
                      </a:r>
                    </a:p>
                  </a:txBody>
                  <a:tcPr anchor="ctr"/>
                </a:tc>
                <a:tc>
                  <a:txBody>
                    <a:bodyPr/>
                    <a:lstStyle/>
                    <a:p>
                      <a:pPr algn="l">
                        <a:lnSpc>
                          <a:spcPct val="100000"/>
                        </a:lnSpc>
                      </a:pPr>
                      <a:r>
                        <a:rPr lang="en-US" sz="700" dirty="0"/>
                        <a:t>SP Out (formerly: RAM Address Select (0: Address register / 1: Stack pointer))</a:t>
                      </a:r>
                    </a:p>
                  </a:txBody>
                  <a:tcPr anchor="ctr"/>
                </a:tc>
                <a:extLst>
                  <a:ext uri="{0D108BD9-81ED-4DB2-BD59-A6C34878D82A}">
                    <a16:rowId xmlns:a16="http://schemas.microsoft.com/office/drawing/2014/main" val="645489424"/>
                  </a:ext>
                </a:extLst>
              </a:tr>
              <a:tr h="200345">
                <a:tc>
                  <a:txBody>
                    <a:bodyPr/>
                    <a:lstStyle/>
                    <a:p>
                      <a:pPr algn="ctr">
                        <a:lnSpc>
                          <a:spcPct val="100000"/>
                        </a:lnSpc>
                      </a:pPr>
                      <a:r>
                        <a:rPr lang="en-US" sz="700"/>
                        <a:t>13</a:t>
                      </a:r>
                    </a:p>
                  </a:txBody>
                  <a:tcPr anchor="ctr"/>
                </a:tc>
                <a:tc>
                  <a:txBody>
                    <a:bodyPr/>
                    <a:lstStyle/>
                    <a:p>
                      <a:pPr algn="l">
                        <a:lnSpc>
                          <a:spcPct val="100000"/>
                        </a:lnSpc>
                      </a:pPr>
                      <a:r>
                        <a:rPr lang="en-US" sz="700"/>
                        <a:t>Use Rd as Source</a:t>
                      </a:r>
                    </a:p>
                  </a:txBody>
                  <a:tcPr anchor="ctr"/>
                </a:tc>
                <a:extLst>
                  <a:ext uri="{0D108BD9-81ED-4DB2-BD59-A6C34878D82A}">
                    <a16:rowId xmlns:a16="http://schemas.microsoft.com/office/drawing/2014/main" val="2745442092"/>
                  </a:ext>
                </a:extLst>
              </a:tr>
              <a:tr h="200345">
                <a:tc>
                  <a:txBody>
                    <a:bodyPr/>
                    <a:lstStyle/>
                    <a:p>
                      <a:pPr algn="ctr">
                        <a:lnSpc>
                          <a:spcPct val="100000"/>
                        </a:lnSpc>
                      </a:pPr>
                      <a:r>
                        <a:rPr lang="en-US" sz="700" dirty="0"/>
                        <a:t>12</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Lower Address Register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762316"/>
                  </a:ext>
                </a:extLst>
              </a:tr>
              <a:tr h="200345">
                <a:tc>
                  <a:txBody>
                    <a:bodyPr/>
                    <a:lstStyle/>
                    <a:p>
                      <a:pPr algn="ctr">
                        <a:lnSpc>
                          <a:spcPct val="100000"/>
                        </a:lnSpc>
                      </a:pPr>
                      <a:r>
                        <a:rPr lang="en-US" sz="700"/>
                        <a:t>11</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a:t>Mem Write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66008767"/>
                  </a:ext>
                </a:extLst>
              </a:tr>
              <a:tr h="200345">
                <a:tc>
                  <a:txBody>
                    <a:bodyPr/>
                    <a:lstStyle/>
                    <a:p>
                      <a:pPr algn="ctr">
                        <a:lnSpc>
                          <a:spcPct val="100000"/>
                        </a:lnSpc>
                      </a:pPr>
                      <a:r>
                        <a:rPr lang="en-US" sz="700"/>
                        <a:t>10</a:t>
                      </a:r>
                    </a:p>
                  </a:txBody>
                  <a:tcPr anchor="ctr"/>
                </a:tc>
                <a:tc>
                  <a:txBody>
                    <a:bodyPr/>
                    <a:lstStyle/>
                    <a:p>
                      <a:pPr algn="l">
                        <a:lnSpc>
                          <a:spcPct val="100000"/>
                        </a:lnSpc>
                      </a:pPr>
                      <a:r>
                        <a:rPr lang="en-US" sz="700"/>
                        <a:t>Mem Read</a:t>
                      </a:r>
                    </a:p>
                  </a:txBody>
                  <a:tcPr anchor="ctr"/>
                </a:tc>
                <a:extLst>
                  <a:ext uri="{0D108BD9-81ED-4DB2-BD59-A6C34878D82A}">
                    <a16:rowId xmlns:a16="http://schemas.microsoft.com/office/drawing/2014/main" val="707415226"/>
                  </a:ext>
                </a:extLst>
              </a:tr>
              <a:tr h="200345">
                <a:tc>
                  <a:txBody>
                    <a:bodyPr/>
                    <a:lstStyle/>
                    <a:p>
                      <a:pPr algn="ctr">
                        <a:lnSpc>
                          <a:spcPct val="100000"/>
                        </a:lnSpc>
                      </a:pPr>
                      <a:r>
                        <a:rPr lang="en-US" sz="700"/>
                        <a:t>9</a:t>
                      </a:r>
                    </a:p>
                  </a:txBody>
                  <a:tcPr anchor="ctr"/>
                </a:tc>
                <a:tc>
                  <a:txBody>
                    <a:bodyPr/>
                    <a:lstStyle/>
                    <a:p>
                      <a:pPr algn="l">
                        <a:lnSpc>
                          <a:spcPct val="100000"/>
                        </a:lnSpc>
                      </a:pPr>
                      <a:r>
                        <a:rPr lang="en-US" sz="700"/>
                        <a:t>PC Out</a:t>
                      </a:r>
                    </a:p>
                  </a:txBody>
                  <a:tcPr anchor="ctr"/>
                </a:tc>
                <a:extLst>
                  <a:ext uri="{0D108BD9-81ED-4DB2-BD59-A6C34878D82A}">
                    <a16:rowId xmlns:a16="http://schemas.microsoft.com/office/drawing/2014/main" val="1663806429"/>
                  </a:ext>
                </a:extLst>
              </a:tr>
              <a:tr h="200345">
                <a:tc>
                  <a:txBody>
                    <a:bodyPr/>
                    <a:lstStyle/>
                    <a:p>
                      <a:pPr algn="ctr">
                        <a:lnSpc>
                          <a:spcPct val="100000"/>
                        </a:lnSpc>
                      </a:pPr>
                      <a:r>
                        <a:rPr lang="en-US" sz="700" dirty="0"/>
                        <a:t>8</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a:t>PC Load</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27957"/>
                  </a:ext>
                </a:extLst>
              </a:tr>
              <a:tr h="200345">
                <a:tc>
                  <a:txBody>
                    <a:bodyPr/>
                    <a:lstStyle/>
                    <a:p>
                      <a:pPr algn="ctr">
                        <a:lnSpc>
                          <a:spcPct val="100000"/>
                        </a:lnSpc>
                      </a:pPr>
                      <a:r>
                        <a:rPr lang="en-US" sz="700"/>
                        <a:t>7</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PC advance</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70910443"/>
                  </a:ext>
                </a:extLst>
              </a:tr>
              <a:tr h="200345">
                <a:tc>
                  <a:txBody>
                    <a:bodyPr/>
                    <a:lstStyle/>
                    <a:p>
                      <a:pPr algn="ctr">
                        <a:lnSpc>
                          <a:spcPct val="100000"/>
                        </a:lnSpc>
                      </a:pPr>
                      <a:r>
                        <a:rPr lang="en-US" sz="700"/>
                        <a:t>6</a:t>
                      </a:r>
                    </a:p>
                  </a:txBody>
                  <a:tcPr anchor="ctr"/>
                </a:tc>
                <a:tc>
                  <a:txBody>
                    <a:bodyPr/>
                    <a:lstStyle/>
                    <a:p>
                      <a:pPr algn="l">
                        <a:lnSpc>
                          <a:spcPct val="100000"/>
                        </a:lnSpc>
                      </a:pPr>
                      <a:r>
                        <a:rPr lang="en-US" sz="700"/>
                        <a:t>Program Register H Write to Bus (parameter)</a:t>
                      </a:r>
                    </a:p>
                  </a:txBody>
                  <a:tcPr anchor="ctr"/>
                </a:tc>
                <a:extLst>
                  <a:ext uri="{0D108BD9-81ED-4DB2-BD59-A6C34878D82A}">
                    <a16:rowId xmlns:a16="http://schemas.microsoft.com/office/drawing/2014/main" val="631651838"/>
                  </a:ext>
                </a:extLst>
              </a:tr>
              <a:tr h="200345">
                <a:tc>
                  <a:txBody>
                    <a:bodyPr/>
                    <a:lstStyle/>
                    <a:p>
                      <a:pPr algn="ctr">
                        <a:lnSpc>
                          <a:spcPct val="100000"/>
                        </a:lnSpc>
                      </a:pPr>
                      <a:r>
                        <a:rPr lang="en-US" sz="700"/>
                        <a:t>5</a:t>
                      </a:r>
                    </a:p>
                  </a:txBody>
                  <a:tcPr anchor="ctr"/>
                </a:tc>
                <a:tc>
                  <a:txBody>
                    <a:bodyPr/>
                    <a:lstStyle/>
                    <a:p>
                      <a:pPr algn="l">
                        <a:lnSpc>
                          <a:spcPct val="100000"/>
                        </a:lnSpc>
                      </a:pPr>
                      <a:r>
                        <a:rPr lang="en-US" sz="700"/>
                        <a:t>Register File Input Enable</a:t>
                      </a:r>
                    </a:p>
                  </a:txBody>
                  <a:tcPr anchor="ctr"/>
                </a:tc>
                <a:extLst>
                  <a:ext uri="{0D108BD9-81ED-4DB2-BD59-A6C34878D82A}">
                    <a16:rowId xmlns:a16="http://schemas.microsoft.com/office/drawing/2014/main" val="1592812184"/>
                  </a:ext>
                </a:extLst>
              </a:tr>
              <a:tr h="200345">
                <a:tc>
                  <a:txBody>
                    <a:bodyPr/>
                    <a:lstStyle/>
                    <a:p>
                      <a:pPr algn="ctr">
                        <a:lnSpc>
                          <a:spcPct val="100000"/>
                        </a:lnSpc>
                      </a:pPr>
                      <a:r>
                        <a:rPr lang="en-US" sz="700" dirty="0"/>
                        <a:t>4</a:t>
                      </a:r>
                    </a:p>
                  </a:txBody>
                  <a:tcPr anchor="ctr">
                    <a:lnB w="12700" cap="flat" cmpd="sng" algn="ctr">
                      <a:solidFill>
                        <a:schemeClr val="tx1"/>
                      </a:solidFill>
                      <a:prstDash val="solid"/>
                      <a:round/>
                      <a:headEnd type="none" w="med" len="med"/>
                      <a:tailEnd type="none" w="med" len="med"/>
                    </a:lnB>
                  </a:tcPr>
                </a:tc>
                <a:tc>
                  <a:txBody>
                    <a:bodyPr/>
                    <a:lstStyle/>
                    <a:p>
                      <a:pPr algn="l">
                        <a:lnSpc>
                          <a:spcPct val="100000"/>
                        </a:lnSpc>
                      </a:pPr>
                      <a:r>
                        <a:rPr lang="en-US" sz="700" dirty="0"/>
                        <a:t>Register File Output Enable</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5793510"/>
                  </a:ext>
                </a:extLst>
              </a:tr>
              <a:tr h="200345">
                <a:tc>
                  <a:txBody>
                    <a:bodyPr/>
                    <a:lstStyle/>
                    <a:p>
                      <a:pPr algn="ctr">
                        <a:lnSpc>
                          <a:spcPct val="100000"/>
                        </a:lnSpc>
                      </a:pPr>
                      <a:r>
                        <a:rPr lang="en-US" sz="700"/>
                        <a:t>3</a:t>
                      </a:r>
                    </a:p>
                  </a:txBody>
                  <a:tcPr anchor="ctr">
                    <a:lnT w="12700" cap="flat" cmpd="sng" algn="ctr">
                      <a:solidFill>
                        <a:schemeClr val="tx1"/>
                      </a:solidFill>
                      <a:prstDash val="solid"/>
                      <a:round/>
                      <a:headEnd type="none" w="med" len="med"/>
                      <a:tailEnd type="none" w="med" len="med"/>
                    </a:lnT>
                  </a:tcPr>
                </a:tc>
                <a:tc>
                  <a:txBody>
                    <a:bodyPr/>
                    <a:lstStyle/>
                    <a:p>
                      <a:pPr algn="l">
                        <a:lnSpc>
                          <a:spcPct val="100000"/>
                        </a:lnSpc>
                      </a:pPr>
                      <a:r>
                        <a:rPr lang="en-US" sz="700" dirty="0"/>
                        <a:t>Register File Output Select (parameter – 0 -&gt; Rs1, 1 -&gt; Rs2)</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46366285"/>
                  </a:ext>
                </a:extLst>
              </a:tr>
              <a:tr h="0">
                <a:tc>
                  <a:txBody>
                    <a:bodyPr/>
                    <a:lstStyle/>
                    <a:p>
                      <a:pPr algn="ctr">
                        <a:lnSpc>
                          <a:spcPct val="100000"/>
                        </a:lnSpc>
                      </a:pPr>
                      <a:r>
                        <a:rPr lang="en-US" sz="700"/>
                        <a:t>2</a:t>
                      </a:r>
                    </a:p>
                  </a:txBody>
                  <a:tcPr anchor="ctr"/>
                </a:tc>
                <a:tc>
                  <a:txBody>
                    <a:bodyPr/>
                    <a:lstStyle/>
                    <a:p>
                      <a:pPr algn="l">
                        <a:lnSpc>
                          <a:spcPct val="100000"/>
                        </a:lnSpc>
                      </a:pPr>
                      <a:r>
                        <a:rPr lang="en-US" sz="700" dirty="0"/>
                        <a:t>ALU output enable</a:t>
                      </a:r>
                    </a:p>
                  </a:txBody>
                  <a:tcPr anchor="ctr"/>
                </a:tc>
                <a:extLst>
                  <a:ext uri="{0D108BD9-81ED-4DB2-BD59-A6C34878D82A}">
                    <a16:rowId xmlns:a16="http://schemas.microsoft.com/office/drawing/2014/main" val="2615342211"/>
                  </a:ext>
                </a:extLst>
              </a:tr>
              <a:tr h="156274">
                <a:tc>
                  <a:txBody>
                    <a:bodyPr/>
                    <a:lstStyle/>
                    <a:p>
                      <a:pPr algn="ctr">
                        <a:lnSpc>
                          <a:spcPct val="100000"/>
                        </a:lnSpc>
                      </a:pPr>
                      <a:r>
                        <a:rPr lang="en-US" sz="700"/>
                        <a:t>1</a:t>
                      </a:r>
                    </a:p>
                  </a:txBody>
                  <a:tcPr anchor="ctr"/>
                </a:tc>
                <a:tc>
                  <a:txBody>
                    <a:bodyPr/>
                    <a:lstStyle/>
                    <a:p>
                      <a:pPr algn="l">
                        <a:lnSpc>
                          <a:spcPct val="100000"/>
                        </a:lnSpc>
                      </a:pPr>
                      <a:r>
                        <a:rPr lang="en-US" sz="700" dirty="0"/>
                        <a:t>ALU load register A</a:t>
                      </a:r>
                    </a:p>
                  </a:txBody>
                  <a:tcPr marT="0" anchor="ctr"/>
                </a:tc>
                <a:extLst>
                  <a:ext uri="{0D108BD9-81ED-4DB2-BD59-A6C34878D82A}">
                    <a16:rowId xmlns:a16="http://schemas.microsoft.com/office/drawing/2014/main" val="2055856817"/>
                  </a:ext>
                </a:extLst>
              </a:tr>
              <a:tr h="200345">
                <a:tc>
                  <a:txBody>
                    <a:bodyPr/>
                    <a:lstStyle/>
                    <a:p>
                      <a:pPr algn="ctr">
                        <a:lnSpc>
                          <a:spcPct val="100000"/>
                        </a:lnSpc>
                      </a:pPr>
                      <a:r>
                        <a:rPr lang="en-US" sz="700"/>
                        <a:t>0</a:t>
                      </a:r>
                    </a:p>
                  </a:txBody>
                  <a:tcPr anchor="ctr"/>
                </a:tc>
                <a:tc>
                  <a:txBody>
                    <a:bodyPr/>
                    <a:lstStyle/>
                    <a:p>
                      <a:pPr algn="l">
                        <a:lnSpc>
                          <a:spcPct val="100000"/>
                        </a:lnSpc>
                      </a:pPr>
                      <a:r>
                        <a:rPr lang="en-US" sz="700" dirty="0"/>
                        <a:t>ALU load register B</a:t>
                      </a:r>
                    </a:p>
                  </a:txBody>
                  <a:tcPr anchor="ct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3590328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6C35E-FDD3-D165-F9B0-5E3FC0134F97}"/>
              </a:ext>
            </a:extLst>
          </p:cNvPr>
          <p:cNvSpPr>
            <a:spLocks noGrp="1"/>
          </p:cNvSpPr>
          <p:nvPr>
            <p:ph type="ctrTitle"/>
          </p:nvPr>
        </p:nvSpPr>
        <p:spPr/>
        <p:txBody>
          <a:bodyPr/>
          <a:lstStyle/>
          <a:p>
            <a:r>
              <a:rPr lang="en-US" dirty="0"/>
              <a:t>New Addressing Modes</a:t>
            </a:r>
          </a:p>
        </p:txBody>
      </p:sp>
      <p:sp>
        <p:nvSpPr>
          <p:cNvPr id="3" name="TextBox 2">
            <a:extLst>
              <a:ext uri="{FF2B5EF4-FFF2-40B4-BE49-F238E27FC236}">
                <a16:creationId xmlns:a16="http://schemas.microsoft.com/office/drawing/2014/main" id="{AA693CF8-2E6D-18DB-E69D-057147472A6C}"/>
              </a:ext>
            </a:extLst>
          </p:cNvPr>
          <p:cNvSpPr txBox="1"/>
          <p:nvPr/>
        </p:nvSpPr>
        <p:spPr>
          <a:xfrm>
            <a:off x="535404" y="1197142"/>
            <a:ext cx="9354553" cy="1815882"/>
          </a:xfrm>
          <a:prstGeom prst="rect">
            <a:avLst/>
          </a:prstGeom>
          <a:solidFill>
            <a:schemeClr val="accent4">
              <a:lumMod val="20000"/>
              <a:lumOff val="80000"/>
            </a:schemeClr>
          </a:solidFill>
        </p:spPr>
        <p:txBody>
          <a:bodyPr wrap="square" rtlCol="0">
            <a:spAutoFit/>
          </a:bodyPr>
          <a:lstStyle/>
          <a:p>
            <a:r>
              <a:rPr lang="en-US" sz="1400" dirty="0"/>
              <a:t>New architectural perspective:</a:t>
            </a:r>
          </a:p>
          <a:p>
            <a:r>
              <a:rPr lang="en-US" sz="1400" dirty="0"/>
              <a:t>Two kinds of words exist (data words (8 bit) and address words (16 bit)).</a:t>
            </a:r>
          </a:p>
          <a:p>
            <a:r>
              <a:rPr lang="en-US" sz="1400" dirty="0"/>
              <a:t>Each kind of words have their own registers (data registers and address registers), register files, and dedicated busses (data bus and address bus).</a:t>
            </a:r>
          </a:p>
          <a:p>
            <a:r>
              <a:rPr lang="en-US" sz="1400" dirty="0"/>
              <a:t>Programming Model-wise, moving towards using Address Registers for all pointer use; i.e., to perform memory loads/stores, an address register must be set to the relevant address and then used. The additional instruction overhead of this (setting the address register using an immediate / GR which takes at least 2 instructions for high and low bytes) is reduced by allowing for 8 bit immediate offsets and by setting an AR to another AR (with offset) in a single instruction.</a:t>
            </a:r>
          </a:p>
        </p:txBody>
      </p:sp>
      <p:graphicFrame>
        <p:nvGraphicFramePr>
          <p:cNvPr id="5" name="Table 4">
            <a:extLst>
              <a:ext uri="{FF2B5EF4-FFF2-40B4-BE49-F238E27FC236}">
                <a16:creationId xmlns:a16="http://schemas.microsoft.com/office/drawing/2014/main" id="{50830EA4-ABA3-BB20-4E95-5EEC7E3EC2F0}"/>
              </a:ext>
            </a:extLst>
          </p:cNvPr>
          <p:cNvGraphicFramePr>
            <a:graphicFrameLocks noGrp="1"/>
          </p:cNvGraphicFramePr>
          <p:nvPr>
            <p:extLst>
              <p:ext uri="{D42A27DB-BD31-4B8C-83A1-F6EECF244321}">
                <p14:modId xmlns:p14="http://schemas.microsoft.com/office/powerpoint/2010/main" val="1146301729"/>
              </p:ext>
            </p:extLst>
          </p:nvPr>
        </p:nvGraphicFramePr>
        <p:xfrm>
          <a:off x="535404" y="3177758"/>
          <a:ext cx="9801056" cy="3266440"/>
        </p:xfrm>
        <a:graphic>
          <a:graphicData uri="http://schemas.openxmlformats.org/drawingml/2006/table">
            <a:tbl>
              <a:tblPr firstRow="1" bandRow="1">
                <a:tableStyleId>{5C22544A-7EE6-4342-B048-85BDC9FD1C3A}</a:tableStyleId>
              </a:tblPr>
              <a:tblGrid>
                <a:gridCol w="2450264">
                  <a:extLst>
                    <a:ext uri="{9D8B030D-6E8A-4147-A177-3AD203B41FA5}">
                      <a16:colId xmlns:a16="http://schemas.microsoft.com/office/drawing/2014/main" val="238212452"/>
                    </a:ext>
                  </a:extLst>
                </a:gridCol>
                <a:gridCol w="2450264">
                  <a:extLst>
                    <a:ext uri="{9D8B030D-6E8A-4147-A177-3AD203B41FA5}">
                      <a16:colId xmlns:a16="http://schemas.microsoft.com/office/drawing/2014/main" val="4055632774"/>
                    </a:ext>
                  </a:extLst>
                </a:gridCol>
                <a:gridCol w="2450264">
                  <a:extLst>
                    <a:ext uri="{9D8B030D-6E8A-4147-A177-3AD203B41FA5}">
                      <a16:colId xmlns:a16="http://schemas.microsoft.com/office/drawing/2014/main" val="3656758536"/>
                    </a:ext>
                  </a:extLst>
                </a:gridCol>
                <a:gridCol w="2450264">
                  <a:extLst>
                    <a:ext uri="{9D8B030D-6E8A-4147-A177-3AD203B41FA5}">
                      <a16:colId xmlns:a16="http://schemas.microsoft.com/office/drawing/2014/main" val="2056576301"/>
                    </a:ext>
                  </a:extLst>
                </a:gridCol>
              </a:tblGrid>
              <a:tr h="370840">
                <a:tc>
                  <a:txBody>
                    <a:bodyPr/>
                    <a:lstStyle/>
                    <a:p>
                      <a:r>
                        <a:rPr lang="en-US" sz="1100" dirty="0"/>
                        <a:t>Instruction Type</a:t>
                      </a:r>
                    </a:p>
                  </a:txBody>
                  <a:tcPr/>
                </a:tc>
                <a:tc>
                  <a:txBody>
                    <a:bodyPr/>
                    <a:lstStyle/>
                    <a:p>
                      <a:r>
                        <a:rPr lang="en-US" sz="1100" dirty="0"/>
                        <a:t>New Instruction Semantics</a:t>
                      </a:r>
                    </a:p>
                  </a:txBody>
                  <a:tcPr/>
                </a:tc>
                <a:tc>
                  <a:txBody>
                    <a:bodyPr/>
                    <a:lstStyle/>
                    <a:p>
                      <a:r>
                        <a:rPr lang="en-US" sz="1100" dirty="0"/>
                        <a:t>Instruction Operands</a:t>
                      </a:r>
                    </a:p>
                  </a:txBody>
                  <a:tcPr/>
                </a:tc>
                <a:tc>
                  <a:txBody>
                    <a:bodyPr/>
                    <a:lstStyle/>
                    <a:p>
                      <a:r>
                        <a:rPr lang="en-US" sz="1100" dirty="0"/>
                        <a:t>Opcodes Used</a:t>
                      </a:r>
                    </a:p>
                  </a:txBody>
                  <a:tcPr/>
                </a:tc>
                <a:extLst>
                  <a:ext uri="{0D108BD9-81ED-4DB2-BD59-A6C34878D82A}">
                    <a16:rowId xmlns:a16="http://schemas.microsoft.com/office/drawing/2014/main" val="3031736925"/>
                  </a:ext>
                </a:extLst>
              </a:tr>
              <a:tr h="370840">
                <a:tc>
                  <a:txBody>
                    <a:bodyPr/>
                    <a:lstStyle/>
                    <a:p>
                      <a:r>
                        <a:rPr lang="en-US" sz="1100" dirty="0"/>
                        <a:t>AR </a:t>
                      </a:r>
                      <a:r>
                        <a:rPr lang="en-US" sz="1100" dirty="0">
                          <a:sym typeface="Wingdings" panose="05000000000000000000" pitchFamily="2" charset="2"/>
                        </a:rPr>
                        <a:t> GR</a:t>
                      </a:r>
                      <a:endParaRPr lang="en-US" sz="1100" dirty="0"/>
                    </a:p>
                  </a:txBody>
                  <a:tcPr/>
                </a:tc>
                <a:tc>
                  <a:txBody>
                    <a:bodyPr/>
                    <a:lstStyle/>
                    <a:p>
                      <a:r>
                        <a:rPr lang="en-US" sz="1100" dirty="0"/>
                        <a:t>Rd = </a:t>
                      </a:r>
                      <a:r>
                        <a:rPr lang="en-US" sz="1100" dirty="0" err="1"/>
                        <a:t>ARSrc</a:t>
                      </a:r>
                      <a:r>
                        <a:rPr lang="en-US" sz="1100" dirty="0"/>
                        <a:t>[L/H]</a:t>
                      </a:r>
                    </a:p>
                  </a:txBody>
                  <a:tcPr/>
                </a:tc>
                <a:tc>
                  <a:txBody>
                    <a:bodyPr/>
                    <a:lstStyle/>
                    <a:p>
                      <a:r>
                        <a:rPr lang="en-US" sz="1100" dirty="0"/>
                        <a:t>Rd (2 bits), </a:t>
                      </a:r>
                      <a:r>
                        <a:rPr lang="en-US" sz="1100" dirty="0" err="1"/>
                        <a:t>ARSrc</a:t>
                      </a:r>
                      <a:r>
                        <a:rPr lang="en-US" sz="1100" dirty="0"/>
                        <a:t> (2 bits), L/H (1 bit)</a:t>
                      </a:r>
                    </a:p>
                  </a:txBody>
                  <a:tcPr/>
                </a:tc>
                <a:tc>
                  <a:txBody>
                    <a:bodyPr/>
                    <a:lstStyle/>
                    <a:p>
                      <a:r>
                        <a:rPr lang="en-US" sz="1100" dirty="0"/>
                        <a:t>1</a:t>
                      </a:r>
                    </a:p>
                  </a:txBody>
                  <a:tcPr/>
                </a:tc>
                <a:extLst>
                  <a:ext uri="{0D108BD9-81ED-4DB2-BD59-A6C34878D82A}">
                    <a16:rowId xmlns:a16="http://schemas.microsoft.com/office/drawing/2014/main" val="4255934512"/>
                  </a:ext>
                </a:extLst>
              </a:tr>
              <a:tr h="370840">
                <a:tc>
                  <a:txBody>
                    <a:bodyPr/>
                    <a:lstStyle/>
                    <a:p>
                      <a:r>
                        <a:rPr lang="en-US" sz="1100" dirty="0"/>
                        <a:t>Memory </a:t>
                      </a:r>
                      <a:r>
                        <a:rPr lang="en-US" sz="1100" dirty="0">
                          <a:sym typeface="Wingdings" panose="05000000000000000000" pitchFamily="2" charset="2"/>
                        </a:rPr>
                        <a:t> GR</a:t>
                      </a:r>
                      <a:endParaRPr lang="en-US" sz="1100" dirty="0"/>
                    </a:p>
                  </a:txBody>
                  <a:tcPr/>
                </a:tc>
                <a:tc>
                  <a:txBody>
                    <a:bodyPr/>
                    <a:lstStyle/>
                    <a:p>
                      <a:r>
                        <a:rPr lang="en-US" sz="1100" dirty="0"/>
                        <a:t>Rd = *(</a:t>
                      </a:r>
                      <a:r>
                        <a:rPr lang="en-US" sz="1100" dirty="0" err="1"/>
                        <a:t>ARSrc</a:t>
                      </a:r>
                      <a:r>
                        <a:rPr lang="en-US" sz="1100" dirty="0"/>
                        <a:t> + Imm)</a:t>
                      </a:r>
                    </a:p>
                  </a:txBody>
                  <a:tcPr/>
                </a:tc>
                <a:tc>
                  <a:txBody>
                    <a:bodyPr/>
                    <a:lstStyle/>
                    <a:p>
                      <a:r>
                        <a:rPr lang="en-US" sz="1100" dirty="0"/>
                        <a:t>Rd (2 bits), </a:t>
                      </a:r>
                      <a:r>
                        <a:rPr lang="en-US" sz="1100" dirty="0" err="1"/>
                        <a:t>ARSrc</a:t>
                      </a:r>
                      <a:r>
                        <a:rPr lang="en-US" sz="1100" dirty="0"/>
                        <a:t> (2 bits), Imm (8 bits)</a:t>
                      </a:r>
                    </a:p>
                  </a:txBody>
                  <a:tcPr/>
                </a:tc>
                <a:tc>
                  <a:txBody>
                    <a:bodyPr/>
                    <a:lstStyle/>
                    <a:p>
                      <a:r>
                        <a:rPr lang="en-US" sz="1100" dirty="0"/>
                        <a:t>2 (need two opcodes to account for </a:t>
                      </a:r>
                      <a:r>
                        <a:rPr lang="en-US" sz="1100" dirty="0" err="1"/>
                        <a:t>ARSrc</a:t>
                      </a:r>
                      <a:r>
                        <a:rPr lang="en-US" sz="1100" dirty="0"/>
                        <a:t> being 2 bits, but only having 1 bit for the operand in instruction string)</a:t>
                      </a:r>
                    </a:p>
                  </a:txBody>
                  <a:tcPr/>
                </a:tc>
                <a:extLst>
                  <a:ext uri="{0D108BD9-81ED-4DB2-BD59-A6C34878D82A}">
                    <a16:rowId xmlns:a16="http://schemas.microsoft.com/office/drawing/2014/main" val="1235266279"/>
                  </a:ext>
                </a:extLst>
              </a:tr>
              <a:tr h="370840">
                <a:tc>
                  <a:txBody>
                    <a:bodyPr/>
                    <a:lstStyle/>
                    <a:p>
                      <a:r>
                        <a:rPr lang="en-US" sz="1100" dirty="0"/>
                        <a:t>Immediate </a:t>
                      </a:r>
                      <a:r>
                        <a:rPr lang="en-US" sz="1100">
                          <a:sym typeface="Wingdings" panose="05000000000000000000" pitchFamily="2" charset="2"/>
                        </a:rPr>
                        <a:t> AR</a:t>
                      </a:r>
                      <a:endParaRPr lang="en-US" sz="1100" dirty="0"/>
                    </a:p>
                  </a:txBody>
                  <a:tcPr/>
                </a:tc>
                <a:tc>
                  <a:txBody>
                    <a:bodyPr/>
                    <a:lstStyle/>
                    <a:p>
                      <a:r>
                        <a:rPr lang="en-US" sz="1100" dirty="0"/>
                        <a:t>ARDest[L/H] = Imm</a:t>
                      </a:r>
                    </a:p>
                  </a:txBody>
                  <a:tcPr/>
                </a:tc>
                <a:tc>
                  <a:txBody>
                    <a:bodyPr/>
                    <a:lstStyle/>
                    <a:p>
                      <a:r>
                        <a:rPr lang="en-US" sz="1100" dirty="0"/>
                        <a:t>ARDest (2 bits), L/H (1 bit), Imm (8 bits)</a:t>
                      </a:r>
                    </a:p>
                  </a:txBody>
                  <a:tcPr/>
                </a:tc>
                <a:tc>
                  <a:txBody>
                    <a:bodyPr/>
                    <a:lstStyle/>
                    <a:p>
                      <a:r>
                        <a:rPr lang="en-US" sz="1100" dirty="0"/>
                        <a:t>1</a:t>
                      </a:r>
                    </a:p>
                  </a:txBody>
                  <a:tcPr/>
                </a:tc>
                <a:extLst>
                  <a:ext uri="{0D108BD9-81ED-4DB2-BD59-A6C34878D82A}">
                    <a16:rowId xmlns:a16="http://schemas.microsoft.com/office/drawing/2014/main" val="571170062"/>
                  </a:ext>
                </a:extLst>
              </a:tr>
              <a:tr h="370840">
                <a:tc>
                  <a:txBody>
                    <a:bodyPr/>
                    <a:lstStyle/>
                    <a:p>
                      <a:r>
                        <a:rPr lang="en-US" sz="1100" dirty="0"/>
                        <a:t>GR </a:t>
                      </a:r>
                      <a:r>
                        <a:rPr lang="en-US" sz="1100" dirty="0">
                          <a:sym typeface="Wingdings" panose="05000000000000000000" pitchFamily="2" charset="2"/>
                        </a:rPr>
                        <a:t> AR</a:t>
                      </a:r>
                      <a:endParaRPr lang="en-US" sz="1100" dirty="0"/>
                    </a:p>
                  </a:txBody>
                  <a:tcPr/>
                </a:tc>
                <a:tc>
                  <a:txBody>
                    <a:bodyPr/>
                    <a:lstStyle/>
                    <a:p>
                      <a:r>
                        <a:rPr lang="en-US" sz="1100" dirty="0"/>
                        <a:t>ARDest[L/H] = Rs1</a:t>
                      </a:r>
                    </a:p>
                  </a:txBody>
                  <a:tcPr/>
                </a:tc>
                <a:tc>
                  <a:txBody>
                    <a:bodyPr/>
                    <a:lstStyle/>
                    <a:p>
                      <a:r>
                        <a:rPr lang="en-US" sz="1100" dirty="0"/>
                        <a:t>ARDest (2 bits), L/H (1 bit), Rs1 (2 bits)</a:t>
                      </a:r>
                    </a:p>
                  </a:txBody>
                  <a:tcPr/>
                </a:tc>
                <a:tc>
                  <a:txBody>
                    <a:bodyPr/>
                    <a:lstStyle/>
                    <a:p>
                      <a:r>
                        <a:rPr lang="en-US" sz="1100" dirty="0"/>
                        <a:t>1</a:t>
                      </a:r>
                    </a:p>
                  </a:txBody>
                  <a:tcPr/>
                </a:tc>
                <a:extLst>
                  <a:ext uri="{0D108BD9-81ED-4DB2-BD59-A6C34878D82A}">
                    <a16:rowId xmlns:a16="http://schemas.microsoft.com/office/drawing/2014/main" val="49969000"/>
                  </a:ext>
                </a:extLst>
              </a:tr>
              <a:tr h="370840">
                <a:tc>
                  <a:txBody>
                    <a:bodyPr/>
                    <a:lstStyle/>
                    <a:p>
                      <a:r>
                        <a:rPr lang="en-US" sz="1100" dirty="0"/>
                        <a:t>AR </a:t>
                      </a:r>
                      <a:r>
                        <a:rPr lang="en-US" sz="1100" dirty="0">
                          <a:sym typeface="Wingdings" panose="05000000000000000000" pitchFamily="2" charset="2"/>
                        </a:rPr>
                        <a:t> AR</a:t>
                      </a:r>
                      <a:endParaRPr lang="en-US" sz="1100" dirty="0"/>
                    </a:p>
                  </a:txBody>
                  <a:tcPr/>
                </a:tc>
                <a:tc>
                  <a:txBody>
                    <a:bodyPr/>
                    <a:lstStyle/>
                    <a:p>
                      <a:r>
                        <a:rPr lang="en-US" sz="1100" dirty="0"/>
                        <a:t>ARDest = </a:t>
                      </a:r>
                      <a:r>
                        <a:rPr lang="en-US" sz="1100" dirty="0" err="1"/>
                        <a:t>ARSrc</a:t>
                      </a:r>
                      <a:r>
                        <a:rPr lang="en-US" sz="1100" dirty="0"/>
                        <a:t> + Imm</a:t>
                      </a:r>
                    </a:p>
                  </a:txBody>
                  <a:tcPr/>
                </a:tc>
                <a:tc>
                  <a:txBody>
                    <a:bodyPr/>
                    <a:lstStyle/>
                    <a:p>
                      <a:r>
                        <a:rPr lang="en-US" sz="1100" dirty="0"/>
                        <a:t>ARDest (2 bits), </a:t>
                      </a:r>
                      <a:r>
                        <a:rPr lang="en-US" sz="1100" dirty="0" err="1"/>
                        <a:t>ARSrc</a:t>
                      </a:r>
                      <a:r>
                        <a:rPr lang="en-US" sz="1100" dirty="0"/>
                        <a:t> (2 bits), Imm (8 bits)</a:t>
                      </a:r>
                    </a:p>
                  </a:txBody>
                  <a:tcPr/>
                </a:tc>
                <a:tc>
                  <a:txBody>
                    <a:bodyPr/>
                    <a:lstStyle/>
                    <a:p>
                      <a:r>
                        <a:rPr lang="en-US" sz="1100" dirty="0"/>
                        <a:t>2 (need two opcodes to account for </a:t>
                      </a:r>
                      <a:r>
                        <a:rPr lang="en-US" sz="1100" dirty="0" err="1"/>
                        <a:t>ARSrc</a:t>
                      </a:r>
                      <a:r>
                        <a:rPr lang="en-US" sz="1100" dirty="0"/>
                        <a:t> being 2 bits, but only having 1 bit for the operand in instruction string)</a:t>
                      </a:r>
                    </a:p>
                  </a:txBody>
                  <a:tcPr/>
                </a:tc>
                <a:extLst>
                  <a:ext uri="{0D108BD9-81ED-4DB2-BD59-A6C34878D82A}">
                    <a16:rowId xmlns:a16="http://schemas.microsoft.com/office/drawing/2014/main" val="568959793"/>
                  </a:ext>
                </a:extLst>
              </a:tr>
              <a:tr h="370840">
                <a:tc>
                  <a:txBody>
                    <a:bodyPr/>
                    <a:lstStyle/>
                    <a:p>
                      <a:r>
                        <a:rPr lang="en-US" sz="1100" dirty="0"/>
                        <a:t>GR </a:t>
                      </a:r>
                      <a:r>
                        <a:rPr lang="en-US" sz="1100" dirty="0">
                          <a:sym typeface="Wingdings" panose="05000000000000000000" pitchFamily="2" charset="2"/>
                        </a:rPr>
                        <a:t> Memory</a:t>
                      </a:r>
                      <a:endParaRPr lang="en-US" sz="1100" dirty="0"/>
                    </a:p>
                  </a:txBody>
                  <a:tcPr/>
                </a:tc>
                <a:tc>
                  <a:txBody>
                    <a:bodyPr/>
                    <a:lstStyle/>
                    <a:p>
                      <a:r>
                        <a:rPr lang="en-US" sz="1100" dirty="0"/>
                        <a:t>*(</a:t>
                      </a:r>
                      <a:r>
                        <a:rPr lang="en-US" sz="1100" dirty="0" err="1"/>
                        <a:t>ARSrc</a:t>
                      </a:r>
                      <a:r>
                        <a:rPr lang="en-US" sz="1100" dirty="0"/>
                        <a:t> + Imm) = Rs</a:t>
                      </a:r>
                    </a:p>
                  </a:txBody>
                  <a:tcPr/>
                </a:tc>
                <a:tc>
                  <a:txBody>
                    <a:bodyPr/>
                    <a:lstStyle/>
                    <a:p>
                      <a:r>
                        <a:rPr lang="en-US" sz="1100" dirty="0" err="1"/>
                        <a:t>ARSrc</a:t>
                      </a:r>
                      <a:r>
                        <a:rPr lang="en-US" sz="1100" dirty="0"/>
                        <a:t> (2 bits), Imm (8 bits), Rs (2 bits)</a:t>
                      </a:r>
                    </a:p>
                  </a:txBody>
                  <a:tcPr/>
                </a:tc>
                <a:tc>
                  <a:txBody>
                    <a:bodyPr/>
                    <a:lstStyle/>
                    <a:p>
                      <a:r>
                        <a:rPr lang="en-US" sz="1100" dirty="0"/>
                        <a:t>2 (need two opcodes to account for </a:t>
                      </a:r>
                      <a:r>
                        <a:rPr lang="en-US" sz="1100" dirty="0" err="1"/>
                        <a:t>ARSrc</a:t>
                      </a:r>
                      <a:r>
                        <a:rPr lang="en-US" sz="1100" dirty="0"/>
                        <a:t> being 2 bits, but only having 1 bit for the operand in instruction string)</a:t>
                      </a:r>
                    </a:p>
                  </a:txBody>
                  <a:tcPr/>
                </a:tc>
                <a:extLst>
                  <a:ext uri="{0D108BD9-81ED-4DB2-BD59-A6C34878D82A}">
                    <a16:rowId xmlns:a16="http://schemas.microsoft.com/office/drawing/2014/main" val="3138588199"/>
                  </a:ext>
                </a:extLst>
              </a:tr>
            </a:tbl>
          </a:graphicData>
        </a:graphic>
      </p:graphicFrame>
      <p:sp>
        <p:nvSpPr>
          <p:cNvPr id="6" name="TextBox 5">
            <a:extLst>
              <a:ext uri="{FF2B5EF4-FFF2-40B4-BE49-F238E27FC236}">
                <a16:creationId xmlns:a16="http://schemas.microsoft.com/office/drawing/2014/main" id="{A507E00B-83D9-2E66-58E8-E0A4777F40FD}"/>
              </a:ext>
            </a:extLst>
          </p:cNvPr>
          <p:cNvSpPr txBox="1"/>
          <p:nvPr/>
        </p:nvSpPr>
        <p:spPr>
          <a:xfrm>
            <a:off x="9889958" y="999984"/>
            <a:ext cx="2117558" cy="2123658"/>
          </a:xfrm>
          <a:prstGeom prst="rect">
            <a:avLst/>
          </a:prstGeom>
          <a:noFill/>
        </p:spPr>
        <p:txBody>
          <a:bodyPr wrap="square" rtlCol="0">
            <a:spAutoFit/>
          </a:bodyPr>
          <a:lstStyle/>
          <a:p>
            <a:r>
              <a:rPr lang="en-US" sz="1200" dirty="0"/>
              <a:t>Total opcodes needed: 9</a:t>
            </a:r>
          </a:p>
          <a:p>
            <a:endParaRPr lang="en-US" sz="1200" dirty="0"/>
          </a:p>
          <a:p>
            <a:r>
              <a:rPr lang="en-US" sz="1200" dirty="0"/>
              <a:t>But, can offset this by removing:</a:t>
            </a:r>
          </a:p>
          <a:p>
            <a:pPr marL="171450" indent="-171450">
              <a:buFont typeface="Arial" panose="020B0604020202020204" pitchFamily="34" charset="0"/>
              <a:buChar char="•"/>
            </a:pPr>
            <a:r>
              <a:rPr lang="en-US" sz="1200" dirty="0"/>
              <a:t>LSP (1)</a:t>
            </a:r>
          </a:p>
          <a:p>
            <a:pPr marL="171450" indent="-171450">
              <a:buFont typeface="Arial" panose="020B0604020202020204" pitchFamily="34" charset="0"/>
              <a:buChar char="•"/>
            </a:pPr>
            <a:r>
              <a:rPr lang="en-US" sz="1200" dirty="0"/>
              <a:t>PUSH / POP (2)</a:t>
            </a:r>
          </a:p>
          <a:p>
            <a:pPr marL="171450" indent="-171450">
              <a:buFont typeface="Arial" panose="020B0604020202020204" pitchFamily="34" charset="0"/>
              <a:buChar char="•"/>
            </a:pPr>
            <a:r>
              <a:rPr lang="en-US" sz="1200" dirty="0"/>
              <a:t>Current load-store memory instructions (4)</a:t>
            </a:r>
          </a:p>
          <a:p>
            <a:pPr marL="171450" indent="-171450">
              <a:buFont typeface="Arial" panose="020B0604020202020204" pitchFamily="34" charset="0"/>
              <a:buChar char="•"/>
            </a:pPr>
            <a:r>
              <a:rPr lang="en-US" sz="1200" dirty="0"/>
              <a:t>OUT instructions (2) (need to make display interface part of MMIO)</a:t>
            </a:r>
          </a:p>
        </p:txBody>
      </p:sp>
    </p:spTree>
    <p:extLst>
      <p:ext uri="{BB962C8B-B14F-4D97-AF65-F5344CB8AC3E}">
        <p14:creationId xmlns:p14="http://schemas.microsoft.com/office/powerpoint/2010/main" val="330882460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310AF-C2F7-F904-8982-9EF5028E3DA4}"/>
              </a:ext>
            </a:extLst>
          </p:cNvPr>
          <p:cNvSpPr>
            <a:spLocks noGrp="1"/>
          </p:cNvSpPr>
          <p:nvPr>
            <p:ph type="ctrTitle"/>
          </p:nvPr>
        </p:nvSpPr>
        <p:spPr/>
        <p:txBody>
          <a:bodyPr/>
          <a:lstStyle/>
          <a:p>
            <a:r>
              <a:rPr lang="en-US" dirty="0"/>
              <a:t>ByteFrost Instruction Decode</a:t>
            </a:r>
          </a:p>
        </p:txBody>
      </p:sp>
      <p:graphicFrame>
        <p:nvGraphicFramePr>
          <p:cNvPr id="4" name="Table 3">
            <a:extLst>
              <a:ext uri="{FF2B5EF4-FFF2-40B4-BE49-F238E27FC236}">
                <a16:creationId xmlns:a16="http://schemas.microsoft.com/office/drawing/2014/main" id="{3497AD91-9B73-3B63-B08A-109723F48429}"/>
              </a:ext>
            </a:extLst>
          </p:cNvPr>
          <p:cNvGraphicFramePr>
            <a:graphicFrameLocks noGrp="1"/>
          </p:cNvGraphicFramePr>
          <p:nvPr>
            <p:extLst>
              <p:ext uri="{D42A27DB-BD31-4B8C-83A1-F6EECF244321}">
                <p14:modId xmlns:p14="http://schemas.microsoft.com/office/powerpoint/2010/main" val="2233803088"/>
              </p:ext>
            </p:extLst>
          </p:nvPr>
        </p:nvGraphicFramePr>
        <p:xfrm>
          <a:off x="914400" y="1582054"/>
          <a:ext cx="6106026" cy="3535680"/>
        </p:xfrm>
        <a:graphic>
          <a:graphicData uri="http://schemas.openxmlformats.org/drawingml/2006/table">
            <a:tbl>
              <a:tblPr firstRow="1" bandRow="1">
                <a:tableStyleId>{5C22544A-7EE6-4342-B048-85BDC9FD1C3A}</a:tableStyleId>
              </a:tblPr>
              <a:tblGrid>
                <a:gridCol w="1230215">
                  <a:extLst>
                    <a:ext uri="{9D8B030D-6E8A-4147-A177-3AD203B41FA5}">
                      <a16:colId xmlns:a16="http://schemas.microsoft.com/office/drawing/2014/main" val="4096420902"/>
                    </a:ext>
                  </a:extLst>
                </a:gridCol>
                <a:gridCol w="935656">
                  <a:extLst>
                    <a:ext uri="{9D8B030D-6E8A-4147-A177-3AD203B41FA5}">
                      <a16:colId xmlns:a16="http://schemas.microsoft.com/office/drawing/2014/main" val="238005480"/>
                    </a:ext>
                  </a:extLst>
                </a:gridCol>
                <a:gridCol w="3940155">
                  <a:extLst>
                    <a:ext uri="{9D8B030D-6E8A-4147-A177-3AD203B41FA5}">
                      <a16:colId xmlns:a16="http://schemas.microsoft.com/office/drawing/2014/main" val="3437111917"/>
                    </a:ext>
                  </a:extLst>
                </a:gridCol>
              </a:tblGrid>
              <a:tr h="323842">
                <a:tc>
                  <a:txBody>
                    <a:bodyPr/>
                    <a:lstStyle/>
                    <a:p>
                      <a:r>
                        <a:rPr lang="en-US" sz="1100" dirty="0"/>
                        <a:t>Instruction Operand</a:t>
                      </a:r>
                    </a:p>
                  </a:txBody>
                  <a:tcPr/>
                </a:tc>
                <a:tc>
                  <a:txBody>
                    <a:bodyPr/>
                    <a:lstStyle/>
                    <a:p>
                      <a:r>
                        <a:rPr lang="en-US" sz="1100" dirty="0"/>
                        <a:t>Number of Bits</a:t>
                      </a:r>
                    </a:p>
                  </a:txBody>
                  <a:tcPr/>
                </a:tc>
                <a:tc>
                  <a:txBody>
                    <a:bodyPr/>
                    <a:lstStyle/>
                    <a:p>
                      <a:r>
                        <a:rPr lang="en-US" sz="1100" dirty="0"/>
                        <a:t>Location</a:t>
                      </a:r>
                    </a:p>
                  </a:txBody>
                  <a:tcPr/>
                </a:tc>
                <a:extLst>
                  <a:ext uri="{0D108BD9-81ED-4DB2-BD59-A6C34878D82A}">
                    <a16:rowId xmlns:a16="http://schemas.microsoft.com/office/drawing/2014/main" val="3142491206"/>
                  </a:ext>
                </a:extLst>
              </a:tr>
              <a:tr h="244882">
                <a:tc>
                  <a:txBody>
                    <a:bodyPr/>
                    <a:lstStyle/>
                    <a:p>
                      <a:r>
                        <a:rPr lang="en-US" sz="1100" dirty="0"/>
                        <a:t>Opcode</a:t>
                      </a:r>
                    </a:p>
                  </a:txBody>
                  <a:tcPr/>
                </a:tc>
                <a:tc>
                  <a:txBody>
                    <a:bodyPr/>
                    <a:lstStyle/>
                    <a:p>
                      <a:r>
                        <a:rPr lang="en-US" sz="1100" dirty="0"/>
                        <a:t>5</a:t>
                      </a:r>
                    </a:p>
                  </a:txBody>
                  <a:tcPr/>
                </a:tc>
                <a:tc>
                  <a:txBody>
                    <a:bodyPr/>
                    <a:lstStyle/>
                    <a:p>
                      <a:r>
                        <a:rPr lang="en-US" sz="1100" dirty="0"/>
                        <a:t>4:0</a:t>
                      </a:r>
                    </a:p>
                  </a:txBody>
                  <a:tcPr/>
                </a:tc>
                <a:extLst>
                  <a:ext uri="{0D108BD9-81ED-4DB2-BD59-A6C34878D82A}">
                    <a16:rowId xmlns:a16="http://schemas.microsoft.com/office/drawing/2014/main" val="4271331773"/>
                  </a:ext>
                </a:extLst>
              </a:tr>
              <a:tr h="244882">
                <a:tc>
                  <a:txBody>
                    <a:bodyPr/>
                    <a:lstStyle/>
                    <a:p>
                      <a:r>
                        <a:rPr lang="en-US" sz="1100" dirty="0"/>
                        <a:t>Rs1</a:t>
                      </a:r>
                    </a:p>
                  </a:txBody>
                  <a:tcPr/>
                </a:tc>
                <a:tc>
                  <a:txBody>
                    <a:bodyPr/>
                    <a:lstStyle/>
                    <a:p>
                      <a:r>
                        <a:rPr lang="en-US" sz="1100" dirty="0"/>
                        <a:t>2</a:t>
                      </a:r>
                    </a:p>
                  </a:txBody>
                  <a:tcPr/>
                </a:tc>
                <a:tc>
                  <a:txBody>
                    <a:bodyPr/>
                    <a:lstStyle/>
                    <a:p>
                      <a:r>
                        <a:rPr lang="en-US" sz="1100" dirty="0"/>
                        <a:t>13:12</a:t>
                      </a:r>
                    </a:p>
                  </a:txBody>
                  <a:tcPr/>
                </a:tc>
                <a:extLst>
                  <a:ext uri="{0D108BD9-81ED-4DB2-BD59-A6C34878D82A}">
                    <a16:rowId xmlns:a16="http://schemas.microsoft.com/office/drawing/2014/main" val="985623509"/>
                  </a:ext>
                </a:extLst>
              </a:tr>
              <a:tr h="244882">
                <a:tc>
                  <a:txBody>
                    <a:bodyPr/>
                    <a:lstStyle/>
                    <a:p>
                      <a:r>
                        <a:rPr lang="en-US" sz="1100" dirty="0"/>
                        <a:t>Rs2</a:t>
                      </a:r>
                    </a:p>
                  </a:txBody>
                  <a:tcPr/>
                </a:tc>
                <a:tc>
                  <a:txBody>
                    <a:bodyPr/>
                    <a:lstStyle/>
                    <a:p>
                      <a:r>
                        <a:rPr lang="en-US" sz="1100" dirty="0"/>
                        <a:t>2</a:t>
                      </a:r>
                    </a:p>
                  </a:txBody>
                  <a:tcPr/>
                </a:tc>
                <a:tc>
                  <a:txBody>
                    <a:bodyPr/>
                    <a:lstStyle/>
                    <a:p>
                      <a:r>
                        <a:rPr lang="en-US" sz="1100" dirty="0"/>
                        <a:t>15:14</a:t>
                      </a:r>
                    </a:p>
                  </a:txBody>
                  <a:tcPr/>
                </a:tc>
                <a:extLst>
                  <a:ext uri="{0D108BD9-81ED-4DB2-BD59-A6C34878D82A}">
                    <a16:rowId xmlns:a16="http://schemas.microsoft.com/office/drawing/2014/main" val="1635157016"/>
                  </a:ext>
                </a:extLst>
              </a:tr>
              <a:tr h="244882">
                <a:tc>
                  <a:txBody>
                    <a:bodyPr/>
                    <a:lstStyle/>
                    <a:p>
                      <a:r>
                        <a:rPr lang="en-US" sz="1100" dirty="0"/>
                        <a:t>Rd</a:t>
                      </a:r>
                    </a:p>
                  </a:txBody>
                  <a:tcPr/>
                </a:tc>
                <a:tc>
                  <a:txBody>
                    <a:bodyPr/>
                    <a:lstStyle/>
                    <a:p>
                      <a:r>
                        <a:rPr lang="en-US" sz="1100" dirty="0"/>
                        <a:t>2</a:t>
                      </a:r>
                    </a:p>
                  </a:txBody>
                  <a:tcPr/>
                </a:tc>
                <a:tc>
                  <a:txBody>
                    <a:bodyPr/>
                    <a:lstStyle/>
                    <a:p>
                      <a:r>
                        <a:rPr lang="en-US" sz="1100" dirty="0"/>
                        <a:t>7:6</a:t>
                      </a:r>
                    </a:p>
                  </a:txBody>
                  <a:tcPr/>
                </a:tc>
                <a:extLst>
                  <a:ext uri="{0D108BD9-81ED-4DB2-BD59-A6C34878D82A}">
                    <a16:rowId xmlns:a16="http://schemas.microsoft.com/office/drawing/2014/main" val="4042374334"/>
                  </a:ext>
                </a:extLst>
              </a:tr>
              <a:tr h="244882">
                <a:tc>
                  <a:txBody>
                    <a:bodyPr/>
                    <a:lstStyle/>
                    <a:p>
                      <a:r>
                        <a:rPr lang="en-US" sz="1100" dirty="0"/>
                        <a:t>ALU Function</a:t>
                      </a:r>
                    </a:p>
                  </a:txBody>
                  <a:tcPr/>
                </a:tc>
                <a:tc>
                  <a:txBody>
                    <a:bodyPr/>
                    <a:lstStyle/>
                    <a:p>
                      <a:r>
                        <a:rPr lang="en-US" sz="1100" dirty="0"/>
                        <a:t>4</a:t>
                      </a:r>
                    </a:p>
                  </a:txBody>
                  <a:tcPr/>
                </a:tc>
                <a:tc>
                  <a:txBody>
                    <a:bodyPr/>
                    <a:lstStyle/>
                    <a:p>
                      <a:r>
                        <a:rPr lang="en-US" sz="1100" dirty="0"/>
                        <a:t>11:8</a:t>
                      </a:r>
                    </a:p>
                  </a:txBody>
                  <a:tcPr/>
                </a:tc>
                <a:extLst>
                  <a:ext uri="{0D108BD9-81ED-4DB2-BD59-A6C34878D82A}">
                    <a16:rowId xmlns:a16="http://schemas.microsoft.com/office/drawing/2014/main" val="956181473"/>
                  </a:ext>
                </a:extLst>
              </a:tr>
              <a:tr h="244882">
                <a:tc>
                  <a:txBody>
                    <a:bodyPr/>
                    <a:lstStyle/>
                    <a:p>
                      <a:r>
                        <a:rPr lang="en-US" sz="1100" dirty="0"/>
                        <a:t>Immediate (8)</a:t>
                      </a:r>
                    </a:p>
                  </a:txBody>
                  <a:tcPr/>
                </a:tc>
                <a:tc>
                  <a:txBody>
                    <a:bodyPr/>
                    <a:lstStyle/>
                    <a:p>
                      <a:r>
                        <a:rPr lang="en-US" sz="1100" dirty="0"/>
                        <a:t>8</a:t>
                      </a:r>
                    </a:p>
                  </a:txBody>
                  <a:tcPr/>
                </a:tc>
                <a:tc>
                  <a:txBody>
                    <a:bodyPr/>
                    <a:lstStyle/>
                    <a:p>
                      <a:r>
                        <a:rPr lang="en-US" sz="1100" dirty="0"/>
                        <a:t>15:8</a:t>
                      </a:r>
                    </a:p>
                  </a:txBody>
                  <a:tcPr/>
                </a:tc>
                <a:extLst>
                  <a:ext uri="{0D108BD9-81ED-4DB2-BD59-A6C34878D82A}">
                    <a16:rowId xmlns:a16="http://schemas.microsoft.com/office/drawing/2014/main" val="1593811203"/>
                  </a:ext>
                </a:extLst>
              </a:tr>
              <a:tr h="244882">
                <a:tc>
                  <a:txBody>
                    <a:bodyPr/>
                    <a:lstStyle/>
                    <a:p>
                      <a:r>
                        <a:rPr lang="en-US" sz="1100" dirty="0"/>
                        <a:t>Immediate (4)</a:t>
                      </a:r>
                    </a:p>
                  </a:txBody>
                  <a:tcPr/>
                </a:tc>
                <a:tc>
                  <a:txBody>
                    <a:bodyPr/>
                    <a:lstStyle/>
                    <a:p>
                      <a:r>
                        <a:rPr lang="en-US" sz="1100" dirty="0"/>
                        <a:t>4</a:t>
                      </a:r>
                    </a:p>
                  </a:txBody>
                  <a:tcPr/>
                </a:tc>
                <a:tc>
                  <a:txBody>
                    <a:bodyPr/>
                    <a:lstStyle/>
                    <a:p>
                      <a:r>
                        <a:rPr lang="en-US" sz="1100" dirty="0"/>
                        <a:t>15:12</a:t>
                      </a:r>
                    </a:p>
                  </a:txBody>
                  <a:tcPr/>
                </a:tc>
                <a:extLst>
                  <a:ext uri="{0D108BD9-81ED-4DB2-BD59-A6C34878D82A}">
                    <a16:rowId xmlns:a16="http://schemas.microsoft.com/office/drawing/2014/main" val="3097379662"/>
                  </a:ext>
                </a:extLst>
              </a:tr>
              <a:tr h="244882">
                <a:tc>
                  <a:txBody>
                    <a:bodyPr/>
                    <a:lstStyle/>
                    <a:p>
                      <a:r>
                        <a:rPr lang="en-US" sz="1100" dirty="0"/>
                        <a:t>Branch Condition</a:t>
                      </a:r>
                    </a:p>
                  </a:txBody>
                  <a:tcPr/>
                </a:tc>
                <a:tc>
                  <a:txBody>
                    <a:bodyPr/>
                    <a:lstStyle/>
                    <a:p>
                      <a:r>
                        <a:rPr lang="en-US" sz="1100" dirty="0"/>
                        <a:t>3</a:t>
                      </a:r>
                    </a:p>
                  </a:txBody>
                  <a:tcPr/>
                </a:tc>
                <a:tc>
                  <a:txBody>
                    <a:bodyPr/>
                    <a:lstStyle/>
                    <a:p>
                      <a:r>
                        <a:rPr lang="en-US" sz="1100" dirty="0"/>
                        <a:t>7:5</a:t>
                      </a:r>
                    </a:p>
                  </a:txBody>
                  <a:tcPr/>
                </a:tc>
                <a:extLst>
                  <a:ext uri="{0D108BD9-81ED-4DB2-BD59-A6C34878D82A}">
                    <a16:rowId xmlns:a16="http://schemas.microsoft.com/office/drawing/2014/main" val="2041576104"/>
                  </a:ext>
                </a:extLst>
              </a:tr>
              <a:tr h="244882">
                <a:tc>
                  <a:txBody>
                    <a:bodyPr/>
                    <a:lstStyle/>
                    <a:p>
                      <a:r>
                        <a:rPr lang="en-US" sz="1100" dirty="0"/>
                        <a:t>A/I (Display)</a:t>
                      </a:r>
                    </a:p>
                  </a:txBody>
                  <a:tcPr/>
                </a:tc>
                <a:tc>
                  <a:txBody>
                    <a:bodyPr/>
                    <a:lstStyle/>
                    <a:p>
                      <a:r>
                        <a:rPr lang="en-US" sz="1100" dirty="0"/>
                        <a:t>1</a:t>
                      </a:r>
                    </a:p>
                  </a:txBody>
                  <a:tcPr/>
                </a:tc>
                <a:tc>
                  <a:txBody>
                    <a:bodyPr/>
                    <a:lstStyle/>
                    <a:p>
                      <a:r>
                        <a:rPr lang="en-US" sz="1100" dirty="0"/>
                        <a:t>5</a:t>
                      </a:r>
                    </a:p>
                  </a:txBody>
                  <a:tcPr/>
                </a:tc>
                <a:extLst>
                  <a:ext uri="{0D108BD9-81ED-4DB2-BD59-A6C34878D82A}">
                    <a16:rowId xmlns:a16="http://schemas.microsoft.com/office/drawing/2014/main" val="1842420439"/>
                  </a:ext>
                </a:extLst>
              </a:tr>
              <a:tr h="244882">
                <a:tc>
                  <a:txBody>
                    <a:bodyPr/>
                    <a:lstStyle/>
                    <a:p>
                      <a:r>
                        <a:rPr lang="en-US" sz="1100" dirty="0"/>
                        <a:t>AR L/H</a:t>
                      </a:r>
                    </a:p>
                  </a:txBody>
                  <a:tcPr/>
                </a:tc>
                <a:tc>
                  <a:txBody>
                    <a:bodyPr/>
                    <a:lstStyle/>
                    <a:p>
                      <a:r>
                        <a:rPr lang="en-US" sz="1100" dirty="0"/>
                        <a:t>1</a:t>
                      </a:r>
                    </a:p>
                  </a:txBody>
                  <a:tcPr/>
                </a:tc>
                <a:tc>
                  <a:txBody>
                    <a:bodyPr/>
                    <a:lstStyle/>
                    <a:p>
                      <a:r>
                        <a:rPr lang="en-US" sz="1100" dirty="0"/>
                        <a:t>5</a:t>
                      </a:r>
                    </a:p>
                  </a:txBody>
                  <a:tcPr/>
                </a:tc>
                <a:extLst>
                  <a:ext uri="{0D108BD9-81ED-4DB2-BD59-A6C34878D82A}">
                    <a16:rowId xmlns:a16="http://schemas.microsoft.com/office/drawing/2014/main" val="1274894259"/>
                  </a:ext>
                </a:extLst>
              </a:tr>
              <a:tr h="244882">
                <a:tc>
                  <a:txBody>
                    <a:bodyPr/>
                    <a:lstStyle/>
                    <a:p>
                      <a:r>
                        <a:rPr lang="en-US" sz="1100" dirty="0" err="1"/>
                        <a:t>ARSrc</a:t>
                      </a:r>
                      <a:endParaRPr lang="en-US" sz="1100" dirty="0"/>
                    </a:p>
                  </a:txBody>
                  <a:tcPr/>
                </a:tc>
                <a:tc>
                  <a:txBody>
                    <a:bodyPr/>
                    <a:lstStyle/>
                    <a:p>
                      <a:r>
                        <a:rPr lang="en-US" sz="1100" dirty="0"/>
                        <a:t>1 or 2</a:t>
                      </a:r>
                    </a:p>
                  </a:txBody>
                  <a:tcPr/>
                </a:tc>
                <a:tc>
                  <a:txBody>
                    <a:bodyPr/>
                    <a:lstStyle/>
                    <a:p>
                      <a:r>
                        <a:rPr lang="en-US" sz="1100" b="1" dirty="0"/>
                        <a:t>Special Case – See Sidebar</a:t>
                      </a:r>
                    </a:p>
                  </a:txBody>
                  <a:tcPr/>
                </a:tc>
                <a:extLst>
                  <a:ext uri="{0D108BD9-81ED-4DB2-BD59-A6C34878D82A}">
                    <a16:rowId xmlns:a16="http://schemas.microsoft.com/office/drawing/2014/main" val="1835509186"/>
                  </a:ext>
                </a:extLst>
              </a:tr>
              <a:tr h="244882">
                <a:tc>
                  <a:txBody>
                    <a:bodyPr/>
                    <a:lstStyle/>
                    <a:p>
                      <a:r>
                        <a:rPr lang="en-US" sz="1100" dirty="0"/>
                        <a:t>ARDest</a:t>
                      </a:r>
                    </a:p>
                  </a:txBody>
                  <a:tcPr/>
                </a:tc>
                <a:tc>
                  <a:txBody>
                    <a:bodyPr/>
                    <a:lstStyle/>
                    <a:p>
                      <a:r>
                        <a:rPr lang="en-US" sz="1100" dirty="0"/>
                        <a:t>2</a:t>
                      </a:r>
                    </a:p>
                  </a:txBody>
                  <a:tcPr/>
                </a:tc>
                <a:tc>
                  <a:txBody>
                    <a:bodyPr/>
                    <a:lstStyle/>
                    <a:p>
                      <a:r>
                        <a:rPr lang="en-US" sz="1100" dirty="0"/>
                        <a:t>7:6</a:t>
                      </a:r>
                    </a:p>
                  </a:txBody>
                  <a:tcPr/>
                </a:tc>
                <a:extLst>
                  <a:ext uri="{0D108BD9-81ED-4DB2-BD59-A6C34878D82A}">
                    <a16:rowId xmlns:a16="http://schemas.microsoft.com/office/drawing/2014/main" val="4038076245"/>
                  </a:ext>
                </a:extLst>
              </a:tr>
            </a:tbl>
          </a:graphicData>
        </a:graphic>
      </p:graphicFrame>
      <p:sp>
        <p:nvSpPr>
          <p:cNvPr id="5" name="Rectangle 4">
            <a:extLst>
              <a:ext uri="{FF2B5EF4-FFF2-40B4-BE49-F238E27FC236}">
                <a16:creationId xmlns:a16="http://schemas.microsoft.com/office/drawing/2014/main" id="{F25FD756-0733-1E2D-D8A6-5FFBC32D31B4}"/>
              </a:ext>
            </a:extLst>
          </p:cNvPr>
          <p:cNvSpPr/>
          <p:nvPr/>
        </p:nvSpPr>
        <p:spPr>
          <a:xfrm>
            <a:off x="3074068" y="1009096"/>
            <a:ext cx="1076827" cy="406045"/>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1200" dirty="0"/>
              <a:t>Decode Module</a:t>
            </a:r>
          </a:p>
        </p:txBody>
      </p:sp>
      <p:sp>
        <p:nvSpPr>
          <p:cNvPr id="6" name="TextBox 5">
            <a:extLst>
              <a:ext uri="{FF2B5EF4-FFF2-40B4-BE49-F238E27FC236}">
                <a16:creationId xmlns:a16="http://schemas.microsoft.com/office/drawing/2014/main" id="{F43C1AE6-74F9-6277-AC82-95630E8D2FE9}"/>
              </a:ext>
            </a:extLst>
          </p:cNvPr>
          <p:cNvSpPr txBox="1"/>
          <p:nvPr/>
        </p:nvSpPr>
        <p:spPr>
          <a:xfrm>
            <a:off x="914400" y="1081425"/>
            <a:ext cx="1732547" cy="261610"/>
          </a:xfrm>
          <a:prstGeom prst="rect">
            <a:avLst/>
          </a:prstGeom>
          <a:noFill/>
        </p:spPr>
        <p:txBody>
          <a:bodyPr wrap="square" rtlCol="0">
            <a:spAutoFit/>
          </a:bodyPr>
          <a:lstStyle/>
          <a:p>
            <a:r>
              <a:rPr lang="en-US" sz="1100" dirty="0"/>
              <a:t>Instruction String (16 bits)</a:t>
            </a:r>
          </a:p>
        </p:txBody>
      </p:sp>
      <p:cxnSp>
        <p:nvCxnSpPr>
          <p:cNvPr id="8" name="Straight Arrow Connector 7">
            <a:extLst>
              <a:ext uri="{FF2B5EF4-FFF2-40B4-BE49-F238E27FC236}">
                <a16:creationId xmlns:a16="http://schemas.microsoft.com/office/drawing/2014/main" id="{86421354-07D2-AC96-83F7-B7DD2800CC2F}"/>
              </a:ext>
            </a:extLst>
          </p:cNvPr>
          <p:cNvCxnSpPr>
            <a:cxnSpLocks/>
            <a:stCxn id="6" idx="3"/>
            <a:endCxn id="5" idx="1"/>
          </p:cNvCxnSpPr>
          <p:nvPr/>
        </p:nvCxnSpPr>
        <p:spPr>
          <a:xfrm flipV="1">
            <a:off x="2646947" y="1212119"/>
            <a:ext cx="427121" cy="1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B498D84C-79DC-C012-7D33-336AE8AA98CB}"/>
              </a:ext>
            </a:extLst>
          </p:cNvPr>
          <p:cNvCxnSpPr>
            <a:cxnSpLocks/>
            <a:stCxn id="5" idx="3"/>
            <a:endCxn id="13" idx="1"/>
          </p:cNvCxnSpPr>
          <p:nvPr/>
        </p:nvCxnSpPr>
        <p:spPr>
          <a:xfrm flipV="1">
            <a:off x="4150895" y="1212118"/>
            <a:ext cx="60398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8CD6510-AF09-7826-9275-DD158DB449D9}"/>
              </a:ext>
            </a:extLst>
          </p:cNvPr>
          <p:cNvSpPr txBox="1"/>
          <p:nvPr/>
        </p:nvSpPr>
        <p:spPr>
          <a:xfrm>
            <a:off x="4754880" y="1081313"/>
            <a:ext cx="2608446" cy="261610"/>
          </a:xfrm>
          <a:prstGeom prst="rect">
            <a:avLst/>
          </a:prstGeom>
          <a:noFill/>
        </p:spPr>
        <p:txBody>
          <a:bodyPr wrap="square" rtlCol="0">
            <a:spAutoFit/>
          </a:bodyPr>
          <a:lstStyle/>
          <a:p>
            <a:r>
              <a:rPr lang="en-US" sz="1100" dirty="0"/>
              <a:t>Instruction operands (Opcode, Rd, Rs1, …)</a:t>
            </a:r>
          </a:p>
        </p:txBody>
      </p:sp>
      <p:sp>
        <p:nvSpPr>
          <p:cNvPr id="22" name="TextBox 21">
            <a:extLst>
              <a:ext uri="{FF2B5EF4-FFF2-40B4-BE49-F238E27FC236}">
                <a16:creationId xmlns:a16="http://schemas.microsoft.com/office/drawing/2014/main" id="{F1A80535-7873-B7BA-A0AA-FAC07DA290A2}"/>
              </a:ext>
            </a:extLst>
          </p:cNvPr>
          <p:cNvSpPr txBox="1"/>
          <p:nvPr/>
        </p:nvSpPr>
        <p:spPr>
          <a:xfrm>
            <a:off x="7832558" y="1828562"/>
            <a:ext cx="3356810" cy="3323987"/>
          </a:xfrm>
          <a:prstGeom prst="rect">
            <a:avLst/>
          </a:prstGeom>
          <a:solidFill>
            <a:schemeClr val="accent5">
              <a:lumMod val="20000"/>
              <a:lumOff val="80000"/>
            </a:schemeClr>
          </a:solidFill>
        </p:spPr>
        <p:txBody>
          <a:bodyPr wrap="square" rtlCol="0">
            <a:spAutoFit/>
          </a:bodyPr>
          <a:lstStyle/>
          <a:p>
            <a:r>
              <a:rPr lang="en-US" sz="1400" dirty="0" err="1"/>
              <a:t>ARSrc</a:t>
            </a:r>
            <a:r>
              <a:rPr lang="en-US" sz="1400" dirty="0"/>
              <a:t> Decode:</a:t>
            </a:r>
          </a:p>
          <a:p>
            <a:pPr marL="342900" indent="-342900">
              <a:buAutoNum type="arabicPeriod"/>
            </a:pPr>
            <a:r>
              <a:rPr lang="en-US" sz="1400" dirty="0"/>
              <a:t>If opcode is of (AR </a:t>
            </a:r>
            <a:r>
              <a:rPr lang="en-US" sz="1400" dirty="0">
                <a:sym typeface="Wingdings" panose="05000000000000000000" pitchFamily="2" charset="2"/>
              </a:rPr>
              <a:t> GR) (Rd = </a:t>
            </a:r>
            <a:r>
              <a:rPr lang="en-US" sz="1400" dirty="0" err="1">
                <a:sym typeface="Wingdings" panose="05000000000000000000" pitchFamily="2" charset="2"/>
              </a:rPr>
              <a:t>ARSrc</a:t>
            </a:r>
            <a:r>
              <a:rPr lang="en-US" sz="1400" dirty="0">
                <a:sym typeface="Wingdings" panose="05000000000000000000" pitchFamily="2" charset="2"/>
              </a:rPr>
              <a:t>[L/H]) instruction, then </a:t>
            </a:r>
            <a:r>
              <a:rPr lang="en-US" sz="1400" dirty="0" err="1">
                <a:sym typeface="Wingdings" panose="05000000000000000000" pitchFamily="2" charset="2"/>
              </a:rPr>
              <a:t>ARSrc</a:t>
            </a:r>
            <a:r>
              <a:rPr lang="en-US" sz="1400" dirty="0">
                <a:sym typeface="Wingdings" panose="05000000000000000000" pitchFamily="2" charset="2"/>
              </a:rPr>
              <a:t> is in bits 9:8.</a:t>
            </a:r>
          </a:p>
          <a:p>
            <a:pPr marL="342900" indent="-342900">
              <a:buAutoNum type="arabicPeriod"/>
            </a:pPr>
            <a:r>
              <a:rPr lang="en-US" sz="1400" dirty="0">
                <a:sym typeface="Wingdings" panose="05000000000000000000" pitchFamily="2" charset="2"/>
              </a:rPr>
              <a:t>Otherwise, </a:t>
            </a:r>
            <a:r>
              <a:rPr lang="en-US" sz="1400" dirty="0" err="1">
                <a:sym typeface="Wingdings" panose="05000000000000000000" pitchFamily="2" charset="2"/>
              </a:rPr>
              <a:t>ARSrc</a:t>
            </a:r>
            <a:r>
              <a:rPr lang="en-US" sz="1400" dirty="0">
                <a:sym typeface="Wingdings" panose="05000000000000000000" pitchFamily="2" charset="2"/>
              </a:rPr>
              <a:t> is a function of bits 5 and the opcode (maybe the opcode’ least significant bit?)</a:t>
            </a:r>
          </a:p>
          <a:p>
            <a:r>
              <a:rPr lang="en-US" sz="1400" dirty="0">
                <a:sym typeface="Wingdings" panose="05000000000000000000" pitchFamily="2" charset="2"/>
              </a:rPr>
              <a:t>Instructions that specify </a:t>
            </a:r>
            <a:r>
              <a:rPr lang="en-US" sz="1400" dirty="0" err="1">
                <a:sym typeface="Wingdings" panose="05000000000000000000" pitchFamily="2" charset="2"/>
              </a:rPr>
              <a:t>ARSrc</a:t>
            </a:r>
            <a:r>
              <a:rPr lang="en-US" sz="1400" dirty="0">
                <a:sym typeface="Wingdings" panose="05000000000000000000" pitchFamily="2" charset="2"/>
              </a:rPr>
              <a:t> with 1 bit in bit 5 need to get the other bit from the opcode; if we always assign these two-opcode instructions opcodes as [4-bit opcode x][0/1], then we can get the other </a:t>
            </a:r>
            <a:r>
              <a:rPr lang="en-US" sz="1400" dirty="0" err="1">
                <a:sym typeface="Wingdings" panose="05000000000000000000" pitchFamily="2" charset="2"/>
              </a:rPr>
              <a:t>ARSrc</a:t>
            </a:r>
            <a:r>
              <a:rPr lang="en-US" sz="1400" dirty="0">
                <a:sym typeface="Wingdings" panose="05000000000000000000" pitchFamily="2" charset="2"/>
              </a:rPr>
              <a:t> bit from the least significant bit of the opcode, i.e., in these instructions </a:t>
            </a:r>
            <a:r>
              <a:rPr lang="en-US" sz="1400" dirty="0" err="1">
                <a:sym typeface="Wingdings" panose="05000000000000000000" pitchFamily="2" charset="2"/>
              </a:rPr>
              <a:t>ARSrc</a:t>
            </a:r>
            <a:r>
              <a:rPr lang="en-US" sz="1400" dirty="0">
                <a:sym typeface="Wingdings" panose="05000000000000000000" pitchFamily="2" charset="2"/>
              </a:rPr>
              <a:t> is {</a:t>
            </a:r>
            <a:r>
              <a:rPr lang="en-US" sz="1400" dirty="0" err="1">
                <a:sym typeface="Wingdings" panose="05000000000000000000" pitchFamily="2" charset="2"/>
              </a:rPr>
              <a:t>Instr</a:t>
            </a:r>
            <a:r>
              <a:rPr lang="en-US" sz="1400" dirty="0">
                <a:sym typeface="Wingdings" panose="05000000000000000000" pitchFamily="2" charset="2"/>
              </a:rPr>
              <a:t>[5], </a:t>
            </a:r>
            <a:r>
              <a:rPr lang="en-US" sz="1400" dirty="0" err="1">
                <a:sym typeface="Wingdings" panose="05000000000000000000" pitchFamily="2" charset="2"/>
              </a:rPr>
              <a:t>Instr</a:t>
            </a:r>
            <a:r>
              <a:rPr lang="en-US" sz="1400" dirty="0">
                <a:sym typeface="Wingdings" panose="05000000000000000000" pitchFamily="2" charset="2"/>
              </a:rPr>
              <a:t>[0]} (in bits 5 and 0)</a:t>
            </a:r>
            <a:endParaRPr lang="en-US" sz="1400" dirty="0"/>
          </a:p>
        </p:txBody>
      </p:sp>
      <p:sp>
        <p:nvSpPr>
          <p:cNvPr id="23" name="TextBox 22">
            <a:extLst>
              <a:ext uri="{FF2B5EF4-FFF2-40B4-BE49-F238E27FC236}">
                <a16:creationId xmlns:a16="http://schemas.microsoft.com/office/drawing/2014/main" id="{F941DABB-7083-6112-3702-DEE7F74DC2A7}"/>
              </a:ext>
            </a:extLst>
          </p:cNvPr>
          <p:cNvSpPr txBox="1"/>
          <p:nvPr/>
        </p:nvSpPr>
        <p:spPr>
          <a:xfrm>
            <a:off x="7832558" y="523374"/>
            <a:ext cx="3356810" cy="1200329"/>
          </a:xfrm>
          <a:prstGeom prst="rect">
            <a:avLst/>
          </a:prstGeom>
          <a:solidFill>
            <a:schemeClr val="accent4">
              <a:lumMod val="40000"/>
              <a:lumOff val="60000"/>
            </a:schemeClr>
          </a:solidFill>
        </p:spPr>
        <p:txBody>
          <a:bodyPr wrap="square" rtlCol="0">
            <a:spAutoFit/>
          </a:bodyPr>
          <a:lstStyle/>
          <a:p>
            <a:r>
              <a:rPr lang="en-US" sz="1200" b="1" dirty="0"/>
              <a:t>Note: </a:t>
            </a:r>
            <a:r>
              <a:rPr lang="en-US" sz="1200" dirty="0"/>
              <a:t>Decode module always creates values for all operands, even those that don’t exist in the current instruction (e.g., no Immediate in the opcode 2 ALU instruction). It’s up to the microcode to specify which operands to read / use to avoid reading garbage data.</a:t>
            </a:r>
          </a:p>
        </p:txBody>
      </p:sp>
    </p:spTree>
    <p:extLst>
      <p:ext uri="{BB962C8B-B14F-4D97-AF65-F5344CB8AC3E}">
        <p14:creationId xmlns:p14="http://schemas.microsoft.com/office/powerpoint/2010/main" val="44699815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5802C-F942-54F9-74C1-936CC4CC8166}"/>
              </a:ext>
            </a:extLst>
          </p:cNvPr>
          <p:cNvSpPr>
            <a:spLocks noGrp="1"/>
          </p:cNvSpPr>
          <p:nvPr>
            <p:ph type="ctrTitle"/>
          </p:nvPr>
        </p:nvSpPr>
        <p:spPr/>
        <p:txBody>
          <a:bodyPr anchor="ctr" anchorCtr="0"/>
          <a:lstStyle/>
          <a:p>
            <a:r>
              <a:rPr lang="en-US" sz="2000" dirty="0"/>
              <a:t>New Addressing Mode Instructions</a:t>
            </a:r>
          </a:p>
        </p:txBody>
      </p:sp>
      <p:graphicFrame>
        <p:nvGraphicFramePr>
          <p:cNvPr id="3" name="Table 4">
            <a:extLst>
              <a:ext uri="{FF2B5EF4-FFF2-40B4-BE49-F238E27FC236}">
                <a16:creationId xmlns:a16="http://schemas.microsoft.com/office/drawing/2014/main" id="{04EE46AF-8843-DCF0-6E80-572B8DCEAEE6}"/>
              </a:ext>
            </a:extLst>
          </p:cNvPr>
          <p:cNvGraphicFramePr>
            <a:graphicFrameLocks noGrp="1"/>
          </p:cNvGraphicFramePr>
          <p:nvPr/>
        </p:nvGraphicFramePr>
        <p:xfrm>
          <a:off x="1007034" y="1280510"/>
          <a:ext cx="9744185" cy="571285"/>
        </p:xfrm>
        <a:graphic>
          <a:graphicData uri="http://schemas.openxmlformats.org/drawingml/2006/table">
            <a:tbl>
              <a:tblPr firstRow="1" bandRow="1">
                <a:tableStyleId>{5C22544A-7EE6-4342-B048-85BDC9FD1C3A}</a:tableStyleId>
              </a:tblPr>
              <a:tblGrid>
                <a:gridCol w="919469">
                  <a:extLst>
                    <a:ext uri="{9D8B030D-6E8A-4147-A177-3AD203B41FA5}">
                      <a16:colId xmlns:a16="http://schemas.microsoft.com/office/drawing/2014/main" val="1810408170"/>
                    </a:ext>
                  </a:extLst>
                </a:gridCol>
                <a:gridCol w="1706112">
                  <a:extLst>
                    <a:ext uri="{9D8B030D-6E8A-4147-A177-3AD203B41FA5}">
                      <a16:colId xmlns:a16="http://schemas.microsoft.com/office/drawing/2014/main" val="950391025"/>
                    </a:ext>
                  </a:extLst>
                </a:gridCol>
                <a:gridCol w="1290962">
                  <a:extLst>
                    <a:ext uri="{9D8B030D-6E8A-4147-A177-3AD203B41FA5}">
                      <a16:colId xmlns:a16="http://schemas.microsoft.com/office/drawing/2014/main" val="1475888205"/>
                    </a:ext>
                  </a:extLst>
                </a:gridCol>
                <a:gridCol w="1482292">
                  <a:extLst>
                    <a:ext uri="{9D8B030D-6E8A-4147-A177-3AD203B41FA5}">
                      <a16:colId xmlns:a16="http://schemas.microsoft.com/office/drawing/2014/main" val="1355185516"/>
                    </a:ext>
                  </a:extLst>
                </a:gridCol>
                <a:gridCol w="1201439">
                  <a:extLst>
                    <a:ext uri="{9D8B030D-6E8A-4147-A177-3AD203B41FA5}">
                      <a16:colId xmlns:a16="http://schemas.microsoft.com/office/drawing/2014/main" val="1039846299"/>
                    </a:ext>
                  </a:extLst>
                </a:gridCol>
                <a:gridCol w="3143911">
                  <a:extLst>
                    <a:ext uri="{9D8B030D-6E8A-4147-A177-3AD203B41FA5}">
                      <a16:colId xmlns:a16="http://schemas.microsoft.com/office/drawing/2014/main" val="3099546510"/>
                    </a:ext>
                  </a:extLst>
                </a:gridCol>
              </a:tblGrid>
              <a:tr h="232178">
                <a:tc>
                  <a:txBody>
                    <a:bodyPr/>
                    <a:lstStyle/>
                    <a:p>
                      <a:r>
                        <a:rPr lang="en-US" sz="1200" dirty="0"/>
                        <a:t>Type</a:t>
                      </a:r>
                    </a:p>
                  </a:txBody>
                  <a:tcPr marL="84188" marR="84188" marT="42094" marB="42094"/>
                </a:tc>
                <a:tc>
                  <a:txBody>
                    <a:bodyPr/>
                    <a:lstStyle/>
                    <a:p>
                      <a:pPr algn="ctr"/>
                      <a:r>
                        <a:rPr lang="en-US" sz="1200" dirty="0"/>
                        <a:t>15 14 13 12 11 10</a:t>
                      </a:r>
                    </a:p>
                  </a:txBody>
                  <a:tcPr marL="84188" marR="84188" marT="42094" marB="42094"/>
                </a:tc>
                <a:tc>
                  <a:txBody>
                    <a:bodyPr/>
                    <a:lstStyle/>
                    <a:p>
                      <a:pPr algn="ctr"/>
                      <a:r>
                        <a:rPr lang="en-US" sz="1200" dirty="0"/>
                        <a:t>9 8</a:t>
                      </a:r>
                    </a:p>
                  </a:txBody>
                  <a:tcPr marL="84188" marR="84188" marT="42094" marB="42094"/>
                </a:tc>
                <a:tc>
                  <a:txBody>
                    <a:bodyPr/>
                    <a:lstStyle/>
                    <a:p>
                      <a:pPr algn="ctr"/>
                      <a:r>
                        <a:rPr lang="en-US" sz="1200"/>
                        <a:t>7 6</a:t>
                      </a:r>
                    </a:p>
                  </a:txBody>
                  <a:tcPr marL="84188" marR="84188" marT="42094" marB="42094"/>
                </a:tc>
                <a:tc>
                  <a:txBody>
                    <a:bodyPr/>
                    <a:lstStyle/>
                    <a:p>
                      <a:pPr algn="ctr"/>
                      <a:r>
                        <a:rPr lang="en-US" sz="1200"/>
                        <a:t>5</a:t>
                      </a:r>
                    </a:p>
                  </a:txBody>
                  <a:tcPr marL="84188" marR="84188" marT="42094" marB="42094"/>
                </a:tc>
                <a:tc>
                  <a:txBody>
                    <a:bodyPr/>
                    <a:lstStyle/>
                    <a:p>
                      <a:pPr algn="ctr"/>
                      <a:r>
                        <a:rPr lang="en-US" sz="1200"/>
                        <a:t>4 3 2 1 0</a:t>
                      </a:r>
                    </a:p>
                  </a:txBody>
                  <a:tcPr marL="84188" marR="84188" marT="42094" marB="42094"/>
                </a:tc>
                <a:extLst>
                  <a:ext uri="{0D108BD9-81ED-4DB2-BD59-A6C34878D82A}">
                    <a16:rowId xmlns:a16="http://schemas.microsoft.com/office/drawing/2014/main" val="2319756336"/>
                  </a:ext>
                </a:extLst>
              </a:tr>
              <a:tr h="304217">
                <a:tc>
                  <a:txBody>
                    <a:bodyPr/>
                    <a:lstStyle/>
                    <a:p>
                      <a:pPr algn="ctr"/>
                      <a:endParaRPr lang="en-US" sz="1200" dirty="0"/>
                    </a:p>
                  </a:txBody>
                  <a:tcPr marL="84188" marR="84188" marT="42094" marB="42094">
                    <a:solidFill>
                      <a:schemeClr val="accent6"/>
                    </a:solidFill>
                  </a:tcPr>
                </a:tc>
                <a:tc>
                  <a:txBody>
                    <a:bodyPr/>
                    <a:lstStyle/>
                    <a:p>
                      <a:pPr algn="ctr"/>
                      <a:r>
                        <a:rPr lang="en-US" sz="1200" dirty="0"/>
                        <a:t>XXXXXX</a:t>
                      </a:r>
                    </a:p>
                  </a:txBody>
                  <a:tcPr marL="84188" marR="84188" marT="42094" marB="42094"/>
                </a:tc>
                <a:tc>
                  <a:txBody>
                    <a:bodyPr/>
                    <a:lstStyle/>
                    <a:p>
                      <a:pPr algn="ctr"/>
                      <a:r>
                        <a:rPr lang="en-US" sz="1200" dirty="0" err="1"/>
                        <a:t>ARSrc</a:t>
                      </a:r>
                      <a:endParaRPr lang="en-US" sz="1200" dirty="0"/>
                    </a:p>
                  </a:txBody>
                  <a:tcPr marL="84188" marR="84188" marT="42094" marB="42094"/>
                </a:tc>
                <a:tc>
                  <a:txBody>
                    <a:bodyPr/>
                    <a:lstStyle/>
                    <a:p>
                      <a:pPr algn="ctr"/>
                      <a:r>
                        <a:rPr lang="en-US" sz="1200" dirty="0"/>
                        <a:t>Rd</a:t>
                      </a:r>
                    </a:p>
                  </a:txBody>
                  <a:tcPr marL="84188" marR="84188" marT="42094" marB="42094"/>
                </a:tc>
                <a:tc>
                  <a:txBody>
                    <a:bodyPr/>
                    <a:lstStyle/>
                    <a:p>
                      <a:pPr algn="ctr"/>
                      <a:r>
                        <a:rPr lang="en-US" sz="1200" dirty="0"/>
                        <a:t>L/H</a:t>
                      </a:r>
                    </a:p>
                  </a:txBody>
                  <a:tcPr marL="84188" marR="84188" marT="42094" marB="42094"/>
                </a:tc>
                <a:tc>
                  <a:txBody>
                    <a:bodyPr/>
                    <a:lstStyle/>
                    <a:p>
                      <a:pPr algn="ctr"/>
                      <a:r>
                        <a:rPr lang="en-US" sz="1200" dirty="0" err="1"/>
                        <a:t>OpCode</a:t>
                      </a:r>
                      <a:endParaRPr lang="en-US" sz="1200" dirty="0"/>
                    </a:p>
                  </a:txBody>
                  <a:tcPr marL="84188" marR="84188" marT="42094" marB="42094"/>
                </a:tc>
                <a:extLst>
                  <a:ext uri="{0D108BD9-81ED-4DB2-BD59-A6C34878D82A}">
                    <a16:rowId xmlns:a16="http://schemas.microsoft.com/office/drawing/2014/main" val="2570910443"/>
                  </a:ext>
                </a:extLst>
              </a:tr>
            </a:tbl>
          </a:graphicData>
        </a:graphic>
      </p:graphicFrame>
      <p:sp>
        <p:nvSpPr>
          <p:cNvPr id="4" name="TextBox 3">
            <a:extLst>
              <a:ext uri="{FF2B5EF4-FFF2-40B4-BE49-F238E27FC236}">
                <a16:creationId xmlns:a16="http://schemas.microsoft.com/office/drawing/2014/main" id="{F2FB76A1-7E8A-53DA-2BAB-A6ACDF7E3824}"/>
              </a:ext>
            </a:extLst>
          </p:cNvPr>
          <p:cNvSpPr txBox="1"/>
          <p:nvPr/>
        </p:nvSpPr>
        <p:spPr>
          <a:xfrm>
            <a:off x="421104" y="914400"/>
            <a:ext cx="2941721" cy="369332"/>
          </a:xfrm>
          <a:prstGeom prst="rect">
            <a:avLst/>
          </a:prstGeom>
          <a:noFill/>
        </p:spPr>
        <p:txBody>
          <a:bodyPr wrap="square" rtlCol="0">
            <a:spAutoFit/>
          </a:bodyPr>
          <a:lstStyle/>
          <a:p>
            <a:r>
              <a:rPr lang="en-US" dirty="0"/>
              <a:t>(AR </a:t>
            </a:r>
            <a:r>
              <a:rPr lang="en-US" dirty="0">
                <a:sym typeface="Wingdings" panose="05000000000000000000" pitchFamily="2" charset="2"/>
              </a:rPr>
              <a:t> GR) Rd = </a:t>
            </a:r>
            <a:r>
              <a:rPr lang="en-US" dirty="0" err="1">
                <a:sym typeface="Wingdings" panose="05000000000000000000" pitchFamily="2" charset="2"/>
              </a:rPr>
              <a:t>ARSrc</a:t>
            </a:r>
            <a:r>
              <a:rPr lang="en-US" dirty="0">
                <a:sym typeface="Wingdings" panose="05000000000000000000" pitchFamily="2" charset="2"/>
              </a:rPr>
              <a:t>[L/H]</a:t>
            </a:r>
            <a:endParaRPr lang="en-US" dirty="0"/>
          </a:p>
        </p:txBody>
      </p:sp>
      <p:graphicFrame>
        <p:nvGraphicFramePr>
          <p:cNvPr id="5" name="Table 4">
            <a:extLst>
              <a:ext uri="{FF2B5EF4-FFF2-40B4-BE49-F238E27FC236}">
                <a16:creationId xmlns:a16="http://schemas.microsoft.com/office/drawing/2014/main" id="{4E802FAE-93BB-B199-1864-CDEF8F7052B7}"/>
              </a:ext>
            </a:extLst>
          </p:cNvPr>
          <p:cNvGraphicFramePr>
            <a:graphicFrameLocks noGrp="1"/>
          </p:cNvGraphicFramePr>
          <p:nvPr/>
        </p:nvGraphicFramePr>
        <p:xfrm>
          <a:off x="1007034" y="2255031"/>
          <a:ext cx="9744185" cy="547224"/>
        </p:xfrm>
        <a:graphic>
          <a:graphicData uri="http://schemas.openxmlformats.org/drawingml/2006/table">
            <a:tbl>
              <a:tblPr firstRow="1" bandRow="1">
                <a:tableStyleId>{5C22544A-7EE6-4342-B048-85BDC9FD1C3A}</a:tableStyleId>
              </a:tblPr>
              <a:tblGrid>
                <a:gridCol w="919469">
                  <a:extLst>
                    <a:ext uri="{9D8B030D-6E8A-4147-A177-3AD203B41FA5}">
                      <a16:colId xmlns:a16="http://schemas.microsoft.com/office/drawing/2014/main" val="1810408170"/>
                    </a:ext>
                  </a:extLst>
                </a:gridCol>
                <a:gridCol w="893614">
                  <a:extLst>
                    <a:ext uri="{9D8B030D-6E8A-4147-A177-3AD203B41FA5}">
                      <a16:colId xmlns:a16="http://schemas.microsoft.com/office/drawing/2014/main" val="950391025"/>
                    </a:ext>
                  </a:extLst>
                </a:gridCol>
                <a:gridCol w="812498">
                  <a:extLst>
                    <a:ext uri="{9D8B030D-6E8A-4147-A177-3AD203B41FA5}">
                      <a16:colId xmlns:a16="http://schemas.microsoft.com/office/drawing/2014/main" val="1217920130"/>
                    </a:ext>
                  </a:extLst>
                </a:gridCol>
                <a:gridCol w="1290962">
                  <a:extLst>
                    <a:ext uri="{9D8B030D-6E8A-4147-A177-3AD203B41FA5}">
                      <a16:colId xmlns:a16="http://schemas.microsoft.com/office/drawing/2014/main" val="1475888205"/>
                    </a:ext>
                  </a:extLst>
                </a:gridCol>
                <a:gridCol w="1482292">
                  <a:extLst>
                    <a:ext uri="{9D8B030D-6E8A-4147-A177-3AD203B41FA5}">
                      <a16:colId xmlns:a16="http://schemas.microsoft.com/office/drawing/2014/main" val="1355185516"/>
                    </a:ext>
                  </a:extLst>
                </a:gridCol>
                <a:gridCol w="1201439">
                  <a:extLst>
                    <a:ext uri="{9D8B030D-6E8A-4147-A177-3AD203B41FA5}">
                      <a16:colId xmlns:a16="http://schemas.microsoft.com/office/drawing/2014/main" val="1039846299"/>
                    </a:ext>
                  </a:extLst>
                </a:gridCol>
                <a:gridCol w="3143911">
                  <a:extLst>
                    <a:ext uri="{9D8B030D-6E8A-4147-A177-3AD203B41FA5}">
                      <a16:colId xmlns:a16="http://schemas.microsoft.com/office/drawing/2014/main" val="3099546510"/>
                    </a:ext>
                  </a:extLst>
                </a:gridCol>
              </a:tblGrid>
              <a:tr h="273612">
                <a:tc>
                  <a:txBody>
                    <a:bodyPr/>
                    <a:lstStyle/>
                    <a:p>
                      <a:r>
                        <a:rPr lang="en-US" sz="1200" dirty="0"/>
                        <a:t>Type</a:t>
                      </a:r>
                    </a:p>
                  </a:txBody>
                  <a:tcPr marL="84188" marR="84188" marT="42094" marB="42094"/>
                </a:tc>
                <a:tc>
                  <a:txBody>
                    <a:bodyPr/>
                    <a:lstStyle/>
                    <a:p>
                      <a:pPr algn="ctr"/>
                      <a:r>
                        <a:rPr lang="en-US" sz="1200"/>
                        <a:t>15 14</a:t>
                      </a:r>
                    </a:p>
                  </a:txBody>
                  <a:tcPr marL="84188" marR="84188" marT="42094" marB="42094"/>
                </a:tc>
                <a:tc>
                  <a:txBody>
                    <a:bodyPr/>
                    <a:lstStyle/>
                    <a:p>
                      <a:pPr algn="ctr"/>
                      <a:r>
                        <a:rPr lang="en-US" sz="1200"/>
                        <a:t>13 12</a:t>
                      </a:r>
                    </a:p>
                  </a:txBody>
                  <a:tcPr marL="84188" marR="84188" marT="42094" marB="42094"/>
                </a:tc>
                <a:tc>
                  <a:txBody>
                    <a:bodyPr/>
                    <a:lstStyle/>
                    <a:p>
                      <a:pPr algn="ctr"/>
                      <a:r>
                        <a:rPr lang="en-US" sz="1200"/>
                        <a:t>11 10 9 8</a:t>
                      </a:r>
                    </a:p>
                  </a:txBody>
                  <a:tcPr marL="84188" marR="84188" marT="42094" marB="42094"/>
                </a:tc>
                <a:tc>
                  <a:txBody>
                    <a:bodyPr/>
                    <a:lstStyle/>
                    <a:p>
                      <a:pPr algn="ctr"/>
                      <a:r>
                        <a:rPr lang="en-US" sz="1200"/>
                        <a:t>7 6</a:t>
                      </a:r>
                    </a:p>
                  </a:txBody>
                  <a:tcPr marL="84188" marR="84188" marT="42094" marB="42094"/>
                </a:tc>
                <a:tc>
                  <a:txBody>
                    <a:bodyPr/>
                    <a:lstStyle/>
                    <a:p>
                      <a:pPr algn="ctr"/>
                      <a:r>
                        <a:rPr lang="en-US" sz="1200"/>
                        <a:t>5</a:t>
                      </a:r>
                    </a:p>
                  </a:txBody>
                  <a:tcPr marL="84188" marR="84188" marT="42094" marB="42094"/>
                </a:tc>
                <a:tc>
                  <a:txBody>
                    <a:bodyPr/>
                    <a:lstStyle/>
                    <a:p>
                      <a:pPr algn="ctr"/>
                      <a:r>
                        <a:rPr lang="en-US" sz="1200"/>
                        <a:t>4 3 2 1 0</a:t>
                      </a:r>
                    </a:p>
                  </a:txBody>
                  <a:tcPr marL="84188" marR="84188" marT="42094" marB="42094"/>
                </a:tc>
                <a:extLst>
                  <a:ext uri="{0D108BD9-81ED-4DB2-BD59-A6C34878D82A}">
                    <a16:rowId xmlns:a16="http://schemas.microsoft.com/office/drawing/2014/main" val="2319756336"/>
                  </a:ext>
                </a:extLst>
              </a:tr>
              <a:tr h="273612">
                <a:tc>
                  <a:txBody>
                    <a:bodyPr/>
                    <a:lstStyle/>
                    <a:p>
                      <a:pPr algn="ctr"/>
                      <a:endParaRPr lang="en-US" sz="1200" dirty="0"/>
                    </a:p>
                  </a:txBody>
                  <a:tcPr marL="84188" marR="84188" marT="42094" marB="42094">
                    <a:solidFill>
                      <a:schemeClr val="accent6"/>
                    </a:solidFill>
                  </a:tcPr>
                </a:tc>
                <a:tc gridSpan="3">
                  <a:txBody>
                    <a:bodyPr/>
                    <a:lstStyle/>
                    <a:p>
                      <a:pPr algn="ctr"/>
                      <a:r>
                        <a:rPr lang="en-US" sz="1200" dirty="0"/>
                        <a:t>Immediate (8-bit)</a:t>
                      </a:r>
                    </a:p>
                  </a:txBody>
                  <a:tcPr marL="84188" marR="84188" marT="42094" marB="42094"/>
                </a:tc>
                <a:tc hMerge="1">
                  <a:txBody>
                    <a:bodyPr/>
                    <a:lstStyle/>
                    <a:p>
                      <a:pPr algn="ctr"/>
                      <a:endParaRPr lang="en-US"/>
                    </a:p>
                  </a:txBody>
                  <a:tcPr/>
                </a:tc>
                <a:tc hMerge="1">
                  <a:txBody>
                    <a:bodyPr/>
                    <a:lstStyle/>
                    <a:p>
                      <a:pPr algn="ctr"/>
                      <a:r>
                        <a:rPr lang="en-US"/>
                        <a:t>Immediate (8-bit)</a:t>
                      </a:r>
                    </a:p>
                  </a:txBody>
                  <a:tcPr/>
                </a:tc>
                <a:tc>
                  <a:txBody>
                    <a:bodyPr/>
                    <a:lstStyle/>
                    <a:p>
                      <a:pPr algn="ctr"/>
                      <a:r>
                        <a:rPr lang="en-US" sz="1200" dirty="0"/>
                        <a:t>Rd</a:t>
                      </a:r>
                    </a:p>
                  </a:txBody>
                  <a:tcPr marL="84188" marR="84188" marT="42094" marB="42094"/>
                </a:tc>
                <a:tc>
                  <a:txBody>
                    <a:bodyPr/>
                    <a:lstStyle/>
                    <a:p>
                      <a:pPr algn="ctr"/>
                      <a:r>
                        <a:rPr lang="en-US" sz="1200" dirty="0" err="1"/>
                        <a:t>ARSrc</a:t>
                      </a:r>
                      <a:endParaRPr lang="en-US" sz="1200" dirty="0"/>
                    </a:p>
                  </a:txBody>
                  <a:tcPr marL="84188" marR="84188" marT="42094" marB="42094"/>
                </a:tc>
                <a:tc>
                  <a:txBody>
                    <a:bodyPr/>
                    <a:lstStyle/>
                    <a:p>
                      <a:pPr algn="ctr"/>
                      <a:r>
                        <a:rPr lang="en-US" sz="1200" dirty="0" err="1"/>
                        <a:t>OpCode</a:t>
                      </a:r>
                      <a:r>
                        <a:rPr lang="en-US" sz="1200" dirty="0"/>
                        <a:t> (bit 0 is part of </a:t>
                      </a:r>
                      <a:r>
                        <a:rPr lang="en-US" sz="1200" dirty="0" err="1"/>
                        <a:t>ARSrc</a:t>
                      </a:r>
                      <a:r>
                        <a:rPr lang="en-US" sz="1200" dirty="0"/>
                        <a:t>)</a:t>
                      </a:r>
                    </a:p>
                  </a:txBody>
                  <a:tcPr marL="84188" marR="84188" marT="42094" marB="42094"/>
                </a:tc>
                <a:extLst>
                  <a:ext uri="{0D108BD9-81ED-4DB2-BD59-A6C34878D82A}">
                    <a16:rowId xmlns:a16="http://schemas.microsoft.com/office/drawing/2014/main" val="2570910443"/>
                  </a:ext>
                </a:extLst>
              </a:tr>
            </a:tbl>
          </a:graphicData>
        </a:graphic>
      </p:graphicFrame>
      <p:sp>
        <p:nvSpPr>
          <p:cNvPr id="6" name="TextBox 5">
            <a:extLst>
              <a:ext uri="{FF2B5EF4-FFF2-40B4-BE49-F238E27FC236}">
                <a16:creationId xmlns:a16="http://schemas.microsoft.com/office/drawing/2014/main" id="{20F25B92-C322-E92B-3F5B-73DB3330DFBD}"/>
              </a:ext>
            </a:extLst>
          </p:cNvPr>
          <p:cNvSpPr txBox="1"/>
          <p:nvPr/>
        </p:nvSpPr>
        <p:spPr>
          <a:xfrm>
            <a:off x="421104" y="1888921"/>
            <a:ext cx="4333776" cy="369332"/>
          </a:xfrm>
          <a:prstGeom prst="rect">
            <a:avLst/>
          </a:prstGeom>
          <a:noFill/>
        </p:spPr>
        <p:txBody>
          <a:bodyPr wrap="square" rtlCol="0">
            <a:spAutoFit/>
          </a:bodyPr>
          <a:lstStyle/>
          <a:p>
            <a:r>
              <a:rPr lang="en-US" dirty="0"/>
              <a:t>(Memory </a:t>
            </a:r>
            <a:r>
              <a:rPr lang="en-US" dirty="0">
                <a:sym typeface="Wingdings" panose="05000000000000000000" pitchFamily="2" charset="2"/>
              </a:rPr>
              <a:t> GR) Rd = *(</a:t>
            </a:r>
            <a:r>
              <a:rPr lang="en-US" dirty="0" err="1">
                <a:sym typeface="Wingdings" panose="05000000000000000000" pitchFamily="2" charset="2"/>
              </a:rPr>
              <a:t>ARSrc</a:t>
            </a:r>
            <a:r>
              <a:rPr lang="en-US" dirty="0">
                <a:sym typeface="Wingdings" panose="05000000000000000000" pitchFamily="2" charset="2"/>
              </a:rPr>
              <a:t> + Imm)</a:t>
            </a:r>
            <a:endParaRPr lang="en-US" dirty="0"/>
          </a:p>
        </p:txBody>
      </p:sp>
      <p:graphicFrame>
        <p:nvGraphicFramePr>
          <p:cNvPr id="7" name="Table 4">
            <a:extLst>
              <a:ext uri="{FF2B5EF4-FFF2-40B4-BE49-F238E27FC236}">
                <a16:creationId xmlns:a16="http://schemas.microsoft.com/office/drawing/2014/main" id="{865F6387-ABB4-D80F-7D7B-EE8C95137864}"/>
              </a:ext>
            </a:extLst>
          </p:cNvPr>
          <p:cNvGraphicFramePr>
            <a:graphicFrameLocks noGrp="1"/>
          </p:cNvGraphicFramePr>
          <p:nvPr/>
        </p:nvGraphicFramePr>
        <p:xfrm>
          <a:off x="1007034" y="3218723"/>
          <a:ext cx="9744185" cy="547224"/>
        </p:xfrm>
        <a:graphic>
          <a:graphicData uri="http://schemas.openxmlformats.org/drawingml/2006/table">
            <a:tbl>
              <a:tblPr firstRow="1" bandRow="1">
                <a:tableStyleId>{5C22544A-7EE6-4342-B048-85BDC9FD1C3A}</a:tableStyleId>
              </a:tblPr>
              <a:tblGrid>
                <a:gridCol w="919469">
                  <a:extLst>
                    <a:ext uri="{9D8B030D-6E8A-4147-A177-3AD203B41FA5}">
                      <a16:colId xmlns:a16="http://schemas.microsoft.com/office/drawing/2014/main" val="1810408170"/>
                    </a:ext>
                  </a:extLst>
                </a:gridCol>
                <a:gridCol w="893614">
                  <a:extLst>
                    <a:ext uri="{9D8B030D-6E8A-4147-A177-3AD203B41FA5}">
                      <a16:colId xmlns:a16="http://schemas.microsoft.com/office/drawing/2014/main" val="950391025"/>
                    </a:ext>
                  </a:extLst>
                </a:gridCol>
                <a:gridCol w="812498">
                  <a:extLst>
                    <a:ext uri="{9D8B030D-6E8A-4147-A177-3AD203B41FA5}">
                      <a16:colId xmlns:a16="http://schemas.microsoft.com/office/drawing/2014/main" val="1217920130"/>
                    </a:ext>
                  </a:extLst>
                </a:gridCol>
                <a:gridCol w="1290962">
                  <a:extLst>
                    <a:ext uri="{9D8B030D-6E8A-4147-A177-3AD203B41FA5}">
                      <a16:colId xmlns:a16="http://schemas.microsoft.com/office/drawing/2014/main" val="1475888205"/>
                    </a:ext>
                  </a:extLst>
                </a:gridCol>
                <a:gridCol w="1482292">
                  <a:extLst>
                    <a:ext uri="{9D8B030D-6E8A-4147-A177-3AD203B41FA5}">
                      <a16:colId xmlns:a16="http://schemas.microsoft.com/office/drawing/2014/main" val="1355185516"/>
                    </a:ext>
                  </a:extLst>
                </a:gridCol>
                <a:gridCol w="1201439">
                  <a:extLst>
                    <a:ext uri="{9D8B030D-6E8A-4147-A177-3AD203B41FA5}">
                      <a16:colId xmlns:a16="http://schemas.microsoft.com/office/drawing/2014/main" val="1039846299"/>
                    </a:ext>
                  </a:extLst>
                </a:gridCol>
                <a:gridCol w="3143911">
                  <a:extLst>
                    <a:ext uri="{9D8B030D-6E8A-4147-A177-3AD203B41FA5}">
                      <a16:colId xmlns:a16="http://schemas.microsoft.com/office/drawing/2014/main" val="3099546510"/>
                    </a:ext>
                  </a:extLst>
                </a:gridCol>
              </a:tblGrid>
              <a:tr h="273612">
                <a:tc>
                  <a:txBody>
                    <a:bodyPr/>
                    <a:lstStyle/>
                    <a:p>
                      <a:r>
                        <a:rPr lang="en-US" sz="1200" dirty="0"/>
                        <a:t>Type</a:t>
                      </a:r>
                    </a:p>
                  </a:txBody>
                  <a:tcPr marL="84188" marR="84188" marT="42094" marB="42094"/>
                </a:tc>
                <a:tc>
                  <a:txBody>
                    <a:bodyPr/>
                    <a:lstStyle/>
                    <a:p>
                      <a:pPr algn="ctr"/>
                      <a:r>
                        <a:rPr lang="en-US" sz="1200"/>
                        <a:t>15 14</a:t>
                      </a:r>
                    </a:p>
                  </a:txBody>
                  <a:tcPr marL="84188" marR="84188" marT="42094" marB="42094"/>
                </a:tc>
                <a:tc>
                  <a:txBody>
                    <a:bodyPr/>
                    <a:lstStyle/>
                    <a:p>
                      <a:pPr algn="ctr"/>
                      <a:r>
                        <a:rPr lang="en-US" sz="1200"/>
                        <a:t>13 12</a:t>
                      </a:r>
                    </a:p>
                  </a:txBody>
                  <a:tcPr marL="84188" marR="84188" marT="42094" marB="42094"/>
                </a:tc>
                <a:tc>
                  <a:txBody>
                    <a:bodyPr/>
                    <a:lstStyle/>
                    <a:p>
                      <a:pPr algn="ctr"/>
                      <a:r>
                        <a:rPr lang="en-US" sz="1200"/>
                        <a:t>11 10 9 8</a:t>
                      </a:r>
                    </a:p>
                  </a:txBody>
                  <a:tcPr marL="84188" marR="84188" marT="42094" marB="42094"/>
                </a:tc>
                <a:tc>
                  <a:txBody>
                    <a:bodyPr/>
                    <a:lstStyle/>
                    <a:p>
                      <a:pPr algn="ctr"/>
                      <a:r>
                        <a:rPr lang="en-US" sz="1200"/>
                        <a:t>7 6</a:t>
                      </a:r>
                    </a:p>
                  </a:txBody>
                  <a:tcPr marL="84188" marR="84188" marT="42094" marB="42094"/>
                </a:tc>
                <a:tc>
                  <a:txBody>
                    <a:bodyPr/>
                    <a:lstStyle/>
                    <a:p>
                      <a:pPr algn="ctr"/>
                      <a:r>
                        <a:rPr lang="en-US" sz="1200"/>
                        <a:t>5</a:t>
                      </a:r>
                    </a:p>
                  </a:txBody>
                  <a:tcPr marL="84188" marR="84188" marT="42094" marB="42094"/>
                </a:tc>
                <a:tc>
                  <a:txBody>
                    <a:bodyPr/>
                    <a:lstStyle/>
                    <a:p>
                      <a:pPr algn="ctr"/>
                      <a:r>
                        <a:rPr lang="en-US" sz="1200"/>
                        <a:t>4 3 2 1 0</a:t>
                      </a:r>
                    </a:p>
                  </a:txBody>
                  <a:tcPr marL="84188" marR="84188" marT="42094" marB="42094"/>
                </a:tc>
                <a:extLst>
                  <a:ext uri="{0D108BD9-81ED-4DB2-BD59-A6C34878D82A}">
                    <a16:rowId xmlns:a16="http://schemas.microsoft.com/office/drawing/2014/main" val="2319756336"/>
                  </a:ext>
                </a:extLst>
              </a:tr>
              <a:tr h="273612">
                <a:tc>
                  <a:txBody>
                    <a:bodyPr/>
                    <a:lstStyle/>
                    <a:p>
                      <a:pPr algn="ctr"/>
                      <a:endParaRPr lang="en-US" sz="1200" dirty="0"/>
                    </a:p>
                  </a:txBody>
                  <a:tcPr marL="84188" marR="84188" marT="42094" marB="42094">
                    <a:solidFill>
                      <a:schemeClr val="accent6"/>
                    </a:solidFill>
                  </a:tcPr>
                </a:tc>
                <a:tc gridSpan="3">
                  <a:txBody>
                    <a:bodyPr/>
                    <a:lstStyle/>
                    <a:p>
                      <a:pPr algn="ctr"/>
                      <a:r>
                        <a:rPr lang="en-US" sz="1200" dirty="0"/>
                        <a:t>Immediate (8-bit)</a:t>
                      </a:r>
                    </a:p>
                  </a:txBody>
                  <a:tcPr marL="84188" marR="84188" marT="42094" marB="42094"/>
                </a:tc>
                <a:tc hMerge="1">
                  <a:txBody>
                    <a:bodyPr/>
                    <a:lstStyle/>
                    <a:p>
                      <a:pPr algn="ctr"/>
                      <a:endParaRPr lang="en-US"/>
                    </a:p>
                  </a:txBody>
                  <a:tcPr/>
                </a:tc>
                <a:tc hMerge="1">
                  <a:txBody>
                    <a:bodyPr/>
                    <a:lstStyle/>
                    <a:p>
                      <a:pPr algn="ctr"/>
                      <a:r>
                        <a:rPr lang="en-US"/>
                        <a:t>Immediate (8-bit)</a:t>
                      </a:r>
                    </a:p>
                  </a:txBody>
                  <a:tcPr/>
                </a:tc>
                <a:tc>
                  <a:txBody>
                    <a:bodyPr/>
                    <a:lstStyle/>
                    <a:p>
                      <a:pPr algn="ctr"/>
                      <a:r>
                        <a:rPr lang="en-US" sz="1200" dirty="0"/>
                        <a:t>Rd</a:t>
                      </a:r>
                    </a:p>
                  </a:txBody>
                  <a:tcPr marL="84188" marR="84188" marT="42094" marB="42094"/>
                </a:tc>
                <a:tc>
                  <a:txBody>
                    <a:bodyPr/>
                    <a:lstStyle/>
                    <a:p>
                      <a:pPr algn="ctr"/>
                      <a:r>
                        <a:rPr lang="en-US" sz="1200" dirty="0" err="1"/>
                        <a:t>ARSrc</a:t>
                      </a:r>
                      <a:endParaRPr lang="en-US" sz="1200" dirty="0"/>
                    </a:p>
                  </a:txBody>
                  <a:tcPr marL="84188" marR="84188" marT="42094" marB="42094"/>
                </a:tc>
                <a:tc>
                  <a:txBody>
                    <a:bodyPr/>
                    <a:lstStyle/>
                    <a:p>
                      <a:pPr algn="ctr"/>
                      <a:r>
                        <a:rPr lang="en-US" sz="1200" dirty="0" err="1"/>
                        <a:t>OpCode</a:t>
                      </a:r>
                      <a:r>
                        <a:rPr lang="en-US" sz="1200" dirty="0"/>
                        <a:t> (bit 0 is part of </a:t>
                      </a:r>
                      <a:r>
                        <a:rPr lang="en-US" sz="1200" dirty="0" err="1"/>
                        <a:t>ARSrc</a:t>
                      </a:r>
                      <a:r>
                        <a:rPr lang="en-US" sz="1200" dirty="0"/>
                        <a:t>)</a:t>
                      </a:r>
                    </a:p>
                  </a:txBody>
                  <a:tcPr marL="84188" marR="84188" marT="42094" marB="42094"/>
                </a:tc>
                <a:extLst>
                  <a:ext uri="{0D108BD9-81ED-4DB2-BD59-A6C34878D82A}">
                    <a16:rowId xmlns:a16="http://schemas.microsoft.com/office/drawing/2014/main" val="2570910443"/>
                  </a:ext>
                </a:extLst>
              </a:tr>
            </a:tbl>
          </a:graphicData>
        </a:graphic>
      </p:graphicFrame>
      <p:sp>
        <p:nvSpPr>
          <p:cNvPr id="8" name="TextBox 7">
            <a:extLst>
              <a:ext uri="{FF2B5EF4-FFF2-40B4-BE49-F238E27FC236}">
                <a16:creationId xmlns:a16="http://schemas.microsoft.com/office/drawing/2014/main" id="{FD36C016-1681-BB66-12BB-CEBF7695B1E1}"/>
              </a:ext>
            </a:extLst>
          </p:cNvPr>
          <p:cNvSpPr txBox="1"/>
          <p:nvPr/>
        </p:nvSpPr>
        <p:spPr>
          <a:xfrm>
            <a:off x="421104" y="2852613"/>
            <a:ext cx="5107407" cy="369332"/>
          </a:xfrm>
          <a:prstGeom prst="rect">
            <a:avLst/>
          </a:prstGeom>
          <a:noFill/>
        </p:spPr>
        <p:txBody>
          <a:bodyPr wrap="square" rtlCol="0">
            <a:spAutoFit/>
          </a:bodyPr>
          <a:lstStyle/>
          <a:p>
            <a:r>
              <a:rPr lang="en-US" dirty="0"/>
              <a:t>(GR </a:t>
            </a:r>
            <a:r>
              <a:rPr lang="en-US" dirty="0">
                <a:sym typeface="Wingdings" panose="05000000000000000000" pitchFamily="2" charset="2"/>
              </a:rPr>
              <a:t> Memory) *(</a:t>
            </a:r>
            <a:r>
              <a:rPr lang="en-US" dirty="0" err="1">
                <a:sym typeface="Wingdings" panose="05000000000000000000" pitchFamily="2" charset="2"/>
              </a:rPr>
              <a:t>ARSrc</a:t>
            </a:r>
            <a:r>
              <a:rPr lang="en-US" dirty="0">
                <a:sym typeface="Wingdings" panose="05000000000000000000" pitchFamily="2" charset="2"/>
              </a:rPr>
              <a:t> + Imm) = Rs (Rd as source)</a:t>
            </a:r>
            <a:endParaRPr lang="en-US" dirty="0"/>
          </a:p>
        </p:txBody>
      </p:sp>
      <p:graphicFrame>
        <p:nvGraphicFramePr>
          <p:cNvPr id="9" name="Table 4">
            <a:extLst>
              <a:ext uri="{FF2B5EF4-FFF2-40B4-BE49-F238E27FC236}">
                <a16:creationId xmlns:a16="http://schemas.microsoft.com/office/drawing/2014/main" id="{815D0550-F330-BDBE-1DDF-D143918F81FC}"/>
              </a:ext>
            </a:extLst>
          </p:cNvPr>
          <p:cNvGraphicFramePr>
            <a:graphicFrameLocks noGrp="1"/>
          </p:cNvGraphicFramePr>
          <p:nvPr/>
        </p:nvGraphicFramePr>
        <p:xfrm>
          <a:off x="1007034" y="4171586"/>
          <a:ext cx="9744185" cy="547224"/>
        </p:xfrm>
        <a:graphic>
          <a:graphicData uri="http://schemas.openxmlformats.org/drawingml/2006/table">
            <a:tbl>
              <a:tblPr firstRow="1" bandRow="1">
                <a:tableStyleId>{5C22544A-7EE6-4342-B048-85BDC9FD1C3A}</a:tableStyleId>
              </a:tblPr>
              <a:tblGrid>
                <a:gridCol w="919469">
                  <a:extLst>
                    <a:ext uri="{9D8B030D-6E8A-4147-A177-3AD203B41FA5}">
                      <a16:colId xmlns:a16="http://schemas.microsoft.com/office/drawing/2014/main" val="1810408170"/>
                    </a:ext>
                  </a:extLst>
                </a:gridCol>
                <a:gridCol w="893614">
                  <a:extLst>
                    <a:ext uri="{9D8B030D-6E8A-4147-A177-3AD203B41FA5}">
                      <a16:colId xmlns:a16="http://schemas.microsoft.com/office/drawing/2014/main" val="950391025"/>
                    </a:ext>
                  </a:extLst>
                </a:gridCol>
                <a:gridCol w="812498">
                  <a:extLst>
                    <a:ext uri="{9D8B030D-6E8A-4147-A177-3AD203B41FA5}">
                      <a16:colId xmlns:a16="http://schemas.microsoft.com/office/drawing/2014/main" val="1217920130"/>
                    </a:ext>
                  </a:extLst>
                </a:gridCol>
                <a:gridCol w="1290962">
                  <a:extLst>
                    <a:ext uri="{9D8B030D-6E8A-4147-A177-3AD203B41FA5}">
                      <a16:colId xmlns:a16="http://schemas.microsoft.com/office/drawing/2014/main" val="1475888205"/>
                    </a:ext>
                  </a:extLst>
                </a:gridCol>
                <a:gridCol w="1482292">
                  <a:extLst>
                    <a:ext uri="{9D8B030D-6E8A-4147-A177-3AD203B41FA5}">
                      <a16:colId xmlns:a16="http://schemas.microsoft.com/office/drawing/2014/main" val="1355185516"/>
                    </a:ext>
                  </a:extLst>
                </a:gridCol>
                <a:gridCol w="1201439">
                  <a:extLst>
                    <a:ext uri="{9D8B030D-6E8A-4147-A177-3AD203B41FA5}">
                      <a16:colId xmlns:a16="http://schemas.microsoft.com/office/drawing/2014/main" val="1039846299"/>
                    </a:ext>
                  </a:extLst>
                </a:gridCol>
                <a:gridCol w="3143911">
                  <a:extLst>
                    <a:ext uri="{9D8B030D-6E8A-4147-A177-3AD203B41FA5}">
                      <a16:colId xmlns:a16="http://schemas.microsoft.com/office/drawing/2014/main" val="3099546510"/>
                    </a:ext>
                  </a:extLst>
                </a:gridCol>
              </a:tblGrid>
              <a:tr h="273612">
                <a:tc>
                  <a:txBody>
                    <a:bodyPr/>
                    <a:lstStyle/>
                    <a:p>
                      <a:r>
                        <a:rPr lang="en-US" sz="1200" dirty="0"/>
                        <a:t>Type</a:t>
                      </a:r>
                    </a:p>
                  </a:txBody>
                  <a:tcPr marL="84188" marR="84188" marT="42094" marB="42094"/>
                </a:tc>
                <a:tc>
                  <a:txBody>
                    <a:bodyPr/>
                    <a:lstStyle/>
                    <a:p>
                      <a:pPr algn="ctr"/>
                      <a:r>
                        <a:rPr lang="en-US" sz="1200"/>
                        <a:t>15 14</a:t>
                      </a:r>
                    </a:p>
                  </a:txBody>
                  <a:tcPr marL="84188" marR="84188" marT="42094" marB="42094"/>
                </a:tc>
                <a:tc>
                  <a:txBody>
                    <a:bodyPr/>
                    <a:lstStyle/>
                    <a:p>
                      <a:pPr algn="ctr"/>
                      <a:r>
                        <a:rPr lang="en-US" sz="1200"/>
                        <a:t>13 12</a:t>
                      </a:r>
                    </a:p>
                  </a:txBody>
                  <a:tcPr marL="84188" marR="84188" marT="42094" marB="42094"/>
                </a:tc>
                <a:tc>
                  <a:txBody>
                    <a:bodyPr/>
                    <a:lstStyle/>
                    <a:p>
                      <a:pPr algn="ctr"/>
                      <a:r>
                        <a:rPr lang="en-US" sz="1200"/>
                        <a:t>11 10 9 8</a:t>
                      </a:r>
                    </a:p>
                  </a:txBody>
                  <a:tcPr marL="84188" marR="84188" marT="42094" marB="42094"/>
                </a:tc>
                <a:tc>
                  <a:txBody>
                    <a:bodyPr/>
                    <a:lstStyle/>
                    <a:p>
                      <a:pPr algn="ctr"/>
                      <a:r>
                        <a:rPr lang="en-US" sz="1200"/>
                        <a:t>7 6</a:t>
                      </a:r>
                    </a:p>
                  </a:txBody>
                  <a:tcPr marL="84188" marR="84188" marT="42094" marB="42094"/>
                </a:tc>
                <a:tc>
                  <a:txBody>
                    <a:bodyPr/>
                    <a:lstStyle/>
                    <a:p>
                      <a:pPr algn="ctr"/>
                      <a:r>
                        <a:rPr lang="en-US" sz="1200"/>
                        <a:t>5</a:t>
                      </a:r>
                    </a:p>
                  </a:txBody>
                  <a:tcPr marL="84188" marR="84188" marT="42094" marB="42094"/>
                </a:tc>
                <a:tc>
                  <a:txBody>
                    <a:bodyPr/>
                    <a:lstStyle/>
                    <a:p>
                      <a:pPr algn="ctr"/>
                      <a:r>
                        <a:rPr lang="en-US" sz="1200"/>
                        <a:t>4 3 2 1 0</a:t>
                      </a:r>
                    </a:p>
                  </a:txBody>
                  <a:tcPr marL="84188" marR="84188" marT="42094" marB="42094"/>
                </a:tc>
                <a:extLst>
                  <a:ext uri="{0D108BD9-81ED-4DB2-BD59-A6C34878D82A}">
                    <a16:rowId xmlns:a16="http://schemas.microsoft.com/office/drawing/2014/main" val="2319756336"/>
                  </a:ext>
                </a:extLst>
              </a:tr>
              <a:tr h="273612">
                <a:tc>
                  <a:txBody>
                    <a:bodyPr/>
                    <a:lstStyle/>
                    <a:p>
                      <a:pPr algn="ctr"/>
                      <a:endParaRPr lang="en-US" sz="1200" dirty="0"/>
                    </a:p>
                  </a:txBody>
                  <a:tcPr marL="84188" marR="84188" marT="42094" marB="42094">
                    <a:solidFill>
                      <a:schemeClr val="accent6"/>
                    </a:solidFill>
                  </a:tcPr>
                </a:tc>
                <a:tc gridSpan="3">
                  <a:txBody>
                    <a:bodyPr/>
                    <a:lstStyle/>
                    <a:p>
                      <a:pPr algn="ctr"/>
                      <a:r>
                        <a:rPr lang="en-US" sz="1200" dirty="0"/>
                        <a:t>Immediate (8-bit)</a:t>
                      </a:r>
                    </a:p>
                  </a:txBody>
                  <a:tcPr marL="84188" marR="84188" marT="42094" marB="42094"/>
                </a:tc>
                <a:tc hMerge="1">
                  <a:txBody>
                    <a:bodyPr/>
                    <a:lstStyle/>
                    <a:p>
                      <a:pPr algn="ctr"/>
                      <a:endParaRPr lang="en-US"/>
                    </a:p>
                  </a:txBody>
                  <a:tcPr/>
                </a:tc>
                <a:tc hMerge="1">
                  <a:txBody>
                    <a:bodyPr/>
                    <a:lstStyle/>
                    <a:p>
                      <a:pPr algn="ctr"/>
                      <a:r>
                        <a:rPr lang="en-US"/>
                        <a:t>Immediate (8-bit)</a:t>
                      </a:r>
                    </a:p>
                  </a:txBody>
                  <a:tcPr/>
                </a:tc>
                <a:tc>
                  <a:txBody>
                    <a:bodyPr/>
                    <a:lstStyle/>
                    <a:p>
                      <a:pPr algn="ctr"/>
                      <a:r>
                        <a:rPr lang="en-US" sz="1200" dirty="0"/>
                        <a:t>ARDest</a:t>
                      </a:r>
                    </a:p>
                  </a:txBody>
                  <a:tcPr marL="84188" marR="84188" marT="42094" marB="42094"/>
                </a:tc>
                <a:tc>
                  <a:txBody>
                    <a:bodyPr/>
                    <a:lstStyle/>
                    <a:p>
                      <a:pPr algn="ctr"/>
                      <a:r>
                        <a:rPr lang="en-US" sz="1200" dirty="0"/>
                        <a:t>L/H</a:t>
                      </a:r>
                    </a:p>
                  </a:txBody>
                  <a:tcPr marL="84188" marR="84188" marT="42094" marB="42094"/>
                </a:tc>
                <a:tc>
                  <a:txBody>
                    <a:bodyPr/>
                    <a:lstStyle/>
                    <a:p>
                      <a:pPr algn="ctr"/>
                      <a:r>
                        <a:rPr lang="en-US" sz="1200" dirty="0" err="1"/>
                        <a:t>OpCode</a:t>
                      </a:r>
                      <a:endParaRPr lang="en-US" sz="1200" dirty="0"/>
                    </a:p>
                  </a:txBody>
                  <a:tcPr marL="84188" marR="84188" marT="42094" marB="42094"/>
                </a:tc>
                <a:extLst>
                  <a:ext uri="{0D108BD9-81ED-4DB2-BD59-A6C34878D82A}">
                    <a16:rowId xmlns:a16="http://schemas.microsoft.com/office/drawing/2014/main" val="2570910443"/>
                  </a:ext>
                </a:extLst>
              </a:tr>
            </a:tbl>
          </a:graphicData>
        </a:graphic>
      </p:graphicFrame>
      <p:sp>
        <p:nvSpPr>
          <p:cNvPr id="10" name="TextBox 9">
            <a:extLst>
              <a:ext uri="{FF2B5EF4-FFF2-40B4-BE49-F238E27FC236}">
                <a16:creationId xmlns:a16="http://schemas.microsoft.com/office/drawing/2014/main" id="{DB918703-F60A-0B3E-1CD0-1450B8E1C381}"/>
              </a:ext>
            </a:extLst>
          </p:cNvPr>
          <p:cNvSpPr txBox="1"/>
          <p:nvPr/>
        </p:nvSpPr>
        <p:spPr>
          <a:xfrm>
            <a:off x="421104" y="3805476"/>
            <a:ext cx="4265196" cy="369332"/>
          </a:xfrm>
          <a:prstGeom prst="rect">
            <a:avLst/>
          </a:prstGeom>
          <a:noFill/>
        </p:spPr>
        <p:txBody>
          <a:bodyPr wrap="square" rtlCol="0">
            <a:spAutoFit/>
          </a:bodyPr>
          <a:lstStyle/>
          <a:p>
            <a:r>
              <a:rPr lang="en-US" dirty="0"/>
              <a:t>(Imm </a:t>
            </a:r>
            <a:r>
              <a:rPr lang="en-US" dirty="0">
                <a:sym typeface="Wingdings" panose="05000000000000000000" pitchFamily="2" charset="2"/>
              </a:rPr>
              <a:t> </a:t>
            </a:r>
            <a:r>
              <a:rPr lang="en-US" dirty="0"/>
              <a:t>AR) ARDest[L/H] = Imm</a:t>
            </a:r>
          </a:p>
        </p:txBody>
      </p:sp>
      <p:graphicFrame>
        <p:nvGraphicFramePr>
          <p:cNvPr id="11" name="Table 4">
            <a:extLst>
              <a:ext uri="{FF2B5EF4-FFF2-40B4-BE49-F238E27FC236}">
                <a16:creationId xmlns:a16="http://schemas.microsoft.com/office/drawing/2014/main" id="{3153155B-D72E-749F-2EE5-67F51953F908}"/>
              </a:ext>
            </a:extLst>
          </p:cNvPr>
          <p:cNvGraphicFramePr>
            <a:graphicFrameLocks noGrp="1"/>
          </p:cNvGraphicFramePr>
          <p:nvPr/>
        </p:nvGraphicFramePr>
        <p:xfrm>
          <a:off x="1007034" y="5156936"/>
          <a:ext cx="9748362" cy="547224"/>
        </p:xfrm>
        <a:graphic>
          <a:graphicData uri="http://schemas.openxmlformats.org/drawingml/2006/table">
            <a:tbl>
              <a:tblPr firstRow="1" bandRow="1">
                <a:tableStyleId>{5C22544A-7EE6-4342-B048-85BDC9FD1C3A}</a:tableStyleId>
              </a:tblPr>
              <a:tblGrid>
                <a:gridCol w="919469">
                  <a:extLst>
                    <a:ext uri="{9D8B030D-6E8A-4147-A177-3AD203B41FA5}">
                      <a16:colId xmlns:a16="http://schemas.microsoft.com/office/drawing/2014/main" val="1810408170"/>
                    </a:ext>
                  </a:extLst>
                </a:gridCol>
                <a:gridCol w="1003202">
                  <a:extLst>
                    <a:ext uri="{9D8B030D-6E8A-4147-A177-3AD203B41FA5}">
                      <a16:colId xmlns:a16="http://schemas.microsoft.com/office/drawing/2014/main" val="950391025"/>
                    </a:ext>
                  </a:extLst>
                </a:gridCol>
                <a:gridCol w="999024">
                  <a:extLst>
                    <a:ext uri="{9D8B030D-6E8A-4147-A177-3AD203B41FA5}">
                      <a16:colId xmlns:a16="http://schemas.microsoft.com/office/drawing/2014/main" val="2966517136"/>
                    </a:ext>
                  </a:extLst>
                </a:gridCol>
                <a:gridCol w="999025">
                  <a:extLst>
                    <a:ext uri="{9D8B030D-6E8A-4147-A177-3AD203B41FA5}">
                      <a16:colId xmlns:a16="http://schemas.microsoft.com/office/drawing/2014/main" val="3326960323"/>
                    </a:ext>
                  </a:extLst>
                </a:gridCol>
                <a:gridCol w="1482292">
                  <a:extLst>
                    <a:ext uri="{9D8B030D-6E8A-4147-A177-3AD203B41FA5}">
                      <a16:colId xmlns:a16="http://schemas.microsoft.com/office/drawing/2014/main" val="1355185516"/>
                    </a:ext>
                  </a:extLst>
                </a:gridCol>
                <a:gridCol w="1201439">
                  <a:extLst>
                    <a:ext uri="{9D8B030D-6E8A-4147-A177-3AD203B41FA5}">
                      <a16:colId xmlns:a16="http://schemas.microsoft.com/office/drawing/2014/main" val="1039846299"/>
                    </a:ext>
                  </a:extLst>
                </a:gridCol>
                <a:gridCol w="3143911">
                  <a:extLst>
                    <a:ext uri="{9D8B030D-6E8A-4147-A177-3AD203B41FA5}">
                      <a16:colId xmlns:a16="http://schemas.microsoft.com/office/drawing/2014/main" val="3099546510"/>
                    </a:ext>
                  </a:extLst>
                </a:gridCol>
              </a:tblGrid>
              <a:tr h="273612">
                <a:tc>
                  <a:txBody>
                    <a:bodyPr/>
                    <a:lstStyle/>
                    <a:p>
                      <a:r>
                        <a:rPr lang="en-US" sz="1200" dirty="0"/>
                        <a:t>Type</a:t>
                      </a:r>
                    </a:p>
                  </a:txBody>
                  <a:tcPr marL="84188" marR="84188" marT="42094" marB="42094"/>
                </a:tc>
                <a:tc>
                  <a:txBody>
                    <a:bodyPr/>
                    <a:lstStyle/>
                    <a:p>
                      <a:pPr algn="ctr"/>
                      <a:r>
                        <a:rPr lang="en-US" sz="1200"/>
                        <a:t>15 14</a:t>
                      </a:r>
                    </a:p>
                  </a:txBody>
                  <a:tcPr marL="84188" marR="84188" marT="42094" marB="42094"/>
                </a:tc>
                <a:tc>
                  <a:txBody>
                    <a:bodyPr/>
                    <a:lstStyle/>
                    <a:p>
                      <a:r>
                        <a:rPr lang="en-US" sz="1200" dirty="0"/>
                        <a:t>13 12</a:t>
                      </a:r>
                      <a:endParaRPr lang="en-US" dirty="0"/>
                    </a:p>
                  </a:txBody>
                  <a:tcPr marL="84188" marR="84188" marT="42094" marB="42094"/>
                </a:tc>
                <a:tc>
                  <a:txBody>
                    <a:bodyPr/>
                    <a:lstStyle/>
                    <a:p>
                      <a:r>
                        <a:rPr lang="en-US" sz="1200" dirty="0"/>
                        <a:t>11 10 9 8</a:t>
                      </a:r>
                      <a:endParaRPr lang="en-US" dirty="0"/>
                    </a:p>
                  </a:txBody>
                  <a:tcPr marL="84188" marR="84188" marT="42094" marB="42094"/>
                </a:tc>
                <a:tc>
                  <a:txBody>
                    <a:bodyPr/>
                    <a:lstStyle/>
                    <a:p>
                      <a:pPr algn="ctr"/>
                      <a:r>
                        <a:rPr lang="en-US" sz="1200"/>
                        <a:t>7 6</a:t>
                      </a:r>
                    </a:p>
                  </a:txBody>
                  <a:tcPr marL="84188" marR="84188" marT="42094" marB="42094"/>
                </a:tc>
                <a:tc>
                  <a:txBody>
                    <a:bodyPr/>
                    <a:lstStyle/>
                    <a:p>
                      <a:pPr algn="ctr"/>
                      <a:r>
                        <a:rPr lang="en-US" sz="1200"/>
                        <a:t>5</a:t>
                      </a:r>
                    </a:p>
                  </a:txBody>
                  <a:tcPr marL="84188" marR="84188" marT="42094" marB="42094"/>
                </a:tc>
                <a:tc>
                  <a:txBody>
                    <a:bodyPr/>
                    <a:lstStyle/>
                    <a:p>
                      <a:pPr algn="ctr"/>
                      <a:r>
                        <a:rPr lang="en-US" sz="1200"/>
                        <a:t>4 3 2 1 0</a:t>
                      </a:r>
                    </a:p>
                  </a:txBody>
                  <a:tcPr marL="84188" marR="84188" marT="42094" marB="42094"/>
                </a:tc>
                <a:extLst>
                  <a:ext uri="{0D108BD9-81ED-4DB2-BD59-A6C34878D82A}">
                    <a16:rowId xmlns:a16="http://schemas.microsoft.com/office/drawing/2014/main" val="2319756336"/>
                  </a:ext>
                </a:extLst>
              </a:tr>
              <a:tr h="273612">
                <a:tc>
                  <a:txBody>
                    <a:bodyPr/>
                    <a:lstStyle/>
                    <a:p>
                      <a:pPr algn="ctr"/>
                      <a:endParaRPr lang="en-US" sz="1200" dirty="0"/>
                    </a:p>
                  </a:txBody>
                  <a:tcPr marL="84188" marR="84188" marT="42094" marB="42094">
                    <a:solidFill>
                      <a:schemeClr val="accent6"/>
                    </a:solidFill>
                  </a:tcPr>
                </a:tc>
                <a:tc>
                  <a:txBody>
                    <a:bodyPr/>
                    <a:lstStyle/>
                    <a:p>
                      <a:pPr algn="ctr"/>
                      <a:r>
                        <a:rPr lang="en-US" sz="1200" dirty="0"/>
                        <a:t>XX</a:t>
                      </a:r>
                    </a:p>
                  </a:txBody>
                  <a:tcPr marL="84188" marR="84188" marT="42094" marB="42094"/>
                </a:tc>
                <a:tc>
                  <a:txBody>
                    <a:bodyPr/>
                    <a:lstStyle/>
                    <a:p>
                      <a:pPr algn="ctr"/>
                      <a:r>
                        <a:rPr lang="en-US" sz="1200" dirty="0"/>
                        <a:t>Rs1</a:t>
                      </a:r>
                    </a:p>
                  </a:txBody>
                  <a:tcPr marL="84188" marR="84188" marT="42094" marB="42094"/>
                </a:tc>
                <a:tc>
                  <a:txBody>
                    <a:bodyPr/>
                    <a:lstStyle/>
                    <a:p>
                      <a:pPr algn="ctr"/>
                      <a:r>
                        <a:rPr lang="en-US" sz="1200" dirty="0"/>
                        <a:t>XXXX</a:t>
                      </a:r>
                    </a:p>
                  </a:txBody>
                  <a:tcPr marL="84188" marR="84188" marT="42094" marB="42094"/>
                </a:tc>
                <a:tc>
                  <a:txBody>
                    <a:bodyPr/>
                    <a:lstStyle/>
                    <a:p>
                      <a:pPr algn="ctr"/>
                      <a:r>
                        <a:rPr lang="en-US" sz="1200" dirty="0"/>
                        <a:t>ARDest</a:t>
                      </a:r>
                    </a:p>
                  </a:txBody>
                  <a:tcPr marL="84188" marR="84188" marT="42094" marB="42094"/>
                </a:tc>
                <a:tc>
                  <a:txBody>
                    <a:bodyPr/>
                    <a:lstStyle/>
                    <a:p>
                      <a:pPr algn="ctr"/>
                      <a:r>
                        <a:rPr lang="en-US" sz="1200" dirty="0"/>
                        <a:t>L/H</a:t>
                      </a:r>
                    </a:p>
                  </a:txBody>
                  <a:tcPr marL="84188" marR="84188" marT="42094" marB="42094"/>
                </a:tc>
                <a:tc>
                  <a:txBody>
                    <a:bodyPr/>
                    <a:lstStyle/>
                    <a:p>
                      <a:pPr algn="ctr"/>
                      <a:r>
                        <a:rPr lang="en-US" sz="1200" dirty="0" err="1"/>
                        <a:t>OpCode</a:t>
                      </a:r>
                      <a:endParaRPr lang="en-US" sz="1200" dirty="0"/>
                    </a:p>
                  </a:txBody>
                  <a:tcPr marL="84188" marR="84188" marT="42094" marB="42094"/>
                </a:tc>
                <a:extLst>
                  <a:ext uri="{0D108BD9-81ED-4DB2-BD59-A6C34878D82A}">
                    <a16:rowId xmlns:a16="http://schemas.microsoft.com/office/drawing/2014/main" val="2570910443"/>
                  </a:ext>
                </a:extLst>
              </a:tr>
            </a:tbl>
          </a:graphicData>
        </a:graphic>
      </p:graphicFrame>
      <p:sp>
        <p:nvSpPr>
          <p:cNvPr id="12" name="TextBox 11">
            <a:extLst>
              <a:ext uri="{FF2B5EF4-FFF2-40B4-BE49-F238E27FC236}">
                <a16:creationId xmlns:a16="http://schemas.microsoft.com/office/drawing/2014/main" id="{B18F59D4-0539-8FF3-9E44-D183F823FFAE}"/>
              </a:ext>
            </a:extLst>
          </p:cNvPr>
          <p:cNvSpPr txBox="1"/>
          <p:nvPr/>
        </p:nvSpPr>
        <p:spPr>
          <a:xfrm>
            <a:off x="421104" y="4790826"/>
            <a:ext cx="2941721" cy="369332"/>
          </a:xfrm>
          <a:prstGeom prst="rect">
            <a:avLst/>
          </a:prstGeom>
          <a:noFill/>
        </p:spPr>
        <p:txBody>
          <a:bodyPr wrap="square" rtlCol="0">
            <a:spAutoFit/>
          </a:bodyPr>
          <a:lstStyle/>
          <a:p>
            <a:r>
              <a:rPr lang="en-US" dirty="0"/>
              <a:t>(GR </a:t>
            </a:r>
            <a:r>
              <a:rPr lang="en-US" dirty="0">
                <a:sym typeface="Wingdings" panose="05000000000000000000" pitchFamily="2" charset="2"/>
              </a:rPr>
              <a:t> </a:t>
            </a:r>
            <a:r>
              <a:rPr lang="en-US" dirty="0"/>
              <a:t>AR) ARDest[L/H] = Rs1</a:t>
            </a:r>
          </a:p>
        </p:txBody>
      </p:sp>
      <p:graphicFrame>
        <p:nvGraphicFramePr>
          <p:cNvPr id="13" name="Table 4">
            <a:extLst>
              <a:ext uri="{FF2B5EF4-FFF2-40B4-BE49-F238E27FC236}">
                <a16:creationId xmlns:a16="http://schemas.microsoft.com/office/drawing/2014/main" id="{7F783F9E-5CDE-3538-7290-72961856D31D}"/>
              </a:ext>
            </a:extLst>
          </p:cNvPr>
          <p:cNvGraphicFramePr>
            <a:graphicFrameLocks noGrp="1"/>
          </p:cNvGraphicFramePr>
          <p:nvPr/>
        </p:nvGraphicFramePr>
        <p:xfrm>
          <a:off x="1007034" y="6069115"/>
          <a:ext cx="9744185" cy="547224"/>
        </p:xfrm>
        <a:graphic>
          <a:graphicData uri="http://schemas.openxmlformats.org/drawingml/2006/table">
            <a:tbl>
              <a:tblPr firstRow="1" bandRow="1">
                <a:tableStyleId>{5C22544A-7EE6-4342-B048-85BDC9FD1C3A}</a:tableStyleId>
              </a:tblPr>
              <a:tblGrid>
                <a:gridCol w="919469">
                  <a:extLst>
                    <a:ext uri="{9D8B030D-6E8A-4147-A177-3AD203B41FA5}">
                      <a16:colId xmlns:a16="http://schemas.microsoft.com/office/drawing/2014/main" val="1810408170"/>
                    </a:ext>
                  </a:extLst>
                </a:gridCol>
                <a:gridCol w="893614">
                  <a:extLst>
                    <a:ext uri="{9D8B030D-6E8A-4147-A177-3AD203B41FA5}">
                      <a16:colId xmlns:a16="http://schemas.microsoft.com/office/drawing/2014/main" val="950391025"/>
                    </a:ext>
                  </a:extLst>
                </a:gridCol>
                <a:gridCol w="812498">
                  <a:extLst>
                    <a:ext uri="{9D8B030D-6E8A-4147-A177-3AD203B41FA5}">
                      <a16:colId xmlns:a16="http://schemas.microsoft.com/office/drawing/2014/main" val="1217920130"/>
                    </a:ext>
                  </a:extLst>
                </a:gridCol>
                <a:gridCol w="1290962">
                  <a:extLst>
                    <a:ext uri="{9D8B030D-6E8A-4147-A177-3AD203B41FA5}">
                      <a16:colId xmlns:a16="http://schemas.microsoft.com/office/drawing/2014/main" val="1475888205"/>
                    </a:ext>
                  </a:extLst>
                </a:gridCol>
                <a:gridCol w="1482292">
                  <a:extLst>
                    <a:ext uri="{9D8B030D-6E8A-4147-A177-3AD203B41FA5}">
                      <a16:colId xmlns:a16="http://schemas.microsoft.com/office/drawing/2014/main" val="1355185516"/>
                    </a:ext>
                  </a:extLst>
                </a:gridCol>
                <a:gridCol w="1201439">
                  <a:extLst>
                    <a:ext uri="{9D8B030D-6E8A-4147-A177-3AD203B41FA5}">
                      <a16:colId xmlns:a16="http://schemas.microsoft.com/office/drawing/2014/main" val="1039846299"/>
                    </a:ext>
                  </a:extLst>
                </a:gridCol>
                <a:gridCol w="3143911">
                  <a:extLst>
                    <a:ext uri="{9D8B030D-6E8A-4147-A177-3AD203B41FA5}">
                      <a16:colId xmlns:a16="http://schemas.microsoft.com/office/drawing/2014/main" val="3099546510"/>
                    </a:ext>
                  </a:extLst>
                </a:gridCol>
              </a:tblGrid>
              <a:tr h="273612">
                <a:tc>
                  <a:txBody>
                    <a:bodyPr/>
                    <a:lstStyle/>
                    <a:p>
                      <a:r>
                        <a:rPr lang="en-US" sz="1200" dirty="0"/>
                        <a:t>Type</a:t>
                      </a:r>
                    </a:p>
                  </a:txBody>
                  <a:tcPr marL="84188" marR="84188" marT="42094" marB="42094"/>
                </a:tc>
                <a:tc>
                  <a:txBody>
                    <a:bodyPr/>
                    <a:lstStyle/>
                    <a:p>
                      <a:pPr algn="ctr"/>
                      <a:r>
                        <a:rPr lang="en-US" sz="1200"/>
                        <a:t>15 14</a:t>
                      </a:r>
                    </a:p>
                  </a:txBody>
                  <a:tcPr marL="84188" marR="84188" marT="42094" marB="42094"/>
                </a:tc>
                <a:tc>
                  <a:txBody>
                    <a:bodyPr/>
                    <a:lstStyle/>
                    <a:p>
                      <a:pPr algn="ctr"/>
                      <a:r>
                        <a:rPr lang="en-US" sz="1200"/>
                        <a:t>13 12</a:t>
                      </a:r>
                    </a:p>
                  </a:txBody>
                  <a:tcPr marL="84188" marR="84188" marT="42094" marB="42094"/>
                </a:tc>
                <a:tc>
                  <a:txBody>
                    <a:bodyPr/>
                    <a:lstStyle/>
                    <a:p>
                      <a:pPr algn="ctr"/>
                      <a:r>
                        <a:rPr lang="en-US" sz="1200"/>
                        <a:t>11 10 9 8</a:t>
                      </a:r>
                    </a:p>
                  </a:txBody>
                  <a:tcPr marL="84188" marR="84188" marT="42094" marB="42094"/>
                </a:tc>
                <a:tc>
                  <a:txBody>
                    <a:bodyPr/>
                    <a:lstStyle/>
                    <a:p>
                      <a:pPr algn="ctr"/>
                      <a:r>
                        <a:rPr lang="en-US" sz="1200"/>
                        <a:t>7 6</a:t>
                      </a:r>
                    </a:p>
                  </a:txBody>
                  <a:tcPr marL="84188" marR="84188" marT="42094" marB="42094"/>
                </a:tc>
                <a:tc>
                  <a:txBody>
                    <a:bodyPr/>
                    <a:lstStyle/>
                    <a:p>
                      <a:pPr algn="ctr"/>
                      <a:r>
                        <a:rPr lang="en-US" sz="1200"/>
                        <a:t>5</a:t>
                      </a:r>
                    </a:p>
                  </a:txBody>
                  <a:tcPr marL="84188" marR="84188" marT="42094" marB="42094"/>
                </a:tc>
                <a:tc>
                  <a:txBody>
                    <a:bodyPr/>
                    <a:lstStyle/>
                    <a:p>
                      <a:pPr algn="ctr"/>
                      <a:r>
                        <a:rPr lang="en-US" sz="1200"/>
                        <a:t>4 3 2 1 0</a:t>
                      </a:r>
                    </a:p>
                  </a:txBody>
                  <a:tcPr marL="84188" marR="84188" marT="42094" marB="42094"/>
                </a:tc>
                <a:extLst>
                  <a:ext uri="{0D108BD9-81ED-4DB2-BD59-A6C34878D82A}">
                    <a16:rowId xmlns:a16="http://schemas.microsoft.com/office/drawing/2014/main" val="2319756336"/>
                  </a:ext>
                </a:extLst>
              </a:tr>
              <a:tr h="273612">
                <a:tc>
                  <a:txBody>
                    <a:bodyPr/>
                    <a:lstStyle/>
                    <a:p>
                      <a:pPr algn="ctr"/>
                      <a:endParaRPr lang="en-US" sz="1200" dirty="0"/>
                    </a:p>
                  </a:txBody>
                  <a:tcPr marL="84188" marR="84188" marT="42094" marB="42094">
                    <a:solidFill>
                      <a:schemeClr val="accent6"/>
                    </a:solidFill>
                  </a:tcPr>
                </a:tc>
                <a:tc gridSpan="3">
                  <a:txBody>
                    <a:bodyPr/>
                    <a:lstStyle/>
                    <a:p>
                      <a:pPr algn="ctr"/>
                      <a:r>
                        <a:rPr lang="en-US" sz="1200" dirty="0"/>
                        <a:t>Immediate (8-bit)</a:t>
                      </a:r>
                    </a:p>
                  </a:txBody>
                  <a:tcPr marL="84188" marR="84188" marT="42094" marB="42094"/>
                </a:tc>
                <a:tc hMerge="1">
                  <a:txBody>
                    <a:bodyPr/>
                    <a:lstStyle/>
                    <a:p>
                      <a:pPr algn="ctr"/>
                      <a:endParaRPr lang="en-US"/>
                    </a:p>
                  </a:txBody>
                  <a:tcPr/>
                </a:tc>
                <a:tc hMerge="1">
                  <a:txBody>
                    <a:bodyPr/>
                    <a:lstStyle/>
                    <a:p>
                      <a:pPr algn="ctr"/>
                      <a:r>
                        <a:rPr lang="en-US"/>
                        <a:t>Immediate (8-bit)</a:t>
                      </a:r>
                    </a:p>
                  </a:txBody>
                  <a:tcPr/>
                </a:tc>
                <a:tc>
                  <a:txBody>
                    <a:bodyPr/>
                    <a:lstStyle/>
                    <a:p>
                      <a:pPr algn="ctr"/>
                      <a:r>
                        <a:rPr lang="en-US" sz="1200" dirty="0"/>
                        <a:t>ARDest</a:t>
                      </a:r>
                    </a:p>
                  </a:txBody>
                  <a:tcPr marL="84188" marR="84188" marT="42094" marB="42094"/>
                </a:tc>
                <a:tc>
                  <a:txBody>
                    <a:bodyPr/>
                    <a:lstStyle/>
                    <a:p>
                      <a:pPr algn="ctr"/>
                      <a:r>
                        <a:rPr lang="en-US" sz="1200" dirty="0" err="1"/>
                        <a:t>ARSrc</a:t>
                      </a:r>
                      <a:endParaRPr lang="en-US" sz="1200" dirty="0"/>
                    </a:p>
                  </a:txBody>
                  <a:tcPr marL="84188" marR="84188" marT="42094" marB="42094"/>
                </a:tc>
                <a:tc>
                  <a:txBody>
                    <a:bodyPr/>
                    <a:lstStyle/>
                    <a:p>
                      <a:pPr algn="ctr"/>
                      <a:r>
                        <a:rPr lang="en-US" sz="1200" dirty="0" err="1"/>
                        <a:t>OpCode</a:t>
                      </a:r>
                      <a:r>
                        <a:rPr lang="en-US" sz="1200" dirty="0"/>
                        <a:t> (bit 0 is part of </a:t>
                      </a:r>
                      <a:r>
                        <a:rPr lang="en-US" sz="1200" dirty="0" err="1"/>
                        <a:t>ARSrc</a:t>
                      </a:r>
                      <a:r>
                        <a:rPr lang="en-US" sz="1200" dirty="0"/>
                        <a:t>)</a:t>
                      </a:r>
                    </a:p>
                  </a:txBody>
                  <a:tcPr marL="84188" marR="84188" marT="42094" marB="42094"/>
                </a:tc>
                <a:extLst>
                  <a:ext uri="{0D108BD9-81ED-4DB2-BD59-A6C34878D82A}">
                    <a16:rowId xmlns:a16="http://schemas.microsoft.com/office/drawing/2014/main" val="2570910443"/>
                  </a:ext>
                </a:extLst>
              </a:tr>
            </a:tbl>
          </a:graphicData>
        </a:graphic>
      </p:graphicFrame>
      <p:sp>
        <p:nvSpPr>
          <p:cNvPr id="14" name="TextBox 13">
            <a:extLst>
              <a:ext uri="{FF2B5EF4-FFF2-40B4-BE49-F238E27FC236}">
                <a16:creationId xmlns:a16="http://schemas.microsoft.com/office/drawing/2014/main" id="{3D4D80DF-1035-FD15-6BAB-F80E6E869BB8}"/>
              </a:ext>
            </a:extLst>
          </p:cNvPr>
          <p:cNvSpPr txBox="1"/>
          <p:nvPr/>
        </p:nvSpPr>
        <p:spPr>
          <a:xfrm>
            <a:off x="421104" y="5703005"/>
            <a:ext cx="3898233" cy="369332"/>
          </a:xfrm>
          <a:prstGeom prst="rect">
            <a:avLst/>
          </a:prstGeom>
          <a:noFill/>
        </p:spPr>
        <p:txBody>
          <a:bodyPr wrap="square" rtlCol="0">
            <a:spAutoFit/>
          </a:bodyPr>
          <a:lstStyle/>
          <a:p>
            <a:r>
              <a:rPr lang="en-US" dirty="0"/>
              <a:t>(AR </a:t>
            </a:r>
            <a:r>
              <a:rPr lang="en-US" dirty="0">
                <a:sym typeface="Wingdings" panose="05000000000000000000" pitchFamily="2" charset="2"/>
              </a:rPr>
              <a:t> AR) ARDest = </a:t>
            </a:r>
            <a:r>
              <a:rPr lang="en-US" dirty="0" err="1">
                <a:sym typeface="Wingdings" panose="05000000000000000000" pitchFamily="2" charset="2"/>
              </a:rPr>
              <a:t>ARSrc</a:t>
            </a:r>
            <a:r>
              <a:rPr lang="en-US" dirty="0">
                <a:sym typeface="Wingdings" panose="05000000000000000000" pitchFamily="2" charset="2"/>
              </a:rPr>
              <a:t> + Imm</a:t>
            </a:r>
            <a:endParaRPr lang="en-US" dirty="0"/>
          </a:p>
        </p:txBody>
      </p:sp>
    </p:spTree>
    <p:extLst>
      <p:ext uri="{BB962C8B-B14F-4D97-AF65-F5344CB8AC3E}">
        <p14:creationId xmlns:p14="http://schemas.microsoft.com/office/powerpoint/2010/main" val="277936180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53128-C1AE-1B98-6A98-544E31DD88C8}"/>
              </a:ext>
            </a:extLst>
          </p:cNvPr>
          <p:cNvSpPr>
            <a:spLocks noGrp="1"/>
          </p:cNvSpPr>
          <p:nvPr>
            <p:ph type="ctrTitle"/>
          </p:nvPr>
        </p:nvSpPr>
        <p:spPr/>
        <p:txBody>
          <a:bodyPr/>
          <a:lstStyle/>
          <a:p>
            <a:r>
              <a:rPr lang="en-US" dirty="0"/>
              <a:t>(AR </a:t>
            </a:r>
            <a:r>
              <a:rPr lang="en-US" dirty="0">
                <a:sym typeface="Wingdings" panose="05000000000000000000" pitchFamily="2" charset="2"/>
              </a:rPr>
              <a:t> GR) Instruction</a:t>
            </a:r>
            <a:endParaRPr lang="en-US" dirty="0"/>
          </a:p>
        </p:txBody>
      </p:sp>
      <p:graphicFrame>
        <p:nvGraphicFramePr>
          <p:cNvPr id="4" name="Table 3">
            <a:extLst>
              <a:ext uri="{FF2B5EF4-FFF2-40B4-BE49-F238E27FC236}">
                <a16:creationId xmlns:a16="http://schemas.microsoft.com/office/drawing/2014/main" id="{1F237C11-0F7F-2C9A-0EAC-C6AA1F937F1A}"/>
              </a:ext>
            </a:extLst>
          </p:cNvPr>
          <p:cNvGraphicFramePr>
            <a:graphicFrameLocks noGrp="1"/>
          </p:cNvGraphicFramePr>
          <p:nvPr>
            <p:extLst>
              <p:ext uri="{D42A27DB-BD31-4B8C-83A1-F6EECF244321}">
                <p14:modId xmlns:p14="http://schemas.microsoft.com/office/powerpoint/2010/main" val="690064442"/>
              </p:ext>
            </p:extLst>
          </p:nvPr>
        </p:nvGraphicFramePr>
        <p:xfrm>
          <a:off x="914400" y="1041534"/>
          <a:ext cx="5881438" cy="2026518"/>
        </p:xfrm>
        <a:graphic>
          <a:graphicData uri="http://schemas.openxmlformats.org/drawingml/2006/table">
            <a:tbl>
              <a:tblPr firstCol="1" bandRow="1">
                <a:tableStyleId>{5C22544A-7EE6-4342-B048-85BDC9FD1C3A}</a:tableStyleId>
              </a:tblPr>
              <a:tblGrid>
                <a:gridCol w="2940719">
                  <a:extLst>
                    <a:ext uri="{9D8B030D-6E8A-4147-A177-3AD203B41FA5}">
                      <a16:colId xmlns:a16="http://schemas.microsoft.com/office/drawing/2014/main" val="4194745349"/>
                    </a:ext>
                  </a:extLst>
                </a:gridCol>
                <a:gridCol w="2940719">
                  <a:extLst>
                    <a:ext uri="{9D8B030D-6E8A-4147-A177-3AD203B41FA5}">
                      <a16:colId xmlns:a16="http://schemas.microsoft.com/office/drawing/2014/main" val="3037212644"/>
                    </a:ext>
                  </a:extLst>
                </a:gridCol>
              </a:tblGrid>
              <a:tr h="337753">
                <a:tc>
                  <a:txBody>
                    <a:bodyPr/>
                    <a:lstStyle/>
                    <a:p>
                      <a:r>
                        <a:rPr lang="en-US" sz="1400" dirty="0"/>
                        <a:t>Type</a:t>
                      </a:r>
                    </a:p>
                  </a:txBody>
                  <a:tcPr/>
                </a:tc>
                <a:tc>
                  <a:txBody>
                    <a:bodyPr/>
                    <a:lstStyle/>
                    <a:p>
                      <a:r>
                        <a:rPr lang="en-US" sz="1400" dirty="0"/>
                        <a:t>AR </a:t>
                      </a:r>
                      <a:r>
                        <a:rPr lang="en-US" sz="1400" dirty="0">
                          <a:sym typeface="Wingdings" panose="05000000000000000000" pitchFamily="2" charset="2"/>
                        </a:rPr>
                        <a:t> GR</a:t>
                      </a:r>
                      <a:endParaRPr lang="en-US" sz="1400" dirty="0"/>
                    </a:p>
                  </a:txBody>
                  <a:tcPr/>
                </a:tc>
                <a:extLst>
                  <a:ext uri="{0D108BD9-81ED-4DB2-BD59-A6C34878D82A}">
                    <a16:rowId xmlns:a16="http://schemas.microsoft.com/office/drawing/2014/main" val="3388478334"/>
                  </a:ext>
                </a:extLst>
              </a:tr>
              <a:tr h="337753">
                <a:tc>
                  <a:txBody>
                    <a:bodyPr/>
                    <a:lstStyle/>
                    <a:p>
                      <a:r>
                        <a:rPr lang="en-US" sz="1400" dirty="0"/>
                        <a:t>Semantics</a:t>
                      </a:r>
                    </a:p>
                  </a:txBody>
                  <a:tcPr/>
                </a:tc>
                <a:tc>
                  <a:txBody>
                    <a:bodyPr/>
                    <a:lstStyle/>
                    <a:p>
                      <a:r>
                        <a:rPr lang="en-US" sz="1400" dirty="0"/>
                        <a:t>Rd = </a:t>
                      </a:r>
                      <a:r>
                        <a:rPr lang="en-US" sz="1400" dirty="0" err="1"/>
                        <a:t>ARSrc</a:t>
                      </a:r>
                      <a:r>
                        <a:rPr lang="en-US" sz="1400" dirty="0"/>
                        <a:t>[L/H]</a:t>
                      </a:r>
                    </a:p>
                  </a:txBody>
                  <a:tcPr/>
                </a:tc>
                <a:extLst>
                  <a:ext uri="{0D108BD9-81ED-4DB2-BD59-A6C34878D82A}">
                    <a16:rowId xmlns:a16="http://schemas.microsoft.com/office/drawing/2014/main" val="2980594194"/>
                  </a:ext>
                </a:extLst>
              </a:tr>
              <a:tr h="337753">
                <a:tc>
                  <a:txBody>
                    <a:bodyPr/>
                    <a:lstStyle/>
                    <a:p>
                      <a:r>
                        <a:rPr lang="en-US" sz="1400" dirty="0"/>
                        <a:t>Number of Opcodes Required</a:t>
                      </a:r>
                    </a:p>
                  </a:txBody>
                  <a:tcPr/>
                </a:tc>
                <a:tc>
                  <a:txBody>
                    <a:bodyPr/>
                    <a:lstStyle/>
                    <a:p>
                      <a:r>
                        <a:rPr lang="en-US" sz="1400" dirty="0"/>
                        <a:t>1</a:t>
                      </a:r>
                    </a:p>
                  </a:txBody>
                  <a:tcPr/>
                </a:tc>
                <a:extLst>
                  <a:ext uri="{0D108BD9-81ED-4DB2-BD59-A6C34878D82A}">
                    <a16:rowId xmlns:a16="http://schemas.microsoft.com/office/drawing/2014/main" val="3814078540"/>
                  </a:ext>
                </a:extLst>
              </a:tr>
              <a:tr h="337753">
                <a:tc>
                  <a:txBody>
                    <a:bodyPr/>
                    <a:lstStyle/>
                    <a:p>
                      <a:r>
                        <a:rPr lang="en-US" sz="1400" dirty="0"/>
                        <a:t>Operands</a:t>
                      </a:r>
                    </a:p>
                  </a:txBody>
                  <a:tcPr/>
                </a:tc>
                <a:tc>
                  <a:txBody>
                    <a:bodyPr/>
                    <a:lstStyle/>
                    <a:p>
                      <a:r>
                        <a:rPr lang="en-US" sz="1400" dirty="0"/>
                        <a:t>Rd (2 bits), </a:t>
                      </a:r>
                      <a:r>
                        <a:rPr lang="en-US" sz="1400" dirty="0" err="1"/>
                        <a:t>ARSrc</a:t>
                      </a:r>
                      <a:r>
                        <a:rPr lang="en-US" sz="1400" dirty="0"/>
                        <a:t> (2 bits), L/H (1 bit)</a:t>
                      </a:r>
                    </a:p>
                  </a:txBody>
                  <a:tcPr/>
                </a:tc>
                <a:extLst>
                  <a:ext uri="{0D108BD9-81ED-4DB2-BD59-A6C34878D82A}">
                    <a16:rowId xmlns:a16="http://schemas.microsoft.com/office/drawing/2014/main" val="11223351"/>
                  </a:ext>
                </a:extLst>
              </a:tr>
              <a:tr h="337753">
                <a:tc>
                  <a:txBody>
                    <a:bodyPr/>
                    <a:lstStyle/>
                    <a:p>
                      <a:r>
                        <a:rPr lang="en-US" sz="1400" dirty="0"/>
                        <a:t>Additional Inputs</a:t>
                      </a:r>
                    </a:p>
                  </a:txBody>
                  <a:tcPr/>
                </a:tc>
                <a:tc>
                  <a:txBody>
                    <a:bodyPr/>
                    <a:lstStyle/>
                    <a:p>
                      <a:r>
                        <a:rPr lang="en-US" sz="1400" b="1" dirty="0" err="1"/>
                        <a:t>ARSelect</a:t>
                      </a:r>
                      <a:r>
                        <a:rPr lang="en-US" sz="1400" dirty="0"/>
                        <a:t>, </a:t>
                      </a:r>
                      <a:r>
                        <a:rPr lang="en-US" sz="1400" b="1" dirty="0" err="1"/>
                        <a:t>AddressByteSelect</a:t>
                      </a:r>
                      <a:endParaRPr lang="en-US" sz="1400" b="1" dirty="0"/>
                    </a:p>
                  </a:txBody>
                  <a:tcPr/>
                </a:tc>
                <a:extLst>
                  <a:ext uri="{0D108BD9-81ED-4DB2-BD59-A6C34878D82A}">
                    <a16:rowId xmlns:a16="http://schemas.microsoft.com/office/drawing/2014/main" val="3569590451"/>
                  </a:ext>
                </a:extLst>
              </a:tr>
              <a:tr h="337753">
                <a:tc>
                  <a:txBody>
                    <a:bodyPr/>
                    <a:lstStyle/>
                    <a:p>
                      <a:r>
                        <a:rPr lang="en-US" sz="1400" dirty="0"/>
                        <a:t>Control Signals Needed</a:t>
                      </a:r>
                    </a:p>
                  </a:txBody>
                  <a:tcPr/>
                </a:tc>
                <a:tc>
                  <a:txBody>
                    <a:bodyPr/>
                    <a:lstStyle/>
                    <a:p>
                      <a:r>
                        <a:rPr lang="en-US" sz="1400" i="1" dirty="0" err="1"/>
                        <a:t>AddressBusToDataBus</a:t>
                      </a:r>
                      <a:endParaRPr lang="en-US" sz="1400" i="1" dirty="0"/>
                    </a:p>
                  </a:txBody>
                  <a:tcPr/>
                </a:tc>
                <a:extLst>
                  <a:ext uri="{0D108BD9-81ED-4DB2-BD59-A6C34878D82A}">
                    <a16:rowId xmlns:a16="http://schemas.microsoft.com/office/drawing/2014/main" val="158350766"/>
                  </a:ext>
                </a:extLst>
              </a:tr>
            </a:tbl>
          </a:graphicData>
        </a:graphic>
      </p:graphicFrame>
      <p:graphicFrame>
        <p:nvGraphicFramePr>
          <p:cNvPr id="6" name="Table 5">
            <a:extLst>
              <a:ext uri="{FF2B5EF4-FFF2-40B4-BE49-F238E27FC236}">
                <a16:creationId xmlns:a16="http://schemas.microsoft.com/office/drawing/2014/main" id="{BFFF068C-177E-58EE-681D-C9214F16C135}"/>
              </a:ext>
            </a:extLst>
          </p:cNvPr>
          <p:cNvGraphicFramePr>
            <a:graphicFrameLocks noGrp="1"/>
          </p:cNvGraphicFramePr>
          <p:nvPr>
            <p:extLst>
              <p:ext uri="{D42A27DB-BD31-4B8C-83A1-F6EECF244321}">
                <p14:modId xmlns:p14="http://schemas.microsoft.com/office/powerpoint/2010/main" val="2056273230"/>
              </p:ext>
            </p:extLst>
          </p:nvPr>
        </p:nvGraphicFramePr>
        <p:xfrm>
          <a:off x="914400" y="3968651"/>
          <a:ext cx="5881438" cy="1840718"/>
        </p:xfrm>
        <a:graphic>
          <a:graphicData uri="http://schemas.openxmlformats.org/drawingml/2006/table">
            <a:tbl>
              <a:tblPr firstRow="1" bandRow="1">
                <a:tableStyleId>{5C22544A-7EE6-4342-B048-85BDC9FD1C3A}</a:tableStyleId>
              </a:tblPr>
              <a:tblGrid>
                <a:gridCol w="892611">
                  <a:extLst>
                    <a:ext uri="{9D8B030D-6E8A-4147-A177-3AD203B41FA5}">
                      <a16:colId xmlns:a16="http://schemas.microsoft.com/office/drawing/2014/main" val="1217920130"/>
                    </a:ext>
                  </a:extLst>
                </a:gridCol>
                <a:gridCol w="2320549">
                  <a:extLst>
                    <a:ext uri="{9D8B030D-6E8A-4147-A177-3AD203B41FA5}">
                      <a16:colId xmlns:a16="http://schemas.microsoft.com/office/drawing/2014/main" val="1475888205"/>
                    </a:ext>
                  </a:extLst>
                </a:gridCol>
                <a:gridCol w="2668278">
                  <a:extLst>
                    <a:ext uri="{9D8B030D-6E8A-4147-A177-3AD203B41FA5}">
                      <a16:colId xmlns:a16="http://schemas.microsoft.com/office/drawing/2014/main" val="2801792198"/>
                    </a:ext>
                  </a:extLst>
                </a:gridCol>
              </a:tblGrid>
              <a:tr h="267617">
                <a:tc>
                  <a:txBody>
                    <a:bodyPr/>
                    <a:lstStyle/>
                    <a:p>
                      <a:r>
                        <a:rPr lang="en-US" sz="1200" dirty="0"/>
                        <a:t>Cycle #</a:t>
                      </a:r>
                    </a:p>
                  </a:txBody>
                  <a:tcPr/>
                </a:tc>
                <a:tc>
                  <a:txBody>
                    <a:bodyPr/>
                    <a:lstStyle/>
                    <a:p>
                      <a:r>
                        <a:rPr lang="en-US" sz="1200" dirty="0"/>
                        <a:t>Instruction</a:t>
                      </a:r>
                    </a:p>
                  </a:txBody>
                  <a:tcPr/>
                </a:tc>
                <a:tc>
                  <a:txBody>
                    <a:bodyPr/>
                    <a:lstStyle/>
                    <a:p>
                      <a:r>
                        <a:rPr lang="en-US" sz="1200" dirty="0"/>
                        <a:t>Explanation</a:t>
                      </a:r>
                    </a:p>
                  </a:txBody>
                  <a:tcPr/>
                </a:tc>
                <a:extLst>
                  <a:ext uri="{0D108BD9-81ED-4DB2-BD59-A6C34878D82A}">
                    <a16:rowId xmlns:a16="http://schemas.microsoft.com/office/drawing/2014/main" val="2319756336"/>
                  </a:ext>
                </a:extLst>
              </a:tr>
              <a:tr h="477458">
                <a:tc>
                  <a:txBody>
                    <a:bodyPr/>
                    <a:lstStyle/>
                    <a:p>
                      <a:pPr algn="ctr"/>
                      <a:r>
                        <a:rPr lang="en-US" sz="1200" dirty="0"/>
                        <a:t>0</a:t>
                      </a:r>
                    </a:p>
                  </a:txBody>
                  <a:tcPr/>
                </a:tc>
                <a:tc>
                  <a:txBody>
                    <a:bodyPr/>
                    <a:lstStyle/>
                    <a:p>
                      <a:pPr algn="l"/>
                      <a:r>
                        <a:rPr lang="en-US" sz="1200" b="1" dirty="0" err="1"/>
                        <a:t>ARSelect</a:t>
                      </a:r>
                      <a:r>
                        <a:rPr lang="en-US" sz="1200" dirty="0"/>
                        <a:t> = </a:t>
                      </a:r>
                      <a:r>
                        <a:rPr lang="en-US" sz="1200" dirty="0" err="1"/>
                        <a:t>ARSrc</a:t>
                      </a:r>
                      <a:endParaRPr lang="en-US" sz="1200" dirty="0"/>
                    </a:p>
                  </a:txBody>
                  <a:tcPr/>
                </a:tc>
                <a:tc>
                  <a:txBody>
                    <a:bodyPr/>
                    <a:lstStyle/>
                    <a:p>
                      <a:pPr algn="l"/>
                      <a:r>
                        <a:rPr lang="en-US" sz="1200" dirty="0"/>
                        <a:t>Write </a:t>
                      </a:r>
                      <a:r>
                        <a:rPr lang="en-US" sz="1200" dirty="0" err="1"/>
                        <a:t>ARSrc</a:t>
                      </a:r>
                      <a:r>
                        <a:rPr lang="en-US" sz="1200" dirty="0"/>
                        <a:t> to the Address Bus.</a:t>
                      </a:r>
                    </a:p>
                  </a:txBody>
                  <a:tcPr/>
                </a:tc>
                <a:extLst>
                  <a:ext uri="{0D108BD9-81ED-4DB2-BD59-A6C34878D82A}">
                    <a16:rowId xmlns:a16="http://schemas.microsoft.com/office/drawing/2014/main" val="2570910443"/>
                  </a:ext>
                </a:extLst>
              </a:tr>
              <a:tr h="477458">
                <a:tc>
                  <a:txBody>
                    <a:bodyPr/>
                    <a:lstStyle/>
                    <a:p>
                      <a:pPr algn="ct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err="1"/>
                        <a:t>AddressByteSelect</a:t>
                      </a:r>
                      <a:r>
                        <a:rPr lang="en-US" sz="1200" dirty="0"/>
                        <a:t> = L/H (default behavior)</a:t>
                      </a:r>
                    </a:p>
                  </a:txBody>
                  <a:tcPr/>
                </a:tc>
                <a:tc>
                  <a:txBody>
                    <a:bodyPr/>
                    <a:lstStyle/>
                    <a:p>
                      <a:pPr algn="l"/>
                      <a:r>
                        <a:rPr lang="en-US" sz="1200" dirty="0"/>
                        <a:t>Write Address Bus L/H byte to the Data Bus.</a:t>
                      </a:r>
                    </a:p>
                  </a:txBody>
                  <a:tcPr/>
                </a:tc>
                <a:extLst>
                  <a:ext uri="{0D108BD9-81ED-4DB2-BD59-A6C34878D82A}">
                    <a16:rowId xmlns:a16="http://schemas.microsoft.com/office/drawing/2014/main" val="631651838"/>
                  </a:ext>
                </a:extLst>
              </a:tr>
              <a:tr h="305741">
                <a:tc>
                  <a:txBody>
                    <a:bodyPr/>
                    <a:lstStyle/>
                    <a:p>
                      <a:pPr algn="ct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u="sng" dirty="0" err="1"/>
                        <a:t>AddressBusToDataBus</a:t>
                      </a:r>
                      <a:r>
                        <a:rPr lang="en-US" sz="1200" dirty="0"/>
                        <a:t> = 1</a:t>
                      </a:r>
                    </a:p>
                  </a:txBody>
                  <a:tcPr/>
                </a:tc>
                <a:tc>
                  <a:txBody>
                    <a:bodyPr/>
                    <a:lstStyle/>
                    <a:p>
                      <a:pPr algn="l"/>
                      <a:endParaRPr lang="en-US" sz="1200" dirty="0"/>
                    </a:p>
                  </a:txBody>
                  <a:tcPr/>
                </a:tc>
                <a:extLst>
                  <a:ext uri="{0D108BD9-81ED-4DB2-BD59-A6C34878D82A}">
                    <a16:rowId xmlns:a16="http://schemas.microsoft.com/office/drawing/2014/main" val="1592812184"/>
                  </a:ext>
                </a:extLst>
              </a:tr>
              <a:tr h="305741">
                <a:tc>
                  <a:txBody>
                    <a:bodyPr/>
                    <a:lstStyle/>
                    <a:p>
                      <a:pPr algn="ct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err="1"/>
                        <a:t>RegisterFileInputEnable</a:t>
                      </a:r>
                      <a:r>
                        <a:rPr lang="en-US" sz="1200" dirty="0"/>
                        <a:t> = 1</a:t>
                      </a:r>
                    </a:p>
                  </a:txBody>
                  <a:tcPr/>
                </a:tc>
                <a:tc>
                  <a:txBody>
                    <a:bodyPr/>
                    <a:lstStyle/>
                    <a:p>
                      <a:pPr algn="l"/>
                      <a:r>
                        <a:rPr lang="en-US" sz="1200" dirty="0"/>
                        <a:t>Set Rd to read from the Data Bus.</a:t>
                      </a:r>
                    </a:p>
                  </a:txBody>
                  <a:tcPr/>
                </a:tc>
                <a:extLst>
                  <a:ext uri="{0D108BD9-81ED-4DB2-BD59-A6C34878D82A}">
                    <a16:rowId xmlns:a16="http://schemas.microsoft.com/office/drawing/2014/main" val="2304953557"/>
                  </a:ext>
                </a:extLst>
              </a:tr>
            </a:tbl>
          </a:graphicData>
        </a:graphic>
      </p:graphicFrame>
      <p:sp>
        <p:nvSpPr>
          <p:cNvPr id="7" name="TextBox 6">
            <a:extLst>
              <a:ext uri="{FF2B5EF4-FFF2-40B4-BE49-F238E27FC236}">
                <a16:creationId xmlns:a16="http://schemas.microsoft.com/office/drawing/2014/main" id="{0C90270B-736A-1B7F-69FB-527BCAD76D37}"/>
              </a:ext>
            </a:extLst>
          </p:cNvPr>
          <p:cNvSpPr txBox="1"/>
          <p:nvPr/>
        </p:nvSpPr>
        <p:spPr>
          <a:xfrm>
            <a:off x="914400" y="3195186"/>
            <a:ext cx="5438274" cy="646331"/>
          </a:xfrm>
          <a:prstGeom prst="rect">
            <a:avLst/>
          </a:prstGeom>
          <a:noFill/>
        </p:spPr>
        <p:txBody>
          <a:bodyPr wrap="square" rtlCol="0">
            <a:spAutoFit/>
          </a:bodyPr>
          <a:lstStyle/>
          <a:p>
            <a:r>
              <a:rPr lang="en-US" dirty="0"/>
              <a:t>Non-control signals are marked as bold. Control signals are marked as italic.</a:t>
            </a:r>
          </a:p>
        </p:txBody>
      </p:sp>
    </p:spTree>
    <p:extLst>
      <p:ext uri="{BB962C8B-B14F-4D97-AF65-F5344CB8AC3E}">
        <p14:creationId xmlns:p14="http://schemas.microsoft.com/office/powerpoint/2010/main" val="265564629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40CE5-B671-5CFA-26B2-DF3417DE12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BC6472-78F3-56DF-180C-A9C17AA0322F}"/>
              </a:ext>
            </a:extLst>
          </p:cNvPr>
          <p:cNvSpPr>
            <a:spLocks noGrp="1"/>
          </p:cNvSpPr>
          <p:nvPr>
            <p:ph type="ctrTitle"/>
          </p:nvPr>
        </p:nvSpPr>
        <p:spPr/>
        <p:txBody>
          <a:bodyPr/>
          <a:lstStyle/>
          <a:p>
            <a:r>
              <a:rPr lang="en-US" dirty="0"/>
              <a:t>(Memory </a:t>
            </a:r>
            <a:r>
              <a:rPr lang="en-US" dirty="0">
                <a:sym typeface="Wingdings" panose="05000000000000000000" pitchFamily="2" charset="2"/>
              </a:rPr>
              <a:t> GR) Instruction</a:t>
            </a:r>
            <a:endParaRPr lang="en-US" dirty="0"/>
          </a:p>
        </p:txBody>
      </p:sp>
      <p:graphicFrame>
        <p:nvGraphicFramePr>
          <p:cNvPr id="4" name="Table 3">
            <a:extLst>
              <a:ext uri="{FF2B5EF4-FFF2-40B4-BE49-F238E27FC236}">
                <a16:creationId xmlns:a16="http://schemas.microsoft.com/office/drawing/2014/main" id="{17BBF9AE-F7E6-A82E-BB48-7456BBABC0B4}"/>
              </a:ext>
            </a:extLst>
          </p:cNvPr>
          <p:cNvGraphicFramePr>
            <a:graphicFrameLocks noGrp="1"/>
          </p:cNvGraphicFramePr>
          <p:nvPr>
            <p:extLst>
              <p:ext uri="{D42A27DB-BD31-4B8C-83A1-F6EECF244321}">
                <p14:modId xmlns:p14="http://schemas.microsoft.com/office/powerpoint/2010/main" val="3377654198"/>
              </p:ext>
            </p:extLst>
          </p:nvPr>
        </p:nvGraphicFramePr>
        <p:xfrm>
          <a:off x="914400" y="1041534"/>
          <a:ext cx="5881438" cy="2026518"/>
        </p:xfrm>
        <a:graphic>
          <a:graphicData uri="http://schemas.openxmlformats.org/drawingml/2006/table">
            <a:tbl>
              <a:tblPr firstCol="1" bandRow="1">
                <a:tableStyleId>{5C22544A-7EE6-4342-B048-85BDC9FD1C3A}</a:tableStyleId>
              </a:tblPr>
              <a:tblGrid>
                <a:gridCol w="2940719">
                  <a:extLst>
                    <a:ext uri="{9D8B030D-6E8A-4147-A177-3AD203B41FA5}">
                      <a16:colId xmlns:a16="http://schemas.microsoft.com/office/drawing/2014/main" val="4194745349"/>
                    </a:ext>
                  </a:extLst>
                </a:gridCol>
                <a:gridCol w="2940719">
                  <a:extLst>
                    <a:ext uri="{9D8B030D-6E8A-4147-A177-3AD203B41FA5}">
                      <a16:colId xmlns:a16="http://schemas.microsoft.com/office/drawing/2014/main" val="3037212644"/>
                    </a:ext>
                  </a:extLst>
                </a:gridCol>
              </a:tblGrid>
              <a:tr h="337753">
                <a:tc>
                  <a:txBody>
                    <a:bodyPr/>
                    <a:lstStyle/>
                    <a:p>
                      <a:r>
                        <a:rPr lang="en-US" sz="1400" dirty="0"/>
                        <a:t>Type</a:t>
                      </a:r>
                    </a:p>
                  </a:txBody>
                  <a:tcPr/>
                </a:tc>
                <a:tc>
                  <a:txBody>
                    <a:bodyPr/>
                    <a:lstStyle/>
                    <a:p>
                      <a:r>
                        <a:rPr lang="en-US" sz="1400" dirty="0"/>
                        <a:t>Memory </a:t>
                      </a:r>
                      <a:r>
                        <a:rPr lang="en-US" sz="1400" dirty="0">
                          <a:sym typeface="Wingdings" panose="05000000000000000000" pitchFamily="2" charset="2"/>
                        </a:rPr>
                        <a:t> GR</a:t>
                      </a:r>
                      <a:endParaRPr lang="en-US" sz="1400" dirty="0"/>
                    </a:p>
                  </a:txBody>
                  <a:tcPr/>
                </a:tc>
                <a:extLst>
                  <a:ext uri="{0D108BD9-81ED-4DB2-BD59-A6C34878D82A}">
                    <a16:rowId xmlns:a16="http://schemas.microsoft.com/office/drawing/2014/main" val="3388478334"/>
                  </a:ext>
                </a:extLst>
              </a:tr>
              <a:tr h="337753">
                <a:tc>
                  <a:txBody>
                    <a:bodyPr/>
                    <a:lstStyle/>
                    <a:p>
                      <a:r>
                        <a:rPr lang="en-US" sz="1400" dirty="0"/>
                        <a:t>Semantics</a:t>
                      </a:r>
                    </a:p>
                  </a:txBody>
                  <a:tcPr/>
                </a:tc>
                <a:tc>
                  <a:txBody>
                    <a:bodyPr/>
                    <a:lstStyle/>
                    <a:p>
                      <a:r>
                        <a:rPr lang="en-US" sz="1400" dirty="0"/>
                        <a:t>Rd = *(</a:t>
                      </a:r>
                      <a:r>
                        <a:rPr lang="en-US" sz="1400" dirty="0" err="1"/>
                        <a:t>ARSrc</a:t>
                      </a:r>
                      <a:r>
                        <a:rPr lang="en-US" sz="1400" dirty="0"/>
                        <a:t> + Imm)</a:t>
                      </a:r>
                    </a:p>
                  </a:txBody>
                  <a:tcPr/>
                </a:tc>
                <a:extLst>
                  <a:ext uri="{0D108BD9-81ED-4DB2-BD59-A6C34878D82A}">
                    <a16:rowId xmlns:a16="http://schemas.microsoft.com/office/drawing/2014/main" val="2980594194"/>
                  </a:ext>
                </a:extLst>
              </a:tr>
              <a:tr h="337753">
                <a:tc>
                  <a:txBody>
                    <a:bodyPr/>
                    <a:lstStyle/>
                    <a:p>
                      <a:r>
                        <a:rPr lang="en-US" sz="1400" dirty="0"/>
                        <a:t>Number of Opcodes Required</a:t>
                      </a:r>
                    </a:p>
                  </a:txBody>
                  <a:tcPr/>
                </a:tc>
                <a:tc>
                  <a:txBody>
                    <a:bodyPr/>
                    <a:lstStyle/>
                    <a:p>
                      <a:r>
                        <a:rPr lang="en-US" sz="1400" dirty="0"/>
                        <a:t>2</a:t>
                      </a:r>
                    </a:p>
                  </a:txBody>
                  <a:tcPr/>
                </a:tc>
                <a:extLst>
                  <a:ext uri="{0D108BD9-81ED-4DB2-BD59-A6C34878D82A}">
                    <a16:rowId xmlns:a16="http://schemas.microsoft.com/office/drawing/2014/main" val="3814078540"/>
                  </a:ext>
                </a:extLst>
              </a:tr>
              <a:tr h="337753">
                <a:tc>
                  <a:txBody>
                    <a:bodyPr/>
                    <a:lstStyle/>
                    <a:p>
                      <a:r>
                        <a:rPr lang="en-US" sz="1400" dirty="0"/>
                        <a:t>Operands</a:t>
                      </a:r>
                    </a:p>
                  </a:txBody>
                  <a:tcPr/>
                </a:tc>
                <a:tc>
                  <a:txBody>
                    <a:bodyPr/>
                    <a:lstStyle/>
                    <a:p>
                      <a:r>
                        <a:rPr lang="en-US" sz="1400" dirty="0"/>
                        <a:t>Rd (2 bits), </a:t>
                      </a:r>
                      <a:r>
                        <a:rPr lang="en-US" sz="1400" dirty="0" err="1"/>
                        <a:t>ARSrc</a:t>
                      </a:r>
                      <a:r>
                        <a:rPr lang="en-US" sz="1400" dirty="0"/>
                        <a:t> (2 bits), Imm (8 bits)</a:t>
                      </a:r>
                    </a:p>
                  </a:txBody>
                  <a:tcPr/>
                </a:tc>
                <a:extLst>
                  <a:ext uri="{0D108BD9-81ED-4DB2-BD59-A6C34878D82A}">
                    <a16:rowId xmlns:a16="http://schemas.microsoft.com/office/drawing/2014/main" val="11223351"/>
                  </a:ext>
                </a:extLst>
              </a:tr>
              <a:tr h="337753">
                <a:tc>
                  <a:txBody>
                    <a:bodyPr/>
                    <a:lstStyle/>
                    <a:p>
                      <a:r>
                        <a:rPr lang="en-US" sz="1400" dirty="0"/>
                        <a:t>Additional Inputs</a:t>
                      </a:r>
                    </a:p>
                  </a:txBody>
                  <a:tcPr/>
                </a:tc>
                <a:tc>
                  <a:txBody>
                    <a:bodyPr/>
                    <a:lstStyle/>
                    <a:p>
                      <a:r>
                        <a:rPr lang="en-US" sz="1400" b="1" dirty="0" err="1"/>
                        <a:t>ARSelect</a:t>
                      </a:r>
                      <a:endParaRPr lang="en-US" sz="1400" b="1" dirty="0"/>
                    </a:p>
                  </a:txBody>
                  <a:tcPr/>
                </a:tc>
                <a:extLst>
                  <a:ext uri="{0D108BD9-81ED-4DB2-BD59-A6C34878D82A}">
                    <a16:rowId xmlns:a16="http://schemas.microsoft.com/office/drawing/2014/main" val="3569590451"/>
                  </a:ext>
                </a:extLst>
              </a:tr>
              <a:tr h="337753">
                <a:tc>
                  <a:txBody>
                    <a:bodyPr/>
                    <a:lstStyle/>
                    <a:p>
                      <a:r>
                        <a:rPr lang="en-US" sz="1400" dirty="0"/>
                        <a:t>Control Signals Needed</a:t>
                      </a:r>
                    </a:p>
                  </a:txBody>
                  <a:tcPr/>
                </a:tc>
                <a:tc>
                  <a:txBody>
                    <a:bodyPr/>
                    <a:lstStyle/>
                    <a:p>
                      <a:r>
                        <a:rPr lang="en-US" sz="1400" i="1" dirty="0" err="1"/>
                        <a:t>TmpARRead</a:t>
                      </a:r>
                      <a:endParaRPr lang="en-US" sz="1400" i="1" dirty="0"/>
                    </a:p>
                  </a:txBody>
                  <a:tcPr/>
                </a:tc>
                <a:extLst>
                  <a:ext uri="{0D108BD9-81ED-4DB2-BD59-A6C34878D82A}">
                    <a16:rowId xmlns:a16="http://schemas.microsoft.com/office/drawing/2014/main" val="158350766"/>
                  </a:ext>
                </a:extLst>
              </a:tr>
            </a:tbl>
          </a:graphicData>
        </a:graphic>
      </p:graphicFrame>
      <p:graphicFrame>
        <p:nvGraphicFramePr>
          <p:cNvPr id="3" name="Table 2">
            <a:extLst>
              <a:ext uri="{FF2B5EF4-FFF2-40B4-BE49-F238E27FC236}">
                <a16:creationId xmlns:a16="http://schemas.microsoft.com/office/drawing/2014/main" id="{8EFB8DC3-5F2C-3AE0-F4A7-D9A8F2F6B926}"/>
              </a:ext>
            </a:extLst>
          </p:cNvPr>
          <p:cNvGraphicFramePr>
            <a:graphicFrameLocks noGrp="1"/>
          </p:cNvGraphicFramePr>
          <p:nvPr>
            <p:extLst>
              <p:ext uri="{D42A27DB-BD31-4B8C-83A1-F6EECF244321}">
                <p14:modId xmlns:p14="http://schemas.microsoft.com/office/powerpoint/2010/main" val="563273114"/>
              </p:ext>
            </p:extLst>
          </p:nvPr>
        </p:nvGraphicFramePr>
        <p:xfrm>
          <a:off x="6980321" y="1041534"/>
          <a:ext cx="4852737" cy="3058036"/>
        </p:xfrm>
        <a:graphic>
          <a:graphicData uri="http://schemas.openxmlformats.org/drawingml/2006/table">
            <a:tbl>
              <a:tblPr firstRow="1" bandRow="1">
                <a:tableStyleId>{5C22544A-7EE6-4342-B048-85BDC9FD1C3A}</a:tableStyleId>
              </a:tblPr>
              <a:tblGrid>
                <a:gridCol w="736488">
                  <a:extLst>
                    <a:ext uri="{9D8B030D-6E8A-4147-A177-3AD203B41FA5}">
                      <a16:colId xmlns:a16="http://schemas.microsoft.com/office/drawing/2014/main" val="1217920130"/>
                    </a:ext>
                  </a:extLst>
                </a:gridCol>
                <a:gridCol w="1914670">
                  <a:extLst>
                    <a:ext uri="{9D8B030D-6E8A-4147-A177-3AD203B41FA5}">
                      <a16:colId xmlns:a16="http://schemas.microsoft.com/office/drawing/2014/main" val="1475888205"/>
                    </a:ext>
                  </a:extLst>
                </a:gridCol>
                <a:gridCol w="2201579">
                  <a:extLst>
                    <a:ext uri="{9D8B030D-6E8A-4147-A177-3AD203B41FA5}">
                      <a16:colId xmlns:a16="http://schemas.microsoft.com/office/drawing/2014/main" val="2801792198"/>
                    </a:ext>
                  </a:extLst>
                </a:gridCol>
              </a:tblGrid>
              <a:tr h="267617">
                <a:tc>
                  <a:txBody>
                    <a:bodyPr/>
                    <a:lstStyle/>
                    <a:p>
                      <a:r>
                        <a:rPr lang="en-US" sz="1200" dirty="0"/>
                        <a:t>Cycle #</a:t>
                      </a:r>
                    </a:p>
                  </a:txBody>
                  <a:tcPr/>
                </a:tc>
                <a:tc>
                  <a:txBody>
                    <a:bodyPr/>
                    <a:lstStyle/>
                    <a:p>
                      <a:r>
                        <a:rPr lang="en-US" sz="1200" dirty="0"/>
                        <a:t>Instruction</a:t>
                      </a:r>
                    </a:p>
                  </a:txBody>
                  <a:tcPr/>
                </a:tc>
                <a:tc>
                  <a:txBody>
                    <a:bodyPr/>
                    <a:lstStyle/>
                    <a:p>
                      <a:r>
                        <a:rPr lang="en-US" sz="1200" dirty="0"/>
                        <a:t>Explanation</a:t>
                      </a:r>
                    </a:p>
                  </a:txBody>
                  <a:tcPr/>
                </a:tc>
                <a:extLst>
                  <a:ext uri="{0D108BD9-81ED-4DB2-BD59-A6C34878D82A}">
                    <a16:rowId xmlns:a16="http://schemas.microsoft.com/office/drawing/2014/main" val="2319756336"/>
                  </a:ext>
                </a:extLst>
              </a:tr>
              <a:tr h="477458">
                <a:tc>
                  <a:txBody>
                    <a:bodyPr/>
                    <a:lstStyle/>
                    <a:p>
                      <a:pPr algn="ctr"/>
                      <a:r>
                        <a:rPr lang="en-US" sz="1200" dirty="0"/>
                        <a:t>0</a:t>
                      </a:r>
                    </a:p>
                  </a:txBody>
                  <a:tcPr/>
                </a:tc>
                <a:tc>
                  <a:txBody>
                    <a:bodyPr/>
                    <a:lstStyle/>
                    <a:p>
                      <a:pPr algn="l"/>
                      <a:r>
                        <a:rPr lang="en-US" sz="1200" i="1" dirty="0"/>
                        <a:t>Program Register H Write to Bus</a:t>
                      </a:r>
                      <a:r>
                        <a:rPr lang="en-US" sz="1200" i="0" dirty="0"/>
                        <a:t> = 1</a:t>
                      </a:r>
                      <a:endParaRPr lang="en-US" sz="1200" i="1" dirty="0"/>
                    </a:p>
                  </a:txBody>
                  <a:tcPr/>
                </a:tc>
                <a:tc>
                  <a:txBody>
                    <a:bodyPr/>
                    <a:lstStyle/>
                    <a:p>
                      <a:pPr algn="l"/>
                      <a:r>
                        <a:rPr lang="en-US" sz="1200" dirty="0"/>
                        <a:t>Write Imm to the Data Bus.</a:t>
                      </a:r>
                    </a:p>
                  </a:txBody>
                  <a:tcPr/>
                </a:tc>
                <a:extLst>
                  <a:ext uri="{0D108BD9-81ED-4DB2-BD59-A6C34878D82A}">
                    <a16:rowId xmlns:a16="http://schemas.microsoft.com/office/drawing/2014/main" val="2570910443"/>
                  </a:ext>
                </a:extLst>
              </a:tr>
              <a:tr h="477458">
                <a:tc>
                  <a:txBody>
                    <a:bodyPr/>
                    <a:lstStyle/>
                    <a:p>
                      <a:pPr algn="ct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err="1"/>
                        <a:t>ARSelect</a:t>
                      </a:r>
                      <a:r>
                        <a:rPr lang="en-US" sz="1200" b="0" dirty="0"/>
                        <a:t> = </a:t>
                      </a:r>
                      <a:r>
                        <a:rPr lang="en-US" sz="1200" b="0" dirty="0" err="1"/>
                        <a:t>ARSrc</a:t>
                      </a:r>
                      <a:endParaRPr lang="en-US" sz="1200" b="1" dirty="0"/>
                    </a:p>
                  </a:txBody>
                  <a:tcPr/>
                </a:tc>
                <a:tc>
                  <a:txBody>
                    <a:bodyPr/>
                    <a:lstStyle/>
                    <a:p>
                      <a:pPr algn="l"/>
                      <a:r>
                        <a:rPr lang="en-US" sz="1200" dirty="0"/>
                        <a:t>Write </a:t>
                      </a:r>
                      <a:r>
                        <a:rPr lang="en-US" sz="1200" dirty="0" err="1"/>
                        <a:t>ARSrc</a:t>
                      </a:r>
                      <a:r>
                        <a:rPr lang="en-US" sz="1200" dirty="0"/>
                        <a:t> to the Address Bus.</a:t>
                      </a:r>
                    </a:p>
                  </a:txBody>
                  <a:tcPr/>
                </a:tc>
                <a:extLst>
                  <a:ext uri="{0D108BD9-81ED-4DB2-BD59-A6C34878D82A}">
                    <a16:rowId xmlns:a16="http://schemas.microsoft.com/office/drawing/2014/main" val="631651838"/>
                  </a:ext>
                </a:extLst>
              </a:tr>
              <a:tr h="305741">
                <a:tc>
                  <a:txBody>
                    <a:bodyPr/>
                    <a:lstStyle/>
                    <a:p>
                      <a:pPr algn="ct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err="1"/>
                        <a:t>TmpARRead</a:t>
                      </a:r>
                      <a:r>
                        <a:rPr lang="en-US" sz="1200" i="0" dirty="0"/>
                        <a:t> = 1</a:t>
                      </a:r>
                      <a:endParaRPr lang="en-US" sz="1200" i="1" dirty="0"/>
                    </a:p>
                  </a:txBody>
                  <a:tcPr/>
                </a:tc>
                <a:tc>
                  <a:txBody>
                    <a:bodyPr/>
                    <a:lstStyle/>
                    <a:p>
                      <a:pPr algn="l"/>
                      <a:r>
                        <a:rPr lang="en-US" sz="1200" dirty="0"/>
                        <a:t>Set </a:t>
                      </a:r>
                      <a:r>
                        <a:rPr lang="en-US" sz="1200" dirty="0" err="1"/>
                        <a:t>TmpAR</a:t>
                      </a:r>
                      <a:r>
                        <a:rPr lang="en-US" sz="1200" dirty="0"/>
                        <a:t> to read (from the 16-bit adder).</a:t>
                      </a:r>
                    </a:p>
                  </a:txBody>
                  <a:tcPr/>
                </a:tc>
                <a:extLst>
                  <a:ext uri="{0D108BD9-81ED-4DB2-BD59-A6C34878D82A}">
                    <a16:rowId xmlns:a16="http://schemas.microsoft.com/office/drawing/2014/main" val="1592812184"/>
                  </a:ext>
                </a:extLst>
              </a:tr>
              <a:tr h="305741">
                <a:tc>
                  <a:txBody>
                    <a:bodyPr/>
                    <a:lstStyle/>
                    <a:p>
                      <a:pPr algn="ctr"/>
                      <a:r>
                        <a:rPr lang="en-US" sz="1200"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err="1"/>
                        <a:t>ARSelect</a:t>
                      </a:r>
                      <a:r>
                        <a:rPr lang="en-US" sz="1200" b="0" dirty="0"/>
                        <a:t> = </a:t>
                      </a:r>
                      <a:r>
                        <a:rPr lang="en-US" sz="1200" b="0" dirty="0" err="1"/>
                        <a:t>TmpAR</a:t>
                      </a:r>
                      <a:endParaRPr lang="en-US" sz="1200" b="1" dirty="0"/>
                    </a:p>
                  </a:txBody>
                  <a:tcPr/>
                </a:tc>
                <a:tc>
                  <a:txBody>
                    <a:bodyPr/>
                    <a:lstStyle/>
                    <a:p>
                      <a:pPr algn="l"/>
                      <a:r>
                        <a:rPr lang="en-US" sz="1200" dirty="0"/>
                        <a:t>Write </a:t>
                      </a:r>
                      <a:r>
                        <a:rPr lang="en-US" sz="1200" dirty="0" err="1"/>
                        <a:t>TmpAR</a:t>
                      </a:r>
                      <a:r>
                        <a:rPr lang="en-US" sz="1200" dirty="0"/>
                        <a:t> to the Address Bus.</a:t>
                      </a:r>
                    </a:p>
                  </a:txBody>
                  <a:tcPr/>
                </a:tc>
                <a:extLst>
                  <a:ext uri="{0D108BD9-81ED-4DB2-BD59-A6C34878D82A}">
                    <a16:rowId xmlns:a16="http://schemas.microsoft.com/office/drawing/2014/main" val="2304953557"/>
                  </a:ext>
                </a:extLst>
              </a:tr>
              <a:tr h="305741">
                <a:tc>
                  <a:txBody>
                    <a:bodyPr/>
                    <a:lstStyle/>
                    <a:p>
                      <a:pPr algn="ct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dirty="0" err="1"/>
                        <a:t>MemRead</a:t>
                      </a:r>
                      <a:r>
                        <a:rPr lang="en-US" sz="1200" b="0" i="0" dirty="0"/>
                        <a:t> = 1</a:t>
                      </a:r>
                      <a:endParaRPr lang="en-US" sz="1200" b="0" i="1" dirty="0"/>
                    </a:p>
                  </a:txBody>
                  <a:tcPr/>
                </a:tc>
                <a:tc>
                  <a:txBody>
                    <a:bodyPr/>
                    <a:lstStyle/>
                    <a:p>
                      <a:pPr algn="l"/>
                      <a:r>
                        <a:rPr lang="en-US" sz="1200" dirty="0"/>
                        <a:t>Write Memory data word to the Data Bus.</a:t>
                      </a:r>
                    </a:p>
                  </a:txBody>
                  <a:tcPr/>
                </a:tc>
                <a:extLst>
                  <a:ext uri="{0D108BD9-81ED-4DB2-BD59-A6C34878D82A}">
                    <a16:rowId xmlns:a16="http://schemas.microsoft.com/office/drawing/2014/main" val="3371983338"/>
                  </a:ext>
                </a:extLst>
              </a:tr>
              <a:tr h="305741">
                <a:tc>
                  <a:txBody>
                    <a:bodyPr/>
                    <a:lstStyle/>
                    <a:p>
                      <a:pPr algn="ct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dirty="0" err="1"/>
                        <a:t>RegisterFileInputEnable</a:t>
                      </a:r>
                      <a:r>
                        <a:rPr lang="en-US" sz="1200" b="0" i="0" dirty="0"/>
                        <a:t> = 1</a:t>
                      </a:r>
                      <a:endParaRPr lang="en-US" sz="1200" b="0" i="1" dirty="0"/>
                    </a:p>
                  </a:txBody>
                  <a:tcPr/>
                </a:tc>
                <a:tc>
                  <a:txBody>
                    <a:bodyPr/>
                    <a:lstStyle/>
                    <a:p>
                      <a:pPr algn="l"/>
                      <a:r>
                        <a:rPr lang="en-US" sz="1200" dirty="0"/>
                        <a:t>Set Rd to read from the Data Bus.</a:t>
                      </a:r>
                    </a:p>
                  </a:txBody>
                  <a:tcPr/>
                </a:tc>
                <a:extLst>
                  <a:ext uri="{0D108BD9-81ED-4DB2-BD59-A6C34878D82A}">
                    <a16:rowId xmlns:a16="http://schemas.microsoft.com/office/drawing/2014/main" val="1940194351"/>
                  </a:ext>
                </a:extLst>
              </a:tr>
            </a:tbl>
          </a:graphicData>
        </a:graphic>
      </p:graphicFrame>
      <p:sp>
        <p:nvSpPr>
          <p:cNvPr id="5" name="TextBox 4">
            <a:extLst>
              <a:ext uri="{FF2B5EF4-FFF2-40B4-BE49-F238E27FC236}">
                <a16:creationId xmlns:a16="http://schemas.microsoft.com/office/drawing/2014/main" id="{84DC429A-E0C2-4418-6370-107A5F5D28AF}"/>
              </a:ext>
            </a:extLst>
          </p:cNvPr>
          <p:cNvSpPr txBox="1"/>
          <p:nvPr/>
        </p:nvSpPr>
        <p:spPr>
          <a:xfrm>
            <a:off x="4878805" y="362634"/>
            <a:ext cx="5438274" cy="646331"/>
          </a:xfrm>
          <a:prstGeom prst="rect">
            <a:avLst/>
          </a:prstGeom>
          <a:noFill/>
        </p:spPr>
        <p:txBody>
          <a:bodyPr wrap="square" rtlCol="0">
            <a:spAutoFit/>
          </a:bodyPr>
          <a:lstStyle/>
          <a:p>
            <a:r>
              <a:rPr lang="en-US" dirty="0"/>
              <a:t>Non-control signals are marked as bold. Control signals are marked as italic.</a:t>
            </a:r>
          </a:p>
        </p:txBody>
      </p:sp>
    </p:spTree>
    <p:extLst>
      <p:ext uri="{BB962C8B-B14F-4D97-AF65-F5344CB8AC3E}">
        <p14:creationId xmlns:p14="http://schemas.microsoft.com/office/powerpoint/2010/main" val="9094855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10E63-28A7-1211-ED2B-1379AA38FB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14F5B2-EFB3-5438-7A79-599AD0F58DAE}"/>
              </a:ext>
            </a:extLst>
          </p:cNvPr>
          <p:cNvSpPr>
            <a:spLocks noGrp="1"/>
          </p:cNvSpPr>
          <p:nvPr>
            <p:ph type="ctrTitle"/>
          </p:nvPr>
        </p:nvSpPr>
        <p:spPr/>
        <p:txBody>
          <a:bodyPr/>
          <a:lstStyle/>
          <a:p>
            <a:r>
              <a:rPr lang="en-US" dirty="0"/>
              <a:t>(Imm </a:t>
            </a:r>
            <a:r>
              <a:rPr lang="en-US" dirty="0">
                <a:sym typeface="Wingdings" panose="05000000000000000000" pitchFamily="2" charset="2"/>
              </a:rPr>
              <a:t> AR) Instruction</a:t>
            </a:r>
            <a:endParaRPr lang="en-US" dirty="0"/>
          </a:p>
        </p:txBody>
      </p:sp>
      <p:graphicFrame>
        <p:nvGraphicFramePr>
          <p:cNvPr id="4" name="Table 3">
            <a:extLst>
              <a:ext uri="{FF2B5EF4-FFF2-40B4-BE49-F238E27FC236}">
                <a16:creationId xmlns:a16="http://schemas.microsoft.com/office/drawing/2014/main" id="{CCFF272E-A609-C499-FE80-C8EFFAEF09D3}"/>
              </a:ext>
            </a:extLst>
          </p:cNvPr>
          <p:cNvGraphicFramePr>
            <a:graphicFrameLocks noGrp="1"/>
          </p:cNvGraphicFramePr>
          <p:nvPr>
            <p:extLst>
              <p:ext uri="{D42A27DB-BD31-4B8C-83A1-F6EECF244321}">
                <p14:modId xmlns:p14="http://schemas.microsoft.com/office/powerpoint/2010/main" val="2366970306"/>
              </p:ext>
            </p:extLst>
          </p:nvPr>
        </p:nvGraphicFramePr>
        <p:xfrm>
          <a:off x="914400" y="1041534"/>
          <a:ext cx="5881438" cy="2387332"/>
        </p:xfrm>
        <a:graphic>
          <a:graphicData uri="http://schemas.openxmlformats.org/drawingml/2006/table">
            <a:tbl>
              <a:tblPr firstCol="1" bandRow="1">
                <a:tableStyleId>{5C22544A-7EE6-4342-B048-85BDC9FD1C3A}</a:tableStyleId>
              </a:tblPr>
              <a:tblGrid>
                <a:gridCol w="2940719">
                  <a:extLst>
                    <a:ext uri="{9D8B030D-6E8A-4147-A177-3AD203B41FA5}">
                      <a16:colId xmlns:a16="http://schemas.microsoft.com/office/drawing/2014/main" val="4194745349"/>
                    </a:ext>
                  </a:extLst>
                </a:gridCol>
                <a:gridCol w="2940719">
                  <a:extLst>
                    <a:ext uri="{9D8B030D-6E8A-4147-A177-3AD203B41FA5}">
                      <a16:colId xmlns:a16="http://schemas.microsoft.com/office/drawing/2014/main" val="3037212644"/>
                    </a:ext>
                  </a:extLst>
                </a:gridCol>
              </a:tblGrid>
              <a:tr h="337753">
                <a:tc>
                  <a:txBody>
                    <a:bodyPr/>
                    <a:lstStyle/>
                    <a:p>
                      <a:r>
                        <a:rPr lang="en-US" sz="1400" dirty="0"/>
                        <a:t>Type</a:t>
                      </a:r>
                    </a:p>
                  </a:txBody>
                  <a:tcPr/>
                </a:tc>
                <a:tc>
                  <a:txBody>
                    <a:bodyPr/>
                    <a:lstStyle/>
                    <a:p>
                      <a:r>
                        <a:rPr lang="en-US" sz="1400" dirty="0"/>
                        <a:t>Immediate </a:t>
                      </a:r>
                      <a:r>
                        <a:rPr lang="en-US" sz="1400" dirty="0">
                          <a:sym typeface="Wingdings" panose="05000000000000000000" pitchFamily="2" charset="2"/>
                        </a:rPr>
                        <a:t> AR</a:t>
                      </a:r>
                      <a:endParaRPr lang="en-US" sz="1400" dirty="0"/>
                    </a:p>
                  </a:txBody>
                  <a:tcPr/>
                </a:tc>
                <a:extLst>
                  <a:ext uri="{0D108BD9-81ED-4DB2-BD59-A6C34878D82A}">
                    <a16:rowId xmlns:a16="http://schemas.microsoft.com/office/drawing/2014/main" val="3388478334"/>
                  </a:ext>
                </a:extLst>
              </a:tr>
              <a:tr h="337753">
                <a:tc>
                  <a:txBody>
                    <a:bodyPr/>
                    <a:lstStyle/>
                    <a:p>
                      <a:r>
                        <a:rPr lang="en-US" sz="1400" dirty="0"/>
                        <a:t>Semantics</a:t>
                      </a:r>
                    </a:p>
                  </a:txBody>
                  <a:tcPr/>
                </a:tc>
                <a:tc>
                  <a:txBody>
                    <a:bodyPr/>
                    <a:lstStyle/>
                    <a:p>
                      <a:r>
                        <a:rPr lang="en-US" sz="1400" dirty="0"/>
                        <a:t>ARDest[L/H] = Imm</a:t>
                      </a:r>
                    </a:p>
                  </a:txBody>
                  <a:tcPr/>
                </a:tc>
                <a:extLst>
                  <a:ext uri="{0D108BD9-81ED-4DB2-BD59-A6C34878D82A}">
                    <a16:rowId xmlns:a16="http://schemas.microsoft.com/office/drawing/2014/main" val="2980594194"/>
                  </a:ext>
                </a:extLst>
              </a:tr>
              <a:tr h="337753">
                <a:tc>
                  <a:txBody>
                    <a:bodyPr/>
                    <a:lstStyle/>
                    <a:p>
                      <a:r>
                        <a:rPr lang="en-US" sz="1400" dirty="0"/>
                        <a:t>Number of Opcodes Required</a:t>
                      </a:r>
                    </a:p>
                  </a:txBody>
                  <a:tcPr/>
                </a:tc>
                <a:tc>
                  <a:txBody>
                    <a:bodyPr/>
                    <a:lstStyle/>
                    <a:p>
                      <a:r>
                        <a:rPr lang="en-US" sz="1400" dirty="0"/>
                        <a:t>1</a:t>
                      </a:r>
                    </a:p>
                  </a:txBody>
                  <a:tcPr/>
                </a:tc>
                <a:extLst>
                  <a:ext uri="{0D108BD9-81ED-4DB2-BD59-A6C34878D82A}">
                    <a16:rowId xmlns:a16="http://schemas.microsoft.com/office/drawing/2014/main" val="3814078540"/>
                  </a:ext>
                </a:extLst>
              </a:tr>
              <a:tr h="337753">
                <a:tc>
                  <a:txBody>
                    <a:bodyPr/>
                    <a:lstStyle/>
                    <a:p>
                      <a:r>
                        <a:rPr lang="en-US" sz="1400" dirty="0"/>
                        <a:t>Operands</a:t>
                      </a:r>
                    </a:p>
                  </a:txBody>
                  <a:tcPr/>
                </a:tc>
                <a:tc>
                  <a:txBody>
                    <a:bodyPr/>
                    <a:lstStyle/>
                    <a:p>
                      <a:r>
                        <a:rPr lang="en-US" sz="1400" dirty="0"/>
                        <a:t>ARDest (2 bits), L/H (1 bit), Imm (8 bits)</a:t>
                      </a:r>
                    </a:p>
                  </a:txBody>
                  <a:tcPr/>
                </a:tc>
                <a:extLst>
                  <a:ext uri="{0D108BD9-81ED-4DB2-BD59-A6C34878D82A}">
                    <a16:rowId xmlns:a16="http://schemas.microsoft.com/office/drawing/2014/main" val="11223351"/>
                  </a:ext>
                </a:extLst>
              </a:tr>
              <a:tr h="337753">
                <a:tc>
                  <a:txBody>
                    <a:bodyPr/>
                    <a:lstStyle/>
                    <a:p>
                      <a:r>
                        <a:rPr lang="en-US" sz="1400" dirty="0"/>
                        <a:t>Additional Inputs</a:t>
                      </a:r>
                    </a:p>
                  </a:txBody>
                  <a:tcPr/>
                </a:tc>
                <a:tc>
                  <a:txBody>
                    <a:bodyPr/>
                    <a:lstStyle/>
                    <a:p>
                      <a:endParaRPr lang="en-US" sz="1400" b="1" dirty="0"/>
                    </a:p>
                  </a:txBody>
                  <a:tcPr/>
                </a:tc>
                <a:extLst>
                  <a:ext uri="{0D108BD9-81ED-4DB2-BD59-A6C34878D82A}">
                    <a16:rowId xmlns:a16="http://schemas.microsoft.com/office/drawing/2014/main" val="3569590451"/>
                  </a:ext>
                </a:extLst>
              </a:tr>
              <a:tr h="337753">
                <a:tc>
                  <a:txBody>
                    <a:bodyPr/>
                    <a:lstStyle/>
                    <a:p>
                      <a:r>
                        <a:rPr lang="en-US" sz="1400" dirty="0"/>
                        <a:t>Control Signals Needed</a:t>
                      </a:r>
                    </a:p>
                  </a:txBody>
                  <a:tcPr/>
                </a:tc>
                <a:tc>
                  <a:txBody>
                    <a:bodyPr/>
                    <a:lstStyle/>
                    <a:p>
                      <a:r>
                        <a:rPr lang="en-US" sz="1400" i="1" dirty="0" err="1"/>
                        <a:t>LoadAR</a:t>
                      </a:r>
                      <a:r>
                        <a:rPr lang="en-US" sz="1400" i="1" dirty="0"/>
                        <a:t> (currently Load Special Register)</a:t>
                      </a:r>
                    </a:p>
                  </a:txBody>
                  <a:tcPr/>
                </a:tc>
                <a:extLst>
                  <a:ext uri="{0D108BD9-81ED-4DB2-BD59-A6C34878D82A}">
                    <a16:rowId xmlns:a16="http://schemas.microsoft.com/office/drawing/2014/main" val="158350766"/>
                  </a:ext>
                </a:extLst>
              </a:tr>
            </a:tbl>
          </a:graphicData>
        </a:graphic>
      </p:graphicFrame>
      <p:graphicFrame>
        <p:nvGraphicFramePr>
          <p:cNvPr id="3" name="Table 2">
            <a:extLst>
              <a:ext uri="{FF2B5EF4-FFF2-40B4-BE49-F238E27FC236}">
                <a16:creationId xmlns:a16="http://schemas.microsoft.com/office/drawing/2014/main" id="{86C4048D-4A5D-4657-8F34-70059B7339DA}"/>
              </a:ext>
            </a:extLst>
          </p:cNvPr>
          <p:cNvGraphicFramePr>
            <a:graphicFrameLocks noGrp="1"/>
          </p:cNvGraphicFramePr>
          <p:nvPr>
            <p:extLst>
              <p:ext uri="{D42A27DB-BD31-4B8C-83A1-F6EECF244321}">
                <p14:modId xmlns:p14="http://schemas.microsoft.com/office/powerpoint/2010/main" val="876863157"/>
              </p:ext>
            </p:extLst>
          </p:nvPr>
        </p:nvGraphicFramePr>
        <p:xfrm>
          <a:off x="6980321" y="1041534"/>
          <a:ext cx="4852737" cy="1229236"/>
        </p:xfrm>
        <a:graphic>
          <a:graphicData uri="http://schemas.openxmlformats.org/drawingml/2006/table">
            <a:tbl>
              <a:tblPr firstRow="1" bandRow="1">
                <a:tableStyleId>{5C22544A-7EE6-4342-B048-85BDC9FD1C3A}</a:tableStyleId>
              </a:tblPr>
              <a:tblGrid>
                <a:gridCol w="736488">
                  <a:extLst>
                    <a:ext uri="{9D8B030D-6E8A-4147-A177-3AD203B41FA5}">
                      <a16:colId xmlns:a16="http://schemas.microsoft.com/office/drawing/2014/main" val="1217920130"/>
                    </a:ext>
                  </a:extLst>
                </a:gridCol>
                <a:gridCol w="1914670">
                  <a:extLst>
                    <a:ext uri="{9D8B030D-6E8A-4147-A177-3AD203B41FA5}">
                      <a16:colId xmlns:a16="http://schemas.microsoft.com/office/drawing/2014/main" val="1475888205"/>
                    </a:ext>
                  </a:extLst>
                </a:gridCol>
                <a:gridCol w="2201579">
                  <a:extLst>
                    <a:ext uri="{9D8B030D-6E8A-4147-A177-3AD203B41FA5}">
                      <a16:colId xmlns:a16="http://schemas.microsoft.com/office/drawing/2014/main" val="2801792198"/>
                    </a:ext>
                  </a:extLst>
                </a:gridCol>
              </a:tblGrid>
              <a:tr h="267617">
                <a:tc>
                  <a:txBody>
                    <a:bodyPr/>
                    <a:lstStyle/>
                    <a:p>
                      <a:r>
                        <a:rPr lang="en-US" sz="1200" dirty="0"/>
                        <a:t>Cycle #</a:t>
                      </a:r>
                    </a:p>
                  </a:txBody>
                  <a:tcPr/>
                </a:tc>
                <a:tc>
                  <a:txBody>
                    <a:bodyPr/>
                    <a:lstStyle/>
                    <a:p>
                      <a:r>
                        <a:rPr lang="en-US" sz="1200" dirty="0"/>
                        <a:t>Instruction</a:t>
                      </a:r>
                    </a:p>
                  </a:txBody>
                  <a:tcPr/>
                </a:tc>
                <a:tc>
                  <a:txBody>
                    <a:bodyPr/>
                    <a:lstStyle/>
                    <a:p>
                      <a:r>
                        <a:rPr lang="en-US" sz="1200" dirty="0"/>
                        <a:t>Explanation</a:t>
                      </a:r>
                    </a:p>
                  </a:txBody>
                  <a:tcPr/>
                </a:tc>
                <a:extLst>
                  <a:ext uri="{0D108BD9-81ED-4DB2-BD59-A6C34878D82A}">
                    <a16:rowId xmlns:a16="http://schemas.microsoft.com/office/drawing/2014/main" val="2319756336"/>
                  </a:ext>
                </a:extLst>
              </a:tr>
              <a:tr h="477458">
                <a:tc>
                  <a:txBody>
                    <a:bodyPr/>
                    <a:lstStyle/>
                    <a:p>
                      <a:pPr algn="ctr"/>
                      <a:r>
                        <a:rPr lang="en-US" sz="1200" dirty="0"/>
                        <a:t>0</a:t>
                      </a:r>
                    </a:p>
                  </a:txBody>
                  <a:tcPr/>
                </a:tc>
                <a:tc>
                  <a:txBody>
                    <a:bodyPr/>
                    <a:lstStyle/>
                    <a:p>
                      <a:pPr algn="l"/>
                      <a:r>
                        <a:rPr lang="en-US" sz="1200" i="1" dirty="0"/>
                        <a:t>Program Register H Write to Bus</a:t>
                      </a:r>
                      <a:r>
                        <a:rPr lang="en-US" sz="1200" i="0" dirty="0"/>
                        <a:t> = 1</a:t>
                      </a:r>
                      <a:endParaRPr lang="en-US" sz="1200" i="1" dirty="0"/>
                    </a:p>
                  </a:txBody>
                  <a:tcPr/>
                </a:tc>
                <a:tc>
                  <a:txBody>
                    <a:bodyPr/>
                    <a:lstStyle/>
                    <a:p>
                      <a:pPr algn="l"/>
                      <a:r>
                        <a:rPr lang="en-US" sz="1200" dirty="0"/>
                        <a:t>Write Imm to the Data Bus.</a:t>
                      </a:r>
                    </a:p>
                  </a:txBody>
                  <a:tcPr/>
                </a:tc>
                <a:extLst>
                  <a:ext uri="{0D108BD9-81ED-4DB2-BD59-A6C34878D82A}">
                    <a16:rowId xmlns:a16="http://schemas.microsoft.com/office/drawing/2014/main" val="2570910443"/>
                  </a:ext>
                </a:extLst>
              </a:tr>
              <a:tr h="477458">
                <a:tc>
                  <a:txBody>
                    <a:bodyPr/>
                    <a:lstStyle/>
                    <a:p>
                      <a:pPr algn="ct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dirty="0" err="1"/>
                        <a:t>LoadAR</a:t>
                      </a:r>
                      <a:r>
                        <a:rPr lang="en-US" sz="1200" b="0" i="1" dirty="0"/>
                        <a:t> = 1</a:t>
                      </a:r>
                    </a:p>
                  </a:txBody>
                  <a:tcPr/>
                </a:tc>
                <a:tc>
                  <a:txBody>
                    <a:bodyPr/>
                    <a:lstStyle/>
                    <a:p>
                      <a:pPr algn="l"/>
                      <a:r>
                        <a:rPr lang="en-US" sz="1200" dirty="0"/>
                        <a:t>Set ARDest[L/H] to read from the Data Bus.</a:t>
                      </a:r>
                    </a:p>
                  </a:txBody>
                  <a:tcPr/>
                </a:tc>
                <a:extLst>
                  <a:ext uri="{0D108BD9-81ED-4DB2-BD59-A6C34878D82A}">
                    <a16:rowId xmlns:a16="http://schemas.microsoft.com/office/drawing/2014/main" val="631651838"/>
                  </a:ext>
                </a:extLst>
              </a:tr>
            </a:tbl>
          </a:graphicData>
        </a:graphic>
      </p:graphicFrame>
      <p:sp>
        <p:nvSpPr>
          <p:cNvPr id="5" name="TextBox 4">
            <a:extLst>
              <a:ext uri="{FF2B5EF4-FFF2-40B4-BE49-F238E27FC236}">
                <a16:creationId xmlns:a16="http://schemas.microsoft.com/office/drawing/2014/main" id="{46C94F6D-0053-A6AD-A8E7-CC1BC9C28D4D}"/>
              </a:ext>
            </a:extLst>
          </p:cNvPr>
          <p:cNvSpPr txBox="1"/>
          <p:nvPr/>
        </p:nvSpPr>
        <p:spPr>
          <a:xfrm>
            <a:off x="4878805" y="362634"/>
            <a:ext cx="5438274" cy="646331"/>
          </a:xfrm>
          <a:prstGeom prst="rect">
            <a:avLst/>
          </a:prstGeom>
          <a:noFill/>
        </p:spPr>
        <p:txBody>
          <a:bodyPr wrap="square" rtlCol="0">
            <a:spAutoFit/>
          </a:bodyPr>
          <a:lstStyle/>
          <a:p>
            <a:r>
              <a:rPr lang="en-US" dirty="0"/>
              <a:t>Non-control signals are marked as bold. Control signals are marked as italic.</a:t>
            </a:r>
          </a:p>
        </p:txBody>
      </p:sp>
    </p:spTree>
    <p:extLst>
      <p:ext uri="{BB962C8B-B14F-4D97-AF65-F5344CB8AC3E}">
        <p14:creationId xmlns:p14="http://schemas.microsoft.com/office/powerpoint/2010/main" val="310826779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60F2F-6A2B-0049-F095-3BE996AE5F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9D1D10-7372-EFEA-2EAE-33F0F6A5A6B7}"/>
              </a:ext>
            </a:extLst>
          </p:cNvPr>
          <p:cNvSpPr>
            <a:spLocks noGrp="1"/>
          </p:cNvSpPr>
          <p:nvPr>
            <p:ph type="ctrTitle"/>
          </p:nvPr>
        </p:nvSpPr>
        <p:spPr/>
        <p:txBody>
          <a:bodyPr/>
          <a:lstStyle/>
          <a:p>
            <a:r>
              <a:rPr lang="en-US" dirty="0"/>
              <a:t>(GR </a:t>
            </a:r>
            <a:r>
              <a:rPr lang="en-US" dirty="0">
                <a:sym typeface="Wingdings" panose="05000000000000000000" pitchFamily="2" charset="2"/>
              </a:rPr>
              <a:t> AR) Instruction</a:t>
            </a:r>
            <a:endParaRPr lang="en-US" dirty="0"/>
          </a:p>
        </p:txBody>
      </p:sp>
      <p:graphicFrame>
        <p:nvGraphicFramePr>
          <p:cNvPr id="4" name="Table 3">
            <a:extLst>
              <a:ext uri="{FF2B5EF4-FFF2-40B4-BE49-F238E27FC236}">
                <a16:creationId xmlns:a16="http://schemas.microsoft.com/office/drawing/2014/main" id="{953D278C-F257-7239-1517-818283E73EDA}"/>
              </a:ext>
            </a:extLst>
          </p:cNvPr>
          <p:cNvGraphicFramePr>
            <a:graphicFrameLocks noGrp="1"/>
          </p:cNvGraphicFramePr>
          <p:nvPr>
            <p:extLst>
              <p:ext uri="{D42A27DB-BD31-4B8C-83A1-F6EECF244321}">
                <p14:modId xmlns:p14="http://schemas.microsoft.com/office/powerpoint/2010/main" val="3577312233"/>
              </p:ext>
            </p:extLst>
          </p:nvPr>
        </p:nvGraphicFramePr>
        <p:xfrm>
          <a:off x="914400" y="1041534"/>
          <a:ext cx="5881438" cy="2387332"/>
        </p:xfrm>
        <a:graphic>
          <a:graphicData uri="http://schemas.openxmlformats.org/drawingml/2006/table">
            <a:tbl>
              <a:tblPr firstCol="1" bandRow="1">
                <a:tableStyleId>{5C22544A-7EE6-4342-B048-85BDC9FD1C3A}</a:tableStyleId>
              </a:tblPr>
              <a:tblGrid>
                <a:gridCol w="2940719">
                  <a:extLst>
                    <a:ext uri="{9D8B030D-6E8A-4147-A177-3AD203B41FA5}">
                      <a16:colId xmlns:a16="http://schemas.microsoft.com/office/drawing/2014/main" val="4194745349"/>
                    </a:ext>
                  </a:extLst>
                </a:gridCol>
                <a:gridCol w="2940719">
                  <a:extLst>
                    <a:ext uri="{9D8B030D-6E8A-4147-A177-3AD203B41FA5}">
                      <a16:colId xmlns:a16="http://schemas.microsoft.com/office/drawing/2014/main" val="3037212644"/>
                    </a:ext>
                  </a:extLst>
                </a:gridCol>
              </a:tblGrid>
              <a:tr h="337753">
                <a:tc>
                  <a:txBody>
                    <a:bodyPr/>
                    <a:lstStyle/>
                    <a:p>
                      <a:r>
                        <a:rPr lang="en-US" sz="1400" dirty="0"/>
                        <a:t>Type</a:t>
                      </a:r>
                    </a:p>
                  </a:txBody>
                  <a:tcPr/>
                </a:tc>
                <a:tc>
                  <a:txBody>
                    <a:bodyPr/>
                    <a:lstStyle/>
                    <a:p>
                      <a:r>
                        <a:rPr lang="en-US" sz="1400" dirty="0"/>
                        <a:t>GR </a:t>
                      </a:r>
                      <a:r>
                        <a:rPr lang="en-US" sz="1400" dirty="0">
                          <a:sym typeface="Wingdings" panose="05000000000000000000" pitchFamily="2" charset="2"/>
                        </a:rPr>
                        <a:t> AR</a:t>
                      </a:r>
                      <a:endParaRPr lang="en-US" sz="1400" dirty="0"/>
                    </a:p>
                  </a:txBody>
                  <a:tcPr/>
                </a:tc>
                <a:extLst>
                  <a:ext uri="{0D108BD9-81ED-4DB2-BD59-A6C34878D82A}">
                    <a16:rowId xmlns:a16="http://schemas.microsoft.com/office/drawing/2014/main" val="3388478334"/>
                  </a:ext>
                </a:extLst>
              </a:tr>
              <a:tr h="337753">
                <a:tc>
                  <a:txBody>
                    <a:bodyPr/>
                    <a:lstStyle/>
                    <a:p>
                      <a:r>
                        <a:rPr lang="en-US" sz="1400" dirty="0"/>
                        <a:t>Semantics</a:t>
                      </a:r>
                    </a:p>
                  </a:txBody>
                  <a:tcPr/>
                </a:tc>
                <a:tc>
                  <a:txBody>
                    <a:bodyPr/>
                    <a:lstStyle/>
                    <a:p>
                      <a:r>
                        <a:rPr lang="en-US" sz="1400" dirty="0"/>
                        <a:t>ARDest[L/H] = Rs1</a:t>
                      </a:r>
                    </a:p>
                  </a:txBody>
                  <a:tcPr/>
                </a:tc>
                <a:extLst>
                  <a:ext uri="{0D108BD9-81ED-4DB2-BD59-A6C34878D82A}">
                    <a16:rowId xmlns:a16="http://schemas.microsoft.com/office/drawing/2014/main" val="2980594194"/>
                  </a:ext>
                </a:extLst>
              </a:tr>
              <a:tr h="337753">
                <a:tc>
                  <a:txBody>
                    <a:bodyPr/>
                    <a:lstStyle/>
                    <a:p>
                      <a:r>
                        <a:rPr lang="en-US" sz="1400" dirty="0"/>
                        <a:t>Number of Opcodes Required</a:t>
                      </a:r>
                    </a:p>
                  </a:txBody>
                  <a:tcPr/>
                </a:tc>
                <a:tc>
                  <a:txBody>
                    <a:bodyPr/>
                    <a:lstStyle/>
                    <a:p>
                      <a:r>
                        <a:rPr lang="en-US" sz="1400" dirty="0"/>
                        <a:t>1</a:t>
                      </a:r>
                    </a:p>
                  </a:txBody>
                  <a:tcPr/>
                </a:tc>
                <a:extLst>
                  <a:ext uri="{0D108BD9-81ED-4DB2-BD59-A6C34878D82A}">
                    <a16:rowId xmlns:a16="http://schemas.microsoft.com/office/drawing/2014/main" val="3814078540"/>
                  </a:ext>
                </a:extLst>
              </a:tr>
              <a:tr h="337753">
                <a:tc>
                  <a:txBody>
                    <a:bodyPr/>
                    <a:lstStyle/>
                    <a:p>
                      <a:r>
                        <a:rPr lang="en-US" sz="1400" dirty="0"/>
                        <a:t>Operands</a:t>
                      </a:r>
                    </a:p>
                  </a:txBody>
                  <a:tcPr/>
                </a:tc>
                <a:tc>
                  <a:txBody>
                    <a:bodyPr/>
                    <a:lstStyle/>
                    <a:p>
                      <a:r>
                        <a:rPr lang="en-US" sz="1400" dirty="0"/>
                        <a:t>ARDest (2 bits), L/H (1 bit), Rs1 (2 bits)</a:t>
                      </a:r>
                    </a:p>
                  </a:txBody>
                  <a:tcPr/>
                </a:tc>
                <a:extLst>
                  <a:ext uri="{0D108BD9-81ED-4DB2-BD59-A6C34878D82A}">
                    <a16:rowId xmlns:a16="http://schemas.microsoft.com/office/drawing/2014/main" val="11223351"/>
                  </a:ext>
                </a:extLst>
              </a:tr>
              <a:tr h="337753">
                <a:tc>
                  <a:txBody>
                    <a:bodyPr/>
                    <a:lstStyle/>
                    <a:p>
                      <a:r>
                        <a:rPr lang="en-US" sz="1400" dirty="0"/>
                        <a:t>Additional Inputs</a:t>
                      </a:r>
                    </a:p>
                  </a:txBody>
                  <a:tcPr/>
                </a:tc>
                <a:tc>
                  <a:txBody>
                    <a:bodyPr/>
                    <a:lstStyle/>
                    <a:p>
                      <a:endParaRPr lang="en-US" sz="1400" b="1" dirty="0"/>
                    </a:p>
                  </a:txBody>
                  <a:tcPr/>
                </a:tc>
                <a:extLst>
                  <a:ext uri="{0D108BD9-81ED-4DB2-BD59-A6C34878D82A}">
                    <a16:rowId xmlns:a16="http://schemas.microsoft.com/office/drawing/2014/main" val="3569590451"/>
                  </a:ext>
                </a:extLst>
              </a:tr>
              <a:tr h="337753">
                <a:tc>
                  <a:txBody>
                    <a:bodyPr/>
                    <a:lstStyle/>
                    <a:p>
                      <a:r>
                        <a:rPr lang="en-US" sz="1400" dirty="0"/>
                        <a:t>Control Signals Needed</a:t>
                      </a:r>
                    </a:p>
                  </a:txBody>
                  <a:tcPr/>
                </a:tc>
                <a:tc>
                  <a:txBody>
                    <a:bodyPr/>
                    <a:lstStyle/>
                    <a:p>
                      <a:r>
                        <a:rPr lang="en-US" sz="1400" i="1" dirty="0" err="1"/>
                        <a:t>LoadAR</a:t>
                      </a:r>
                      <a:r>
                        <a:rPr lang="en-US" sz="1400" i="1" dirty="0"/>
                        <a:t> (currently Load Special Register)</a:t>
                      </a:r>
                    </a:p>
                  </a:txBody>
                  <a:tcPr/>
                </a:tc>
                <a:extLst>
                  <a:ext uri="{0D108BD9-81ED-4DB2-BD59-A6C34878D82A}">
                    <a16:rowId xmlns:a16="http://schemas.microsoft.com/office/drawing/2014/main" val="158350766"/>
                  </a:ext>
                </a:extLst>
              </a:tr>
            </a:tbl>
          </a:graphicData>
        </a:graphic>
      </p:graphicFrame>
      <p:graphicFrame>
        <p:nvGraphicFramePr>
          <p:cNvPr id="3" name="Table 2">
            <a:extLst>
              <a:ext uri="{FF2B5EF4-FFF2-40B4-BE49-F238E27FC236}">
                <a16:creationId xmlns:a16="http://schemas.microsoft.com/office/drawing/2014/main" id="{C56390C3-EDB7-B22A-B319-E25FD579AE2E}"/>
              </a:ext>
            </a:extLst>
          </p:cNvPr>
          <p:cNvGraphicFramePr>
            <a:graphicFrameLocks noGrp="1"/>
          </p:cNvGraphicFramePr>
          <p:nvPr>
            <p:extLst>
              <p:ext uri="{D42A27DB-BD31-4B8C-83A1-F6EECF244321}">
                <p14:modId xmlns:p14="http://schemas.microsoft.com/office/powerpoint/2010/main" val="2980280260"/>
              </p:ext>
            </p:extLst>
          </p:nvPr>
        </p:nvGraphicFramePr>
        <p:xfrm>
          <a:off x="6980321" y="1041534"/>
          <a:ext cx="4852737" cy="1706694"/>
        </p:xfrm>
        <a:graphic>
          <a:graphicData uri="http://schemas.openxmlformats.org/drawingml/2006/table">
            <a:tbl>
              <a:tblPr firstRow="1" bandRow="1">
                <a:tableStyleId>{5C22544A-7EE6-4342-B048-85BDC9FD1C3A}</a:tableStyleId>
              </a:tblPr>
              <a:tblGrid>
                <a:gridCol w="736488">
                  <a:extLst>
                    <a:ext uri="{9D8B030D-6E8A-4147-A177-3AD203B41FA5}">
                      <a16:colId xmlns:a16="http://schemas.microsoft.com/office/drawing/2014/main" val="1217920130"/>
                    </a:ext>
                  </a:extLst>
                </a:gridCol>
                <a:gridCol w="1914670">
                  <a:extLst>
                    <a:ext uri="{9D8B030D-6E8A-4147-A177-3AD203B41FA5}">
                      <a16:colId xmlns:a16="http://schemas.microsoft.com/office/drawing/2014/main" val="1475888205"/>
                    </a:ext>
                  </a:extLst>
                </a:gridCol>
                <a:gridCol w="2201579">
                  <a:extLst>
                    <a:ext uri="{9D8B030D-6E8A-4147-A177-3AD203B41FA5}">
                      <a16:colId xmlns:a16="http://schemas.microsoft.com/office/drawing/2014/main" val="2801792198"/>
                    </a:ext>
                  </a:extLst>
                </a:gridCol>
              </a:tblGrid>
              <a:tr h="267617">
                <a:tc>
                  <a:txBody>
                    <a:bodyPr/>
                    <a:lstStyle/>
                    <a:p>
                      <a:r>
                        <a:rPr lang="en-US" sz="1200" dirty="0"/>
                        <a:t>Cycle #</a:t>
                      </a:r>
                    </a:p>
                  </a:txBody>
                  <a:tcPr/>
                </a:tc>
                <a:tc>
                  <a:txBody>
                    <a:bodyPr/>
                    <a:lstStyle/>
                    <a:p>
                      <a:r>
                        <a:rPr lang="en-US" sz="1200" dirty="0"/>
                        <a:t>Instruction</a:t>
                      </a:r>
                    </a:p>
                  </a:txBody>
                  <a:tcPr/>
                </a:tc>
                <a:tc>
                  <a:txBody>
                    <a:bodyPr/>
                    <a:lstStyle/>
                    <a:p>
                      <a:r>
                        <a:rPr lang="en-US" sz="1200" dirty="0"/>
                        <a:t>Explanation</a:t>
                      </a:r>
                    </a:p>
                  </a:txBody>
                  <a:tcPr/>
                </a:tc>
                <a:extLst>
                  <a:ext uri="{0D108BD9-81ED-4DB2-BD59-A6C34878D82A}">
                    <a16:rowId xmlns:a16="http://schemas.microsoft.com/office/drawing/2014/main" val="2319756336"/>
                  </a:ext>
                </a:extLst>
              </a:tr>
              <a:tr h="477458">
                <a:tc>
                  <a:txBody>
                    <a:bodyPr/>
                    <a:lstStyle/>
                    <a:p>
                      <a:pPr algn="ctr"/>
                      <a:r>
                        <a:rPr lang="en-US" sz="1200" dirty="0"/>
                        <a:t>0</a:t>
                      </a:r>
                    </a:p>
                  </a:txBody>
                  <a:tcPr/>
                </a:tc>
                <a:tc>
                  <a:txBody>
                    <a:bodyPr/>
                    <a:lstStyle/>
                    <a:p>
                      <a:pPr algn="l"/>
                      <a:r>
                        <a:rPr lang="en-US" sz="1200" i="1" dirty="0"/>
                        <a:t>Register File Output Enable </a:t>
                      </a:r>
                      <a:r>
                        <a:rPr lang="en-US" sz="1200" i="0" dirty="0"/>
                        <a:t>= 1</a:t>
                      </a:r>
                      <a:endParaRPr lang="en-US" sz="1200" i="1" dirty="0"/>
                    </a:p>
                  </a:txBody>
                  <a:tcPr/>
                </a:tc>
                <a:tc>
                  <a:txBody>
                    <a:bodyPr/>
                    <a:lstStyle/>
                    <a:p>
                      <a:pPr algn="l"/>
                      <a:r>
                        <a:rPr lang="en-US" sz="1200" dirty="0"/>
                        <a:t>Write Rs1 to the Data Bus.</a:t>
                      </a:r>
                    </a:p>
                  </a:txBody>
                  <a:tcPr/>
                </a:tc>
                <a:extLst>
                  <a:ext uri="{0D108BD9-81ED-4DB2-BD59-A6C34878D82A}">
                    <a16:rowId xmlns:a16="http://schemas.microsoft.com/office/drawing/2014/main" val="2570910443"/>
                  </a:ext>
                </a:extLst>
              </a:tr>
              <a:tr h="477458">
                <a:tc>
                  <a:txBody>
                    <a:bodyPr/>
                    <a:lstStyle/>
                    <a:p>
                      <a:pPr algn="ctr"/>
                      <a:endParaRPr lang="en-US" sz="1200" dirty="0"/>
                    </a:p>
                  </a:txBody>
                  <a:tcPr/>
                </a:tc>
                <a:tc>
                  <a:txBody>
                    <a:bodyPr/>
                    <a:lstStyle/>
                    <a:p>
                      <a:pPr algn="l"/>
                      <a:r>
                        <a:rPr lang="en-US" sz="1200" i="1" dirty="0" err="1"/>
                        <a:t>RegisterFileOutputSelect</a:t>
                      </a:r>
                      <a:r>
                        <a:rPr lang="en-US" sz="1200" i="0" dirty="0"/>
                        <a:t> = 0 (Rs1)</a:t>
                      </a:r>
                      <a:endParaRPr lang="en-US" sz="1200" i="1" dirty="0"/>
                    </a:p>
                  </a:txBody>
                  <a:tcPr/>
                </a:tc>
                <a:tc>
                  <a:txBody>
                    <a:bodyPr/>
                    <a:lstStyle/>
                    <a:p>
                      <a:pPr algn="l"/>
                      <a:endParaRPr lang="en-US" sz="1200" dirty="0"/>
                    </a:p>
                  </a:txBody>
                  <a:tcPr/>
                </a:tc>
                <a:extLst>
                  <a:ext uri="{0D108BD9-81ED-4DB2-BD59-A6C34878D82A}">
                    <a16:rowId xmlns:a16="http://schemas.microsoft.com/office/drawing/2014/main" val="982675711"/>
                  </a:ext>
                </a:extLst>
              </a:tr>
              <a:tr h="477458">
                <a:tc>
                  <a:txBody>
                    <a:bodyPr/>
                    <a:lstStyle/>
                    <a:p>
                      <a:pPr algn="ct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dirty="0" err="1"/>
                        <a:t>LoadAR</a:t>
                      </a:r>
                      <a:r>
                        <a:rPr lang="en-US" sz="1200" b="0" i="1" dirty="0"/>
                        <a:t> = 1</a:t>
                      </a:r>
                    </a:p>
                  </a:txBody>
                  <a:tcPr/>
                </a:tc>
                <a:tc>
                  <a:txBody>
                    <a:bodyPr/>
                    <a:lstStyle/>
                    <a:p>
                      <a:pPr algn="l"/>
                      <a:r>
                        <a:rPr lang="en-US" sz="1200" dirty="0"/>
                        <a:t>Set ARDest[L/H] to read from the Data Bus.</a:t>
                      </a:r>
                    </a:p>
                  </a:txBody>
                  <a:tcPr/>
                </a:tc>
                <a:extLst>
                  <a:ext uri="{0D108BD9-81ED-4DB2-BD59-A6C34878D82A}">
                    <a16:rowId xmlns:a16="http://schemas.microsoft.com/office/drawing/2014/main" val="631651838"/>
                  </a:ext>
                </a:extLst>
              </a:tr>
            </a:tbl>
          </a:graphicData>
        </a:graphic>
      </p:graphicFrame>
      <p:sp>
        <p:nvSpPr>
          <p:cNvPr id="5" name="TextBox 4">
            <a:extLst>
              <a:ext uri="{FF2B5EF4-FFF2-40B4-BE49-F238E27FC236}">
                <a16:creationId xmlns:a16="http://schemas.microsoft.com/office/drawing/2014/main" id="{67187B98-2756-5C44-AC5A-39F165C45DA0}"/>
              </a:ext>
            </a:extLst>
          </p:cNvPr>
          <p:cNvSpPr txBox="1"/>
          <p:nvPr/>
        </p:nvSpPr>
        <p:spPr>
          <a:xfrm>
            <a:off x="4878805" y="362634"/>
            <a:ext cx="5438274" cy="646331"/>
          </a:xfrm>
          <a:prstGeom prst="rect">
            <a:avLst/>
          </a:prstGeom>
          <a:noFill/>
        </p:spPr>
        <p:txBody>
          <a:bodyPr wrap="square" rtlCol="0">
            <a:spAutoFit/>
          </a:bodyPr>
          <a:lstStyle/>
          <a:p>
            <a:r>
              <a:rPr lang="en-US" dirty="0"/>
              <a:t>Non-control signals are marked as bold. Control signals are marked as italic.</a:t>
            </a:r>
          </a:p>
        </p:txBody>
      </p:sp>
    </p:spTree>
    <p:extLst>
      <p:ext uri="{BB962C8B-B14F-4D97-AF65-F5344CB8AC3E}">
        <p14:creationId xmlns:p14="http://schemas.microsoft.com/office/powerpoint/2010/main" val="1734365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56F1D-408A-7B6A-2395-1CD654A3D5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689E94-623D-4B0F-018D-DCD18BEF0409}"/>
              </a:ext>
            </a:extLst>
          </p:cNvPr>
          <p:cNvSpPr>
            <a:spLocks noGrp="1"/>
          </p:cNvSpPr>
          <p:nvPr>
            <p:ph type="ctrTitle"/>
          </p:nvPr>
        </p:nvSpPr>
        <p:spPr/>
        <p:txBody>
          <a:bodyPr/>
          <a:lstStyle/>
          <a:p>
            <a:r>
              <a:rPr lang="en-US" dirty="0"/>
              <a:t>(AR </a:t>
            </a:r>
            <a:r>
              <a:rPr lang="en-US" dirty="0">
                <a:sym typeface="Wingdings" panose="05000000000000000000" pitchFamily="2" charset="2"/>
              </a:rPr>
              <a:t> AR) Instruction</a:t>
            </a:r>
            <a:endParaRPr lang="en-US" dirty="0"/>
          </a:p>
        </p:txBody>
      </p:sp>
      <p:graphicFrame>
        <p:nvGraphicFramePr>
          <p:cNvPr id="4" name="Table 3">
            <a:extLst>
              <a:ext uri="{FF2B5EF4-FFF2-40B4-BE49-F238E27FC236}">
                <a16:creationId xmlns:a16="http://schemas.microsoft.com/office/drawing/2014/main" id="{AEEB25D3-1867-8BC2-3CA0-A87C19E148D9}"/>
              </a:ext>
            </a:extLst>
          </p:cNvPr>
          <p:cNvGraphicFramePr>
            <a:graphicFrameLocks noGrp="1"/>
          </p:cNvGraphicFramePr>
          <p:nvPr>
            <p:extLst>
              <p:ext uri="{D42A27DB-BD31-4B8C-83A1-F6EECF244321}">
                <p14:modId xmlns:p14="http://schemas.microsoft.com/office/powerpoint/2010/main" val="1878421142"/>
              </p:ext>
            </p:extLst>
          </p:nvPr>
        </p:nvGraphicFramePr>
        <p:xfrm>
          <a:off x="914400" y="1041534"/>
          <a:ext cx="5881438" cy="2387332"/>
        </p:xfrm>
        <a:graphic>
          <a:graphicData uri="http://schemas.openxmlformats.org/drawingml/2006/table">
            <a:tbl>
              <a:tblPr firstCol="1" bandRow="1">
                <a:tableStyleId>{5C22544A-7EE6-4342-B048-85BDC9FD1C3A}</a:tableStyleId>
              </a:tblPr>
              <a:tblGrid>
                <a:gridCol w="2940719">
                  <a:extLst>
                    <a:ext uri="{9D8B030D-6E8A-4147-A177-3AD203B41FA5}">
                      <a16:colId xmlns:a16="http://schemas.microsoft.com/office/drawing/2014/main" val="4194745349"/>
                    </a:ext>
                  </a:extLst>
                </a:gridCol>
                <a:gridCol w="2940719">
                  <a:extLst>
                    <a:ext uri="{9D8B030D-6E8A-4147-A177-3AD203B41FA5}">
                      <a16:colId xmlns:a16="http://schemas.microsoft.com/office/drawing/2014/main" val="3037212644"/>
                    </a:ext>
                  </a:extLst>
                </a:gridCol>
              </a:tblGrid>
              <a:tr h="337753">
                <a:tc>
                  <a:txBody>
                    <a:bodyPr/>
                    <a:lstStyle/>
                    <a:p>
                      <a:r>
                        <a:rPr lang="en-US" sz="1400" dirty="0"/>
                        <a:t>Type</a:t>
                      </a:r>
                    </a:p>
                  </a:txBody>
                  <a:tcPr/>
                </a:tc>
                <a:tc>
                  <a:txBody>
                    <a:bodyPr/>
                    <a:lstStyle/>
                    <a:p>
                      <a:r>
                        <a:rPr lang="en-US" sz="1400" dirty="0"/>
                        <a:t>AR </a:t>
                      </a:r>
                      <a:r>
                        <a:rPr lang="en-US" sz="1400" dirty="0">
                          <a:sym typeface="Wingdings" panose="05000000000000000000" pitchFamily="2" charset="2"/>
                        </a:rPr>
                        <a:t> AR</a:t>
                      </a:r>
                      <a:endParaRPr lang="en-US" sz="1400" dirty="0"/>
                    </a:p>
                  </a:txBody>
                  <a:tcPr/>
                </a:tc>
                <a:extLst>
                  <a:ext uri="{0D108BD9-81ED-4DB2-BD59-A6C34878D82A}">
                    <a16:rowId xmlns:a16="http://schemas.microsoft.com/office/drawing/2014/main" val="3388478334"/>
                  </a:ext>
                </a:extLst>
              </a:tr>
              <a:tr h="337753">
                <a:tc>
                  <a:txBody>
                    <a:bodyPr/>
                    <a:lstStyle/>
                    <a:p>
                      <a:r>
                        <a:rPr lang="en-US" sz="1400" dirty="0"/>
                        <a:t>Semantics</a:t>
                      </a:r>
                    </a:p>
                  </a:txBody>
                  <a:tcPr/>
                </a:tc>
                <a:tc>
                  <a:txBody>
                    <a:bodyPr/>
                    <a:lstStyle/>
                    <a:p>
                      <a:r>
                        <a:rPr lang="en-US" sz="1400" dirty="0"/>
                        <a:t>ARDest = </a:t>
                      </a:r>
                      <a:r>
                        <a:rPr lang="en-US" sz="1400" dirty="0" err="1"/>
                        <a:t>ARSrc</a:t>
                      </a:r>
                      <a:r>
                        <a:rPr lang="en-US" sz="1400" dirty="0"/>
                        <a:t> + Imm</a:t>
                      </a:r>
                    </a:p>
                  </a:txBody>
                  <a:tcPr/>
                </a:tc>
                <a:extLst>
                  <a:ext uri="{0D108BD9-81ED-4DB2-BD59-A6C34878D82A}">
                    <a16:rowId xmlns:a16="http://schemas.microsoft.com/office/drawing/2014/main" val="2980594194"/>
                  </a:ext>
                </a:extLst>
              </a:tr>
              <a:tr h="337753">
                <a:tc>
                  <a:txBody>
                    <a:bodyPr/>
                    <a:lstStyle/>
                    <a:p>
                      <a:r>
                        <a:rPr lang="en-US" sz="1400" dirty="0"/>
                        <a:t>Number of Opcodes Required</a:t>
                      </a:r>
                    </a:p>
                  </a:txBody>
                  <a:tcPr/>
                </a:tc>
                <a:tc>
                  <a:txBody>
                    <a:bodyPr/>
                    <a:lstStyle/>
                    <a:p>
                      <a:r>
                        <a:rPr lang="en-US" sz="1400" dirty="0"/>
                        <a:t>2</a:t>
                      </a:r>
                    </a:p>
                  </a:txBody>
                  <a:tcPr/>
                </a:tc>
                <a:extLst>
                  <a:ext uri="{0D108BD9-81ED-4DB2-BD59-A6C34878D82A}">
                    <a16:rowId xmlns:a16="http://schemas.microsoft.com/office/drawing/2014/main" val="3814078540"/>
                  </a:ext>
                </a:extLst>
              </a:tr>
              <a:tr h="337753">
                <a:tc>
                  <a:txBody>
                    <a:bodyPr/>
                    <a:lstStyle/>
                    <a:p>
                      <a:r>
                        <a:rPr lang="en-US" sz="1400" dirty="0"/>
                        <a:t>Operands</a:t>
                      </a:r>
                    </a:p>
                  </a:txBody>
                  <a:tcPr/>
                </a:tc>
                <a:tc>
                  <a:txBody>
                    <a:bodyPr/>
                    <a:lstStyle/>
                    <a:p>
                      <a:r>
                        <a:rPr lang="en-US" sz="1400" dirty="0"/>
                        <a:t>ARDest (2 bits), </a:t>
                      </a:r>
                      <a:r>
                        <a:rPr lang="en-US" sz="1400" dirty="0" err="1"/>
                        <a:t>ARSrc</a:t>
                      </a:r>
                      <a:r>
                        <a:rPr lang="en-US" sz="1400" dirty="0"/>
                        <a:t> (2 bits), Imm (8 bits)</a:t>
                      </a:r>
                    </a:p>
                  </a:txBody>
                  <a:tcPr/>
                </a:tc>
                <a:extLst>
                  <a:ext uri="{0D108BD9-81ED-4DB2-BD59-A6C34878D82A}">
                    <a16:rowId xmlns:a16="http://schemas.microsoft.com/office/drawing/2014/main" val="11223351"/>
                  </a:ext>
                </a:extLst>
              </a:tr>
              <a:tr h="337753">
                <a:tc>
                  <a:txBody>
                    <a:bodyPr/>
                    <a:lstStyle/>
                    <a:p>
                      <a:r>
                        <a:rPr lang="en-US" sz="1400" dirty="0"/>
                        <a:t>Additional Inputs</a:t>
                      </a:r>
                    </a:p>
                  </a:txBody>
                  <a:tcPr/>
                </a:tc>
                <a:tc>
                  <a:txBody>
                    <a:bodyPr/>
                    <a:lstStyle/>
                    <a:p>
                      <a:r>
                        <a:rPr lang="en-US" sz="1400" b="1" dirty="0" err="1"/>
                        <a:t>ARSelect</a:t>
                      </a:r>
                      <a:r>
                        <a:rPr lang="en-US" sz="1400" b="0" dirty="0"/>
                        <a:t>, </a:t>
                      </a:r>
                      <a:r>
                        <a:rPr lang="en-US" sz="1400" b="1" dirty="0" err="1"/>
                        <a:t>AddressByteSelect</a:t>
                      </a:r>
                      <a:endParaRPr lang="en-US" sz="1400" b="1" dirty="0"/>
                    </a:p>
                  </a:txBody>
                  <a:tcPr/>
                </a:tc>
                <a:extLst>
                  <a:ext uri="{0D108BD9-81ED-4DB2-BD59-A6C34878D82A}">
                    <a16:rowId xmlns:a16="http://schemas.microsoft.com/office/drawing/2014/main" val="3569590451"/>
                  </a:ext>
                </a:extLst>
              </a:tr>
              <a:tr h="337753">
                <a:tc>
                  <a:txBody>
                    <a:bodyPr/>
                    <a:lstStyle/>
                    <a:p>
                      <a:r>
                        <a:rPr lang="en-US" sz="1400" dirty="0"/>
                        <a:t>Control Signals Needed</a:t>
                      </a:r>
                    </a:p>
                  </a:txBody>
                  <a:tcPr/>
                </a:tc>
                <a:tc>
                  <a:txBody>
                    <a:bodyPr/>
                    <a:lstStyle/>
                    <a:p>
                      <a:r>
                        <a:rPr lang="en-US" sz="1400" i="1" dirty="0" err="1"/>
                        <a:t>AddressBusToDataBus</a:t>
                      </a:r>
                      <a:r>
                        <a:rPr lang="en-US" sz="1400" i="1" dirty="0"/>
                        <a:t>, </a:t>
                      </a:r>
                      <a:r>
                        <a:rPr lang="en-US" sz="1400" i="1" dirty="0" err="1"/>
                        <a:t>loadAR</a:t>
                      </a:r>
                      <a:r>
                        <a:rPr lang="en-US" sz="1400" i="1" dirty="0"/>
                        <a:t>, </a:t>
                      </a:r>
                      <a:r>
                        <a:rPr lang="en-US" sz="1400" i="1" dirty="0" err="1"/>
                        <a:t>loadARHorL</a:t>
                      </a:r>
                      <a:endParaRPr lang="en-US" sz="1400" i="1" dirty="0"/>
                    </a:p>
                  </a:txBody>
                  <a:tcPr/>
                </a:tc>
                <a:extLst>
                  <a:ext uri="{0D108BD9-81ED-4DB2-BD59-A6C34878D82A}">
                    <a16:rowId xmlns:a16="http://schemas.microsoft.com/office/drawing/2014/main" val="158350766"/>
                  </a:ext>
                </a:extLst>
              </a:tr>
            </a:tbl>
          </a:graphicData>
        </a:graphic>
      </p:graphicFrame>
      <p:graphicFrame>
        <p:nvGraphicFramePr>
          <p:cNvPr id="3" name="Table 2">
            <a:extLst>
              <a:ext uri="{FF2B5EF4-FFF2-40B4-BE49-F238E27FC236}">
                <a16:creationId xmlns:a16="http://schemas.microsoft.com/office/drawing/2014/main" id="{76219FE5-7248-1B6A-6FA2-C9E4EB8F9B94}"/>
              </a:ext>
            </a:extLst>
          </p:cNvPr>
          <p:cNvGraphicFramePr>
            <a:graphicFrameLocks noGrp="1"/>
          </p:cNvGraphicFramePr>
          <p:nvPr>
            <p:extLst>
              <p:ext uri="{D42A27DB-BD31-4B8C-83A1-F6EECF244321}">
                <p14:modId xmlns:p14="http://schemas.microsoft.com/office/powerpoint/2010/main" val="3829088469"/>
              </p:ext>
            </p:extLst>
          </p:nvPr>
        </p:nvGraphicFramePr>
        <p:xfrm>
          <a:off x="6980321" y="1041534"/>
          <a:ext cx="4852737" cy="5343116"/>
        </p:xfrm>
        <a:graphic>
          <a:graphicData uri="http://schemas.openxmlformats.org/drawingml/2006/table">
            <a:tbl>
              <a:tblPr firstRow="1" bandRow="1">
                <a:tableStyleId>{5C22544A-7EE6-4342-B048-85BDC9FD1C3A}</a:tableStyleId>
              </a:tblPr>
              <a:tblGrid>
                <a:gridCol w="736488">
                  <a:extLst>
                    <a:ext uri="{9D8B030D-6E8A-4147-A177-3AD203B41FA5}">
                      <a16:colId xmlns:a16="http://schemas.microsoft.com/office/drawing/2014/main" val="1217920130"/>
                    </a:ext>
                  </a:extLst>
                </a:gridCol>
                <a:gridCol w="1914670">
                  <a:extLst>
                    <a:ext uri="{9D8B030D-6E8A-4147-A177-3AD203B41FA5}">
                      <a16:colId xmlns:a16="http://schemas.microsoft.com/office/drawing/2014/main" val="1475888205"/>
                    </a:ext>
                  </a:extLst>
                </a:gridCol>
                <a:gridCol w="2201579">
                  <a:extLst>
                    <a:ext uri="{9D8B030D-6E8A-4147-A177-3AD203B41FA5}">
                      <a16:colId xmlns:a16="http://schemas.microsoft.com/office/drawing/2014/main" val="2801792198"/>
                    </a:ext>
                  </a:extLst>
                </a:gridCol>
              </a:tblGrid>
              <a:tr h="267690">
                <a:tc>
                  <a:txBody>
                    <a:bodyPr/>
                    <a:lstStyle/>
                    <a:p>
                      <a:r>
                        <a:rPr lang="en-US" sz="1200" dirty="0"/>
                        <a:t>Cycle #</a:t>
                      </a:r>
                    </a:p>
                  </a:txBody>
                  <a:tcPr/>
                </a:tc>
                <a:tc>
                  <a:txBody>
                    <a:bodyPr/>
                    <a:lstStyle/>
                    <a:p>
                      <a:r>
                        <a:rPr lang="en-US" sz="1200" dirty="0"/>
                        <a:t>Instruction</a:t>
                      </a:r>
                    </a:p>
                  </a:txBody>
                  <a:tcPr/>
                </a:tc>
                <a:tc>
                  <a:txBody>
                    <a:bodyPr/>
                    <a:lstStyle/>
                    <a:p>
                      <a:r>
                        <a:rPr lang="en-US" sz="1200" dirty="0"/>
                        <a:t>Explanation</a:t>
                      </a:r>
                    </a:p>
                  </a:txBody>
                  <a:tcPr/>
                </a:tc>
                <a:extLst>
                  <a:ext uri="{0D108BD9-81ED-4DB2-BD59-A6C34878D82A}">
                    <a16:rowId xmlns:a16="http://schemas.microsoft.com/office/drawing/2014/main" val="2319756336"/>
                  </a:ext>
                </a:extLst>
              </a:tr>
              <a:tr h="446149">
                <a:tc>
                  <a:txBody>
                    <a:bodyPr/>
                    <a:lstStyle/>
                    <a:p>
                      <a:pPr algn="ctr"/>
                      <a:r>
                        <a:rPr lang="en-US" sz="1200" dirty="0"/>
                        <a:t>0</a:t>
                      </a:r>
                    </a:p>
                  </a:txBody>
                  <a:tcPr/>
                </a:tc>
                <a:tc>
                  <a:txBody>
                    <a:bodyPr/>
                    <a:lstStyle/>
                    <a:p>
                      <a:pPr algn="l"/>
                      <a:r>
                        <a:rPr lang="en-US" sz="1200" i="1" dirty="0"/>
                        <a:t>Program Register H Write to Bus</a:t>
                      </a:r>
                      <a:r>
                        <a:rPr lang="en-US" sz="1200" i="0" dirty="0"/>
                        <a:t> = 1</a:t>
                      </a:r>
                      <a:endParaRPr lang="en-US" sz="1200" i="1" dirty="0"/>
                    </a:p>
                  </a:txBody>
                  <a:tcPr/>
                </a:tc>
                <a:tc>
                  <a:txBody>
                    <a:bodyPr/>
                    <a:lstStyle/>
                    <a:p>
                      <a:pPr algn="l"/>
                      <a:r>
                        <a:rPr lang="en-US" sz="1200" dirty="0"/>
                        <a:t>Write Imm to the Data Bus.</a:t>
                      </a:r>
                    </a:p>
                  </a:txBody>
                  <a:tcPr/>
                </a:tc>
                <a:extLst>
                  <a:ext uri="{0D108BD9-81ED-4DB2-BD59-A6C34878D82A}">
                    <a16:rowId xmlns:a16="http://schemas.microsoft.com/office/drawing/2014/main" val="2570910443"/>
                  </a:ext>
                </a:extLst>
              </a:tr>
              <a:tr h="398519">
                <a:tc>
                  <a:txBody>
                    <a:bodyPr/>
                    <a:lstStyle/>
                    <a:p>
                      <a:pPr algn="ctr"/>
                      <a:endParaRPr lang="en-US" sz="1200" dirty="0"/>
                    </a:p>
                  </a:txBody>
                  <a:tcPr/>
                </a:tc>
                <a:tc>
                  <a:txBody>
                    <a:bodyPr/>
                    <a:lstStyle/>
                    <a:p>
                      <a:pPr algn="l"/>
                      <a:r>
                        <a:rPr lang="en-US" sz="1200" b="1" i="0" dirty="0" err="1"/>
                        <a:t>ARSelect</a:t>
                      </a:r>
                      <a:r>
                        <a:rPr lang="en-US" sz="1200" b="0" i="0" dirty="0"/>
                        <a:t> = </a:t>
                      </a:r>
                      <a:r>
                        <a:rPr lang="en-US" sz="1200" b="0" i="0" dirty="0" err="1"/>
                        <a:t>ARSrc</a:t>
                      </a:r>
                      <a:endParaRPr lang="en-US" sz="1200" b="1" i="0" dirty="0"/>
                    </a:p>
                  </a:txBody>
                  <a:tcPr/>
                </a:tc>
                <a:tc>
                  <a:txBody>
                    <a:bodyPr/>
                    <a:lstStyle/>
                    <a:p>
                      <a:pPr algn="l"/>
                      <a:r>
                        <a:rPr lang="en-US" sz="1200" dirty="0"/>
                        <a:t>Write </a:t>
                      </a:r>
                      <a:r>
                        <a:rPr lang="en-US" sz="1200" dirty="0" err="1"/>
                        <a:t>ARSrc</a:t>
                      </a:r>
                      <a:r>
                        <a:rPr lang="en-US" sz="1200" dirty="0"/>
                        <a:t> to the Address Bus.</a:t>
                      </a:r>
                    </a:p>
                  </a:txBody>
                  <a:tcPr/>
                </a:tc>
                <a:extLst>
                  <a:ext uri="{0D108BD9-81ED-4DB2-BD59-A6C34878D82A}">
                    <a16:rowId xmlns:a16="http://schemas.microsoft.com/office/drawing/2014/main" val="982675711"/>
                  </a:ext>
                </a:extLst>
              </a:tr>
              <a:tr h="398519">
                <a:tc>
                  <a:txBody>
                    <a:bodyPr/>
                    <a:lstStyle/>
                    <a:p>
                      <a:pPr algn="ct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dirty="0" err="1"/>
                        <a:t>TmpARRead</a:t>
                      </a:r>
                      <a:r>
                        <a:rPr lang="en-US" sz="1200" b="0" i="0" dirty="0"/>
                        <a:t> = 1</a:t>
                      </a:r>
                      <a:endParaRPr lang="en-US" sz="1200" b="0" i="1" dirty="0"/>
                    </a:p>
                  </a:txBody>
                  <a:tcPr/>
                </a:tc>
                <a:tc>
                  <a:txBody>
                    <a:bodyPr/>
                    <a:lstStyle/>
                    <a:p>
                      <a:pPr algn="l"/>
                      <a:r>
                        <a:rPr lang="en-US" sz="1200" dirty="0"/>
                        <a:t>Set </a:t>
                      </a:r>
                      <a:r>
                        <a:rPr lang="en-US" sz="1200" dirty="0" err="1"/>
                        <a:t>TmpAR</a:t>
                      </a:r>
                      <a:r>
                        <a:rPr lang="en-US" sz="1200" dirty="0"/>
                        <a:t> to read.</a:t>
                      </a:r>
                    </a:p>
                  </a:txBody>
                  <a:tcPr/>
                </a:tc>
                <a:extLst>
                  <a:ext uri="{0D108BD9-81ED-4DB2-BD59-A6C34878D82A}">
                    <a16:rowId xmlns:a16="http://schemas.microsoft.com/office/drawing/2014/main" val="631651838"/>
                  </a:ext>
                </a:extLst>
              </a:tr>
              <a:tr h="446149">
                <a:tc>
                  <a:txBody>
                    <a:bodyPr/>
                    <a:lstStyle/>
                    <a:p>
                      <a:pPr algn="ctr"/>
                      <a:r>
                        <a:rPr lang="en-US" sz="1200"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err="1"/>
                        <a:t>ARSelect</a:t>
                      </a:r>
                      <a:r>
                        <a:rPr lang="en-US" sz="1200" b="0" i="0" dirty="0"/>
                        <a:t> = </a:t>
                      </a:r>
                      <a:r>
                        <a:rPr lang="en-US" sz="1200" b="0" i="0" dirty="0" err="1"/>
                        <a:t>TmpAR</a:t>
                      </a:r>
                      <a:endParaRPr lang="en-US" sz="1200" b="1" i="0" dirty="0"/>
                    </a:p>
                  </a:txBody>
                  <a:tcPr/>
                </a:tc>
                <a:tc>
                  <a:txBody>
                    <a:bodyPr/>
                    <a:lstStyle/>
                    <a:p>
                      <a:pPr algn="l"/>
                      <a:r>
                        <a:rPr lang="en-US" sz="1200" dirty="0"/>
                        <a:t>Write </a:t>
                      </a:r>
                      <a:r>
                        <a:rPr lang="en-US" sz="1200" dirty="0" err="1"/>
                        <a:t>TmpAR</a:t>
                      </a:r>
                      <a:r>
                        <a:rPr lang="en-US" sz="1200" dirty="0"/>
                        <a:t> to the Address Bus.</a:t>
                      </a:r>
                    </a:p>
                  </a:txBody>
                  <a:tcPr/>
                </a:tc>
                <a:extLst>
                  <a:ext uri="{0D108BD9-81ED-4DB2-BD59-A6C34878D82A}">
                    <a16:rowId xmlns:a16="http://schemas.microsoft.com/office/drawing/2014/main" val="1997259933"/>
                  </a:ext>
                </a:extLst>
              </a:tr>
              <a:tr h="446149">
                <a:tc>
                  <a:txBody>
                    <a:bodyPr/>
                    <a:lstStyle/>
                    <a:p>
                      <a:pPr algn="ct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dirty="0" err="1"/>
                        <a:t>AddressBusToDataBus</a:t>
                      </a:r>
                      <a:r>
                        <a:rPr lang="en-US" sz="1200" b="0" i="0" dirty="0"/>
                        <a:t> = 1</a:t>
                      </a:r>
                      <a:endParaRPr lang="en-US" sz="1200" b="0" i="1" dirty="0"/>
                    </a:p>
                  </a:txBody>
                  <a:tcPr/>
                </a:tc>
                <a:tc>
                  <a:txBody>
                    <a:bodyPr/>
                    <a:lstStyle/>
                    <a:p>
                      <a:pPr algn="l"/>
                      <a:r>
                        <a:rPr lang="en-US" sz="1200" dirty="0"/>
                        <a:t>Write low byte of the Address Bus to the Data Bus.</a:t>
                      </a:r>
                    </a:p>
                  </a:txBody>
                  <a:tcPr/>
                </a:tc>
                <a:extLst>
                  <a:ext uri="{0D108BD9-81ED-4DB2-BD59-A6C34878D82A}">
                    <a16:rowId xmlns:a16="http://schemas.microsoft.com/office/drawing/2014/main" val="3939284353"/>
                  </a:ext>
                </a:extLst>
              </a:tr>
              <a:tr h="398519">
                <a:tc>
                  <a:txBody>
                    <a:bodyPr/>
                    <a:lstStyle/>
                    <a:p>
                      <a:pPr algn="ct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err="1"/>
                        <a:t>AddressByteSelect</a:t>
                      </a:r>
                      <a:r>
                        <a:rPr lang="en-US" sz="1200" b="0" i="0" dirty="0"/>
                        <a:t> = 0 (L)</a:t>
                      </a:r>
                      <a:endParaRPr lang="en-US" sz="1200" b="1" i="0" dirty="0"/>
                    </a:p>
                  </a:txBody>
                  <a:tcPr/>
                </a:tc>
                <a:tc>
                  <a:txBody>
                    <a:bodyPr/>
                    <a:lstStyle/>
                    <a:p>
                      <a:pPr algn="l"/>
                      <a:endParaRPr lang="en-US" sz="1200" dirty="0"/>
                    </a:p>
                  </a:txBody>
                  <a:tcPr/>
                </a:tc>
                <a:extLst>
                  <a:ext uri="{0D108BD9-81ED-4DB2-BD59-A6C34878D82A}">
                    <a16:rowId xmlns:a16="http://schemas.microsoft.com/office/drawing/2014/main" val="2043539783"/>
                  </a:ext>
                </a:extLst>
              </a:tr>
              <a:tr h="446149">
                <a:tc>
                  <a:txBody>
                    <a:bodyPr/>
                    <a:lstStyle/>
                    <a:p>
                      <a:pPr algn="ct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dirty="0" err="1"/>
                        <a:t>loadAR</a:t>
                      </a:r>
                      <a:r>
                        <a:rPr lang="en-US" sz="1200" b="0" i="0" dirty="0"/>
                        <a:t> = 1</a:t>
                      </a:r>
                      <a:endParaRPr lang="en-US" sz="1200" b="0" i="1" dirty="0"/>
                    </a:p>
                  </a:txBody>
                  <a:tcPr/>
                </a:tc>
                <a:tc>
                  <a:txBody>
                    <a:bodyPr/>
                    <a:lstStyle/>
                    <a:p>
                      <a:pPr algn="l"/>
                      <a:r>
                        <a:rPr lang="en-US" sz="1200" dirty="0"/>
                        <a:t>Set ARDest[L] to read from the Data Bus.</a:t>
                      </a:r>
                    </a:p>
                  </a:txBody>
                  <a:tcPr/>
                </a:tc>
                <a:extLst>
                  <a:ext uri="{0D108BD9-81ED-4DB2-BD59-A6C34878D82A}">
                    <a16:rowId xmlns:a16="http://schemas.microsoft.com/office/drawing/2014/main" val="1468635628"/>
                  </a:ext>
                </a:extLst>
              </a:tr>
              <a:tr h="398519">
                <a:tc>
                  <a:txBody>
                    <a:bodyPr/>
                    <a:lstStyle/>
                    <a:p>
                      <a:pPr algn="ct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err="1"/>
                        <a:t>loadARHorL</a:t>
                      </a:r>
                      <a:r>
                        <a:rPr lang="en-US" sz="1200" i="0" dirty="0"/>
                        <a:t> = 0 (L)</a:t>
                      </a:r>
                      <a:endParaRPr lang="en-US" sz="1200" b="0" i="1" dirty="0"/>
                    </a:p>
                  </a:txBody>
                  <a:tcPr/>
                </a:tc>
                <a:tc>
                  <a:txBody>
                    <a:bodyPr/>
                    <a:lstStyle/>
                    <a:p>
                      <a:pPr algn="l"/>
                      <a:endParaRPr lang="en-US" sz="1200" dirty="0"/>
                    </a:p>
                  </a:txBody>
                  <a:tcPr/>
                </a:tc>
                <a:extLst>
                  <a:ext uri="{0D108BD9-81ED-4DB2-BD59-A6C34878D82A}">
                    <a16:rowId xmlns:a16="http://schemas.microsoft.com/office/drawing/2014/main" val="2679337605"/>
                  </a:ext>
                </a:extLst>
              </a:tr>
              <a:tr h="446149">
                <a:tc>
                  <a:txBody>
                    <a:bodyPr/>
                    <a:lstStyle/>
                    <a:p>
                      <a:pPr algn="ctr"/>
                      <a:r>
                        <a:rPr lang="en-US" sz="1200"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err="1"/>
                        <a:t>ARSelect</a:t>
                      </a:r>
                      <a:r>
                        <a:rPr lang="en-US" sz="1200" b="0" i="0" dirty="0"/>
                        <a:t> = </a:t>
                      </a:r>
                      <a:r>
                        <a:rPr lang="en-US" sz="1200" b="0" i="0" dirty="0" err="1"/>
                        <a:t>TmpAR</a:t>
                      </a:r>
                      <a:endParaRPr lang="en-US" sz="1200" b="1" i="0" dirty="0"/>
                    </a:p>
                  </a:txBody>
                  <a:tcPr/>
                </a:tc>
                <a:tc>
                  <a:txBody>
                    <a:bodyPr/>
                    <a:lstStyle/>
                    <a:p>
                      <a:pPr algn="l"/>
                      <a:r>
                        <a:rPr lang="en-US" sz="1200" dirty="0"/>
                        <a:t>Write </a:t>
                      </a:r>
                      <a:r>
                        <a:rPr lang="en-US" sz="1200" dirty="0" err="1"/>
                        <a:t>TmpAR</a:t>
                      </a:r>
                      <a:r>
                        <a:rPr lang="en-US" sz="1200" dirty="0"/>
                        <a:t> to the Address Bus.</a:t>
                      </a:r>
                    </a:p>
                  </a:txBody>
                  <a:tcPr/>
                </a:tc>
                <a:extLst>
                  <a:ext uri="{0D108BD9-81ED-4DB2-BD59-A6C34878D82A}">
                    <a16:rowId xmlns:a16="http://schemas.microsoft.com/office/drawing/2014/main" val="1740515431"/>
                  </a:ext>
                </a:extLst>
              </a:tr>
              <a:tr h="446149">
                <a:tc>
                  <a:txBody>
                    <a:bodyPr/>
                    <a:lstStyle/>
                    <a:p>
                      <a:pPr algn="ct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err="1"/>
                        <a:t>AddressByteSelect</a:t>
                      </a:r>
                      <a:r>
                        <a:rPr lang="en-US" sz="1200" b="0" i="0" dirty="0"/>
                        <a:t> = 1 (H)</a:t>
                      </a:r>
                      <a:endParaRPr lang="en-US" sz="1200" b="1" i="0" dirty="0"/>
                    </a:p>
                  </a:txBody>
                  <a:tcPr/>
                </a:tc>
                <a:tc>
                  <a:txBody>
                    <a:bodyPr/>
                    <a:lstStyle/>
                    <a:p>
                      <a:pPr algn="l"/>
                      <a:r>
                        <a:rPr lang="en-US" sz="1200" dirty="0"/>
                        <a:t>Write high byte of the Address Bus.</a:t>
                      </a:r>
                    </a:p>
                  </a:txBody>
                  <a:tcPr/>
                </a:tc>
                <a:extLst>
                  <a:ext uri="{0D108BD9-81ED-4DB2-BD59-A6C34878D82A}">
                    <a16:rowId xmlns:a16="http://schemas.microsoft.com/office/drawing/2014/main" val="3307385133"/>
                  </a:ext>
                </a:extLst>
              </a:tr>
              <a:tr h="446149">
                <a:tc>
                  <a:txBody>
                    <a:bodyPr/>
                    <a:lstStyle/>
                    <a:p>
                      <a:pPr algn="ct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dirty="0" err="1"/>
                        <a:t>loadAR</a:t>
                      </a:r>
                      <a:r>
                        <a:rPr lang="en-US" sz="1200" b="0" i="0" dirty="0"/>
                        <a:t> = 1</a:t>
                      </a:r>
                      <a:endParaRPr lang="en-US" sz="1200" b="0" i="1" dirty="0"/>
                    </a:p>
                  </a:txBody>
                  <a:tcPr/>
                </a:tc>
                <a:tc>
                  <a:txBody>
                    <a:bodyPr/>
                    <a:lstStyle/>
                    <a:p>
                      <a:pPr algn="l"/>
                      <a:r>
                        <a:rPr lang="en-US" sz="1200" dirty="0"/>
                        <a:t>Set ARDest[H] to read from the Data Bus.</a:t>
                      </a:r>
                    </a:p>
                  </a:txBody>
                  <a:tcPr/>
                </a:tc>
                <a:extLst>
                  <a:ext uri="{0D108BD9-81ED-4DB2-BD59-A6C34878D82A}">
                    <a16:rowId xmlns:a16="http://schemas.microsoft.com/office/drawing/2014/main" val="2277742127"/>
                  </a:ext>
                </a:extLst>
              </a:tr>
              <a:tr h="0">
                <a:tc>
                  <a:txBody>
                    <a:bodyPr/>
                    <a:lstStyle/>
                    <a:p>
                      <a:pPr algn="ct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dirty="0" err="1"/>
                        <a:t>loadARHorL</a:t>
                      </a:r>
                      <a:r>
                        <a:rPr lang="en-US" sz="1200" b="0" i="0" dirty="0"/>
                        <a:t> = 1 (H)</a:t>
                      </a:r>
                      <a:endParaRPr lang="en-US" sz="1200" b="0" i="1" dirty="0"/>
                    </a:p>
                  </a:txBody>
                  <a:tcPr/>
                </a:tc>
                <a:tc>
                  <a:txBody>
                    <a:bodyPr/>
                    <a:lstStyle/>
                    <a:p>
                      <a:pPr algn="l"/>
                      <a:endParaRPr lang="en-US" sz="1200" dirty="0"/>
                    </a:p>
                  </a:txBody>
                  <a:tcPr/>
                </a:tc>
                <a:extLst>
                  <a:ext uri="{0D108BD9-81ED-4DB2-BD59-A6C34878D82A}">
                    <a16:rowId xmlns:a16="http://schemas.microsoft.com/office/drawing/2014/main" val="4081203497"/>
                  </a:ext>
                </a:extLst>
              </a:tr>
            </a:tbl>
          </a:graphicData>
        </a:graphic>
      </p:graphicFrame>
      <p:sp>
        <p:nvSpPr>
          <p:cNvPr id="5" name="TextBox 4">
            <a:extLst>
              <a:ext uri="{FF2B5EF4-FFF2-40B4-BE49-F238E27FC236}">
                <a16:creationId xmlns:a16="http://schemas.microsoft.com/office/drawing/2014/main" id="{1A506A87-D8D3-5B63-3292-F9AE3DCDD683}"/>
              </a:ext>
            </a:extLst>
          </p:cNvPr>
          <p:cNvSpPr txBox="1"/>
          <p:nvPr/>
        </p:nvSpPr>
        <p:spPr>
          <a:xfrm>
            <a:off x="4878805" y="362634"/>
            <a:ext cx="5438274" cy="646331"/>
          </a:xfrm>
          <a:prstGeom prst="rect">
            <a:avLst/>
          </a:prstGeom>
          <a:noFill/>
        </p:spPr>
        <p:txBody>
          <a:bodyPr wrap="square" rtlCol="0">
            <a:spAutoFit/>
          </a:bodyPr>
          <a:lstStyle/>
          <a:p>
            <a:r>
              <a:rPr lang="en-US" dirty="0"/>
              <a:t>Non-control signals are marked as bold. Control signals are marked as italic.</a:t>
            </a:r>
          </a:p>
        </p:txBody>
      </p:sp>
    </p:spTree>
    <p:extLst>
      <p:ext uri="{BB962C8B-B14F-4D97-AF65-F5344CB8AC3E}">
        <p14:creationId xmlns:p14="http://schemas.microsoft.com/office/powerpoint/2010/main" val="242269718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A1A5A-5F2E-6F9F-C49E-29244CAB3B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1873F6-75B2-AA93-C534-79052E44159E}"/>
              </a:ext>
            </a:extLst>
          </p:cNvPr>
          <p:cNvSpPr>
            <a:spLocks noGrp="1"/>
          </p:cNvSpPr>
          <p:nvPr>
            <p:ph type="ctrTitle"/>
          </p:nvPr>
        </p:nvSpPr>
        <p:spPr/>
        <p:txBody>
          <a:bodyPr/>
          <a:lstStyle/>
          <a:p>
            <a:r>
              <a:rPr lang="en-US" dirty="0"/>
              <a:t>(GR </a:t>
            </a:r>
            <a:r>
              <a:rPr lang="en-US" dirty="0">
                <a:sym typeface="Wingdings" panose="05000000000000000000" pitchFamily="2" charset="2"/>
              </a:rPr>
              <a:t> Memory) Instruction</a:t>
            </a:r>
            <a:endParaRPr lang="en-US" dirty="0"/>
          </a:p>
        </p:txBody>
      </p:sp>
      <p:graphicFrame>
        <p:nvGraphicFramePr>
          <p:cNvPr id="4" name="Table 3">
            <a:extLst>
              <a:ext uri="{FF2B5EF4-FFF2-40B4-BE49-F238E27FC236}">
                <a16:creationId xmlns:a16="http://schemas.microsoft.com/office/drawing/2014/main" id="{2F41FD6F-A015-4B14-A7BD-49763C85E97B}"/>
              </a:ext>
            </a:extLst>
          </p:cNvPr>
          <p:cNvGraphicFramePr>
            <a:graphicFrameLocks noGrp="1"/>
          </p:cNvGraphicFramePr>
          <p:nvPr>
            <p:extLst>
              <p:ext uri="{D42A27DB-BD31-4B8C-83A1-F6EECF244321}">
                <p14:modId xmlns:p14="http://schemas.microsoft.com/office/powerpoint/2010/main" val="1274397268"/>
              </p:ext>
            </p:extLst>
          </p:nvPr>
        </p:nvGraphicFramePr>
        <p:xfrm>
          <a:off x="914400" y="1041534"/>
          <a:ext cx="5881438" cy="2026518"/>
        </p:xfrm>
        <a:graphic>
          <a:graphicData uri="http://schemas.openxmlformats.org/drawingml/2006/table">
            <a:tbl>
              <a:tblPr firstCol="1" bandRow="1">
                <a:tableStyleId>{5C22544A-7EE6-4342-B048-85BDC9FD1C3A}</a:tableStyleId>
              </a:tblPr>
              <a:tblGrid>
                <a:gridCol w="2940719">
                  <a:extLst>
                    <a:ext uri="{9D8B030D-6E8A-4147-A177-3AD203B41FA5}">
                      <a16:colId xmlns:a16="http://schemas.microsoft.com/office/drawing/2014/main" val="4194745349"/>
                    </a:ext>
                  </a:extLst>
                </a:gridCol>
                <a:gridCol w="2940719">
                  <a:extLst>
                    <a:ext uri="{9D8B030D-6E8A-4147-A177-3AD203B41FA5}">
                      <a16:colId xmlns:a16="http://schemas.microsoft.com/office/drawing/2014/main" val="3037212644"/>
                    </a:ext>
                  </a:extLst>
                </a:gridCol>
              </a:tblGrid>
              <a:tr h="337753">
                <a:tc>
                  <a:txBody>
                    <a:bodyPr/>
                    <a:lstStyle/>
                    <a:p>
                      <a:r>
                        <a:rPr lang="en-US" sz="1400" dirty="0"/>
                        <a:t>Type</a:t>
                      </a:r>
                    </a:p>
                  </a:txBody>
                  <a:tcPr/>
                </a:tc>
                <a:tc>
                  <a:txBody>
                    <a:bodyPr/>
                    <a:lstStyle/>
                    <a:p>
                      <a:r>
                        <a:rPr lang="en-US" sz="1400" dirty="0"/>
                        <a:t>GR </a:t>
                      </a:r>
                      <a:r>
                        <a:rPr lang="en-US" sz="1400" dirty="0">
                          <a:sym typeface="Wingdings" panose="05000000000000000000" pitchFamily="2" charset="2"/>
                        </a:rPr>
                        <a:t> Memory</a:t>
                      </a:r>
                      <a:endParaRPr lang="en-US" sz="1400" dirty="0"/>
                    </a:p>
                  </a:txBody>
                  <a:tcPr/>
                </a:tc>
                <a:extLst>
                  <a:ext uri="{0D108BD9-81ED-4DB2-BD59-A6C34878D82A}">
                    <a16:rowId xmlns:a16="http://schemas.microsoft.com/office/drawing/2014/main" val="3388478334"/>
                  </a:ext>
                </a:extLst>
              </a:tr>
              <a:tr h="337753">
                <a:tc>
                  <a:txBody>
                    <a:bodyPr/>
                    <a:lstStyle/>
                    <a:p>
                      <a:r>
                        <a:rPr lang="en-US" sz="1400" dirty="0"/>
                        <a:t>Semantics</a:t>
                      </a:r>
                    </a:p>
                  </a:txBody>
                  <a:tcPr/>
                </a:tc>
                <a:tc>
                  <a:txBody>
                    <a:bodyPr/>
                    <a:lstStyle/>
                    <a:p>
                      <a:r>
                        <a:rPr lang="en-US" sz="1400" dirty="0"/>
                        <a:t>*(</a:t>
                      </a:r>
                      <a:r>
                        <a:rPr lang="en-US" sz="1400" dirty="0" err="1"/>
                        <a:t>ARSrc</a:t>
                      </a:r>
                      <a:r>
                        <a:rPr lang="en-US" sz="1400" dirty="0"/>
                        <a:t> + Imm) = Rs (Rd as source)</a:t>
                      </a:r>
                    </a:p>
                  </a:txBody>
                  <a:tcPr/>
                </a:tc>
                <a:extLst>
                  <a:ext uri="{0D108BD9-81ED-4DB2-BD59-A6C34878D82A}">
                    <a16:rowId xmlns:a16="http://schemas.microsoft.com/office/drawing/2014/main" val="2980594194"/>
                  </a:ext>
                </a:extLst>
              </a:tr>
              <a:tr h="337753">
                <a:tc>
                  <a:txBody>
                    <a:bodyPr/>
                    <a:lstStyle/>
                    <a:p>
                      <a:r>
                        <a:rPr lang="en-US" sz="1400" dirty="0"/>
                        <a:t>Number of Opcodes Required</a:t>
                      </a:r>
                    </a:p>
                  </a:txBody>
                  <a:tcPr/>
                </a:tc>
                <a:tc>
                  <a:txBody>
                    <a:bodyPr/>
                    <a:lstStyle/>
                    <a:p>
                      <a:r>
                        <a:rPr lang="en-US" sz="1400" dirty="0"/>
                        <a:t>2</a:t>
                      </a:r>
                    </a:p>
                  </a:txBody>
                  <a:tcPr/>
                </a:tc>
                <a:extLst>
                  <a:ext uri="{0D108BD9-81ED-4DB2-BD59-A6C34878D82A}">
                    <a16:rowId xmlns:a16="http://schemas.microsoft.com/office/drawing/2014/main" val="3814078540"/>
                  </a:ext>
                </a:extLst>
              </a:tr>
              <a:tr h="337753">
                <a:tc>
                  <a:txBody>
                    <a:bodyPr/>
                    <a:lstStyle/>
                    <a:p>
                      <a:r>
                        <a:rPr lang="en-US" sz="1400" dirty="0"/>
                        <a:t>Operands</a:t>
                      </a:r>
                    </a:p>
                  </a:txBody>
                  <a:tcPr/>
                </a:tc>
                <a:tc>
                  <a:txBody>
                    <a:bodyPr/>
                    <a:lstStyle/>
                    <a:p>
                      <a:r>
                        <a:rPr lang="en-US" sz="1400" dirty="0" err="1"/>
                        <a:t>ARSrc</a:t>
                      </a:r>
                      <a:r>
                        <a:rPr lang="en-US" sz="1400" dirty="0"/>
                        <a:t> (2 bits), Imm (8 bits), Rd (2 bits)</a:t>
                      </a:r>
                    </a:p>
                  </a:txBody>
                  <a:tcPr/>
                </a:tc>
                <a:extLst>
                  <a:ext uri="{0D108BD9-81ED-4DB2-BD59-A6C34878D82A}">
                    <a16:rowId xmlns:a16="http://schemas.microsoft.com/office/drawing/2014/main" val="11223351"/>
                  </a:ext>
                </a:extLst>
              </a:tr>
              <a:tr h="337753">
                <a:tc>
                  <a:txBody>
                    <a:bodyPr/>
                    <a:lstStyle/>
                    <a:p>
                      <a:r>
                        <a:rPr lang="en-US" sz="1400" dirty="0"/>
                        <a:t>Additional Inputs</a:t>
                      </a:r>
                    </a:p>
                  </a:txBody>
                  <a:tcPr/>
                </a:tc>
                <a:tc>
                  <a:txBody>
                    <a:bodyPr/>
                    <a:lstStyle/>
                    <a:p>
                      <a:r>
                        <a:rPr lang="en-US" sz="1400" b="1" dirty="0" err="1"/>
                        <a:t>ARSelect</a:t>
                      </a:r>
                      <a:endParaRPr lang="en-US" sz="1400" b="1" dirty="0"/>
                    </a:p>
                  </a:txBody>
                  <a:tcPr/>
                </a:tc>
                <a:extLst>
                  <a:ext uri="{0D108BD9-81ED-4DB2-BD59-A6C34878D82A}">
                    <a16:rowId xmlns:a16="http://schemas.microsoft.com/office/drawing/2014/main" val="3569590451"/>
                  </a:ext>
                </a:extLst>
              </a:tr>
              <a:tr h="337753">
                <a:tc>
                  <a:txBody>
                    <a:bodyPr/>
                    <a:lstStyle/>
                    <a:p>
                      <a:r>
                        <a:rPr lang="en-US" sz="1400" dirty="0"/>
                        <a:t>Control Signals Needed</a:t>
                      </a:r>
                    </a:p>
                  </a:txBody>
                  <a:tcPr/>
                </a:tc>
                <a:tc>
                  <a:txBody>
                    <a:bodyPr/>
                    <a:lstStyle/>
                    <a:p>
                      <a:r>
                        <a:rPr lang="en-US" sz="1400" i="1" dirty="0" err="1"/>
                        <a:t>TmpARRead</a:t>
                      </a:r>
                      <a:r>
                        <a:rPr lang="en-US" sz="1400" i="1" dirty="0"/>
                        <a:t>, </a:t>
                      </a:r>
                      <a:r>
                        <a:rPr lang="en-US" sz="1400" i="1" dirty="0" err="1"/>
                        <a:t>TmpARWrite</a:t>
                      </a:r>
                      <a:endParaRPr lang="en-US" sz="1400" i="1" dirty="0"/>
                    </a:p>
                  </a:txBody>
                  <a:tcPr/>
                </a:tc>
                <a:extLst>
                  <a:ext uri="{0D108BD9-81ED-4DB2-BD59-A6C34878D82A}">
                    <a16:rowId xmlns:a16="http://schemas.microsoft.com/office/drawing/2014/main" val="158350766"/>
                  </a:ext>
                </a:extLst>
              </a:tr>
            </a:tbl>
          </a:graphicData>
        </a:graphic>
      </p:graphicFrame>
      <p:graphicFrame>
        <p:nvGraphicFramePr>
          <p:cNvPr id="3" name="Table 2">
            <a:extLst>
              <a:ext uri="{FF2B5EF4-FFF2-40B4-BE49-F238E27FC236}">
                <a16:creationId xmlns:a16="http://schemas.microsoft.com/office/drawing/2014/main" id="{70BC163C-2C47-72BC-39CE-4D8D5D71AEA0}"/>
              </a:ext>
            </a:extLst>
          </p:cNvPr>
          <p:cNvGraphicFramePr>
            <a:graphicFrameLocks noGrp="1"/>
          </p:cNvGraphicFramePr>
          <p:nvPr>
            <p:extLst>
              <p:ext uri="{D42A27DB-BD31-4B8C-83A1-F6EECF244321}">
                <p14:modId xmlns:p14="http://schemas.microsoft.com/office/powerpoint/2010/main" val="4045438489"/>
              </p:ext>
            </p:extLst>
          </p:nvPr>
        </p:nvGraphicFramePr>
        <p:xfrm>
          <a:off x="6980321" y="1041534"/>
          <a:ext cx="4852737" cy="3298677"/>
        </p:xfrm>
        <a:graphic>
          <a:graphicData uri="http://schemas.openxmlformats.org/drawingml/2006/table">
            <a:tbl>
              <a:tblPr firstRow="1" bandRow="1">
                <a:tableStyleId>{5C22544A-7EE6-4342-B048-85BDC9FD1C3A}</a:tableStyleId>
              </a:tblPr>
              <a:tblGrid>
                <a:gridCol w="736488">
                  <a:extLst>
                    <a:ext uri="{9D8B030D-6E8A-4147-A177-3AD203B41FA5}">
                      <a16:colId xmlns:a16="http://schemas.microsoft.com/office/drawing/2014/main" val="1217920130"/>
                    </a:ext>
                  </a:extLst>
                </a:gridCol>
                <a:gridCol w="1914670">
                  <a:extLst>
                    <a:ext uri="{9D8B030D-6E8A-4147-A177-3AD203B41FA5}">
                      <a16:colId xmlns:a16="http://schemas.microsoft.com/office/drawing/2014/main" val="1475888205"/>
                    </a:ext>
                  </a:extLst>
                </a:gridCol>
                <a:gridCol w="2201579">
                  <a:extLst>
                    <a:ext uri="{9D8B030D-6E8A-4147-A177-3AD203B41FA5}">
                      <a16:colId xmlns:a16="http://schemas.microsoft.com/office/drawing/2014/main" val="2801792198"/>
                    </a:ext>
                  </a:extLst>
                </a:gridCol>
              </a:tblGrid>
              <a:tr h="267690">
                <a:tc>
                  <a:txBody>
                    <a:bodyPr/>
                    <a:lstStyle/>
                    <a:p>
                      <a:r>
                        <a:rPr lang="en-US" sz="1200" dirty="0"/>
                        <a:t>Cycle #</a:t>
                      </a:r>
                    </a:p>
                  </a:txBody>
                  <a:tcPr/>
                </a:tc>
                <a:tc>
                  <a:txBody>
                    <a:bodyPr/>
                    <a:lstStyle/>
                    <a:p>
                      <a:r>
                        <a:rPr lang="en-US" sz="1200" dirty="0"/>
                        <a:t>Instruction</a:t>
                      </a:r>
                    </a:p>
                  </a:txBody>
                  <a:tcPr/>
                </a:tc>
                <a:tc>
                  <a:txBody>
                    <a:bodyPr/>
                    <a:lstStyle/>
                    <a:p>
                      <a:r>
                        <a:rPr lang="en-US" sz="1200" dirty="0"/>
                        <a:t>Explanation</a:t>
                      </a:r>
                    </a:p>
                  </a:txBody>
                  <a:tcPr/>
                </a:tc>
                <a:extLst>
                  <a:ext uri="{0D108BD9-81ED-4DB2-BD59-A6C34878D82A}">
                    <a16:rowId xmlns:a16="http://schemas.microsoft.com/office/drawing/2014/main" val="2319756336"/>
                  </a:ext>
                </a:extLst>
              </a:tr>
              <a:tr h="446149">
                <a:tc>
                  <a:txBody>
                    <a:bodyPr/>
                    <a:lstStyle/>
                    <a:p>
                      <a:pPr algn="ctr"/>
                      <a:r>
                        <a:rPr lang="en-US" sz="1200" dirty="0"/>
                        <a:t>0</a:t>
                      </a:r>
                    </a:p>
                  </a:txBody>
                  <a:tcPr/>
                </a:tc>
                <a:tc>
                  <a:txBody>
                    <a:bodyPr/>
                    <a:lstStyle/>
                    <a:p>
                      <a:pPr algn="l"/>
                      <a:r>
                        <a:rPr lang="en-US" sz="1200" i="1" dirty="0"/>
                        <a:t>Program Register H Write to Bus</a:t>
                      </a:r>
                      <a:r>
                        <a:rPr lang="en-US" sz="1200" i="0" dirty="0"/>
                        <a:t> = 1</a:t>
                      </a:r>
                      <a:endParaRPr lang="en-US" sz="1200" i="1" dirty="0"/>
                    </a:p>
                  </a:txBody>
                  <a:tcPr/>
                </a:tc>
                <a:tc>
                  <a:txBody>
                    <a:bodyPr/>
                    <a:lstStyle/>
                    <a:p>
                      <a:pPr algn="l"/>
                      <a:r>
                        <a:rPr lang="en-US" sz="1200" dirty="0"/>
                        <a:t>Write Imm to the Data Bus.</a:t>
                      </a:r>
                    </a:p>
                  </a:txBody>
                  <a:tcPr/>
                </a:tc>
                <a:extLst>
                  <a:ext uri="{0D108BD9-81ED-4DB2-BD59-A6C34878D82A}">
                    <a16:rowId xmlns:a16="http://schemas.microsoft.com/office/drawing/2014/main" val="2570910443"/>
                  </a:ext>
                </a:extLst>
              </a:tr>
              <a:tr h="398519">
                <a:tc>
                  <a:txBody>
                    <a:bodyPr/>
                    <a:lstStyle/>
                    <a:p>
                      <a:pPr algn="ctr"/>
                      <a:endParaRPr lang="en-US" sz="1200" dirty="0"/>
                    </a:p>
                  </a:txBody>
                  <a:tcPr/>
                </a:tc>
                <a:tc>
                  <a:txBody>
                    <a:bodyPr/>
                    <a:lstStyle/>
                    <a:p>
                      <a:pPr algn="l"/>
                      <a:r>
                        <a:rPr lang="en-US" sz="1200" b="1" i="0" dirty="0" err="1"/>
                        <a:t>ARSelect</a:t>
                      </a:r>
                      <a:r>
                        <a:rPr lang="en-US" sz="1200" b="0" i="0" dirty="0"/>
                        <a:t> = </a:t>
                      </a:r>
                      <a:r>
                        <a:rPr lang="en-US" sz="1200" b="0" i="0" dirty="0" err="1"/>
                        <a:t>ARSrc</a:t>
                      </a:r>
                      <a:endParaRPr lang="en-US" sz="1200" b="1" i="0" dirty="0"/>
                    </a:p>
                  </a:txBody>
                  <a:tcPr/>
                </a:tc>
                <a:tc>
                  <a:txBody>
                    <a:bodyPr/>
                    <a:lstStyle/>
                    <a:p>
                      <a:pPr algn="l"/>
                      <a:r>
                        <a:rPr lang="en-US" sz="1200" dirty="0"/>
                        <a:t>Write </a:t>
                      </a:r>
                      <a:r>
                        <a:rPr lang="en-US" sz="1200" dirty="0" err="1"/>
                        <a:t>ARSrc</a:t>
                      </a:r>
                      <a:r>
                        <a:rPr lang="en-US" sz="1200" dirty="0"/>
                        <a:t> to the Address Bus.</a:t>
                      </a:r>
                    </a:p>
                  </a:txBody>
                  <a:tcPr/>
                </a:tc>
                <a:extLst>
                  <a:ext uri="{0D108BD9-81ED-4DB2-BD59-A6C34878D82A}">
                    <a16:rowId xmlns:a16="http://schemas.microsoft.com/office/drawing/2014/main" val="982675711"/>
                  </a:ext>
                </a:extLst>
              </a:tr>
              <a:tr h="398519">
                <a:tc>
                  <a:txBody>
                    <a:bodyPr/>
                    <a:lstStyle/>
                    <a:p>
                      <a:pPr algn="ct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dirty="0" err="1"/>
                        <a:t>TmpARRead</a:t>
                      </a:r>
                      <a:r>
                        <a:rPr lang="en-US" sz="1200" b="0" i="0" dirty="0"/>
                        <a:t> = 1</a:t>
                      </a:r>
                      <a:endParaRPr lang="en-US" sz="1200" b="0" i="1" dirty="0"/>
                    </a:p>
                  </a:txBody>
                  <a:tcPr/>
                </a:tc>
                <a:tc>
                  <a:txBody>
                    <a:bodyPr/>
                    <a:lstStyle/>
                    <a:p>
                      <a:pPr algn="l"/>
                      <a:r>
                        <a:rPr lang="en-US" sz="1200" dirty="0"/>
                        <a:t>Set </a:t>
                      </a:r>
                      <a:r>
                        <a:rPr lang="en-US" sz="1200" dirty="0" err="1"/>
                        <a:t>TmpAR</a:t>
                      </a:r>
                      <a:r>
                        <a:rPr lang="en-US" sz="1200" dirty="0"/>
                        <a:t> to read.</a:t>
                      </a:r>
                    </a:p>
                  </a:txBody>
                  <a:tcPr/>
                </a:tc>
                <a:extLst>
                  <a:ext uri="{0D108BD9-81ED-4DB2-BD59-A6C34878D82A}">
                    <a16:rowId xmlns:a16="http://schemas.microsoft.com/office/drawing/2014/main" val="631651838"/>
                  </a:ext>
                </a:extLst>
              </a:tr>
              <a:tr h="446149">
                <a:tc>
                  <a:txBody>
                    <a:bodyPr/>
                    <a:lstStyle/>
                    <a:p>
                      <a:pPr algn="ctr"/>
                      <a:r>
                        <a:rPr lang="en-US" sz="1200"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err="1"/>
                        <a:t>ARSelect</a:t>
                      </a:r>
                      <a:r>
                        <a:rPr lang="en-US" sz="1200" b="1" i="0" dirty="0"/>
                        <a:t> </a:t>
                      </a:r>
                      <a:r>
                        <a:rPr lang="en-US" sz="1200" b="0" i="0" dirty="0"/>
                        <a:t>= </a:t>
                      </a:r>
                      <a:r>
                        <a:rPr lang="en-US" sz="1200" b="0" i="0" dirty="0" err="1"/>
                        <a:t>TmpAR</a:t>
                      </a:r>
                      <a:endParaRPr lang="en-US" sz="1200" b="1" i="0" dirty="0"/>
                    </a:p>
                  </a:txBody>
                  <a:tcPr/>
                </a:tc>
                <a:tc>
                  <a:txBody>
                    <a:bodyPr/>
                    <a:lstStyle/>
                    <a:p>
                      <a:pPr algn="l"/>
                      <a:r>
                        <a:rPr lang="en-US" sz="1200" dirty="0"/>
                        <a:t>Write </a:t>
                      </a:r>
                      <a:r>
                        <a:rPr lang="en-US" sz="1200" dirty="0" err="1"/>
                        <a:t>TmpAR</a:t>
                      </a:r>
                      <a:r>
                        <a:rPr lang="en-US" sz="1200" dirty="0"/>
                        <a:t> to the Address Bus.</a:t>
                      </a:r>
                    </a:p>
                  </a:txBody>
                  <a:tcPr/>
                </a:tc>
                <a:extLst>
                  <a:ext uri="{0D108BD9-81ED-4DB2-BD59-A6C34878D82A}">
                    <a16:rowId xmlns:a16="http://schemas.microsoft.com/office/drawing/2014/main" val="1997259933"/>
                  </a:ext>
                </a:extLst>
              </a:tr>
              <a:tr h="446149">
                <a:tc>
                  <a:txBody>
                    <a:bodyPr/>
                    <a:lstStyle/>
                    <a:p>
                      <a:pPr algn="ct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dirty="0"/>
                        <a:t>Register File Output Enable </a:t>
                      </a:r>
                      <a:r>
                        <a:rPr lang="en-US" sz="1200" b="0" i="0" dirty="0"/>
                        <a:t>= 1</a:t>
                      </a:r>
                      <a:endParaRPr lang="en-US" sz="1200" b="0" i="1" dirty="0"/>
                    </a:p>
                  </a:txBody>
                  <a:tcPr/>
                </a:tc>
                <a:tc>
                  <a:txBody>
                    <a:bodyPr/>
                    <a:lstStyle/>
                    <a:p>
                      <a:pPr algn="l"/>
                      <a:r>
                        <a:rPr lang="en-US" sz="1200" dirty="0"/>
                        <a:t>Write Rs (Rd) to the Data Bus.</a:t>
                      </a:r>
                    </a:p>
                  </a:txBody>
                  <a:tcPr/>
                </a:tc>
                <a:extLst>
                  <a:ext uri="{0D108BD9-81ED-4DB2-BD59-A6C34878D82A}">
                    <a16:rowId xmlns:a16="http://schemas.microsoft.com/office/drawing/2014/main" val="3939284353"/>
                  </a:ext>
                </a:extLst>
              </a:tr>
              <a:tr h="398519">
                <a:tc>
                  <a:txBody>
                    <a:bodyPr/>
                    <a:lstStyle/>
                    <a:p>
                      <a:pPr algn="ct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dirty="0"/>
                        <a:t>Use Rd as Source</a:t>
                      </a:r>
                      <a:r>
                        <a:rPr lang="en-US" sz="1200" b="0" i="0" dirty="0"/>
                        <a:t> = 1</a:t>
                      </a:r>
                      <a:endParaRPr lang="en-US" sz="1200" b="0" i="1" dirty="0"/>
                    </a:p>
                  </a:txBody>
                  <a:tcPr/>
                </a:tc>
                <a:tc>
                  <a:txBody>
                    <a:bodyPr/>
                    <a:lstStyle/>
                    <a:p>
                      <a:pPr algn="l"/>
                      <a:endParaRPr lang="en-US" sz="1200" dirty="0"/>
                    </a:p>
                  </a:txBody>
                  <a:tcPr/>
                </a:tc>
                <a:extLst>
                  <a:ext uri="{0D108BD9-81ED-4DB2-BD59-A6C34878D82A}">
                    <a16:rowId xmlns:a16="http://schemas.microsoft.com/office/drawing/2014/main" val="2043539783"/>
                  </a:ext>
                </a:extLst>
              </a:tr>
              <a:tr h="446149">
                <a:tc>
                  <a:txBody>
                    <a:bodyPr/>
                    <a:lstStyle/>
                    <a:p>
                      <a:pPr algn="ct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dirty="0" err="1"/>
                        <a:t>MemWrite</a:t>
                      </a:r>
                      <a:r>
                        <a:rPr lang="en-US" sz="1200" b="0" i="0" dirty="0"/>
                        <a:t> = 1</a:t>
                      </a:r>
                      <a:endParaRPr lang="en-US" sz="1200" b="0" i="1" dirty="0"/>
                    </a:p>
                  </a:txBody>
                  <a:tcPr/>
                </a:tc>
                <a:tc>
                  <a:txBody>
                    <a:bodyPr/>
                    <a:lstStyle/>
                    <a:p>
                      <a:pPr algn="l"/>
                      <a:r>
                        <a:rPr lang="en-US" sz="1200" dirty="0"/>
                        <a:t>Set Memory to read from the Data Bus.</a:t>
                      </a:r>
                    </a:p>
                  </a:txBody>
                  <a:tcPr/>
                </a:tc>
                <a:extLst>
                  <a:ext uri="{0D108BD9-81ED-4DB2-BD59-A6C34878D82A}">
                    <a16:rowId xmlns:a16="http://schemas.microsoft.com/office/drawing/2014/main" val="1468635628"/>
                  </a:ext>
                </a:extLst>
              </a:tr>
            </a:tbl>
          </a:graphicData>
        </a:graphic>
      </p:graphicFrame>
      <p:sp>
        <p:nvSpPr>
          <p:cNvPr id="5" name="TextBox 4">
            <a:extLst>
              <a:ext uri="{FF2B5EF4-FFF2-40B4-BE49-F238E27FC236}">
                <a16:creationId xmlns:a16="http://schemas.microsoft.com/office/drawing/2014/main" id="{AB735A8D-9B8B-9377-F15A-FD5964A7BDED}"/>
              </a:ext>
            </a:extLst>
          </p:cNvPr>
          <p:cNvSpPr txBox="1"/>
          <p:nvPr/>
        </p:nvSpPr>
        <p:spPr>
          <a:xfrm>
            <a:off x="4878805" y="362634"/>
            <a:ext cx="5438274" cy="646331"/>
          </a:xfrm>
          <a:prstGeom prst="rect">
            <a:avLst/>
          </a:prstGeom>
          <a:noFill/>
        </p:spPr>
        <p:txBody>
          <a:bodyPr wrap="square" rtlCol="0">
            <a:spAutoFit/>
          </a:bodyPr>
          <a:lstStyle/>
          <a:p>
            <a:r>
              <a:rPr lang="en-US" dirty="0"/>
              <a:t>Non-control signals are marked as bold. Control signals are marked as italic.</a:t>
            </a:r>
          </a:p>
        </p:txBody>
      </p:sp>
    </p:spTree>
    <p:extLst>
      <p:ext uri="{BB962C8B-B14F-4D97-AF65-F5344CB8AC3E}">
        <p14:creationId xmlns:p14="http://schemas.microsoft.com/office/powerpoint/2010/main" val="76804641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F8945-FAFE-1954-2875-805161DE9B67}"/>
              </a:ext>
            </a:extLst>
          </p:cNvPr>
          <p:cNvSpPr>
            <a:spLocks noGrp="1"/>
          </p:cNvSpPr>
          <p:nvPr>
            <p:ph type="ctrTitle"/>
          </p:nvPr>
        </p:nvSpPr>
        <p:spPr/>
        <p:txBody>
          <a:bodyPr/>
          <a:lstStyle/>
          <a:p>
            <a:r>
              <a:rPr lang="en-US" dirty="0" err="1"/>
              <a:t>ARSelect</a:t>
            </a:r>
            <a:endParaRPr lang="en-US" dirty="0"/>
          </a:p>
        </p:txBody>
      </p:sp>
      <p:graphicFrame>
        <p:nvGraphicFramePr>
          <p:cNvPr id="3" name="Table 2">
            <a:extLst>
              <a:ext uri="{FF2B5EF4-FFF2-40B4-BE49-F238E27FC236}">
                <a16:creationId xmlns:a16="http://schemas.microsoft.com/office/drawing/2014/main" id="{01547023-F92B-4D04-0B0B-335E7F1844CE}"/>
              </a:ext>
            </a:extLst>
          </p:cNvPr>
          <p:cNvGraphicFramePr>
            <a:graphicFrameLocks noGrp="1"/>
          </p:cNvGraphicFramePr>
          <p:nvPr>
            <p:extLst>
              <p:ext uri="{D42A27DB-BD31-4B8C-83A1-F6EECF244321}">
                <p14:modId xmlns:p14="http://schemas.microsoft.com/office/powerpoint/2010/main" val="3460473938"/>
              </p:ext>
            </p:extLst>
          </p:nvPr>
        </p:nvGraphicFramePr>
        <p:xfrm>
          <a:off x="914400" y="3758209"/>
          <a:ext cx="9601200" cy="2835877"/>
        </p:xfrm>
        <a:graphic>
          <a:graphicData uri="http://schemas.openxmlformats.org/drawingml/2006/table">
            <a:tbl>
              <a:tblPr firstRow="1" bandRow="1">
                <a:tableStyleId>{5C22544A-7EE6-4342-B048-85BDC9FD1C3A}</a:tableStyleId>
              </a:tblPr>
              <a:tblGrid>
                <a:gridCol w="1200150">
                  <a:extLst>
                    <a:ext uri="{9D8B030D-6E8A-4147-A177-3AD203B41FA5}">
                      <a16:colId xmlns:a16="http://schemas.microsoft.com/office/drawing/2014/main" val="3057299652"/>
                    </a:ext>
                  </a:extLst>
                </a:gridCol>
                <a:gridCol w="1200150">
                  <a:extLst>
                    <a:ext uri="{9D8B030D-6E8A-4147-A177-3AD203B41FA5}">
                      <a16:colId xmlns:a16="http://schemas.microsoft.com/office/drawing/2014/main" val="3556910871"/>
                    </a:ext>
                  </a:extLst>
                </a:gridCol>
                <a:gridCol w="1200150">
                  <a:extLst>
                    <a:ext uri="{9D8B030D-6E8A-4147-A177-3AD203B41FA5}">
                      <a16:colId xmlns:a16="http://schemas.microsoft.com/office/drawing/2014/main" val="1464492428"/>
                    </a:ext>
                  </a:extLst>
                </a:gridCol>
                <a:gridCol w="1200150">
                  <a:extLst>
                    <a:ext uri="{9D8B030D-6E8A-4147-A177-3AD203B41FA5}">
                      <a16:colId xmlns:a16="http://schemas.microsoft.com/office/drawing/2014/main" val="465393676"/>
                    </a:ext>
                  </a:extLst>
                </a:gridCol>
                <a:gridCol w="1200150">
                  <a:extLst>
                    <a:ext uri="{9D8B030D-6E8A-4147-A177-3AD203B41FA5}">
                      <a16:colId xmlns:a16="http://schemas.microsoft.com/office/drawing/2014/main" val="462801025"/>
                    </a:ext>
                  </a:extLst>
                </a:gridCol>
                <a:gridCol w="1200150">
                  <a:extLst>
                    <a:ext uri="{9D8B030D-6E8A-4147-A177-3AD203B41FA5}">
                      <a16:colId xmlns:a16="http://schemas.microsoft.com/office/drawing/2014/main" val="2396601857"/>
                    </a:ext>
                  </a:extLst>
                </a:gridCol>
                <a:gridCol w="1200150">
                  <a:extLst>
                    <a:ext uri="{9D8B030D-6E8A-4147-A177-3AD203B41FA5}">
                      <a16:colId xmlns:a16="http://schemas.microsoft.com/office/drawing/2014/main" val="1491896773"/>
                    </a:ext>
                  </a:extLst>
                </a:gridCol>
                <a:gridCol w="1200150">
                  <a:extLst>
                    <a:ext uri="{9D8B030D-6E8A-4147-A177-3AD203B41FA5}">
                      <a16:colId xmlns:a16="http://schemas.microsoft.com/office/drawing/2014/main" val="3099209367"/>
                    </a:ext>
                  </a:extLst>
                </a:gridCol>
              </a:tblGrid>
              <a:tr h="291300">
                <a:tc>
                  <a:txBody>
                    <a:bodyPr/>
                    <a:lstStyle/>
                    <a:p>
                      <a:r>
                        <a:rPr lang="en-US" sz="1050" dirty="0"/>
                        <a:t>Bus Grant</a:t>
                      </a:r>
                    </a:p>
                  </a:txBody>
                  <a:tcPr/>
                </a:tc>
                <a:tc>
                  <a:txBody>
                    <a:bodyPr/>
                    <a:lstStyle/>
                    <a:p>
                      <a:r>
                        <a:rPr lang="en-US" sz="1050" dirty="0" err="1"/>
                        <a:t>FetchCycle</a:t>
                      </a:r>
                      <a:endParaRPr lang="en-US" sz="1050" dirty="0"/>
                    </a:p>
                  </a:txBody>
                  <a:tcPr/>
                </a:tc>
                <a:tc>
                  <a:txBody>
                    <a:bodyPr/>
                    <a:lstStyle/>
                    <a:p>
                      <a:r>
                        <a:rPr lang="en-US" sz="1050" dirty="0"/>
                        <a:t>PC Out control signal</a:t>
                      </a:r>
                    </a:p>
                  </a:txBody>
                  <a:tcPr/>
                </a:tc>
                <a:tc>
                  <a:txBody>
                    <a:bodyPr/>
                    <a:lstStyle/>
                    <a:p>
                      <a:r>
                        <a:rPr lang="en-US" sz="1050" dirty="0"/>
                        <a:t>SP Out control signal</a:t>
                      </a:r>
                    </a:p>
                  </a:txBody>
                  <a:tcPr/>
                </a:tc>
                <a:tc>
                  <a:txBody>
                    <a:bodyPr/>
                    <a:lstStyle/>
                    <a:p>
                      <a:r>
                        <a:rPr lang="en-US" sz="1050" dirty="0" err="1"/>
                        <a:t>TmpAR</a:t>
                      </a:r>
                      <a:r>
                        <a:rPr lang="en-US" sz="1050" dirty="0"/>
                        <a:t> Write control signal</a:t>
                      </a:r>
                    </a:p>
                  </a:txBody>
                  <a:tcPr/>
                </a:tc>
                <a:tc>
                  <a:txBody>
                    <a:bodyPr/>
                    <a:lstStyle/>
                    <a:p>
                      <a:r>
                        <a:rPr lang="en-US" sz="1050" dirty="0" err="1"/>
                        <a:t>Opcode_MAG_LDW_SDW_MAA</a:t>
                      </a:r>
                      <a:r>
                        <a:rPr lang="en-US" sz="1050" dirty="0"/>
                        <a:t> (Active Low)</a:t>
                      </a:r>
                    </a:p>
                  </a:txBody>
                  <a:tcPr/>
                </a:tc>
                <a:tc>
                  <a:txBody>
                    <a:bodyPr/>
                    <a:lstStyle/>
                    <a:p>
                      <a:r>
                        <a:rPr lang="en-US" sz="1050" dirty="0"/>
                        <a:t>AR </a:t>
                      </a:r>
                      <a:r>
                        <a:rPr lang="en-US" sz="1050" dirty="0" err="1"/>
                        <a:t>Src</a:t>
                      </a:r>
                      <a:r>
                        <a:rPr lang="en-US" sz="1050" dirty="0"/>
                        <a:t> operand</a:t>
                      </a:r>
                    </a:p>
                  </a:txBody>
                  <a:tcPr/>
                </a:tc>
                <a:tc>
                  <a:txBody>
                    <a:bodyPr/>
                    <a:lstStyle/>
                    <a:p>
                      <a:r>
                        <a:rPr lang="en-US" sz="1050" dirty="0"/>
                        <a:t>Output</a:t>
                      </a:r>
                    </a:p>
                  </a:txBody>
                  <a:tcPr/>
                </a:tc>
                <a:extLst>
                  <a:ext uri="{0D108BD9-81ED-4DB2-BD59-A6C34878D82A}">
                    <a16:rowId xmlns:a16="http://schemas.microsoft.com/office/drawing/2014/main" val="3978028469"/>
                  </a:ext>
                </a:extLst>
              </a:tr>
              <a:tr h="160504">
                <a:tc>
                  <a:txBody>
                    <a:bodyPr/>
                    <a:lstStyle/>
                    <a:p>
                      <a:r>
                        <a:rPr lang="en-US" sz="1050" dirty="0"/>
                        <a:t>1</a:t>
                      </a:r>
                    </a:p>
                  </a:txBody>
                  <a:tcPr/>
                </a:tc>
                <a:tc>
                  <a:txBody>
                    <a:bodyPr/>
                    <a:lstStyle/>
                    <a:p>
                      <a:r>
                        <a:rPr lang="en-US" sz="1050" dirty="0"/>
                        <a:t>X</a:t>
                      </a:r>
                    </a:p>
                  </a:txBody>
                  <a:tcPr/>
                </a:tc>
                <a:tc>
                  <a:txBody>
                    <a:bodyPr/>
                    <a:lstStyle/>
                    <a:p>
                      <a:r>
                        <a:rPr lang="en-US" sz="1050" dirty="0"/>
                        <a:t>X</a:t>
                      </a:r>
                    </a:p>
                  </a:txBody>
                  <a:tcPr/>
                </a:tc>
                <a:tc>
                  <a:txBody>
                    <a:bodyPr/>
                    <a:lstStyle/>
                    <a:p>
                      <a:r>
                        <a:rPr lang="en-US" sz="1050" dirty="0"/>
                        <a:t>X</a:t>
                      </a:r>
                    </a:p>
                  </a:txBody>
                  <a:tcPr/>
                </a:tc>
                <a:tc>
                  <a:txBody>
                    <a:bodyPr/>
                    <a:lstStyle/>
                    <a:p>
                      <a:r>
                        <a:rPr lang="en-US" sz="1050" dirty="0"/>
                        <a:t>X</a:t>
                      </a:r>
                    </a:p>
                  </a:txBody>
                  <a:tcPr/>
                </a:tc>
                <a:tc>
                  <a:txBody>
                    <a:bodyPr/>
                    <a:lstStyle/>
                    <a:p>
                      <a:r>
                        <a:rPr lang="en-US" sz="1050" dirty="0"/>
                        <a:t>X</a:t>
                      </a:r>
                    </a:p>
                  </a:txBody>
                  <a:tcPr/>
                </a:tc>
                <a:tc>
                  <a:txBody>
                    <a:bodyPr/>
                    <a:lstStyle/>
                    <a:p>
                      <a:r>
                        <a:rPr lang="en-US" sz="1050" dirty="0"/>
                        <a:t>X</a:t>
                      </a:r>
                    </a:p>
                  </a:txBody>
                  <a:tcPr/>
                </a:tc>
                <a:tc>
                  <a:txBody>
                    <a:bodyPr/>
                    <a:lstStyle/>
                    <a:p>
                      <a:r>
                        <a:rPr lang="en-US" sz="1050" dirty="0"/>
                        <a:t>None</a:t>
                      </a:r>
                    </a:p>
                  </a:txBody>
                  <a:tcPr/>
                </a:tc>
                <a:extLst>
                  <a:ext uri="{0D108BD9-81ED-4DB2-BD59-A6C34878D82A}">
                    <a16:rowId xmlns:a16="http://schemas.microsoft.com/office/drawing/2014/main" val="2793775515"/>
                  </a:ext>
                </a:extLst>
              </a:tr>
              <a:tr h="160504">
                <a:tc>
                  <a:txBody>
                    <a:bodyPr/>
                    <a:lstStyle/>
                    <a:p>
                      <a:r>
                        <a:rPr lang="en-US" sz="1050" dirty="0"/>
                        <a:t>0</a:t>
                      </a:r>
                    </a:p>
                  </a:txBody>
                  <a:tcPr/>
                </a:tc>
                <a:tc>
                  <a:txBody>
                    <a:bodyPr/>
                    <a:lstStyle/>
                    <a:p>
                      <a:r>
                        <a:rPr lang="en-US" sz="1050" dirty="0"/>
                        <a:t>1</a:t>
                      </a:r>
                    </a:p>
                  </a:txBody>
                  <a:tcPr/>
                </a:tc>
                <a:tc>
                  <a:txBody>
                    <a:bodyPr/>
                    <a:lstStyle/>
                    <a:p>
                      <a:r>
                        <a:rPr lang="en-US" sz="1050" dirty="0"/>
                        <a:t>X</a:t>
                      </a:r>
                    </a:p>
                  </a:txBody>
                  <a:tcPr/>
                </a:tc>
                <a:tc>
                  <a:txBody>
                    <a:bodyPr/>
                    <a:lstStyle/>
                    <a:p>
                      <a:r>
                        <a:rPr lang="en-US" sz="1050" dirty="0"/>
                        <a:t>X</a:t>
                      </a:r>
                    </a:p>
                  </a:txBody>
                  <a:tcPr/>
                </a:tc>
                <a:tc>
                  <a:txBody>
                    <a:bodyPr/>
                    <a:lstStyle/>
                    <a:p>
                      <a:r>
                        <a:rPr lang="en-US" sz="1050" dirty="0"/>
                        <a:t>X</a:t>
                      </a:r>
                    </a:p>
                  </a:txBody>
                  <a:tcPr/>
                </a:tc>
                <a:tc>
                  <a:txBody>
                    <a:bodyPr/>
                    <a:lstStyle/>
                    <a:p>
                      <a:r>
                        <a:rPr lang="en-US" sz="1050" dirty="0"/>
                        <a:t>X</a:t>
                      </a:r>
                    </a:p>
                  </a:txBody>
                  <a:tcPr/>
                </a:tc>
                <a:tc>
                  <a:txBody>
                    <a:bodyPr/>
                    <a:lstStyle/>
                    <a:p>
                      <a:r>
                        <a:rPr lang="en-US" sz="1050" dirty="0"/>
                        <a:t>X</a:t>
                      </a:r>
                    </a:p>
                  </a:txBody>
                  <a:tcPr/>
                </a:tc>
                <a:tc>
                  <a:txBody>
                    <a:bodyPr/>
                    <a:lstStyle/>
                    <a:p>
                      <a:r>
                        <a:rPr lang="en-US" sz="1050" dirty="0"/>
                        <a:t>PC</a:t>
                      </a:r>
                    </a:p>
                  </a:txBody>
                  <a:tcPr/>
                </a:tc>
                <a:extLst>
                  <a:ext uri="{0D108BD9-81ED-4DB2-BD59-A6C34878D82A}">
                    <a16:rowId xmlns:a16="http://schemas.microsoft.com/office/drawing/2014/main" val="901676983"/>
                  </a:ext>
                </a:extLst>
              </a:tr>
              <a:tr h="160504">
                <a:tc>
                  <a:txBody>
                    <a:bodyPr/>
                    <a:lstStyle/>
                    <a:p>
                      <a:r>
                        <a:rPr lang="en-US" sz="1050" dirty="0"/>
                        <a:t>0</a:t>
                      </a:r>
                    </a:p>
                  </a:txBody>
                  <a:tcPr/>
                </a:tc>
                <a:tc>
                  <a:txBody>
                    <a:bodyPr/>
                    <a:lstStyle/>
                    <a:p>
                      <a:r>
                        <a:rPr lang="en-US" sz="1050" dirty="0"/>
                        <a:t>0</a:t>
                      </a:r>
                    </a:p>
                  </a:txBody>
                  <a:tcPr/>
                </a:tc>
                <a:tc>
                  <a:txBody>
                    <a:bodyPr/>
                    <a:lstStyle/>
                    <a:p>
                      <a:r>
                        <a:rPr lang="en-US" sz="1050" dirty="0"/>
                        <a:t>1</a:t>
                      </a:r>
                    </a:p>
                  </a:txBody>
                  <a:tcPr/>
                </a:tc>
                <a:tc>
                  <a:txBody>
                    <a:bodyPr/>
                    <a:lstStyle/>
                    <a:p>
                      <a:r>
                        <a:rPr lang="en-US" sz="1050" dirty="0"/>
                        <a:t>X</a:t>
                      </a:r>
                    </a:p>
                  </a:txBody>
                  <a:tcPr/>
                </a:tc>
                <a:tc>
                  <a:txBody>
                    <a:bodyPr/>
                    <a:lstStyle/>
                    <a:p>
                      <a:r>
                        <a:rPr lang="en-US" sz="1050" dirty="0"/>
                        <a:t>X</a:t>
                      </a:r>
                    </a:p>
                  </a:txBody>
                  <a:tcPr/>
                </a:tc>
                <a:tc>
                  <a:txBody>
                    <a:bodyPr/>
                    <a:lstStyle/>
                    <a:p>
                      <a:r>
                        <a:rPr lang="en-US" sz="1050" dirty="0"/>
                        <a:t>X</a:t>
                      </a:r>
                    </a:p>
                  </a:txBody>
                  <a:tcPr/>
                </a:tc>
                <a:tc>
                  <a:txBody>
                    <a:bodyPr/>
                    <a:lstStyle/>
                    <a:p>
                      <a:r>
                        <a:rPr lang="en-US" sz="1050" dirty="0"/>
                        <a:t>X</a:t>
                      </a:r>
                    </a:p>
                  </a:txBody>
                  <a:tcPr/>
                </a:tc>
                <a:tc>
                  <a:txBody>
                    <a:bodyPr/>
                    <a:lstStyle/>
                    <a:p>
                      <a:r>
                        <a:rPr lang="en-US" sz="1050" dirty="0"/>
                        <a:t>PC</a:t>
                      </a:r>
                    </a:p>
                  </a:txBody>
                  <a:tcPr/>
                </a:tc>
                <a:extLst>
                  <a:ext uri="{0D108BD9-81ED-4DB2-BD59-A6C34878D82A}">
                    <a16:rowId xmlns:a16="http://schemas.microsoft.com/office/drawing/2014/main" val="3357466174"/>
                  </a:ext>
                </a:extLst>
              </a:tr>
              <a:tr h="160504">
                <a:tc>
                  <a:txBody>
                    <a:bodyPr/>
                    <a:lstStyle/>
                    <a:p>
                      <a:r>
                        <a:rPr lang="en-US" sz="1050" dirty="0"/>
                        <a:t>0</a:t>
                      </a:r>
                    </a:p>
                  </a:txBody>
                  <a:tcPr/>
                </a:tc>
                <a:tc>
                  <a:txBody>
                    <a:bodyPr/>
                    <a:lstStyle/>
                    <a:p>
                      <a:r>
                        <a:rPr lang="en-US" sz="1050" dirty="0"/>
                        <a:t>0</a:t>
                      </a:r>
                    </a:p>
                  </a:txBody>
                  <a:tcPr/>
                </a:tc>
                <a:tc>
                  <a:txBody>
                    <a:bodyPr/>
                    <a:lstStyle/>
                    <a:p>
                      <a:r>
                        <a:rPr lang="en-US" sz="1050" dirty="0"/>
                        <a:t>0</a:t>
                      </a:r>
                    </a:p>
                  </a:txBody>
                  <a:tcPr/>
                </a:tc>
                <a:tc>
                  <a:txBody>
                    <a:bodyPr/>
                    <a:lstStyle/>
                    <a:p>
                      <a:r>
                        <a:rPr lang="en-US" sz="1050" dirty="0"/>
                        <a:t>1</a:t>
                      </a:r>
                    </a:p>
                  </a:txBody>
                  <a:tcPr/>
                </a:tc>
                <a:tc>
                  <a:txBody>
                    <a:bodyPr/>
                    <a:lstStyle/>
                    <a:p>
                      <a:r>
                        <a:rPr lang="en-US" sz="1050" dirty="0"/>
                        <a:t>X</a:t>
                      </a:r>
                    </a:p>
                  </a:txBody>
                  <a:tcPr/>
                </a:tc>
                <a:tc>
                  <a:txBody>
                    <a:bodyPr/>
                    <a:lstStyle/>
                    <a:p>
                      <a:r>
                        <a:rPr lang="en-US" sz="1050" dirty="0"/>
                        <a:t>X</a:t>
                      </a:r>
                    </a:p>
                  </a:txBody>
                  <a:tcPr/>
                </a:tc>
                <a:tc>
                  <a:txBody>
                    <a:bodyPr/>
                    <a:lstStyle/>
                    <a:p>
                      <a:r>
                        <a:rPr lang="en-US" sz="1050" dirty="0"/>
                        <a:t>X</a:t>
                      </a:r>
                    </a:p>
                  </a:txBody>
                  <a:tcPr/>
                </a:tc>
                <a:tc>
                  <a:txBody>
                    <a:bodyPr/>
                    <a:lstStyle/>
                    <a:p>
                      <a:r>
                        <a:rPr lang="en-US" sz="1050" dirty="0"/>
                        <a:t>SP</a:t>
                      </a:r>
                    </a:p>
                  </a:txBody>
                  <a:tcPr/>
                </a:tc>
                <a:extLst>
                  <a:ext uri="{0D108BD9-81ED-4DB2-BD59-A6C34878D82A}">
                    <a16:rowId xmlns:a16="http://schemas.microsoft.com/office/drawing/2014/main" val="2810329507"/>
                  </a:ext>
                </a:extLst>
              </a:tr>
              <a:tr h="160504">
                <a:tc>
                  <a:txBody>
                    <a:bodyPr/>
                    <a:lstStyle/>
                    <a:p>
                      <a:r>
                        <a:rPr lang="en-US" sz="1050" dirty="0"/>
                        <a:t>0</a:t>
                      </a:r>
                    </a:p>
                  </a:txBody>
                  <a:tcPr/>
                </a:tc>
                <a:tc>
                  <a:txBody>
                    <a:bodyPr/>
                    <a:lstStyle/>
                    <a:p>
                      <a:r>
                        <a:rPr lang="en-US" sz="1050" dirty="0"/>
                        <a:t>0</a:t>
                      </a:r>
                    </a:p>
                  </a:txBody>
                  <a:tcPr/>
                </a:tc>
                <a:tc>
                  <a:txBody>
                    <a:bodyPr/>
                    <a:lstStyle/>
                    <a:p>
                      <a:r>
                        <a:rPr lang="en-US" sz="1050" dirty="0"/>
                        <a:t>0</a:t>
                      </a:r>
                    </a:p>
                  </a:txBody>
                  <a:tcPr/>
                </a:tc>
                <a:tc>
                  <a:txBody>
                    <a:bodyPr/>
                    <a:lstStyle/>
                    <a:p>
                      <a:r>
                        <a:rPr lang="en-US" sz="1050" dirty="0"/>
                        <a:t>0</a:t>
                      </a:r>
                    </a:p>
                  </a:txBody>
                  <a:tcPr/>
                </a:tc>
                <a:tc>
                  <a:txBody>
                    <a:bodyPr/>
                    <a:lstStyle/>
                    <a:p>
                      <a:r>
                        <a:rPr lang="en-US" sz="1050" dirty="0"/>
                        <a:t>1</a:t>
                      </a:r>
                    </a:p>
                  </a:txBody>
                  <a:tcPr/>
                </a:tc>
                <a:tc>
                  <a:txBody>
                    <a:bodyPr/>
                    <a:lstStyle/>
                    <a:p>
                      <a:r>
                        <a:rPr lang="en-US" sz="1050" dirty="0"/>
                        <a:t>X</a:t>
                      </a:r>
                    </a:p>
                  </a:txBody>
                  <a:tcPr/>
                </a:tc>
                <a:tc>
                  <a:txBody>
                    <a:bodyPr/>
                    <a:lstStyle/>
                    <a:p>
                      <a:r>
                        <a:rPr lang="en-US" sz="1050" dirty="0"/>
                        <a:t>X</a:t>
                      </a:r>
                    </a:p>
                  </a:txBody>
                  <a:tcPr/>
                </a:tc>
                <a:tc>
                  <a:txBody>
                    <a:bodyPr/>
                    <a:lstStyle/>
                    <a:p>
                      <a:r>
                        <a:rPr lang="en-US" sz="1050" dirty="0" err="1"/>
                        <a:t>TmpAR</a:t>
                      </a:r>
                      <a:endParaRPr lang="en-US" sz="1050" dirty="0"/>
                    </a:p>
                  </a:txBody>
                  <a:tcPr/>
                </a:tc>
                <a:extLst>
                  <a:ext uri="{0D108BD9-81ED-4DB2-BD59-A6C34878D82A}">
                    <a16:rowId xmlns:a16="http://schemas.microsoft.com/office/drawing/2014/main" val="765499286"/>
                  </a:ext>
                </a:extLst>
              </a:tr>
              <a:tr h="755617">
                <a:tc>
                  <a:txBody>
                    <a:bodyPr/>
                    <a:lstStyle/>
                    <a:p>
                      <a:r>
                        <a:rPr lang="en-US" sz="1050" dirty="0"/>
                        <a:t>0</a:t>
                      </a:r>
                    </a:p>
                  </a:txBody>
                  <a:tcPr/>
                </a:tc>
                <a:tc>
                  <a:txBody>
                    <a:bodyPr/>
                    <a:lstStyle/>
                    <a:p>
                      <a:r>
                        <a:rPr lang="en-US" sz="1050" dirty="0"/>
                        <a:t>0</a:t>
                      </a:r>
                    </a:p>
                  </a:txBody>
                  <a:tcPr/>
                </a:tc>
                <a:tc>
                  <a:txBody>
                    <a:bodyPr/>
                    <a:lstStyle/>
                    <a:p>
                      <a:r>
                        <a:rPr lang="en-US" sz="1050" dirty="0"/>
                        <a:t>0</a:t>
                      </a:r>
                    </a:p>
                  </a:txBody>
                  <a:tcPr/>
                </a:tc>
                <a:tc>
                  <a:txBody>
                    <a:bodyPr/>
                    <a:lstStyle/>
                    <a:p>
                      <a:r>
                        <a:rPr lang="en-US" sz="1050" dirty="0"/>
                        <a:t>0</a:t>
                      </a:r>
                    </a:p>
                  </a:txBody>
                  <a:tcPr/>
                </a:tc>
                <a:tc>
                  <a:txBody>
                    <a:bodyPr/>
                    <a:lstStyle/>
                    <a:p>
                      <a:r>
                        <a:rPr lang="en-US" sz="1050" dirty="0"/>
                        <a:t>0</a:t>
                      </a:r>
                    </a:p>
                  </a:txBody>
                  <a:tcPr/>
                </a:tc>
                <a:tc>
                  <a:txBody>
                    <a:bodyPr/>
                    <a:lstStyle/>
                    <a:p>
                      <a:pPr marL="0" indent="0">
                        <a:buNone/>
                      </a:pPr>
                      <a:r>
                        <a:rPr lang="en-US" sz="1050" dirty="0"/>
                        <a:t>MAG, LDW, SDW, MAA</a:t>
                      </a:r>
                    </a:p>
                  </a:txBody>
                  <a:tcPr/>
                </a:tc>
                <a:tc>
                  <a:txBody>
                    <a:bodyPr/>
                    <a:lstStyle/>
                    <a:p>
                      <a:r>
                        <a:rPr lang="en-US" sz="1050" dirty="0"/>
                        <a:t>AR </a:t>
                      </a:r>
                      <a:r>
                        <a:rPr lang="en-US" sz="1050" dirty="0" err="1"/>
                        <a:t>Src</a:t>
                      </a:r>
                      <a:endParaRPr lang="en-US" sz="1050" dirty="0"/>
                    </a:p>
                  </a:txBody>
                  <a:tcPr/>
                </a:tc>
                <a:tc>
                  <a:txBody>
                    <a:bodyPr/>
                    <a:lstStyle/>
                    <a:p>
                      <a:r>
                        <a:rPr lang="en-US" sz="1050" dirty="0"/>
                        <a:t>AR </a:t>
                      </a:r>
                      <a:r>
                        <a:rPr lang="en-US" sz="1050" dirty="0" err="1"/>
                        <a:t>Src</a:t>
                      </a:r>
                      <a:r>
                        <a:rPr lang="en-US" sz="1050" dirty="0"/>
                        <a:t> </a:t>
                      </a:r>
                    </a:p>
                    <a:p>
                      <a:r>
                        <a:rPr lang="en-US" sz="1050" dirty="0"/>
                        <a:t>(PC, DP, SP, or BP)</a:t>
                      </a:r>
                    </a:p>
                  </a:txBody>
                  <a:tcPr/>
                </a:tc>
                <a:extLst>
                  <a:ext uri="{0D108BD9-81ED-4DB2-BD59-A6C34878D82A}">
                    <a16:rowId xmlns:a16="http://schemas.microsoft.com/office/drawing/2014/main" val="43658182"/>
                  </a:ext>
                </a:extLst>
              </a:tr>
              <a:tr h="160504">
                <a:tc>
                  <a:txBody>
                    <a:bodyPr/>
                    <a:lstStyle/>
                    <a:p>
                      <a:r>
                        <a:rPr lang="en-US" sz="1050" dirty="0"/>
                        <a:t>0</a:t>
                      </a:r>
                    </a:p>
                  </a:txBody>
                  <a:tcPr/>
                </a:tc>
                <a:tc>
                  <a:txBody>
                    <a:bodyPr/>
                    <a:lstStyle/>
                    <a:p>
                      <a:r>
                        <a:rPr lang="en-US" sz="1050" dirty="0"/>
                        <a:t>0</a:t>
                      </a:r>
                    </a:p>
                  </a:txBody>
                  <a:tcPr/>
                </a:tc>
                <a:tc>
                  <a:txBody>
                    <a:bodyPr/>
                    <a:lstStyle/>
                    <a:p>
                      <a:r>
                        <a:rPr lang="en-US" sz="1050" dirty="0"/>
                        <a:t>0</a:t>
                      </a:r>
                    </a:p>
                  </a:txBody>
                  <a:tcPr/>
                </a:tc>
                <a:tc>
                  <a:txBody>
                    <a:bodyPr/>
                    <a:lstStyle/>
                    <a:p>
                      <a:r>
                        <a:rPr lang="en-US" sz="1050" dirty="0"/>
                        <a:t>0</a:t>
                      </a:r>
                    </a:p>
                  </a:txBody>
                  <a:tcPr/>
                </a:tc>
                <a:tc>
                  <a:txBody>
                    <a:bodyPr/>
                    <a:lstStyle/>
                    <a:p>
                      <a:r>
                        <a:rPr lang="en-US" sz="1050" dirty="0"/>
                        <a:t>0</a:t>
                      </a:r>
                    </a:p>
                  </a:txBody>
                  <a:tcPr/>
                </a:tc>
                <a:tc>
                  <a:txBody>
                    <a:bodyPr/>
                    <a:lstStyle/>
                    <a:p>
                      <a:pPr marL="0" indent="0">
                        <a:buNone/>
                      </a:pPr>
                      <a:r>
                        <a:rPr lang="en-US" sz="1050" dirty="0"/>
                        <a:t>Other Opcodes</a:t>
                      </a:r>
                    </a:p>
                  </a:txBody>
                  <a:tcPr/>
                </a:tc>
                <a:tc>
                  <a:txBody>
                    <a:bodyPr/>
                    <a:lstStyle/>
                    <a:p>
                      <a:r>
                        <a:rPr lang="en-US" sz="1050" dirty="0"/>
                        <a:t>X</a:t>
                      </a:r>
                    </a:p>
                  </a:txBody>
                  <a:tcPr/>
                </a:tc>
                <a:tc>
                  <a:txBody>
                    <a:bodyPr/>
                    <a:lstStyle/>
                    <a:p>
                      <a:r>
                        <a:rPr lang="en-US" sz="1050" dirty="0"/>
                        <a:t>DP</a:t>
                      </a:r>
                    </a:p>
                  </a:txBody>
                  <a:tcPr/>
                </a:tc>
                <a:extLst>
                  <a:ext uri="{0D108BD9-81ED-4DB2-BD59-A6C34878D82A}">
                    <a16:rowId xmlns:a16="http://schemas.microsoft.com/office/drawing/2014/main" val="1854652975"/>
                  </a:ext>
                </a:extLst>
              </a:tr>
            </a:tbl>
          </a:graphicData>
        </a:graphic>
      </p:graphicFrame>
      <p:sp>
        <p:nvSpPr>
          <p:cNvPr id="4" name="TextBox 3">
            <a:extLst>
              <a:ext uri="{FF2B5EF4-FFF2-40B4-BE49-F238E27FC236}">
                <a16:creationId xmlns:a16="http://schemas.microsoft.com/office/drawing/2014/main" id="{D20A8B5C-5DF9-442A-7655-C9F168939242}"/>
              </a:ext>
            </a:extLst>
          </p:cNvPr>
          <p:cNvSpPr txBox="1"/>
          <p:nvPr/>
        </p:nvSpPr>
        <p:spPr>
          <a:xfrm>
            <a:off x="914400" y="1104900"/>
            <a:ext cx="6108700" cy="1200329"/>
          </a:xfrm>
          <a:prstGeom prst="rect">
            <a:avLst/>
          </a:prstGeom>
          <a:noFill/>
        </p:spPr>
        <p:txBody>
          <a:bodyPr wrap="square" rtlCol="0">
            <a:spAutoFit/>
          </a:bodyPr>
          <a:lstStyle/>
          <a:p>
            <a:r>
              <a:rPr lang="en-US" dirty="0" err="1"/>
              <a:t>ARSelect</a:t>
            </a:r>
            <a:r>
              <a:rPr lang="en-US" dirty="0"/>
              <a:t> specifies which AR gets to write to the Address Bus and whether any of them do (it can do this since it only sends output enables; if it doesn’t send an output enable to any hardware entity, then no entity writes to the address bus).</a:t>
            </a:r>
          </a:p>
        </p:txBody>
      </p:sp>
      <p:sp>
        <p:nvSpPr>
          <p:cNvPr id="5" name="TextBox 4">
            <a:extLst>
              <a:ext uri="{FF2B5EF4-FFF2-40B4-BE49-F238E27FC236}">
                <a16:creationId xmlns:a16="http://schemas.microsoft.com/office/drawing/2014/main" id="{0F9FA6CB-ACF5-75E4-A445-2D16B0ED0CD3}"/>
              </a:ext>
            </a:extLst>
          </p:cNvPr>
          <p:cNvSpPr txBox="1"/>
          <p:nvPr/>
        </p:nvSpPr>
        <p:spPr>
          <a:xfrm>
            <a:off x="914400" y="2514600"/>
            <a:ext cx="6108700" cy="1200329"/>
          </a:xfrm>
          <a:prstGeom prst="rect">
            <a:avLst/>
          </a:prstGeom>
          <a:noFill/>
        </p:spPr>
        <p:txBody>
          <a:bodyPr wrap="square" rtlCol="0">
            <a:spAutoFit/>
          </a:bodyPr>
          <a:lstStyle/>
          <a:p>
            <a:r>
              <a:rPr lang="en-US" b="1" dirty="0"/>
              <a:t>Inputs:</a:t>
            </a:r>
            <a:r>
              <a:rPr lang="en-US" dirty="0"/>
              <a:t> SP </a:t>
            </a:r>
            <a:r>
              <a:rPr lang="en-US" dirty="0" err="1"/>
              <a:t>Addr</a:t>
            </a:r>
            <a:r>
              <a:rPr lang="en-US" dirty="0"/>
              <a:t> control signal, </a:t>
            </a:r>
            <a:r>
              <a:rPr lang="en-US" dirty="0" err="1"/>
              <a:t>FetchCycle</a:t>
            </a:r>
            <a:r>
              <a:rPr lang="en-US" dirty="0"/>
              <a:t> (output of fetch state machine), Bus Grant (cause bus to float to allow external entity to write on the Address Bus), other control signals, instruction string operands.</a:t>
            </a:r>
            <a:endParaRPr lang="en-US" b="1" dirty="0"/>
          </a:p>
        </p:txBody>
      </p:sp>
      <p:sp>
        <p:nvSpPr>
          <p:cNvPr id="6" name="TextBox 5">
            <a:extLst>
              <a:ext uri="{FF2B5EF4-FFF2-40B4-BE49-F238E27FC236}">
                <a16:creationId xmlns:a16="http://schemas.microsoft.com/office/drawing/2014/main" id="{BE82AC1B-D159-63C0-7BCA-4EC6E2E572F8}"/>
              </a:ext>
            </a:extLst>
          </p:cNvPr>
          <p:cNvSpPr txBox="1"/>
          <p:nvPr/>
        </p:nvSpPr>
        <p:spPr>
          <a:xfrm>
            <a:off x="4864099" y="594784"/>
            <a:ext cx="6878721" cy="369332"/>
          </a:xfrm>
          <a:prstGeom prst="rect">
            <a:avLst/>
          </a:prstGeom>
          <a:noFill/>
        </p:spPr>
        <p:txBody>
          <a:bodyPr wrap="square" rtlCol="0">
            <a:spAutoFit/>
          </a:bodyPr>
          <a:lstStyle/>
          <a:p>
            <a:r>
              <a:rPr lang="en-US" b="1" dirty="0"/>
              <a:t>Outputs:</a:t>
            </a:r>
            <a:r>
              <a:rPr lang="en-US" dirty="0"/>
              <a:t> {None (Address Bus floats), PC, DP, SP, BP, </a:t>
            </a:r>
            <a:r>
              <a:rPr lang="en-US" dirty="0" err="1"/>
              <a:t>TmpAR</a:t>
            </a:r>
            <a:r>
              <a:rPr lang="en-US" dirty="0"/>
              <a:t>} (3 bits)</a:t>
            </a:r>
            <a:endParaRPr lang="en-US" b="1" dirty="0"/>
          </a:p>
        </p:txBody>
      </p:sp>
    </p:spTree>
    <p:extLst>
      <p:ext uri="{BB962C8B-B14F-4D97-AF65-F5344CB8AC3E}">
        <p14:creationId xmlns:p14="http://schemas.microsoft.com/office/powerpoint/2010/main" val="212346982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29EDD6D-79E7-1F42-CAB9-E009BD1DF8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A31A49-4FEE-DEF5-3140-C57536C311F9}"/>
              </a:ext>
            </a:extLst>
          </p:cNvPr>
          <p:cNvSpPr>
            <a:spLocks noGrp="1"/>
          </p:cNvSpPr>
          <p:nvPr>
            <p:ph type="ctrTitle"/>
          </p:nvPr>
        </p:nvSpPr>
        <p:spPr>
          <a:xfrm>
            <a:off x="914400" y="457200"/>
            <a:ext cx="7206916" cy="457200"/>
          </a:xfrm>
        </p:spPr>
        <p:txBody>
          <a:bodyPr/>
          <a:lstStyle/>
          <a:p>
            <a:r>
              <a:rPr lang="en-US" dirty="0" err="1"/>
              <a:t>ARSelect</a:t>
            </a:r>
            <a:r>
              <a:rPr lang="en-US" dirty="0"/>
              <a:t> LUT</a:t>
            </a:r>
          </a:p>
        </p:txBody>
      </p:sp>
      <p:sp>
        <p:nvSpPr>
          <p:cNvPr id="3" name="TextBox 2">
            <a:extLst>
              <a:ext uri="{FF2B5EF4-FFF2-40B4-BE49-F238E27FC236}">
                <a16:creationId xmlns:a16="http://schemas.microsoft.com/office/drawing/2014/main" id="{EB84103B-5310-48D9-D02D-72A5A504279B}"/>
              </a:ext>
            </a:extLst>
          </p:cNvPr>
          <p:cNvSpPr txBox="1"/>
          <p:nvPr/>
        </p:nvSpPr>
        <p:spPr>
          <a:xfrm>
            <a:off x="914400" y="1058780"/>
            <a:ext cx="5829300" cy="923330"/>
          </a:xfrm>
          <a:prstGeom prst="rect">
            <a:avLst/>
          </a:prstGeom>
          <a:noFill/>
        </p:spPr>
        <p:txBody>
          <a:bodyPr wrap="square" rtlCol="0">
            <a:spAutoFit/>
          </a:bodyPr>
          <a:lstStyle/>
          <a:p>
            <a:r>
              <a:rPr lang="en-US" dirty="0"/>
              <a:t>The </a:t>
            </a:r>
            <a:r>
              <a:rPr lang="en-US" dirty="0" err="1"/>
              <a:t>ARSelect</a:t>
            </a:r>
            <a:r>
              <a:rPr lang="en-US" dirty="0"/>
              <a:t> </a:t>
            </a:r>
            <a:r>
              <a:rPr lang="en-US" dirty="0">
                <a:sym typeface="Wingdings" panose="05000000000000000000" pitchFamily="2" charset="2"/>
              </a:rPr>
              <a:t>combinational logic (explained in previous slide) is implemented as a (8 bit  5 bit) (256 byte) LUT in an EEPROM.</a:t>
            </a:r>
            <a:endParaRPr lang="en-US" dirty="0"/>
          </a:p>
        </p:txBody>
      </p:sp>
      <p:graphicFrame>
        <p:nvGraphicFramePr>
          <p:cNvPr id="9" name="Table 8">
            <a:extLst>
              <a:ext uri="{FF2B5EF4-FFF2-40B4-BE49-F238E27FC236}">
                <a16:creationId xmlns:a16="http://schemas.microsoft.com/office/drawing/2014/main" id="{1D633AF8-FA79-89FA-A4F0-14881D48B23A}"/>
              </a:ext>
            </a:extLst>
          </p:cNvPr>
          <p:cNvGraphicFramePr>
            <a:graphicFrameLocks noGrp="1"/>
          </p:cNvGraphicFramePr>
          <p:nvPr>
            <p:extLst>
              <p:ext uri="{D42A27DB-BD31-4B8C-83A1-F6EECF244321}">
                <p14:modId xmlns:p14="http://schemas.microsoft.com/office/powerpoint/2010/main" val="3844012268"/>
              </p:ext>
            </p:extLst>
          </p:nvPr>
        </p:nvGraphicFramePr>
        <p:xfrm>
          <a:off x="914399" y="1982110"/>
          <a:ext cx="3742442" cy="3327400"/>
        </p:xfrm>
        <a:graphic>
          <a:graphicData uri="http://schemas.openxmlformats.org/drawingml/2006/table">
            <a:tbl>
              <a:tblPr firstRow="1" bandRow="1">
                <a:tableStyleId>{5C22544A-7EE6-4342-B048-85BDC9FD1C3A}</a:tableStyleId>
              </a:tblPr>
              <a:tblGrid>
                <a:gridCol w="1526621">
                  <a:extLst>
                    <a:ext uri="{9D8B030D-6E8A-4147-A177-3AD203B41FA5}">
                      <a16:colId xmlns:a16="http://schemas.microsoft.com/office/drawing/2014/main" val="2482476324"/>
                    </a:ext>
                  </a:extLst>
                </a:gridCol>
                <a:gridCol w="2215821">
                  <a:extLst>
                    <a:ext uri="{9D8B030D-6E8A-4147-A177-3AD203B41FA5}">
                      <a16:colId xmlns:a16="http://schemas.microsoft.com/office/drawing/2014/main" val="777123861"/>
                    </a:ext>
                  </a:extLst>
                </a:gridCol>
              </a:tblGrid>
              <a:tr h="0">
                <a:tc>
                  <a:txBody>
                    <a:bodyPr/>
                    <a:lstStyle/>
                    <a:p>
                      <a:r>
                        <a:rPr lang="en-US" sz="1200" dirty="0"/>
                        <a:t>EEPROM Address Bit</a:t>
                      </a:r>
                    </a:p>
                  </a:txBody>
                  <a:tcPr/>
                </a:tc>
                <a:tc>
                  <a:txBody>
                    <a:bodyPr/>
                    <a:lstStyle/>
                    <a:p>
                      <a:r>
                        <a:rPr lang="en-US" sz="1200" dirty="0"/>
                        <a:t>Input</a:t>
                      </a:r>
                    </a:p>
                  </a:txBody>
                  <a:tcPr/>
                </a:tc>
                <a:extLst>
                  <a:ext uri="{0D108BD9-81ED-4DB2-BD59-A6C34878D82A}">
                    <a16:rowId xmlns:a16="http://schemas.microsoft.com/office/drawing/2014/main" val="3916399277"/>
                  </a:ext>
                </a:extLst>
              </a:tr>
              <a:tr h="370840">
                <a:tc>
                  <a:txBody>
                    <a:bodyPr/>
                    <a:lstStyle/>
                    <a:p>
                      <a:r>
                        <a:rPr lang="en-US" sz="1200" dirty="0"/>
                        <a:t>7</a:t>
                      </a:r>
                    </a:p>
                  </a:txBody>
                  <a:tcPr/>
                </a:tc>
                <a:tc>
                  <a:txBody>
                    <a:bodyPr/>
                    <a:lstStyle/>
                    <a:p>
                      <a:r>
                        <a:rPr lang="en-US" sz="1200" dirty="0"/>
                        <a:t>Bus Grant</a:t>
                      </a:r>
                    </a:p>
                  </a:txBody>
                  <a:tcPr/>
                </a:tc>
                <a:extLst>
                  <a:ext uri="{0D108BD9-81ED-4DB2-BD59-A6C34878D82A}">
                    <a16:rowId xmlns:a16="http://schemas.microsoft.com/office/drawing/2014/main" val="4162940809"/>
                  </a:ext>
                </a:extLst>
              </a:tr>
              <a:tr h="370840">
                <a:tc>
                  <a:txBody>
                    <a:bodyPr/>
                    <a:lstStyle/>
                    <a:p>
                      <a:r>
                        <a:rPr lang="en-US" sz="1200" dirty="0"/>
                        <a:t>6</a:t>
                      </a:r>
                    </a:p>
                  </a:txBody>
                  <a:tcPr/>
                </a:tc>
                <a:tc>
                  <a:txBody>
                    <a:bodyPr/>
                    <a:lstStyle/>
                    <a:p>
                      <a:r>
                        <a:rPr lang="en-US" sz="1200" i="0" dirty="0" err="1"/>
                        <a:t>FetchCycle</a:t>
                      </a:r>
                      <a:endParaRPr lang="en-US" sz="1200" i="0" dirty="0"/>
                    </a:p>
                  </a:txBody>
                  <a:tcPr/>
                </a:tc>
                <a:extLst>
                  <a:ext uri="{0D108BD9-81ED-4DB2-BD59-A6C34878D82A}">
                    <a16:rowId xmlns:a16="http://schemas.microsoft.com/office/drawing/2014/main" val="38975368"/>
                  </a:ext>
                </a:extLst>
              </a:tr>
              <a:tr h="370840">
                <a:tc>
                  <a:txBody>
                    <a:bodyPr/>
                    <a:lstStyle/>
                    <a:p>
                      <a:r>
                        <a:rPr lang="en-US" sz="1200" dirty="0"/>
                        <a:t>5</a:t>
                      </a:r>
                    </a:p>
                  </a:txBody>
                  <a:tcPr/>
                </a:tc>
                <a:tc>
                  <a:txBody>
                    <a:bodyPr/>
                    <a:lstStyle/>
                    <a:p>
                      <a:r>
                        <a:rPr lang="en-US" sz="1200" i="1" dirty="0"/>
                        <a:t>PC Out</a:t>
                      </a:r>
                      <a:r>
                        <a:rPr lang="en-US" sz="1200" i="0" dirty="0"/>
                        <a:t> (control signal)</a:t>
                      </a:r>
                      <a:endParaRPr lang="en-US" sz="1200" i="1" dirty="0"/>
                    </a:p>
                  </a:txBody>
                  <a:tcPr/>
                </a:tc>
                <a:extLst>
                  <a:ext uri="{0D108BD9-81ED-4DB2-BD59-A6C34878D82A}">
                    <a16:rowId xmlns:a16="http://schemas.microsoft.com/office/drawing/2014/main" val="1263556232"/>
                  </a:ext>
                </a:extLst>
              </a:tr>
              <a:tr h="370840">
                <a:tc>
                  <a:txBody>
                    <a:bodyPr/>
                    <a:lstStyle/>
                    <a:p>
                      <a:r>
                        <a:rPr lang="en-US" sz="1200" dirty="0"/>
                        <a:t>4</a:t>
                      </a:r>
                    </a:p>
                  </a:txBody>
                  <a:tcPr/>
                </a:tc>
                <a:tc>
                  <a:txBody>
                    <a:bodyPr/>
                    <a:lstStyle/>
                    <a:p>
                      <a:r>
                        <a:rPr lang="en-US" sz="1200" i="1" dirty="0"/>
                        <a:t>SP Out</a:t>
                      </a:r>
                      <a:r>
                        <a:rPr lang="en-US" sz="1200" i="0" dirty="0"/>
                        <a:t> (control signal)</a:t>
                      </a:r>
                      <a:endParaRPr lang="en-US" sz="1200" i="1" dirty="0"/>
                    </a:p>
                  </a:txBody>
                  <a:tcPr/>
                </a:tc>
                <a:extLst>
                  <a:ext uri="{0D108BD9-81ED-4DB2-BD59-A6C34878D82A}">
                    <a16:rowId xmlns:a16="http://schemas.microsoft.com/office/drawing/2014/main" val="3876244510"/>
                  </a:ext>
                </a:extLst>
              </a:tr>
              <a:tr h="370840">
                <a:tc>
                  <a:txBody>
                    <a:bodyPr/>
                    <a:lstStyle/>
                    <a:p>
                      <a:r>
                        <a:rPr lang="en-US" sz="1200" dirty="0"/>
                        <a:t>3</a:t>
                      </a:r>
                    </a:p>
                  </a:txBody>
                  <a:tcPr/>
                </a:tc>
                <a:tc>
                  <a:txBody>
                    <a:bodyPr/>
                    <a:lstStyle/>
                    <a:p>
                      <a:r>
                        <a:rPr lang="en-US" sz="1200" i="1" dirty="0" err="1"/>
                        <a:t>TmpARWrite</a:t>
                      </a:r>
                      <a:r>
                        <a:rPr lang="en-US" sz="1200" i="0" dirty="0"/>
                        <a:t> (control signal)</a:t>
                      </a:r>
                      <a:endParaRPr lang="en-US" sz="1200" i="1" dirty="0"/>
                    </a:p>
                  </a:txBody>
                  <a:tcPr/>
                </a:tc>
                <a:extLst>
                  <a:ext uri="{0D108BD9-81ED-4DB2-BD59-A6C34878D82A}">
                    <a16:rowId xmlns:a16="http://schemas.microsoft.com/office/drawing/2014/main" val="34840973"/>
                  </a:ext>
                </a:extLst>
              </a:tr>
              <a:tr h="370840">
                <a:tc>
                  <a:txBody>
                    <a:bodyPr/>
                    <a:lstStyle/>
                    <a:p>
                      <a:r>
                        <a:rPr lang="en-US" sz="1200" dirty="0"/>
                        <a:t>2</a:t>
                      </a:r>
                    </a:p>
                  </a:txBody>
                  <a:tcPr/>
                </a:tc>
                <a:tc>
                  <a:txBody>
                    <a:bodyPr/>
                    <a:lstStyle/>
                    <a:p>
                      <a:r>
                        <a:rPr lang="en-US" sz="1200" dirty="0"/>
                        <a:t>OPCODE_MAG_LDW_SDW_MAA (</a:t>
                      </a:r>
                      <a:r>
                        <a:rPr lang="en-US" sz="1200" b="1" dirty="0"/>
                        <a:t>ACTIVE LOW</a:t>
                      </a:r>
                      <a:r>
                        <a:rPr lang="en-US" sz="1200" b="0" dirty="0"/>
                        <a:t>)</a:t>
                      </a:r>
                      <a:endParaRPr lang="en-US" sz="1200" dirty="0"/>
                    </a:p>
                  </a:txBody>
                  <a:tcPr/>
                </a:tc>
                <a:extLst>
                  <a:ext uri="{0D108BD9-81ED-4DB2-BD59-A6C34878D82A}">
                    <a16:rowId xmlns:a16="http://schemas.microsoft.com/office/drawing/2014/main" val="3812691075"/>
                  </a:ext>
                </a:extLst>
              </a:tr>
              <a:tr h="370840">
                <a:tc>
                  <a:txBody>
                    <a:bodyPr/>
                    <a:lstStyle/>
                    <a:p>
                      <a:r>
                        <a:rPr lang="en-US" sz="1200" dirty="0"/>
                        <a:t>1</a:t>
                      </a:r>
                    </a:p>
                  </a:txBody>
                  <a:tcPr/>
                </a:tc>
                <a:tc>
                  <a:txBody>
                    <a:bodyPr/>
                    <a:lstStyle/>
                    <a:p>
                      <a:r>
                        <a:rPr lang="en-US" sz="1200" dirty="0" err="1"/>
                        <a:t>ARSrc</a:t>
                      </a:r>
                      <a:r>
                        <a:rPr lang="en-US" sz="1200" dirty="0"/>
                        <a:t>[1] instruction operand</a:t>
                      </a:r>
                    </a:p>
                  </a:txBody>
                  <a:tcPr/>
                </a:tc>
                <a:extLst>
                  <a:ext uri="{0D108BD9-81ED-4DB2-BD59-A6C34878D82A}">
                    <a16:rowId xmlns:a16="http://schemas.microsoft.com/office/drawing/2014/main" val="523843"/>
                  </a:ext>
                </a:extLst>
              </a:tr>
              <a:tr h="370840">
                <a:tc>
                  <a:txBody>
                    <a:bodyPr/>
                    <a:lstStyle/>
                    <a:p>
                      <a:r>
                        <a:rPr lang="en-US" sz="1200" dirty="0"/>
                        <a:t>0</a:t>
                      </a:r>
                    </a:p>
                  </a:txBody>
                  <a:tcPr/>
                </a:tc>
                <a:tc>
                  <a:txBody>
                    <a:bodyPr/>
                    <a:lstStyle/>
                    <a:p>
                      <a:r>
                        <a:rPr lang="en-US" sz="1200" dirty="0" err="1"/>
                        <a:t>ARSrc</a:t>
                      </a:r>
                      <a:r>
                        <a:rPr lang="en-US" sz="1200" dirty="0"/>
                        <a:t>[0] instruction operand</a:t>
                      </a:r>
                    </a:p>
                  </a:txBody>
                  <a:tcPr/>
                </a:tc>
                <a:extLst>
                  <a:ext uri="{0D108BD9-81ED-4DB2-BD59-A6C34878D82A}">
                    <a16:rowId xmlns:a16="http://schemas.microsoft.com/office/drawing/2014/main" val="2010627648"/>
                  </a:ext>
                </a:extLst>
              </a:tr>
            </a:tbl>
          </a:graphicData>
        </a:graphic>
      </p:graphicFrame>
      <p:graphicFrame>
        <p:nvGraphicFramePr>
          <p:cNvPr id="10" name="Table 9">
            <a:extLst>
              <a:ext uri="{FF2B5EF4-FFF2-40B4-BE49-F238E27FC236}">
                <a16:creationId xmlns:a16="http://schemas.microsoft.com/office/drawing/2014/main" id="{1E4DA595-EEA9-2434-5D2E-9DCD8E74B5F4}"/>
              </a:ext>
            </a:extLst>
          </p:cNvPr>
          <p:cNvGraphicFramePr>
            <a:graphicFrameLocks noGrp="1"/>
          </p:cNvGraphicFramePr>
          <p:nvPr>
            <p:extLst>
              <p:ext uri="{D42A27DB-BD31-4B8C-83A1-F6EECF244321}">
                <p14:modId xmlns:p14="http://schemas.microsoft.com/office/powerpoint/2010/main" val="2207056103"/>
              </p:ext>
            </p:extLst>
          </p:nvPr>
        </p:nvGraphicFramePr>
        <p:xfrm>
          <a:off x="4778542" y="1982111"/>
          <a:ext cx="4205202" cy="3340830"/>
        </p:xfrm>
        <a:graphic>
          <a:graphicData uri="http://schemas.openxmlformats.org/drawingml/2006/table">
            <a:tbl>
              <a:tblPr firstRow="1" bandRow="1">
                <a:tableStyleId>{5C22544A-7EE6-4342-B048-85BDC9FD1C3A}</a:tableStyleId>
              </a:tblPr>
              <a:tblGrid>
                <a:gridCol w="1715389">
                  <a:extLst>
                    <a:ext uri="{9D8B030D-6E8A-4147-A177-3AD203B41FA5}">
                      <a16:colId xmlns:a16="http://schemas.microsoft.com/office/drawing/2014/main" val="2482476324"/>
                    </a:ext>
                  </a:extLst>
                </a:gridCol>
                <a:gridCol w="2489813">
                  <a:extLst>
                    <a:ext uri="{9D8B030D-6E8A-4147-A177-3AD203B41FA5}">
                      <a16:colId xmlns:a16="http://schemas.microsoft.com/office/drawing/2014/main" val="777123861"/>
                    </a:ext>
                  </a:extLst>
                </a:gridCol>
              </a:tblGrid>
              <a:tr h="443766">
                <a:tc>
                  <a:txBody>
                    <a:bodyPr/>
                    <a:lstStyle/>
                    <a:p>
                      <a:r>
                        <a:rPr lang="en-US" sz="1200" dirty="0"/>
                        <a:t>EEPROM Data Output Bit</a:t>
                      </a:r>
                    </a:p>
                  </a:txBody>
                  <a:tcPr/>
                </a:tc>
                <a:tc>
                  <a:txBody>
                    <a:bodyPr/>
                    <a:lstStyle/>
                    <a:p>
                      <a:r>
                        <a:rPr lang="en-US" sz="1200" dirty="0"/>
                        <a:t>Output</a:t>
                      </a:r>
                    </a:p>
                  </a:txBody>
                  <a:tcPr/>
                </a:tc>
                <a:extLst>
                  <a:ext uri="{0D108BD9-81ED-4DB2-BD59-A6C34878D82A}">
                    <a16:rowId xmlns:a16="http://schemas.microsoft.com/office/drawing/2014/main" val="3916399277"/>
                  </a:ext>
                </a:extLst>
              </a:tr>
              <a:tr h="349136">
                <a:tc>
                  <a:txBody>
                    <a:bodyPr/>
                    <a:lstStyle/>
                    <a:p>
                      <a:r>
                        <a:rPr lang="en-US" sz="1200" dirty="0"/>
                        <a:t>7</a:t>
                      </a:r>
                    </a:p>
                  </a:txBody>
                  <a:tcPr/>
                </a:tc>
                <a:tc>
                  <a:txBody>
                    <a:bodyPr/>
                    <a:lstStyle/>
                    <a:p>
                      <a:r>
                        <a:rPr lang="en-US" sz="1200" dirty="0"/>
                        <a:t>1 (unused)</a:t>
                      </a:r>
                    </a:p>
                  </a:txBody>
                  <a:tcPr/>
                </a:tc>
                <a:extLst>
                  <a:ext uri="{0D108BD9-81ED-4DB2-BD59-A6C34878D82A}">
                    <a16:rowId xmlns:a16="http://schemas.microsoft.com/office/drawing/2014/main" val="4162940809"/>
                  </a:ext>
                </a:extLst>
              </a:tr>
              <a:tr h="349136">
                <a:tc>
                  <a:txBody>
                    <a:bodyPr/>
                    <a:lstStyle/>
                    <a:p>
                      <a:r>
                        <a:rPr lang="en-US" sz="1200" dirty="0"/>
                        <a:t>6</a:t>
                      </a:r>
                    </a:p>
                  </a:txBody>
                  <a:tcPr/>
                </a:tc>
                <a:tc>
                  <a:txBody>
                    <a:bodyPr/>
                    <a:lstStyle/>
                    <a:p>
                      <a:r>
                        <a:rPr lang="en-US" sz="1200" i="0" dirty="0"/>
                        <a:t>1 (unused)</a:t>
                      </a:r>
                    </a:p>
                  </a:txBody>
                  <a:tcPr/>
                </a:tc>
                <a:extLst>
                  <a:ext uri="{0D108BD9-81ED-4DB2-BD59-A6C34878D82A}">
                    <a16:rowId xmlns:a16="http://schemas.microsoft.com/office/drawing/2014/main" val="38975368"/>
                  </a:ext>
                </a:extLst>
              </a:tr>
              <a:tr h="349136">
                <a:tc>
                  <a:txBody>
                    <a:bodyPr/>
                    <a:lstStyle/>
                    <a:p>
                      <a:r>
                        <a:rPr lang="en-US" sz="1200" dirty="0"/>
                        <a:t>5</a:t>
                      </a:r>
                    </a:p>
                  </a:txBody>
                  <a:tcPr/>
                </a:tc>
                <a:tc>
                  <a:txBody>
                    <a:bodyPr/>
                    <a:lstStyle/>
                    <a:p>
                      <a:r>
                        <a:rPr lang="en-US" sz="1200" i="0" dirty="0"/>
                        <a:t>1 (unused)</a:t>
                      </a:r>
                    </a:p>
                  </a:txBody>
                  <a:tcPr/>
                </a:tc>
                <a:extLst>
                  <a:ext uri="{0D108BD9-81ED-4DB2-BD59-A6C34878D82A}">
                    <a16:rowId xmlns:a16="http://schemas.microsoft.com/office/drawing/2014/main" val="1263556232"/>
                  </a:ext>
                </a:extLst>
              </a:tr>
              <a:tr h="349136">
                <a:tc>
                  <a:txBody>
                    <a:bodyPr/>
                    <a:lstStyle/>
                    <a:p>
                      <a:r>
                        <a:rPr lang="en-US" sz="1200" dirty="0"/>
                        <a:t>4</a:t>
                      </a:r>
                    </a:p>
                  </a:txBody>
                  <a:tcPr/>
                </a:tc>
                <a:tc>
                  <a:txBody>
                    <a:bodyPr/>
                    <a:lstStyle/>
                    <a:p>
                      <a:r>
                        <a:rPr lang="en-US" sz="1200" i="0" dirty="0" err="1"/>
                        <a:t>TmpAR</a:t>
                      </a:r>
                      <a:r>
                        <a:rPr lang="en-US" sz="1200" i="0" dirty="0"/>
                        <a:t> Output Enable (</a:t>
                      </a:r>
                      <a:r>
                        <a:rPr lang="en-US" sz="1200" b="1" i="0" dirty="0"/>
                        <a:t>ACTIVE LOW</a:t>
                      </a:r>
                      <a:r>
                        <a:rPr lang="en-US" sz="1200" b="0" i="0" dirty="0"/>
                        <a:t>)</a:t>
                      </a:r>
                      <a:endParaRPr lang="en-US" sz="1200" i="0" dirty="0"/>
                    </a:p>
                  </a:txBody>
                  <a:tcPr/>
                </a:tc>
                <a:extLst>
                  <a:ext uri="{0D108BD9-81ED-4DB2-BD59-A6C34878D82A}">
                    <a16:rowId xmlns:a16="http://schemas.microsoft.com/office/drawing/2014/main" val="3876244510"/>
                  </a:ext>
                </a:extLst>
              </a:tr>
              <a:tr h="349136">
                <a:tc>
                  <a:txBody>
                    <a:bodyPr/>
                    <a:lstStyle/>
                    <a:p>
                      <a:r>
                        <a:rPr lang="en-US" sz="1200" dirty="0"/>
                        <a:t>3</a:t>
                      </a:r>
                    </a:p>
                  </a:txBody>
                  <a:tcPr/>
                </a:tc>
                <a:tc>
                  <a:txBody>
                    <a:bodyPr/>
                    <a:lstStyle/>
                    <a:p>
                      <a:r>
                        <a:rPr lang="en-US" sz="1200" i="0" dirty="0"/>
                        <a:t>BP Output Enable (</a:t>
                      </a:r>
                      <a:r>
                        <a:rPr lang="en-US" sz="1200" b="1" i="0" dirty="0"/>
                        <a:t>ACTIVE LOW</a:t>
                      </a:r>
                      <a:r>
                        <a:rPr lang="en-US" sz="1200" b="0" i="0" dirty="0"/>
                        <a:t>)</a:t>
                      </a:r>
                      <a:endParaRPr lang="en-US" sz="1200" i="0" dirty="0"/>
                    </a:p>
                  </a:txBody>
                  <a:tcPr/>
                </a:tc>
                <a:extLst>
                  <a:ext uri="{0D108BD9-81ED-4DB2-BD59-A6C34878D82A}">
                    <a16:rowId xmlns:a16="http://schemas.microsoft.com/office/drawing/2014/main" val="34840973"/>
                  </a:ext>
                </a:extLst>
              </a:tr>
              <a:tr h="349136">
                <a:tc>
                  <a:txBody>
                    <a:bodyPr/>
                    <a:lstStyle/>
                    <a:p>
                      <a:r>
                        <a:rPr lang="en-US" sz="1200" dirty="0"/>
                        <a:t>2</a:t>
                      </a:r>
                    </a:p>
                  </a:txBody>
                  <a:tcPr/>
                </a:tc>
                <a:tc>
                  <a:txBody>
                    <a:bodyPr/>
                    <a:lstStyle/>
                    <a:p>
                      <a:r>
                        <a:rPr lang="en-US" sz="1200" dirty="0"/>
                        <a:t>SP Output Enable </a:t>
                      </a:r>
                      <a:r>
                        <a:rPr lang="en-US" sz="1200" i="0" dirty="0"/>
                        <a:t>(</a:t>
                      </a:r>
                      <a:r>
                        <a:rPr lang="en-US" sz="1200" b="1" i="0" dirty="0"/>
                        <a:t>ACTIVE LOW</a:t>
                      </a:r>
                      <a:r>
                        <a:rPr lang="en-US" sz="1200" b="0" i="0" dirty="0"/>
                        <a:t>)</a:t>
                      </a:r>
                      <a:endParaRPr lang="en-US" sz="1200" dirty="0"/>
                    </a:p>
                  </a:txBody>
                  <a:tcPr/>
                </a:tc>
                <a:extLst>
                  <a:ext uri="{0D108BD9-81ED-4DB2-BD59-A6C34878D82A}">
                    <a16:rowId xmlns:a16="http://schemas.microsoft.com/office/drawing/2014/main" val="3812691075"/>
                  </a:ext>
                </a:extLst>
              </a:tr>
              <a:tr h="349136">
                <a:tc>
                  <a:txBody>
                    <a:bodyPr/>
                    <a:lstStyle/>
                    <a:p>
                      <a:r>
                        <a:rPr lang="en-US" sz="1200" dirty="0"/>
                        <a:t>1</a:t>
                      </a:r>
                    </a:p>
                  </a:txBody>
                  <a:tcPr/>
                </a:tc>
                <a:tc>
                  <a:txBody>
                    <a:bodyPr/>
                    <a:lstStyle/>
                    <a:p>
                      <a:r>
                        <a:rPr lang="en-US" sz="1200" dirty="0"/>
                        <a:t>DP Output Enable </a:t>
                      </a:r>
                      <a:r>
                        <a:rPr lang="en-US" sz="1200" i="0" dirty="0"/>
                        <a:t>(</a:t>
                      </a:r>
                      <a:r>
                        <a:rPr lang="en-US" sz="1200" b="1" i="0" dirty="0"/>
                        <a:t>ACTIVE LOW</a:t>
                      </a:r>
                      <a:r>
                        <a:rPr lang="en-US" sz="1200" b="0" i="0" dirty="0"/>
                        <a:t>)</a:t>
                      </a:r>
                      <a:endParaRPr lang="en-US" sz="1200" dirty="0"/>
                    </a:p>
                  </a:txBody>
                  <a:tcPr/>
                </a:tc>
                <a:extLst>
                  <a:ext uri="{0D108BD9-81ED-4DB2-BD59-A6C34878D82A}">
                    <a16:rowId xmlns:a16="http://schemas.microsoft.com/office/drawing/2014/main" val="523843"/>
                  </a:ext>
                </a:extLst>
              </a:tr>
              <a:tr h="439678">
                <a:tc>
                  <a:txBody>
                    <a:bodyPr/>
                    <a:lstStyle/>
                    <a:p>
                      <a:r>
                        <a:rPr lang="en-US" sz="1200" dirty="0"/>
                        <a:t>0</a:t>
                      </a:r>
                    </a:p>
                  </a:txBody>
                  <a:tcPr/>
                </a:tc>
                <a:tc>
                  <a:txBody>
                    <a:bodyPr/>
                    <a:lstStyle/>
                    <a:p>
                      <a:r>
                        <a:rPr lang="en-US" sz="1200" dirty="0"/>
                        <a:t>PC Output Enable </a:t>
                      </a:r>
                      <a:r>
                        <a:rPr lang="en-US" sz="1200" i="0" dirty="0"/>
                        <a:t>(</a:t>
                      </a:r>
                      <a:r>
                        <a:rPr lang="en-US" sz="1200" b="1" i="0" dirty="0"/>
                        <a:t>ACTIVE LOW</a:t>
                      </a:r>
                      <a:r>
                        <a:rPr lang="en-US" sz="1200" b="0" i="0" dirty="0"/>
                        <a:t>)</a:t>
                      </a:r>
                      <a:endParaRPr lang="en-US" sz="1200" dirty="0"/>
                    </a:p>
                  </a:txBody>
                  <a:tcPr/>
                </a:tc>
                <a:extLst>
                  <a:ext uri="{0D108BD9-81ED-4DB2-BD59-A6C34878D82A}">
                    <a16:rowId xmlns:a16="http://schemas.microsoft.com/office/drawing/2014/main" val="2010627648"/>
                  </a:ext>
                </a:extLst>
              </a:tr>
            </a:tbl>
          </a:graphicData>
        </a:graphic>
      </p:graphicFrame>
    </p:spTree>
    <p:extLst>
      <p:ext uri="{BB962C8B-B14F-4D97-AF65-F5344CB8AC3E}">
        <p14:creationId xmlns:p14="http://schemas.microsoft.com/office/powerpoint/2010/main" val="154859730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94B3B-65E4-532C-21A5-B09A5A82A33F}"/>
              </a:ext>
            </a:extLst>
          </p:cNvPr>
          <p:cNvSpPr>
            <a:spLocks noGrp="1"/>
          </p:cNvSpPr>
          <p:nvPr>
            <p:ph type="ctrTitle"/>
          </p:nvPr>
        </p:nvSpPr>
        <p:spPr/>
        <p:txBody>
          <a:bodyPr/>
          <a:lstStyle/>
          <a:p>
            <a:r>
              <a:rPr lang="en-US" dirty="0" err="1"/>
              <a:t>AddressByteSelect</a:t>
            </a:r>
            <a:endParaRPr lang="en-US" dirty="0"/>
          </a:p>
        </p:txBody>
      </p:sp>
      <p:sp>
        <p:nvSpPr>
          <p:cNvPr id="3" name="TextBox 2">
            <a:extLst>
              <a:ext uri="{FF2B5EF4-FFF2-40B4-BE49-F238E27FC236}">
                <a16:creationId xmlns:a16="http://schemas.microsoft.com/office/drawing/2014/main" id="{BA1613DB-20B1-7A29-FE44-A7C57BE754EF}"/>
              </a:ext>
            </a:extLst>
          </p:cNvPr>
          <p:cNvSpPr txBox="1"/>
          <p:nvPr/>
        </p:nvSpPr>
        <p:spPr>
          <a:xfrm>
            <a:off x="914400" y="1058780"/>
            <a:ext cx="5829300" cy="1200329"/>
          </a:xfrm>
          <a:prstGeom prst="rect">
            <a:avLst/>
          </a:prstGeom>
          <a:noFill/>
        </p:spPr>
        <p:txBody>
          <a:bodyPr wrap="square" rtlCol="0">
            <a:spAutoFit/>
          </a:bodyPr>
          <a:lstStyle/>
          <a:p>
            <a:r>
              <a:rPr lang="en-US" dirty="0" err="1"/>
              <a:t>AddressByteSelect</a:t>
            </a:r>
            <a:r>
              <a:rPr lang="en-US" dirty="0"/>
              <a:t> selects whether the high (H) or low (L) byte of the Address Bus should be written to the Data Bus (which will be written to the Data Bus if the </a:t>
            </a:r>
            <a:r>
              <a:rPr lang="en-US" dirty="0" err="1"/>
              <a:t>AddressBusToDataBus</a:t>
            </a:r>
            <a:r>
              <a:rPr lang="en-US" dirty="0"/>
              <a:t> control signal is high).</a:t>
            </a:r>
          </a:p>
        </p:txBody>
      </p:sp>
      <p:sp>
        <p:nvSpPr>
          <p:cNvPr id="4" name="TextBox 3">
            <a:extLst>
              <a:ext uri="{FF2B5EF4-FFF2-40B4-BE49-F238E27FC236}">
                <a16:creationId xmlns:a16="http://schemas.microsoft.com/office/drawing/2014/main" id="{F7C7E303-D8B3-F375-908E-11BC09E018C7}"/>
              </a:ext>
            </a:extLst>
          </p:cNvPr>
          <p:cNvSpPr txBox="1"/>
          <p:nvPr/>
        </p:nvSpPr>
        <p:spPr>
          <a:xfrm>
            <a:off x="914400" y="2259109"/>
            <a:ext cx="6108700" cy="646331"/>
          </a:xfrm>
          <a:prstGeom prst="rect">
            <a:avLst/>
          </a:prstGeom>
          <a:noFill/>
        </p:spPr>
        <p:txBody>
          <a:bodyPr wrap="square" rtlCol="0">
            <a:spAutoFit/>
          </a:bodyPr>
          <a:lstStyle/>
          <a:p>
            <a:r>
              <a:rPr lang="en-US" b="1" dirty="0"/>
              <a:t>Inputs: </a:t>
            </a:r>
            <a:r>
              <a:rPr lang="en-US" dirty="0"/>
              <a:t>L/H instruction operand (1 bit), </a:t>
            </a:r>
            <a:r>
              <a:rPr lang="en-US" dirty="0" err="1"/>
              <a:t>AddressHorL</a:t>
            </a:r>
            <a:r>
              <a:rPr lang="en-US" dirty="0"/>
              <a:t> control signal, Opcode</a:t>
            </a:r>
            <a:endParaRPr lang="en-US" b="1" dirty="0"/>
          </a:p>
        </p:txBody>
      </p:sp>
      <p:sp>
        <p:nvSpPr>
          <p:cNvPr id="5" name="TextBox 4">
            <a:extLst>
              <a:ext uri="{FF2B5EF4-FFF2-40B4-BE49-F238E27FC236}">
                <a16:creationId xmlns:a16="http://schemas.microsoft.com/office/drawing/2014/main" id="{1D083AFE-5B14-85E0-A2D5-568F271C7A2A}"/>
              </a:ext>
            </a:extLst>
          </p:cNvPr>
          <p:cNvSpPr txBox="1"/>
          <p:nvPr/>
        </p:nvSpPr>
        <p:spPr>
          <a:xfrm>
            <a:off x="914400" y="2905440"/>
            <a:ext cx="6108700" cy="369332"/>
          </a:xfrm>
          <a:prstGeom prst="rect">
            <a:avLst/>
          </a:prstGeom>
          <a:noFill/>
        </p:spPr>
        <p:txBody>
          <a:bodyPr wrap="square" rtlCol="0">
            <a:spAutoFit/>
          </a:bodyPr>
          <a:lstStyle/>
          <a:p>
            <a:r>
              <a:rPr lang="en-US" b="1" dirty="0"/>
              <a:t>Output:</a:t>
            </a:r>
            <a:r>
              <a:rPr lang="en-US" dirty="0"/>
              <a:t> {Low, High} (1 bit)</a:t>
            </a:r>
            <a:endParaRPr lang="en-US" b="1" dirty="0"/>
          </a:p>
        </p:txBody>
      </p:sp>
      <p:graphicFrame>
        <p:nvGraphicFramePr>
          <p:cNvPr id="6" name="Table 5">
            <a:extLst>
              <a:ext uri="{FF2B5EF4-FFF2-40B4-BE49-F238E27FC236}">
                <a16:creationId xmlns:a16="http://schemas.microsoft.com/office/drawing/2014/main" id="{95745D06-06C7-7C78-C3A0-C9D8DA993FE2}"/>
              </a:ext>
            </a:extLst>
          </p:cNvPr>
          <p:cNvGraphicFramePr>
            <a:graphicFrameLocks noGrp="1"/>
          </p:cNvGraphicFramePr>
          <p:nvPr>
            <p:extLst>
              <p:ext uri="{D42A27DB-BD31-4B8C-83A1-F6EECF244321}">
                <p14:modId xmlns:p14="http://schemas.microsoft.com/office/powerpoint/2010/main" val="1646773551"/>
              </p:ext>
            </p:extLst>
          </p:nvPr>
        </p:nvGraphicFramePr>
        <p:xfrm>
          <a:off x="914400" y="3429000"/>
          <a:ext cx="8128000" cy="13817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676049159"/>
                    </a:ext>
                  </a:extLst>
                </a:gridCol>
                <a:gridCol w="2032000">
                  <a:extLst>
                    <a:ext uri="{9D8B030D-6E8A-4147-A177-3AD203B41FA5}">
                      <a16:colId xmlns:a16="http://schemas.microsoft.com/office/drawing/2014/main" val="421092125"/>
                    </a:ext>
                  </a:extLst>
                </a:gridCol>
                <a:gridCol w="2032000">
                  <a:extLst>
                    <a:ext uri="{9D8B030D-6E8A-4147-A177-3AD203B41FA5}">
                      <a16:colId xmlns:a16="http://schemas.microsoft.com/office/drawing/2014/main" val="2618833170"/>
                    </a:ext>
                  </a:extLst>
                </a:gridCol>
                <a:gridCol w="2032000">
                  <a:extLst>
                    <a:ext uri="{9D8B030D-6E8A-4147-A177-3AD203B41FA5}">
                      <a16:colId xmlns:a16="http://schemas.microsoft.com/office/drawing/2014/main" val="3271762397"/>
                    </a:ext>
                  </a:extLst>
                </a:gridCol>
              </a:tblGrid>
              <a:tr h="370840">
                <a:tc>
                  <a:txBody>
                    <a:bodyPr/>
                    <a:lstStyle/>
                    <a:p>
                      <a:r>
                        <a:rPr lang="en-US" dirty="0"/>
                        <a:t>Opcode</a:t>
                      </a:r>
                    </a:p>
                  </a:txBody>
                  <a:tcPr/>
                </a:tc>
                <a:tc>
                  <a:txBody>
                    <a:bodyPr/>
                    <a:lstStyle/>
                    <a:p>
                      <a:r>
                        <a:rPr lang="en-US" dirty="0" err="1"/>
                        <a:t>AddressHorL</a:t>
                      </a:r>
                      <a:r>
                        <a:rPr lang="en-US" dirty="0"/>
                        <a:t> control signal</a:t>
                      </a:r>
                    </a:p>
                  </a:txBody>
                  <a:tcPr/>
                </a:tc>
                <a:tc>
                  <a:txBody>
                    <a:bodyPr/>
                    <a:lstStyle/>
                    <a:p>
                      <a:r>
                        <a:rPr lang="en-US" dirty="0"/>
                        <a:t>L/H instruction operand</a:t>
                      </a:r>
                    </a:p>
                  </a:txBody>
                  <a:tcPr/>
                </a:tc>
                <a:tc>
                  <a:txBody>
                    <a:bodyPr/>
                    <a:lstStyle/>
                    <a:p>
                      <a:r>
                        <a:rPr lang="en-US" dirty="0"/>
                        <a:t>Output</a:t>
                      </a:r>
                    </a:p>
                  </a:txBody>
                  <a:tcPr/>
                </a:tc>
                <a:extLst>
                  <a:ext uri="{0D108BD9-81ED-4DB2-BD59-A6C34878D82A}">
                    <a16:rowId xmlns:a16="http://schemas.microsoft.com/office/drawing/2014/main" val="942364548"/>
                  </a:ext>
                </a:extLst>
              </a:tr>
              <a:tr h="370840">
                <a:tc>
                  <a:txBody>
                    <a:bodyPr/>
                    <a:lstStyle/>
                    <a:p>
                      <a:r>
                        <a:rPr lang="en-US" dirty="0"/>
                        <a:t>MAA or JSR</a:t>
                      </a:r>
                    </a:p>
                  </a:txBody>
                  <a:tcPr/>
                </a:tc>
                <a:tc>
                  <a:txBody>
                    <a:bodyPr/>
                    <a:lstStyle/>
                    <a:p>
                      <a:r>
                        <a:rPr lang="en-US" dirty="0"/>
                        <a:t>HorL</a:t>
                      </a:r>
                    </a:p>
                  </a:txBody>
                  <a:tcPr/>
                </a:tc>
                <a:tc>
                  <a:txBody>
                    <a:bodyPr/>
                    <a:lstStyle/>
                    <a:p>
                      <a:r>
                        <a:rPr lang="en-US" dirty="0"/>
                        <a:t>X</a:t>
                      </a:r>
                    </a:p>
                  </a:txBody>
                  <a:tcPr/>
                </a:tc>
                <a:tc>
                  <a:txBody>
                    <a:bodyPr/>
                    <a:lstStyle/>
                    <a:p>
                      <a:r>
                        <a:rPr lang="en-US" dirty="0"/>
                        <a:t>HorL</a:t>
                      </a:r>
                    </a:p>
                  </a:txBody>
                  <a:tcPr/>
                </a:tc>
                <a:extLst>
                  <a:ext uri="{0D108BD9-81ED-4DB2-BD59-A6C34878D82A}">
                    <a16:rowId xmlns:a16="http://schemas.microsoft.com/office/drawing/2014/main" val="3501284962"/>
                  </a:ext>
                </a:extLst>
              </a:tr>
              <a:tr h="370840">
                <a:tc>
                  <a:txBody>
                    <a:bodyPr/>
                    <a:lstStyle/>
                    <a:p>
                      <a:r>
                        <a:rPr lang="en-US" dirty="0"/>
                        <a:t>Other Opcodes</a:t>
                      </a:r>
                    </a:p>
                  </a:txBody>
                  <a:tcPr/>
                </a:tc>
                <a:tc>
                  <a:txBody>
                    <a:bodyPr/>
                    <a:lstStyle/>
                    <a:p>
                      <a:r>
                        <a:rPr lang="en-US" dirty="0"/>
                        <a:t>X</a:t>
                      </a:r>
                    </a:p>
                  </a:txBody>
                  <a:tcPr/>
                </a:tc>
                <a:tc>
                  <a:txBody>
                    <a:bodyPr/>
                    <a:lstStyle/>
                    <a:p>
                      <a:r>
                        <a:rPr lang="en-US" dirty="0"/>
                        <a:t>L/H</a:t>
                      </a:r>
                    </a:p>
                  </a:txBody>
                  <a:tcPr/>
                </a:tc>
                <a:tc>
                  <a:txBody>
                    <a:bodyPr/>
                    <a:lstStyle/>
                    <a:p>
                      <a:r>
                        <a:rPr lang="en-US" dirty="0"/>
                        <a:t>L/H</a:t>
                      </a:r>
                    </a:p>
                  </a:txBody>
                  <a:tcPr/>
                </a:tc>
                <a:extLst>
                  <a:ext uri="{0D108BD9-81ED-4DB2-BD59-A6C34878D82A}">
                    <a16:rowId xmlns:a16="http://schemas.microsoft.com/office/drawing/2014/main" val="2541094087"/>
                  </a:ext>
                </a:extLst>
              </a:tr>
            </a:tbl>
          </a:graphicData>
        </a:graphic>
      </p:graphicFrame>
    </p:spTree>
    <p:extLst>
      <p:ext uri="{BB962C8B-B14F-4D97-AF65-F5344CB8AC3E}">
        <p14:creationId xmlns:p14="http://schemas.microsoft.com/office/powerpoint/2010/main" val="73273293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739CB-9E33-4AFD-7E60-868315220B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E57238-6417-3A69-BC97-3F33B5552D19}"/>
              </a:ext>
            </a:extLst>
          </p:cNvPr>
          <p:cNvSpPr>
            <a:spLocks noGrp="1"/>
          </p:cNvSpPr>
          <p:nvPr>
            <p:ph type="ctrTitle"/>
          </p:nvPr>
        </p:nvSpPr>
        <p:spPr/>
        <p:txBody>
          <a:bodyPr/>
          <a:lstStyle/>
          <a:p>
            <a:r>
              <a:rPr lang="en-US" dirty="0"/>
              <a:t>(Data Bus </a:t>
            </a:r>
            <a:r>
              <a:rPr lang="en-US" dirty="0">
                <a:sym typeface="Wingdings" panose="05000000000000000000" pitchFamily="2" charset="2"/>
              </a:rPr>
              <a:t> AR) Loading</a:t>
            </a:r>
            <a:endParaRPr lang="en-US" dirty="0"/>
          </a:p>
        </p:txBody>
      </p:sp>
      <p:sp>
        <p:nvSpPr>
          <p:cNvPr id="3" name="TextBox 2">
            <a:extLst>
              <a:ext uri="{FF2B5EF4-FFF2-40B4-BE49-F238E27FC236}">
                <a16:creationId xmlns:a16="http://schemas.microsoft.com/office/drawing/2014/main" id="{A869CF88-50A4-1388-375E-99AA36E862E3}"/>
              </a:ext>
            </a:extLst>
          </p:cNvPr>
          <p:cNvSpPr txBox="1"/>
          <p:nvPr/>
        </p:nvSpPr>
        <p:spPr>
          <a:xfrm>
            <a:off x="914400" y="1058780"/>
            <a:ext cx="5829300" cy="923330"/>
          </a:xfrm>
          <a:prstGeom prst="rect">
            <a:avLst/>
          </a:prstGeom>
          <a:noFill/>
        </p:spPr>
        <p:txBody>
          <a:bodyPr wrap="square" rtlCol="0">
            <a:spAutoFit/>
          </a:bodyPr>
          <a:lstStyle/>
          <a:p>
            <a:r>
              <a:rPr lang="en-US" dirty="0"/>
              <a:t>We must be able to tell an AR to read from the Data Bus, and we must specify which byte (L or H) it should write the Data </a:t>
            </a:r>
            <a:r>
              <a:rPr lang="en-US" dirty="0" err="1"/>
              <a:t>Bus’</a:t>
            </a:r>
            <a:r>
              <a:rPr lang="en-US" dirty="0"/>
              <a:t> data word into.</a:t>
            </a:r>
          </a:p>
        </p:txBody>
      </p:sp>
      <p:sp>
        <p:nvSpPr>
          <p:cNvPr id="4" name="TextBox 3">
            <a:extLst>
              <a:ext uri="{FF2B5EF4-FFF2-40B4-BE49-F238E27FC236}">
                <a16:creationId xmlns:a16="http://schemas.microsoft.com/office/drawing/2014/main" id="{41DC02A9-C9D8-0467-07CA-41D6A1980554}"/>
              </a:ext>
            </a:extLst>
          </p:cNvPr>
          <p:cNvSpPr txBox="1"/>
          <p:nvPr/>
        </p:nvSpPr>
        <p:spPr>
          <a:xfrm>
            <a:off x="914400" y="2024493"/>
            <a:ext cx="6108700" cy="923330"/>
          </a:xfrm>
          <a:prstGeom prst="rect">
            <a:avLst/>
          </a:prstGeom>
          <a:noFill/>
        </p:spPr>
        <p:txBody>
          <a:bodyPr wrap="square" rtlCol="0">
            <a:spAutoFit/>
          </a:bodyPr>
          <a:lstStyle/>
          <a:p>
            <a:r>
              <a:rPr lang="en-US" b="1" dirty="0"/>
              <a:t>Inputs: </a:t>
            </a:r>
            <a:r>
              <a:rPr lang="en-US" dirty="0"/>
              <a:t>L/H instruction operand (1 bit), ARDest instruction operand (2 bits), </a:t>
            </a:r>
            <a:r>
              <a:rPr lang="en-US" dirty="0" err="1"/>
              <a:t>loadAR</a:t>
            </a:r>
            <a:r>
              <a:rPr lang="en-US" dirty="0"/>
              <a:t> control signal, PC Load control signal, </a:t>
            </a:r>
            <a:r>
              <a:rPr lang="en-US" dirty="0" err="1"/>
              <a:t>loadARHorL</a:t>
            </a:r>
            <a:r>
              <a:rPr lang="en-US" dirty="0"/>
              <a:t> control signal, opcode</a:t>
            </a:r>
            <a:endParaRPr lang="en-US" b="1" dirty="0"/>
          </a:p>
        </p:txBody>
      </p:sp>
      <p:sp>
        <p:nvSpPr>
          <p:cNvPr id="5" name="TextBox 4">
            <a:extLst>
              <a:ext uri="{FF2B5EF4-FFF2-40B4-BE49-F238E27FC236}">
                <a16:creationId xmlns:a16="http://schemas.microsoft.com/office/drawing/2014/main" id="{08C7543C-F6BD-A5D2-F3D8-ED4DF0F88407}"/>
              </a:ext>
            </a:extLst>
          </p:cNvPr>
          <p:cNvSpPr txBox="1"/>
          <p:nvPr/>
        </p:nvSpPr>
        <p:spPr>
          <a:xfrm>
            <a:off x="914400" y="2905440"/>
            <a:ext cx="9270332" cy="923330"/>
          </a:xfrm>
          <a:prstGeom prst="rect">
            <a:avLst/>
          </a:prstGeom>
          <a:noFill/>
        </p:spPr>
        <p:txBody>
          <a:bodyPr wrap="square" rtlCol="0">
            <a:spAutoFit/>
          </a:bodyPr>
          <a:lstStyle/>
          <a:p>
            <a:r>
              <a:rPr lang="en-US" b="1" dirty="0"/>
              <a:t>Output:</a:t>
            </a:r>
            <a:r>
              <a:rPr lang="en-US" dirty="0"/>
              <a:t> {None (no AR reads), PC[Dummy H], PC[L], SP[H], SP[L], DP[H], DP[L], BP[H], BP[L]}</a:t>
            </a:r>
          </a:p>
          <a:p>
            <a:r>
              <a:rPr lang="en-US" dirty="0"/>
              <a:t>(</a:t>
            </a:r>
            <a:r>
              <a:rPr lang="en-US" b="1" dirty="0"/>
              <a:t>Note:</a:t>
            </a:r>
            <a:r>
              <a:rPr lang="en-US" dirty="0"/>
              <a:t> Can’t write to the actual PC H, can only write to the PC Dummy H from the data bus! Actual PC H only reads from the Dummy PC High!)</a:t>
            </a:r>
          </a:p>
        </p:txBody>
      </p:sp>
      <p:graphicFrame>
        <p:nvGraphicFramePr>
          <p:cNvPr id="6" name="Table 5">
            <a:extLst>
              <a:ext uri="{FF2B5EF4-FFF2-40B4-BE49-F238E27FC236}">
                <a16:creationId xmlns:a16="http://schemas.microsoft.com/office/drawing/2014/main" id="{884358B2-A174-B944-6A75-80775B531B91}"/>
              </a:ext>
            </a:extLst>
          </p:cNvPr>
          <p:cNvGraphicFramePr>
            <a:graphicFrameLocks noGrp="1"/>
          </p:cNvGraphicFramePr>
          <p:nvPr>
            <p:extLst>
              <p:ext uri="{D42A27DB-BD31-4B8C-83A1-F6EECF244321}">
                <p14:modId xmlns:p14="http://schemas.microsoft.com/office/powerpoint/2010/main" val="2650790340"/>
              </p:ext>
            </p:extLst>
          </p:nvPr>
        </p:nvGraphicFramePr>
        <p:xfrm>
          <a:off x="914400" y="3862140"/>
          <a:ext cx="9655345" cy="2667000"/>
        </p:xfrm>
        <a:graphic>
          <a:graphicData uri="http://schemas.openxmlformats.org/drawingml/2006/table">
            <a:tbl>
              <a:tblPr firstRow="1" bandRow="1">
                <a:tableStyleId>{5C22544A-7EE6-4342-B048-85BDC9FD1C3A}</a:tableStyleId>
              </a:tblPr>
              <a:tblGrid>
                <a:gridCol w="1379335">
                  <a:extLst>
                    <a:ext uri="{9D8B030D-6E8A-4147-A177-3AD203B41FA5}">
                      <a16:colId xmlns:a16="http://schemas.microsoft.com/office/drawing/2014/main" val="1676049159"/>
                    </a:ext>
                  </a:extLst>
                </a:gridCol>
                <a:gridCol w="1379335">
                  <a:extLst>
                    <a:ext uri="{9D8B030D-6E8A-4147-A177-3AD203B41FA5}">
                      <a16:colId xmlns:a16="http://schemas.microsoft.com/office/drawing/2014/main" val="421092125"/>
                    </a:ext>
                  </a:extLst>
                </a:gridCol>
                <a:gridCol w="1379335">
                  <a:extLst>
                    <a:ext uri="{9D8B030D-6E8A-4147-A177-3AD203B41FA5}">
                      <a16:colId xmlns:a16="http://schemas.microsoft.com/office/drawing/2014/main" val="1761791855"/>
                    </a:ext>
                  </a:extLst>
                </a:gridCol>
                <a:gridCol w="1379335">
                  <a:extLst>
                    <a:ext uri="{9D8B030D-6E8A-4147-A177-3AD203B41FA5}">
                      <a16:colId xmlns:a16="http://schemas.microsoft.com/office/drawing/2014/main" val="3752676654"/>
                    </a:ext>
                  </a:extLst>
                </a:gridCol>
                <a:gridCol w="1379335">
                  <a:extLst>
                    <a:ext uri="{9D8B030D-6E8A-4147-A177-3AD203B41FA5}">
                      <a16:colId xmlns:a16="http://schemas.microsoft.com/office/drawing/2014/main" val="2618833170"/>
                    </a:ext>
                  </a:extLst>
                </a:gridCol>
                <a:gridCol w="1218625">
                  <a:extLst>
                    <a:ext uri="{9D8B030D-6E8A-4147-A177-3AD203B41FA5}">
                      <a16:colId xmlns:a16="http://schemas.microsoft.com/office/drawing/2014/main" val="1516667648"/>
                    </a:ext>
                  </a:extLst>
                </a:gridCol>
                <a:gridCol w="1540045">
                  <a:extLst>
                    <a:ext uri="{9D8B030D-6E8A-4147-A177-3AD203B41FA5}">
                      <a16:colId xmlns:a16="http://schemas.microsoft.com/office/drawing/2014/main" val="3271762397"/>
                    </a:ext>
                  </a:extLst>
                </a:gridCol>
              </a:tblGrid>
              <a:tr h="370840">
                <a:tc>
                  <a:txBody>
                    <a:bodyPr/>
                    <a:lstStyle/>
                    <a:p>
                      <a:r>
                        <a:rPr lang="en-US" sz="1200" dirty="0"/>
                        <a:t>PC Load Branch </a:t>
                      </a:r>
                    </a:p>
                  </a:txBody>
                  <a:tcPr/>
                </a:tc>
                <a:tc>
                  <a:txBody>
                    <a:bodyPr/>
                    <a:lstStyle/>
                    <a:p>
                      <a:r>
                        <a:rPr lang="en-US" sz="1200" dirty="0" err="1"/>
                        <a:t>loadAR</a:t>
                      </a:r>
                      <a:r>
                        <a:rPr lang="en-US" sz="1200" dirty="0"/>
                        <a:t> control signal</a:t>
                      </a:r>
                    </a:p>
                  </a:txBody>
                  <a:tcPr/>
                </a:tc>
                <a:tc>
                  <a:txBody>
                    <a:bodyPr/>
                    <a:lstStyle/>
                    <a:p>
                      <a:r>
                        <a:rPr lang="en-US" sz="1200" dirty="0"/>
                        <a:t>PC Load control signal</a:t>
                      </a:r>
                    </a:p>
                  </a:txBody>
                  <a:tcPr/>
                </a:tc>
                <a:tc>
                  <a:txBody>
                    <a:bodyPr/>
                    <a:lstStyle/>
                    <a:p>
                      <a:r>
                        <a:rPr lang="en-US" sz="1200" dirty="0" err="1"/>
                        <a:t>Opcode_MAA</a:t>
                      </a:r>
                      <a:r>
                        <a:rPr lang="en-US" sz="1200" dirty="0"/>
                        <a:t> (active low)</a:t>
                      </a:r>
                    </a:p>
                  </a:txBody>
                  <a:tcPr/>
                </a:tc>
                <a:tc>
                  <a:txBody>
                    <a:bodyPr/>
                    <a:lstStyle/>
                    <a:p>
                      <a:r>
                        <a:rPr lang="en-US" sz="1200" dirty="0" err="1"/>
                        <a:t>loadARHorL</a:t>
                      </a:r>
                      <a:r>
                        <a:rPr lang="en-US" sz="1200" dirty="0"/>
                        <a:t> control signal</a:t>
                      </a:r>
                    </a:p>
                  </a:txBody>
                  <a:tcPr/>
                </a:tc>
                <a:tc>
                  <a:txBody>
                    <a:bodyPr/>
                    <a:lstStyle/>
                    <a:p>
                      <a:r>
                        <a:rPr lang="en-US" sz="1200" dirty="0"/>
                        <a:t>L/H instruction operand</a:t>
                      </a:r>
                    </a:p>
                  </a:txBody>
                  <a:tcPr/>
                </a:tc>
                <a:tc>
                  <a:txBody>
                    <a:bodyPr/>
                    <a:lstStyle/>
                    <a:p>
                      <a:r>
                        <a:rPr lang="en-US" sz="1200" dirty="0"/>
                        <a:t>Output</a:t>
                      </a:r>
                    </a:p>
                  </a:txBody>
                  <a:tcPr/>
                </a:tc>
                <a:extLst>
                  <a:ext uri="{0D108BD9-81ED-4DB2-BD59-A6C34878D82A}">
                    <a16:rowId xmlns:a16="http://schemas.microsoft.com/office/drawing/2014/main" val="942364548"/>
                  </a:ext>
                </a:extLst>
              </a:tr>
              <a:tr h="370840">
                <a:tc>
                  <a:txBody>
                    <a:bodyPr/>
                    <a:lstStyle/>
                    <a:p>
                      <a:r>
                        <a:rPr lang="en-US" sz="1200" dirty="0"/>
                        <a:t>Active (1)</a:t>
                      </a:r>
                    </a:p>
                  </a:txBody>
                  <a:tcPr/>
                </a:tc>
                <a:tc>
                  <a:txBody>
                    <a:bodyPr/>
                    <a:lstStyle/>
                    <a:p>
                      <a:r>
                        <a:rPr lang="en-US" sz="1200" dirty="0"/>
                        <a:t>X</a:t>
                      </a:r>
                    </a:p>
                  </a:txBody>
                  <a:tcPr/>
                </a:tc>
                <a:tc>
                  <a:txBody>
                    <a:bodyPr/>
                    <a:lstStyle/>
                    <a:p>
                      <a:r>
                        <a:rPr lang="en-US" sz="1200" dirty="0"/>
                        <a:t>X</a:t>
                      </a:r>
                    </a:p>
                  </a:txBody>
                  <a:tcPr/>
                </a:tc>
                <a:tc>
                  <a:txBody>
                    <a:bodyPr/>
                    <a:lstStyle/>
                    <a:p>
                      <a:r>
                        <a:rPr lang="en-US" sz="1200" dirty="0"/>
                        <a:t>X</a:t>
                      </a:r>
                    </a:p>
                  </a:txBody>
                  <a:tcPr/>
                </a:tc>
                <a:tc>
                  <a:txBody>
                    <a:bodyPr/>
                    <a:lstStyle/>
                    <a:p>
                      <a:r>
                        <a:rPr lang="en-US" sz="1200" dirty="0"/>
                        <a:t>X</a:t>
                      </a:r>
                    </a:p>
                  </a:txBody>
                  <a:tcPr/>
                </a:tc>
                <a:tc>
                  <a:txBody>
                    <a:bodyPr/>
                    <a:lstStyle/>
                    <a:p>
                      <a:r>
                        <a:rPr lang="en-US" sz="1200" dirty="0"/>
                        <a:t>X</a:t>
                      </a:r>
                    </a:p>
                  </a:txBody>
                  <a:tcPr/>
                </a:tc>
                <a:tc>
                  <a:txBody>
                    <a:bodyPr/>
                    <a:lstStyle/>
                    <a:p>
                      <a:r>
                        <a:rPr lang="en-US" sz="1200" dirty="0"/>
                        <a:t>PC[L] (and PC[H] = DHPC)</a:t>
                      </a:r>
                    </a:p>
                  </a:txBody>
                  <a:tcPr/>
                </a:tc>
                <a:extLst>
                  <a:ext uri="{0D108BD9-81ED-4DB2-BD59-A6C34878D82A}">
                    <a16:rowId xmlns:a16="http://schemas.microsoft.com/office/drawing/2014/main" val="3501284962"/>
                  </a:ext>
                </a:extLst>
              </a:tr>
              <a:tr h="370840">
                <a:tc>
                  <a:txBody>
                    <a:bodyPr/>
                    <a:lstStyle/>
                    <a:p>
                      <a:r>
                        <a:rPr lang="en-US" sz="1200" dirty="0"/>
                        <a:t>Inactive (0)</a:t>
                      </a:r>
                    </a:p>
                  </a:txBody>
                  <a:tcPr/>
                </a:tc>
                <a:tc>
                  <a:txBody>
                    <a:bodyPr/>
                    <a:lstStyle/>
                    <a:p>
                      <a:r>
                        <a:rPr lang="en-US" sz="1200" dirty="0"/>
                        <a:t>1</a:t>
                      </a:r>
                    </a:p>
                  </a:txBody>
                  <a:tcPr/>
                </a:tc>
                <a:tc>
                  <a:txBody>
                    <a:bodyPr/>
                    <a:lstStyle/>
                    <a:p>
                      <a:r>
                        <a:rPr lang="en-US" sz="1200" dirty="0"/>
                        <a:t>1</a:t>
                      </a:r>
                    </a:p>
                  </a:txBody>
                  <a:tcPr/>
                </a:tc>
                <a:tc>
                  <a:txBody>
                    <a:bodyPr/>
                    <a:lstStyle/>
                    <a:p>
                      <a:r>
                        <a:rPr lang="en-US" sz="1200" dirty="0"/>
                        <a:t>X</a:t>
                      </a:r>
                    </a:p>
                  </a:txBody>
                  <a:tcPr/>
                </a:tc>
                <a:tc>
                  <a:txBody>
                    <a:bodyPr/>
                    <a:lstStyle/>
                    <a:p>
                      <a:r>
                        <a:rPr lang="en-US" sz="1200" dirty="0"/>
                        <a:t>HorL</a:t>
                      </a:r>
                    </a:p>
                  </a:txBody>
                  <a:tcPr/>
                </a:tc>
                <a:tc>
                  <a:txBody>
                    <a:bodyPr/>
                    <a:lstStyle/>
                    <a:p>
                      <a:r>
                        <a:rPr lang="en-US" sz="1200" dirty="0"/>
                        <a:t>X</a:t>
                      </a:r>
                    </a:p>
                  </a:txBody>
                  <a:tcPr/>
                </a:tc>
                <a:tc>
                  <a:txBody>
                    <a:bodyPr/>
                    <a:lstStyle/>
                    <a:p>
                      <a:r>
                        <a:rPr lang="en-US" sz="1200" dirty="0"/>
                        <a:t>PC[HorL] (if L, PC[L] = data bus and PC[H] = DHPC)</a:t>
                      </a:r>
                    </a:p>
                  </a:txBody>
                  <a:tcPr/>
                </a:tc>
                <a:extLst>
                  <a:ext uri="{0D108BD9-81ED-4DB2-BD59-A6C34878D82A}">
                    <a16:rowId xmlns:a16="http://schemas.microsoft.com/office/drawing/2014/main" val="797694393"/>
                  </a:ext>
                </a:extLst>
              </a:tr>
              <a:tr h="370840">
                <a:tc>
                  <a:txBody>
                    <a:bodyPr/>
                    <a:lstStyle/>
                    <a:p>
                      <a:r>
                        <a:rPr lang="en-US" sz="1200" dirty="0"/>
                        <a:t>Inactive (0)</a:t>
                      </a:r>
                    </a:p>
                  </a:txBody>
                  <a:tcPr/>
                </a:tc>
                <a:tc>
                  <a:txBody>
                    <a:bodyPr/>
                    <a:lstStyle/>
                    <a:p>
                      <a:r>
                        <a:rPr lang="en-US" sz="1200" dirty="0"/>
                        <a:t>1</a:t>
                      </a:r>
                    </a:p>
                  </a:txBody>
                  <a:tcPr/>
                </a:tc>
                <a:tc>
                  <a:txBody>
                    <a:bodyPr/>
                    <a:lstStyle/>
                    <a:p>
                      <a:r>
                        <a:rPr lang="en-US" sz="1200" dirty="0"/>
                        <a:t>0</a:t>
                      </a:r>
                    </a:p>
                  </a:txBody>
                  <a:tcPr/>
                </a:tc>
                <a:tc>
                  <a:txBody>
                    <a:bodyPr/>
                    <a:lstStyle/>
                    <a:p>
                      <a:r>
                        <a:rPr lang="en-US" sz="1200"/>
                        <a:t>MAA</a:t>
                      </a:r>
                      <a:endParaRPr lang="en-US" sz="1200" dirty="0"/>
                    </a:p>
                  </a:txBody>
                  <a:tcPr/>
                </a:tc>
                <a:tc>
                  <a:txBody>
                    <a:bodyPr/>
                    <a:lstStyle/>
                    <a:p>
                      <a:r>
                        <a:rPr lang="en-US" sz="1200" dirty="0"/>
                        <a:t>HorL</a:t>
                      </a:r>
                    </a:p>
                  </a:txBody>
                  <a:tcPr/>
                </a:tc>
                <a:tc>
                  <a:txBody>
                    <a:bodyPr/>
                    <a:lstStyle/>
                    <a:p>
                      <a:r>
                        <a:rPr lang="en-US" sz="1200" dirty="0"/>
                        <a:t>X</a:t>
                      </a:r>
                    </a:p>
                  </a:txBody>
                  <a:tcPr/>
                </a:tc>
                <a:tc>
                  <a:txBody>
                    <a:bodyPr/>
                    <a:lstStyle/>
                    <a:p>
                      <a:r>
                        <a:rPr lang="en-US" sz="1200" dirty="0"/>
                        <a:t>ARDest[HorL]</a:t>
                      </a:r>
                    </a:p>
                  </a:txBody>
                  <a:tcPr/>
                </a:tc>
                <a:extLst>
                  <a:ext uri="{0D108BD9-81ED-4DB2-BD59-A6C34878D82A}">
                    <a16:rowId xmlns:a16="http://schemas.microsoft.com/office/drawing/2014/main" val="2541094087"/>
                  </a:ext>
                </a:extLst>
              </a:tr>
              <a:tr h="370840">
                <a:tc>
                  <a:txBody>
                    <a:bodyPr/>
                    <a:lstStyle/>
                    <a:p>
                      <a:r>
                        <a:rPr lang="en-US" sz="1200" dirty="0"/>
                        <a:t>Inactive (0)</a:t>
                      </a:r>
                    </a:p>
                  </a:txBody>
                  <a:tcPr/>
                </a:tc>
                <a:tc>
                  <a:txBody>
                    <a:bodyPr/>
                    <a:lstStyle/>
                    <a:p>
                      <a:r>
                        <a:rPr lang="en-US" sz="1200" dirty="0"/>
                        <a:t>1</a:t>
                      </a:r>
                    </a:p>
                  </a:txBody>
                  <a:tcPr/>
                </a:tc>
                <a:tc>
                  <a:txBody>
                    <a:bodyPr/>
                    <a:lstStyle/>
                    <a:p>
                      <a:r>
                        <a:rPr lang="en-US" sz="1200" dirty="0"/>
                        <a:t>0</a:t>
                      </a:r>
                    </a:p>
                  </a:txBody>
                  <a:tcPr/>
                </a:tc>
                <a:tc>
                  <a:txBody>
                    <a:bodyPr/>
                    <a:lstStyle/>
                    <a:p>
                      <a:r>
                        <a:rPr lang="en-US" sz="1200" dirty="0"/>
                        <a:t>Other Opcodes</a:t>
                      </a:r>
                    </a:p>
                  </a:txBody>
                  <a:tcPr/>
                </a:tc>
                <a:tc>
                  <a:txBody>
                    <a:bodyPr/>
                    <a:lstStyle/>
                    <a:p>
                      <a:r>
                        <a:rPr lang="en-US" sz="1200" dirty="0"/>
                        <a:t>X</a:t>
                      </a:r>
                    </a:p>
                  </a:txBody>
                  <a:tcPr/>
                </a:tc>
                <a:tc>
                  <a:txBody>
                    <a:bodyPr/>
                    <a:lstStyle/>
                    <a:p>
                      <a:r>
                        <a:rPr lang="en-US" sz="1200" dirty="0"/>
                        <a:t>L/H</a:t>
                      </a:r>
                    </a:p>
                  </a:txBody>
                  <a:tcPr/>
                </a:tc>
                <a:tc>
                  <a:txBody>
                    <a:bodyPr/>
                    <a:lstStyle/>
                    <a:p>
                      <a:r>
                        <a:rPr lang="en-US" sz="1200" dirty="0"/>
                        <a:t>ARDest[L/H]</a:t>
                      </a:r>
                    </a:p>
                  </a:txBody>
                  <a:tcPr/>
                </a:tc>
                <a:extLst>
                  <a:ext uri="{0D108BD9-81ED-4DB2-BD59-A6C34878D82A}">
                    <a16:rowId xmlns:a16="http://schemas.microsoft.com/office/drawing/2014/main" val="496349430"/>
                  </a:ext>
                </a:extLst>
              </a:tr>
              <a:tr h="370840">
                <a:tc>
                  <a:txBody>
                    <a:bodyPr/>
                    <a:lstStyle/>
                    <a:p>
                      <a:r>
                        <a:rPr lang="en-US" sz="1200" dirty="0"/>
                        <a:t>Inactive (0)</a:t>
                      </a:r>
                    </a:p>
                  </a:txBody>
                  <a:tcPr/>
                </a:tc>
                <a:tc>
                  <a:txBody>
                    <a:bodyPr/>
                    <a:lstStyle/>
                    <a:p>
                      <a:r>
                        <a:rPr lang="en-US" sz="1200" dirty="0"/>
                        <a:t>0</a:t>
                      </a:r>
                    </a:p>
                  </a:txBody>
                  <a:tcPr/>
                </a:tc>
                <a:tc>
                  <a:txBody>
                    <a:bodyPr/>
                    <a:lstStyle/>
                    <a:p>
                      <a:r>
                        <a:rPr lang="en-US" sz="1200" dirty="0"/>
                        <a:t>X</a:t>
                      </a:r>
                    </a:p>
                  </a:txBody>
                  <a:tcPr/>
                </a:tc>
                <a:tc>
                  <a:txBody>
                    <a:bodyPr/>
                    <a:lstStyle/>
                    <a:p>
                      <a:r>
                        <a:rPr lang="en-US" sz="1200" dirty="0"/>
                        <a:t>X</a:t>
                      </a:r>
                    </a:p>
                  </a:txBody>
                  <a:tcPr/>
                </a:tc>
                <a:tc>
                  <a:txBody>
                    <a:bodyPr/>
                    <a:lstStyle/>
                    <a:p>
                      <a:r>
                        <a:rPr lang="en-US" sz="1200" dirty="0"/>
                        <a:t>X</a:t>
                      </a:r>
                    </a:p>
                  </a:txBody>
                  <a:tcPr/>
                </a:tc>
                <a:tc>
                  <a:txBody>
                    <a:bodyPr/>
                    <a:lstStyle/>
                    <a:p>
                      <a:r>
                        <a:rPr lang="en-US" sz="1200" dirty="0"/>
                        <a:t>X</a:t>
                      </a:r>
                    </a:p>
                  </a:txBody>
                  <a:tcPr/>
                </a:tc>
                <a:tc>
                  <a:txBody>
                    <a:bodyPr/>
                    <a:lstStyle/>
                    <a:p>
                      <a:r>
                        <a:rPr lang="en-US" sz="1200" dirty="0"/>
                        <a:t>None</a:t>
                      </a:r>
                    </a:p>
                  </a:txBody>
                  <a:tcPr/>
                </a:tc>
                <a:extLst>
                  <a:ext uri="{0D108BD9-81ED-4DB2-BD59-A6C34878D82A}">
                    <a16:rowId xmlns:a16="http://schemas.microsoft.com/office/drawing/2014/main" val="2636728209"/>
                  </a:ext>
                </a:extLst>
              </a:tr>
            </a:tbl>
          </a:graphicData>
        </a:graphic>
      </p:graphicFrame>
    </p:spTree>
    <p:extLst>
      <p:ext uri="{BB962C8B-B14F-4D97-AF65-F5344CB8AC3E}">
        <p14:creationId xmlns:p14="http://schemas.microsoft.com/office/powerpoint/2010/main" val="273021226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EC9E7-EF34-96FE-B93C-0B3B5C3494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EED380-2825-28A7-B0D7-272A23B108FC}"/>
              </a:ext>
            </a:extLst>
          </p:cNvPr>
          <p:cNvSpPr>
            <a:spLocks noGrp="1"/>
          </p:cNvSpPr>
          <p:nvPr>
            <p:ph type="ctrTitle"/>
          </p:nvPr>
        </p:nvSpPr>
        <p:spPr>
          <a:xfrm>
            <a:off x="914400" y="457200"/>
            <a:ext cx="7206916" cy="457200"/>
          </a:xfrm>
        </p:spPr>
        <p:txBody>
          <a:bodyPr/>
          <a:lstStyle/>
          <a:p>
            <a:r>
              <a:rPr lang="en-US" dirty="0"/>
              <a:t>(Data Bus </a:t>
            </a:r>
            <a:r>
              <a:rPr lang="en-US" dirty="0">
                <a:sym typeface="Wingdings" panose="05000000000000000000" pitchFamily="2" charset="2"/>
              </a:rPr>
              <a:t> AR) Loading (AR Data Bus Load Enable LUT)</a:t>
            </a:r>
            <a:endParaRPr lang="en-US" dirty="0"/>
          </a:p>
        </p:txBody>
      </p:sp>
      <p:sp>
        <p:nvSpPr>
          <p:cNvPr id="3" name="TextBox 2">
            <a:extLst>
              <a:ext uri="{FF2B5EF4-FFF2-40B4-BE49-F238E27FC236}">
                <a16:creationId xmlns:a16="http://schemas.microsoft.com/office/drawing/2014/main" id="{F4B5A4B3-5E75-4CF0-1009-3506AF138A92}"/>
              </a:ext>
            </a:extLst>
          </p:cNvPr>
          <p:cNvSpPr txBox="1"/>
          <p:nvPr/>
        </p:nvSpPr>
        <p:spPr>
          <a:xfrm>
            <a:off x="914400" y="1058780"/>
            <a:ext cx="5829300" cy="923330"/>
          </a:xfrm>
          <a:prstGeom prst="rect">
            <a:avLst/>
          </a:prstGeom>
          <a:noFill/>
        </p:spPr>
        <p:txBody>
          <a:bodyPr wrap="square" rtlCol="0">
            <a:spAutoFit/>
          </a:bodyPr>
          <a:lstStyle/>
          <a:p>
            <a:r>
              <a:rPr lang="en-US" dirty="0"/>
              <a:t>The Data Bus </a:t>
            </a:r>
            <a:r>
              <a:rPr lang="en-US" dirty="0">
                <a:sym typeface="Wingdings" panose="05000000000000000000" pitchFamily="2" charset="2"/>
              </a:rPr>
              <a:t> AR Loading combinational logic (explained in previous slide) is implemented as a (8 bit  8 bit) (256 byte) LUT in an EEPROM.</a:t>
            </a:r>
            <a:endParaRPr lang="en-US" dirty="0"/>
          </a:p>
        </p:txBody>
      </p:sp>
      <p:graphicFrame>
        <p:nvGraphicFramePr>
          <p:cNvPr id="9" name="Table 8">
            <a:extLst>
              <a:ext uri="{FF2B5EF4-FFF2-40B4-BE49-F238E27FC236}">
                <a16:creationId xmlns:a16="http://schemas.microsoft.com/office/drawing/2014/main" id="{7878AD53-DD2C-78A5-23A4-3FD5967772F3}"/>
              </a:ext>
            </a:extLst>
          </p:cNvPr>
          <p:cNvGraphicFramePr>
            <a:graphicFrameLocks noGrp="1"/>
          </p:cNvGraphicFramePr>
          <p:nvPr>
            <p:extLst>
              <p:ext uri="{D42A27DB-BD31-4B8C-83A1-F6EECF244321}">
                <p14:modId xmlns:p14="http://schemas.microsoft.com/office/powerpoint/2010/main" val="2186795727"/>
              </p:ext>
            </p:extLst>
          </p:nvPr>
        </p:nvGraphicFramePr>
        <p:xfrm>
          <a:off x="914399" y="1982110"/>
          <a:ext cx="3639553" cy="3423920"/>
        </p:xfrm>
        <a:graphic>
          <a:graphicData uri="http://schemas.openxmlformats.org/drawingml/2006/table">
            <a:tbl>
              <a:tblPr firstRow="1" bandRow="1">
                <a:tableStyleId>{5C22544A-7EE6-4342-B048-85BDC9FD1C3A}</a:tableStyleId>
              </a:tblPr>
              <a:tblGrid>
                <a:gridCol w="1484650">
                  <a:extLst>
                    <a:ext uri="{9D8B030D-6E8A-4147-A177-3AD203B41FA5}">
                      <a16:colId xmlns:a16="http://schemas.microsoft.com/office/drawing/2014/main" val="2482476324"/>
                    </a:ext>
                  </a:extLst>
                </a:gridCol>
                <a:gridCol w="2154903">
                  <a:extLst>
                    <a:ext uri="{9D8B030D-6E8A-4147-A177-3AD203B41FA5}">
                      <a16:colId xmlns:a16="http://schemas.microsoft.com/office/drawing/2014/main" val="777123861"/>
                    </a:ext>
                  </a:extLst>
                </a:gridCol>
              </a:tblGrid>
              <a:tr h="0">
                <a:tc>
                  <a:txBody>
                    <a:bodyPr/>
                    <a:lstStyle/>
                    <a:p>
                      <a:r>
                        <a:rPr lang="en-US" sz="1200" dirty="0"/>
                        <a:t>EEPROM Address Bit</a:t>
                      </a:r>
                    </a:p>
                  </a:txBody>
                  <a:tcPr/>
                </a:tc>
                <a:tc>
                  <a:txBody>
                    <a:bodyPr/>
                    <a:lstStyle/>
                    <a:p>
                      <a:r>
                        <a:rPr lang="en-US" sz="1200" dirty="0"/>
                        <a:t>Input</a:t>
                      </a:r>
                    </a:p>
                  </a:txBody>
                  <a:tcPr/>
                </a:tc>
                <a:extLst>
                  <a:ext uri="{0D108BD9-81ED-4DB2-BD59-A6C34878D82A}">
                    <a16:rowId xmlns:a16="http://schemas.microsoft.com/office/drawing/2014/main" val="3916399277"/>
                  </a:ext>
                </a:extLst>
              </a:tr>
              <a:tr h="370840">
                <a:tc>
                  <a:txBody>
                    <a:bodyPr/>
                    <a:lstStyle/>
                    <a:p>
                      <a:r>
                        <a:rPr lang="en-US" sz="1200" dirty="0"/>
                        <a:t>7</a:t>
                      </a:r>
                    </a:p>
                  </a:txBody>
                  <a:tcPr/>
                </a:tc>
                <a:tc>
                  <a:txBody>
                    <a:bodyPr/>
                    <a:lstStyle/>
                    <a:p>
                      <a:r>
                        <a:rPr lang="en-US" sz="1200" dirty="0"/>
                        <a:t>PC Load Branch (</a:t>
                      </a:r>
                      <a:r>
                        <a:rPr lang="en-US" sz="1200" b="1" dirty="0"/>
                        <a:t>ACTIVE LOW</a:t>
                      </a:r>
                      <a:r>
                        <a:rPr lang="en-US" sz="1200" dirty="0"/>
                        <a:t>)</a:t>
                      </a:r>
                    </a:p>
                  </a:txBody>
                  <a:tcPr/>
                </a:tc>
                <a:extLst>
                  <a:ext uri="{0D108BD9-81ED-4DB2-BD59-A6C34878D82A}">
                    <a16:rowId xmlns:a16="http://schemas.microsoft.com/office/drawing/2014/main" val="4162940809"/>
                  </a:ext>
                </a:extLst>
              </a:tr>
              <a:tr h="370840">
                <a:tc>
                  <a:txBody>
                    <a:bodyPr/>
                    <a:lstStyle/>
                    <a:p>
                      <a:r>
                        <a:rPr lang="en-US" sz="1200" dirty="0"/>
                        <a:t>6</a:t>
                      </a:r>
                    </a:p>
                  </a:txBody>
                  <a:tcPr/>
                </a:tc>
                <a:tc>
                  <a:txBody>
                    <a:bodyPr/>
                    <a:lstStyle/>
                    <a:p>
                      <a:r>
                        <a:rPr lang="en-US" sz="1200" i="1" dirty="0" err="1"/>
                        <a:t>loadAR</a:t>
                      </a:r>
                      <a:r>
                        <a:rPr lang="en-US" sz="1200" i="0" dirty="0"/>
                        <a:t> (control signal)</a:t>
                      </a:r>
                      <a:endParaRPr lang="en-US" sz="1200" i="1" dirty="0"/>
                    </a:p>
                  </a:txBody>
                  <a:tcPr/>
                </a:tc>
                <a:extLst>
                  <a:ext uri="{0D108BD9-81ED-4DB2-BD59-A6C34878D82A}">
                    <a16:rowId xmlns:a16="http://schemas.microsoft.com/office/drawing/2014/main" val="38975368"/>
                  </a:ext>
                </a:extLst>
              </a:tr>
              <a:tr h="370840">
                <a:tc>
                  <a:txBody>
                    <a:bodyPr/>
                    <a:lstStyle/>
                    <a:p>
                      <a:r>
                        <a:rPr lang="en-US" sz="1200" dirty="0"/>
                        <a:t>5</a:t>
                      </a:r>
                    </a:p>
                  </a:txBody>
                  <a:tcPr/>
                </a:tc>
                <a:tc>
                  <a:txBody>
                    <a:bodyPr/>
                    <a:lstStyle/>
                    <a:p>
                      <a:r>
                        <a:rPr lang="en-US" sz="1200" i="1" dirty="0"/>
                        <a:t>PC Load</a:t>
                      </a:r>
                      <a:r>
                        <a:rPr lang="en-US" sz="1200" i="0" dirty="0"/>
                        <a:t> (control signal)</a:t>
                      </a:r>
                      <a:endParaRPr lang="en-US" sz="1200" i="1" dirty="0"/>
                    </a:p>
                  </a:txBody>
                  <a:tcPr/>
                </a:tc>
                <a:extLst>
                  <a:ext uri="{0D108BD9-81ED-4DB2-BD59-A6C34878D82A}">
                    <a16:rowId xmlns:a16="http://schemas.microsoft.com/office/drawing/2014/main" val="1263556232"/>
                  </a:ext>
                </a:extLst>
              </a:tr>
              <a:tr h="370840">
                <a:tc>
                  <a:txBody>
                    <a:bodyPr/>
                    <a:lstStyle/>
                    <a:p>
                      <a:r>
                        <a:rPr lang="en-US" sz="1200" dirty="0"/>
                        <a:t>4</a:t>
                      </a:r>
                    </a:p>
                  </a:txBody>
                  <a:tcPr/>
                </a:tc>
                <a:tc>
                  <a:txBody>
                    <a:bodyPr/>
                    <a:lstStyle/>
                    <a:p>
                      <a:r>
                        <a:rPr lang="en-US" sz="1200" i="1" dirty="0" err="1"/>
                        <a:t>loadARHorL</a:t>
                      </a:r>
                      <a:r>
                        <a:rPr lang="en-US" sz="1200" i="0" dirty="0"/>
                        <a:t> (control signal)</a:t>
                      </a:r>
                      <a:endParaRPr lang="en-US" sz="1200" i="1" dirty="0"/>
                    </a:p>
                  </a:txBody>
                  <a:tcPr/>
                </a:tc>
                <a:extLst>
                  <a:ext uri="{0D108BD9-81ED-4DB2-BD59-A6C34878D82A}">
                    <a16:rowId xmlns:a16="http://schemas.microsoft.com/office/drawing/2014/main" val="3876244510"/>
                  </a:ext>
                </a:extLst>
              </a:tr>
              <a:tr h="370840">
                <a:tc>
                  <a:txBody>
                    <a:bodyPr/>
                    <a:lstStyle/>
                    <a:p>
                      <a:r>
                        <a:rPr lang="en-US" sz="1200" dirty="0"/>
                        <a:t>3</a:t>
                      </a:r>
                    </a:p>
                  </a:txBody>
                  <a:tcPr/>
                </a:tc>
                <a:tc>
                  <a:txBody>
                    <a:bodyPr/>
                    <a:lstStyle/>
                    <a:p>
                      <a:r>
                        <a:rPr lang="en-US" sz="1200" i="0" dirty="0" err="1"/>
                        <a:t>Opcode_MAA</a:t>
                      </a:r>
                      <a:r>
                        <a:rPr lang="en-US" sz="1200" i="0" dirty="0"/>
                        <a:t> (</a:t>
                      </a:r>
                      <a:r>
                        <a:rPr lang="en-US" sz="1200" b="1" i="0" dirty="0"/>
                        <a:t>ACTIVE LOW</a:t>
                      </a:r>
                      <a:r>
                        <a:rPr lang="en-US" sz="1200" i="0" dirty="0"/>
                        <a:t>)</a:t>
                      </a:r>
                    </a:p>
                  </a:txBody>
                  <a:tcPr/>
                </a:tc>
                <a:extLst>
                  <a:ext uri="{0D108BD9-81ED-4DB2-BD59-A6C34878D82A}">
                    <a16:rowId xmlns:a16="http://schemas.microsoft.com/office/drawing/2014/main" val="34840973"/>
                  </a:ext>
                </a:extLst>
              </a:tr>
              <a:tr h="370840">
                <a:tc>
                  <a:txBody>
                    <a:bodyPr/>
                    <a:lstStyle/>
                    <a:p>
                      <a:r>
                        <a:rPr lang="en-US" sz="1200" dirty="0"/>
                        <a:t>2</a:t>
                      </a:r>
                    </a:p>
                  </a:txBody>
                  <a:tcPr/>
                </a:tc>
                <a:tc>
                  <a:txBody>
                    <a:bodyPr/>
                    <a:lstStyle/>
                    <a:p>
                      <a:r>
                        <a:rPr lang="en-US" sz="1200" dirty="0"/>
                        <a:t>(AR) L/H instruction operand</a:t>
                      </a:r>
                    </a:p>
                  </a:txBody>
                  <a:tcPr/>
                </a:tc>
                <a:extLst>
                  <a:ext uri="{0D108BD9-81ED-4DB2-BD59-A6C34878D82A}">
                    <a16:rowId xmlns:a16="http://schemas.microsoft.com/office/drawing/2014/main" val="3812691075"/>
                  </a:ext>
                </a:extLst>
              </a:tr>
              <a:tr h="370840">
                <a:tc>
                  <a:txBody>
                    <a:bodyPr/>
                    <a:lstStyle/>
                    <a:p>
                      <a:r>
                        <a:rPr lang="en-US" sz="1200" dirty="0"/>
                        <a:t>1</a:t>
                      </a:r>
                    </a:p>
                  </a:txBody>
                  <a:tcPr/>
                </a:tc>
                <a:tc>
                  <a:txBody>
                    <a:bodyPr/>
                    <a:lstStyle/>
                    <a:p>
                      <a:r>
                        <a:rPr lang="en-US" sz="1200" dirty="0"/>
                        <a:t>ARDest[1]</a:t>
                      </a:r>
                    </a:p>
                  </a:txBody>
                  <a:tcPr/>
                </a:tc>
                <a:extLst>
                  <a:ext uri="{0D108BD9-81ED-4DB2-BD59-A6C34878D82A}">
                    <a16:rowId xmlns:a16="http://schemas.microsoft.com/office/drawing/2014/main" val="523843"/>
                  </a:ext>
                </a:extLst>
              </a:tr>
              <a:tr h="370840">
                <a:tc>
                  <a:txBody>
                    <a:bodyPr/>
                    <a:lstStyle/>
                    <a:p>
                      <a:r>
                        <a:rPr lang="en-US" sz="1200" dirty="0"/>
                        <a:t>0</a:t>
                      </a:r>
                    </a:p>
                  </a:txBody>
                  <a:tcPr/>
                </a:tc>
                <a:tc>
                  <a:txBody>
                    <a:bodyPr/>
                    <a:lstStyle/>
                    <a:p>
                      <a:r>
                        <a:rPr lang="en-US" sz="1200" dirty="0"/>
                        <a:t>ARDest[0]</a:t>
                      </a:r>
                    </a:p>
                  </a:txBody>
                  <a:tcPr/>
                </a:tc>
                <a:extLst>
                  <a:ext uri="{0D108BD9-81ED-4DB2-BD59-A6C34878D82A}">
                    <a16:rowId xmlns:a16="http://schemas.microsoft.com/office/drawing/2014/main" val="2010627648"/>
                  </a:ext>
                </a:extLst>
              </a:tr>
            </a:tbl>
          </a:graphicData>
        </a:graphic>
      </p:graphicFrame>
      <p:graphicFrame>
        <p:nvGraphicFramePr>
          <p:cNvPr id="10" name="Table 9">
            <a:extLst>
              <a:ext uri="{FF2B5EF4-FFF2-40B4-BE49-F238E27FC236}">
                <a16:creationId xmlns:a16="http://schemas.microsoft.com/office/drawing/2014/main" id="{2A8DA712-7969-F98A-955A-98721ECF8D8E}"/>
              </a:ext>
            </a:extLst>
          </p:cNvPr>
          <p:cNvGraphicFramePr>
            <a:graphicFrameLocks noGrp="1"/>
          </p:cNvGraphicFramePr>
          <p:nvPr>
            <p:extLst>
              <p:ext uri="{D42A27DB-BD31-4B8C-83A1-F6EECF244321}">
                <p14:modId xmlns:p14="http://schemas.microsoft.com/office/powerpoint/2010/main" val="1920207608"/>
              </p:ext>
            </p:extLst>
          </p:nvPr>
        </p:nvGraphicFramePr>
        <p:xfrm>
          <a:off x="4778542" y="1982111"/>
          <a:ext cx="3812005" cy="3432342"/>
        </p:xfrm>
        <a:graphic>
          <a:graphicData uri="http://schemas.openxmlformats.org/drawingml/2006/table">
            <a:tbl>
              <a:tblPr firstRow="1" bandRow="1">
                <a:tableStyleId>{5C22544A-7EE6-4342-B048-85BDC9FD1C3A}</a:tableStyleId>
              </a:tblPr>
              <a:tblGrid>
                <a:gridCol w="1554996">
                  <a:extLst>
                    <a:ext uri="{9D8B030D-6E8A-4147-A177-3AD203B41FA5}">
                      <a16:colId xmlns:a16="http://schemas.microsoft.com/office/drawing/2014/main" val="2482476324"/>
                    </a:ext>
                  </a:extLst>
                </a:gridCol>
                <a:gridCol w="2257009">
                  <a:extLst>
                    <a:ext uri="{9D8B030D-6E8A-4147-A177-3AD203B41FA5}">
                      <a16:colId xmlns:a16="http://schemas.microsoft.com/office/drawing/2014/main" val="777123861"/>
                    </a:ext>
                  </a:extLst>
                </a:gridCol>
              </a:tblGrid>
              <a:tr h="452989">
                <a:tc>
                  <a:txBody>
                    <a:bodyPr/>
                    <a:lstStyle/>
                    <a:p>
                      <a:r>
                        <a:rPr lang="en-US" sz="1200" dirty="0"/>
                        <a:t>EEPROM Data Output Bit</a:t>
                      </a:r>
                    </a:p>
                  </a:txBody>
                  <a:tcPr/>
                </a:tc>
                <a:tc>
                  <a:txBody>
                    <a:bodyPr/>
                    <a:lstStyle/>
                    <a:p>
                      <a:r>
                        <a:rPr lang="en-US" sz="1200" dirty="0"/>
                        <a:t>Output</a:t>
                      </a:r>
                    </a:p>
                  </a:txBody>
                  <a:tcPr/>
                </a:tc>
                <a:extLst>
                  <a:ext uri="{0D108BD9-81ED-4DB2-BD59-A6C34878D82A}">
                    <a16:rowId xmlns:a16="http://schemas.microsoft.com/office/drawing/2014/main" val="3916399277"/>
                  </a:ext>
                </a:extLst>
              </a:tr>
              <a:tr h="359706">
                <a:tc>
                  <a:txBody>
                    <a:bodyPr/>
                    <a:lstStyle/>
                    <a:p>
                      <a:r>
                        <a:rPr lang="en-US" sz="1200" dirty="0"/>
                        <a:t>7</a:t>
                      </a:r>
                    </a:p>
                  </a:txBody>
                  <a:tcPr/>
                </a:tc>
                <a:tc>
                  <a:txBody>
                    <a:bodyPr/>
                    <a:lstStyle/>
                    <a:p>
                      <a:r>
                        <a:rPr lang="en-US" sz="1200" dirty="0"/>
                        <a:t>BP[H] Load Enable </a:t>
                      </a:r>
                      <a:r>
                        <a:rPr lang="en-US" sz="1200" i="0" dirty="0"/>
                        <a:t>(</a:t>
                      </a:r>
                      <a:r>
                        <a:rPr lang="en-US" sz="1200" b="1" i="0" dirty="0"/>
                        <a:t>ACTIVE LOW</a:t>
                      </a:r>
                      <a:r>
                        <a:rPr lang="en-US" sz="1200" i="0" dirty="0"/>
                        <a:t>)</a:t>
                      </a:r>
                      <a:endParaRPr lang="en-US" sz="1200" dirty="0"/>
                    </a:p>
                  </a:txBody>
                  <a:tcPr/>
                </a:tc>
                <a:extLst>
                  <a:ext uri="{0D108BD9-81ED-4DB2-BD59-A6C34878D82A}">
                    <a16:rowId xmlns:a16="http://schemas.microsoft.com/office/drawing/2014/main" val="4162940809"/>
                  </a:ext>
                </a:extLst>
              </a:tr>
              <a:tr h="359706">
                <a:tc>
                  <a:txBody>
                    <a:bodyPr/>
                    <a:lstStyle/>
                    <a:p>
                      <a:r>
                        <a:rPr lang="en-US" sz="1200" dirty="0"/>
                        <a:t>6</a:t>
                      </a:r>
                    </a:p>
                  </a:txBody>
                  <a:tcPr/>
                </a:tc>
                <a:tc>
                  <a:txBody>
                    <a:bodyPr/>
                    <a:lstStyle/>
                    <a:p>
                      <a:r>
                        <a:rPr lang="en-US" sz="1200" i="0" dirty="0"/>
                        <a:t>BP[L] Load Enable (</a:t>
                      </a:r>
                      <a:r>
                        <a:rPr lang="en-US" sz="1200" b="1" i="0" dirty="0"/>
                        <a:t>ACTIVE LOW</a:t>
                      </a:r>
                      <a:r>
                        <a:rPr lang="en-US" sz="1200" i="0" dirty="0"/>
                        <a:t>)</a:t>
                      </a:r>
                    </a:p>
                  </a:txBody>
                  <a:tcPr/>
                </a:tc>
                <a:extLst>
                  <a:ext uri="{0D108BD9-81ED-4DB2-BD59-A6C34878D82A}">
                    <a16:rowId xmlns:a16="http://schemas.microsoft.com/office/drawing/2014/main" val="38975368"/>
                  </a:ext>
                </a:extLst>
              </a:tr>
              <a:tr h="359706">
                <a:tc>
                  <a:txBody>
                    <a:bodyPr/>
                    <a:lstStyle/>
                    <a:p>
                      <a:r>
                        <a:rPr lang="en-US" sz="1200" dirty="0"/>
                        <a:t>5</a:t>
                      </a:r>
                    </a:p>
                  </a:txBody>
                  <a:tcPr/>
                </a:tc>
                <a:tc>
                  <a:txBody>
                    <a:bodyPr/>
                    <a:lstStyle/>
                    <a:p>
                      <a:r>
                        <a:rPr lang="en-US" sz="1200" i="0" dirty="0"/>
                        <a:t>SP[H] Load Enable (</a:t>
                      </a:r>
                      <a:r>
                        <a:rPr lang="en-US" sz="1200" b="1" i="0" dirty="0"/>
                        <a:t>ACTIVE LOW</a:t>
                      </a:r>
                      <a:r>
                        <a:rPr lang="en-US" sz="1200" i="0" dirty="0"/>
                        <a:t>)</a:t>
                      </a:r>
                    </a:p>
                  </a:txBody>
                  <a:tcPr/>
                </a:tc>
                <a:extLst>
                  <a:ext uri="{0D108BD9-81ED-4DB2-BD59-A6C34878D82A}">
                    <a16:rowId xmlns:a16="http://schemas.microsoft.com/office/drawing/2014/main" val="1263556232"/>
                  </a:ext>
                </a:extLst>
              </a:tr>
              <a:tr h="359706">
                <a:tc>
                  <a:txBody>
                    <a:bodyPr/>
                    <a:lstStyle/>
                    <a:p>
                      <a:r>
                        <a:rPr lang="en-US" sz="1200" dirty="0"/>
                        <a:t>4</a:t>
                      </a:r>
                    </a:p>
                  </a:txBody>
                  <a:tcPr/>
                </a:tc>
                <a:tc>
                  <a:txBody>
                    <a:bodyPr/>
                    <a:lstStyle/>
                    <a:p>
                      <a:r>
                        <a:rPr lang="en-US" sz="1200" i="0" dirty="0"/>
                        <a:t>SP[L] Load Enable (</a:t>
                      </a:r>
                      <a:r>
                        <a:rPr lang="en-US" sz="1200" b="1" i="0" dirty="0"/>
                        <a:t>ACTIVE LOW</a:t>
                      </a:r>
                      <a:r>
                        <a:rPr lang="en-US" sz="1200" i="0" dirty="0"/>
                        <a:t>)</a:t>
                      </a:r>
                    </a:p>
                  </a:txBody>
                  <a:tcPr/>
                </a:tc>
                <a:extLst>
                  <a:ext uri="{0D108BD9-81ED-4DB2-BD59-A6C34878D82A}">
                    <a16:rowId xmlns:a16="http://schemas.microsoft.com/office/drawing/2014/main" val="3876244510"/>
                  </a:ext>
                </a:extLst>
              </a:tr>
              <a:tr h="359706">
                <a:tc>
                  <a:txBody>
                    <a:bodyPr/>
                    <a:lstStyle/>
                    <a:p>
                      <a:r>
                        <a:rPr lang="en-US" sz="1200" dirty="0"/>
                        <a:t>3</a:t>
                      </a:r>
                    </a:p>
                  </a:txBody>
                  <a:tcPr/>
                </a:tc>
                <a:tc>
                  <a:txBody>
                    <a:bodyPr/>
                    <a:lstStyle/>
                    <a:p>
                      <a:r>
                        <a:rPr lang="en-US" sz="1200" i="0" dirty="0"/>
                        <a:t>DP[H] Load Enable (</a:t>
                      </a:r>
                      <a:r>
                        <a:rPr lang="en-US" sz="1200" b="1" i="0" dirty="0"/>
                        <a:t>ACTIVE LOW</a:t>
                      </a:r>
                      <a:r>
                        <a:rPr lang="en-US" sz="1200" i="0" dirty="0"/>
                        <a:t>)</a:t>
                      </a:r>
                    </a:p>
                  </a:txBody>
                  <a:tcPr/>
                </a:tc>
                <a:extLst>
                  <a:ext uri="{0D108BD9-81ED-4DB2-BD59-A6C34878D82A}">
                    <a16:rowId xmlns:a16="http://schemas.microsoft.com/office/drawing/2014/main" val="34840973"/>
                  </a:ext>
                </a:extLst>
              </a:tr>
              <a:tr h="359706">
                <a:tc>
                  <a:txBody>
                    <a:bodyPr/>
                    <a:lstStyle/>
                    <a:p>
                      <a:r>
                        <a:rPr lang="en-US" sz="1200" dirty="0"/>
                        <a:t>2</a:t>
                      </a:r>
                    </a:p>
                  </a:txBody>
                  <a:tcPr/>
                </a:tc>
                <a:tc>
                  <a:txBody>
                    <a:bodyPr/>
                    <a:lstStyle/>
                    <a:p>
                      <a:r>
                        <a:rPr lang="en-US" sz="1200" dirty="0"/>
                        <a:t>DP[L] Load Enable </a:t>
                      </a:r>
                      <a:r>
                        <a:rPr lang="en-US" sz="1200" i="0" dirty="0"/>
                        <a:t>(</a:t>
                      </a:r>
                      <a:r>
                        <a:rPr lang="en-US" sz="1200" b="1" i="0" dirty="0"/>
                        <a:t>ACTIVE LOW</a:t>
                      </a:r>
                      <a:r>
                        <a:rPr lang="en-US" sz="1200" i="0" dirty="0"/>
                        <a:t>)</a:t>
                      </a:r>
                      <a:endParaRPr lang="en-US" sz="1200" dirty="0"/>
                    </a:p>
                  </a:txBody>
                  <a:tcPr/>
                </a:tc>
                <a:extLst>
                  <a:ext uri="{0D108BD9-81ED-4DB2-BD59-A6C34878D82A}">
                    <a16:rowId xmlns:a16="http://schemas.microsoft.com/office/drawing/2014/main" val="3812691075"/>
                  </a:ext>
                </a:extLst>
              </a:tr>
              <a:tr h="359706">
                <a:tc>
                  <a:txBody>
                    <a:bodyPr/>
                    <a:lstStyle/>
                    <a:p>
                      <a:r>
                        <a:rPr lang="en-US" sz="1200" dirty="0"/>
                        <a:t>1</a:t>
                      </a:r>
                    </a:p>
                  </a:txBody>
                  <a:tcPr/>
                </a:tc>
                <a:tc>
                  <a:txBody>
                    <a:bodyPr/>
                    <a:lstStyle/>
                    <a:p>
                      <a:r>
                        <a:rPr lang="en-US" sz="1200" dirty="0"/>
                        <a:t>DHPC Load Enable </a:t>
                      </a:r>
                      <a:r>
                        <a:rPr lang="en-US" sz="1200" i="0" dirty="0"/>
                        <a:t>(</a:t>
                      </a:r>
                      <a:r>
                        <a:rPr lang="en-US" sz="1200" b="1" i="0" dirty="0"/>
                        <a:t>ACTIVE LOW</a:t>
                      </a:r>
                      <a:r>
                        <a:rPr lang="en-US" sz="1200" i="0" dirty="0"/>
                        <a:t>)</a:t>
                      </a:r>
                      <a:endParaRPr lang="en-US" sz="1200" dirty="0"/>
                    </a:p>
                  </a:txBody>
                  <a:tcPr/>
                </a:tc>
                <a:extLst>
                  <a:ext uri="{0D108BD9-81ED-4DB2-BD59-A6C34878D82A}">
                    <a16:rowId xmlns:a16="http://schemas.microsoft.com/office/drawing/2014/main" val="523843"/>
                  </a:ext>
                </a:extLst>
              </a:tr>
              <a:tr h="452989">
                <a:tc>
                  <a:txBody>
                    <a:bodyPr/>
                    <a:lstStyle/>
                    <a:p>
                      <a:r>
                        <a:rPr lang="en-US" sz="1200" dirty="0"/>
                        <a:t>0</a:t>
                      </a:r>
                    </a:p>
                  </a:txBody>
                  <a:tcPr/>
                </a:tc>
                <a:tc>
                  <a:txBody>
                    <a:bodyPr/>
                    <a:lstStyle/>
                    <a:p>
                      <a:r>
                        <a:rPr lang="en-US" sz="1200" dirty="0"/>
                        <a:t>PC[L] + PC[H] = DHPC Load Enable </a:t>
                      </a:r>
                      <a:r>
                        <a:rPr lang="en-US" sz="1200" i="0" dirty="0"/>
                        <a:t>(</a:t>
                      </a:r>
                      <a:r>
                        <a:rPr lang="en-US" sz="1200" b="1" i="0" dirty="0"/>
                        <a:t>ACTIVE LOW</a:t>
                      </a:r>
                      <a:r>
                        <a:rPr lang="en-US" sz="1200" i="0" dirty="0"/>
                        <a:t>)</a:t>
                      </a:r>
                      <a:endParaRPr lang="en-US" sz="1200" dirty="0"/>
                    </a:p>
                  </a:txBody>
                  <a:tcPr/>
                </a:tc>
                <a:extLst>
                  <a:ext uri="{0D108BD9-81ED-4DB2-BD59-A6C34878D82A}">
                    <a16:rowId xmlns:a16="http://schemas.microsoft.com/office/drawing/2014/main" val="2010627648"/>
                  </a:ext>
                </a:extLst>
              </a:tr>
            </a:tbl>
          </a:graphicData>
        </a:graphic>
      </p:graphicFrame>
    </p:spTree>
    <p:extLst>
      <p:ext uri="{BB962C8B-B14F-4D97-AF65-F5344CB8AC3E}">
        <p14:creationId xmlns:p14="http://schemas.microsoft.com/office/powerpoint/2010/main" val="166311071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524FD-575F-663E-3EFF-5CE50965355B}"/>
              </a:ext>
            </a:extLst>
          </p:cNvPr>
          <p:cNvSpPr>
            <a:spLocks noGrp="1"/>
          </p:cNvSpPr>
          <p:nvPr>
            <p:ph type="ctrTitle"/>
          </p:nvPr>
        </p:nvSpPr>
        <p:spPr>
          <a:xfrm>
            <a:off x="914399" y="457200"/>
            <a:ext cx="4872537" cy="457200"/>
          </a:xfrm>
        </p:spPr>
        <p:txBody>
          <a:bodyPr/>
          <a:lstStyle/>
          <a:p>
            <a:r>
              <a:rPr lang="en-US" dirty="0"/>
              <a:t>Area Estimation – Chips * Length</a:t>
            </a:r>
          </a:p>
        </p:txBody>
      </p:sp>
      <p:graphicFrame>
        <p:nvGraphicFramePr>
          <p:cNvPr id="4" name="Object 3">
            <a:extLst>
              <a:ext uri="{FF2B5EF4-FFF2-40B4-BE49-F238E27FC236}">
                <a16:creationId xmlns:a16="http://schemas.microsoft.com/office/drawing/2014/main" id="{E70A8036-251D-5A2F-94E4-4C0612A7814B}"/>
              </a:ext>
            </a:extLst>
          </p:cNvPr>
          <p:cNvGraphicFramePr>
            <a:graphicFrameLocks noChangeAspect="1"/>
          </p:cNvGraphicFramePr>
          <p:nvPr>
            <p:extLst>
              <p:ext uri="{D42A27DB-BD31-4B8C-83A1-F6EECF244321}">
                <p14:modId xmlns:p14="http://schemas.microsoft.com/office/powerpoint/2010/main" val="1681888676"/>
              </p:ext>
            </p:extLst>
          </p:nvPr>
        </p:nvGraphicFramePr>
        <p:xfrm>
          <a:off x="1673225" y="973138"/>
          <a:ext cx="6172200" cy="5343525"/>
        </p:xfrm>
        <a:graphic>
          <a:graphicData uri="http://schemas.openxmlformats.org/presentationml/2006/ole">
            <mc:AlternateContent xmlns:mc="http://schemas.openxmlformats.org/markup-compatibility/2006">
              <mc:Choice xmlns:v="urn:schemas-microsoft-com:vml" Requires="v">
                <p:oleObj name="Worksheet" r:id="rId2" imgW="6172295" imgH="5343508" progId="Excel.Sheet.12">
                  <p:embed/>
                </p:oleObj>
              </mc:Choice>
              <mc:Fallback>
                <p:oleObj name="Worksheet" r:id="rId2" imgW="6172295" imgH="5343508" progId="Excel.Sheet.12">
                  <p:embed/>
                  <p:pic>
                    <p:nvPicPr>
                      <p:cNvPr id="4" name="Object 3">
                        <a:extLst>
                          <a:ext uri="{FF2B5EF4-FFF2-40B4-BE49-F238E27FC236}">
                            <a16:creationId xmlns:a16="http://schemas.microsoft.com/office/drawing/2014/main" id="{E70A8036-251D-5A2F-94E4-4C0612A7814B}"/>
                          </a:ext>
                        </a:extLst>
                      </p:cNvPr>
                      <p:cNvPicPr/>
                      <p:nvPr/>
                    </p:nvPicPr>
                    <p:blipFill>
                      <a:blip r:embed="rId3"/>
                      <a:stretch>
                        <a:fillRect/>
                      </a:stretch>
                    </p:blipFill>
                    <p:spPr>
                      <a:xfrm>
                        <a:off x="1673225" y="973138"/>
                        <a:ext cx="6172200" cy="5343525"/>
                      </a:xfrm>
                      <a:prstGeom prst="rect">
                        <a:avLst/>
                      </a:prstGeom>
                    </p:spPr>
                  </p:pic>
                </p:oleObj>
              </mc:Fallback>
            </mc:AlternateContent>
          </a:graphicData>
        </a:graphic>
      </p:graphicFrame>
      <p:graphicFrame>
        <p:nvGraphicFramePr>
          <p:cNvPr id="5" name="Table 4">
            <a:extLst>
              <a:ext uri="{FF2B5EF4-FFF2-40B4-BE49-F238E27FC236}">
                <a16:creationId xmlns:a16="http://schemas.microsoft.com/office/drawing/2014/main" id="{EC407CE8-5308-70CD-517E-F143F26944FC}"/>
              </a:ext>
            </a:extLst>
          </p:cNvPr>
          <p:cNvGraphicFramePr>
            <a:graphicFrameLocks noGrp="1"/>
          </p:cNvGraphicFramePr>
          <p:nvPr>
            <p:extLst>
              <p:ext uri="{D42A27DB-BD31-4B8C-83A1-F6EECF244321}">
                <p14:modId xmlns:p14="http://schemas.microsoft.com/office/powerpoint/2010/main" val="2854298354"/>
              </p:ext>
            </p:extLst>
          </p:nvPr>
        </p:nvGraphicFramePr>
        <p:xfrm>
          <a:off x="10761784" y="860343"/>
          <a:ext cx="773013" cy="2514600"/>
        </p:xfrm>
        <a:graphic>
          <a:graphicData uri="http://schemas.openxmlformats.org/drawingml/2006/table">
            <a:tbl>
              <a:tblPr bandRow="1">
                <a:tableStyleId>{5C22544A-7EE6-4342-B048-85BDC9FD1C3A}</a:tableStyleId>
              </a:tblPr>
              <a:tblGrid>
                <a:gridCol w="773013">
                  <a:extLst>
                    <a:ext uri="{9D8B030D-6E8A-4147-A177-3AD203B41FA5}">
                      <a16:colId xmlns:a16="http://schemas.microsoft.com/office/drawing/2014/main" val="1872477153"/>
                    </a:ext>
                  </a:extLst>
                </a:gridCol>
              </a:tblGrid>
              <a:tr h="156636">
                <a:tc>
                  <a:txBody>
                    <a:bodyPr/>
                    <a:lstStyle/>
                    <a:p>
                      <a:r>
                        <a:rPr lang="en-US" sz="900" dirty="0"/>
                        <a:t>1. clock</a:t>
                      </a:r>
                    </a:p>
                  </a:txBody>
                  <a:tcPr marR="0"/>
                </a:tc>
                <a:extLst>
                  <a:ext uri="{0D108BD9-81ED-4DB2-BD59-A6C34878D82A}">
                    <a16:rowId xmlns:a16="http://schemas.microsoft.com/office/drawing/2014/main" val="1692633745"/>
                  </a:ext>
                </a:extLst>
              </a:tr>
              <a:tr h="156636">
                <a:tc>
                  <a:txBody>
                    <a:bodyPr/>
                    <a:lstStyle/>
                    <a:p>
                      <a:r>
                        <a:rPr lang="en-US" sz="900" dirty="0"/>
                        <a:t>2. CTRL LEDs</a:t>
                      </a:r>
                    </a:p>
                  </a:txBody>
                  <a:tcPr marR="0"/>
                </a:tc>
                <a:extLst>
                  <a:ext uri="{0D108BD9-81ED-4DB2-BD59-A6C34878D82A}">
                    <a16:rowId xmlns:a16="http://schemas.microsoft.com/office/drawing/2014/main" val="211146348"/>
                  </a:ext>
                </a:extLst>
              </a:tr>
              <a:tr h="156636">
                <a:tc>
                  <a:txBody>
                    <a:bodyPr/>
                    <a:lstStyle/>
                    <a:p>
                      <a:r>
                        <a:rPr lang="en-US" sz="900" dirty="0"/>
                        <a:t>3. </a:t>
                      </a:r>
                      <a:r>
                        <a:rPr lang="en-US" sz="900" dirty="0" err="1"/>
                        <a:t>MicroInst</a:t>
                      </a:r>
                      <a:endParaRPr lang="en-US" sz="900" dirty="0"/>
                    </a:p>
                  </a:txBody>
                  <a:tcPr marR="0"/>
                </a:tc>
                <a:extLst>
                  <a:ext uri="{0D108BD9-81ED-4DB2-BD59-A6C34878D82A}">
                    <a16:rowId xmlns:a16="http://schemas.microsoft.com/office/drawing/2014/main" val="351720315"/>
                  </a:ext>
                </a:extLst>
              </a:tr>
              <a:tr h="156636">
                <a:tc>
                  <a:txBody>
                    <a:bodyPr/>
                    <a:lstStyle/>
                    <a:p>
                      <a:r>
                        <a:rPr lang="en-US" sz="900" dirty="0"/>
                        <a:t>4. OE/WE</a:t>
                      </a:r>
                    </a:p>
                  </a:txBody>
                  <a:tcPr marR="0"/>
                </a:tc>
                <a:extLst>
                  <a:ext uri="{0D108BD9-81ED-4DB2-BD59-A6C34878D82A}">
                    <a16:rowId xmlns:a16="http://schemas.microsoft.com/office/drawing/2014/main" val="2431152703"/>
                  </a:ext>
                </a:extLst>
              </a:tr>
              <a:tr h="156636">
                <a:tc>
                  <a:txBody>
                    <a:bodyPr/>
                    <a:lstStyle/>
                    <a:p>
                      <a:r>
                        <a:rPr lang="en-US" sz="900" dirty="0"/>
                        <a:t>5. ROM</a:t>
                      </a:r>
                    </a:p>
                  </a:txBody>
                  <a:tcPr marR="0"/>
                </a:tc>
                <a:extLst>
                  <a:ext uri="{0D108BD9-81ED-4DB2-BD59-A6C34878D82A}">
                    <a16:rowId xmlns:a16="http://schemas.microsoft.com/office/drawing/2014/main" val="180135513"/>
                  </a:ext>
                </a:extLst>
              </a:tr>
              <a:tr h="156636">
                <a:tc>
                  <a:txBody>
                    <a:bodyPr/>
                    <a:lstStyle/>
                    <a:p>
                      <a:r>
                        <a:rPr lang="en-US" sz="900" dirty="0"/>
                        <a:t>6. DP</a:t>
                      </a:r>
                    </a:p>
                  </a:txBody>
                  <a:tcPr marR="0"/>
                </a:tc>
                <a:extLst>
                  <a:ext uri="{0D108BD9-81ED-4DB2-BD59-A6C34878D82A}">
                    <a16:rowId xmlns:a16="http://schemas.microsoft.com/office/drawing/2014/main" val="2146293983"/>
                  </a:ext>
                </a:extLst>
              </a:tr>
              <a:tr h="156636">
                <a:tc>
                  <a:txBody>
                    <a:bodyPr/>
                    <a:lstStyle/>
                    <a:p>
                      <a:r>
                        <a:rPr lang="en-US" sz="900" dirty="0"/>
                        <a:t>7. SRAM</a:t>
                      </a:r>
                    </a:p>
                  </a:txBody>
                  <a:tcPr marR="0"/>
                </a:tc>
                <a:extLst>
                  <a:ext uri="{0D108BD9-81ED-4DB2-BD59-A6C34878D82A}">
                    <a16:rowId xmlns:a16="http://schemas.microsoft.com/office/drawing/2014/main" val="1853760014"/>
                  </a:ext>
                </a:extLst>
              </a:tr>
              <a:tr h="156636">
                <a:tc>
                  <a:txBody>
                    <a:bodyPr/>
                    <a:lstStyle/>
                    <a:p>
                      <a:r>
                        <a:rPr lang="en-US" sz="900" dirty="0"/>
                        <a:t>8. PC</a:t>
                      </a:r>
                    </a:p>
                  </a:txBody>
                  <a:tcPr marR="0"/>
                </a:tc>
                <a:extLst>
                  <a:ext uri="{0D108BD9-81ED-4DB2-BD59-A6C34878D82A}">
                    <a16:rowId xmlns:a16="http://schemas.microsoft.com/office/drawing/2014/main" val="81335245"/>
                  </a:ext>
                </a:extLst>
              </a:tr>
              <a:tr h="156636">
                <a:tc>
                  <a:txBody>
                    <a:bodyPr/>
                    <a:lstStyle/>
                    <a:p>
                      <a:r>
                        <a:rPr lang="en-US" sz="900" dirty="0"/>
                        <a:t>9 </a:t>
                      </a:r>
                      <a:r>
                        <a:rPr lang="en-US" sz="900" dirty="0" err="1"/>
                        <a:t>Addr</a:t>
                      </a:r>
                      <a:endParaRPr lang="en-US" sz="900" dirty="0"/>
                    </a:p>
                  </a:txBody>
                  <a:tcPr marR="0"/>
                </a:tc>
                <a:extLst>
                  <a:ext uri="{0D108BD9-81ED-4DB2-BD59-A6C34878D82A}">
                    <a16:rowId xmlns:a16="http://schemas.microsoft.com/office/drawing/2014/main" val="2069914810"/>
                  </a:ext>
                </a:extLst>
              </a:tr>
              <a:tr h="156636">
                <a:tc>
                  <a:txBody>
                    <a:bodyPr/>
                    <a:lstStyle/>
                    <a:p>
                      <a:r>
                        <a:rPr lang="en-US" sz="900" dirty="0"/>
                        <a:t>10. Counter</a:t>
                      </a:r>
                    </a:p>
                  </a:txBody>
                  <a:tcPr marR="0"/>
                </a:tc>
                <a:extLst>
                  <a:ext uri="{0D108BD9-81ED-4DB2-BD59-A6C34878D82A}">
                    <a16:rowId xmlns:a16="http://schemas.microsoft.com/office/drawing/2014/main" val="3300314019"/>
                  </a:ext>
                </a:extLst>
              </a:tr>
              <a:tr h="156636">
                <a:tc>
                  <a:txBody>
                    <a:bodyPr/>
                    <a:lstStyle/>
                    <a:p>
                      <a:r>
                        <a:rPr lang="en-US" sz="900" dirty="0"/>
                        <a:t>11. RNG</a:t>
                      </a:r>
                    </a:p>
                  </a:txBody>
                  <a:tcPr marR="0"/>
                </a:tc>
                <a:extLst>
                  <a:ext uri="{0D108BD9-81ED-4DB2-BD59-A6C34878D82A}">
                    <a16:rowId xmlns:a16="http://schemas.microsoft.com/office/drawing/2014/main" val="1634311788"/>
                  </a:ext>
                </a:extLst>
              </a:tr>
            </a:tbl>
          </a:graphicData>
        </a:graphic>
      </p:graphicFrame>
      <p:graphicFrame>
        <p:nvGraphicFramePr>
          <p:cNvPr id="6" name="Table 5">
            <a:extLst>
              <a:ext uri="{FF2B5EF4-FFF2-40B4-BE49-F238E27FC236}">
                <a16:creationId xmlns:a16="http://schemas.microsoft.com/office/drawing/2014/main" id="{7F97BDDE-BD67-2894-DA91-0B231600CBD2}"/>
              </a:ext>
            </a:extLst>
          </p:cNvPr>
          <p:cNvGraphicFramePr>
            <a:graphicFrameLocks noGrp="1"/>
          </p:cNvGraphicFramePr>
          <p:nvPr>
            <p:extLst>
              <p:ext uri="{D42A27DB-BD31-4B8C-83A1-F6EECF244321}">
                <p14:modId xmlns:p14="http://schemas.microsoft.com/office/powerpoint/2010/main" val="1864240417"/>
              </p:ext>
            </p:extLst>
          </p:nvPr>
        </p:nvGraphicFramePr>
        <p:xfrm>
          <a:off x="9745762" y="860343"/>
          <a:ext cx="773013" cy="457200"/>
        </p:xfrm>
        <a:graphic>
          <a:graphicData uri="http://schemas.openxmlformats.org/drawingml/2006/table">
            <a:tbl>
              <a:tblPr bandRow="1">
                <a:tableStyleId>{5C22544A-7EE6-4342-B048-85BDC9FD1C3A}</a:tableStyleId>
              </a:tblPr>
              <a:tblGrid>
                <a:gridCol w="773013">
                  <a:extLst>
                    <a:ext uri="{9D8B030D-6E8A-4147-A177-3AD203B41FA5}">
                      <a16:colId xmlns:a16="http://schemas.microsoft.com/office/drawing/2014/main" val="1872477153"/>
                    </a:ext>
                  </a:extLst>
                </a:gridCol>
              </a:tblGrid>
              <a:tr h="156636">
                <a:tc>
                  <a:txBody>
                    <a:bodyPr/>
                    <a:lstStyle/>
                    <a:p>
                      <a:r>
                        <a:rPr lang="en-US" sz="900" dirty="0"/>
                        <a:t>12. OpCode</a:t>
                      </a:r>
                    </a:p>
                  </a:txBody>
                  <a:tcPr marR="0"/>
                </a:tc>
                <a:extLst>
                  <a:ext uri="{0D108BD9-81ED-4DB2-BD59-A6C34878D82A}">
                    <a16:rowId xmlns:a16="http://schemas.microsoft.com/office/drawing/2014/main" val="1692633745"/>
                  </a:ext>
                </a:extLst>
              </a:tr>
              <a:tr h="156636">
                <a:tc>
                  <a:txBody>
                    <a:bodyPr/>
                    <a:lstStyle/>
                    <a:p>
                      <a:r>
                        <a:rPr lang="en-US" sz="900" dirty="0"/>
                        <a:t>13. Regs</a:t>
                      </a:r>
                    </a:p>
                  </a:txBody>
                  <a:tcPr marR="0"/>
                </a:tc>
                <a:extLst>
                  <a:ext uri="{0D108BD9-81ED-4DB2-BD59-A6C34878D82A}">
                    <a16:rowId xmlns:a16="http://schemas.microsoft.com/office/drawing/2014/main" val="211146348"/>
                  </a:ext>
                </a:extLst>
              </a:tr>
            </a:tbl>
          </a:graphicData>
        </a:graphic>
      </p:graphicFrame>
      <p:graphicFrame>
        <p:nvGraphicFramePr>
          <p:cNvPr id="7" name="Table 6">
            <a:extLst>
              <a:ext uri="{FF2B5EF4-FFF2-40B4-BE49-F238E27FC236}">
                <a16:creationId xmlns:a16="http://schemas.microsoft.com/office/drawing/2014/main" id="{E0AC04D5-745C-DAF5-BED1-D5E1606D3DE6}"/>
              </a:ext>
            </a:extLst>
          </p:cNvPr>
          <p:cNvGraphicFramePr>
            <a:graphicFrameLocks noGrp="1"/>
          </p:cNvGraphicFramePr>
          <p:nvPr>
            <p:extLst>
              <p:ext uri="{D42A27DB-BD31-4B8C-83A1-F6EECF244321}">
                <p14:modId xmlns:p14="http://schemas.microsoft.com/office/powerpoint/2010/main" val="3841258032"/>
              </p:ext>
            </p:extLst>
          </p:nvPr>
        </p:nvGraphicFramePr>
        <p:xfrm>
          <a:off x="9918598" y="1444128"/>
          <a:ext cx="427340" cy="673515"/>
        </p:xfrm>
        <a:graphic>
          <a:graphicData uri="http://schemas.openxmlformats.org/drawingml/2006/table">
            <a:tbl>
              <a:tblPr bandRow="1">
                <a:tableStyleId>{5C22544A-7EE6-4342-B048-85BDC9FD1C3A}</a:tableStyleId>
              </a:tblPr>
              <a:tblGrid>
                <a:gridCol w="213670">
                  <a:extLst>
                    <a:ext uri="{9D8B030D-6E8A-4147-A177-3AD203B41FA5}">
                      <a16:colId xmlns:a16="http://schemas.microsoft.com/office/drawing/2014/main" val="1872477153"/>
                    </a:ext>
                  </a:extLst>
                </a:gridCol>
                <a:gridCol w="213670">
                  <a:extLst>
                    <a:ext uri="{9D8B030D-6E8A-4147-A177-3AD203B41FA5}">
                      <a16:colId xmlns:a16="http://schemas.microsoft.com/office/drawing/2014/main" val="2987329324"/>
                    </a:ext>
                  </a:extLst>
                </a:gridCol>
              </a:tblGrid>
              <a:tr h="673515">
                <a:tc>
                  <a:txBody>
                    <a:bodyPr/>
                    <a:lstStyle/>
                    <a:p>
                      <a:r>
                        <a:rPr lang="en-US" sz="900" dirty="0"/>
                        <a:t>15. Branch</a:t>
                      </a:r>
                    </a:p>
                  </a:txBody>
                  <a:tcPr marR="0" vert="vert"/>
                </a:tc>
                <a:tc>
                  <a:txBody>
                    <a:bodyPr/>
                    <a:lstStyle/>
                    <a:p>
                      <a:r>
                        <a:rPr lang="en-US" sz="900" dirty="0"/>
                        <a:t>14. Display</a:t>
                      </a:r>
                    </a:p>
                  </a:txBody>
                  <a:tcPr marR="0" vert="vert"/>
                </a:tc>
                <a:extLst>
                  <a:ext uri="{0D108BD9-81ED-4DB2-BD59-A6C34878D82A}">
                    <a16:rowId xmlns:a16="http://schemas.microsoft.com/office/drawing/2014/main" val="1692633745"/>
                  </a:ext>
                </a:extLst>
              </a:tr>
            </a:tbl>
          </a:graphicData>
        </a:graphic>
      </p:graphicFrame>
      <p:graphicFrame>
        <p:nvGraphicFramePr>
          <p:cNvPr id="8" name="Table 7">
            <a:extLst>
              <a:ext uri="{FF2B5EF4-FFF2-40B4-BE49-F238E27FC236}">
                <a16:creationId xmlns:a16="http://schemas.microsoft.com/office/drawing/2014/main" id="{010CA979-4A5C-73AC-021B-0A9AF7AD65F5}"/>
              </a:ext>
            </a:extLst>
          </p:cNvPr>
          <p:cNvGraphicFramePr>
            <a:graphicFrameLocks noGrp="1"/>
          </p:cNvGraphicFramePr>
          <p:nvPr>
            <p:extLst>
              <p:ext uri="{D42A27DB-BD31-4B8C-83A1-F6EECF244321}">
                <p14:modId xmlns:p14="http://schemas.microsoft.com/office/powerpoint/2010/main" val="2311594300"/>
              </p:ext>
            </p:extLst>
          </p:nvPr>
        </p:nvGraphicFramePr>
        <p:xfrm>
          <a:off x="9745762" y="2207964"/>
          <a:ext cx="773013" cy="1143000"/>
        </p:xfrm>
        <a:graphic>
          <a:graphicData uri="http://schemas.openxmlformats.org/drawingml/2006/table">
            <a:tbl>
              <a:tblPr bandRow="1">
                <a:tableStyleId>{5C22544A-7EE6-4342-B048-85BDC9FD1C3A}</a:tableStyleId>
              </a:tblPr>
              <a:tblGrid>
                <a:gridCol w="773013">
                  <a:extLst>
                    <a:ext uri="{9D8B030D-6E8A-4147-A177-3AD203B41FA5}">
                      <a16:colId xmlns:a16="http://schemas.microsoft.com/office/drawing/2014/main" val="1872477153"/>
                    </a:ext>
                  </a:extLst>
                </a:gridCol>
              </a:tblGrid>
              <a:tr h="156636">
                <a:tc>
                  <a:txBody>
                    <a:bodyPr/>
                    <a:lstStyle/>
                    <a:p>
                      <a:r>
                        <a:rPr lang="en-US" sz="900" dirty="0"/>
                        <a:t>16. SD MKR</a:t>
                      </a:r>
                    </a:p>
                  </a:txBody>
                  <a:tcPr marR="0"/>
                </a:tc>
                <a:extLst>
                  <a:ext uri="{0D108BD9-81ED-4DB2-BD59-A6C34878D82A}">
                    <a16:rowId xmlns:a16="http://schemas.microsoft.com/office/drawing/2014/main" val="1692633745"/>
                  </a:ext>
                </a:extLst>
              </a:tr>
              <a:tr h="156636">
                <a:tc>
                  <a:txBody>
                    <a:bodyPr/>
                    <a:lstStyle/>
                    <a:p>
                      <a:r>
                        <a:rPr lang="en-US" sz="900" dirty="0"/>
                        <a:t>17. SD I/F</a:t>
                      </a:r>
                    </a:p>
                  </a:txBody>
                  <a:tcPr marR="0"/>
                </a:tc>
                <a:extLst>
                  <a:ext uri="{0D108BD9-81ED-4DB2-BD59-A6C34878D82A}">
                    <a16:rowId xmlns:a16="http://schemas.microsoft.com/office/drawing/2014/main" val="211146348"/>
                  </a:ext>
                </a:extLst>
              </a:tr>
              <a:tr h="156636">
                <a:tc>
                  <a:txBody>
                    <a:bodyPr/>
                    <a:lstStyle/>
                    <a:p>
                      <a:r>
                        <a:rPr lang="en-US" sz="900" dirty="0"/>
                        <a:t>18. BP</a:t>
                      </a:r>
                    </a:p>
                  </a:txBody>
                  <a:tcPr marR="0"/>
                </a:tc>
                <a:extLst>
                  <a:ext uri="{0D108BD9-81ED-4DB2-BD59-A6C34878D82A}">
                    <a16:rowId xmlns:a16="http://schemas.microsoft.com/office/drawing/2014/main" val="351720315"/>
                  </a:ext>
                </a:extLst>
              </a:tr>
              <a:tr h="156636">
                <a:tc>
                  <a:txBody>
                    <a:bodyPr/>
                    <a:lstStyle/>
                    <a:p>
                      <a:r>
                        <a:rPr lang="en-US" sz="900" dirty="0"/>
                        <a:t>19. </a:t>
                      </a:r>
                      <a:r>
                        <a:rPr lang="en-US" sz="900" dirty="0" err="1"/>
                        <a:t>AddrDisp</a:t>
                      </a:r>
                      <a:endParaRPr lang="en-US" sz="900" dirty="0"/>
                    </a:p>
                  </a:txBody>
                  <a:tcPr marR="0"/>
                </a:tc>
                <a:extLst>
                  <a:ext uri="{0D108BD9-81ED-4DB2-BD59-A6C34878D82A}">
                    <a16:rowId xmlns:a16="http://schemas.microsoft.com/office/drawing/2014/main" val="2431152703"/>
                  </a:ext>
                </a:extLst>
              </a:tr>
              <a:tr h="156636">
                <a:tc>
                  <a:txBody>
                    <a:bodyPr/>
                    <a:lstStyle/>
                    <a:p>
                      <a:r>
                        <a:rPr lang="en-US" sz="900" dirty="0"/>
                        <a:t>20. </a:t>
                      </a:r>
                      <a:r>
                        <a:rPr lang="en-US" sz="900" dirty="0" err="1"/>
                        <a:t>TmpAR</a:t>
                      </a:r>
                      <a:endParaRPr lang="en-US" sz="900" dirty="0"/>
                    </a:p>
                  </a:txBody>
                  <a:tcPr marR="0"/>
                </a:tc>
                <a:extLst>
                  <a:ext uri="{0D108BD9-81ED-4DB2-BD59-A6C34878D82A}">
                    <a16:rowId xmlns:a16="http://schemas.microsoft.com/office/drawing/2014/main" val="180135513"/>
                  </a:ext>
                </a:extLst>
              </a:tr>
            </a:tbl>
          </a:graphicData>
        </a:graphic>
      </p:graphicFrame>
      <p:graphicFrame>
        <p:nvGraphicFramePr>
          <p:cNvPr id="9" name="Table 8">
            <a:extLst>
              <a:ext uri="{FF2B5EF4-FFF2-40B4-BE49-F238E27FC236}">
                <a16:creationId xmlns:a16="http://schemas.microsoft.com/office/drawing/2014/main" id="{A0E9E8DA-E924-582A-E545-A4BC16F3A799}"/>
              </a:ext>
            </a:extLst>
          </p:cNvPr>
          <p:cNvGraphicFramePr>
            <a:graphicFrameLocks noGrp="1"/>
          </p:cNvGraphicFramePr>
          <p:nvPr>
            <p:extLst>
              <p:ext uri="{D42A27DB-BD31-4B8C-83A1-F6EECF244321}">
                <p14:modId xmlns:p14="http://schemas.microsoft.com/office/powerpoint/2010/main" val="1430083669"/>
              </p:ext>
            </p:extLst>
          </p:nvPr>
        </p:nvGraphicFramePr>
        <p:xfrm>
          <a:off x="9329916" y="2003934"/>
          <a:ext cx="213670" cy="1347030"/>
        </p:xfrm>
        <a:graphic>
          <a:graphicData uri="http://schemas.openxmlformats.org/drawingml/2006/table">
            <a:tbl>
              <a:tblPr bandRow="1">
                <a:tableStyleId>{5C22544A-7EE6-4342-B048-85BDC9FD1C3A}</a:tableStyleId>
              </a:tblPr>
              <a:tblGrid>
                <a:gridCol w="213670">
                  <a:extLst>
                    <a:ext uri="{9D8B030D-6E8A-4147-A177-3AD203B41FA5}">
                      <a16:colId xmlns:a16="http://schemas.microsoft.com/office/drawing/2014/main" val="1872477153"/>
                    </a:ext>
                  </a:extLst>
                </a:gridCol>
              </a:tblGrid>
              <a:tr h="673515">
                <a:tc>
                  <a:txBody>
                    <a:bodyPr/>
                    <a:lstStyle/>
                    <a:p>
                      <a:r>
                        <a:rPr lang="en-US" sz="900" dirty="0"/>
                        <a:t>21. KBD</a:t>
                      </a:r>
                    </a:p>
                  </a:txBody>
                  <a:tcPr marR="0" vert="vert"/>
                </a:tc>
                <a:extLst>
                  <a:ext uri="{0D108BD9-81ED-4DB2-BD59-A6C34878D82A}">
                    <a16:rowId xmlns:a16="http://schemas.microsoft.com/office/drawing/2014/main" val="1692633745"/>
                  </a:ext>
                </a:extLst>
              </a:tr>
              <a:tr h="673515">
                <a:tc>
                  <a:txBody>
                    <a:bodyPr/>
                    <a:lstStyle/>
                    <a:p>
                      <a:r>
                        <a:rPr lang="en-US" sz="900" dirty="0"/>
                        <a:t>22. SP</a:t>
                      </a:r>
                    </a:p>
                  </a:txBody>
                  <a:tcPr marR="0" vert="vert"/>
                </a:tc>
                <a:extLst>
                  <a:ext uri="{0D108BD9-81ED-4DB2-BD59-A6C34878D82A}">
                    <a16:rowId xmlns:a16="http://schemas.microsoft.com/office/drawing/2014/main" val="958231765"/>
                  </a:ext>
                </a:extLst>
              </a:tr>
            </a:tbl>
          </a:graphicData>
        </a:graphic>
      </p:graphicFrame>
      <p:graphicFrame>
        <p:nvGraphicFramePr>
          <p:cNvPr id="10" name="Table 9">
            <a:extLst>
              <a:ext uri="{FF2B5EF4-FFF2-40B4-BE49-F238E27FC236}">
                <a16:creationId xmlns:a16="http://schemas.microsoft.com/office/drawing/2014/main" id="{419BDC3F-5D24-266E-3DC7-F30BBFCCDD45}"/>
              </a:ext>
            </a:extLst>
          </p:cNvPr>
          <p:cNvGraphicFramePr>
            <a:graphicFrameLocks noGrp="1"/>
          </p:cNvGraphicFramePr>
          <p:nvPr>
            <p:extLst>
              <p:ext uri="{D42A27DB-BD31-4B8C-83A1-F6EECF244321}">
                <p14:modId xmlns:p14="http://schemas.microsoft.com/office/powerpoint/2010/main" val="85294037"/>
              </p:ext>
            </p:extLst>
          </p:nvPr>
        </p:nvGraphicFramePr>
        <p:xfrm>
          <a:off x="8773124" y="860344"/>
          <a:ext cx="851134" cy="824288"/>
        </p:xfrm>
        <a:graphic>
          <a:graphicData uri="http://schemas.openxmlformats.org/drawingml/2006/table">
            <a:tbl>
              <a:tblPr bandRow="1">
                <a:tableStyleId>{5C22544A-7EE6-4342-B048-85BDC9FD1C3A}</a:tableStyleId>
              </a:tblPr>
              <a:tblGrid>
                <a:gridCol w="851134">
                  <a:extLst>
                    <a:ext uri="{9D8B030D-6E8A-4147-A177-3AD203B41FA5}">
                      <a16:colId xmlns:a16="http://schemas.microsoft.com/office/drawing/2014/main" val="1872477153"/>
                    </a:ext>
                  </a:extLst>
                </a:gridCol>
              </a:tblGrid>
              <a:tr h="412144">
                <a:tc>
                  <a:txBody>
                    <a:bodyPr/>
                    <a:lstStyle/>
                    <a:p>
                      <a:r>
                        <a:rPr lang="en-US" sz="900" dirty="0"/>
                        <a:t>23. Arduino+ Display</a:t>
                      </a:r>
                    </a:p>
                  </a:txBody>
                  <a:tcPr marR="0"/>
                </a:tc>
                <a:extLst>
                  <a:ext uri="{0D108BD9-81ED-4DB2-BD59-A6C34878D82A}">
                    <a16:rowId xmlns:a16="http://schemas.microsoft.com/office/drawing/2014/main" val="1692633745"/>
                  </a:ext>
                </a:extLst>
              </a:tr>
              <a:tr h="412144">
                <a:tc>
                  <a:txBody>
                    <a:bodyPr/>
                    <a:lstStyle/>
                    <a:p>
                      <a:r>
                        <a:rPr lang="en-US" sz="900" dirty="0"/>
                        <a:t>24. ALU</a:t>
                      </a:r>
                    </a:p>
                  </a:txBody>
                  <a:tcPr marR="0"/>
                </a:tc>
                <a:extLst>
                  <a:ext uri="{0D108BD9-81ED-4DB2-BD59-A6C34878D82A}">
                    <a16:rowId xmlns:a16="http://schemas.microsoft.com/office/drawing/2014/main" val="3441698635"/>
                  </a:ext>
                </a:extLst>
              </a:tr>
            </a:tbl>
          </a:graphicData>
        </a:graphic>
      </p:graphicFrame>
    </p:spTree>
    <p:extLst>
      <p:ext uri="{BB962C8B-B14F-4D97-AF65-F5344CB8AC3E}">
        <p14:creationId xmlns:p14="http://schemas.microsoft.com/office/powerpoint/2010/main" val="275147504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B0FF1-47C2-6FFB-667C-1CC9C5BDE9BB}"/>
              </a:ext>
            </a:extLst>
          </p:cNvPr>
          <p:cNvSpPr>
            <a:spLocks noGrp="1"/>
          </p:cNvSpPr>
          <p:nvPr>
            <p:ph type="ctrTitle"/>
          </p:nvPr>
        </p:nvSpPr>
        <p:spPr/>
        <p:txBody>
          <a:bodyPr/>
          <a:lstStyle/>
          <a:p>
            <a:r>
              <a:rPr lang="en-US" dirty="0"/>
              <a:t>Utilization of Backplane</a:t>
            </a:r>
          </a:p>
        </p:txBody>
      </p:sp>
      <p:graphicFrame>
        <p:nvGraphicFramePr>
          <p:cNvPr id="4" name="Table 3">
            <a:extLst>
              <a:ext uri="{FF2B5EF4-FFF2-40B4-BE49-F238E27FC236}">
                <a16:creationId xmlns:a16="http://schemas.microsoft.com/office/drawing/2014/main" id="{337A02F8-CB06-E4A7-2BC7-AD8ABF4D3551}"/>
              </a:ext>
            </a:extLst>
          </p:cNvPr>
          <p:cNvGraphicFramePr>
            <a:graphicFrameLocks noGrp="1"/>
          </p:cNvGraphicFramePr>
          <p:nvPr>
            <p:extLst>
              <p:ext uri="{D42A27DB-BD31-4B8C-83A1-F6EECF244321}">
                <p14:modId xmlns:p14="http://schemas.microsoft.com/office/powerpoint/2010/main" val="3464432557"/>
              </p:ext>
            </p:extLst>
          </p:nvPr>
        </p:nvGraphicFramePr>
        <p:xfrm>
          <a:off x="402847" y="1992152"/>
          <a:ext cx="10160714" cy="2514600"/>
        </p:xfrm>
        <a:graphic>
          <a:graphicData uri="http://schemas.openxmlformats.org/drawingml/2006/table">
            <a:tbl>
              <a:tblPr firstRow="1" bandRow="1">
                <a:tableStyleId>{5C22544A-7EE6-4342-B048-85BDC9FD1C3A}</a:tableStyleId>
              </a:tblPr>
              <a:tblGrid>
                <a:gridCol w="1870218">
                  <a:extLst>
                    <a:ext uri="{9D8B030D-6E8A-4147-A177-3AD203B41FA5}">
                      <a16:colId xmlns:a16="http://schemas.microsoft.com/office/drawing/2014/main" val="1555193808"/>
                    </a:ext>
                  </a:extLst>
                </a:gridCol>
                <a:gridCol w="518156">
                  <a:extLst>
                    <a:ext uri="{9D8B030D-6E8A-4147-A177-3AD203B41FA5}">
                      <a16:colId xmlns:a16="http://schemas.microsoft.com/office/drawing/2014/main" val="2624930380"/>
                    </a:ext>
                  </a:extLst>
                </a:gridCol>
                <a:gridCol w="518156">
                  <a:extLst>
                    <a:ext uri="{9D8B030D-6E8A-4147-A177-3AD203B41FA5}">
                      <a16:colId xmlns:a16="http://schemas.microsoft.com/office/drawing/2014/main" val="392652806"/>
                    </a:ext>
                  </a:extLst>
                </a:gridCol>
                <a:gridCol w="518156">
                  <a:extLst>
                    <a:ext uri="{9D8B030D-6E8A-4147-A177-3AD203B41FA5}">
                      <a16:colId xmlns:a16="http://schemas.microsoft.com/office/drawing/2014/main" val="3833090882"/>
                    </a:ext>
                  </a:extLst>
                </a:gridCol>
                <a:gridCol w="518156">
                  <a:extLst>
                    <a:ext uri="{9D8B030D-6E8A-4147-A177-3AD203B41FA5}">
                      <a16:colId xmlns:a16="http://schemas.microsoft.com/office/drawing/2014/main" val="2537737320"/>
                    </a:ext>
                  </a:extLst>
                </a:gridCol>
                <a:gridCol w="518156">
                  <a:extLst>
                    <a:ext uri="{9D8B030D-6E8A-4147-A177-3AD203B41FA5}">
                      <a16:colId xmlns:a16="http://schemas.microsoft.com/office/drawing/2014/main" val="3330734851"/>
                    </a:ext>
                  </a:extLst>
                </a:gridCol>
                <a:gridCol w="518156">
                  <a:extLst>
                    <a:ext uri="{9D8B030D-6E8A-4147-A177-3AD203B41FA5}">
                      <a16:colId xmlns:a16="http://schemas.microsoft.com/office/drawing/2014/main" val="3075890233"/>
                    </a:ext>
                  </a:extLst>
                </a:gridCol>
                <a:gridCol w="518156">
                  <a:extLst>
                    <a:ext uri="{9D8B030D-6E8A-4147-A177-3AD203B41FA5}">
                      <a16:colId xmlns:a16="http://schemas.microsoft.com/office/drawing/2014/main" val="3450816506"/>
                    </a:ext>
                  </a:extLst>
                </a:gridCol>
                <a:gridCol w="577376">
                  <a:extLst>
                    <a:ext uri="{9D8B030D-6E8A-4147-A177-3AD203B41FA5}">
                      <a16:colId xmlns:a16="http://schemas.microsoft.com/office/drawing/2014/main" val="1672291392"/>
                    </a:ext>
                  </a:extLst>
                </a:gridCol>
                <a:gridCol w="458936">
                  <a:extLst>
                    <a:ext uri="{9D8B030D-6E8A-4147-A177-3AD203B41FA5}">
                      <a16:colId xmlns:a16="http://schemas.microsoft.com/office/drawing/2014/main" val="1241161828"/>
                    </a:ext>
                  </a:extLst>
                </a:gridCol>
                <a:gridCol w="518156">
                  <a:extLst>
                    <a:ext uri="{9D8B030D-6E8A-4147-A177-3AD203B41FA5}">
                      <a16:colId xmlns:a16="http://schemas.microsoft.com/office/drawing/2014/main" val="2629768656"/>
                    </a:ext>
                  </a:extLst>
                </a:gridCol>
                <a:gridCol w="518156">
                  <a:extLst>
                    <a:ext uri="{9D8B030D-6E8A-4147-A177-3AD203B41FA5}">
                      <a16:colId xmlns:a16="http://schemas.microsoft.com/office/drawing/2014/main" val="677554570"/>
                    </a:ext>
                  </a:extLst>
                </a:gridCol>
                <a:gridCol w="518156">
                  <a:extLst>
                    <a:ext uri="{9D8B030D-6E8A-4147-A177-3AD203B41FA5}">
                      <a16:colId xmlns:a16="http://schemas.microsoft.com/office/drawing/2014/main" val="3248881225"/>
                    </a:ext>
                  </a:extLst>
                </a:gridCol>
                <a:gridCol w="518156">
                  <a:extLst>
                    <a:ext uri="{9D8B030D-6E8A-4147-A177-3AD203B41FA5}">
                      <a16:colId xmlns:a16="http://schemas.microsoft.com/office/drawing/2014/main" val="3600904349"/>
                    </a:ext>
                  </a:extLst>
                </a:gridCol>
                <a:gridCol w="518156">
                  <a:extLst>
                    <a:ext uri="{9D8B030D-6E8A-4147-A177-3AD203B41FA5}">
                      <a16:colId xmlns:a16="http://schemas.microsoft.com/office/drawing/2014/main" val="250650371"/>
                    </a:ext>
                  </a:extLst>
                </a:gridCol>
                <a:gridCol w="518156">
                  <a:extLst>
                    <a:ext uri="{9D8B030D-6E8A-4147-A177-3AD203B41FA5}">
                      <a16:colId xmlns:a16="http://schemas.microsoft.com/office/drawing/2014/main" val="2894361178"/>
                    </a:ext>
                  </a:extLst>
                </a:gridCol>
                <a:gridCol w="518156">
                  <a:extLst>
                    <a:ext uri="{9D8B030D-6E8A-4147-A177-3AD203B41FA5}">
                      <a16:colId xmlns:a16="http://schemas.microsoft.com/office/drawing/2014/main" val="267327591"/>
                    </a:ext>
                  </a:extLst>
                </a:gridCol>
              </a:tblGrid>
              <a:tr h="127015">
                <a:tc>
                  <a:txBody>
                    <a:bodyPr/>
                    <a:lstStyle/>
                    <a:p>
                      <a:pPr marL="0" indent="0">
                        <a:buFont typeface="Arial" panose="020B0604020202020204" pitchFamily="34" charset="0"/>
                        <a:buNone/>
                      </a:pPr>
                      <a:r>
                        <a:rPr lang="en-US" sz="900" dirty="0"/>
                        <a:t>Board</a:t>
                      </a:r>
                    </a:p>
                  </a:txBody>
                  <a:tcPr/>
                </a:tc>
                <a:tc>
                  <a:txBody>
                    <a:bodyPr/>
                    <a:lstStyle/>
                    <a:p>
                      <a:pPr marL="0" indent="0">
                        <a:buFont typeface="Arial" panose="020B0604020202020204" pitchFamily="34" charset="0"/>
                        <a:buNone/>
                      </a:pPr>
                      <a:r>
                        <a:rPr lang="en-US" sz="900" dirty="0"/>
                        <a:t>Data</a:t>
                      </a:r>
                    </a:p>
                  </a:txBody>
                  <a:tcPr/>
                </a:tc>
                <a:tc>
                  <a:txBody>
                    <a:bodyPr/>
                    <a:lstStyle/>
                    <a:p>
                      <a:pPr marL="0" indent="0">
                        <a:buFont typeface="Arial" panose="020B0604020202020204" pitchFamily="34" charset="0"/>
                        <a:buNone/>
                      </a:pPr>
                      <a:r>
                        <a:rPr lang="en-US" sz="900" dirty="0"/>
                        <a:t>Address</a:t>
                      </a:r>
                    </a:p>
                  </a:txBody>
                  <a:tcPr/>
                </a:tc>
                <a:tc>
                  <a:txBody>
                    <a:bodyPr/>
                    <a:lstStyle/>
                    <a:p>
                      <a:pPr marL="0" indent="0">
                        <a:buFont typeface="Arial" panose="020B0604020202020204" pitchFamily="34" charset="0"/>
                        <a:buNone/>
                      </a:pPr>
                      <a:r>
                        <a:rPr lang="en-US" sz="900" dirty="0"/>
                        <a:t>Reset#</a:t>
                      </a:r>
                    </a:p>
                  </a:txBody>
                  <a:tcPr/>
                </a:tc>
                <a:tc>
                  <a:txBody>
                    <a:bodyPr/>
                    <a:lstStyle/>
                    <a:p>
                      <a:pPr marL="0" indent="0">
                        <a:buFont typeface="Arial" panose="020B0604020202020204" pitchFamily="34" charset="0"/>
                        <a:buNone/>
                      </a:pPr>
                      <a:r>
                        <a:rPr lang="en-US" sz="900" dirty="0"/>
                        <a:t>CLK</a:t>
                      </a:r>
                    </a:p>
                  </a:txBody>
                  <a:tcPr/>
                </a:tc>
                <a:tc>
                  <a:txBody>
                    <a:bodyPr/>
                    <a:lstStyle/>
                    <a:p>
                      <a:pPr marL="0" indent="0">
                        <a:buFont typeface="Arial" panose="020B0604020202020204" pitchFamily="34" charset="0"/>
                        <a:buNone/>
                      </a:pPr>
                      <a:r>
                        <a:rPr lang="en-US" sz="900" dirty="0" err="1"/>
                        <a:t>Instr</a:t>
                      </a:r>
                      <a:r>
                        <a:rPr lang="en-US" sz="900" dirty="0"/>
                        <a:t> (16b)</a:t>
                      </a:r>
                    </a:p>
                  </a:txBody>
                  <a:tcPr/>
                </a:tc>
                <a:tc>
                  <a:txBody>
                    <a:bodyPr/>
                    <a:lstStyle/>
                    <a:p>
                      <a:pPr marL="0" indent="0">
                        <a:buFont typeface="Arial" panose="020B0604020202020204" pitchFamily="34" charset="0"/>
                        <a:buNone/>
                      </a:pPr>
                      <a:r>
                        <a:rPr lang="en-US" sz="900" dirty="0"/>
                        <a:t>Ctrl (24b)</a:t>
                      </a:r>
                    </a:p>
                  </a:txBody>
                  <a:tcPr/>
                </a:tc>
                <a:tc>
                  <a:txBody>
                    <a:bodyPr/>
                    <a:lstStyle/>
                    <a:p>
                      <a:pPr marL="0" indent="0">
                        <a:buFont typeface="Arial" panose="020B0604020202020204" pitchFamily="34" charset="0"/>
                        <a:buNone/>
                      </a:pPr>
                      <a:r>
                        <a:rPr lang="en-US" sz="900" dirty="0"/>
                        <a:t>Other1</a:t>
                      </a:r>
                    </a:p>
                  </a:txBody>
                  <a:tcPr/>
                </a:tc>
                <a:tc>
                  <a:txBody>
                    <a:bodyPr/>
                    <a:lstStyle/>
                    <a:p>
                      <a:pPr marL="0" indent="0">
                        <a:buFont typeface="Arial" panose="020B0604020202020204" pitchFamily="34" charset="0"/>
                        <a:buNone/>
                      </a:pPr>
                      <a:r>
                        <a:rPr lang="en-US" sz="900" dirty="0"/>
                        <a:t>Other2</a:t>
                      </a:r>
                    </a:p>
                  </a:txBody>
                  <a:tcPr/>
                </a:tc>
                <a:tc>
                  <a:txBody>
                    <a:bodyPr/>
                    <a:lstStyle/>
                    <a:p>
                      <a:pPr marL="0" indent="0">
                        <a:buFont typeface="Arial" panose="020B0604020202020204" pitchFamily="34" charset="0"/>
                        <a:buNone/>
                      </a:pPr>
                      <a:endParaRPr lang="en-US" sz="900" dirty="0"/>
                    </a:p>
                  </a:txBody>
                  <a:tcPr/>
                </a:tc>
                <a:tc>
                  <a:txBody>
                    <a:bodyPr/>
                    <a:lstStyle/>
                    <a:p>
                      <a:pPr marL="0" indent="0">
                        <a:buFont typeface="Arial" panose="020B0604020202020204" pitchFamily="34" charset="0"/>
                        <a:buNone/>
                      </a:pPr>
                      <a:endParaRPr lang="en-US" sz="900" dirty="0"/>
                    </a:p>
                  </a:txBody>
                  <a:tcPr/>
                </a:tc>
                <a:tc>
                  <a:txBody>
                    <a:bodyPr/>
                    <a:lstStyle/>
                    <a:p>
                      <a:pPr marL="0" indent="0">
                        <a:buFont typeface="Arial" panose="020B0604020202020204" pitchFamily="34" charset="0"/>
                        <a:buNone/>
                      </a:pPr>
                      <a:endParaRPr lang="en-US" sz="900" dirty="0"/>
                    </a:p>
                  </a:txBody>
                  <a:tcPr/>
                </a:tc>
                <a:tc>
                  <a:txBody>
                    <a:bodyPr/>
                    <a:lstStyle/>
                    <a:p>
                      <a:pPr marL="0" indent="0">
                        <a:buFont typeface="Arial" panose="020B0604020202020204" pitchFamily="34" charset="0"/>
                        <a:buNone/>
                      </a:pPr>
                      <a:endParaRPr lang="en-US" sz="900" dirty="0"/>
                    </a:p>
                  </a:txBody>
                  <a:tcPr/>
                </a:tc>
                <a:tc>
                  <a:txBody>
                    <a:bodyPr/>
                    <a:lstStyle/>
                    <a:p>
                      <a:pPr marL="0" indent="0">
                        <a:buFont typeface="Arial" panose="020B0604020202020204" pitchFamily="34" charset="0"/>
                        <a:buNone/>
                      </a:pPr>
                      <a:endParaRPr lang="en-US" sz="900" dirty="0"/>
                    </a:p>
                  </a:txBody>
                  <a:tcPr/>
                </a:tc>
                <a:tc>
                  <a:txBody>
                    <a:bodyPr/>
                    <a:lstStyle/>
                    <a:p>
                      <a:pPr marL="0" indent="0">
                        <a:buFont typeface="Arial" panose="020B0604020202020204" pitchFamily="34" charset="0"/>
                        <a:buNone/>
                      </a:pPr>
                      <a:endParaRPr lang="en-US" sz="900" dirty="0"/>
                    </a:p>
                  </a:txBody>
                  <a:tcPr/>
                </a:tc>
                <a:tc>
                  <a:txBody>
                    <a:bodyPr/>
                    <a:lstStyle/>
                    <a:p>
                      <a:pPr marL="0" indent="0">
                        <a:buFont typeface="Arial" panose="020B0604020202020204" pitchFamily="34" charset="0"/>
                        <a:buNone/>
                      </a:pPr>
                      <a:endParaRPr lang="en-US" sz="900" dirty="0"/>
                    </a:p>
                  </a:txBody>
                  <a:tcPr/>
                </a:tc>
                <a:tc>
                  <a:txBody>
                    <a:bodyPr/>
                    <a:lstStyle/>
                    <a:p>
                      <a:pPr marL="0" indent="0">
                        <a:buFont typeface="Arial" panose="020B0604020202020204" pitchFamily="34" charset="0"/>
                        <a:buNone/>
                      </a:pPr>
                      <a:endParaRPr lang="en-US" sz="900" dirty="0"/>
                    </a:p>
                  </a:txBody>
                  <a:tcPr/>
                </a:tc>
                <a:extLst>
                  <a:ext uri="{0D108BD9-81ED-4DB2-BD59-A6C34878D82A}">
                    <a16:rowId xmlns:a16="http://schemas.microsoft.com/office/drawing/2014/main" val="1003589611"/>
                  </a:ext>
                </a:extLst>
              </a:tr>
              <a:tr h="127015">
                <a:tc>
                  <a:txBody>
                    <a:bodyPr/>
                    <a:lstStyle/>
                    <a:p>
                      <a:r>
                        <a:rPr lang="en-US" sz="900" dirty="0"/>
                        <a:t>Motherboard:  </a:t>
                      </a:r>
                    </a:p>
                    <a:p>
                      <a:pPr marL="171450" indent="-171450">
                        <a:buFont typeface="Arial" panose="020B0604020202020204" pitchFamily="34" charset="0"/>
                        <a:buChar char="•"/>
                      </a:pPr>
                      <a:r>
                        <a:rPr lang="en-US" sz="900" dirty="0">
                          <a:hlinkClick r:id="rId2" action="ppaction://hlinksldjump"/>
                        </a:rPr>
                        <a:t>Clock</a:t>
                      </a:r>
                      <a:r>
                        <a:rPr lang="en-US" sz="900" dirty="0"/>
                        <a:t> (7)</a:t>
                      </a:r>
                    </a:p>
                    <a:p>
                      <a:pPr marL="171450" indent="-171450">
                        <a:buFont typeface="Arial" panose="020B0604020202020204" pitchFamily="34" charset="0"/>
                        <a:buChar char="•"/>
                      </a:pPr>
                      <a:r>
                        <a:rPr lang="en-US" sz="900" dirty="0">
                          <a:hlinkClick r:id="rId3" action="ppaction://hlinksldjump"/>
                        </a:rPr>
                        <a:t>Debug/Reset buttons and LEDs</a:t>
                      </a:r>
                      <a:r>
                        <a:rPr lang="en-US" sz="900" dirty="0"/>
                        <a:t> (8)</a:t>
                      </a:r>
                    </a:p>
                    <a:p>
                      <a:pPr marL="171450" indent="-171450">
                        <a:buFont typeface="Arial" panose="020B0604020202020204" pitchFamily="34" charset="0"/>
                        <a:buChar char="•"/>
                      </a:pPr>
                      <a:r>
                        <a:rPr lang="en-US" sz="900" dirty="0"/>
                        <a:t>Display of address and data values</a:t>
                      </a:r>
                    </a:p>
                    <a:p>
                      <a:pPr marL="171450" indent="-171450">
                        <a:buFont typeface="Arial" panose="020B0604020202020204" pitchFamily="34" charset="0"/>
                        <a:buChar char="•"/>
                      </a:pPr>
                      <a:r>
                        <a:rPr lang="en-US" sz="900" dirty="0">
                          <a:hlinkClick r:id="rId4" action="ppaction://hlinksldjump"/>
                        </a:rPr>
                        <a:t>Display</a:t>
                      </a:r>
                      <a:r>
                        <a:rPr lang="en-US" sz="900" dirty="0"/>
                        <a:t> (41) and  its </a:t>
                      </a:r>
                      <a:r>
                        <a:rPr lang="en-US" sz="900" dirty="0">
                          <a:hlinkClick r:id="rId5" action="ppaction://hlinksldjump"/>
                        </a:rPr>
                        <a:t>Arduino</a:t>
                      </a:r>
                      <a:r>
                        <a:rPr lang="en-US" sz="900" dirty="0"/>
                        <a:t> (40)</a:t>
                      </a:r>
                    </a:p>
                    <a:p>
                      <a:pPr marL="171450" indent="-171450">
                        <a:buFont typeface="Arial" panose="020B0604020202020204" pitchFamily="34" charset="0"/>
                        <a:buChar char="•"/>
                      </a:pPr>
                      <a:r>
                        <a:rPr lang="en-US" sz="900" dirty="0">
                          <a:hlinkClick r:id="rId6" action="ppaction://hlinksldjump"/>
                        </a:rPr>
                        <a:t>SD card Arduino and logic</a:t>
                      </a:r>
                      <a:r>
                        <a:rPr lang="en-US" sz="900" dirty="0"/>
                        <a:t> (42)</a:t>
                      </a:r>
                    </a:p>
                    <a:p>
                      <a:pPr marL="171450" indent="-171450">
                        <a:buFont typeface="Arial" panose="020B0604020202020204" pitchFamily="34" charset="0"/>
                        <a:buChar char="•"/>
                      </a:pPr>
                      <a:r>
                        <a:rPr lang="en-US" sz="900" dirty="0">
                          <a:hlinkClick r:id="rId7" action="ppaction://hlinksldjump"/>
                        </a:rPr>
                        <a:t>Main ROM </a:t>
                      </a:r>
                      <a:r>
                        <a:rPr lang="en-US" sz="900" dirty="0"/>
                        <a:t> (17)</a:t>
                      </a:r>
                    </a:p>
                  </a:txBody>
                  <a:tcPr/>
                </a:tc>
                <a:tc>
                  <a:txBody>
                    <a:bodyPr/>
                    <a:lstStyle/>
                    <a:p>
                      <a:pPr marL="0" indent="0">
                        <a:buFont typeface="Arial" panose="020B0604020202020204" pitchFamily="34" charset="0"/>
                        <a:buNone/>
                      </a:pPr>
                      <a:r>
                        <a:rPr lang="en-US" sz="900" dirty="0"/>
                        <a:t>Yes</a:t>
                      </a:r>
                    </a:p>
                  </a:txBody>
                  <a:tcPr/>
                </a:tc>
                <a:tc>
                  <a:txBody>
                    <a:bodyPr/>
                    <a:lstStyle/>
                    <a:p>
                      <a:pPr marL="0" indent="0">
                        <a:buFont typeface="Arial" panose="020B0604020202020204" pitchFamily="34" charset="0"/>
                        <a:buNone/>
                      </a:pPr>
                      <a:r>
                        <a:rPr lang="en-US" sz="900" dirty="0"/>
                        <a:t>Yes</a:t>
                      </a:r>
                    </a:p>
                  </a:txBody>
                  <a:tcPr/>
                </a:tc>
                <a:tc>
                  <a:txBody>
                    <a:bodyPr/>
                    <a:lstStyle/>
                    <a:p>
                      <a:pPr marL="0" indent="0">
                        <a:buFont typeface="Arial" panose="020B0604020202020204" pitchFamily="34" charset="0"/>
                        <a:buNone/>
                      </a:pPr>
                      <a:r>
                        <a:rPr lang="en-US" sz="900" dirty="0"/>
                        <a:t>Yes</a:t>
                      </a:r>
                    </a:p>
                  </a:txBody>
                  <a:tcPr/>
                </a:tc>
                <a:tc>
                  <a:txBody>
                    <a:bodyPr/>
                    <a:lstStyle/>
                    <a:p>
                      <a:pPr marL="0" indent="0">
                        <a:buFont typeface="Arial" panose="020B0604020202020204" pitchFamily="34" charset="0"/>
                        <a:buNone/>
                      </a:pPr>
                      <a:r>
                        <a:rPr lang="en-US" sz="900" dirty="0"/>
                        <a:t>Yes</a:t>
                      </a:r>
                    </a:p>
                  </a:txBody>
                  <a:tcPr/>
                </a:tc>
                <a:tc>
                  <a:txBody>
                    <a:bodyPr/>
                    <a:lstStyle/>
                    <a:p>
                      <a:pPr marL="0" indent="0">
                        <a:buFont typeface="Arial" panose="020B0604020202020204" pitchFamily="34" charset="0"/>
                        <a:buNone/>
                      </a:pPr>
                      <a:endParaRPr lang="en-US" sz="900" dirty="0"/>
                    </a:p>
                  </a:txBody>
                  <a:tcPr/>
                </a:tc>
                <a:tc>
                  <a:txBody>
                    <a:bodyPr/>
                    <a:lstStyle/>
                    <a:p>
                      <a:pPr marL="0" indent="0">
                        <a:buFont typeface="Arial" panose="020B0604020202020204" pitchFamily="34" charset="0"/>
                        <a:buNone/>
                      </a:pPr>
                      <a:endParaRPr lang="en-US" sz="900" dirty="0"/>
                    </a:p>
                  </a:txBody>
                  <a:tcPr/>
                </a:tc>
                <a:tc>
                  <a:txBody>
                    <a:bodyPr/>
                    <a:lstStyle/>
                    <a:p>
                      <a:pPr marL="0" indent="0">
                        <a:buFont typeface="Arial" panose="020B0604020202020204" pitchFamily="34" charset="0"/>
                        <a:buNone/>
                      </a:pPr>
                      <a:r>
                        <a:rPr lang="en-US" sz="900" dirty="0"/>
                        <a:t>KBD x2</a:t>
                      </a:r>
                    </a:p>
                  </a:txBody>
                  <a:tcPr/>
                </a:tc>
                <a:tc>
                  <a:txBody>
                    <a:bodyPr/>
                    <a:lstStyle/>
                    <a:p>
                      <a:pPr marL="0" indent="0">
                        <a:buFont typeface="Arial" panose="020B0604020202020204" pitchFamily="34" charset="0"/>
                        <a:buNone/>
                      </a:pPr>
                      <a:r>
                        <a:rPr lang="en-US" sz="900" dirty="0"/>
                        <a:t>Bus x3 Request</a:t>
                      </a:r>
                    </a:p>
                    <a:p>
                      <a:pPr marL="0" indent="0">
                        <a:buFont typeface="Arial" panose="020B0604020202020204" pitchFamily="34" charset="0"/>
                        <a:buNone/>
                      </a:pPr>
                      <a:r>
                        <a:rPr lang="en-US" sz="900" dirty="0" err="1"/>
                        <a:t>ReleaseGrant</a:t>
                      </a:r>
                      <a:endParaRPr lang="en-US" sz="900" dirty="0"/>
                    </a:p>
                  </a:txBody>
                  <a:tcPr/>
                </a:tc>
                <a:tc>
                  <a:txBody>
                    <a:bodyPr/>
                    <a:lstStyle/>
                    <a:p>
                      <a:pPr marL="0" indent="0">
                        <a:buFont typeface="Arial" panose="020B0604020202020204" pitchFamily="34" charset="0"/>
                        <a:buNone/>
                      </a:pPr>
                      <a:endParaRPr lang="en-US" sz="900" dirty="0"/>
                    </a:p>
                  </a:txBody>
                  <a:tcPr/>
                </a:tc>
                <a:tc>
                  <a:txBody>
                    <a:bodyPr/>
                    <a:lstStyle/>
                    <a:p>
                      <a:pPr marL="0" indent="0">
                        <a:buFont typeface="Arial" panose="020B0604020202020204" pitchFamily="34" charset="0"/>
                        <a:buNone/>
                      </a:pPr>
                      <a:endParaRPr lang="en-US" sz="900" dirty="0"/>
                    </a:p>
                  </a:txBody>
                  <a:tcPr/>
                </a:tc>
                <a:tc>
                  <a:txBody>
                    <a:bodyPr/>
                    <a:lstStyle/>
                    <a:p>
                      <a:pPr marL="0" indent="0">
                        <a:buFont typeface="Arial" panose="020B0604020202020204" pitchFamily="34" charset="0"/>
                        <a:buNone/>
                      </a:pPr>
                      <a:endParaRPr lang="en-US" sz="900" dirty="0"/>
                    </a:p>
                  </a:txBody>
                  <a:tcPr/>
                </a:tc>
                <a:tc>
                  <a:txBody>
                    <a:bodyPr/>
                    <a:lstStyle/>
                    <a:p>
                      <a:pPr marL="0" indent="0">
                        <a:buFont typeface="Arial" panose="020B0604020202020204" pitchFamily="34" charset="0"/>
                        <a:buNone/>
                      </a:pPr>
                      <a:endParaRPr lang="en-US" sz="900" dirty="0"/>
                    </a:p>
                  </a:txBody>
                  <a:tcPr/>
                </a:tc>
                <a:tc>
                  <a:txBody>
                    <a:bodyPr/>
                    <a:lstStyle/>
                    <a:p>
                      <a:pPr marL="0" indent="0">
                        <a:buFont typeface="Arial" panose="020B0604020202020204" pitchFamily="34" charset="0"/>
                        <a:buNone/>
                      </a:pPr>
                      <a:endParaRPr lang="en-US" sz="900" dirty="0"/>
                    </a:p>
                  </a:txBody>
                  <a:tcPr/>
                </a:tc>
                <a:tc>
                  <a:txBody>
                    <a:bodyPr/>
                    <a:lstStyle/>
                    <a:p>
                      <a:pPr marL="0" indent="0">
                        <a:buFont typeface="Arial" panose="020B0604020202020204" pitchFamily="34" charset="0"/>
                        <a:buNone/>
                      </a:pPr>
                      <a:endParaRPr lang="en-US" sz="900" dirty="0"/>
                    </a:p>
                  </a:txBody>
                  <a:tcPr/>
                </a:tc>
                <a:tc>
                  <a:txBody>
                    <a:bodyPr/>
                    <a:lstStyle/>
                    <a:p>
                      <a:pPr marL="0" indent="0">
                        <a:buFont typeface="Arial" panose="020B0604020202020204" pitchFamily="34" charset="0"/>
                        <a:buNone/>
                      </a:pPr>
                      <a:endParaRPr lang="en-US" sz="900" dirty="0"/>
                    </a:p>
                  </a:txBody>
                  <a:tcPr/>
                </a:tc>
                <a:tc>
                  <a:txBody>
                    <a:bodyPr/>
                    <a:lstStyle/>
                    <a:p>
                      <a:pPr marL="0" indent="0">
                        <a:buFont typeface="Arial" panose="020B0604020202020204" pitchFamily="34" charset="0"/>
                        <a:buNone/>
                      </a:pPr>
                      <a:endParaRPr lang="en-US" sz="900" dirty="0"/>
                    </a:p>
                  </a:txBody>
                  <a:tcPr/>
                </a:tc>
                <a:extLst>
                  <a:ext uri="{0D108BD9-81ED-4DB2-BD59-A6C34878D82A}">
                    <a16:rowId xmlns:a16="http://schemas.microsoft.com/office/drawing/2014/main" val="501258228"/>
                  </a:ext>
                </a:extLst>
              </a:tr>
              <a:tr h="127015">
                <a:tc>
                  <a:txBody>
                    <a:bodyPr/>
                    <a:lstStyle/>
                    <a:p>
                      <a:r>
                        <a:rPr lang="en-US" sz="900" dirty="0">
                          <a:hlinkClick r:id="rId8" action="ppaction://hlinksldjump"/>
                        </a:rPr>
                        <a:t>Register File </a:t>
                      </a:r>
                      <a:r>
                        <a:rPr lang="en-US" sz="900" dirty="0"/>
                        <a:t>(9) and </a:t>
                      </a:r>
                      <a:r>
                        <a:rPr lang="en-US" sz="900" dirty="0">
                          <a:hlinkClick r:id="rId9" action="ppaction://hlinksldjump"/>
                        </a:rPr>
                        <a:t>output select </a:t>
                      </a:r>
                      <a:r>
                        <a:rPr lang="en-US" sz="900" dirty="0"/>
                        <a:t>(10)</a:t>
                      </a:r>
                    </a:p>
                  </a:txBody>
                  <a:tcPr/>
                </a:tc>
                <a:tc>
                  <a:txBody>
                    <a:bodyPr/>
                    <a:lstStyle/>
                    <a:p>
                      <a:endParaRPr lang="en-US" sz="900"/>
                    </a:p>
                  </a:txBody>
                  <a:tcPr/>
                </a:tc>
                <a:tc>
                  <a:txBody>
                    <a:bodyPr/>
                    <a:lstStyle/>
                    <a:p>
                      <a:endParaRPr lang="en-US" sz="900"/>
                    </a:p>
                  </a:txBody>
                  <a:tcPr/>
                </a:tc>
                <a:tc>
                  <a:txBody>
                    <a:bodyPr/>
                    <a:lstStyle/>
                    <a:p>
                      <a:endParaRPr lang="en-US" sz="900"/>
                    </a:p>
                  </a:txBody>
                  <a:tcPr/>
                </a:tc>
                <a:tc>
                  <a:txBody>
                    <a:bodyPr/>
                    <a:lstStyle/>
                    <a:p>
                      <a:endParaRPr lang="en-US" sz="900"/>
                    </a:p>
                  </a:txBody>
                  <a:tcPr/>
                </a:tc>
                <a:tc>
                  <a:txBody>
                    <a:bodyPr/>
                    <a:lstStyle/>
                    <a:p>
                      <a:endParaRPr lang="en-US" sz="900"/>
                    </a:p>
                  </a:txBody>
                  <a:tcPr/>
                </a:tc>
                <a:tc>
                  <a:txBody>
                    <a:bodyPr/>
                    <a:lstStyle/>
                    <a:p>
                      <a:endParaRPr lang="en-US" sz="900"/>
                    </a:p>
                  </a:txBody>
                  <a:tcPr/>
                </a:tc>
                <a:tc>
                  <a:txBody>
                    <a:bodyPr/>
                    <a:lstStyle/>
                    <a:p>
                      <a:endParaRPr lang="en-US" sz="900"/>
                    </a:p>
                  </a:txBody>
                  <a:tcPr/>
                </a:tc>
                <a:tc>
                  <a:txBody>
                    <a:bodyPr/>
                    <a:lstStyle/>
                    <a:p>
                      <a:endParaRPr lang="en-US" sz="900" dirty="0"/>
                    </a:p>
                  </a:txBody>
                  <a:tcPr/>
                </a:tc>
                <a:tc>
                  <a:txBody>
                    <a:bodyPr/>
                    <a:lstStyle/>
                    <a:p>
                      <a:endParaRPr lang="en-US" sz="900" dirty="0"/>
                    </a:p>
                  </a:txBody>
                  <a:tcPr/>
                </a:tc>
                <a:tc>
                  <a:txBody>
                    <a:bodyPr/>
                    <a:lstStyle/>
                    <a:p>
                      <a:endParaRPr lang="en-US" sz="900" dirty="0"/>
                    </a:p>
                  </a:txBody>
                  <a:tcPr/>
                </a:tc>
                <a:tc>
                  <a:txBody>
                    <a:bodyPr/>
                    <a:lstStyle/>
                    <a:p>
                      <a:endParaRPr lang="en-US" sz="900" dirty="0"/>
                    </a:p>
                  </a:txBody>
                  <a:tcPr/>
                </a:tc>
                <a:tc>
                  <a:txBody>
                    <a:bodyPr/>
                    <a:lstStyle/>
                    <a:p>
                      <a:endParaRPr lang="en-US" sz="900" dirty="0"/>
                    </a:p>
                  </a:txBody>
                  <a:tcPr/>
                </a:tc>
                <a:tc>
                  <a:txBody>
                    <a:bodyPr/>
                    <a:lstStyle/>
                    <a:p>
                      <a:endParaRPr lang="en-US" sz="900" dirty="0"/>
                    </a:p>
                  </a:txBody>
                  <a:tcPr/>
                </a:tc>
                <a:tc>
                  <a:txBody>
                    <a:bodyPr/>
                    <a:lstStyle/>
                    <a:p>
                      <a:endParaRPr lang="en-US" sz="900" dirty="0"/>
                    </a:p>
                  </a:txBody>
                  <a:tcPr/>
                </a:tc>
                <a:tc>
                  <a:txBody>
                    <a:bodyPr/>
                    <a:lstStyle/>
                    <a:p>
                      <a:endParaRPr lang="en-US" sz="900"/>
                    </a:p>
                  </a:txBody>
                  <a:tcPr/>
                </a:tc>
                <a:tc>
                  <a:txBody>
                    <a:bodyPr/>
                    <a:lstStyle/>
                    <a:p>
                      <a:endParaRPr lang="en-US" sz="900" dirty="0"/>
                    </a:p>
                  </a:txBody>
                  <a:tcPr/>
                </a:tc>
                <a:extLst>
                  <a:ext uri="{0D108BD9-81ED-4DB2-BD59-A6C34878D82A}">
                    <a16:rowId xmlns:a16="http://schemas.microsoft.com/office/drawing/2014/main" val="667562929"/>
                  </a:ext>
                </a:extLst>
              </a:tr>
              <a:tr h="127015">
                <a:tc>
                  <a:txBody>
                    <a:bodyPr/>
                    <a:lstStyle/>
                    <a:p>
                      <a:endParaRPr lang="en-US" sz="900"/>
                    </a:p>
                  </a:txBody>
                  <a:tcPr/>
                </a:tc>
                <a:tc>
                  <a:txBody>
                    <a:bodyPr/>
                    <a:lstStyle/>
                    <a:p>
                      <a:endParaRPr lang="en-US" sz="900"/>
                    </a:p>
                  </a:txBody>
                  <a:tcPr/>
                </a:tc>
                <a:tc>
                  <a:txBody>
                    <a:bodyPr/>
                    <a:lstStyle/>
                    <a:p>
                      <a:endParaRPr lang="en-US" sz="900"/>
                    </a:p>
                  </a:txBody>
                  <a:tcPr/>
                </a:tc>
                <a:tc>
                  <a:txBody>
                    <a:bodyPr/>
                    <a:lstStyle/>
                    <a:p>
                      <a:endParaRPr lang="en-US" sz="900"/>
                    </a:p>
                  </a:txBody>
                  <a:tcPr/>
                </a:tc>
                <a:tc>
                  <a:txBody>
                    <a:bodyPr/>
                    <a:lstStyle/>
                    <a:p>
                      <a:endParaRPr lang="en-US" sz="900"/>
                    </a:p>
                  </a:txBody>
                  <a:tcPr/>
                </a:tc>
                <a:tc>
                  <a:txBody>
                    <a:bodyPr/>
                    <a:lstStyle/>
                    <a:p>
                      <a:endParaRPr lang="en-US" sz="900"/>
                    </a:p>
                  </a:txBody>
                  <a:tcPr/>
                </a:tc>
                <a:tc>
                  <a:txBody>
                    <a:bodyPr/>
                    <a:lstStyle/>
                    <a:p>
                      <a:endParaRPr lang="en-US" sz="900"/>
                    </a:p>
                  </a:txBody>
                  <a:tcPr/>
                </a:tc>
                <a:tc>
                  <a:txBody>
                    <a:bodyPr/>
                    <a:lstStyle/>
                    <a:p>
                      <a:endParaRPr lang="en-US" sz="900"/>
                    </a:p>
                  </a:txBody>
                  <a:tcPr/>
                </a:tc>
                <a:tc>
                  <a:txBody>
                    <a:bodyPr/>
                    <a:lstStyle/>
                    <a:p>
                      <a:endParaRPr lang="en-US" sz="900" dirty="0"/>
                    </a:p>
                  </a:txBody>
                  <a:tcPr/>
                </a:tc>
                <a:tc>
                  <a:txBody>
                    <a:bodyPr/>
                    <a:lstStyle/>
                    <a:p>
                      <a:endParaRPr lang="en-US" sz="900" dirty="0"/>
                    </a:p>
                  </a:txBody>
                  <a:tcPr/>
                </a:tc>
                <a:tc>
                  <a:txBody>
                    <a:bodyPr/>
                    <a:lstStyle/>
                    <a:p>
                      <a:endParaRPr lang="en-US" sz="900" dirty="0"/>
                    </a:p>
                  </a:txBody>
                  <a:tcPr/>
                </a:tc>
                <a:tc>
                  <a:txBody>
                    <a:bodyPr/>
                    <a:lstStyle/>
                    <a:p>
                      <a:endParaRPr lang="en-US" sz="900" dirty="0"/>
                    </a:p>
                  </a:txBody>
                  <a:tcPr/>
                </a:tc>
                <a:tc>
                  <a:txBody>
                    <a:bodyPr/>
                    <a:lstStyle/>
                    <a:p>
                      <a:endParaRPr lang="en-US" sz="900" dirty="0"/>
                    </a:p>
                  </a:txBody>
                  <a:tcPr/>
                </a:tc>
                <a:tc>
                  <a:txBody>
                    <a:bodyPr/>
                    <a:lstStyle/>
                    <a:p>
                      <a:endParaRPr lang="en-US" sz="900" dirty="0"/>
                    </a:p>
                  </a:txBody>
                  <a:tcPr/>
                </a:tc>
                <a:tc>
                  <a:txBody>
                    <a:bodyPr/>
                    <a:lstStyle/>
                    <a:p>
                      <a:endParaRPr lang="en-US" sz="900" dirty="0"/>
                    </a:p>
                  </a:txBody>
                  <a:tcPr/>
                </a:tc>
                <a:tc>
                  <a:txBody>
                    <a:bodyPr/>
                    <a:lstStyle/>
                    <a:p>
                      <a:endParaRPr lang="en-US" sz="900"/>
                    </a:p>
                  </a:txBody>
                  <a:tcPr/>
                </a:tc>
                <a:tc>
                  <a:txBody>
                    <a:bodyPr/>
                    <a:lstStyle/>
                    <a:p>
                      <a:endParaRPr lang="en-US" sz="900" dirty="0"/>
                    </a:p>
                  </a:txBody>
                  <a:tcPr/>
                </a:tc>
                <a:extLst>
                  <a:ext uri="{0D108BD9-81ED-4DB2-BD59-A6C34878D82A}">
                    <a16:rowId xmlns:a16="http://schemas.microsoft.com/office/drawing/2014/main" val="2458572348"/>
                  </a:ext>
                </a:extLst>
              </a:tr>
              <a:tr h="127015">
                <a:tc>
                  <a:txBody>
                    <a:bodyPr/>
                    <a:lstStyle/>
                    <a:p>
                      <a:endParaRPr lang="en-US" sz="900" dirty="0"/>
                    </a:p>
                  </a:txBody>
                  <a:tcPr/>
                </a:tc>
                <a:tc>
                  <a:txBody>
                    <a:bodyPr/>
                    <a:lstStyle/>
                    <a:p>
                      <a:endParaRPr lang="en-US" sz="900" dirty="0"/>
                    </a:p>
                  </a:txBody>
                  <a:tcPr/>
                </a:tc>
                <a:tc>
                  <a:txBody>
                    <a:bodyPr/>
                    <a:lstStyle/>
                    <a:p>
                      <a:endParaRPr lang="en-US" sz="900" dirty="0"/>
                    </a:p>
                  </a:txBody>
                  <a:tcPr/>
                </a:tc>
                <a:tc>
                  <a:txBody>
                    <a:bodyPr/>
                    <a:lstStyle/>
                    <a:p>
                      <a:endParaRPr lang="en-US" sz="900" dirty="0"/>
                    </a:p>
                  </a:txBody>
                  <a:tcPr/>
                </a:tc>
                <a:tc>
                  <a:txBody>
                    <a:bodyPr/>
                    <a:lstStyle/>
                    <a:p>
                      <a:endParaRPr lang="en-US" sz="900" dirty="0"/>
                    </a:p>
                  </a:txBody>
                  <a:tcPr/>
                </a:tc>
                <a:tc>
                  <a:txBody>
                    <a:bodyPr/>
                    <a:lstStyle/>
                    <a:p>
                      <a:endParaRPr lang="en-US" sz="900" dirty="0"/>
                    </a:p>
                  </a:txBody>
                  <a:tcPr/>
                </a:tc>
                <a:tc>
                  <a:txBody>
                    <a:bodyPr/>
                    <a:lstStyle/>
                    <a:p>
                      <a:endParaRPr lang="en-US" sz="900" dirty="0"/>
                    </a:p>
                  </a:txBody>
                  <a:tcPr/>
                </a:tc>
                <a:tc>
                  <a:txBody>
                    <a:bodyPr/>
                    <a:lstStyle/>
                    <a:p>
                      <a:endParaRPr lang="en-US" sz="900" dirty="0"/>
                    </a:p>
                  </a:txBody>
                  <a:tcPr/>
                </a:tc>
                <a:tc>
                  <a:txBody>
                    <a:bodyPr/>
                    <a:lstStyle/>
                    <a:p>
                      <a:endParaRPr lang="en-US" sz="900" dirty="0"/>
                    </a:p>
                  </a:txBody>
                  <a:tcPr/>
                </a:tc>
                <a:tc>
                  <a:txBody>
                    <a:bodyPr/>
                    <a:lstStyle/>
                    <a:p>
                      <a:endParaRPr lang="en-US" sz="900" dirty="0"/>
                    </a:p>
                  </a:txBody>
                  <a:tcPr/>
                </a:tc>
                <a:tc>
                  <a:txBody>
                    <a:bodyPr/>
                    <a:lstStyle/>
                    <a:p>
                      <a:endParaRPr lang="en-US" sz="900" dirty="0"/>
                    </a:p>
                  </a:txBody>
                  <a:tcPr/>
                </a:tc>
                <a:tc>
                  <a:txBody>
                    <a:bodyPr/>
                    <a:lstStyle/>
                    <a:p>
                      <a:endParaRPr lang="en-US" sz="900" dirty="0"/>
                    </a:p>
                  </a:txBody>
                  <a:tcPr/>
                </a:tc>
                <a:tc>
                  <a:txBody>
                    <a:bodyPr/>
                    <a:lstStyle/>
                    <a:p>
                      <a:endParaRPr lang="en-US" sz="900" dirty="0"/>
                    </a:p>
                  </a:txBody>
                  <a:tcPr/>
                </a:tc>
                <a:tc>
                  <a:txBody>
                    <a:bodyPr/>
                    <a:lstStyle/>
                    <a:p>
                      <a:endParaRPr lang="en-US" sz="900" dirty="0"/>
                    </a:p>
                  </a:txBody>
                  <a:tcPr/>
                </a:tc>
                <a:tc>
                  <a:txBody>
                    <a:bodyPr/>
                    <a:lstStyle/>
                    <a:p>
                      <a:endParaRPr lang="en-US" sz="900" dirty="0"/>
                    </a:p>
                  </a:txBody>
                  <a:tcPr/>
                </a:tc>
                <a:tc>
                  <a:txBody>
                    <a:bodyPr/>
                    <a:lstStyle/>
                    <a:p>
                      <a:endParaRPr lang="en-US" sz="900" dirty="0"/>
                    </a:p>
                  </a:txBody>
                  <a:tcPr/>
                </a:tc>
                <a:tc>
                  <a:txBody>
                    <a:bodyPr/>
                    <a:lstStyle/>
                    <a:p>
                      <a:endParaRPr lang="en-US" sz="900" dirty="0"/>
                    </a:p>
                  </a:txBody>
                  <a:tcPr/>
                </a:tc>
                <a:extLst>
                  <a:ext uri="{0D108BD9-81ED-4DB2-BD59-A6C34878D82A}">
                    <a16:rowId xmlns:a16="http://schemas.microsoft.com/office/drawing/2014/main" val="1513325132"/>
                  </a:ext>
                </a:extLst>
              </a:tr>
            </a:tbl>
          </a:graphicData>
        </a:graphic>
      </p:graphicFrame>
    </p:spTree>
    <p:extLst>
      <p:ext uri="{BB962C8B-B14F-4D97-AF65-F5344CB8AC3E}">
        <p14:creationId xmlns:p14="http://schemas.microsoft.com/office/powerpoint/2010/main" val="358738159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E5518-3B90-33FD-35E8-3BDF38716F8E}"/>
              </a:ext>
            </a:extLst>
          </p:cNvPr>
          <p:cNvSpPr>
            <a:spLocks noGrp="1"/>
          </p:cNvSpPr>
          <p:nvPr>
            <p:ph type="ctrTitle"/>
          </p:nvPr>
        </p:nvSpPr>
        <p:spPr/>
        <p:txBody>
          <a:bodyPr/>
          <a:lstStyle/>
          <a:p>
            <a:r>
              <a:rPr lang="en-US" dirty="0"/>
              <a:t>Main Backplane </a:t>
            </a:r>
          </a:p>
        </p:txBody>
      </p:sp>
      <p:graphicFrame>
        <p:nvGraphicFramePr>
          <p:cNvPr id="3" name="Table 2">
            <a:extLst>
              <a:ext uri="{FF2B5EF4-FFF2-40B4-BE49-F238E27FC236}">
                <a16:creationId xmlns:a16="http://schemas.microsoft.com/office/drawing/2014/main" id="{52C24AF0-4F55-D51F-8DAF-8BF5A2EBB2C9}"/>
              </a:ext>
            </a:extLst>
          </p:cNvPr>
          <p:cNvGraphicFramePr>
            <a:graphicFrameLocks noGrp="1"/>
          </p:cNvGraphicFramePr>
          <p:nvPr>
            <p:extLst>
              <p:ext uri="{D42A27DB-BD31-4B8C-83A1-F6EECF244321}">
                <p14:modId xmlns:p14="http://schemas.microsoft.com/office/powerpoint/2010/main" val="4004363676"/>
              </p:ext>
            </p:extLst>
          </p:nvPr>
        </p:nvGraphicFramePr>
        <p:xfrm>
          <a:off x="7105649" y="195792"/>
          <a:ext cx="3533775" cy="6096000"/>
        </p:xfrm>
        <a:graphic>
          <a:graphicData uri="http://schemas.openxmlformats.org/drawingml/2006/table">
            <a:tbl>
              <a:tblPr bandRow="1">
                <a:tableStyleId>{5C22544A-7EE6-4342-B048-85BDC9FD1C3A}</a:tableStyleId>
              </a:tblPr>
              <a:tblGrid>
                <a:gridCol w="1190626">
                  <a:extLst>
                    <a:ext uri="{9D8B030D-6E8A-4147-A177-3AD203B41FA5}">
                      <a16:colId xmlns:a16="http://schemas.microsoft.com/office/drawing/2014/main" val="3676004610"/>
                    </a:ext>
                  </a:extLst>
                </a:gridCol>
                <a:gridCol w="576262">
                  <a:extLst>
                    <a:ext uri="{9D8B030D-6E8A-4147-A177-3AD203B41FA5}">
                      <a16:colId xmlns:a16="http://schemas.microsoft.com/office/drawing/2014/main" val="678302555"/>
                    </a:ext>
                  </a:extLst>
                </a:gridCol>
                <a:gridCol w="414338">
                  <a:extLst>
                    <a:ext uri="{9D8B030D-6E8A-4147-A177-3AD203B41FA5}">
                      <a16:colId xmlns:a16="http://schemas.microsoft.com/office/drawing/2014/main" val="1903649617"/>
                    </a:ext>
                  </a:extLst>
                </a:gridCol>
                <a:gridCol w="1352549">
                  <a:extLst>
                    <a:ext uri="{9D8B030D-6E8A-4147-A177-3AD203B41FA5}">
                      <a16:colId xmlns:a16="http://schemas.microsoft.com/office/drawing/2014/main" val="527259505"/>
                    </a:ext>
                  </a:extLst>
                </a:gridCol>
              </a:tblGrid>
              <a:tr h="74702">
                <a:tc>
                  <a:txBody>
                    <a:bodyPr/>
                    <a:lstStyle/>
                    <a:p>
                      <a:r>
                        <a:rPr lang="en-US" sz="1000" dirty="0"/>
                        <a:t>__41</a:t>
                      </a:r>
                    </a:p>
                  </a:txBody>
                  <a:tcPr marT="0" marB="0"/>
                </a:tc>
                <a:tc>
                  <a:txBody>
                    <a:bodyPr/>
                    <a:lstStyle/>
                    <a:p>
                      <a:pPr algn="ctr"/>
                      <a:r>
                        <a:rPr lang="en-US" sz="1000" dirty="0">
                          <a:solidFill>
                            <a:schemeClr val="bg2">
                              <a:lumMod val="50000"/>
                            </a:schemeClr>
                          </a:solidFill>
                        </a:rPr>
                        <a:t>41</a:t>
                      </a:r>
                    </a:p>
                  </a:txBody>
                  <a:tcPr marT="0" marB="0"/>
                </a:tc>
                <a:tc>
                  <a:txBody>
                    <a:bodyPr/>
                    <a:lstStyle/>
                    <a:p>
                      <a:pPr algn="ctr"/>
                      <a:r>
                        <a:rPr lang="en-US" sz="1000" dirty="0">
                          <a:solidFill>
                            <a:schemeClr val="bg2">
                              <a:lumMod val="50000"/>
                            </a:schemeClr>
                          </a:solidFill>
                        </a:rPr>
                        <a:t>1</a:t>
                      </a:r>
                    </a:p>
                  </a:txBody>
                  <a:tcPr marT="0" marB="0"/>
                </a:tc>
                <a:tc>
                  <a:txBody>
                    <a:bodyPr/>
                    <a:lstStyle/>
                    <a:p>
                      <a:r>
                        <a:rPr lang="en-US" sz="1000" dirty="0"/>
                        <a:t>A15</a:t>
                      </a:r>
                    </a:p>
                  </a:txBody>
                  <a:tcPr marT="0" marB="0"/>
                </a:tc>
                <a:extLst>
                  <a:ext uri="{0D108BD9-81ED-4DB2-BD59-A6C34878D82A}">
                    <a16:rowId xmlns:a16="http://schemas.microsoft.com/office/drawing/2014/main" val="936187020"/>
                  </a:ext>
                </a:extLst>
              </a:tr>
              <a:tr h="74702">
                <a:tc>
                  <a:txBody>
                    <a:bodyPr/>
                    <a:lstStyle/>
                    <a:p>
                      <a:r>
                        <a:rPr lang="en-US" sz="1000" dirty="0"/>
                        <a:t>__42</a:t>
                      </a:r>
                    </a:p>
                  </a:txBody>
                  <a:tcPr marT="0" marB="0"/>
                </a:tc>
                <a:tc>
                  <a:txBody>
                    <a:bodyPr/>
                    <a:lstStyle/>
                    <a:p>
                      <a:pPr algn="ctr"/>
                      <a:r>
                        <a:rPr lang="en-US" sz="1000" dirty="0">
                          <a:solidFill>
                            <a:schemeClr val="bg2">
                              <a:lumMod val="50000"/>
                            </a:schemeClr>
                          </a:solidFill>
                        </a:rPr>
                        <a:t>42</a:t>
                      </a:r>
                    </a:p>
                  </a:txBody>
                  <a:tcPr marT="0" marB="0">
                    <a:solidFill>
                      <a:schemeClr val="accent2"/>
                    </a:solidFill>
                  </a:tcPr>
                </a:tc>
                <a:tc>
                  <a:txBody>
                    <a:bodyPr/>
                    <a:lstStyle/>
                    <a:p>
                      <a:pPr algn="ctr"/>
                      <a:r>
                        <a:rPr lang="en-US" sz="1000" dirty="0">
                          <a:solidFill>
                            <a:schemeClr val="bg2">
                              <a:lumMod val="50000"/>
                            </a:schemeClr>
                          </a:solidFill>
                        </a:rPr>
                        <a:t>2</a:t>
                      </a:r>
                    </a:p>
                  </a:txBody>
                  <a:tcPr marT="0" marB="0"/>
                </a:tc>
                <a:tc>
                  <a:txBody>
                    <a:bodyPr/>
                    <a:lstStyle/>
                    <a:p>
                      <a:r>
                        <a:rPr lang="en-US" sz="1000" dirty="0"/>
                        <a:t>A14</a:t>
                      </a:r>
                    </a:p>
                  </a:txBody>
                  <a:tcPr marT="0" marB="0"/>
                </a:tc>
                <a:extLst>
                  <a:ext uri="{0D108BD9-81ED-4DB2-BD59-A6C34878D82A}">
                    <a16:rowId xmlns:a16="http://schemas.microsoft.com/office/drawing/2014/main" val="1319346788"/>
                  </a:ext>
                </a:extLst>
              </a:tr>
              <a:tr h="74702">
                <a:tc>
                  <a:txBody>
                    <a:bodyPr/>
                    <a:lstStyle/>
                    <a:p>
                      <a:r>
                        <a:rPr lang="en-US" sz="1000" dirty="0"/>
                        <a:t>__43</a:t>
                      </a:r>
                    </a:p>
                  </a:txBody>
                  <a:tcPr marT="0" marB="0"/>
                </a:tc>
                <a:tc>
                  <a:txBody>
                    <a:bodyPr/>
                    <a:lstStyle/>
                    <a:p>
                      <a:pPr algn="ctr"/>
                      <a:r>
                        <a:rPr lang="en-US" sz="1000" dirty="0">
                          <a:solidFill>
                            <a:schemeClr val="bg2">
                              <a:lumMod val="50000"/>
                            </a:schemeClr>
                          </a:solidFill>
                        </a:rPr>
                        <a:t>43</a:t>
                      </a:r>
                    </a:p>
                  </a:txBody>
                  <a:tcPr marT="0" marB="0">
                    <a:solidFill>
                      <a:schemeClr val="accent2"/>
                    </a:solidFill>
                  </a:tcPr>
                </a:tc>
                <a:tc>
                  <a:txBody>
                    <a:bodyPr/>
                    <a:lstStyle/>
                    <a:p>
                      <a:pPr algn="ctr"/>
                      <a:r>
                        <a:rPr lang="en-US" sz="1000" dirty="0">
                          <a:solidFill>
                            <a:schemeClr val="bg2">
                              <a:lumMod val="50000"/>
                            </a:schemeClr>
                          </a:solidFill>
                        </a:rPr>
                        <a:t>3</a:t>
                      </a:r>
                    </a:p>
                  </a:txBody>
                  <a:tcPr marT="0" marB="0"/>
                </a:tc>
                <a:tc>
                  <a:txBody>
                    <a:bodyPr/>
                    <a:lstStyle/>
                    <a:p>
                      <a:r>
                        <a:rPr lang="en-US" sz="1000" dirty="0"/>
                        <a:t>A13</a:t>
                      </a:r>
                    </a:p>
                  </a:txBody>
                  <a:tcPr marT="0" marB="0"/>
                </a:tc>
                <a:extLst>
                  <a:ext uri="{0D108BD9-81ED-4DB2-BD59-A6C34878D82A}">
                    <a16:rowId xmlns:a16="http://schemas.microsoft.com/office/drawing/2014/main" val="3555182133"/>
                  </a:ext>
                </a:extLst>
              </a:tr>
              <a:tr h="74702">
                <a:tc>
                  <a:txBody>
                    <a:bodyPr/>
                    <a:lstStyle/>
                    <a:p>
                      <a:r>
                        <a:rPr lang="en-US" sz="1000" dirty="0"/>
                        <a:t>__44</a:t>
                      </a:r>
                    </a:p>
                  </a:txBody>
                  <a:tcPr marT="0" marB="0"/>
                </a:tc>
                <a:tc>
                  <a:txBody>
                    <a:bodyPr/>
                    <a:lstStyle/>
                    <a:p>
                      <a:pPr algn="ctr"/>
                      <a:r>
                        <a:rPr lang="en-US" sz="1000" dirty="0">
                          <a:solidFill>
                            <a:schemeClr val="bg2">
                              <a:lumMod val="50000"/>
                            </a:schemeClr>
                          </a:solidFill>
                        </a:rPr>
                        <a:t>44</a:t>
                      </a:r>
                    </a:p>
                  </a:txBody>
                  <a:tcPr marT="0" marB="0">
                    <a:solidFill>
                      <a:schemeClr val="accent2"/>
                    </a:solidFill>
                  </a:tcPr>
                </a:tc>
                <a:tc>
                  <a:txBody>
                    <a:bodyPr/>
                    <a:lstStyle/>
                    <a:p>
                      <a:pPr algn="ctr"/>
                      <a:r>
                        <a:rPr lang="en-US" sz="1000" dirty="0">
                          <a:solidFill>
                            <a:schemeClr val="bg2">
                              <a:lumMod val="50000"/>
                            </a:schemeClr>
                          </a:solidFill>
                        </a:rPr>
                        <a:t>4</a:t>
                      </a:r>
                    </a:p>
                  </a:txBody>
                  <a:tcPr marT="0" marB="0"/>
                </a:tc>
                <a:tc>
                  <a:txBody>
                    <a:bodyPr/>
                    <a:lstStyle/>
                    <a:p>
                      <a:r>
                        <a:rPr lang="en-US" sz="1000" dirty="0"/>
                        <a:t>A12</a:t>
                      </a:r>
                    </a:p>
                  </a:txBody>
                  <a:tcPr marT="0" marB="0"/>
                </a:tc>
                <a:extLst>
                  <a:ext uri="{0D108BD9-81ED-4DB2-BD59-A6C34878D82A}">
                    <a16:rowId xmlns:a16="http://schemas.microsoft.com/office/drawing/2014/main" val="331547329"/>
                  </a:ext>
                </a:extLst>
              </a:tr>
              <a:tr h="74702">
                <a:tc>
                  <a:txBody>
                    <a:bodyPr/>
                    <a:lstStyle/>
                    <a:p>
                      <a:r>
                        <a:rPr lang="en-US" sz="1000" dirty="0"/>
                        <a:t>__45</a:t>
                      </a:r>
                    </a:p>
                  </a:txBody>
                  <a:tcPr marT="0" marB="0"/>
                </a:tc>
                <a:tc>
                  <a:txBody>
                    <a:bodyPr/>
                    <a:lstStyle/>
                    <a:p>
                      <a:pPr algn="ctr"/>
                      <a:r>
                        <a:rPr lang="en-US" sz="1000" dirty="0">
                          <a:solidFill>
                            <a:schemeClr val="bg2">
                              <a:lumMod val="50000"/>
                            </a:schemeClr>
                          </a:solidFill>
                        </a:rPr>
                        <a:t>45</a:t>
                      </a:r>
                    </a:p>
                  </a:txBody>
                  <a:tcPr marT="0" marB="0"/>
                </a:tc>
                <a:tc>
                  <a:txBody>
                    <a:bodyPr/>
                    <a:lstStyle/>
                    <a:p>
                      <a:pPr algn="ctr"/>
                      <a:r>
                        <a:rPr lang="en-US" sz="1000" dirty="0">
                          <a:solidFill>
                            <a:schemeClr val="bg2">
                              <a:lumMod val="50000"/>
                            </a:schemeClr>
                          </a:solidFill>
                        </a:rPr>
                        <a:t>5</a:t>
                      </a:r>
                    </a:p>
                  </a:txBody>
                  <a:tcPr marT="0" marB="0"/>
                </a:tc>
                <a:tc>
                  <a:txBody>
                    <a:bodyPr/>
                    <a:lstStyle/>
                    <a:p>
                      <a:r>
                        <a:rPr lang="en-US" sz="1000" dirty="0"/>
                        <a:t>A11</a:t>
                      </a:r>
                    </a:p>
                  </a:txBody>
                  <a:tcPr marT="0" marB="0"/>
                </a:tc>
                <a:extLst>
                  <a:ext uri="{0D108BD9-81ED-4DB2-BD59-A6C34878D82A}">
                    <a16:rowId xmlns:a16="http://schemas.microsoft.com/office/drawing/2014/main" val="1933937020"/>
                  </a:ext>
                </a:extLst>
              </a:tr>
              <a:tr h="74702">
                <a:tc>
                  <a:txBody>
                    <a:bodyPr/>
                    <a:lstStyle/>
                    <a:p>
                      <a:r>
                        <a:rPr lang="en-US" sz="1000" dirty="0"/>
                        <a:t>__46</a:t>
                      </a:r>
                    </a:p>
                  </a:txBody>
                  <a:tcPr marT="0" marB="0"/>
                </a:tc>
                <a:tc>
                  <a:txBody>
                    <a:bodyPr/>
                    <a:lstStyle/>
                    <a:p>
                      <a:pPr algn="ctr"/>
                      <a:r>
                        <a:rPr lang="en-US" sz="1000" dirty="0">
                          <a:solidFill>
                            <a:schemeClr val="bg2">
                              <a:lumMod val="50000"/>
                            </a:schemeClr>
                          </a:solidFill>
                        </a:rPr>
                        <a:t>46</a:t>
                      </a:r>
                    </a:p>
                  </a:txBody>
                  <a:tcPr marT="0" marB="0"/>
                </a:tc>
                <a:tc>
                  <a:txBody>
                    <a:bodyPr/>
                    <a:lstStyle/>
                    <a:p>
                      <a:pPr algn="ctr"/>
                      <a:r>
                        <a:rPr lang="en-US" sz="1000" dirty="0">
                          <a:solidFill>
                            <a:schemeClr val="bg2">
                              <a:lumMod val="50000"/>
                            </a:schemeClr>
                          </a:solidFill>
                        </a:rPr>
                        <a:t>6</a:t>
                      </a:r>
                    </a:p>
                  </a:txBody>
                  <a:tcPr marT="0" marB="0"/>
                </a:tc>
                <a:tc>
                  <a:txBody>
                    <a:bodyPr/>
                    <a:lstStyle/>
                    <a:p>
                      <a:r>
                        <a:rPr lang="en-US" sz="1000" dirty="0"/>
                        <a:t>A10</a:t>
                      </a:r>
                    </a:p>
                  </a:txBody>
                  <a:tcPr marT="0" marB="0"/>
                </a:tc>
                <a:extLst>
                  <a:ext uri="{0D108BD9-81ED-4DB2-BD59-A6C34878D82A}">
                    <a16:rowId xmlns:a16="http://schemas.microsoft.com/office/drawing/2014/main" val="3824356261"/>
                  </a:ext>
                </a:extLst>
              </a:tr>
              <a:tr h="74702">
                <a:tc>
                  <a:txBody>
                    <a:bodyPr/>
                    <a:lstStyle/>
                    <a:p>
                      <a:r>
                        <a:rPr lang="en-US" sz="1000" dirty="0"/>
                        <a:t>D0</a:t>
                      </a:r>
                    </a:p>
                  </a:txBody>
                  <a:tcPr marT="0" marB="0"/>
                </a:tc>
                <a:tc>
                  <a:txBody>
                    <a:bodyPr/>
                    <a:lstStyle/>
                    <a:p>
                      <a:pPr algn="ctr"/>
                      <a:r>
                        <a:rPr lang="en-US" sz="1000" dirty="0">
                          <a:solidFill>
                            <a:schemeClr val="bg2">
                              <a:lumMod val="50000"/>
                            </a:schemeClr>
                          </a:solidFill>
                        </a:rPr>
                        <a:t>47</a:t>
                      </a:r>
                    </a:p>
                  </a:txBody>
                  <a:tcPr marT="0" marB="0"/>
                </a:tc>
                <a:tc>
                  <a:txBody>
                    <a:bodyPr/>
                    <a:lstStyle/>
                    <a:p>
                      <a:pPr algn="ctr"/>
                      <a:r>
                        <a:rPr lang="en-US" sz="1000" dirty="0">
                          <a:solidFill>
                            <a:schemeClr val="bg2">
                              <a:lumMod val="50000"/>
                            </a:schemeClr>
                          </a:solidFill>
                        </a:rPr>
                        <a:t>7</a:t>
                      </a:r>
                    </a:p>
                  </a:txBody>
                  <a:tcPr marT="0" marB="0"/>
                </a:tc>
                <a:tc>
                  <a:txBody>
                    <a:bodyPr/>
                    <a:lstStyle/>
                    <a:p>
                      <a:r>
                        <a:rPr lang="en-US" sz="1000" dirty="0"/>
                        <a:t>A9</a:t>
                      </a:r>
                    </a:p>
                  </a:txBody>
                  <a:tcPr marT="0" marB="0"/>
                </a:tc>
                <a:extLst>
                  <a:ext uri="{0D108BD9-81ED-4DB2-BD59-A6C34878D82A}">
                    <a16:rowId xmlns:a16="http://schemas.microsoft.com/office/drawing/2014/main" val="3260906446"/>
                  </a:ext>
                </a:extLst>
              </a:tr>
              <a:tr h="74702">
                <a:tc>
                  <a:txBody>
                    <a:bodyPr/>
                    <a:lstStyle/>
                    <a:p>
                      <a:r>
                        <a:rPr lang="en-US" sz="1000" dirty="0"/>
                        <a:t>D1</a:t>
                      </a:r>
                    </a:p>
                  </a:txBody>
                  <a:tcPr marT="0" marB="0"/>
                </a:tc>
                <a:tc>
                  <a:txBody>
                    <a:bodyPr/>
                    <a:lstStyle/>
                    <a:p>
                      <a:pPr algn="ctr"/>
                      <a:r>
                        <a:rPr lang="en-US" sz="1000" dirty="0">
                          <a:solidFill>
                            <a:schemeClr val="bg2">
                              <a:lumMod val="50000"/>
                            </a:schemeClr>
                          </a:solidFill>
                        </a:rPr>
                        <a:t>48</a:t>
                      </a:r>
                    </a:p>
                  </a:txBody>
                  <a:tcPr marT="0" marB="0"/>
                </a:tc>
                <a:tc>
                  <a:txBody>
                    <a:bodyPr/>
                    <a:lstStyle/>
                    <a:p>
                      <a:pPr algn="ctr"/>
                      <a:r>
                        <a:rPr lang="en-US" sz="1000" dirty="0">
                          <a:solidFill>
                            <a:schemeClr val="bg2">
                              <a:lumMod val="50000"/>
                            </a:schemeClr>
                          </a:solidFill>
                        </a:rPr>
                        <a:t>8</a:t>
                      </a:r>
                    </a:p>
                  </a:txBody>
                  <a:tcPr marT="0" marB="0"/>
                </a:tc>
                <a:tc>
                  <a:txBody>
                    <a:bodyPr/>
                    <a:lstStyle/>
                    <a:p>
                      <a:r>
                        <a:rPr lang="en-US" sz="1000" dirty="0"/>
                        <a:t>A8</a:t>
                      </a:r>
                    </a:p>
                  </a:txBody>
                  <a:tcPr marT="0" marB="0"/>
                </a:tc>
                <a:extLst>
                  <a:ext uri="{0D108BD9-81ED-4DB2-BD59-A6C34878D82A}">
                    <a16:rowId xmlns:a16="http://schemas.microsoft.com/office/drawing/2014/main" val="2234202865"/>
                  </a:ext>
                </a:extLst>
              </a:tr>
              <a:tr h="74702">
                <a:tc>
                  <a:txBody>
                    <a:bodyPr/>
                    <a:lstStyle/>
                    <a:p>
                      <a:r>
                        <a:rPr lang="en-US" sz="1000" dirty="0"/>
                        <a:t>D2</a:t>
                      </a:r>
                    </a:p>
                  </a:txBody>
                  <a:tcPr marT="0" marB="0"/>
                </a:tc>
                <a:tc>
                  <a:txBody>
                    <a:bodyPr/>
                    <a:lstStyle/>
                    <a:p>
                      <a:pPr algn="ctr"/>
                      <a:r>
                        <a:rPr lang="en-US" sz="1000" dirty="0">
                          <a:solidFill>
                            <a:schemeClr val="bg2">
                              <a:lumMod val="50000"/>
                            </a:schemeClr>
                          </a:solidFill>
                        </a:rPr>
                        <a:t>49</a:t>
                      </a:r>
                    </a:p>
                  </a:txBody>
                  <a:tcPr marT="0" marB="0"/>
                </a:tc>
                <a:tc>
                  <a:txBody>
                    <a:bodyPr/>
                    <a:lstStyle/>
                    <a:p>
                      <a:pPr algn="ctr"/>
                      <a:r>
                        <a:rPr lang="en-US" sz="1000" dirty="0">
                          <a:solidFill>
                            <a:schemeClr val="bg2">
                              <a:lumMod val="50000"/>
                            </a:schemeClr>
                          </a:solidFill>
                        </a:rPr>
                        <a:t>9</a:t>
                      </a:r>
                    </a:p>
                  </a:txBody>
                  <a:tcPr marT="0" marB="0"/>
                </a:tc>
                <a:tc>
                  <a:txBody>
                    <a:bodyPr/>
                    <a:lstStyle/>
                    <a:p>
                      <a:r>
                        <a:rPr lang="en-US" sz="1000" dirty="0"/>
                        <a:t>A7</a:t>
                      </a:r>
                    </a:p>
                  </a:txBody>
                  <a:tcPr marT="0" marB="0"/>
                </a:tc>
                <a:extLst>
                  <a:ext uri="{0D108BD9-81ED-4DB2-BD59-A6C34878D82A}">
                    <a16:rowId xmlns:a16="http://schemas.microsoft.com/office/drawing/2014/main" val="2576568233"/>
                  </a:ext>
                </a:extLst>
              </a:tr>
              <a:tr h="74702">
                <a:tc>
                  <a:txBody>
                    <a:bodyPr/>
                    <a:lstStyle/>
                    <a:p>
                      <a:r>
                        <a:rPr lang="en-US" sz="1000" dirty="0"/>
                        <a:t>D3</a:t>
                      </a:r>
                    </a:p>
                  </a:txBody>
                  <a:tcPr marT="0" marB="0"/>
                </a:tc>
                <a:tc>
                  <a:txBody>
                    <a:bodyPr/>
                    <a:lstStyle/>
                    <a:p>
                      <a:pPr algn="ctr"/>
                      <a:r>
                        <a:rPr lang="en-US" sz="1000" dirty="0">
                          <a:solidFill>
                            <a:schemeClr val="bg2">
                              <a:lumMod val="50000"/>
                            </a:schemeClr>
                          </a:solidFill>
                        </a:rPr>
                        <a:t>50</a:t>
                      </a:r>
                    </a:p>
                  </a:txBody>
                  <a:tcPr marT="0" marB="0"/>
                </a:tc>
                <a:tc>
                  <a:txBody>
                    <a:bodyPr/>
                    <a:lstStyle/>
                    <a:p>
                      <a:pPr algn="ctr"/>
                      <a:r>
                        <a:rPr lang="en-US" sz="1000" dirty="0">
                          <a:solidFill>
                            <a:schemeClr val="bg2">
                              <a:lumMod val="50000"/>
                            </a:schemeClr>
                          </a:solidFill>
                        </a:rPr>
                        <a:t>10</a:t>
                      </a:r>
                    </a:p>
                  </a:txBody>
                  <a:tcPr marT="0" marB="0"/>
                </a:tc>
                <a:tc>
                  <a:txBody>
                    <a:bodyPr/>
                    <a:lstStyle/>
                    <a:p>
                      <a:r>
                        <a:rPr lang="en-US" sz="1000" dirty="0"/>
                        <a:t>A6</a:t>
                      </a:r>
                    </a:p>
                  </a:txBody>
                  <a:tcPr marT="0" marB="0"/>
                </a:tc>
                <a:extLst>
                  <a:ext uri="{0D108BD9-81ED-4DB2-BD59-A6C34878D82A}">
                    <a16:rowId xmlns:a16="http://schemas.microsoft.com/office/drawing/2014/main" val="557485393"/>
                  </a:ext>
                </a:extLst>
              </a:tr>
              <a:tr h="74702">
                <a:tc>
                  <a:txBody>
                    <a:bodyPr/>
                    <a:lstStyle/>
                    <a:p>
                      <a:r>
                        <a:rPr lang="en-US" sz="1000" dirty="0"/>
                        <a:t>D4</a:t>
                      </a:r>
                    </a:p>
                  </a:txBody>
                  <a:tcPr marT="0" marB="0"/>
                </a:tc>
                <a:tc>
                  <a:txBody>
                    <a:bodyPr/>
                    <a:lstStyle/>
                    <a:p>
                      <a:pPr algn="ctr"/>
                      <a:r>
                        <a:rPr lang="en-US" sz="1000" dirty="0">
                          <a:solidFill>
                            <a:schemeClr val="bg2">
                              <a:lumMod val="50000"/>
                            </a:schemeClr>
                          </a:solidFill>
                        </a:rPr>
                        <a:t>51</a:t>
                      </a:r>
                    </a:p>
                  </a:txBody>
                  <a:tcPr marT="0" marB="0"/>
                </a:tc>
                <a:tc>
                  <a:txBody>
                    <a:bodyPr/>
                    <a:lstStyle/>
                    <a:p>
                      <a:pPr algn="ctr"/>
                      <a:r>
                        <a:rPr lang="en-US" sz="1000" dirty="0">
                          <a:solidFill>
                            <a:schemeClr val="bg2">
                              <a:lumMod val="50000"/>
                            </a:schemeClr>
                          </a:solidFill>
                        </a:rPr>
                        <a:t>11</a:t>
                      </a:r>
                    </a:p>
                  </a:txBody>
                  <a:tcPr marT="0" marB="0"/>
                </a:tc>
                <a:tc>
                  <a:txBody>
                    <a:bodyPr/>
                    <a:lstStyle/>
                    <a:p>
                      <a:r>
                        <a:rPr lang="en-US" sz="1000" dirty="0"/>
                        <a:t>A5</a:t>
                      </a:r>
                    </a:p>
                  </a:txBody>
                  <a:tcPr marT="0" marB="0"/>
                </a:tc>
                <a:extLst>
                  <a:ext uri="{0D108BD9-81ED-4DB2-BD59-A6C34878D82A}">
                    <a16:rowId xmlns:a16="http://schemas.microsoft.com/office/drawing/2014/main" val="2712637458"/>
                  </a:ext>
                </a:extLst>
              </a:tr>
              <a:tr h="115964">
                <a:tc>
                  <a:txBody>
                    <a:bodyPr/>
                    <a:lstStyle/>
                    <a:p>
                      <a:r>
                        <a:rPr lang="en-US" sz="1000" dirty="0"/>
                        <a:t>D5</a:t>
                      </a:r>
                    </a:p>
                  </a:txBody>
                  <a:tcPr marT="0" marB="0"/>
                </a:tc>
                <a:tc>
                  <a:txBody>
                    <a:bodyPr/>
                    <a:lstStyle/>
                    <a:p>
                      <a:pPr algn="ctr"/>
                      <a:r>
                        <a:rPr lang="en-US" sz="1000" dirty="0">
                          <a:solidFill>
                            <a:schemeClr val="bg2">
                              <a:lumMod val="50000"/>
                            </a:schemeClr>
                          </a:solidFill>
                        </a:rPr>
                        <a:t>52</a:t>
                      </a:r>
                    </a:p>
                  </a:txBody>
                  <a:tcPr marT="0" marB="0"/>
                </a:tc>
                <a:tc>
                  <a:txBody>
                    <a:bodyPr/>
                    <a:lstStyle/>
                    <a:p>
                      <a:pPr algn="ctr"/>
                      <a:r>
                        <a:rPr lang="en-US" sz="1000" dirty="0">
                          <a:solidFill>
                            <a:schemeClr val="bg2">
                              <a:lumMod val="50000"/>
                            </a:schemeClr>
                          </a:solidFill>
                        </a:rPr>
                        <a:t>12</a:t>
                      </a:r>
                    </a:p>
                  </a:txBody>
                  <a:tcPr marT="0" marB="0"/>
                </a:tc>
                <a:tc>
                  <a:txBody>
                    <a:bodyPr/>
                    <a:lstStyle/>
                    <a:p>
                      <a:r>
                        <a:rPr lang="en-US" sz="1000" dirty="0"/>
                        <a:t>A4</a:t>
                      </a:r>
                    </a:p>
                  </a:txBody>
                  <a:tcPr marT="0" marB="0"/>
                </a:tc>
                <a:extLst>
                  <a:ext uri="{0D108BD9-81ED-4DB2-BD59-A6C34878D82A}">
                    <a16:rowId xmlns:a16="http://schemas.microsoft.com/office/drawing/2014/main" val="298382198"/>
                  </a:ext>
                </a:extLst>
              </a:tr>
              <a:tr h="115964">
                <a:tc>
                  <a:txBody>
                    <a:bodyPr/>
                    <a:lstStyle/>
                    <a:p>
                      <a:r>
                        <a:rPr lang="en-US" sz="1000" dirty="0"/>
                        <a:t>D6</a:t>
                      </a:r>
                    </a:p>
                  </a:txBody>
                  <a:tcPr marT="0" marB="0"/>
                </a:tc>
                <a:tc>
                  <a:txBody>
                    <a:bodyPr/>
                    <a:lstStyle/>
                    <a:p>
                      <a:pPr algn="ctr"/>
                      <a:r>
                        <a:rPr lang="en-US" sz="1000" dirty="0">
                          <a:solidFill>
                            <a:schemeClr val="bg2">
                              <a:lumMod val="50000"/>
                            </a:schemeClr>
                          </a:solidFill>
                        </a:rPr>
                        <a:t>53</a:t>
                      </a:r>
                    </a:p>
                  </a:txBody>
                  <a:tcPr marT="0" marB="0"/>
                </a:tc>
                <a:tc>
                  <a:txBody>
                    <a:bodyPr/>
                    <a:lstStyle/>
                    <a:p>
                      <a:pPr algn="ctr"/>
                      <a:r>
                        <a:rPr lang="en-US" sz="1000" dirty="0">
                          <a:solidFill>
                            <a:schemeClr val="bg2">
                              <a:lumMod val="50000"/>
                            </a:schemeClr>
                          </a:solidFill>
                        </a:rPr>
                        <a:t>13</a:t>
                      </a:r>
                    </a:p>
                  </a:txBody>
                  <a:tcPr marT="0" marB="0"/>
                </a:tc>
                <a:tc>
                  <a:txBody>
                    <a:bodyPr/>
                    <a:lstStyle/>
                    <a:p>
                      <a:r>
                        <a:rPr lang="en-US" sz="1000" dirty="0"/>
                        <a:t>A3</a:t>
                      </a:r>
                    </a:p>
                  </a:txBody>
                  <a:tcPr marT="0" marB="0"/>
                </a:tc>
                <a:extLst>
                  <a:ext uri="{0D108BD9-81ED-4DB2-BD59-A6C34878D82A}">
                    <a16:rowId xmlns:a16="http://schemas.microsoft.com/office/drawing/2014/main" val="3136443082"/>
                  </a:ext>
                </a:extLst>
              </a:tr>
              <a:tr h="115964">
                <a:tc>
                  <a:txBody>
                    <a:bodyPr/>
                    <a:lstStyle/>
                    <a:p>
                      <a:r>
                        <a:rPr lang="en-US" sz="1000" dirty="0"/>
                        <a:t>D7</a:t>
                      </a:r>
                    </a:p>
                  </a:txBody>
                  <a:tcPr marT="0" marB="0"/>
                </a:tc>
                <a:tc>
                  <a:txBody>
                    <a:bodyPr/>
                    <a:lstStyle/>
                    <a:p>
                      <a:pPr algn="ctr"/>
                      <a:r>
                        <a:rPr lang="en-US" sz="1000" dirty="0">
                          <a:solidFill>
                            <a:schemeClr val="bg2">
                              <a:lumMod val="50000"/>
                            </a:schemeClr>
                          </a:solidFill>
                        </a:rPr>
                        <a:t>54</a:t>
                      </a:r>
                    </a:p>
                  </a:txBody>
                  <a:tcPr marT="0" marB="0"/>
                </a:tc>
                <a:tc>
                  <a:txBody>
                    <a:bodyPr/>
                    <a:lstStyle/>
                    <a:p>
                      <a:pPr algn="ctr"/>
                      <a:r>
                        <a:rPr lang="en-US" sz="1000" dirty="0">
                          <a:solidFill>
                            <a:schemeClr val="bg2">
                              <a:lumMod val="50000"/>
                            </a:schemeClr>
                          </a:solidFill>
                        </a:rPr>
                        <a:t>14</a:t>
                      </a:r>
                    </a:p>
                  </a:txBody>
                  <a:tcPr marT="0" marB="0"/>
                </a:tc>
                <a:tc>
                  <a:txBody>
                    <a:bodyPr/>
                    <a:lstStyle/>
                    <a:p>
                      <a:r>
                        <a:rPr lang="en-US" sz="1000" dirty="0"/>
                        <a:t>A2</a:t>
                      </a:r>
                    </a:p>
                  </a:txBody>
                  <a:tcPr marT="0" marB="0"/>
                </a:tc>
                <a:extLst>
                  <a:ext uri="{0D108BD9-81ED-4DB2-BD59-A6C34878D82A}">
                    <a16:rowId xmlns:a16="http://schemas.microsoft.com/office/drawing/2014/main" val="2817347954"/>
                  </a:ext>
                </a:extLst>
              </a:tr>
              <a:tr h="115964">
                <a:tc>
                  <a:txBody>
                    <a:bodyPr/>
                    <a:lstStyle/>
                    <a:p>
                      <a:r>
                        <a:rPr lang="en-US" sz="1000" dirty="0"/>
                        <a:t>CTRL23</a:t>
                      </a:r>
                    </a:p>
                  </a:txBody>
                  <a:tcPr marT="0" marB="0"/>
                </a:tc>
                <a:tc>
                  <a:txBody>
                    <a:bodyPr/>
                    <a:lstStyle/>
                    <a:p>
                      <a:pPr algn="ctr"/>
                      <a:r>
                        <a:rPr lang="en-US" sz="1000" dirty="0">
                          <a:solidFill>
                            <a:schemeClr val="bg2">
                              <a:lumMod val="50000"/>
                            </a:schemeClr>
                          </a:solidFill>
                        </a:rPr>
                        <a:t>55</a:t>
                      </a:r>
                    </a:p>
                  </a:txBody>
                  <a:tcPr marT="0" marB="0"/>
                </a:tc>
                <a:tc>
                  <a:txBody>
                    <a:bodyPr/>
                    <a:lstStyle/>
                    <a:p>
                      <a:pPr algn="ctr"/>
                      <a:r>
                        <a:rPr lang="en-US" sz="1000" dirty="0">
                          <a:solidFill>
                            <a:schemeClr val="bg2">
                              <a:lumMod val="50000"/>
                            </a:schemeClr>
                          </a:solidFill>
                        </a:rPr>
                        <a:t>15</a:t>
                      </a:r>
                    </a:p>
                  </a:txBody>
                  <a:tcPr marT="0" marB="0"/>
                </a:tc>
                <a:tc>
                  <a:txBody>
                    <a:bodyPr/>
                    <a:lstStyle/>
                    <a:p>
                      <a:r>
                        <a:rPr lang="en-US" sz="1000" dirty="0"/>
                        <a:t>A1</a:t>
                      </a:r>
                    </a:p>
                  </a:txBody>
                  <a:tcPr marT="0" marB="0"/>
                </a:tc>
                <a:extLst>
                  <a:ext uri="{0D108BD9-81ED-4DB2-BD59-A6C34878D82A}">
                    <a16:rowId xmlns:a16="http://schemas.microsoft.com/office/drawing/2014/main" val="3794949118"/>
                  </a:ext>
                </a:extLst>
              </a:tr>
              <a:tr h="115964">
                <a:tc>
                  <a:txBody>
                    <a:bodyPr/>
                    <a:lstStyle/>
                    <a:p>
                      <a:r>
                        <a:rPr lang="en-US" sz="1000" dirty="0"/>
                        <a:t>CTRL22</a:t>
                      </a:r>
                    </a:p>
                  </a:txBody>
                  <a:tcPr marT="0" marB="0"/>
                </a:tc>
                <a:tc>
                  <a:txBody>
                    <a:bodyPr/>
                    <a:lstStyle/>
                    <a:p>
                      <a:pPr algn="ctr"/>
                      <a:r>
                        <a:rPr lang="en-US" sz="1000" dirty="0">
                          <a:solidFill>
                            <a:schemeClr val="bg2">
                              <a:lumMod val="50000"/>
                            </a:schemeClr>
                          </a:solidFill>
                        </a:rPr>
                        <a:t>56</a:t>
                      </a:r>
                    </a:p>
                  </a:txBody>
                  <a:tcPr marT="0" marB="0"/>
                </a:tc>
                <a:tc>
                  <a:txBody>
                    <a:bodyPr/>
                    <a:lstStyle/>
                    <a:p>
                      <a:pPr algn="ctr"/>
                      <a:r>
                        <a:rPr lang="en-US" sz="1000" dirty="0">
                          <a:solidFill>
                            <a:schemeClr val="bg2">
                              <a:lumMod val="50000"/>
                            </a:schemeClr>
                          </a:solidFill>
                        </a:rPr>
                        <a:t>16</a:t>
                      </a:r>
                    </a:p>
                  </a:txBody>
                  <a:tcPr marT="0" marB="0"/>
                </a:tc>
                <a:tc>
                  <a:txBody>
                    <a:bodyPr/>
                    <a:lstStyle/>
                    <a:p>
                      <a:r>
                        <a:rPr lang="en-US" sz="1000" dirty="0"/>
                        <a:t>A0</a:t>
                      </a:r>
                    </a:p>
                  </a:txBody>
                  <a:tcPr marT="0" marB="0"/>
                </a:tc>
                <a:extLst>
                  <a:ext uri="{0D108BD9-81ED-4DB2-BD59-A6C34878D82A}">
                    <a16:rowId xmlns:a16="http://schemas.microsoft.com/office/drawing/2014/main" val="1847629184"/>
                  </a:ext>
                </a:extLst>
              </a:tr>
              <a:tr h="115964">
                <a:tc>
                  <a:txBody>
                    <a:bodyPr/>
                    <a:lstStyle/>
                    <a:p>
                      <a:r>
                        <a:rPr lang="en-US" sz="1000" dirty="0"/>
                        <a:t>GND</a:t>
                      </a:r>
                    </a:p>
                  </a:txBody>
                  <a:tcPr marT="0" marB="0"/>
                </a:tc>
                <a:tc>
                  <a:txBody>
                    <a:bodyPr/>
                    <a:lstStyle/>
                    <a:p>
                      <a:pPr algn="ctr"/>
                      <a:r>
                        <a:rPr lang="en-US" sz="1000" dirty="0">
                          <a:solidFill>
                            <a:schemeClr val="bg2">
                              <a:lumMod val="50000"/>
                            </a:schemeClr>
                          </a:solidFill>
                        </a:rPr>
                        <a:t>57</a:t>
                      </a:r>
                    </a:p>
                  </a:txBody>
                  <a:tcPr marT="0" marB="0"/>
                </a:tc>
                <a:tc>
                  <a:txBody>
                    <a:bodyPr/>
                    <a:lstStyle/>
                    <a:p>
                      <a:pPr algn="ctr"/>
                      <a:r>
                        <a:rPr lang="en-US" sz="1000" dirty="0">
                          <a:solidFill>
                            <a:schemeClr val="bg2">
                              <a:lumMod val="50000"/>
                            </a:schemeClr>
                          </a:solidFill>
                        </a:rPr>
                        <a:t>17</a:t>
                      </a:r>
                    </a:p>
                  </a:txBody>
                  <a:tcPr marT="0" marB="0"/>
                </a:tc>
                <a:tc>
                  <a:txBody>
                    <a:bodyPr/>
                    <a:lstStyle/>
                    <a:p>
                      <a:r>
                        <a:rPr lang="en-US" sz="1000" dirty="0"/>
                        <a:t>GND</a:t>
                      </a:r>
                    </a:p>
                  </a:txBody>
                  <a:tcPr marT="0" marB="0"/>
                </a:tc>
                <a:extLst>
                  <a:ext uri="{0D108BD9-81ED-4DB2-BD59-A6C34878D82A}">
                    <a16:rowId xmlns:a16="http://schemas.microsoft.com/office/drawing/2014/main" val="628452971"/>
                  </a:ext>
                </a:extLst>
              </a:tr>
              <a:tr h="115964">
                <a:tc>
                  <a:txBody>
                    <a:bodyPr/>
                    <a:lstStyle/>
                    <a:p>
                      <a:r>
                        <a:rPr lang="en-US" sz="1000" dirty="0"/>
                        <a:t>+5V</a:t>
                      </a:r>
                    </a:p>
                  </a:txBody>
                  <a:tcPr marT="0" marB="0"/>
                </a:tc>
                <a:tc>
                  <a:txBody>
                    <a:bodyPr/>
                    <a:lstStyle/>
                    <a:p>
                      <a:pPr algn="ctr"/>
                      <a:r>
                        <a:rPr lang="en-US" sz="1000" dirty="0">
                          <a:solidFill>
                            <a:schemeClr val="bg2">
                              <a:lumMod val="50000"/>
                            </a:schemeClr>
                          </a:solidFill>
                        </a:rPr>
                        <a:t>58</a:t>
                      </a:r>
                    </a:p>
                  </a:txBody>
                  <a:tcPr marT="0" marB="0"/>
                </a:tc>
                <a:tc>
                  <a:txBody>
                    <a:bodyPr/>
                    <a:lstStyle/>
                    <a:p>
                      <a:pPr algn="ctr"/>
                      <a:r>
                        <a:rPr lang="en-US" sz="1000" dirty="0">
                          <a:solidFill>
                            <a:schemeClr val="bg2">
                              <a:lumMod val="50000"/>
                            </a:schemeClr>
                          </a:solidFill>
                        </a:rPr>
                        <a:t>18</a:t>
                      </a:r>
                    </a:p>
                  </a:txBody>
                  <a:tcPr marT="0" marB="0"/>
                </a:tc>
                <a:tc>
                  <a:txBody>
                    <a:bodyPr/>
                    <a:lstStyle/>
                    <a:p>
                      <a:r>
                        <a:rPr lang="en-US" sz="1000" dirty="0"/>
                        <a:t>+5V</a:t>
                      </a:r>
                    </a:p>
                  </a:txBody>
                  <a:tcPr marT="0" marB="0"/>
                </a:tc>
                <a:extLst>
                  <a:ext uri="{0D108BD9-81ED-4DB2-BD59-A6C34878D82A}">
                    <a16:rowId xmlns:a16="http://schemas.microsoft.com/office/drawing/2014/main" val="481143222"/>
                  </a:ext>
                </a:extLst>
              </a:tr>
              <a:tr h="115964">
                <a:tc>
                  <a:txBody>
                    <a:bodyPr/>
                    <a:lstStyle/>
                    <a:p>
                      <a:r>
                        <a:rPr lang="en-US" sz="1000" dirty="0"/>
                        <a:t>CTRL21</a:t>
                      </a:r>
                    </a:p>
                  </a:txBody>
                  <a:tcPr marT="0" marB="0"/>
                </a:tc>
                <a:tc>
                  <a:txBody>
                    <a:bodyPr/>
                    <a:lstStyle/>
                    <a:p>
                      <a:pPr algn="ctr"/>
                      <a:r>
                        <a:rPr lang="en-US" sz="1000" dirty="0">
                          <a:solidFill>
                            <a:schemeClr val="bg2">
                              <a:lumMod val="50000"/>
                            </a:schemeClr>
                          </a:solidFill>
                        </a:rPr>
                        <a:t>59</a:t>
                      </a:r>
                    </a:p>
                  </a:txBody>
                  <a:tcPr marT="0" marB="0"/>
                </a:tc>
                <a:tc>
                  <a:txBody>
                    <a:bodyPr/>
                    <a:lstStyle/>
                    <a:p>
                      <a:pPr algn="ctr"/>
                      <a:r>
                        <a:rPr lang="en-US" sz="1000" dirty="0">
                          <a:solidFill>
                            <a:schemeClr val="bg2">
                              <a:lumMod val="50000"/>
                            </a:schemeClr>
                          </a:solidFill>
                        </a:rPr>
                        <a:t>19</a:t>
                      </a:r>
                    </a:p>
                  </a:txBody>
                  <a:tcPr marT="0" marB="0"/>
                </a:tc>
                <a:tc>
                  <a:txBody>
                    <a:bodyPr/>
                    <a:lstStyle/>
                    <a:p>
                      <a:r>
                        <a:rPr lang="en-US" sz="1000" dirty="0"/>
                        <a:t>__19</a:t>
                      </a:r>
                    </a:p>
                  </a:txBody>
                  <a:tcPr marT="0" marB="0"/>
                </a:tc>
                <a:extLst>
                  <a:ext uri="{0D108BD9-81ED-4DB2-BD59-A6C34878D82A}">
                    <a16:rowId xmlns:a16="http://schemas.microsoft.com/office/drawing/2014/main" val="1704035056"/>
                  </a:ext>
                </a:extLst>
              </a:tr>
              <a:tr h="115964">
                <a:tc>
                  <a:txBody>
                    <a:bodyPr/>
                    <a:lstStyle/>
                    <a:p>
                      <a:r>
                        <a:rPr lang="en-US" sz="1000" dirty="0"/>
                        <a:t>CTRL20</a:t>
                      </a:r>
                    </a:p>
                  </a:txBody>
                  <a:tcPr marT="0" marB="0"/>
                </a:tc>
                <a:tc>
                  <a:txBody>
                    <a:bodyPr/>
                    <a:lstStyle/>
                    <a:p>
                      <a:pPr algn="ctr"/>
                      <a:r>
                        <a:rPr lang="en-US" sz="1000" dirty="0">
                          <a:solidFill>
                            <a:schemeClr val="bg2">
                              <a:lumMod val="50000"/>
                            </a:schemeClr>
                          </a:solidFill>
                        </a:rPr>
                        <a:t>60</a:t>
                      </a:r>
                    </a:p>
                  </a:txBody>
                  <a:tcPr marT="0" marB="0"/>
                </a:tc>
                <a:tc>
                  <a:txBody>
                    <a:bodyPr/>
                    <a:lstStyle/>
                    <a:p>
                      <a:pPr algn="ctr"/>
                      <a:r>
                        <a:rPr lang="en-US" sz="1000" dirty="0">
                          <a:solidFill>
                            <a:schemeClr val="bg2">
                              <a:lumMod val="50000"/>
                            </a:schemeClr>
                          </a:solidFill>
                        </a:rPr>
                        <a:t>20</a:t>
                      </a:r>
                    </a:p>
                  </a:txBody>
                  <a:tcPr marT="0" marB="0"/>
                </a:tc>
                <a:tc>
                  <a:txBody>
                    <a:bodyPr/>
                    <a:lstStyle/>
                    <a:p>
                      <a:r>
                        <a:rPr lang="en-US" sz="1000" dirty="0"/>
                        <a:t>Reset#</a:t>
                      </a:r>
                    </a:p>
                  </a:txBody>
                  <a:tcPr marT="0" marB="0"/>
                </a:tc>
                <a:extLst>
                  <a:ext uri="{0D108BD9-81ED-4DB2-BD59-A6C34878D82A}">
                    <a16:rowId xmlns:a16="http://schemas.microsoft.com/office/drawing/2014/main" val="1385704727"/>
                  </a:ext>
                </a:extLst>
              </a:tr>
              <a:tr h="115964">
                <a:tc>
                  <a:txBody>
                    <a:bodyPr/>
                    <a:lstStyle/>
                    <a:p>
                      <a:r>
                        <a:rPr lang="en-US" sz="1000" dirty="0"/>
                        <a:t>CTRL19</a:t>
                      </a:r>
                    </a:p>
                  </a:txBody>
                  <a:tcPr marT="0" marB="0"/>
                </a:tc>
                <a:tc>
                  <a:txBody>
                    <a:bodyPr/>
                    <a:lstStyle/>
                    <a:p>
                      <a:pPr algn="ctr"/>
                      <a:r>
                        <a:rPr lang="en-US" sz="1000" dirty="0">
                          <a:solidFill>
                            <a:schemeClr val="bg2">
                              <a:lumMod val="50000"/>
                            </a:schemeClr>
                          </a:solidFill>
                        </a:rPr>
                        <a:t>61</a:t>
                      </a:r>
                    </a:p>
                  </a:txBody>
                  <a:tcPr marT="0" marB="0"/>
                </a:tc>
                <a:tc>
                  <a:txBody>
                    <a:bodyPr/>
                    <a:lstStyle/>
                    <a:p>
                      <a:pPr algn="ctr"/>
                      <a:r>
                        <a:rPr lang="en-US" sz="1000" dirty="0">
                          <a:solidFill>
                            <a:schemeClr val="bg2">
                              <a:lumMod val="50000"/>
                            </a:schemeClr>
                          </a:solidFill>
                        </a:rPr>
                        <a:t>21</a:t>
                      </a:r>
                    </a:p>
                  </a:txBody>
                  <a:tcPr marT="0" marB="0"/>
                </a:tc>
                <a:tc>
                  <a:txBody>
                    <a:bodyPr/>
                    <a:lstStyle/>
                    <a:p>
                      <a:r>
                        <a:rPr lang="en-US" sz="1000" dirty="0"/>
                        <a:t>CLK</a:t>
                      </a:r>
                    </a:p>
                  </a:txBody>
                  <a:tcPr marT="0" marB="0"/>
                </a:tc>
                <a:extLst>
                  <a:ext uri="{0D108BD9-81ED-4DB2-BD59-A6C34878D82A}">
                    <a16:rowId xmlns:a16="http://schemas.microsoft.com/office/drawing/2014/main" val="472266456"/>
                  </a:ext>
                </a:extLst>
              </a:tr>
              <a:tr h="115964">
                <a:tc>
                  <a:txBody>
                    <a:bodyPr/>
                    <a:lstStyle/>
                    <a:p>
                      <a:r>
                        <a:rPr lang="en-US" sz="1000" dirty="0"/>
                        <a:t>CTRL18</a:t>
                      </a:r>
                    </a:p>
                  </a:txBody>
                  <a:tcPr marT="0" marB="0"/>
                </a:tc>
                <a:tc>
                  <a:txBody>
                    <a:bodyPr/>
                    <a:lstStyle/>
                    <a:p>
                      <a:pPr algn="ctr"/>
                      <a:r>
                        <a:rPr lang="en-US" sz="1000" dirty="0">
                          <a:solidFill>
                            <a:schemeClr val="bg2">
                              <a:lumMod val="50000"/>
                            </a:schemeClr>
                          </a:solidFill>
                        </a:rPr>
                        <a:t>62</a:t>
                      </a:r>
                    </a:p>
                  </a:txBody>
                  <a:tcPr marT="0" marB="0"/>
                </a:tc>
                <a:tc>
                  <a:txBody>
                    <a:bodyPr/>
                    <a:lstStyle/>
                    <a:p>
                      <a:pPr algn="ctr"/>
                      <a:r>
                        <a:rPr lang="en-US" sz="1000" dirty="0">
                          <a:solidFill>
                            <a:schemeClr val="bg2">
                              <a:lumMod val="50000"/>
                            </a:schemeClr>
                          </a:solidFill>
                        </a:rPr>
                        <a:t>22</a:t>
                      </a:r>
                    </a:p>
                  </a:txBody>
                  <a:tcPr marT="0" marB="0"/>
                </a:tc>
                <a:tc>
                  <a:txBody>
                    <a:bodyPr/>
                    <a:lstStyle/>
                    <a:p>
                      <a:r>
                        <a:rPr lang="en-US" sz="1000" dirty="0"/>
                        <a:t>WR#</a:t>
                      </a:r>
                    </a:p>
                  </a:txBody>
                  <a:tcPr marT="0" marB="0"/>
                </a:tc>
                <a:extLst>
                  <a:ext uri="{0D108BD9-81ED-4DB2-BD59-A6C34878D82A}">
                    <a16:rowId xmlns:a16="http://schemas.microsoft.com/office/drawing/2014/main" val="1267269735"/>
                  </a:ext>
                </a:extLst>
              </a:tr>
              <a:tr h="115964">
                <a:tc>
                  <a:txBody>
                    <a:bodyPr/>
                    <a:lstStyle/>
                    <a:p>
                      <a:r>
                        <a:rPr lang="en-US" sz="1000" dirty="0"/>
                        <a:t>CTRL17</a:t>
                      </a:r>
                    </a:p>
                  </a:txBody>
                  <a:tcPr marT="0" marB="0"/>
                </a:tc>
                <a:tc>
                  <a:txBody>
                    <a:bodyPr/>
                    <a:lstStyle/>
                    <a:p>
                      <a:pPr algn="ctr"/>
                      <a:r>
                        <a:rPr lang="en-US" sz="1000" dirty="0">
                          <a:solidFill>
                            <a:schemeClr val="bg2">
                              <a:lumMod val="50000"/>
                            </a:schemeClr>
                          </a:solidFill>
                        </a:rPr>
                        <a:t>63</a:t>
                      </a:r>
                    </a:p>
                  </a:txBody>
                  <a:tcPr marT="0" marB="0"/>
                </a:tc>
                <a:tc>
                  <a:txBody>
                    <a:bodyPr/>
                    <a:lstStyle/>
                    <a:p>
                      <a:pPr algn="ctr"/>
                      <a:r>
                        <a:rPr lang="en-US" sz="1000" dirty="0">
                          <a:solidFill>
                            <a:schemeClr val="bg2">
                              <a:lumMod val="50000"/>
                            </a:schemeClr>
                          </a:solidFill>
                        </a:rPr>
                        <a:t>23</a:t>
                      </a:r>
                    </a:p>
                  </a:txBody>
                  <a:tcPr marT="0" marB="0"/>
                </a:tc>
                <a:tc>
                  <a:txBody>
                    <a:bodyPr/>
                    <a:lstStyle/>
                    <a:p>
                      <a:r>
                        <a:rPr lang="en-US" sz="1000" dirty="0"/>
                        <a:t>RD# (OE#)</a:t>
                      </a:r>
                    </a:p>
                  </a:txBody>
                  <a:tcPr marT="0" marB="0"/>
                </a:tc>
                <a:extLst>
                  <a:ext uri="{0D108BD9-81ED-4DB2-BD59-A6C34878D82A}">
                    <a16:rowId xmlns:a16="http://schemas.microsoft.com/office/drawing/2014/main" val="2917408080"/>
                  </a:ext>
                </a:extLst>
              </a:tr>
              <a:tr h="115964">
                <a:tc>
                  <a:txBody>
                    <a:bodyPr/>
                    <a:lstStyle/>
                    <a:p>
                      <a:r>
                        <a:rPr lang="en-US" sz="1000" dirty="0"/>
                        <a:t>CTRL16</a:t>
                      </a:r>
                    </a:p>
                  </a:txBody>
                  <a:tcPr marT="0" marB="0"/>
                </a:tc>
                <a:tc>
                  <a:txBody>
                    <a:bodyPr/>
                    <a:lstStyle/>
                    <a:p>
                      <a:pPr algn="ctr"/>
                      <a:r>
                        <a:rPr lang="en-US" sz="1000" dirty="0">
                          <a:solidFill>
                            <a:schemeClr val="bg2">
                              <a:lumMod val="50000"/>
                            </a:schemeClr>
                          </a:solidFill>
                        </a:rPr>
                        <a:t>64</a:t>
                      </a:r>
                    </a:p>
                  </a:txBody>
                  <a:tcPr marT="0" marB="0"/>
                </a:tc>
                <a:tc>
                  <a:txBody>
                    <a:bodyPr/>
                    <a:lstStyle/>
                    <a:p>
                      <a:pPr algn="ctr"/>
                      <a:r>
                        <a:rPr lang="en-US" sz="1000" dirty="0">
                          <a:solidFill>
                            <a:schemeClr val="bg2">
                              <a:lumMod val="50000"/>
                            </a:schemeClr>
                          </a:solidFill>
                        </a:rPr>
                        <a:t>24</a:t>
                      </a:r>
                    </a:p>
                  </a:txBody>
                  <a:tcPr marT="0" marB="0"/>
                </a:tc>
                <a:tc>
                  <a:txBody>
                    <a:bodyPr/>
                    <a:lstStyle/>
                    <a:p>
                      <a:r>
                        <a:rPr lang="en-US" sz="1000" dirty="0"/>
                        <a:t>INSTR0</a:t>
                      </a:r>
                    </a:p>
                  </a:txBody>
                  <a:tcPr marT="0" marB="0"/>
                </a:tc>
                <a:extLst>
                  <a:ext uri="{0D108BD9-81ED-4DB2-BD59-A6C34878D82A}">
                    <a16:rowId xmlns:a16="http://schemas.microsoft.com/office/drawing/2014/main" val="3072794625"/>
                  </a:ext>
                </a:extLst>
              </a:tr>
              <a:tr h="115964">
                <a:tc>
                  <a:txBody>
                    <a:bodyPr/>
                    <a:lstStyle/>
                    <a:p>
                      <a:r>
                        <a:rPr lang="en-US" sz="1000" dirty="0"/>
                        <a:t>CTRL15</a:t>
                      </a:r>
                    </a:p>
                  </a:txBody>
                  <a:tcPr marT="0" marB="0"/>
                </a:tc>
                <a:tc>
                  <a:txBody>
                    <a:bodyPr/>
                    <a:lstStyle/>
                    <a:p>
                      <a:pPr algn="ctr"/>
                      <a:r>
                        <a:rPr lang="en-US" sz="1000" dirty="0">
                          <a:solidFill>
                            <a:schemeClr val="bg2">
                              <a:lumMod val="50000"/>
                            </a:schemeClr>
                          </a:solidFill>
                        </a:rPr>
                        <a:t>65</a:t>
                      </a:r>
                    </a:p>
                  </a:txBody>
                  <a:tcPr marT="0" marB="0"/>
                </a:tc>
                <a:tc>
                  <a:txBody>
                    <a:bodyPr/>
                    <a:lstStyle/>
                    <a:p>
                      <a:pPr algn="ctr"/>
                      <a:r>
                        <a:rPr lang="en-US" sz="1000" dirty="0">
                          <a:solidFill>
                            <a:schemeClr val="bg2">
                              <a:lumMod val="50000"/>
                            </a:schemeClr>
                          </a:solidFill>
                        </a:rPr>
                        <a:t>25</a:t>
                      </a:r>
                    </a:p>
                  </a:txBody>
                  <a:tcPr marT="0" marB="0"/>
                </a:tc>
                <a:tc>
                  <a:txBody>
                    <a:bodyPr/>
                    <a:lstStyle/>
                    <a:p>
                      <a:r>
                        <a:rPr lang="en-US" sz="1000" dirty="0"/>
                        <a:t>INSTR1</a:t>
                      </a:r>
                    </a:p>
                  </a:txBody>
                  <a:tcPr marT="0" marB="0"/>
                </a:tc>
                <a:extLst>
                  <a:ext uri="{0D108BD9-81ED-4DB2-BD59-A6C34878D82A}">
                    <a16:rowId xmlns:a16="http://schemas.microsoft.com/office/drawing/2014/main" val="3695457550"/>
                  </a:ext>
                </a:extLst>
              </a:tr>
              <a:tr h="115964">
                <a:tc>
                  <a:txBody>
                    <a:bodyPr/>
                    <a:lstStyle/>
                    <a:p>
                      <a:r>
                        <a:rPr lang="en-US" sz="1000" dirty="0"/>
                        <a:t>CTRL14</a:t>
                      </a:r>
                    </a:p>
                  </a:txBody>
                  <a:tcPr marT="0" marB="0"/>
                </a:tc>
                <a:tc>
                  <a:txBody>
                    <a:bodyPr/>
                    <a:lstStyle/>
                    <a:p>
                      <a:pPr algn="ctr"/>
                      <a:r>
                        <a:rPr lang="en-US" sz="1000" dirty="0">
                          <a:solidFill>
                            <a:schemeClr val="bg2">
                              <a:lumMod val="50000"/>
                            </a:schemeClr>
                          </a:solidFill>
                        </a:rPr>
                        <a:t>66</a:t>
                      </a:r>
                    </a:p>
                  </a:txBody>
                  <a:tcPr marT="0" marB="0"/>
                </a:tc>
                <a:tc>
                  <a:txBody>
                    <a:bodyPr/>
                    <a:lstStyle/>
                    <a:p>
                      <a:pPr algn="ctr"/>
                      <a:r>
                        <a:rPr lang="en-US" sz="1000" dirty="0">
                          <a:solidFill>
                            <a:schemeClr val="bg2">
                              <a:lumMod val="50000"/>
                            </a:schemeClr>
                          </a:solidFill>
                        </a:rPr>
                        <a:t>26</a:t>
                      </a:r>
                    </a:p>
                  </a:txBody>
                  <a:tcPr marT="0" marB="0"/>
                </a:tc>
                <a:tc>
                  <a:txBody>
                    <a:bodyPr/>
                    <a:lstStyle/>
                    <a:p>
                      <a:r>
                        <a:rPr lang="en-US" sz="1000" dirty="0"/>
                        <a:t>INSTR2</a:t>
                      </a:r>
                    </a:p>
                  </a:txBody>
                  <a:tcPr marT="0" marB="0"/>
                </a:tc>
                <a:extLst>
                  <a:ext uri="{0D108BD9-81ED-4DB2-BD59-A6C34878D82A}">
                    <a16:rowId xmlns:a16="http://schemas.microsoft.com/office/drawing/2014/main" val="2787291611"/>
                  </a:ext>
                </a:extLst>
              </a:tr>
              <a:tr h="115964">
                <a:tc>
                  <a:txBody>
                    <a:bodyPr/>
                    <a:lstStyle/>
                    <a:p>
                      <a:r>
                        <a:rPr lang="en-US" sz="1000" dirty="0"/>
                        <a:t>CTRL13</a:t>
                      </a:r>
                    </a:p>
                  </a:txBody>
                  <a:tcPr marT="0" marB="0"/>
                </a:tc>
                <a:tc>
                  <a:txBody>
                    <a:bodyPr/>
                    <a:lstStyle/>
                    <a:p>
                      <a:pPr algn="ctr"/>
                      <a:r>
                        <a:rPr lang="en-US" sz="1000" dirty="0">
                          <a:solidFill>
                            <a:schemeClr val="bg2">
                              <a:lumMod val="50000"/>
                            </a:schemeClr>
                          </a:solidFill>
                        </a:rPr>
                        <a:t>67</a:t>
                      </a:r>
                    </a:p>
                  </a:txBody>
                  <a:tcPr marT="0" marB="0"/>
                </a:tc>
                <a:tc>
                  <a:txBody>
                    <a:bodyPr/>
                    <a:lstStyle/>
                    <a:p>
                      <a:pPr algn="ctr"/>
                      <a:r>
                        <a:rPr lang="en-US" sz="1000" dirty="0">
                          <a:solidFill>
                            <a:schemeClr val="bg2">
                              <a:lumMod val="50000"/>
                            </a:schemeClr>
                          </a:solidFill>
                        </a:rPr>
                        <a:t>27</a:t>
                      </a:r>
                    </a:p>
                  </a:txBody>
                  <a:tcPr marT="0" marB="0"/>
                </a:tc>
                <a:tc>
                  <a:txBody>
                    <a:bodyPr/>
                    <a:lstStyle/>
                    <a:p>
                      <a:r>
                        <a:rPr lang="en-US" sz="1000" dirty="0"/>
                        <a:t>INSTR3</a:t>
                      </a:r>
                    </a:p>
                  </a:txBody>
                  <a:tcPr marT="0" marB="0"/>
                </a:tc>
                <a:extLst>
                  <a:ext uri="{0D108BD9-81ED-4DB2-BD59-A6C34878D82A}">
                    <a16:rowId xmlns:a16="http://schemas.microsoft.com/office/drawing/2014/main" val="346156318"/>
                  </a:ext>
                </a:extLst>
              </a:tr>
              <a:tr h="115964">
                <a:tc>
                  <a:txBody>
                    <a:bodyPr/>
                    <a:lstStyle/>
                    <a:p>
                      <a:r>
                        <a:rPr lang="en-US" sz="1000" dirty="0"/>
                        <a:t>CTRL12</a:t>
                      </a:r>
                    </a:p>
                  </a:txBody>
                  <a:tcPr marT="0" marB="0"/>
                </a:tc>
                <a:tc>
                  <a:txBody>
                    <a:bodyPr/>
                    <a:lstStyle/>
                    <a:p>
                      <a:pPr algn="ctr"/>
                      <a:r>
                        <a:rPr lang="en-US" sz="1000" dirty="0">
                          <a:solidFill>
                            <a:schemeClr val="bg2">
                              <a:lumMod val="50000"/>
                            </a:schemeClr>
                          </a:solidFill>
                        </a:rPr>
                        <a:t>68</a:t>
                      </a:r>
                    </a:p>
                  </a:txBody>
                  <a:tcPr marT="0" marB="0"/>
                </a:tc>
                <a:tc>
                  <a:txBody>
                    <a:bodyPr/>
                    <a:lstStyle/>
                    <a:p>
                      <a:pPr algn="ctr"/>
                      <a:r>
                        <a:rPr lang="en-US" sz="1000" dirty="0">
                          <a:solidFill>
                            <a:schemeClr val="bg2">
                              <a:lumMod val="50000"/>
                            </a:schemeClr>
                          </a:solidFill>
                        </a:rPr>
                        <a:t>28</a:t>
                      </a:r>
                    </a:p>
                  </a:txBody>
                  <a:tcPr marT="0" marB="0"/>
                </a:tc>
                <a:tc>
                  <a:txBody>
                    <a:bodyPr/>
                    <a:lstStyle/>
                    <a:p>
                      <a:r>
                        <a:rPr lang="en-US" sz="1000" dirty="0"/>
                        <a:t>INSTR4</a:t>
                      </a:r>
                    </a:p>
                  </a:txBody>
                  <a:tcPr marT="0" marB="0"/>
                </a:tc>
                <a:extLst>
                  <a:ext uri="{0D108BD9-81ED-4DB2-BD59-A6C34878D82A}">
                    <a16:rowId xmlns:a16="http://schemas.microsoft.com/office/drawing/2014/main" val="807599389"/>
                  </a:ext>
                </a:extLst>
              </a:tr>
              <a:tr h="115964">
                <a:tc>
                  <a:txBody>
                    <a:bodyPr/>
                    <a:lstStyle/>
                    <a:p>
                      <a:r>
                        <a:rPr lang="en-US" sz="1000" dirty="0"/>
                        <a:t>CTRL11</a:t>
                      </a:r>
                    </a:p>
                  </a:txBody>
                  <a:tcPr marT="0" marB="0"/>
                </a:tc>
                <a:tc>
                  <a:txBody>
                    <a:bodyPr/>
                    <a:lstStyle/>
                    <a:p>
                      <a:pPr algn="ctr"/>
                      <a:r>
                        <a:rPr lang="en-US" sz="1000" dirty="0">
                          <a:solidFill>
                            <a:schemeClr val="bg2">
                              <a:lumMod val="50000"/>
                            </a:schemeClr>
                          </a:solidFill>
                        </a:rPr>
                        <a:t>69</a:t>
                      </a:r>
                    </a:p>
                  </a:txBody>
                  <a:tcPr marT="0" marB="0"/>
                </a:tc>
                <a:tc>
                  <a:txBody>
                    <a:bodyPr/>
                    <a:lstStyle/>
                    <a:p>
                      <a:pPr algn="ctr"/>
                      <a:r>
                        <a:rPr lang="en-US" sz="1000" dirty="0">
                          <a:solidFill>
                            <a:schemeClr val="bg2">
                              <a:lumMod val="50000"/>
                            </a:schemeClr>
                          </a:solidFill>
                        </a:rPr>
                        <a:t>29</a:t>
                      </a:r>
                    </a:p>
                  </a:txBody>
                  <a:tcPr marT="0" marB="0"/>
                </a:tc>
                <a:tc>
                  <a:txBody>
                    <a:bodyPr/>
                    <a:lstStyle/>
                    <a:p>
                      <a:r>
                        <a:rPr lang="en-US" sz="1000" dirty="0"/>
                        <a:t>INSTR5</a:t>
                      </a:r>
                    </a:p>
                  </a:txBody>
                  <a:tcPr marT="0" marB="0"/>
                </a:tc>
                <a:extLst>
                  <a:ext uri="{0D108BD9-81ED-4DB2-BD59-A6C34878D82A}">
                    <a16:rowId xmlns:a16="http://schemas.microsoft.com/office/drawing/2014/main" val="186783995"/>
                  </a:ext>
                </a:extLst>
              </a:tr>
              <a:tr h="115964">
                <a:tc>
                  <a:txBody>
                    <a:bodyPr/>
                    <a:lstStyle/>
                    <a:p>
                      <a:r>
                        <a:rPr lang="en-US" sz="1000" dirty="0"/>
                        <a:t>CTRL10</a:t>
                      </a:r>
                    </a:p>
                  </a:txBody>
                  <a:tcPr marT="0" marB="0"/>
                </a:tc>
                <a:tc>
                  <a:txBody>
                    <a:bodyPr/>
                    <a:lstStyle/>
                    <a:p>
                      <a:pPr algn="ctr"/>
                      <a:r>
                        <a:rPr lang="en-US" sz="1000" dirty="0">
                          <a:solidFill>
                            <a:schemeClr val="bg2">
                              <a:lumMod val="50000"/>
                            </a:schemeClr>
                          </a:solidFill>
                        </a:rPr>
                        <a:t>70</a:t>
                      </a:r>
                    </a:p>
                  </a:txBody>
                  <a:tcPr marT="0" marB="0"/>
                </a:tc>
                <a:tc>
                  <a:txBody>
                    <a:bodyPr/>
                    <a:lstStyle/>
                    <a:p>
                      <a:pPr algn="ctr"/>
                      <a:r>
                        <a:rPr lang="en-US" sz="1000" dirty="0">
                          <a:solidFill>
                            <a:schemeClr val="bg2">
                              <a:lumMod val="50000"/>
                            </a:schemeClr>
                          </a:solidFill>
                        </a:rPr>
                        <a:t>30</a:t>
                      </a:r>
                    </a:p>
                  </a:txBody>
                  <a:tcPr marT="0" marB="0"/>
                </a:tc>
                <a:tc>
                  <a:txBody>
                    <a:bodyPr/>
                    <a:lstStyle/>
                    <a:p>
                      <a:r>
                        <a:rPr lang="en-US" sz="1000" dirty="0"/>
                        <a:t>INSTR6</a:t>
                      </a:r>
                    </a:p>
                  </a:txBody>
                  <a:tcPr marT="0" marB="0"/>
                </a:tc>
                <a:extLst>
                  <a:ext uri="{0D108BD9-81ED-4DB2-BD59-A6C34878D82A}">
                    <a16:rowId xmlns:a16="http://schemas.microsoft.com/office/drawing/2014/main" val="1986205125"/>
                  </a:ext>
                </a:extLst>
              </a:tr>
              <a:tr h="115964">
                <a:tc>
                  <a:txBody>
                    <a:bodyPr/>
                    <a:lstStyle/>
                    <a:p>
                      <a:r>
                        <a:rPr lang="en-US" sz="1000" dirty="0"/>
                        <a:t>CTRL9</a:t>
                      </a:r>
                    </a:p>
                  </a:txBody>
                  <a:tcPr marT="0" marB="0"/>
                </a:tc>
                <a:tc>
                  <a:txBody>
                    <a:bodyPr/>
                    <a:lstStyle/>
                    <a:p>
                      <a:pPr algn="ctr"/>
                      <a:r>
                        <a:rPr lang="en-US" sz="1000" dirty="0">
                          <a:solidFill>
                            <a:schemeClr val="bg2">
                              <a:lumMod val="50000"/>
                            </a:schemeClr>
                          </a:solidFill>
                        </a:rPr>
                        <a:t>71</a:t>
                      </a:r>
                    </a:p>
                  </a:txBody>
                  <a:tcPr marT="0" marB="0"/>
                </a:tc>
                <a:tc>
                  <a:txBody>
                    <a:bodyPr/>
                    <a:lstStyle/>
                    <a:p>
                      <a:pPr algn="ctr"/>
                      <a:r>
                        <a:rPr lang="en-US" sz="1000" dirty="0">
                          <a:solidFill>
                            <a:schemeClr val="bg2">
                              <a:lumMod val="50000"/>
                            </a:schemeClr>
                          </a:solidFill>
                        </a:rPr>
                        <a:t>31</a:t>
                      </a:r>
                    </a:p>
                  </a:txBody>
                  <a:tcPr marT="0" marB="0"/>
                </a:tc>
                <a:tc>
                  <a:txBody>
                    <a:bodyPr/>
                    <a:lstStyle/>
                    <a:p>
                      <a:r>
                        <a:rPr lang="en-US" sz="1000" dirty="0"/>
                        <a:t>INSTR7</a:t>
                      </a:r>
                    </a:p>
                  </a:txBody>
                  <a:tcPr marT="0" marB="0"/>
                </a:tc>
                <a:extLst>
                  <a:ext uri="{0D108BD9-81ED-4DB2-BD59-A6C34878D82A}">
                    <a16:rowId xmlns:a16="http://schemas.microsoft.com/office/drawing/2014/main" val="3581079302"/>
                  </a:ext>
                </a:extLst>
              </a:tr>
              <a:tr h="115964">
                <a:tc>
                  <a:txBody>
                    <a:bodyPr/>
                    <a:lstStyle/>
                    <a:p>
                      <a:r>
                        <a:rPr lang="en-US" sz="1000" dirty="0"/>
                        <a:t>CTRL8</a:t>
                      </a:r>
                    </a:p>
                  </a:txBody>
                  <a:tcPr marT="0" marB="0"/>
                </a:tc>
                <a:tc>
                  <a:txBody>
                    <a:bodyPr/>
                    <a:lstStyle/>
                    <a:p>
                      <a:pPr algn="ctr"/>
                      <a:r>
                        <a:rPr lang="en-US" sz="1000" dirty="0">
                          <a:solidFill>
                            <a:schemeClr val="bg2">
                              <a:lumMod val="50000"/>
                            </a:schemeClr>
                          </a:solidFill>
                        </a:rPr>
                        <a:t>72</a:t>
                      </a:r>
                    </a:p>
                  </a:txBody>
                  <a:tcPr marT="0" marB="0"/>
                </a:tc>
                <a:tc>
                  <a:txBody>
                    <a:bodyPr/>
                    <a:lstStyle/>
                    <a:p>
                      <a:pPr algn="ctr"/>
                      <a:r>
                        <a:rPr lang="en-US" sz="1000" dirty="0">
                          <a:solidFill>
                            <a:schemeClr val="bg2">
                              <a:lumMod val="50000"/>
                            </a:schemeClr>
                          </a:solidFill>
                        </a:rPr>
                        <a:t>32</a:t>
                      </a:r>
                    </a:p>
                  </a:txBody>
                  <a:tcPr marT="0" marB="0"/>
                </a:tc>
                <a:tc>
                  <a:txBody>
                    <a:bodyPr/>
                    <a:lstStyle/>
                    <a:p>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INSTR8</a:t>
                      </a:r>
                      <a:endParaRPr lang="en-US" sz="1000" dirty="0"/>
                    </a:p>
                  </a:txBody>
                  <a:tcPr marT="0" marB="0"/>
                </a:tc>
                <a:extLst>
                  <a:ext uri="{0D108BD9-81ED-4DB2-BD59-A6C34878D82A}">
                    <a16:rowId xmlns:a16="http://schemas.microsoft.com/office/drawing/2014/main" val="1915726002"/>
                  </a:ext>
                </a:extLst>
              </a:tr>
              <a:tr h="115964">
                <a:tc>
                  <a:txBody>
                    <a:bodyPr/>
                    <a:lstStyle/>
                    <a:p>
                      <a:r>
                        <a:rPr lang="en-US" sz="1000" dirty="0"/>
                        <a:t>CTRL7</a:t>
                      </a:r>
                    </a:p>
                  </a:txBody>
                  <a:tcPr marT="0" marB="0"/>
                </a:tc>
                <a:tc>
                  <a:txBody>
                    <a:bodyPr/>
                    <a:lstStyle/>
                    <a:p>
                      <a:pPr algn="ctr"/>
                      <a:r>
                        <a:rPr lang="en-US" sz="1000" dirty="0">
                          <a:solidFill>
                            <a:schemeClr val="bg2">
                              <a:lumMod val="50000"/>
                            </a:schemeClr>
                          </a:solidFill>
                        </a:rPr>
                        <a:t>73</a:t>
                      </a:r>
                    </a:p>
                  </a:txBody>
                  <a:tcPr marT="0" marB="0"/>
                </a:tc>
                <a:tc>
                  <a:txBody>
                    <a:bodyPr/>
                    <a:lstStyle/>
                    <a:p>
                      <a:pPr algn="ctr"/>
                      <a:r>
                        <a:rPr lang="en-US" sz="1000" dirty="0">
                          <a:solidFill>
                            <a:schemeClr val="bg2">
                              <a:lumMod val="50000"/>
                            </a:schemeClr>
                          </a:solidFill>
                        </a:rPr>
                        <a:t>33</a:t>
                      </a:r>
                    </a:p>
                  </a:txBody>
                  <a:tcPr marT="0" marB="0"/>
                </a:tc>
                <a:tc>
                  <a:txBody>
                    <a:bodyPr/>
                    <a:lstStyle/>
                    <a:p>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INSTR9</a:t>
                      </a:r>
                      <a:endParaRPr lang="en-US" sz="1000" dirty="0"/>
                    </a:p>
                  </a:txBody>
                  <a:tcPr marT="0" marB="0"/>
                </a:tc>
                <a:extLst>
                  <a:ext uri="{0D108BD9-81ED-4DB2-BD59-A6C34878D82A}">
                    <a16:rowId xmlns:a16="http://schemas.microsoft.com/office/drawing/2014/main" val="2551879494"/>
                  </a:ext>
                </a:extLst>
              </a:tr>
              <a:tr h="115964">
                <a:tc>
                  <a:txBody>
                    <a:bodyPr/>
                    <a:lstStyle/>
                    <a:p>
                      <a:r>
                        <a:rPr lang="en-US" sz="1000" dirty="0"/>
                        <a:t>CTRL6</a:t>
                      </a:r>
                    </a:p>
                  </a:txBody>
                  <a:tcPr marT="0" marB="0"/>
                </a:tc>
                <a:tc>
                  <a:txBody>
                    <a:bodyPr/>
                    <a:lstStyle/>
                    <a:p>
                      <a:pPr algn="ctr"/>
                      <a:r>
                        <a:rPr lang="en-US" sz="1000" dirty="0">
                          <a:solidFill>
                            <a:schemeClr val="bg2">
                              <a:lumMod val="50000"/>
                            </a:schemeClr>
                          </a:solidFill>
                        </a:rPr>
                        <a:t>74</a:t>
                      </a:r>
                    </a:p>
                  </a:txBody>
                  <a:tcPr marT="0" marB="0"/>
                </a:tc>
                <a:tc>
                  <a:txBody>
                    <a:bodyPr/>
                    <a:lstStyle/>
                    <a:p>
                      <a:pPr algn="ctr"/>
                      <a:r>
                        <a:rPr lang="en-US" sz="1000" dirty="0">
                          <a:solidFill>
                            <a:schemeClr val="bg2">
                              <a:lumMod val="50000"/>
                            </a:schemeClr>
                          </a:solidFill>
                        </a:rPr>
                        <a:t>34</a:t>
                      </a:r>
                    </a:p>
                  </a:txBody>
                  <a:tcPr marT="0" marB="0"/>
                </a:tc>
                <a:tc>
                  <a:txBody>
                    <a:bodyPr/>
                    <a:lstStyle/>
                    <a:p>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INSTR10</a:t>
                      </a:r>
                      <a:endParaRPr lang="en-US" sz="1000" dirty="0"/>
                    </a:p>
                  </a:txBody>
                  <a:tcPr marT="0" marB="0"/>
                </a:tc>
                <a:extLst>
                  <a:ext uri="{0D108BD9-81ED-4DB2-BD59-A6C34878D82A}">
                    <a16:rowId xmlns:a16="http://schemas.microsoft.com/office/drawing/2014/main" val="600245677"/>
                  </a:ext>
                </a:extLst>
              </a:tr>
              <a:tr h="115964">
                <a:tc>
                  <a:txBody>
                    <a:bodyPr/>
                    <a:lstStyle/>
                    <a:p>
                      <a:r>
                        <a:rPr lang="en-US" sz="1000" dirty="0"/>
                        <a:t>CTRL5</a:t>
                      </a:r>
                    </a:p>
                  </a:txBody>
                  <a:tcPr marT="0" marB="0"/>
                </a:tc>
                <a:tc>
                  <a:txBody>
                    <a:bodyPr/>
                    <a:lstStyle/>
                    <a:p>
                      <a:pPr algn="ctr"/>
                      <a:r>
                        <a:rPr lang="en-US" sz="1000" dirty="0">
                          <a:solidFill>
                            <a:schemeClr val="bg2">
                              <a:lumMod val="50000"/>
                            </a:schemeClr>
                          </a:solidFill>
                        </a:rPr>
                        <a:t>75</a:t>
                      </a:r>
                    </a:p>
                  </a:txBody>
                  <a:tcPr marT="0" marB="0"/>
                </a:tc>
                <a:tc>
                  <a:txBody>
                    <a:bodyPr/>
                    <a:lstStyle/>
                    <a:p>
                      <a:pPr algn="ctr"/>
                      <a:r>
                        <a:rPr lang="en-US" sz="1000" dirty="0">
                          <a:solidFill>
                            <a:schemeClr val="bg2">
                              <a:lumMod val="50000"/>
                            </a:schemeClr>
                          </a:solidFill>
                        </a:rPr>
                        <a:t>35</a:t>
                      </a:r>
                    </a:p>
                  </a:txBody>
                  <a:tcPr marT="0" marB="0">
                    <a:solidFill>
                      <a:schemeClr val="accent2"/>
                    </a:solidFill>
                  </a:tcPr>
                </a:tc>
                <a:tc>
                  <a:txBody>
                    <a:bodyPr/>
                    <a:lstStyle/>
                    <a:p>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INSTR11</a:t>
                      </a:r>
                      <a:endParaRPr lang="en-US" sz="1000" dirty="0"/>
                    </a:p>
                  </a:txBody>
                  <a:tcPr marT="0" marB="0"/>
                </a:tc>
                <a:extLst>
                  <a:ext uri="{0D108BD9-81ED-4DB2-BD59-A6C34878D82A}">
                    <a16:rowId xmlns:a16="http://schemas.microsoft.com/office/drawing/2014/main" val="54968922"/>
                  </a:ext>
                </a:extLst>
              </a:tr>
              <a:tr h="115964">
                <a:tc>
                  <a:txBody>
                    <a:bodyPr/>
                    <a:lstStyle/>
                    <a:p>
                      <a:r>
                        <a:rPr lang="en-US" sz="1000" dirty="0"/>
                        <a:t>CTRL4</a:t>
                      </a:r>
                    </a:p>
                  </a:txBody>
                  <a:tcPr marT="0" marB="0"/>
                </a:tc>
                <a:tc>
                  <a:txBody>
                    <a:bodyPr/>
                    <a:lstStyle/>
                    <a:p>
                      <a:pPr algn="ctr"/>
                      <a:r>
                        <a:rPr lang="en-US" sz="1000" dirty="0">
                          <a:solidFill>
                            <a:schemeClr val="bg2">
                              <a:lumMod val="50000"/>
                            </a:schemeClr>
                          </a:solidFill>
                        </a:rPr>
                        <a:t>76</a:t>
                      </a:r>
                    </a:p>
                  </a:txBody>
                  <a:tcPr marT="0" marB="0"/>
                </a:tc>
                <a:tc>
                  <a:txBody>
                    <a:bodyPr/>
                    <a:lstStyle/>
                    <a:p>
                      <a:pPr algn="ctr"/>
                      <a:r>
                        <a:rPr lang="en-US" sz="1000" dirty="0">
                          <a:solidFill>
                            <a:schemeClr val="bg2">
                              <a:lumMod val="50000"/>
                            </a:schemeClr>
                          </a:solidFill>
                        </a:rPr>
                        <a:t>36</a:t>
                      </a:r>
                    </a:p>
                  </a:txBody>
                  <a:tcPr marT="0" marB="0">
                    <a:solidFill>
                      <a:schemeClr val="accent2"/>
                    </a:solidFill>
                  </a:tcPr>
                </a:tc>
                <a:tc>
                  <a:txBody>
                    <a:bodyPr/>
                    <a:lstStyle/>
                    <a:p>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INSTR12</a:t>
                      </a:r>
                      <a:endParaRPr lang="en-US" sz="1000" dirty="0"/>
                    </a:p>
                  </a:txBody>
                  <a:tcPr marT="0" marB="0"/>
                </a:tc>
                <a:extLst>
                  <a:ext uri="{0D108BD9-81ED-4DB2-BD59-A6C34878D82A}">
                    <a16:rowId xmlns:a16="http://schemas.microsoft.com/office/drawing/2014/main" val="3731191074"/>
                  </a:ext>
                </a:extLst>
              </a:tr>
              <a:tr h="115964">
                <a:tc>
                  <a:txBody>
                    <a:bodyPr/>
                    <a:lstStyle/>
                    <a:p>
                      <a:r>
                        <a:rPr lang="en-US" sz="1000" dirty="0"/>
                        <a:t>CTRL3</a:t>
                      </a:r>
                    </a:p>
                  </a:txBody>
                  <a:tcPr marT="0" marB="0"/>
                </a:tc>
                <a:tc>
                  <a:txBody>
                    <a:bodyPr/>
                    <a:lstStyle/>
                    <a:p>
                      <a:pPr algn="ctr"/>
                      <a:r>
                        <a:rPr lang="en-US" sz="1000" dirty="0">
                          <a:solidFill>
                            <a:schemeClr val="bg2">
                              <a:lumMod val="50000"/>
                            </a:schemeClr>
                          </a:solidFill>
                        </a:rPr>
                        <a:t>77</a:t>
                      </a:r>
                    </a:p>
                  </a:txBody>
                  <a:tcPr marT="0" marB="0"/>
                </a:tc>
                <a:tc>
                  <a:txBody>
                    <a:bodyPr/>
                    <a:lstStyle/>
                    <a:p>
                      <a:pPr algn="ctr"/>
                      <a:r>
                        <a:rPr lang="en-US" sz="1000" dirty="0">
                          <a:solidFill>
                            <a:schemeClr val="bg2">
                              <a:lumMod val="50000"/>
                            </a:schemeClr>
                          </a:solidFill>
                        </a:rPr>
                        <a:t>37</a:t>
                      </a:r>
                    </a:p>
                  </a:txBody>
                  <a:tcPr marT="0" marB="0">
                    <a:solidFill>
                      <a:schemeClr val="accent2"/>
                    </a:solidFill>
                  </a:tcPr>
                </a:tc>
                <a:tc>
                  <a:txBody>
                    <a:bodyPr/>
                    <a:lstStyle/>
                    <a:p>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INSTR13</a:t>
                      </a:r>
                      <a:endParaRPr lang="en-US" sz="1000" dirty="0"/>
                    </a:p>
                  </a:txBody>
                  <a:tcPr marT="0" marB="0"/>
                </a:tc>
                <a:extLst>
                  <a:ext uri="{0D108BD9-81ED-4DB2-BD59-A6C34878D82A}">
                    <a16:rowId xmlns:a16="http://schemas.microsoft.com/office/drawing/2014/main" val="3974106547"/>
                  </a:ext>
                </a:extLst>
              </a:tr>
              <a:tr h="115964">
                <a:tc>
                  <a:txBody>
                    <a:bodyPr/>
                    <a:lstStyle/>
                    <a:p>
                      <a:r>
                        <a:rPr lang="en-US" sz="1000" dirty="0"/>
                        <a:t>CTRL2</a:t>
                      </a:r>
                    </a:p>
                  </a:txBody>
                  <a:tcPr marT="0" marB="0"/>
                </a:tc>
                <a:tc>
                  <a:txBody>
                    <a:bodyPr/>
                    <a:lstStyle/>
                    <a:p>
                      <a:pPr algn="ctr"/>
                      <a:r>
                        <a:rPr lang="en-US" sz="1000" dirty="0">
                          <a:solidFill>
                            <a:schemeClr val="bg2">
                              <a:lumMod val="50000"/>
                            </a:schemeClr>
                          </a:solidFill>
                        </a:rPr>
                        <a:t>78</a:t>
                      </a:r>
                    </a:p>
                  </a:txBody>
                  <a:tcPr marT="0" marB="0"/>
                </a:tc>
                <a:tc>
                  <a:txBody>
                    <a:bodyPr/>
                    <a:lstStyle/>
                    <a:p>
                      <a:pPr algn="ctr"/>
                      <a:r>
                        <a:rPr lang="en-US" sz="1000" dirty="0">
                          <a:solidFill>
                            <a:schemeClr val="bg2">
                              <a:lumMod val="50000"/>
                            </a:schemeClr>
                          </a:solidFill>
                        </a:rPr>
                        <a:t>38</a:t>
                      </a:r>
                    </a:p>
                  </a:txBody>
                  <a:tcPr marT="0" marB="0">
                    <a:solidFill>
                      <a:schemeClr val="accent2"/>
                    </a:solidFill>
                  </a:tcPr>
                </a:tc>
                <a:tc>
                  <a:txBody>
                    <a:bodyPr/>
                    <a:lstStyle/>
                    <a:p>
                      <a:r>
                        <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rPr>
                        <a:t>INSTR14</a:t>
                      </a:r>
                      <a:endParaRPr lang="en-US" sz="1000" dirty="0"/>
                    </a:p>
                  </a:txBody>
                  <a:tcPr marT="0" marB="0"/>
                </a:tc>
                <a:extLst>
                  <a:ext uri="{0D108BD9-81ED-4DB2-BD59-A6C34878D82A}">
                    <a16:rowId xmlns:a16="http://schemas.microsoft.com/office/drawing/2014/main" val="425738045"/>
                  </a:ext>
                </a:extLst>
              </a:tr>
              <a:tr h="115964">
                <a:tc>
                  <a:txBody>
                    <a:bodyPr/>
                    <a:lstStyle/>
                    <a:p>
                      <a:r>
                        <a:rPr lang="en-US" sz="1000" dirty="0"/>
                        <a:t>CTRL1</a:t>
                      </a:r>
                    </a:p>
                  </a:txBody>
                  <a:tcPr marT="0" marB="0"/>
                </a:tc>
                <a:tc>
                  <a:txBody>
                    <a:bodyPr/>
                    <a:lstStyle/>
                    <a:p>
                      <a:pPr algn="ctr"/>
                      <a:r>
                        <a:rPr lang="en-US" sz="1000" dirty="0">
                          <a:solidFill>
                            <a:schemeClr val="bg2">
                              <a:lumMod val="50000"/>
                            </a:schemeClr>
                          </a:solidFill>
                        </a:rPr>
                        <a:t>79</a:t>
                      </a:r>
                    </a:p>
                  </a:txBody>
                  <a:tcPr marT="0" marB="0"/>
                </a:tc>
                <a:tc>
                  <a:txBody>
                    <a:bodyPr/>
                    <a:lstStyle/>
                    <a:p>
                      <a:pPr algn="ctr"/>
                      <a:r>
                        <a:rPr lang="en-US" sz="1000" dirty="0">
                          <a:solidFill>
                            <a:schemeClr val="bg2">
                              <a:lumMod val="50000"/>
                            </a:schemeClr>
                          </a:solidFill>
                        </a:rPr>
                        <a:t>39</a:t>
                      </a:r>
                    </a:p>
                  </a:txBody>
                  <a:tcPr marT="0" marB="0">
                    <a:solidFill>
                      <a:schemeClr val="accent2"/>
                    </a:solidFill>
                  </a:tcPr>
                </a:tc>
                <a:tc>
                  <a:txBody>
                    <a:bodyPr/>
                    <a:lstStyle/>
                    <a:p>
                      <a:r>
                        <a:rPr lang="en-US" sz="1000" dirty="0"/>
                        <a:t>INSTR15</a:t>
                      </a:r>
                    </a:p>
                  </a:txBody>
                  <a:tcPr marT="0" marB="0"/>
                </a:tc>
                <a:extLst>
                  <a:ext uri="{0D108BD9-81ED-4DB2-BD59-A6C34878D82A}">
                    <a16:rowId xmlns:a16="http://schemas.microsoft.com/office/drawing/2014/main" val="3577992425"/>
                  </a:ext>
                </a:extLst>
              </a:tr>
              <a:tr h="115964">
                <a:tc>
                  <a:txBody>
                    <a:bodyPr/>
                    <a:lstStyle/>
                    <a:p>
                      <a:r>
                        <a:rPr lang="en-US" sz="1000" dirty="0"/>
                        <a:t>CTRL0</a:t>
                      </a:r>
                    </a:p>
                  </a:txBody>
                  <a:tcPr marT="0" marB="0"/>
                </a:tc>
                <a:tc>
                  <a:txBody>
                    <a:bodyPr/>
                    <a:lstStyle/>
                    <a:p>
                      <a:pPr algn="ctr"/>
                      <a:r>
                        <a:rPr lang="en-US" sz="1000" dirty="0">
                          <a:solidFill>
                            <a:schemeClr val="bg2">
                              <a:lumMod val="50000"/>
                            </a:schemeClr>
                          </a:solidFill>
                        </a:rPr>
                        <a:t>80</a:t>
                      </a:r>
                    </a:p>
                  </a:txBody>
                  <a:tcPr marT="0" marB="0"/>
                </a:tc>
                <a:tc>
                  <a:txBody>
                    <a:bodyPr/>
                    <a:lstStyle/>
                    <a:p>
                      <a:pPr algn="ctr"/>
                      <a:r>
                        <a:rPr lang="en-US" sz="1000" dirty="0">
                          <a:solidFill>
                            <a:schemeClr val="bg2">
                              <a:lumMod val="50000"/>
                            </a:schemeClr>
                          </a:solidFill>
                        </a:rPr>
                        <a:t>40</a:t>
                      </a:r>
                    </a:p>
                  </a:txBody>
                  <a:tcPr marT="0" marB="0"/>
                </a:tc>
                <a:tc>
                  <a:txBody>
                    <a:bodyPr/>
                    <a:lstStyle/>
                    <a:p>
                      <a:r>
                        <a:rPr lang="en-US" sz="1000" dirty="0"/>
                        <a:t>__40</a:t>
                      </a:r>
                    </a:p>
                  </a:txBody>
                  <a:tcPr marT="0" marB="0"/>
                </a:tc>
                <a:extLst>
                  <a:ext uri="{0D108BD9-81ED-4DB2-BD59-A6C34878D82A}">
                    <a16:rowId xmlns:a16="http://schemas.microsoft.com/office/drawing/2014/main" val="3754282106"/>
                  </a:ext>
                </a:extLst>
              </a:tr>
            </a:tbl>
          </a:graphicData>
        </a:graphic>
      </p:graphicFrame>
      <p:sp>
        <p:nvSpPr>
          <p:cNvPr id="4" name="TextBox 3">
            <a:extLst>
              <a:ext uri="{FF2B5EF4-FFF2-40B4-BE49-F238E27FC236}">
                <a16:creationId xmlns:a16="http://schemas.microsoft.com/office/drawing/2014/main" id="{C69C6940-D63A-B981-6242-B031BA95F03A}"/>
              </a:ext>
            </a:extLst>
          </p:cNvPr>
          <p:cNvSpPr txBox="1"/>
          <p:nvPr/>
        </p:nvSpPr>
        <p:spPr>
          <a:xfrm>
            <a:off x="1143000" y="1590261"/>
            <a:ext cx="5327420" cy="646331"/>
          </a:xfrm>
          <a:prstGeom prst="rect">
            <a:avLst/>
          </a:prstGeom>
          <a:noFill/>
        </p:spPr>
        <p:txBody>
          <a:bodyPr wrap="none" rtlCol="0">
            <a:spAutoFit/>
          </a:bodyPr>
          <a:lstStyle/>
          <a:p>
            <a:pPr marL="285750" indent="-285750">
              <a:buFont typeface="Arial" panose="020B0604020202020204" pitchFamily="34" charset="0"/>
              <a:buChar char="•"/>
            </a:pPr>
            <a:r>
              <a:rPr lang="en-US" dirty="0"/>
              <a:t>Orange pins have jumpers that can make them local</a:t>
            </a:r>
          </a:p>
          <a:p>
            <a:pPr marL="285750" indent="-285750">
              <a:buFont typeface="Arial" panose="020B0604020202020204" pitchFamily="34" charset="0"/>
              <a:buChar char="•"/>
            </a:pPr>
            <a:r>
              <a:rPr lang="en-US" dirty="0"/>
              <a:t>Pin with prefix __ are not assigned</a:t>
            </a:r>
          </a:p>
        </p:txBody>
      </p:sp>
    </p:spTree>
    <p:extLst>
      <p:ext uri="{BB962C8B-B14F-4D97-AF65-F5344CB8AC3E}">
        <p14:creationId xmlns:p14="http://schemas.microsoft.com/office/powerpoint/2010/main" val="351961042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506F8-43A2-55E0-D9FF-F51A5E8B28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56D771-A811-9EDA-3618-0DFD89375A81}"/>
              </a:ext>
            </a:extLst>
          </p:cNvPr>
          <p:cNvSpPr>
            <a:spLocks noGrp="1"/>
          </p:cNvSpPr>
          <p:nvPr>
            <p:ph type="ctrTitle"/>
          </p:nvPr>
        </p:nvSpPr>
        <p:spPr/>
        <p:txBody>
          <a:bodyPr/>
          <a:lstStyle/>
          <a:p>
            <a:r>
              <a:rPr lang="en-US" dirty="0"/>
              <a:t>Secondary Backplane </a:t>
            </a:r>
          </a:p>
        </p:txBody>
      </p:sp>
      <p:graphicFrame>
        <p:nvGraphicFramePr>
          <p:cNvPr id="3" name="Table 2">
            <a:extLst>
              <a:ext uri="{FF2B5EF4-FFF2-40B4-BE49-F238E27FC236}">
                <a16:creationId xmlns:a16="http://schemas.microsoft.com/office/drawing/2014/main" id="{20ECE772-04C3-37C9-0544-F5BE5FF28E41}"/>
              </a:ext>
            </a:extLst>
          </p:cNvPr>
          <p:cNvGraphicFramePr>
            <a:graphicFrameLocks noGrp="1"/>
          </p:cNvGraphicFramePr>
          <p:nvPr>
            <p:extLst>
              <p:ext uri="{D42A27DB-BD31-4B8C-83A1-F6EECF244321}">
                <p14:modId xmlns:p14="http://schemas.microsoft.com/office/powerpoint/2010/main" val="17737955"/>
              </p:ext>
            </p:extLst>
          </p:nvPr>
        </p:nvGraphicFramePr>
        <p:xfrm>
          <a:off x="7105649" y="195792"/>
          <a:ext cx="3533775" cy="6096000"/>
        </p:xfrm>
        <a:graphic>
          <a:graphicData uri="http://schemas.openxmlformats.org/drawingml/2006/table">
            <a:tbl>
              <a:tblPr bandRow="1">
                <a:tableStyleId>{5C22544A-7EE6-4342-B048-85BDC9FD1C3A}</a:tableStyleId>
              </a:tblPr>
              <a:tblGrid>
                <a:gridCol w="1190626">
                  <a:extLst>
                    <a:ext uri="{9D8B030D-6E8A-4147-A177-3AD203B41FA5}">
                      <a16:colId xmlns:a16="http://schemas.microsoft.com/office/drawing/2014/main" val="3676004610"/>
                    </a:ext>
                  </a:extLst>
                </a:gridCol>
                <a:gridCol w="576262">
                  <a:extLst>
                    <a:ext uri="{9D8B030D-6E8A-4147-A177-3AD203B41FA5}">
                      <a16:colId xmlns:a16="http://schemas.microsoft.com/office/drawing/2014/main" val="678302555"/>
                    </a:ext>
                  </a:extLst>
                </a:gridCol>
                <a:gridCol w="414338">
                  <a:extLst>
                    <a:ext uri="{9D8B030D-6E8A-4147-A177-3AD203B41FA5}">
                      <a16:colId xmlns:a16="http://schemas.microsoft.com/office/drawing/2014/main" val="1903649617"/>
                    </a:ext>
                  </a:extLst>
                </a:gridCol>
                <a:gridCol w="1352549">
                  <a:extLst>
                    <a:ext uri="{9D8B030D-6E8A-4147-A177-3AD203B41FA5}">
                      <a16:colId xmlns:a16="http://schemas.microsoft.com/office/drawing/2014/main" val="527259505"/>
                    </a:ext>
                  </a:extLst>
                </a:gridCol>
              </a:tblGrid>
              <a:tr h="74702">
                <a:tc>
                  <a:txBody>
                    <a:bodyPr/>
                    <a:lstStyle/>
                    <a:p>
                      <a:r>
                        <a:rPr lang="en-US" sz="1000" dirty="0"/>
                        <a:t>__41</a:t>
                      </a:r>
                    </a:p>
                  </a:txBody>
                  <a:tcPr marT="0" marB="0"/>
                </a:tc>
                <a:tc>
                  <a:txBody>
                    <a:bodyPr/>
                    <a:lstStyle/>
                    <a:p>
                      <a:pPr algn="ctr"/>
                      <a:r>
                        <a:rPr lang="en-US" sz="1000" dirty="0">
                          <a:solidFill>
                            <a:schemeClr val="bg2">
                              <a:lumMod val="50000"/>
                            </a:schemeClr>
                          </a:solidFill>
                        </a:rPr>
                        <a:t>41</a:t>
                      </a:r>
                    </a:p>
                  </a:txBody>
                  <a:tcPr marT="0" marB="0"/>
                </a:tc>
                <a:tc>
                  <a:txBody>
                    <a:bodyPr/>
                    <a:lstStyle/>
                    <a:p>
                      <a:pPr algn="ctr"/>
                      <a:r>
                        <a:rPr lang="en-US" sz="1000" dirty="0">
                          <a:solidFill>
                            <a:schemeClr val="bg2">
                              <a:lumMod val="50000"/>
                            </a:schemeClr>
                          </a:solidFill>
                        </a:rPr>
                        <a:t>1</a:t>
                      </a:r>
                    </a:p>
                  </a:txBody>
                  <a:tcPr marT="0" marB="0"/>
                </a:tc>
                <a:tc>
                  <a:txBody>
                    <a:bodyPr/>
                    <a:lstStyle/>
                    <a:p>
                      <a:r>
                        <a:rPr lang="en-US" sz="1000" dirty="0" err="1"/>
                        <a:t>Bus_Request</a:t>
                      </a:r>
                      <a:endParaRPr lang="en-US" sz="1000" dirty="0"/>
                    </a:p>
                  </a:txBody>
                  <a:tcPr marT="0" marB="0"/>
                </a:tc>
                <a:extLst>
                  <a:ext uri="{0D108BD9-81ED-4DB2-BD59-A6C34878D82A}">
                    <a16:rowId xmlns:a16="http://schemas.microsoft.com/office/drawing/2014/main" val="936187020"/>
                  </a:ext>
                </a:extLst>
              </a:tr>
              <a:tr h="74702">
                <a:tc>
                  <a:txBody>
                    <a:bodyPr/>
                    <a:lstStyle/>
                    <a:p>
                      <a:r>
                        <a:rPr lang="en-US" sz="1000" dirty="0"/>
                        <a:t>__42</a:t>
                      </a:r>
                    </a:p>
                  </a:txBody>
                  <a:tcPr marT="0" marB="0"/>
                </a:tc>
                <a:tc>
                  <a:txBody>
                    <a:bodyPr/>
                    <a:lstStyle/>
                    <a:p>
                      <a:pPr algn="ctr"/>
                      <a:r>
                        <a:rPr lang="en-US" sz="1000" dirty="0">
                          <a:solidFill>
                            <a:schemeClr val="bg2">
                              <a:lumMod val="50000"/>
                            </a:schemeClr>
                          </a:solidFill>
                        </a:rPr>
                        <a:t>42</a:t>
                      </a:r>
                    </a:p>
                  </a:txBody>
                  <a:tcPr marT="0" marB="0">
                    <a:solidFill>
                      <a:schemeClr val="accent2"/>
                    </a:solidFill>
                  </a:tcPr>
                </a:tc>
                <a:tc>
                  <a:txBody>
                    <a:bodyPr/>
                    <a:lstStyle/>
                    <a:p>
                      <a:pPr algn="ctr"/>
                      <a:r>
                        <a:rPr lang="en-US" sz="1000" dirty="0">
                          <a:solidFill>
                            <a:schemeClr val="bg2">
                              <a:lumMod val="50000"/>
                            </a:schemeClr>
                          </a:solidFill>
                        </a:rPr>
                        <a:t>2</a:t>
                      </a:r>
                    </a:p>
                  </a:txBody>
                  <a:tcPr marT="0" marB="0"/>
                </a:tc>
                <a:tc>
                  <a:txBody>
                    <a:bodyPr/>
                    <a:lstStyle/>
                    <a:p>
                      <a:r>
                        <a:rPr lang="en-US" sz="1000" dirty="0" err="1"/>
                        <a:t>Bus_Grant</a:t>
                      </a:r>
                      <a:endParaRPr lang="en-US" sz="1000" dirty="0"/>
                    </a:p>
                  </a:txBody>
                  <a:tcPr marT="0" marB="0"/>
                </a:tc>
                <a:extLst>
                  <a:ext uri="{0D108BD9-81ED-4DB2-BD59-A6C34878D82A}">
                    <a16:rowId xmlns:a16="http://schemas.microsoft.com/office/drawing/2014/main" val="1319346788"/>
                  </a:ext>
                </a:extLst>
              </a:tr>
              <a:tr h="74702">
                <a:tc>
                  <a:txBody>
                    <a:bodyPr/>
                    <a:lstStyle/>
                    <a:p>
                      <a:r>
                        <a:rPr lang="en-US" sz="1000" dirty="0"/>
                        <a:t>__43</a:t>
                      </a:r>
                    </a:p>
                  </a:txBody>
                  <a:tcPr marT="0" marB="0"/>
                </a:tc>
                <a:tc>
                  <a:txBody>
                    <a:bodyPr/>
                    <a:lstStyle/>
                    <a:p>
                      <a:pPr algn="ctr"/>
                      <a:r>
                        <a:rPr lang="en-US" sz="1000" dirty="0">
                          <a:solidFill>
                            <a:schemeClr val="bg2">
                              <a:lumMod val="50000"/>
                            </a:schemeClr>
                          </a:solidFill>
                        </a:rPr>
                        <a:t>43</a:t>
                      </a:r>
                    </a:p>
                  </a:txBody>
                  <a:tcPr marT="0" marB="0">
                    <a:solidFill>
                      <a:schemeClr val="accent2"/>
                    </a:solidFill>
                  </a:tcPr>
                </a:tc>
                <a:tc>
                  <a:txBody>
                    <a:bodyPr/>
                    <a:lstStyle/>
                    <a:p>
                      <a:pPr algn="ctr"/>
                      <a:r>
                        <a:rPr lang="en-US" sz="1000" dirty="0">
                          <a:solidFill>
                            <a:schemeClr val="bg2">
                              <a:lumMod val="50000"/>
                            </a:schemeClr>
                          </a:solidFill>
                        </a:rPr>
                        <a:t>3</a:t>
                      </a:r>
                    </a:p>
                  </a:txBody>
                  <a:tcPr marT="0" marB="0"/>
                </a:tc>
                <a:tc>
                  <a:txBody>
                    <a:bodyPr/>
                    <a:lstStyle/>
                    <a:p>
                      <a:r>
                        <a:rPr lang="en-US" sz="1000" dirty="0" err="1"/>
                        <a:t>Bus_Release</a:t>
                      </a:r>
                      <a:endParaRPr lang="en-US" sz="1000" dirty="0"/>
                    </a:p>
                  </a:txBody>
                  <a:tcPr marT="0" marB="0"/>
                </a:tc>
                <a:extLst>
                  <a:ext uri="{0D108BD9-81ED-4DB2-BD59-A6C34878D82A}">
                    <a16:rowId xmlns:a16="http://schemas.microsoft.com/office/drawing/2014/main" val="3555182133"/>
                  </a:ext>
                </a:extLst>
              </a:tr>
              <a:tr h="74702">
                <a:tc>
                  <a:txBody>
                    <a:bodyPr/>
                    <a:lstStyle/>
                    <a:p>
                      <a:r>
                        <a:rPr lang="en-US" sz="1000" dirty="0"/>
                        <a:t>__44</a:t>
                      </a:r>
                    </a:p>
                  </a:txBody>
                  <a:tcPr marT="0" marB="0"/>
                </a:tc>
                <a:tc>
                  <a:txBody>
                    <a:bodyPr/>
                    <a:lstStyle/>
                    <a:p>
                      <a:pPr algn="ctr"/>
                      <a:r>
                        <a:rPr lang="en-US" sz="1000" dirty="0">
                          <a:solidFill>
                            <a:schemeClr val="bg2">
                              <a:lumMod val="50000"/>
                            </a:schemeClr>
                          </a:solidFill>
                        </a:rPr>
                        <a:t>44</a:t>
                      </a:r>
                    </a:p>
                  </a:txBody>
                  <a:tcPr marT="0" marB="0">
                    <a:solidFill>
                      <a:schemeClr val="accent2"/>
                    </a:solidFill>
                  </a:tcPr>
                </a:tc>
                <a:tc>
                  <a:txBody>
                    <a:bodyPr/>
                    <a:lstStyle/>
                    <a:p>
                      <a:pPr algn="ctr"/>
                      <a:r>
                        <a:rPr lang="en-US" sz="1000" dirty="0">
                          <a:solidFill>
                            <a:schemeClr val="bg2">
                              <a:lumMod val="50000"/>
                            </a:schemeClr>
                          </a:solidFill>
                        </a:rPr>
                        <a:t>4</a:t>
                      </a:r>
                    </a:p>
                  </a:txBody>
                  <a:tcPr marT="0" marB="0"/>
                </a:tc>
                <a:tc>
                  <a:txBody>
                    <a:bodyPr/>
                    <a:lstStyle/>
                    <a:p>
                      <a:r>
                        <a:rPr lang="en-US" sz="1000" dirty="0"/>
                        <a:t>Quiesce</a:t>
                      </a:r>
                    </a:p>
                  </a:txBody>
                  <a:tcPr marT="0" marB="0"/>
                </a:tc>
                <a:extLst>
                  <a:ext uri="{0D108BD9-81ED-4DB2-BD59-A6C34878D82A}">
                    <a16:rowId xmlns:a16="http://schemas.microsoft.com/office/drawing/2014/main" val="331547329"/>
                  </a:ext>
                </a:extLst>
              </a:tr>
              <a:tr h="74702">
                <a:tc>
                  <a:txBody>
                    <a:bodyPr/>
                    <a:lstStyle/>
                    <a:p>
                      <a:r>
                        <a:rPr lang="en-US" sz="1000" dirty="0"/>
                        <a:t>__45</a:t>
                      </a:r>
                    </a:p>
                  </a:txBody>
                  <a:tcPr marT="0" marB="0"/>
                </a:tc>
                <a:tc>
                  <a:txBody>
                    <a:bodyPr/>
                    <a:lstStyle/>
                    <a:p>
                      <a:pPr algn="ctr"/>
                      <a:r>
                        <a:rPr lang="en-US" sz="1000" dirty="0">
                          <a:solidFill>
                            <a:schemeClr val="bg2">
                              <a:lumMod val="50000"/>
                            </a:schemeClr>
                          </a:solidFill>
                        </a:rPr>
                        <a:t>45</a:t>
                      </a:r>
                    </a:p>
                  </a:txBody>
                  <a:tcPr marT="0" marB="0"/>
                </a:tc>
                <a:tc>
                  <a:txBody>
                    <a:bodyPr/>
                    <a:lstStyle/>
                    <a:p>
                      <a:pPr algn="ctr"/>
                      <a:r>
                        <a:rPr lang="en-US" sz="1000" dirty="0">
                          <a:solidFill>
                            <a:schemeClr val="bg2">
                              <a:lumMod val="50000"/>
                            </a:schemeClr>
                          </a:solidFill>
                        </a:rPr>
                        <a:t>5</a:t>
                      </a:r>
                    </a:p>
                  </a:txBody>
                  <a:tcPr marT="0" marB="0"/>
                </a:tc>
                <a:tc>
                  <a:txBody>
                    <a:bodyPr/>
                    <a:lstStyle/>
                    <a:p>
                      <a:r>
                        <a:rPr lang="en-US" sz="1000" dirty="0"/>
                        <a:t> </a:t>
                      </a:r>
                    </a:p>
                  </a:txBody>
                  <a:tcPr marT="0" marB="0"/>
                </a:tc>
                <a:extLst>
                  <a:ext uri="{0D108BD9-81ED-4DB2-BD59-A6C34878D82A}">
                    <a16:rowId xmlns:a16="http://schemas.microsoft.com/office/drawing/2014/main" val="1933937020"/>
                  </a:ext>
                </a:extLst>
              </a:tr>
              <a:tr h="74702">
                <a:tc>
                  <a:txBody>
                    <a:bodyPr/>
                    <a:lstStyle/>
                    <a:p>
                      <a:r>
                        <a:rPr lang="en-US" sz="1000" dirty="0"/>
                        <a:t>__46</a:t>
                      </a:r>
                    </a:p>
                  </a:txBody>
                  <a:tcPr marT="0" marB="0"/>
                </a:tc>
                <a:tc>
                  <a:txBody>
                    <a:bodyPr/>
                    <a:lstStyle/>
                    <a:p>
                      <a:pPr algn="ctr"/>
                      <a:r>
                        <a:rPr lang="en-US" sz="1000" dirty="0">
                          <a:solidFill>
                            <a:schemeClr val="bg2">
                              <a:lumMod val="50000"/>
                            </a:schemeClr>
                          </a:solidFill>
                        </a:rPr>
                        <a:t>46</a:t>
                      </a:r>
                    </a:p>
                  </a:txBody>
                  <a:tcPr marT="0" marB="0"/>
                </a:tc>
                <a:tc>
                  <a:txBody>
                    <a:bodyPr/>
                    <a:lstStyle/>
                    <a:p>
                      <a:pPr algn="ctr"/>
                      <a:r>
                        <a:rPr lang="en-US" sz="1000" dirty="0">
                          <a:solidFill>
                            <a:schemeClr val="bg2">
                              <a:lumMod val="50000"/>
                            </a:schemeClr>
                          </a:solidFill>
                        </a:rPr>
                        <a:t>6</a:t>
                      </a:r>
                    </a:p>
                  </a:txBody>
                  <a:tcPr marT="0" marB="0"/>
                </a:tc>
                <a:tc>
                  <a:txBody>
                    <a:bodyPr/>
                    <a:lstStyle/>
                    <a:p>
                      <a:r>
                        <a:rPr lang="en-US" sz="1000" dirty="0" err="1"/>
                        <a:t>Fetch_Cycle</a:t>
                      </a:r>
                      <a:endParaRPr lang="en-US" sz="1000" dirty="0"/>
                    </a:p>
                  </a:txBody>
                  <a:tcPr marT="0" marB="0"/>
                </a:tc>
                <a:extLst>
                  <a:ext uri="{0D108BD9-81ED-4DB2-BD59-A6C34878D82A}">
                    <a16:rowId xmlns:a16="http://schemas.microsoft.com/office/drawing/2014/main" val="3824356261"/>
                  </a:ext>
                </a:extLst>
              </a:tr>
              <a:tr h="74702">
                <a:tc>
                  <a:txBody>
                    <a:bodyPr/>
                    <a:lstStyle/>
                    <a:p>
                      <a:endParaRPr lang="en-US" sz="1000" dirty="0"/>
                    </a:p>
                  </a:txBody>
                  <a:tcPr marT="0" marB="0"/>
                </a:tc>
                <a:tc>
                  <a:txBody>
                    <a:bodyPr/>
                    <a:lstStyle/>
                    <a:p>
                      <a:pPr algn="ctr"/>
                      <a:r>
                        <a:rPr lang="en-US" sz="1000" dirty="0">
                          <a:solidFill>
                            <a:schemeClr val="bg2">
                              <a:lumMod val="50000"/>
                            </a:schemeClr>
                          </a:solidFill>
                        </a:rPr>
                        <a:t>47</a:t>
                      </a:r>
                    </a:p>
                  </a:txBody>
                  <a:tcPr marT="0" marB="0"/>
                </a:tc>
                <a:tc>
                  <a:txBody>
                    <a:bodyPr/>
                    <a:lstStyle/>
                    <a:p>
                      <a:pPr algn="ctr"/>
                      <a:r>
                        <a:rPr lang="en-US" sz="1000" dirty="0">
                          <a:solidFill>
                            <a:schemeClr val="bg2">
                              <a:lumMod val="50000"/>
                            </a:schemeClr>
                          </a:solidFill>
                        </a:rPr>
                        <a:t>7</a:t>
                      </a:r>
                    </a:p>
                  </a:txBody>
                  <a:tcPr marT="0" marB="0"/>
                </a:tc>
                <a:tc>
                  <a:txBody>
                    <a:bodyPr/>
                    <a:lstStyle/>
                    <a:p>
                      <a:endParaRPr lang="en-US" sz="1000" dirty="0"/>
                    </a:p>
                  </a:txBody>
                  <a:tcPr marT="0" marB="0"/>
                </a:tc>
                <a:extLst>
                  <a:ext uri="{0D108BD9-81ED-4DB2-BD59-A6C34878D82A}">
                    <a16:rowId xmlns:a16="http://schemas.microsoft.com/office/drawing/2014/main" val="3260906446"/>
                  </a:ext>
                </a:extLst>
              </a:tr>
              <a:tr h="74702">
                <a:tc>
                  <a:txBody>
                    <a:bodyPr/>
                    <a:lstStyle/>
                    <a:p>
                      <a:endParaRPr lang="en-US" sz="1000" dirty="0"/>
                    </a:p>
                  </a:txBody>
                  <a:tcPr marT="0" marB="0"/>
                </a:tc>
                <a:tc>
                  <a:txBody>
                    <a:bodyPr/>
                    <a:lstStyle/>
                    <a:p>
                      <a:pPr algn="ctr"/>
                      <a:r>
                        <a:rPr lang="en-US" sz="1000" dirty="0">
                          <a:solidFill>
                            <a:schemeClr val="bg2">
                              <a:lumMod val="50000"/>
                            </a:schemeClr>
                          </a:solidFill>
                        </a:rPr>
                        <a:t>48</a:t>
                      </a:r>
                    </a:p>
                  </a:txBody>
                  <a:tcPr marT="0" marB="0"/>
                </a:tc>
                <a:tc>
                  <a:txBody>
                    <a:bodyPr/>
                    <a:lstStyle/>
                    <a:p>
                      <a:pPr algn="ctr"/>
                      <a:r>
                        <a:rPr lang="en-US" sz="1000" dirty="0">
                          <a:solidFill>
                            <a:schemeClr val="bg2">
                              <a:lumMod val="50000"/>
                            </a:schemeClr>
                          </a:solidFill>
                        </a:rPr>
                        <a:t>8</a:t>
                      </a:r>
                    </a:p>
                  </a:txBody>
                  <a:tcPr marT="0" marB="0"/>
                </a:tc>
                <a:tc>
                  <a:txBody>
                    <a:bodyPr/>
                    <a:lstStyle/>
                    <a:p>
                      <a:r>
                        <a:rPr lang="en-US" sz="1000" dirty="0" err="1"/>
                        <a:t>Display_Load</a:t>
                      </a:r>
                      <a:endParaRPr lang="en-US" sz="1000" dirty="0"/>
                    </a:p>
                  </a:txBody>
                  <a:tcPr marT="0" marB="0"/>
                </a:tc>
                <a:extLst>
                  <a:ext uri="{0D108BD9-81ED-4DB2-BD59-A6C34878D82A}">
                    <a16:rowId xmlns:a16="http://schemas.microsoft.com/office/drawing/2014/main" val="2234202865"/>
                  </a:ext>
                </a:extLst>
              </a:tr>
              <a:tr h="74702">
                <a:tc>
                  <a:txBody>
                    <a:bodyPr/>
                    <a:lstStyle/>
                    <a:p>
                      <a:endParaRPr lang="en-US" sz="1000" dirty="0"/>
                    </a:p>
                  </a:txBody>
                  <a:tcPr marT="0" marB="0"/>
                </a:tc>
                <a:tc>
                  <a:txBody>
                    <a:bodyPr/>
                    <a:lstStyle/>
                    <a:p>
                      <a:pPr algn="ctr"/>
                      <a:r>
                        <a:rPr lang="en-US" sz="1000" dirty="0">
                          <a:solidFill>
                            <a:schemeClr val="bg2">
                              <a:lumMod val="50000"/>
                            </a:schemeClr>
                          </a:solidFill>
                        </a:rPr>
                        <a:t>49</a:t>
                      </a:r>
                    </a:p>
                  </a:txBody>
                  <a:tcPr marT="0" marB="0"/>
                </a:tc>
                <a:tc>
                  <a:txBody>
                    <a:bodyPr/>
                    <a:lstStyle/>
                    <a:p>
                      <a:pPr algn="ctr"/>
                      <a:r>
                        <a:rPr lang="en-US" sz="1000" dirty="0">
                          <a:solidFill>
                            <a:schemeClr val="bg2">
                              <a:lumMod val="50000"/>
                            </a:schemeClr>
                          </a:solidFill>
                        </a:rPr>
                        <a:t>9</a:t>
                      </a:r>
                    </a:p>
                  </a:txBody>
                  <a:tcPr marT="0" marB="0"/>
                </a:tc>
                <a:tc>
                  <a:txBody>
                    <a:bodyPr/>
                    <a:lstStyle/>
                    <a:p>
                      <a:r>
                        <a:rPr lang="en-US" sz="1000" dirty="0"/>
                        <a:t>KBD_CLK</a:t>
                      </a:r>
                    </a:p>
                  </a:txBody>
                  <a:tcPr marT="0" marB="0"/>
                </a:tc>
                <a:extLst>
                  <a:ext uri="{0D108BD9-81ED-4DB2-BD59-A6C34878D82A}">
                    <a16:rowId xmlns:a16="http://schemas.microsoft.com/office/drawing/2014/main" val="2576568233"/>
                  </a:ext>
                </a:extLst>
              </a:tr>
              <a:tr h="74702">
                <a:tc>
                  <a:txBody>
                    <a:bodyPr/>
                    <a:lstStyle/>
                    <a:p>
                      <a:endParaRPr lang="en-US" sz="1000" dirty="0"/>
                    </a:p>
                  </a:txBody>
                  <a:tcPr marT="0" marB="0"/>
                </a:tc>
                <a:tc>
                  <a:txBody>
                    <a:bodyPr/>
                    <a:lstStyle/>
                    <a:p>
                      <a:pPr algn="ctr"/>
                      <a:r>
                        <a:rPr lang="en-US" sz="1000" dirty="0">
                          <a:solidFill>
                            <a:schemeClr val="bg2">
                              <a:lumMod val="50000"/>
                            </a:schemeClr>
                          </a:solidFill>
                        </a:rPr>
                        <a:t>50</a:t>
                      </a:r>
                    </a:p>
                  </a:txBody>
                  <a:tcPr marT="0" marB="0"/>
                </a:tc>
                <a:tc>
                  <a:txBody>
                    <a:bodyPr/>
                    <a:lstStyle/>
                    <a:p>
                      <a:pPr algn="ctr"/>
                      <a:r>
                        <a:rPr lang="en-US" sz="1000" dirty="0">
                          <a:solidFill>
                            <a:schemeClr val="bg2">
                              <a:lumMod val="50000"/>
                            </a:schemeClr>
                          </a:solidFill>
                        </a:rPr>
                        <a:t>10</a:t>
                      </a:r>
                    </a:p>
                  </a:txBody>
                  <a:tcPr marT="0" marB="0"/>
                </a:tc>
                <a:tc>
                  <a:txBody>
                    <a:bodyPr/>
                    <a:lstStyle/>
                    <a:p>
                      <a:r>
                        <a:rPr lang="en-US" sz="1000" dirty="0" err="1"/>
                        <a:t>KBD_Data</a:t>
                      </a:r>
                      <a:endParaRPr lang="en-US" sz="1000" dirty="0"/>
                    </a:p>
                  </a:txBody>
                  <a:tcPr marT="0" marB="0"/>
                </a:tc>
                <a:extLst>
                  <a:ext uri="{0D108BD9-81ED-4DB2-BD59-A6C34878D82A}">
                    <a16:rowId xmlns:a16="http://schemas.microsoft.com/office/drawing/2014/main" val="557485393"/>
                  </a:ext>
                </a:extLst>
              </a:tr>
              <a:tr h="74702">
                <a:tc>
                  <a:txBody>
                    <a:bodyPr/>
                    <a:lstStyle/>
                    <a:p>
                      <a:endParaRPr lang="en-US" sz="1000" dirty="0"/>
                    </a:p>
                  </a:txBody>
                  <a:tcPr marT="0" marB="0"/>
                </a:tc>
                <a:tc>
                  <a:txBody>
                    <a:bodyPr/>
                    <a:lstStyle/>
                    <a:p>
                      <a:pPr algn="ctr"/>
                      <a:r>
                        <a:rPr lang="en-US" sz="1000" dirty="0">
                          <a:solidFill>
                            <a:schemeClr val="bg2">
                              <a:lumMod val="50000"/>
                            </a:schemeClr>
                          </a:solidFill>
                        </a:rPr>
                        <a:t>51</a:t>
                      </a:r>
                    </a:p>
                  </a:txBody>
                  <a:tcPr marT="0" marB="0"/>
                </a:tc>
                <a:tc>
                  <a:txBody>
                    <a:bodyPr/>
                    <a:lstStyle/>
                    <a:p>
                      <a:pPr algn="ctr"/>
                      <a:r>
                        <a:rPr lang="en-US" sz="1000" dirty="0">
                          <a:solidFill>
                            <a:schemeClr val="bg2">
                              <a:lumMod val="50000"/>
                            </a:schemeClr>
                          </a:solidFill>
                        </a:rPr>
                        <a:t>11</a:t>
                      </a:r>
                    </a:p>
                  </a:txBody>
                  <a:tcPr marT="0" marB="0"/>
                </a:tc>
                <a:tc>
                  <a:txBody>
                    <a:bodyPr/>
                    <a:lstStyle/>
                    <a:p>
                      <a:endParaRPr lang="en-US" sz="1000" dirty="0"/>
                    </a:p>
                  </a:txBody>
                  <a:tcPr marT="0" marB="0"/>
                </a:tc>
                <a:extLst>
                  <a:ext uri="{0D108BD9-81ED-4DB2-BD59-A6C34878D82A}">
                    <a16:rowId xmlns:a16="http://schemas.microsoft.com/office/drawing/2014/main" val="2712637458"/>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52</a:t>
                      </a:r>
                    </a:p>
                  </a:txBody>
                  <a:tcPr marT="0" marB="0"/>
                </a:tc>
                <a:tc>
                  <a:txBody>
                    <a:bodyPr/>
                    <a:lstStyle/>
                    <a:p>
                      <a:pPr algn="ctr"/>
                      <a:r>
                        <a:rPr lang="en-US" sz="1000" dirty="0">
                          <a:solidFill>
                            <a:schemeClr val="bg2">
                              <a:lumMod val="50000"/>
                            </a:schemeClr>
                          </a:solidFill>
                        </a:rPr>
                        <a:t>12</a:t>
                      </a:r>
                    </a:p>
                  </a:txBody>
                  <a:tcPr marT="0" marB="0"/>
                </a:tc>
                <a:tc>
                  <a:txBody>
                    <a:bodyPr/>
                    <a:lstStyle/>
                    <a:p>
                      <a:endParaRPr lang="en-US" sz="1000" dirty="0"/>
                    </a:p>
                  </a:txBody>
                  <a:tcPr marT="0" marB="0"/>
                </a:tc>
                <a:extLst>
                  <a:ext uri="{0D108BD9-81ED-4DB2-BD59-A6C34878D82A}">
                    <a16:rowId xmlns:a16="http://schemas.microsoft.com/office/drawing/2014/main" val="298382198"/>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53</a:t>
                      </a:r>
                    </a:p>
                  </a:txBody>
                  <a:tcPr marT="0" marB="0"/>
                </a:tc>
                <a:tc>
                  <a:txBody>
                    <a:bodyPr/>
                    <a:lstStyle/>
                    <a:p>
                      <a:pPr algn="ctr"/>
                      <a:r>
                        <a:rPr lang="en-US" sz="1000" dirty="0">
                          <a:solidFill>
                            <a:schemeClr val="bg2">
                              <a:lumMod val="50000"/>
                            </a:schemeClr>
                          </a:solidFill>
                        </a:rPr>
                        <a:t>13</a:t>
                      </a:r>
                    </a:p>
                  </a:txBody>
                  <a:tcPr marT="0" marB="0"/>
                </a:tc>
                <a:tc>
                  <a:txBody>
                    <a:bodyPr/>
                    <a:lstStyle/>
                    <a:p>
                      <a:endParaRPr lang="en-US" sz="1000" dirty="0"/>
                    </a:p>
                  </a:txBody>
                  <a:tcPr marT="0" marB="0"/>
                </a:tc>
                <a:extLst>
                  <a:ext uri="{0D108BD9-81ED-4DB2-BD59-A6C34878D82A}">
                    <a16:rowId xmlns:a16="http://schemas.microsoft.com/office/drawing/2014/main" val="3136443082"/>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54</a:t>
                      </a:r>
                    </a:p>
                  </a:txBody>
                  <a:tcPr marT="0" marB="0"/>
                </a:tc>
                <a:tc>
                  <a:txBody>
                    <a:bodyPr/>
                    <a:lstStyle/>
                    <a:p>
                      <a:pPr algn="ctr"/>
                      <a:r>
                        <a:rPr lang="en-US" sz="1000" dirty="0">
                          <a:solidFill>
                            <a:schemeClr val="bg2">
                              <a:lumMod val="50000"/>
                            </a:schemeClr>
                          </a:solidFill>
                        </a:rPr>
                        <a:t>14</a:t>
                      </a:r>
                    </a:p>
                  </a:txBody>
                  <a:tcPr marT="0" marB="0"/>
                </a:tc>
                <a:tc>
                  <a:txBody>
                    <a:bodyPr/>
                    <a:lstStyle/>
                    <a:p>
                      <a:endParaRPr lang="en-US" sz="1000" dirty="0"/>
                    </a:p>
                  </a:txBody>
                  <a:tcPr marT="0" marB="0"/>
                </a:tc>
                <a:extLst>
                  <a:ext uri="{0D108BD9-81ED-4DB2-BD59-A6C34878D82A}">
                    <a16:rowId xmlns:a16="http://schemas.microsoft.com/office/drawing/2014/main" val="2817347954"/>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55</a:t>
                      </a:r>
                    </a:p>
                  </a:txBody>
                  <a:tcPr marT="0" marB="0"/>
                </a:tc>
                <a:tc>
                  <a:txBody>
                    <a:bodyPr/>
                    <a:lstStyle/>
                    <a:p>
                      <a:pPr algn="ctr"/>
                      <a:r>
                        <a:rPr lang="en-US" sz="1000" dirty="0">
                          <a:solidFill>
                            <a:schemeClr val="bg2">
                              <a:lumMod val="50000"/>
                            </a:schemeClr>
                          </a:solidFill>
                        </a:rPr>
                        <a:t>15</a:t>
                      </a:r>
                    </a:p>
                  </a:txBody>
                  <a:tcPr marT="0" marB="0"/>
                </a:tc>
                <a:tc>
                  <a:txBody>
                    <a:bodyPr/>
                    <a:lstStyle/>
                    <a:p>
                      <a:endParaRPr lang="en-US" sz="1000" dirty="0"/>
                    </a:p>
                  </a:txBody>
                  <a:tcPr marT="0" marB="0"/>
                </a:tc>
                <a:extLst>
                  <a:ext uri="{0D108BD9-81ED-4DB2-BD59-A6C34878D82A}">
                    <a16:rowId xmlns:a16="http://schemas.microsoft.com/office/drawing/2014/main" val="3794949118"/>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56</a:t>
                      </a:r>
                    </a:p>
                  </a:txBody>
                  <a:tcPr marT="0" marB="0"/>
                </a:tc>
                <a:tc>
                  <a:txBody>
                    <a:bodyPr/>
                    <a:lstStyle/>
                    <a:p>
                      <a:pPr algn="ctr"/>
                      <a:r>
                        <a:rPr lang="en-US" sz="1000" dirty="0">
                          <a:solidFill>
                            <a:schemeClr val="bg2">
                              <a:lumMod val="50000"/>
                            </a:schemeClr>
                          </a:solidFill>
                        </a:rPr>
                        <a:t>16</a:t>
                      </a:r>
                    </a:p>
                  </a:txBody>
                  <a:tcPr marT="0" marB="0"/>
                </a:tc>
                <a:tc>
                  <a:txBody>
                    <a:bodyPr/>
                    <a:lstStyle/>
                    <a:p>
                      <a:endParaRPr lang="en-US" sz="1000" dirty="0"/>
                    </a:p>
                  </a:txBody>
                  <a:tcPr marT="0" marB="0"/>
                </a:tc>
                <a:extLst>
                  <a:ext uri="{0D108BD9-81ED-4DB2-BD59-A6C34878D82A}">
                    <a16:rowId xmlns:a16="http://schemas.microsoft.com/office/drawing/2014/main" val="1847629184"/>
                  </a:ext>
                </a:extLst>
              </a:tr>
              <a:tr h="115964">
                <a:tc>
                  <a:txBody>
                    <a:bodyPr/>
                    <a:lstStyle/>
                    <a:p>
                      <a:r>
                        <a:rPr lang="en-US" sz="1000" dirty="0"/>
                        <a:t>GND</a:t>
                      </a:r>
                    </a:p>
                  </a:txBody>
                  <a:tcPr marT="0" marB="0"/>
                </a:tc>
                <a:tc>
                  <a:txBody>
                    <a:bodyPr/>
                    <a:lstStyle/>
                    <a:p>
                      <a:pPr algn="ctr"/>
                      <a:r>
                        <a:rPr lang="en-US" sz="1000" dirty="0">
                          <a:solidFill>
                            <a:schemeClr val="bg2">
                              <a:lumMod val="50000"/>
                            </a:schemeClr>
                          </a:solidFill>
                        </a:rPr>
                        <a:t>57</a:t>
                      </a:r>
                    </a:p>
                  </a:txBody>
                  <a:tcPr marT="0" marB="0"/>
                </a:tc>
                <a:tc>
                  <a:txBody>
                    <a:bodyPr/>
                    <a:lstStyle/>
                    <a:p>
                      <a:pPr algn="ctr"/>
                      <a:r>
                        <a:rPr lang="en-US" sz="1000" dirty="0">
                          <a:solidFill>
                            <a:schemeClr val="bg2">
                              <a:lumMod val="50000"/>
                            </a:schemeClr>
                          </a:solidFill>
                        </a:rPr>
                        <a:t>17</a:t>
                      </a:r>
                    </a:p>
                  </a:txBody>
                  <a:tcPr marT="0" marB="0"/>
                </a:tc>
                <a:tc>
                  <a:txBody>
                    <a:bodyPr/>
                    <a:lstStyle/>
                    <a:p>
                      <a:r>
                        <a:rPr lang="en-US" sz="1000" dirty="0"/>
                        <a:t>GND</a:t>
                      </a:r>
                    </a:p>
                  </a:txBody>
                  <a:tcPr marT="0" marB="0"/>
                </a:tc>
                <a:extLst>
                  <a:ext uri="{0D108BD9-81ED-4DB2-BD59-A6C34878D82A}">
                    <a16:rowId xmlns:a16="http://schemas.microsoft.com/office/drawing/2014/main" val="628452971"/>
                  </a:ext>
                </a:extLst>
              </a:tr>
              <a:tr h="115964">
                <a:tc>
                  <a:txBody>
                    <a:bodyPr/>
                    <a:lstStyle/>
                    <a:p>
                      <a:r>
                        <a:rPr lang="en-US" sz="1000" dirty="0"/>
                        <a:t>+5V</a:t>
                      </a:r>
                    </a:p>
                  </a:txBody>
                  <a:tcPr marT="0" marB="0"/>
                </a:tc>
                <a:tc>
                  <a:txBody>
                    <a:bodyPr/>
                    <a:lstStyle/>
                    <a:p>
                      <a:pPr algn="ctr"/>
                      <a:r>
                        <a:rPr lang="en-US" sz="1000" dirty="0">
                          <a:solidFill>
                            <a:schemeClr val="bg2">
                              <a:lumMod val="50000"/>
                            </a:schemeClr>
                          </a:solidFill>
                        </a:rPr>
                        <a:t>58</a:t>
                      </a:r>
                    </a:p>
                  </a:txBody>
                  <a:tcPr marT="0" marB="0"/>
                </a:tc>
                <a:tc>
                  <a:txBody>
                    <a:bodyPr/>
                    <a:lstStyle/>
                    <a:p>
                      <a:pPr algn="ctr"/>
                      <a:r>
                        <a:rPr lang="en-US" sz="1000" dirty="0">
                          <a:solidFill>
                            <a:schemeClr val="bg2">
                              <a:lumMod val="50000"/>
                            </a:schemeClr>
                          </a:solidFill>
                        </a:rPr>
                        <a:t>18</a:t>
                      </a:r>
                    </a:p>
                  </a:txBody>
                  <a:tcPr marT="0" marB="0"/>
                </a:tc>
                <a:tc>
                  <a:txBody>
                    <a:bodyPr/>
                    <a:lstStyle/>
                    <a:p>
                      <a:r>
                        <a:rPr lang="en-US" sz="1000" dirty="0"/>
                        <a:t>+5V</a:t>
                      </a:r>
                    </a:p>
                  </a:txBody>
                  <a:tcPr marT="0" marB="0"/>
                </a:tc>
                <a:extLst>
                  <a:ext uri="{0D108BD9-81ED-4DB2-BD59-A6C34878D82A}">
                    <a16:rowId xmlns:a16="http://schemas.microsoft.com/office/drawing/2014/main" val="481143222"/>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59</a:t>
                      </a:r>
                    </a:p>
                  </a:txBody>
                  <a:tcPr marT="0" marB="0"/>
                </a:tc>
                <a:tc>
                  <a:txBody>
                    <a:bodyPr/>
                    <a:lstStyle/>
                    <a:p>
                      <a:pPr algn="ctr"/>
                      <a:r>
                        <a:rPr lang="en-US" sz="1000" dirty="0">
                          <a:solidFill>
                            <a:schemeClr val="bg2">
                              <a:lumMod val="50000"/>
                            </a:schemeClr>
                          </a:solidFill>
                        </a:rPr>
                        <a:t>19</a:t>
                      </a:r>
                    </a:p>
                  </a:txBody>
                  <a:tcPr marT="0" marB="0"/>
                </a:tc>
                <a:tc>
                  <a:txBody>
                    <a:bodyPr/>
                    <a:lstStyle/>
                    <a:p>
                      <a:r>
                        <a:rPr lang="en-US" sz="1000" dirty="0"/>
                        <a:t>BPL_LD</a:t>
                      </a:r>
                    </a:p>
                  </a:txBody>
                  <a:tcPr marT="0" marB="0"/>
                </a:tc>
                <a:extLst>
                  <a:ext uri="{0D108BD9-81ED-4DB2-BD59-A6C34878D82A}">
                    <a16:rowId xmlns:a16="http://schemas.microsoft.com/office/drawing/2014/main" val="1704035056"/>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60</a:t>
                      </a:r>
                    </a:p>
                  </a:txBody>
                  <a:tcPr marT="0" marB="0"/>
                </a:tc>
                <a:tc>
                  <a:txBody>
                    <a:bodyPr/>
                    <a:lstStyle/>
                    <a:p>
                      <a:pPr algn="ctr"/>
                      <a:r>
                        <a:rPr lang="en-US" sz="1000" dirty="0">
                          <a:solidFill>
                            <a:schemeClr val="bg2">
                              <a:lumMod val="50000"/>
                            </a:schemeClr>
                          </a:solidFill>
                        </a:rPr>
                        <a:t>20</a:t>
                      </a:r>
                    </a:p>
                  </a:txBody>
                  <a:tcPr marT="0" marB="0"/>
                </a:tc>
                <a:tc>
                  <a:txBody>
                    <a:bodyPr/>
                    <a:lstStyle/>
                    <a:p>
                      <a:r>
                        <a:rPr lang="en-US" sz="1000" dirty="0"/>
                        <a:t>BPH_LD</a:t>
                      </a:r>
                    </a:p>
                  </a:txBody>
                  <a:tcPr marT="0" marB="0"/>
                </a:tc>
                <a:extLst>
                  <a:ext uri="{0D108BD9-81ED-4DB2-BD59-A6C34878D82A}">
                    <a16:rowId xmlns:a16="http://schemas.microsoft.com/office/drawing/2014/main" val="1385704727"/>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61</a:t>
                      </a:r>
                    </a:p>
                  </a:txBody>
                  <a:tcPr marT="0" marB="0"/>
                </a:tc>
                <a:tc>
                  <a:txBody>
                    <a:bodyPr/>
                    <a:lstStyle/>
                    <a:p>
                      <a:pPr algn="ctr"/>
                      <a:r>
                        <a:rPr lang="en-US" sz="1000" dirty="0">
                          <a:solidFill>
                            <a:schemeClr val="bg2">
                              <a:lumMod val="50000"/>
                            </a:schemeClr>
                          </a:solidFill>
                        </a:rPr>
                        <a:t>21</a:t>
                      </a:r>
                    </a:p>
                  </a:txBody>
                  <a:tcPr marT="0" marB="0"/>
                </a:tc>
                <a:tc>
                  <a:txBody>
                    <a:bodyPr/>
                    <a:lstStyle/>
                    <a:p>
                      <a:r>
                        <a:rPr lang="en-US" sz="1000" dirty="0"/>
                        <a:t>SPL_LD</a:t>
                      </a:r>
                    </a:p>
                  </a:txBody>
                  <a:tcPr marT="0" marB="0"/>
                </a:tc>
                <a:extLst>
                  <a:ext uri="{0D108BD9-81ED-4DB2-BD59-A6C34878D82A}">
                    <a16:rowId xmlns:a16="http://schemas.microsoft.com/office/drawing/2014/main" val="472266456"/>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62</a:t>
                      </a:r>
                    </a:p>
                  </a:txBody>
                  <a:tcPr marT="0" marB="0"/>
                </a:tc>
                <a:tc>
                  <a:txBody>
                    <a:bodyPr/>
                    <a:lstStyle/>
                    <a:p>
                      <a:pPr algn="ctr"/>
                      <a:r>
                        <a:rPr lang="en-US" sz="1000" dirty="0">
                          <a:solidFill>
                            <a:schemeClr val="bg2">
                              <a:lumMod val="50000"/>
                            </a:schemeClr>
                          </a:solidFill>
                        </a:rPr>
                        <a:t>22</a:t>
                      </a:r>
                    </a:p>
                  </a:txBody>
                  <a:tcPr marT="0" marB="0"/>
                </a:tc>
                <a:tc>
                  <a:txBody>
                    <a:bodyPr/>
                    <a:lstStyle/>
                    <a:p>
                      <a:r>
                        <a:rPr lang="en-US" sz="1000" dirty="0"/>
                        <a:t>SPH_LD</a:t>
                      </a:r>
                    </a:p>
                  </a:txBody>
                  <a:tcPr marT="0" marB="0"/>
                </a:tc>
                <a:extLst>
                  <a:ext uri="{0D108BD9-81ED-4DB2-BD59-A6C34878D82A}">
                    <a16:rowId xmlns:a16="http://schemas.microsoft.com/office/drawing/2014/main" val="1267269735"/>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63</a:t>
                      </a:r>
                    </a:p>
                  </a:txBody>
                  <a:tcPr marT="0" marB="0"/>
                </a:tc>
                <a:tc>
                  <a:txBody>
                    <a:bodyPr/>
                    <a:lstStyle/>
                    <a:p>
                      <a:pPr algn="ctr"/>
                      <a:r>
                        <a:rPr lang="en-US" sz="1000" dirty="0">
                          <a:solidFill>
                            <a:schemeClr val="bg2">
                              <a:lumMod val="50000"/>
                            </a:schemeClr>
                          </a:solidFill>
                        </a:rPr>
                        <a:t>23</a:t>
                      </a:r>
                    </a:p>
                  </a:txBody>
                  <a:tcPr marT="0" marB="0"/>
                </a:tc>
                <a:tc>
                  <a:txBody>
                    <a:bodyPr/>
                    <a:lstStyle/>
                    <a:p>
                      <a:r>
                        <a:rPr lang="en-US" sz="1000" dirty="0"/>
                        <a:t>DPL_LD</a:t>
                      </a:r>
                    </a:p>
                  </a:txBody>
                  <a:tcPr marT="0" marB="0"/>
                </a:tc>
                <a:extLst>
                  <a:ext uri="{0D108BD9-81ED-4DB2-BD59-A6C34878D82A}">
                    <a16:rowId xmlns:a16="http://schemas.microsoft.com/office/drawing/2014/main" val="2917408080"/>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64</a:t>
                      </a:r>
                    </a:p>
                  </a:txBody>
                  <a:tcPr marT="0" marB="0"/>
                </a:tc>
                <a:tc>
                  <a:txBody>
                    <a:bodyPr/>
                    <a:lstStyle/>
                    <a:p>
                      <a:pPr algn="ctr"/>
                      <a:r>
                        <a:rPr lang="en-US" sz="1000" dirty="0">
                          <a:solidFill>
                            <a:schemeClr val="bg2">
                              <a:lumMod val="50000"/>
                            </a:schemeClr>
                          </a:solidFill>
                        </a:rPr>
                        <a:t>24</a:t>
                      </a:r>
                    </a:p>
                  </a:txBody>
                  <a:tcPr marT="0" marB="0"/>
                </a:tc>
                <a:tc>
                  <a:txBody>
                    <a:bodyPr/>
                    <a:lstStyle/>
                    <a:p>
                      <a:r>
                        <a:rPr lang="en-US" sz="1000" dirty="0"/>
                        <a:t>DPH_LD</a:t>
                      </a:r>
                    </a:p>
                  </a:txBody>
                  <a:tcPr marT="0" marB="0"/>
                </a:tc>
                <a:extLst>
                  <a:ext uri="{0D108BD9-81ED-4DB2-BD59-A6C34878D82A}">
                    <a16:rowId xmlns:a16="http://schemas.microsoft.com/office/drawing/2014/main" val="3072794625"/>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65</a:t>
                      </a:r>
                    </a:p>
                  </a:txBody>
                  <a:tcPr marT="0" marB="0"/>
                </a:tc>
                <a:tc>
                  <a:txBody>
                    <a:bodyPr/>
                    <a:lstStyle/>
                    <a:p>
                      <a:pPr algn="ctr"/>
                      <a:r>
                        <a:rPr lang="en-US" sz="1000" dirty="0">
                          <a:solidFill>
                            <a:schemeClr val="bg2">
                              <a:lumMod val="50000"/>
                            </a:schemeClr>
                          </a:solidFill>
                        </a:rPr>
                        <a:t>25</a:t>
                      </a:r>
                    </a:p>
                  </a:txBody>
                  <a:tcPr marT="0" marB="0"/>
                </a:tc>
                <a:tc>
                  <a:txBody>
                    <a:bodyPr/>
                    <a:lstStyle/>
                    <a:p>
                      <a:r>
                        <a:rPr lang="en-US" sz="1000" dirty="0"/>
                        <a:t>PC_LD#</a:t>
                      </a:r>
                    </a:p>
                  </a:txBody>
                  <a:tcPr marT="0" marB="0"/>
                </a:tc>
                <a:extLst>
                  <a:ext uri="{0D108BD9-81ED-4DB2-BD59-A6C34878D82A}">
                    <a16:rowId xmlns:a16="http://schemas.microsoft.com/office/drawing/2014/main" val="3695457550"/>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66</a:t>
                      </a:r>
                    </a:p>
                  </a:txBody>
                  <a:tcPr marT="0" marB="0"/>
                </a:tc>
                <a:tc>
                  <a:txBody>
                    <a:bodyPr/>
                    <a:lstStyle/>
                    <a:p>
                      <a:pPr algn="ctr"/>
                      <a:r>
                        <a:rPr lang="en-US" sz="1000" dirty="0">
                          <a:solidFill>
                            <a:schemeClr val="bg2">
                              <a:lumMod val="50000"/>
                            </a:schemeClr>
                          </a:solidFill>
                        </a:rPr>
                        <a:t>26</a:t>
                      </a:r>
                    </a:p>
                  </a:txBody>
                  <a:tcPr marT="0" marB="0"/>
                </a:tc>
                <a:tc>
                  <a:txBody>
                    <a:bodyPr/>
                    <a:lstStyle/>
                    <a:p>
                      <a:r>
                        <a:rPr lang="en-US" sz="1000" dirty="0"/>
                        <a:t>DHPC_LD</a:t>
                      </a:r>
                    </a:p>
                  </a:txBody>
                  <a:tcPr marT="0" marB="0"/>
                </a:tc>
                <a:extLst>
                  <a:ext uri="{0D108BD9-81ED-4DB2-BD59-A6C34878D82A}">
                    <a16:rowId xmlns:a16="http://schemas.microsoft.com/office/drawing/2014/main" val="2787291611"/>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67</a:t>
                      </a:r>
                    </a:p>
                  </a:txBody>
                  <a:tcPr marT="0" marB="0"/>
                </a:tc>
                <a:tc>
                  <a:txBody>
                    <a:bodyPr/>
                    <a:lstStyle/>
                    <a:p>
                      <a:pPr algn="ctr"/>
                      <a:r>
                        <a:rPr lang="en-US" sz="1000" dirty="0">
                          <a:solidFill>
                            <a:schemeClr val="bg2">
                              <a:lumMod val="50000"/>
                            </a:schemeClr>
                          </a:solidFill>
                        </a:rPr>
                        <a:t>27</a:t>
                      </a:r>
                    </a:p>
                  </a:txBody>
                  <a:tcPr marT="0" marB="0"/>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000" dirty="0" err="1"/>
                        <a:t>TmpAR_OE</a:t>
                      </a:r>
                      <a:r>
                        <a:rPr lang="en-US" sz="1000" dirty="0"/>
                        <a:t>#</a:t>
                      </a:r>
                    </a:p>
                  </a:txBody>
                  <a:tcPr marT="0" marB="0"/>
                </a:tc>
                <a:extLst>
                  <a:ext uri="{0D108BD9-81ED-4DB2-BD59-A6C34878D82A}">
                    <a16:rowId xmlns:a16="http://schemas.microsoft.com/office/drawing/2014/main" val="346156318"/>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68</a:t>
                      </a:r>
                    </a:p>
                  </a:txBody>
                  <a:tcPr marT="0" marB="0"/>
                </a:tc>
                <a:tc>
                  <a:txBody>
                    <a:bodyPr/>
                    <a:lstStyle/>
                    <a:p>
                      <a:pPr algn="ctr"/>
                      <a:r>
                        <a:rPr lang="en-US" sz="1000" dirty="0">
                          <a:solidFill>
                            <a:schemeClr val="bg2">
                              <a:lumMod val="50000"/>
                            </a:schemeClr>
                          </a:solidFill>
                        </a:rPr>
                        <a:t>28</a:t>
                      </a:r>
                    </a:p>
                  </a:txBody>
                  <a:tcPr marT="0" marB="0"/>
                </a:tc>
                <a:tc>
                  <a:txBody>
                    <a:bodyPr/>
                    <a:lstStyle/>
                    <a:p>
                      <a:r>
                        <a:rPr lang="en-US" sz="1000" dirty="0"/>
                        <a:t>BP_OE#</a:t>
                      </a:r>
                    </a:p>
                  </a:txBody>
                  <a:tcPr marT="0" marB="0"/>
                </a:tc>
                <a:extLst>
                  <a:ext uri="{0D108BD9-81ED-4DB2-BD59-A6C34878D82A}">
                    <a16:rowId xmlns:a16="http://schemas.microsoft.com/office/drawing/2014/main" val="807599389"/>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69</a:t>
                      </a:r>
                    </a:p>
                  </a:txBody>
                  <a:tcPr marT="0" marB="0"/>
                </a:tc>
                <a:tc>
                  <a:txBody>
                    <a:bodyPr/>
                    <a:lstStyle/>
                    <a:p>
                      <a:pPr algn="ctr"/>
                      <a:r>
                        <a:rPr lang="en-US" sz="1000" dirty="0">
                          <a:solidFill>
                            <a:schemeClr val="bg2">
                              <a:lumMod val="50000"/>
                            </a:schemeClr>
                          </a:solidFill>
                        </a:rPr>
                        <a:t>29</a:t>
                      </a:r>
                    </a:p>
                  </a:txBody>
                  <a:tcPr marT="0" marB="0"/>
                </a:tc>
                <a:tc>
                  <a:txBody>
                    <a:bodyPr/>
                    <a:lstStyle/>
                    <a:p>
                      <a:r>
                        <a:rPr lang="en-US" sz="1000" dirty="0"/>
                        <a:t>SP_OE#</a:t>
                      </a:r>
                    </a:p>
                  </a:txBody>
                  <a:tcPr marT="0" marB="0"/>
                </a:tc>
                <a:extLst>
                  <a:ext uri="{0D108BD9-81ED-4DB2-BD59-A6C34878D82A}">
                    <a16:rowId xmlns:a16="http://schemas.microsoft.com/office/drawing/2014/main" val="186783995"/>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70</a:t>
                      </a:r>
                    </a:p>
                  </a:txBody>
                  <a:tcPr marT="0" marB="0"/>
                </a:tc>
                <a:tc>
                  <a:txBody>
                    <a:bodyPr/>
                    <a:lstStyle/>
                    <a:p>
                      <a:pPr algn="ctr"/>
                      <a:r>
                        <a:rPr lang="en-US" sz="1000" dirty="0">
                          <a:solidFill>
                            <a:schemeClr val="bg2">
                              <a:lumMod val="50000"/>
                            </a:schemeClr>
                          </a:solidFill>
                        </a:rPr>
                        <a:t>30</a:t>
                      </a:r>
                    </a:p>
                  </a:txBody>
                  <a:tcPr marT="0" marB="0"/>
                </a:tc>
                <a:tc>
                  <a:txBody>
                    <a:bodyPr/>
                    <a:lstStyle/>
                    <a:p>
                      <a:r>
                        <a:rPr lang="en-US" sz="1000" dirty="0"/>
                        <a:t>DP_OE#</a:t>
                      </a:r>
                    </a:p>
                  </a:txBody>
                  <a:tcPr marT="0" marB="0"/>
                </a:tc>
                <a:extLst>
                  <a:ext uri="{0D108BD9-81ED-4DB2-BD59-A6C34878D82A}">
                    <a16:rowId xmlns:a16="http://schemas.microsoft.com/office/drawing/2014/main" val="1986205125"/>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71</a:t>
                      </a:r>
                    </a:p>
                  </a:txBody>
                  <a:tcPr marT="0" marB="0"/>
                </a:tc>
                <a:tc>
                  <a:txBody>
                    <a:bodyPr/>
                    <a:lstStyle/>
                    <a:p>
                      <a:pPr algn="ctr"/>
                      <a:r>
                        <a:rPr lang="en-US" sz="1000" dirty="0">
                          <a:solidFill>
                            <a:schemeClr val="bg2">
                              <a:lumMod val="50000"/>
                            </a:schemeClr>
                          </a:solidFill>
                        </a:rPr>
                        <a:t>31</a:t>
                      </a:r>
                    </a:p>
                  </a:txBody>
                  <a:tcPr marT="0" marB="0"/>
                </a:tc>
                <a:tc>
                  <a:txBody>
                    <a:bodyPr/>
                    <a:lstStyle/>
                    <a:p>
                      <a:r>
                        <a:rPr lang="en-US" sz="1000" dirty="0"/>
                        <a:t>PC_OE#</a:t>
                      </a:r>
                    </a:p>
                  </a:txBody>
                  <a:tcPr marT="0" marB="0"/>
                </a:tc>
                <a:extLst>
                  <a:ext uri="{0D108BD9-81ED-4DB2-BD59-A6C34878D82A}">
                    <a16:rowId xmlns:a16="http://schemas.microsoft.com/office/drawing/2014/main" val="3581079302"/>
                  </a:ext>
                </a:extLst>
              </a:tr>
              <a:tr h="115964">
                <a:tc>
                  <a:txBody>
                    <a:bodyPr/>
                    <a:lstStyle/>
                    <a:p>
                      <a:endParaRPr lang="en-US" sz="1000" dirty="0"/>
                    </a:p>
                  </a:txBody>
                  <a:tcPr marT="0" marB="0"/>
                </a:tc>
                <a:tc>
                  <a:txBody>
                    <a:bodyPr/>
                    <a:lstStyle/>
                    <a:p>
                      <a:pPr algn="ctr"/>
                      <a:r>
                        <a:rPr lang="en-US" sz="1000" dirty="0">
                          <a:solidFill>
                            <a:schemeClr val="bg2">
                              <a:lumMod val="50000"/>
                            </a:schemeClr>
                          </a:solidFill>
                        </a:rPr>
                        <a:t>72</a:t>
                      </a:r>
                    </a:p>
                  </a:txBody>
                  <a:tcPr marT="0" marB="0"/>
                </a:tc>
                <a:tc>
                  <a:txBody>
                    <a:bodyPr/>
                    <a:lstStyle/>
                    <a:p>
                      <a:pPr algn="ctr"/>
                      <a:r>
                        <a:rPr lang="en-US" sz="1000" dirty="0">
                          <a:solidFill>
                            <a:schemeClr val="bg2">
                              <a:lumMod val="50000"/>
                            </a:schemeClr>
                          </a:solidFill>
                        </a:rPr>
                        <a:t>32</a:t>
                      </a:r>
                    </a:p>
                  </a:txBody>
                  <a:tcPr marT="0" marB="0"/>
                </a:tc>
                <a:tc>
                  <a:txBody>
                    <a:bodyPr/>
                    <a:lstStyle/>
                    <a:p>
                      <a:r>
                        <a:rPr lang="en-US" sz="1000" dirty="0"/>
                        <a:t>__32</a:t>
                      </a:r>
                    </a:p>
                  </a:txBody>
                  <a:tcPr marT="0" marB="0"/>
                </a:tc>
                <a:extLst>
                  <a:ext uri="{0D108BD9-81ED-4DB2-BD59-A6C34878D82A}">
                    <a16:rowId xmlns:a16="http://schemas.microsoft.com/office/drawing/2014/main" val="1915726002"/>
                  </a:ext>
                </a:extLst>
              </a:tr>
              <a:tr h="115964">
                <a:tc>
                  <a:txBody>
                    <a:bodyPr/>
                    <a:lstStyle/>
                    <a:p>
                      <a:r>
                        <a:rPr lang="en-US" sz="1000" dirty="0"/>
                        <a:t>LD_BRNCH</a:t>
                      </a:r>
                    </a:p>
                  </a:txBody>
                  <a:tcPr marT="0" marB="0"/>
                </a:tc>
                <a:tc>
                  <a:txBody>
                    <a:bodyPr/>
                    <a:lstStyle/>
                    <a:p>
                      <a:pPr algn="ctr"/>
                      <a:r>
                        <a:rPr lang="en-US" sz="1000" dirty="0">
                          <a:solidFill>
                            <a:schemeClr val="bg2">
                              <a:lumMod val="50000"/>
                            </a:schemeClr>
                          </a:solidFill>
                        </a:rPr>
                        <a:t>73</a:t>
                      </a:r>
                    </a:p>
                  </a:txBody>
                  <a:tcPr marT="0" marB="0"/>
                </a:tc>
                <a:tc>
                  <a:txBody>
                    <a:bodyPr/>
                    <a:lstStyle/>
                    <a:p>
                      <a:pPr algn="ctr"/>
                      <a:r>
                        <a:rPr lang="en-US" sz="1000" dirty="0">
                          <a:solidFill>
                            <a:schemeClr val="bg2">
                              <a:lumMod val="50000"/>
                            </a:schemeClr>
                          </a:solidFill>
                        </a:rPr>
                        <a:t>33</a:t>
                      </a:r>
                    </a:p>
                  </a:txBody>
                  <a:tcPr marT="0" marB="0"/>
                </a:tc>
                <a:tc>
                  <a:txBody>
                    <a:bodyPr/>
                    <a:lstStyle/>
                    <a:p>
                      <a:r>
                        <a:rPr lang="en-US" sz="1000" dirty="0"/>
                        <a:t>__33</a:t>
                      </a:r>
                    </a:p>
                  </a:txBody>
                  <a:tcPr marT="0" marB="0"/>
                </a:tc>
                <a:extLst>
                  <a:ext uri="{0D108BD9-81ED-4DB2-BD59-A6C34878D82A}">
                    <a16:rowId xmlns:a16="http://schemas.microsoft.com/office/drawing/2014/main" val="2551879494"/>
                  </a:ext>
                </a:extLst>
              </a:tr>
              <a:tr h="115964">
                <a:tc>
                  <a:txBody>
                    <a:bodyPr/>
                    <a:lstStyle/>
                    <a:p>
                      <a:r>
                        <a:rPr lang="en-US" sz="1000" dirty="0"/>
                        <a:t>FLAG_N</a:t>
                      </a:r>
                    </a:p>
                  </a:txBody>
                  <a:tcPr marT="0" marB="0"/>
                </a:tc>
                <a:tc>
                  <a:txBody>
                    <a:bodyPr/>
                    <a:lstStyle/>
                    <a:p>
                      <a:pPr algn="ctr"/>
                      <a:r>
                        <a:rPr lang="en-US" sz="1000" dirty="0">
                          <a:solidFill>
                            <a:schemeClr val="bg2">
                              <a:lumMod val="50000"/>
                            </a:schemeClr>
                          </a:solidFill>
                        </a:rPr>
                        <a:t>74</a:t>
                      </a:r>
                    </a:p>
                  </a:txBody>
                  <a:tcPr marT="0" marB="0"/>
                </a:tc>
                <a:tc>
                  <a:txBody>
                    <a:bodyPr/>
                    <a:lstStyle/>
                    <a:p>
                      <a:pPr algn="ctr"/>
                      <a:r>
                        <a:rPr lang="en-US" sz="1000" dirty="0">
                          <a:solidFill>
                            <a:schemeClr val="bg2">
                              <a:lumMod val="50000"/>
                            </a:schemeClr>
                          </a:solidFill>
                        </a:rPr>
                        <a:t>34</a:t>
                      </a:r>
                    </a:p>
                  </a:txBody>
                  <a:tcPr marT="0" marB="0"/>
                </a:tc>
                <a:tc>
                  <a:txBody>
                    <a:bodyPr/>
                    <a:lstStyle/>
                    <a:p>
                      <a:r>
                        <a:rPr lang="en-US" sz="1000" dirty="0"/>
                        <a:t>__34</a:t>
                      </a:r>
                    </a:p>
                  </a:txBody>
                  <a:tcPr marT="0" marB="0"/>
                </a:tc>
                <a:extLst>
                  <a:ext uri="{0D108BD9-81ED-4DB2-BD59-A6C34878D82A}">
                    <a16:rowId xmlns:a16="http://schemas.microsoft.com/office/drawing/2014/main" val="600245677"/>
                  </a:ext>
                </a:extLst>
              </a:tr>
              <a:tr h="115964">
                <a:tc>
                  <a:txBody>
                    <a:bodyPr/>
                    <a:lstStyle/>
                    <a:p>
                      <a:r>
                        <a:rPr lang="en-US" sz="1000" dirty="0"/>
                        <a:t>FLAG_C</a:t>
                      </a:r>
                    </a:p>
                  </a:txBody>
                  <a:tcPr marT="0" marB="0"/>
                </a:tc>
                <a:tc>
                  <a:txBody>
                    <a:bodyPr/>
                    <a:lstStyle/>
                    <a:p>
                      <a:pPr algn="ctr"/>
                      <a:r>
                        <a:rPr lang="en-US" sz="1000" dirty="0">
                          <a:solidFill>
                            <a:schemeClr val="bg2">
                              <a:lumMod val="50000"/>
                            </a:schemeClr>
                          </a:solidFill>
                        </a:rPr>
                        <a:t>75</a:t>
                      </a:r>
                    </a:p>
                  </a:txBody>
                  <a:tcPr marT="0" marB="0"/>
                </a:tc>
                <a:tc>
                  <a:txBody>
                    <a:bodyPr/>
                    <a:lstStyle/>
                    <a:p>
                      <a:pPr algn="ctr"/>
                      <a:r>
                        <a:rPr lang="en-US" sz="1000" dirty="0">
                          <a:solidFill>
                            <a:schemeClr val="bg2">
                              <a:lumMod val="50000"/>
                            </a:schemeClr>
                          </a:solidFill>
                        </a:rPr>
                        <a:t>35</a:t>
                      </a:r>
                    </a:p>
                  </a:txBody>
                  <a:tcPr marT="0" marB="0">
                    <a:solidFill>
                      <a:schemeClr val="accent2"/>
                    </a:solidFill>
                  </a:tcPr>
                </a:tc>
                <a:tc>
                  <a:txBody>
                    <a:bodyPr/>
                    <a:lstStyle/>
                    <a:p>
                      <a:r>
                        <a:rPr lang="en-US" sz="1000" dirty="0"/>
                        <a:t>__35</a:t>
                      </a:r>
                    </a:p>
                  </a:txBody>
                  <a:tcPr marT="0" marB="0"/>
                </a:tc>
                <a:extLst>
                  <a:ext uri="{0D108BD9-81ED-4DB2-BD59-A6C34878D82A}">
                    <a16:rowId xmlns:a16="http://schemas.microsoft.com/office/drawing/2014/main" val="54968922"/>
                  </a:ext>
                </a:extLst>
              </a:tr>
              <a:tr h="115964">
                <a:tc>
                  <a:txBody>
                    <a:bodyPr/>
                    <a:lstStyle/>
                    <a:p>
                      <a:r>
                        <a:rPr lang="en-US" sz="1000" dirty="0"/>
                        <a:t>FLAG_Z</a:t>
                      </a:r>
                    </a:p>
                  </a:txBody>
                  <a:tcPr marT="0" marB="0"/>
                </a:tc>
                <a:tc>
                  <a:txBody>
                    <a:bodyPr/>
                    <a:lstStyle/>
                    <a:p>
                      <a:pPr algn="ctr"/>
                      <a:r>
                        <a:rPr lang="en-US" sz="1000" dirty="0">
                          <a:solidFill>
                            <a:schemeClr val="bg2">
                              <a:lumMod val="50000"/>
                            </a:schemeClr>
                          </a:solidFill>
                        </a:rPr>
                        <a:t>76</a:t>
                      </a:r>
                    </a:p>
                  </a:txBody>
                  <a:tcPr marT="0" marB="0"/>
                </a:tc>
                <a:tc>
                  <a:txBody>
                    <a:bodyPr/>
                    <a:lstStyle/>
                    <a:p>
                      <a:pPr algn="ctr"/>
                      <a:r>
                        <a:rPr lang="en-US" sz="1000" dirty="0">
                          <a:solidFill>
                            <a:schemeClr val="bg2">
                              <a:lumMod val="50000"/>
                            </a:schemeClr>
                          </a:solidFill>
                        </a:rPr>
                        <a:t>36</a:t>
                      </a:r>
                    </a:p>
                  </a:txBody>
                  <a:tcPr marT="0" marB="0">
                    <a:solidFill>
                      <a:schemeClr val="accent2"/>
                    </a:solidFill>
                  </a:tcPr>
                </a:tc>
                <a:tc>
                  <a:txBody>
                    <a:bodyPr/>
                    <a:lstStyle/>
                    <a:p>
                      <a:r>
                        <a:rPr lang="en-US" sz="1000" dirty="0"/>
                        <a:t>__36</a:t>
                      </a:r>
                    </a:p>
                  </a:txBody>
                  <a:tcPr marT="0" marB="0"/>
                </a:tc>
                <a:extLst>
                  <a:ext uri="{0D108BD9-81ED-4DB2-BD59-A6C34878D82A}">
                    <a16:rowId xmlns:a16="http://schemas.microsoft.com/office/drawing/2014/main" val="3731191074"/>
                  </a:ext>
                </a:extLst>
              </a:tr>
              <a:tr h="115964">
                <a:tc>
                  <a:txBody>
                    <a:bodyPr/>
                    <a:lstStyle/>
                    <a:p>
                      <a:r>
                        <a:rPr lang="en-US" sz="1000" dirty="0" err="1"/>
                        <a:t>RST_MicroPC</a:t>
                      </a:r>
                      <a:endParaRPr lang="en-US" sz="1000" dirty="0"/>
                    </a:p>
                  </a:txBody>
                  <a:tcPr marT="0" marB="0"/>
                </a:tc>
                <a:tc>
                  <a:txBody>
                    <a:bodyPr/>
                    <a:lstStyle/>
                    <a:p>
                      <a:pPr algn="ctr"/>
                      <a:r>
                        <a:rPr lang="en-US" sz="1000" dirty="0">
                          <a:solidFill>
                            <a:schemeClr val="bg2">
                              <a:lumMod val="50000"/>
                            </a:schemeClr>
                          </a:solidFill>
                        </a:rPr>
                        <a:t>77</a:t>
                      </a:r>
                    </a:p>
                  </a:txBody>
                  <a:tcPr marT="0" marB="0"/>
                </a:tc>
                <a:tc>
                  <a:txBody>
                    <a:bodyPr/>
                    <a:lstStyle/>
                    <a:p>
                      <a:pPr algn="ctr"/>
                      <a:r>
                        <a:rPr lang="en-US" sz="1000" dirty="0">
                          <a:solidFill>
                            <a:schemeClr val="bg2">
                              <a:lumMod val="50000"/>
                            </a:schemeClr>
                          </a:solidFill>
                        </a:rPr>
                        <a:t>37</a:t>
                      </a:r>
                    </a:p>
                  </a:txBody>
                  <a:tcPr marT="0" marB="0">
                    <a:solidFill>
                      <a:schemeClr val="accent2"/>
                    </a:solidFill>
                  </a:tcPr>
                </a:tc>
                <a:tc>
                  <a:txBody>
                    <a:bodyPr/>
                    <a:lstStyle/>
                    <a:p>
                      <a:r>
                        <a:rPr lang="en-US" sz="1000" dirty="0"/>
                        <a:t>__37</a:t>
                      </a:r>
                    </a:p>
                  </a:txBody>
                  <a:tcPr marT="0" marB="0"/>
                </a:tc>
                <a:extLst>
                  <a:ext uri="{0D108BD9-81ED-4DB2-BD59-A6C34878D82A}">
                    <a16:rowId xmlns:a16="http://schemas.microsoft.com/office/drawing/2014/main" val="3974106547"/>
                  </a:ext>
                </a:extLst>
              </a:tr>
              <a:tr h="115964">
                <a:tc>
                  <a:txBody>
                    <a:bodyPr/>
                    <a:lstStyle/>
                    <a:p>
                      <a:r>
                        <a:rPr lang="en-US" sz="1000" dirty="0" err="1"/>
                        <a:t>MSB_Quiesce</a:t>
                      </a:r>
                      <a:endParaRPr lang="en-US" sz="1000" dirty="0"/>
                    </a:p>
                  </a:txBody>
                  <a:tcPr marT="0" marB="0"/>
                </a:tc>
                <a:tc>
                  <a:txBody>
                    <a:bodyPr/>
                    <a:lstStyle/>
                    <a:p>
                      <a:pPr algn="ctr"/>
                      <a:r>
                        <a:rPr lang="en-US" sz="1000" dirty="0">
                          <a:solidFill>
                            <a:schemeClr val="bg2">
                              <a:lumMod val="50000"/>
                            </a:schemeClr>
                          </a:solidFill>
                        </a:rPr>
                        <a:t>78</a:t>
                      </a:r>
                    </a:p>
                  </a:txBody>
                  <a:tcPr marT="0" marB="0"/>
                </a:tc>
                <a:tc>
                  <a:txBody>
                    <a:bodyPr/>
                    <a:lstStyle/>
                    <a:p>
                      <a:pPr algn="ctr"/>
                      <a:r>
                        <a:rPr lang="en-US" sz="1000" dirty="0">
                          <a:solidFill>
                            <a:schemeClr val="bg2">
                              <a:lumMod val="50000"/>
                            </a:schemeClr>
                          </a:solidFill>
                        </a:rPr>
                        <a:t>38</a:t>
                      </a:r>
                    </a:p>
                  </a:txBody>
                  <a:tcPr marT="0" marB="0">
                    <a:solidFill>
                      <a:schemeClr val="accent2"/>
                    </a:solidFill>
                  </a:tcPr>
                </a:tc>
                <a:tc>
                  <a:txBody>
                    <a:bodyPr/>
                    <a:lstStyle/>
                    <a:p>
                      <a:r>
                        <a:rPr lang="en-US" sz="1000" dirty="0"/>
                        <a:t>__38</a:t>
                      </a:r>
                    </a:p>
                  </a:txBody>
                  <a:tcPr marT="0" marB="0"/>
                </a:tc>
                <a:extLst>
                  <a:ext uri="{0D108BD9-81ED-4DB2-BD59-A6C34878D82A}">
                    <a16:rowId xmlns:a16="http://schemas.microsoft.com/office/drawing/2014/main" val="425738045"/>
                  </a:ext>
                </a:extLst>
              </a:tr>
              <a:tr h="115964">
                <a:tc>
                  <a:txBody>
                    <a:bodyPr/>
                    <a:lstStyle/>
                    <a:p>
                      <a:r>
                        <a:rPr lang="en-US" sz="1000" dirty="0"/>
                        <a:t>ARSrc_0</a:t>
                      </a:r>
                    </a:p>
                  </a:txBody>
                  <a:tcPr marT="0" marB="0"/>
                </a:tc>
                <a:tc>
                  <a:txBody>
                    <a:bodyPr/>
                    <a:lstStyle/>
                    <a:p>
                      <a:pPr algn="ctr"/>
                      <a:r>
                        <a:rPr lang="en-US" sz="1000" dirty="0">
                          <a:solidFill>
                            <a:schemeClr val="bg2">
                              <a:lumMod val="50000"/>
                            </a:schemeClr>
                          </a:solidFill>
                        </a:rPr>
                        <a:t>79</a:t>
                      </a:r>
                    </a:p>
                  </a:txBody>
                  <a:tcPr marT="0" marB="0"/>
                </a:tc>
                <a:tc>
                  <a:txBody>
                    <a:bodyPr/>
                    <a:lstStyle/>
                    <a:p>
                      <a:pPr algn="ctr"/>
                      <a:r>
                        <a:rPr lang="en-US" sz="1000" dirty="0">
                          <a:solidFill>
                            <a:schemeClr val="bg2">
                              <a:lumMod val="50000"/>
                            </a:schemeClr>
                          </a:solidFill>
                        </a:rPr>
                        <a:t>39</a:t>
                      </a:r>
                    </a:p>
                  </a:txBody>
                  <a:tcPr marT="0" marB="0">
                    <a:solidFill>
                      <a:schemeClr val="accent2"/>
                    </a:solidFill>
                  </a:tcPr>
                </a:tc>
                <a:tc>
                  <a:txBody>
                    <a:bodyPr/>
                    <a:lstStyle/>
                    <a:p>
                      <a:r>
                        <a:rPr lang="en-US" sz="1000" dirty="0"/>
                        <a:t>__39</a:t>
                      </a:r>
                    </a:p>
                  </a:txBody>
                  <a:tcPr marT="0" marB="0"/>
                </a:tc>
                <a:extLst>
                  <a:ext uri="{0D108BD9-81ED-4DB2-BD59-A6C34878D82A}">
                    <a16:rowId xmlns:a16="http://schemas.microsoft.com/office/drawing/2014/main" val="3577992425"/>
                  </a:ext>
                </a:extLst>
              </a:tr>
              <a:tr h="115964">
                <a:tc>
                  <a:txBody>
                    <a:bodyPr/>
                    <a:lstStyle/>
                    <a:p>
                      <a:r>
                        <a:rPr lang="en-US" sz="1000" dirty="0"/>
                        <a:t>ARSrc_1</a:t>
                      </a:r>
                    </a:p>
                  </a:txBody>
                  <a:tcPr marT="0" marB="0"/>
                </a:tc>
                <a:tc>
                  <a:txBody>
                    <a:bodyPr/>
                    <a:lstStyle/>
                    <a:p>
                      <a:pPr algn="ctr"/>
                      <a:r>
                        <a:rPr lang="en-US" sz="1000" dirty="0">
                          <a:solidFill>
                            <a:schemeClr val="bg2">
                              <a:lumMod val="50000"/>
                            </a:schemeClr>
                          </a:solidFill>
                        </a:rPr>
                        <a:t>80</a:t>
                      </a:r>
                    </a:p>
                  </a:txBody>
                  <a:tcPr marT="0" marB="0"/>
                </a:tc>
                <a:tc>
                  <a:txBody>
                    <a:bodyPr/>
                    <a:lstStyle/>
                    <a:p>
                      <a:pPr algn="ctr"/>
                      <a:r>
                        <a:rPr lang="en-US" sz="1000" dirty="0">
                          <a:solidFill>
                            <a:schemeClr val="bg2">
                              <a:lumMod val="50000"/>
                            </a:schemeClr>
                          </a:solidFill>
                        </a:rPr>
                        <a:t>40</a:t>
                      </a:r>
                    </a:p>
                  </a:txBody>
                  <a:tcPr marT="0" marB="0"/>
                </a:tc>
                <a:tc>
                  <a:txBody>
                    <a:bodyPr/>
                    <a:lstStyle/>
                    <a:p>
                      <a:r>
                        <a:rPr lang="en-US" sz="1000" dirty="0"/>
                        <a:t>__40</a:t>
                      </a:r>
                    </a:p>
                  </a:txBody>
                  <a:tcPr marT="0" marB="0"/>
                </a:tc>
                <a:extLst>
                  <a:ext uri="{0D108BD9-81ED-4DB2-BD59-A6C34878D82A}">
                    <a16:rowId xmlns:a16="http://schemas.microsoft.com/office/drawing/2014/main" val="3754282106"/>
                  </a:ext>
                </a:extLst>
              </a:tr>
            </a:tbl>
          </a:graphicData>
        </a:graphic>
      </p:graphicFrame>
      <p:sp>
        <p:nvSpPr>
          <p:cNvPr id="4" name="TextBox 3">
            <a:extLst>
              <a:ext uri="{FF2B5EF4-FFF2-40B4-BE49-F238E27FC236}">
                <a16:creationId xmlns:a16="http://schemas.microsoft.com/office/drawing/2014/main" id="{BE131B32-EA84-58B2-9B4B-E053E970FE43}"/>
              </a:ext>
            </a:extLst>
          </p:cNvPr>
          <p:cNvSpPr txBox="1"/>
          <p:nvPr/>
        </p:nvSpPr>
        <p:spPr>
          <a:xfrm>
            <a:off x="1143000" y="1590261"/>
            <a:ext cx="5327420" cy="646331"/>
          </a:xfrm>
          <a:prstGeom prst="rect">
            <a:avLst/>
          </a:prstGeom>
          <a:noFill/>
        </p:spPr>
        <p:txBody>
          <a:bodyPr wrap="none" rtlCol="0">
            <a:spAutoFit/>
          </a:bodyPr>
          <a:lstStyle/>
          <a:p>
            <a:pPr marL="285750" indent="-285750">
              <a:buFont typeface="Arial" panose="020B0604020202020204" pitchFamily="34" charset="0"/>
              <a:buChar char="•"/>
            </a:pPr>
            <a:r>
              <a:rPr lang="en-US" dirty="0"/>
              <a:t>Orange pins have jumpers that can make them local</a:t>
            </a:r>
          </a:p>
          <a:p>
            <a:pPr marL="285750" indent="-285750">
              <a:buFont typeface="Arial" panose="020B0604020202020204" pitchFamily="34" charset="0"/>
              <a:buChar char="•"/>
            </a:pPr>
            <a:r>
              <a:rPr lang="en-US" dirty="0"/>
              <a:t>Pin with prefix __ are not assigned</a:t>
            </a:r>
          </a:p>
        </p:txBody>
      </p:sp>
    </p:spTree>
    <p:extLst>
      <p:ext uri="{BB962C8B-B14F-4D97-AF65-F5344CB8AC3E}">
        <p14:creationId xmlns:p14="http://schemas.microsoft.com/office/powerpoint/2010/main" val="385961215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AAC44-DB19-DA2F-0CCD-471F108EA424}"/>
              </a:ext>
            </a:extLst>
          </p:cNvPr>
          <p:cNvSpPr>
            <a:spLocks noGrp="1"/>
          </p:cNvSpPr>
          <p:nvPr>
            <p:ph type="ctrTitle"/>
          </p:nvPr>
        </p:nvSpPr>
        <p:spPr>
          <a:xfrm>
            <a:off x="914400" y="457200"/>
            <a:ext cx="2449057" cy="457200"/>
          </a:xfrm>
        </p:spPr>
        <p:txBody>
          <a:bodyPr/>
          <a:lstStyle/>
          <a:p>
            <a:r>
              <a:rPr lang="en-US" dirty="0"/>
              <a:t>Backplane</a:t>
            </a:r>
          </a:p>
        </p:txBody>
      </p:sp>
      <p:sp>
        <p:nvSpPr>
          <p:cNvPr id="3" name="TextBox 2">
            <a:extLst>
              <a:ext uri="{FF2B5EF4-FFF2-40B4-BE49-F238E27FC236}">
                <a16:creationId xmlns:a16="http://schemas.microsoft.com/office/drawing/2014/main" id="{BE6A4FC4-9B93-E110-1413-3A75C760470E}"/>
              </a:ext>
            </a:extLst>
          </p:cNvPr>
          <p:cNvSpPr txBox="1"/>
          <p:nvPr/>
        </p:nvSpPr>
        <p:spPr>
          <a:xfrm>
            <a:off x="5102736" y="6164207"/>
            <a:ext cx="5499454" cy="523220"/>
          </a:xfrm>
          <a:prstGeom prst="rect">
            <a:avLst/>
          </a:prstGeom>
          <a:noFill/>
        </p:spPr>
        <p:txBody>
          <a:bodyPr wrap="none" rtlCol="0">
            <a:spAutoFit/>
          </a:bodyPr>
          <a:lstStyle/>
          <a:p>
            <a:r>
              <a:rPr lang="en-US" sz="1400" dirty="0">
                <a:hlinkClick r:id="rId2"/>
              </a:rPr>
              <a:t>sc709_v1.0.0_2023-04-17_22-11_schematic.pdf</a:t>
            </a:r>
            <a:endParaRPr lang="en-US" sz="1400" dirty="0"/>
          </a:p>
          <a:p>
            <a:r>
              <a:rPr lang="en-US" sz="1400" dirty="0" err="1">
                <a:hlinkClick r:id="rId3"/>
              </a:rPr>
              <a:t>EasyEDA</a:t>
            </a:r>
            <a:r>
              <a:rPr lang="en-US" sz="1400" dirty="0">
                <a:hlinkClick r:id="rId3"/>
              </a:rPr>
              <a:t>(Standard) - A Simple and Powerful Electronic Circuit Design Tool</a:t>
            </a:r>
            <a:endParaRPr lang="en-US" sz="1400" dirty="0"/>
          </a:p>
        </p:txBody>
      </p:sp>
      <p:pic>
        <p:nvPicPr>
          <p:cNvPr id="5" name="Picture 4">
            <a:extLst>
              <a:ext uri="{FF2B5EF4-FFF2-40B4-BE49-F238E27FC236}">
                <a16:creationId xmlns:a16="http://schemas.microsoft.com/office/drawing/2014/main" id="{73282F75-D4F1-B1E4-326A-37AB53EC3775}"/>
              </a:ext>
            </a:extLst>
          </p:cNvPr>
          <p:cNvPicPr>
            <a:picLocks noChangeAspect="1"/>
          </p:cNvPicPr>
          <p:nvPr/>
        </p:nvPicPr>
        <p:blipFill>
          <a:blip r:embed="rId4"/>
          <a:stretch>
            <a:fillRect/>
          </a:stretch>
        </p:blipFill>
        <p:spPr>
          <a:xfrm>
            <a:off x="2851904" y="60070"/>
            <a:ext cx="8671785" cy="6104137"/>
          </a:xfrm>
          <a:prstGeom prst="rect">
            <a:avLst/>
          </a:prstGeom>
        </p:spPr>
      </p:pic>
      <p:cxnSp>
        <p:nvCxnSpPr>
          <p:cNvPr id="7" name="Straight Connector 6">
            <a:extLst>
              <a:ext uri="{FF2B5EF4-FFF2-40B4-BE49-F238E27FC236}">
                <a16:creationId xmlns:a16="http://schemas.microsoft.com/office/drawing/2014/main" id="{490CECC9-69F3-1D6E-92CD-5C19D0B8BF42}"/>
              </a:ext>
            </a:extLst>
          </p:cNvPr>
          <p:cNvCxnSpPr>
            <a:cxnSpLocks/>
          </p:cNvCxnSpPr>
          <p:nvPr/>
        </p:nvCxnSpPr>
        <p:spPr>
          <a:xfrm>
            <a:off x="1349219" y="3158836"/>
            <a:ext cx="34529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AAF27A0-E834-509C-1B9C-19ECA5A609B5}"/>
              </a:ext>
            </a:extLst>
          </p:cNvPr>
          <p:cNvCxnSpPr>
            <a:cxnSpLocks/>
          </p:cNvCxnSpPr>
          <p:nvPr/>
        </p:nvCxnSpPr>
        <p:spPr>
          <a:xfrm>
            <a:off x="1349219" y="3298448"/>
            <a:ext cx="34529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5CA639E9-2D13-8897-F7E4-EFE258A40635}"/>
              </a:ext>
            </a:extLst>
          </p:cNvPr>
          <p:cNvCxnSpPr>
            <a:cxnSpLocks/>
          </p:cNvCxnSpPr>
          <p:nvPr/>
        </p:nvCxnSpPr>
        <p:spPr>
          <a:xfrm>
            <a:off x="1349219" y="3440723"/>
            <a:ext cx="34529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E94A9A5-EAEA-2515-449E-1411B210058F}"/>
              </a:ext>
            </a:extLst>
          </p:cNvPr>
          <p:cNvCxnSpPr>
            <a:cxnSpLocks/>
          </p:cNvCxnSpPr>
          <p:nvPr/>
        </p:nvCxnSpPr>
        <p:spPr>
          <a:xfrm>
            <a:off x="1349219" y="3298448"/>
            <a:ext cx="345298" cy="139612"/>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FF6166A5-28E0-0F29-A18F-AF32F1A55169}"/>
              </a:ext>
            </a:extLst>
          </p:cNvPr>
          <p:cNvCxnSpPr>
            <a:cxnSpLocks/>
          </p:cNvCxnSpPr>
          <p:nvPr/>
        </p:nvCxnSpPr>
        <p:spPr>
          <a:xfrm flipV="1">
            <a:off x="1349219" y="3158836"/>
            <a:ext cx="345298" cy="139612"/>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4E5BE7A9-D172-2E7F-2EC9-EE0F9B297006}"/>
              </a:ext>
            </a:extLst>
          </p:cNvPr>
          <p:cNvCxnSpPr>
            <a:cxnSpLocks/>
          </p:cNvCxnSpPr>
          <p:nvPr/>
        </p:nvCxnSpPr>
        <p:spPr>
          <a:xfrm flipV="1">
            <a:off x="1349219" y="3298447"/>
            <a:ext cx="345298" cy="139613"/>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DB11ACC-1F2F-3089-40AD-140BA7140F8C}"/>
              </a:ext>
            </a:extLst>
          </p:cNvPr>
          <p:cNvCxnSpPr>
            <a:cxnSpLocks/>
          </p:cNvCxnSpPr>
          <p:nvPr/>
        </p:nvCxnSpPr>
        <p:spPr>
          <a:xfrm flipH="1" flipV="1">
            <a:off x="1349219" y="3158836"/>
            <a:ext cx="345298" cy="139611"/>
          </a:xfrm>
          <a:prstGeom prst="line">
            <a:avLst/>
          </a:prstGeom>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C1063A16-4B76-C661-5BDF-1CDF0B3A8222}"/>
              </a:ext>
            </a:extLst>
          </p:cNvPr>
          <p:cNvSpPr txBox="1"/>
          <p:nvPr/>
        </p:nvSpPr>
        <p:spPr>
          <a:xfrm>
            <a:off x="1049137" y="3051721"/>
            <a:ext cx="300082" cy="507831"/>
          </a:xfrm>
          <a:prstGeom prst="rect">
            <a:avLst/>
          </a:prstGeom>
          <a:noFill/>
        </p:spPr>
        <p:txBody>
          <a:bodyPr wrap="none" rtlCol="0">
            <a:spAutoFit/>
          </a:bodyPr>
          <a:lstStyle/>
          <a:p>
            <a:r>
              <a:rPr lang="en-US" sz="900" dirty="0"/>
              <a:t>42</a:t>
            </a:r>
          </a:p>
          <a:p>
            <a:r>
              <a:rPr lang="en-US" sz="900" dirty="0"/>
              <a:t>43</a:t>
            </a:r>
          </a:p>
          <a:p>
            <a:r>
              <a:rPr lang="en-US" sz="900" dirty="0"/>
              <a:t>44</a:t>
            </a:r>
          </a:p>
        </p:txBody>
      </p:sp>
      <p:sp>
        <p:nvSpPr>
          <p:cNvPr id="25" name="TextBox 24">
            <a:extLst>
              <a:ext uri="{FF2B5EF4-FFF2-40B4-BE49-F238E27FC236}">
                <a16:creationId xmlns:a16="http://schemas.microsoft.com/office/drawing/2014/main" id="{92501105-625D-0B2D-8EDF-186DC73D7E29}"/>
              </a:ext>
            </a:extLst>
          </p:cNvPr>
          <p:cNvSpPr txBox="1"/>
          <p:nvPr/>
        </p:nvSpPr>
        <p:spPr>
          <a:xfrm>
            <a:off x="1650438" y="3051720"/>
            <a:ext cx="300082" cy="507831"/>
          </a:xfrm>
          <a:prstGeom prst="rect">
            <a:avLst/>
          </a:prstGeom>
          <a:noFill/>
        </p:spPr>
        <p:txBody>
          <a:bodyPr wrap="none" rtlCol="0">
            <a:spAutoFit/>
          </a:bodyPr>
          <a:lstStyle/>
          <a:p>
            <a:r>
              <a:rPr lang="en-US" sz="900" dirty="0"/>
              <a:t>42</a:t>
            </a:r>
          </a:p>
          <a:p>
            <a:r>
              <a:rPr lang="en-US" sz="900" dirty="0"/>
              <a:t>43</a:t>
            </a:r>
          </a:p>
          <a:p>
            <a:r>
              <a:rPr lang="en-US" sz="900" dirty="0"/>
              <a:t>44</a:t>
            </a:r>
          </a:p>
        </p:txBody>
      </p:sp>
      <p:sp>
        <p:nvSpPr>
          <p:cNvPr id="26" name="TextBox 25">
            <a:extLst>
              <a:ext uri="{FF2B5EF4-FFF2-40B4-BE49-F238E27FC236}">
                <a16:creationId xmlns:a16="http://schemas.microsoft.com/office/drawing/2014/main" id="{F6F7A5A2-5E04-B976-5D5E-61C1063FC7A5}"/>
              </a:ext>
            </a:extLst>
          </p:cNvPr>
          <p:cNvSpPr txBox="1"/>
          <p:nvPr/>
        </p:nvSpPr>
        <p:spPr>
          <a:xfrm>
            <a:off x="1048075" y="4022601"/>
            <a:ext cx="300082" cy="507831"/>
          </a:xfrm>
          <a:prstGeom prst="rect">
            <a:avLst/>
          </a:prstGeom>
          <a:noFill/>
        </p:spPr>
        <p:txBody>
          <a:bodyPr wrap="none" rtlCol="0">
            <a:spAutoFit/>
          </a:bodyPr>
          <a:lstStyle/>
          <a:p>
            <a:r>
              <a:rPr lang="en-US" sz="900" dirty="0"/>
              <a:t>37</a:t>
            </a:r>
          </a:p>
          <a:p>
            <a:r>
              <a:rPr lang="en-US" sz="900" dirty="0"/>
              <a:t>38</a:t>
            </a:r>
          </a:p>
          <a:p>
            <a:r>
              <a:rPr lang="en-US" sz="900" dirty="0"/>
              <a:t>39</a:t>
            </a:r>
          </a:p>
        </p:txBody>
      </p:sp>
      <p:sp>
        <p:nvSpPr>
          <p:cNvPr id="27" name="TextBox 26">
            <a:extLst>
              <a:ext uri="{FF2B5EF4-FFF2-40B4-BE49-F238E27FC236}">
                <a16:creationId xmlns:a16="http://schemas.microsoft.com/office/drawing/2014/main" id="{9656CDAE-9C90-3446-C052-C4949286B388}"/>
              </a:ext>
            </a:extLst>
          </p:cNvPr>
          <p:cNvSpPr txBox="1"/>
          <p:nvPr/>
        </p:nvSpPr>
        <p:spPr>
          <a:xfrm>
            <a:off x="1649376" y="4022600"/>
            <a:ext cx="300082" cy="507831"/>
          </a:xfrm>
          <a:prstGeom prst="rect">
            <a:avLst/>
          </a:prstGeom>
          <a:noFill/>
        </p:spPr>
        <p:txBody>
          <a:bodyPr wrap="none" rtlCol="0">
            <a:spAutoFit/>
          </a:bodyPr>
          <a:lstStyle/>
          <a:p>
            <a:r>
              <a:rPr lang="en-US" sz="900" dirty="0"/>
              <a:t>37</a:t>
            </a:r>
          </a:p>
          <a:p>
            <a:r>
              <a:rPr lang="en-US" sz="900" dirty="0"/>
              <a:t>38</a:t>
            </a:r>
          </a:p>
          <a:p>
            <a:r>
              <a:rPr lang="en-US" sz="900" dirty="0"/>
              <a:t>39</a:t>
            </a:r>
          </a:p>
        </p:txBody>
      </p:sp>
      <p:cxnSp>
        <p:nvCxnSpPr>
          <p:cNvPr id="28" name="Straight Connector 27">
            <a:extLst>
              <a:ext uri="{FF2B5EF4-FFF2-40B4-BE49-F238E27FC236}">
                <a16:creationId xmlns:a16="http://schemas.microsoft.com/office/drawing/2014/main" id="{CC5DD915-0400-76DC-6344-90D28BDBCFE0}"/>
              </a:ext>
            </a:extLst>
          </p:cNvPr>
          <p:cNvCxnSpPr>
            <a:cxnSpLocks/>
          </p:cNvCxnSpPr>
          <p:nvPr/>
        </p:nvCxnSpPr>
        <p:spPr>
          <a:xfrm>
            <a:off x="1341763" y="4136114"/>
            <a:ext cx="34529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65398DCD-258E-9334-EC44-A413D1E39D9E}"/>
              </a:ext>
            </a:extLst>
          </p:cNvPr>
          <p:cNvCxnSpPr>
            <a:cxnSpLocks/>
          </p:cNvCxnSpPr>
          <p:nvPr/>
        </p:nvCxnSpPr>
        <p:spPr>
          <a:xfrm>
            <a:off x="1341763" y="4275726"/>
            <a:ext cx="34529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A5D30E3F-05D7-36AA-0BE1-0CC051CA841C}"/>
              </a:ext>
            </a:extLst>
          </p:cNvPr>
          <p:cNvCxnSpPr>
            <a:cxnSpLocks/>
          </p:cNvCxnSpPr>
          <p:nvPr/>
        </p:nvCxnSpPr>
        <p:spPr>
          <a:xfrm>
            <a:off x="1341763" y="4418001"/>
            <a:ext cx="34529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D6F0AE96-6B08-0539-C38C-AD0D6750CFFE}"/>
              </a:ext>
            </a:extLst>
          </p:cNvPr>
          <p:cNvCxnSpPr>
            <a:cxnSpLocks/>
          </p:cNvCxnSpPr>
          <p:nvPr/>
        </p:nvCxnSpPr>
        <p:spPr>
          <a:xfrm>
            <a:off x="1341763" y="4275726"/>
            <a:ext cx="345298" cy="139612"/>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2261EDF1-501F-994D-1032-08526E4B8D9F}"/>
              </a:ext>
            </a:extLst>
          </p:cNvPr>
          <p:cNvCxnSpPr>
            <a:cxnSpLocks/>
          </p:cNvCxnSpPr>
          <p:nvPr/>
        </p:nvCxnSpPr>
        <p:spPr>
          <a:xfrm flipV="1">
            <a:off x="1341763" y="4141427"/>
            <a:ext cx="0" cy="134299"/>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A8CCBEF1-AFA0-D3F1-C986-6ED7F6E0A887}"/>
              </a:ext>
            </a:extLst>
          </p:cNvPr>
          <p:cNvCxnSpPr>
            <a:cxnSpLocks/>
          </p:cNvCxnSpPr>
          <p:nvPr/>
        </p:nvCxnSpPr>
        <p:spPr>
          <a:xfrm flipV="1">
            <a:off x="1341763" y="4275725"/>
            <a:ext cx="345298" cy="139613"/>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668E5E9F-8496-E8AD-3FCE-354700201AF0}"/>
              </a:ext>
            </a:extLst>
          </p:cNvPr>
          <p:cNvCxnSpPr>
            <a:cxnSpLocks/>
          </p:cNvCxnSpPr>
          <p:nvPr/>
        </p:nvCxnSpPr>
        <p:spPr>
          <a:xfrm flipV="1">
            <a:off x="1687061" y="4138778"/>
            <a:ext cx="0" cy="136947"/>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2362694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A2D7D-A50F-7706-2375-6459EE3D9111}"/>
              </a:ext>
            </a:extLst>
          </p:cNvPr>
          <p:cNvSpPr>
            <a:spLocks noGrp="1"/>
          </p:cNvSpPr>
          <p:nvPr>
            <p:ph type="ctrTitle"/>
          </p:nvPr>
        </p:nvSpPr>
        <p:spPr>
          <a:xfrm>
            <a:off x="914399" y="457200"/>
            <a:ext cx="4117997" cy="457200"/>
          </a:xfrm>
        </p:spPr>
        <p:txBody>
          <a:bodyPr/>
          <a:lstStyle/>
          <a:p>
            <a:r>
              <a:rPr lang="en-US" dirty="0"/>
              <a:t>Motherboard – Address Display</a:t>
            </a:r>
          </a:p>
        </p:txBody>
      </p:sp>
      <p:pic>
        <p:nvPicPr>
          <p:cNvPr id="10" name="Picture 9">
            <a:extLst>
              <a:ext uri="{FF2B5EF4-FFF2-40B4-BE49-F238E27FC236}">
                <a16:creationId xmlns:a16="http://schemas.microsoft.com/office/drawing/2014/main" id="{A416078C-B4F4-ADE9-2FBE-659FDFC9B596}"/>
              </a:ext>
            </a:extLst>
          </p:cNvPr>
          <p:cNvPicPr>
            <a:picLocks noChangeAspect="1"/>
          </p:cNvPicPr>
          <p:nvPr/>
        </p:nvPicPr>
        <p:blipFill>
          <a:blip r:embed="rId2"/>
          <a:stretch>
            <a:fillRect/>
          </a:stretch>
        </p:blipFill>
        <p:spPr>
          <a:xfrm>
            <a:off x="0" y="564196"/>
            <a:ext cx="12192000" cy="5729608"/>
          </a:xfrm>
          <a:prstGeom prst="rect">
            <a:avLst/>
          </a:prstGeom>
        </p:spPr>
      </p:pic>
    </p:spTree>
    <p:extLst>
      <p:ext uri="{BB962C8B-B14F-4D97-AF65-F5344CB8AC3E}">
        <p14:creationId xmlns:p14="http://schemas.microsoft.com/office/powerpoint/2010/main" val="298038925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2ACEC-01C8-9483-D611-0D7B691164A0}"/>
              </a:ext>
            </a:extLst>
          </p:cNvPr>
          <p:cNvSpPr>
            <a:spLocks noGrp="1"/>
          </p:cNvSpPr>
          <p:nvPr>
            <p:ph type="ctrTitle"/>
          </p:nvPr>
        </p:nvSpPr>
        <p:spPr/>
        <p:txBody>
          <a:bodyPr/>
          <a:lstStyle/>
          <a:p>
            <a:r>
              <a:rPr lang="en-US" dirty="0"/>
              <a:t>Motherboard – Clock</a:t>
            </a:r>
          </a:p>
        </p:txBody>
      </p:sp>
      <p:pic>
        <p:nvPicPr>
          <p:cNvPr id="4" name="Picture 3">
            <a:extLst>
              <a:ext uri="{FF2B5EF4-FFF2-40B4-BE49-F238E27FC236}">
                <a16:creationId xmlns:a16="http://schemas.microsoft.com/office/drawing/2014/main" id="{D7D2F8D7-FFD7-59E7-FDDB-A7E9075A9FE9}"/>
              </a:ext>
            </a:extLst>
          </p:cNvPr>
          <p:cNvPicPr>
            <a:picLocks noChangeAspect="1"/>
          </p:cNvPicPr>
          <p:nvPr/>
        </p:nvPicPr>
        <p:blipFill>
          <a:blip r:embed="rId2"/>
          <a:stretch>
            <a:fillRect/>
          </a:stretch>
        </p:blipFill>
        <p:spPr>
          <a:xfrm>
            <a:off x="1067866" y="1475499"/>
            <a:ext cx="10612582" cy="4499980"/>
          </a:xfrm>
          <a:prstGeom prst="rect">
            <a:avLst/>
          </a:prstGeom>
        </p:spPr>
      </p:pic>
    </p:spTree>
    <p:extLst>
      <p:ext uri="{BB962C8B-B14F-4D97-AF65-F5344CB8AC3E}">
        <p14:creationId xmlns:p14="http://schemas.microsoft.com/office/powerpoint/2010/main" val="245661368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327D3-1D77-0F51-171C-649C1DB93F25}"/>
              </a:ext>
            </a:extLst>
          </p:cNvPr>
          <p:cNvSpPr>
            <a:spLocks noGrp="1"/>
          </p:cNvSpPr>
          <p:nvPr>
            <p:ph type="ctrTitle"/>
          </p:nvPr>
        </p:nvSpPr>
        <p:spPr>
          <a:xfrm>
            <a:off x="914400" y="457200"/>
            <a:ext cx="6634163" cy="457200"/>
          </a:xfrm>
        </p:spPr>
        <p:txBody>
          <a:bodyPr/>
          <a:lstStyle/>
          <a:p>
            <a:pPr algn="l"/>
            <a:r>
              <a:rPr lang="en-US"/>
              <a:t>138 -  3-to-8 Line Decoder </a:t>
            </a:r>
          </a:p>
        </p:txBody>
      </p:sp>
      <p:pic>
        <p:nvPicPr>
          <p:cNvPr id="4" name="Picture 3">
            <a:extLst>
              <a:ext uri="{FF2B5EF4-FFF2-40B4-BE49-F238E27FC236}">
                <a16:creationId xmlns:a16="http://schemas.microsoft.com/office/drawing/2014/main" id="{5F83458A-167B-6240-2CA3-3321264648D4}"/>
              </a:ext>
            </a:extLst>
          </p:cNvPr>
          <p:cNvPicPr>
            <a:picLocks noChangeAspect="1"/>
          </p:cNvPicPr>
          <p:nvPr/>
        </p:nvPicPr>
        <p:blipFill>
          <a:blip r:embed="rId2"/>
          <a:stretch>
            <a:fillRect/>
          </a:stretch>
        </p:blipFill>
        <p:spPr>
          <a:xfrm rot="5400000">
            <a:off x="9041165" y="184547"/>
            <a:ext cx="2853049" cy="2647376"/>
          </a:xfrm>
          <a:prstGeom prst="rect">
            <a:avLst/>
          </a:prstGeom>
        </p:spPr>
      </p:pic>
      <p:pic>
        <p:nvPicPr>
          <p:cNvPr id="7" name="Picture 6">
            <a:extLst>
              <a:ext uri="{FF2B5EF4-FFF2-40B4-BE49-F238E27FC236}">
                <a16:creationId xmlns:a16="http://schemas.microsoft.com/office/drawing/2014/main" id="{13B59685-E8E2-8CB6-3A74-24B5A45E78CD}"/>
              </a:ext>
            </a:extLst>
          </p:cNvPr>
          <p:cNvPicPr>
            <a:picLocks noChangeAspect="1"/>
          </p:cNvPicPr>
          <p:nvPr/>
        </p:nvPicPr>
        <p:blipFill>
          <a:blip r:embed="rId3"/>
          <a:srcRect l="1183"/>
          <a:stretch/>
        </p:blipFill>
        <p:spPr>
          <a:xfrm>
            <a:off x="400625" y="1265748"/>
            <a:ext cx="6928076" cy="4442845"/>
          </a:xfrm>
          <a:prstGeom prst="rect">
            <a:avLst/>
          </a:prstGeom>
        </p:spPr>
      </p:pic>
      <p:pic>
        <p:nvPicPr>
          <p:cNvPr id="10" name="Picture 9">
            <a:extLst>
              <a:ext uri="{FF2B5EF4-FFF2-40B4-BE49-F238E27FC236}">
                <a16:creationId xmlns:a16="http://schemas.microsoft.com/office/drawing/2014/main" id="{6A9D861A-2C26-5406-E128-AB014450CBF6}"/>
              </a:ext>
            </a:extLst>
          </p:cNvPr>
          <p:cNvPicPr>
            <a:picLocks noChangeAspect="1"/>
          </p:cNvPicPr>
          <p:nvPr/>
        </p:nvPicPr>
        <p:blipFill>
          <a:blip r:embed="rId4"/>
          <a:stretch>
            <a:fillRect/>
          </a:stretch>
        </p:blipFill>
        <p:spPr>
          <a:xfrm>
            <a:off x="7649845" y="3150297"/>
            <a:ext cx="4423275" cy="2959523"/>
          </a:xfrm>
          <a:prstGeom prst="rect">
            <a:avLst/>
          </a:prstGeom>
        </p:spPr>
      </p:pic>
    </p:spTree>
    <p:extLst>
      <p:ext uri="{BB962C8B-B14F-4D97-AF65-F5344CB8AC3E}">
        <p14:creationId xmlns:p14="http://schemas.microsoft.com/office/powerpoint/2010/main" val="357222873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327D3-1D77-0F51-171C-649C1DB93F25}"/>
              </a:ext>
            </a:extLst>
          </p:cNvPr>
          <p:cNvSpPr>
            <a:spLocks noGrp="1"/>
          </p:cNvSpPr>
          <p:nvPr>
            <p:ph type="ctrTitle"/>
          </p:nvPr>
        </p:nvSpPr>
        <p:spPr>
          <a:xfrm>
            <a:off x="914400" y="457200"/>
            <a:ext cx="6634163" cy="457200"/>
          </a:xfrm>
        </p:spPr>
        <p:txBody>
          <a:bodyPr/>
          <a:lstStyle/>
          <a:p>
            <a:pPr algn="l"/>
            <a:r>
              <a:rPr lang="en-US"/>
              <a:t>161 - 4-Bit Binary Counter, Asynchronous Reset</a:t>
            </a:r>
          </a:p>
        </p:txBody>
      </p:sp>
      <p:sp>
        <p:nvSpPr>
          <p:cNvPr id="7" name="TextBox 6">
            <a:extLst>
              <a:ext uri="{FF2B5EF4-FFF2-40B4-BE49-F238E27FC236}">
                <a16:creationId xmlns:a16="http://schemas.microsoft.com/office/drawing/2014/main" id="{9D5DFE0C-AC23-1DC5-0FB9-8413A1F1868C}"/>
              </a:ext>
            </a:extLst>
          </p:cNvPr>
          <p:cNvSpPr txBox="1"/>
          <p:nvPr/>
        </p:nvSpPr>
        <p:spPr>
          <a:xfrm>
            <a:off x="494817" y="5130352"/>
            <a:ext cx="7595377" cy="738664"/>
          </a:xfrm>
          <a:prstGeom prst="rect">
            <a:avLst/>
          </a:prstGeom>
          <a:solidFill>
            <a:srgbClr val="FFFFCC"/>
          </a:solidFill>
        </p:spPr>
        <p:txBody>
          <a:bodyPr wrap="square" rtlCol="0">
            <a:spAutoFit/>
          </a:bodyPr>
          <a:lstStyle/>
          <a:p>
            <a:r>
              <a:rPr lang="en-US" sz="1400"/>
              <a:t>Notes:</a:t>
            </a:r>
          </a:p>
          <a:p>
            <a:pPr marL="171446" indent="-171446">
              <a:buFont typeface="Arial" panose="020B0604020202020204" pitchFamily="34" charset="0"/>
              <a:buChar char="•"/>
            </a:pPr>
            <a:r>
              <a:rPr lang="en-US" sz="1400"/>
              <a:t>Parallel Load need to happen on </a:t>
            </a:r>
            <a:r>
              <a:rPr lang="en-US" sz="1400" err="1"/>
              <a:t>invese</a:t>
            </a:r>
            <a:r>
              <a:rPr lang="en-US" sz="1400"/>
              <a:t> clock</a:t>
            </a:r>
          </a:p>
          <a:p>
            <a:pPr marL="171446" indent="-171446">
              <a:buFont typeface="Arial" panose="020B0604020202020204" pitchFamily="34" charset="0"/>
              <a:buChar char="•"/>
            </a:pPr>
            <a:r>
              <a:rPr lang="en-US" sz="1400"/>
              <a:t>Count need to happen on [TBD – need timing diagram of the PC Advance]</a:t>
            </a:r>
          </a:p>
        </p:txBody>
      </p:sp>
      <p:pic>
        <p:nvPicPr>
          <p:cNvPr id="11" name="Picture 10">
            <a:extLst>
              <a:ext uri="{FF2B5EF4-FFF2-40B4-BE49-F238E27FC236}">
                <a16:creationId xmlns:a16="http://schemas.microsoft.com/office/drawing/2014/main" id="{24F3505A-FF75-9E62-0CBF-B3F83DB427B4}"/>
              </a:ext>
            </a:extLst>
          </p:cNvPr>
          <p:cNvPicPr>
            <a:picLocks noChangeAspect="1"/>
          </p:cNvPicPr>
          <p:nvPr/>
        </p:nvPicPr>
        <p:blipFill>
          <a:blip r:embed="rId2"/>
          <a:stretch>
            <a:fillRect/>
          </a:stretch>
        </p:blipFill>
        <p:spPr>
          <a:xfrm>
            <a:off x="9312045" y="306180"/>
            <a:ext cx="2095683" cy="2568163"/>
          </a:xfrm>
          <a:prstGeom prst="rect">
            <a:avLst/>
          </a:prstGeom>
        </p:spPr>
      </p:pic>
      <p:pic>
        <p:nvPicPr>
          <p:cNvPr id="13" name="Picture 12">
            <a:extLst>
              <a:ext uri="{FF2B5EF4-FFF2-40B4-BE49-F238E27FC236}">
                <a16:creationId xmlns:a16="http://schemas.microsoft.com/office/drawing/2014/main" id="{8F564919-034A-D950-41CF-E7E36075337F}"/>
              </a:ext>
            </a:extLst>
          </p:cNvPr>
          <p:cNvPicPr>
            <a:picLocks noChangeAspect="1"/>
          </p:cNvPicPr>
          <p:nvPr/>
        </p:nvPicPr>
        <p:blipFill>
          <a:blip r:embed="rId3"/>
          <a:stretch>
            <a:fillRect/>
          </a:stretch>
        </p:blipFill>
        <p:spPr>
          <a:xfrm>
            <a:off x="694975" y="1472600"/>
            <a:ext cx="8058848" cy="2324301"/>
          </a:xfrm>
          <a:prstGeom prst="rect">
            <a:avLst/>
          </a:prstGeom>
        </p:spPr>
      </p:pic>
      <p:pic>
        <p:nvPicPr>
          <p:cNvPr id="9" name="Picture 8">
            <a:extLst>
              <a:ext uri="{FF2B5EF4-FFF2-40B4-BE49-F238E27FC236}">
                <a16:creationId xmlns:a16="http://schemas.microsoft.com/office/drawing/2014/main" id="{842D5F2E-CA71-977C-9678-6A1F386760C8}"/>
              </a:ext>
            </a:extLst>
          </p:cNvPr>
          <p:cNvPicPr>
            <a:picLocks noChangeAspect="1"/>
          </p:cNvPicPr>
          <p:nvPr/>
        </p:nvPicPr>
        <p:blipFill>
          <a:blip r:embed="rId4"/>
          <a:stretch>
            <a:fillRect/>
          </a:stretch>
        </p:blipFill>
        <p:spPr>
          <a:xfrm>
            <a:off x="8474818" y="3527274"/>
            <a:ext cx="3455969" cy="2484335"/>
          </a:xfrm>
          <a:prstGeom prst="rect">
            <a:avLst/>
          </a:prstGeom>
        </p:spPr>
      </p:pic>
    </p:spTree>
    <p:extLst>
      <p:ext uri="{BB962C8B-B14F-4D97-AF65-F5344CB8AC3E}">
        <p14:creationId xmlns:p14="http://schemas.microsoft.com/office/powerpoint/2010/main" val="180570579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327D3-1D77-0F51-171C-649C1DB93F25}"/>
              </a:ext>
            </a:extLst>
          </p:cNvPr>
          <p:cNvSpPr>
            <a:spLocks noGrp="1"/>
          </p:cNvSpPr>
          <p:nvPr>
            <p:ph type="ctrTitle"/>
          </p:nvPr>
        </p:nvSpPr>
        <p:spPr>
          <a:xfrm>
            <a:off x="914400" y="457200"/>
            <a:ext cx="6634163" cy="457200"/>
          </a:xfrm>
        </p:spPr>
        <p:txBody>
          <a:bodyPr/>
          <a:lstStyle/>
          <a:p>
            <a:pPr algn="l"/>
            <a:r>
              <a:rPr lang="en-US"/>
              <a:t>175 -  Quad D-Type Flip-Flop with Reset</a:t>
            </a:r>
          </a:p>
        </p:txBody>
      </p:sp>
      <p:pic>
        <p:nvPicPr>
          <p:cNvPr id="9" name="Picture 8">
            <a:extLst>
              <a:ext uri="{FF2B5EF4-FFF2-40B4-BE49-F238E27FC236}">
                <a16:creationId xmlns:a16="http://schemas.microsoft.com/office/drawing/2014/main" id="{DFD75CFD-FB26-F5E0-5BF8-481073090C0A}"/>
              </a:ext>
            </a:extLst>
          </p:cNvPr>
          <p:cNvPicPr>
            <a:picLocks noChangeAspect="1"/>
          </p:cNvPicPr>
          <p:nvPr/>
        </p:nvPicPr>
        <p:blipFill>
          <a:blip r:embed="rId2"/>
          <a:stretch>
            <a:fillRect/>
          </a:stretch>
        </p:blipFill>
        <p:spPr>
          <a:xfrm>
            <a:off x="1247545" y="2166845"/>
            <a:ext cx="5315411" cy="2133785"/>
          </a:xfrm>
          <a:prstGeom prst="rect">
            <a:avLst/>
          </a:prstGeom>
        </p:spPr>
      </p:pic>
      <p:pic>
        <p:nvPicPr>
          <p:cNvPr id="11" name="Picture 10">
            <a:extLst>
              <a:ext uri="{FF2B5EF4-FFF2-40B4-BE49-F238E27FC236}">
                <a16:creationId xmlns:a16="http://schemas.microsoft.com/office/drawing/2014/main" id="{DD077CAE-D29F-3AE5-02BF-011755A7710E}"/>
              </a:ext>
            </a:extLst>
          </p:cNvPr>
          <p:cNvPicPr>
            <a:picLocks noChangeAspect="1"/>
          </p:cNvPicPr>
          <p:nvPr/>
        </p:nvPicPr>
        <p:blipFill>
          <a:blip r:embed="rId3"/>
          <a:stretch>
            <a:fillRect/>
          </a:stretch>
        </p:blipFill>
        <p:spPr>
          <a:xfrm>
            <a:off x="7034086" y="2000115"/>
            <a:ext cx="4057777" cy="4294920"/>
          </a:xfrm>
          <a:prstGeom prst="rect">
            <a:avLst/>
          </a:prstGeom>
        </p:spPr>
      </p:pic>
      <p:pic>
        <p:nvPicPr>
          <p:cNvPr id="5" name="Picture 4">
            <a:extLst>
              <a:ext uri="{FF2B5EF4-FFF2-40B4-BE49-F238E27FC236}">
                <a16:creationId xmlns:a16="http://schemas.microsoft.com/office/drawing/2014/main" id="{8CC2B28E-621E-936E-4989-02CB618EA980}"/>
              </a:ext>
            </a:extLst>
          </p:cNvPr>
          <p:cNvPicPr>
            <a:picLocks noChangeAspect="1"/>
          </p:cNvPicPr>
          <p:nvPr/>
        </p:nvPicPr>
        <p:blipFill>
          <a:blip r:embed="rId4"/>
          <a:stretch>
            <a:fillRect/>
          </a:stretch>
        </p:blipFill>
        <p:spPr>
          <a:xfrm>
            <a:off x="9471346" y="284666"/>
            <a:ext cx="1948244" cy="2040325"/>
          </a:xfrm>
          <a:prstGeom prst="rect">
            <a:avLst/>
          </a:prstGeom>
        </p:spPr>
      </p:pic>
    </p:spTree>
    <p:extLst>
      <p:ext uri="{BB962C8B-B14F-4D97-AF65-F5344CB8AC3E}">
        <p14:creationId xmlns:p14="http://schemas.microsoft.com/office/powerpoint/2010/main" val="100863274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327D3-1D77-0F51-171C-649C1DB93F25}"/>
              </a:ext>
            </a:extLst>
          </p:cNvPr>
          <p:cNvSpPr>
            <a:spLocks noGrp="1"/>
          </p:cNvSpPr>
          <p:nvPr>
            <p:ph type="ctrTitle"/>
          </p:nvPr>
        </p:nvSpPr>
        <p:spPr>
          <a:xfrm>
            <a:off x="914400" y="457200"/>
            <a:ext cx="6634163" cy="457200"/>
          </a:xfrm>
        </p:spPr>
        <p:txBody>
          <a:bodyPr/>
          <a:lstStyle/>
          <a:p>
            <a:pPr algn="l"/>
            <a:r>
              <a:rPr lang="en-US"/>
              <a:t>245 -  Octal D-Type Flip-Flop with Reset</a:t>
            </a:r>
          </a:p>
        </p:txBody>
      </p:sp>
      <p:pic>
        <p:nvPicPr>
          <p:cNvPr id="5" name="Picture 4">
            <a:extLst>
              <a:ext uri="{FF2B5EF4-FFF2-40B4-BE49-F238E27FC236}">
                <a16:creationId xmlns:a16="http://schemas.microsoft.com/office/drawing/2014/main" id="{730F269C-0E84-C830-638F-23927AE0D8B0}"/>
              </a:ext>
            </a:extLst>
          </p:cNvPr>
          <p:cNvPicPr>
            <a:picLocks noChangeAspect="1"/>
          </p:cNvPicPr>
          <p:nvPr/>
        </p:nvPicPr>
        <p:blipFill>
          <a:blip r:embed="rId2"/>
          <a:stretch>
            <a:fillRect/>
          </a:stretch>
        </p:blipFill>
        <p:spPr>
          <a:xfrm>
            <a:off x="8948739" y="1"/>
            <a:ext cx="2704168" cy="2756507"/>
          </a:xfrm>
          <a:prstGeom prst="rect">
            <a:avLst/>
          </a:prstGeom>
        </p:spPr>
      </p:pic>
      <p:pic>
        <p:nvPicPr>
          <p:cNvPr id="11" name="Picture 10">
            <a:extLst>
              <a:ext uri="{FF2B5EF4-FFF2-40B4-BE49-F238E27FC236}">
                <a16:creationId xmlns:a16="http://schemas.microsoft.com/office/drawing/2014/main" id="{81692492-51A3-4203-B084-F7DEE41CBF6B}"/>
              </a:ext>
            </a:extLst>
          </p:cNvPr>
          <p:cNvPicPr>
            <a:picLocks noChangeAspect="1"/>
          </p:cNvPicPr>
          <p:nvPr/>
        </p:nvPicPr>
        <p:blipFill>
          <a:blip r:embed="rId3"/>
          <a:stretch>
            <a:fillRect/>
          </a:stretch>
        </p:blipFill>
        <p:spPr>
          <a:xfrm>
            <a:off x="7079884" y="3024074"/>
            <a:ext cx="4974189" cy="3100503"/>
          </a:xfrm>
          <a:prstGeom prst="rect">
            <a:avLst/>
          </a:prstGeom>
        </p:spPr>
      </p:pic>
      <p:pic>
        <p:nvPicPr>
          <p:cNvPr id="8" name="Picture 7">
            <a:extLst>
              <a:ext uri="{FF2B5EF4-FFF2-40B4-BE49-F238E27FC236}">
                <a16:creationId xmlns:a16="http://schemas.microsoft.com/office/drawing/2014/main" id="{2ED886E1-F276-982A-CE33-8B2F47AECEB7}"/>
              </a:ext>
            </a:extLst>
          </p:cNvPr>
          <p:cNvPicPr>
            <a:picLocks noChangeAspect="1"/>
          </p:cNvPicPr>
          <p:nvPr/>
        </p:nvPicPr>
        <p:blipFill>
          <a:blip r:embed="rId4"/>
          <a:srcRect r="8522"/>
          <a:stretch/>
        </p:blipFill>
        <p:spPr>
          <a:xfrm>
            <a:off x="1132107" y="1459385"/>
            <a:ext cx="6535519" cy="2714747"/>
          </a:xfrm>
          <a:prstGeom prst="rect">
            <a:avLst/>
          </a:prstGeom>
        </p:spPr>
      </p:pic>
      <p:sp>
        <p:nvSpPr>
          <p:cNvPr id="12" name="Rectangle 11">
            <a:extLst>
              <a:ext uri="{FF2B5EF4-FFF2-40B4-BE49-F238E27FC236}">
                <a16:creationId xmlns:a16="http://schemas.microsoft.com/office/drawing/2014/main" id="{06029BB8-EF87-9A75-6DEA-95CD9635257E}"/>
              </a:ext>
            </a:extLst>
          </p:cNvPr>
          <p:cNvSpPr/>
          <p:nvPr/>
        </p:nvSpPr>
        <p:spPr>
          <a:xfrm>
            <a:off x="11410951" y="1971676"/>
            <a:ext cx="523875" cy="3905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255929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327D3-1D77-0F51-171C-649C1DB93F25}"/>
              </a:ext>
            </a:extLst>
          </p:cNvPr>
          <p:cNvSpPr>
            <a:spLocks noGrp="1"/>
          </p:cNvSpPr>
          <p:nvPr>
            <p:ph type="ctrTitle"/>
          </p:nvPr>
        </p:nvSpPr>
        <p:spPr>
          <a:xfrm>
            <a:off x="914400" y="457200"/>
            <a:ext cx="6634163" cy="457200"/>
          </a:xfrm>
        </p:spPr>
        <p:txBody>
          <a:bodyPr/>
          <a:lstStyle/>
          <a:p>
            <a:pPr algn="l"/>
            <a:r>
              <a:rPr lang="en-US"/>
              <a:t>273 -  Octal D-Type Flip-Flop with Reset</a:t>
            </a:r>
          </a:p>
        </p:txBody>
      </p:sp>
      <p:pic>
        <p:nvPicPr>
          <p:cNvPr id="4" name="Picture 3">
            <a:extLst>
              <a:ext uri="{FF2B5EF4-FFF2-40B4-BE49-F238E27FC236}">
                <a16:creationId xmlns:a16="http://schemas.microsoft.com/office/drawing/2014/main" id="{5F5C2337-CF2E-6F43-08A1-7FBE0B637BE0}"/>
              </a:ext>
            </a:extLst>
          </p:cNvPr>
          <p:cNvPicPr>
            <a:picLocks noChangeAspect="1"/>
          </p:cNvPicPr>
          <p:nvPr/>
        </p:nvPicPr>
        <p:blipFill>
          <a:blip r:embed="rId2"/>
          <a:stretch>
            <a:fillRect/>
          </a:stretch>
        </p:blipFill>
        <p:spPr>
          <a:xfrm>
            <a:off x="9655350" y="277390"/>
            <a:ext cx="2343353" cy="1790855"/>
          </a:xfrm>
          <a:prstGeom prst="rect">
            <a:avLst/>
          </a:prstGeom>
        </p:spPr>
      </p:pic>
      <p:pic>
        <p:nvPicPr>
          <p:cNvPr id="7" name="Picture 6">
            <a:extLst>
              <a:ext uri="{FF2B5EF4-FFF2-40B4-BE49-F238E27FC236}">
                <a16:creationId xmlns:a16="http://schemas.microsoft.com/office/drawing/2014/main" id="{90D7C341-2EFD-7EAA-338F-C7F944060CF4}"/>
              </a:ext>
            </a:extLst>
          </p:cNvPr>
          <p:cNvPicPr>
            <a:picLocks noChangeAspect="1"/>
          </p:cNvPicPr>
          <p:nvPr/>
        </p:nvPicPr>
        <p:blipFill>
          <a:blip r:embed="rId3"/>
          <a:stretch>
            <a:fillRect/>
          </a:stretch>
        </p:blipFill>
        <p:spPr>
          <a:xfrm>
            <a:off x="1780787" y="2524046"/>
            <a:ext cx="5119708" cy="2520063"/>
          </a:xfrm>
          <a:prstGeom prst="rect">
            <a:avLst/>
          </a:prstGeom>
        </p:spPr>
      </p:pic>
      <p:pic>
        <p:nvPicPr>
          <p:cNvPr id="10" name="Picture 9">
            <a:extLst>
              <a:ext uri="{FF2B5EF4-FFF2-40B4-BE49-F238E27FC236}">
                <a16:creationId xmlns:a16="http://schemas.microsoft.com/office/drawing/2014/main" id="{6A221080-A18D-F89C-F148-51272DE5D866}"/>
              </a:ext>
            </a:extLst>
          </p:cNvPr>
          <p:cNvPicPr>
            <a:picLocks noChangeAspect="1"/>
          </p:cNvPicPr>
          <p:nvPr/>
        </p:nvPicPr>
        <p:blipFill>
          <a:blip r:embed="rId4"/>
          <a:stretch>
            <a:fillRect/>
          </a:stretch>
        </p:blipFill>
        <p:spPr>
          <a:xfrm>
            <a:off x="8051834" y="2524047"/>
            <a:ext cx="3810289" cy="3240245"/>
          </a:xfrm>
          <a:prstGeom prst="rect">
            <a:avLst/>
          </a:prstGeom>
        </p:spPr>
      </p:pic>
    </p:spTree>
    <p:extLst>
      <p:ext uri="{BB962C8B-B14F-4D97-AF65-F5344CB8AC3E}">
        <p14:creationId xmlns:p14="http://schemas.microsoft.com/office/powerpoint/2010/main" val="110152952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327D3-1D77-0F51-171C-649C1DB93F25}"/>
              </a:ext>
            </a:extLst>
          </p:cNvPr>
          <p:cNvSpPr>
            <a:spLocks noGrp="1"/>
          </p:cNvSpPr>
          <p:nvPr>
            <p:ph type="ctrTitle"/>
          </p:nvPr>
        </p:nvSpPr>
        <p:spPr>
          <a:xfrm>
            <a:off x="914400" y="457200"/>
            <a:ext cx="6634163" cy="457200"/>
          </a:xfrm>
        </p:spPr>
        <p:txBody>
          <a:bodyPr/>
          <a:lstStyle/>
          <a:p>
            <a:pPr algn="l"/>
            <a:r>
              <a:rPr lang="en-US"/>
              <a:t>547 -  Octal 3−State Noninverting D Flip−Flop</a:t>
            </a:r>
          </a:p>
        </p:txBody>
      </p:sp>
      <p:pic>
        <p:nvPicPr>
          <p:cNvPr id="5" name="Picture 4">
            <a:extLst>
              <a:ext uri="{FF2B5EF4-FFF2-40B4-BE49-F238E27FC236}">
                <a16:creationId xmlns:a16="http://schemas.microsoft.com/office/drawing/2014/main" id="{AAE5EF0B-AD20-7AC9-5818-F753A0255166}"/>
              </a:ext>
            </a:extLst>
          </p:cNvPr>
          <p:cNvPicPr>
            <a:picLocks noChangeAspect="1"/>
          </p:cNvPicPr>
          <p:nvPr/>
        </p:nvPicPr>
        <p:blipFill>
          <a:blip r:embed="rId2"/>
          <a:stretch>
            <a:fillRect/>
          </a:stretch>
        </p:blipFill>
        <p:spPr>
          <a:xfrm>
            <a:off x="9222377" y="267123"/>
            <a:ext cx="2415131" cy="2177771"/>
          </a:xfrm>
          <a:prstGeom prst="rect">
            <a:avLst/>
          </a:prstGeom>
        </p:spPr>
      </p:pic>
      <p:pic>
        <p:nvPicPr>
          <p:cNvPr id="8" name="Picture 7">
            <a:extLst>
              <a:ext uri="{FF2B5EF4-FFF2-40B4-BE49-F238E27FC236}">
                <a16:creationId xmlns:a16="http://schemas.microsoft.com/office/drawing/2014/main" id="{EEC3CA70-A5AB-E768-1A7D-A72DE20CE7D1}"/>
              </a:ext>
            </a:extLst>
          </p:cNvPr>
          <p:cNvPicPr>
            <a:picLocks noChangeAspect="1"/>
          </p:cNvPicPr>
          <p:nvPr/>
        </p:nvPicPr>
        <p:blipFill>
          <a:blip r:embed="rId3"/>
          <a:stretch>
            <a:fillRect/>
          </a:stretch>
        </p:blipFill>
        <p:spPr>
          <a:xfrm>
            <a:off x="7196878" y="2939021"/>
            <a:ext cx="4930567" cy="2834887"/>
          </a:xfrm>
          <a:prstGeom prst="rect">
            <a:avLst/>
          </a:prstGeom>
        </p:spPr>
      </p:pic>
      <p:pic>
        <p:nvPicPr>
          <p:cNvPr id="11" name="Picture 10">
            <a:extLst>
              <a:ext uri="{FF2B5EF4-FFF2-40B4-BE49-F238E27FC236}">
                <a16:creationId xmlns:a16="http://schemas.microsoft.com/office/drawing/2014/main" id="{1F6E27BE-A8A0-308D-9F3B-0B9ACDE23A8D}"/>
              </a:ext>
            </a:extLst>
          </p:cNvPr>
          <p:cNvPicPr>
            <a:picLocks noChangeAspect="1"/>
          </p:cNvPicPr>
          <p:nvPr/>
        </p:nvPicPr>
        <p:blipFill>
          <a:blip r:embed="rId4"/>
          <a:stretch>
            <a:fillRect/>
          </a:stretch>
        </p:blipFill>
        <p:spPr>
          <a:xfrm>
            <a:off x="1425168" y="2015997"/>
            <a:ext cx="4534533" cy="2486372"/>
          </a:xfrm>
          <a:prstGeom prst="rect">
            <a:avLst/>
          </a:prstGeom>
        </p:spPr>
      </p:pic>
    </p:spTree>
    <p:extLst>
      <p:ext uri="{BB962C8B-B14F-4D97-AF65-F5344CB8AC3E}">
        <p14:creationId xmlns:p14="http://schemas.microsoft.com/office/powerpoint/2010/main" val="299805021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2CBD8-ACF3-FAB1-3306-4292E613E775}"/>
              </a:ext>
            </a:extLst>
          </p:cNvPr>
          <p:cNvSpPr>
            <a:spLocks noGrp="1"/>
          </p:cNvSpPr>
          <p:nvPr>
            <p:ph type="ctrTitle"/>
          </p:nvPr>
        </p:nvSpPr>
        <p:spPr>
          <a:xfrm>
            <a:off x="2735317" y="2286001"/>
            <a:ext cx="7118131" cy="1363719"/>
          </a:xfrm>
        </p:spPr>
        <p:txBody>
          <a:bodyPr anchor="ctr"/>
          <a:lstStyle/>
          <a:p>
            <a:r>
              <a:rPr lang="en-US" sz="4000"/>
              <a:t>ByteFrost V1.0 – First Working Version</a:t>
            </a:r>
          </a:p>
        </p:txBody>
      </p:sp>
    </p:spTree>
    <p:extLst>
      <p:ext uri="{BB962C8B-B14F-4D97-AF65-F5344CB8AC3E}">
        <p14:creationId xmlns:p14="http://schemas.microsoft.com/office/powerpoint/2010/main" val="339322983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F39B48-29EE-1F5B-E939-B97D8D2AC39B}"/>
              </a:ext>
            </a:extLst>
          </p:cNvPr>
          <p:cNvSpPr/>
          <p:nvPr/>
        </p:nvSpPr>
        <p:spPr>
          <a:xfrm>
            <a:off x="6733529" y="3810593"/>
            <a:ext cx="251559" cy="3333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11EDC036-9A87-2495-D155-40666FC665C1}"/>
              </a:ext>
            </a:extLst>
          </p:cNvPr>
          <p:cNvSpPr/>
          <p:nvPr/>
        </p:nvSpPr>
        <p:spPr>
          <a:xfrm>
            <a:off x="4346738" y="1659747"/>
            <a:ext cx="91959" cy="1422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DC328BC-B665-C685-8034-B1160A4A8014}"/>
              </a:ext>
            </a:extLst>
          </p:cNvPr>
          <p:cNvSpPr/>
          <p:nvPr/>
        </p:nvSpPr>
        <p:spPr>
          <a:xfrm>
            <a:off x="5588991" y="3810592"/>
            <a:ext cx="1891247" cy="10401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Program</a:t>
            </a:r>
          </a:p>
          <a:p>
            <a:pPr algn="ctr"/>
            <a:r>
              <a:rPr lang="en-US"/>
              <a:t>(EEPROM)</a:t>
            </a:r>
          </a:p>
        </p:txBody>
      </p:sp>
      <p:sp>
        <p:nvSpPr>
          <p:cNvPr id="6" name="Rectangle 5">
            <a:extLst>
              <a:ext uri="{FF2B5EF4-FFF2-40B4-BE49-F238E27FC236}">
                <a16:creationId xmlns:a16="http://schemas.microsoft.com/office/drawing/2014/main" id="{1C783F31-A6A4-1FCD-4779-F9E70A19AD18}"/>
              </a:ext>
            </a:extLst>
          </p:cNvPr>
          <p:cNvSpPr/>
          <p:nvPr/>
        </p:nvSpPr>
        <p:spPr>
          <a:xfrm>
            <a:off x="5588991" y="1632304"/>
            <a:ext cx="1891247" cy="10401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Program</a:t>
            </a:r>
          </a:p>
          <a:p>
            <a:pPr algn="ctr"/>
            <a:r>
              <a:rPr lang="en-US"/>
              <a:t>Counter</a:t>
            </a:r>
          </a:p>
        </p:txBody>
      </p:sp>
      <p:sp>
        <p:nvSpPr>
          <p:cNvPr id="7" name="Arrow: Down 6">
            <a:extLst>
              <a:ext uri="{FF2B5EF4-FFF2-40B4-BE49-F238E27FC236}">
                <a16:creationId xmlns:a16="http://schemas.microsoft.com/office/drawing/2014/main" id="{A996F736-0F0F-2F4F-9BF4-E92BC1AD545D}"/>
              </a:ext>
            </a:extLst>
          </p:cNvPr>
          <p:cNvSpPr/>
          <p:nvPr/>
        </p:nvSpPr>
        <p:spPr>
          <a:xfrm>
            <a:off x="6369578" y="2827949"/>
            <a:ext cx="330076" cy="914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88FF5B0-3807-6403-93A8-72BA5C1985FA}"/>
              </a:ext>
            </a:extLst>
          </p:cNvPr>
          <p:cNvSpPr txBox="1"/>
          <p:nvPr/>
        </p:nvSpPr>
        <p:spPr>
          <a:xfrm>
            <a:off x="6067886" y="3746809"/>
            <a:ext cx="933461" cy="369332"/>
          </a:xfrm>
          <a:prstGeom prst="rect">
            <a:avLst/>
          </a:prstGeom>
          <a:noFill/>
          <a:ln>
            <a:solidFill>
              <a:schemeClr val="bg1"/>
            </a:solidFill>
          </a:ln>
        </p:spPr>
        <p:txBody>
          <a:bodyPr wrap="none" rtlCol="0">
            <a:spAutoFit/>
          </a:bodyPr>
          <a:lstStyle/>
          <a:p>
            <a:r>
              <a:rPr lang="en-US">
                <a:solidFill>
                  <a:schemeClr val="bg1"/>
                </a:solidFill>
              </a:rPr>
              <a:t>Address</a:t>
            </a:r>
          </a:p>
        </p:txBody>
      </p:sp>
      <p:sp>
        <p:nvSpPr>
          <p:cNvPr id="10" name="TextBox 9">
            <a:extLst>
              <a:ext uri="{FF2B5EF4-FFF2-40B4-BE49-F238E27FC236}">
                <a16:creationId xmlns:a16="http://schemas.microsoft.com/office/drawing/2014/main" id="{0733B354-4A1D-7764-04FD-D962B608D79B}"/>
              </a:ext>
            </a:extLst>
          </p:cNvPr>
          <p:cNvSpPr txBox="1"/>
          <p:nvPr/>
        </p:nvSpPr>
        <p:spPr>
          <a:xfrm rot="5400000">
            <a:off x="5399568" y="4247122"/>
            <a:ext cx="620554" cy="369332"/>
          </a:xfrm>
          <a:prstGeom prst="rect">
            <a:avLst/>
          </a:prstGeom>
          <a:noFill/>
          <a:ln>
            <a:solidFill>
              <a:schemeClr val="bg1"/>
            </a:solidFill>
          </a:ln>
        </p:spPr>
        <p:txBody>
          <a:bodyPr wrap="none" rtlCol="0">
            <a:spAutoFit/>
          </a:bodyPr>
          <a:lstStyle/>
          <a:p>
            <a:r>
              <a:rPr lang="en-US">
                <a:solidFill>
                  <a:schemeClr val="bg1"/>
                </a:solidFill>
              </a:rPr>
              <a:t>Data</a:t>
            </a:r>
          </a:p>
        </p:txBody>
      </p:sp>
      <p:sp>
        <p:nvSpPr>
          <p:cNvPr id="12" name="Arrow: Down 11">
            <a:extLst>
              <a:ext uri="{FF2B5EF4-FFF2-40B4-BE49-F238E27FC236}">
                <a16:creationId xmlns:a16="http://schemas.microsoft.com/office/drawing/2014/main" id="{BEEBE754-6270-3467-C3B9-B894EC8E1F65}"/>
              </a:ext>
            </a:extLst>
          </p:cNvPr>
          <p:cNvSpPr/>
          <p:nvPr/>
        </p:nvSpPr>
        <p:spPr>
          <a:xfrm rot="5400000">
            <a:off x="4960149" y="4049588"/>
            <a:ext cx="330076" cy="6603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37C1DA-A2EE-6398-6850-618E481DEAA9}"/>
              </a:ext>
            </a:extLst>
          </p:cNvPr>
          <p:cNvSpPr/>
          <p:nvPr/>
        </p:nvSpPr>
        <p:spPr>
          <a:xfrm>
            <a:off x="3707123" y="3839583"/>
            <a:ext cx="1005840" cy="10401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600"/>
              <a:t>Instruction Register</a:t>
            </a:r>
          </a:p>
          <a:p>
            <a:pPr algn="ctr"/>
            <a:r>
              <a:rPr lang="en-US" sz="1600"/>
              <a:t>Low</a:t>
            </a:r>
          </a:p>
        </p:txBody>
      </p:sp>
      <p:sp>
        <p:nvSpPr>
          <p:cNvPr id="16" name="Rectangle 15">
            <a:extLst>
              <a:ext uri="{FF2B5EF4-FFF2-40B4-BE49-F238E27FC236}">
                <a16:creationId xmlns:a16="http://schemas.microsoft.com/office/drawing/2014/main" id="{8CB5593C-A7F7-5209-76B3-8D3919762C82}"/>
              </a:ext>
            </a:extLst>
          </p:cNvPr>
          <p:cNvSpPr/>
          <p:nvPr/>
        </p:nvSpPr>
        <p:spPr>
          <a:xfrm>
            <a:off x="2585890" y="1632304"/>
            <a:ext cx="1891247" cy="10401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Micro Ins</a:t>
            </a:r>
          </a:p>
          <a:p>
            <a:pPr algn="ctr"/>
            <a:r>
              <a:rPr lang="en-US"/>
              <a:t>(EEPROM)</a:t>
            </a:r>
          </a:p>
        </p:txBody>
      </p:sp>
      <p:sp>
        <p:nvSpPr>
          <p:cNvPr id="18" name="Arrow: Down 17">
            <a:extLst>
              <a:ext uri="{FF2B5EF4-FFF2-40B4-BE49-F238E27FC236}">
                <a16:creationId xmlns:a16="http://schemas.microsoft.com/office/drawing/2014/main" id="{719F60E6-B6C3-4E2E-06AD-B1C6A15EAD78}"/>
              </a:ext>
            </a:extLst>
          </p:cNvPr>
          <p:cNvSpPr/>
          <p:nvPr/>
        </p:nvSpPr>
        <p:spPr>
          <a:xfrm rot="10800000">
            <a:off x="3861779" y="2802100"/>
            <a:ext cx="330076" cy="914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en-US" sz="1200"/>
              <a:t>Opcode</a:t>
            </a:r>
          </a:p>
        </p:txBody>
      </p:sp>
      <p:sp>
        <p:nvSpPr>
          <p:cNvPr id="20" name="Rectangle 19">
            <a:extLst>
              <a:ext uri="{FF2B5EF4-FFF2-40B4-BE49-F238E27FC236}">
                <a16:creationId xmlns:a16="http://schemas.microsoft.com/office/drawing/2014/main" id="{45B7BD2E-38C4-9B74-0494-33F57B373538}"/>
              </a:ext>
            </a:extLst>
          </p:cNvPr>
          <p:cNvSpPr/>
          <p:nvPr/>
        </p:nvSpPr>
        <p:spPr>
          <a:xfrm>
            <a:off x="308214" y="1901835"/>
            <a:ext cx="1891247" cy="501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Micro Ins</a:t>
            </a:r>
          </a:p>
          <a:p>
            <a:pPr algn="ctr"/>
            <a:r>
              <a:rPr lang="en-US"/>
              <a:t>Counter</a:t>
            </a:r>
          </a:p>
        </p:txBody>
      </p:sp>
      <p:sp>
        <p:nvSpPr>
          <p:cNvPr id="22" name="TextBox 21">
            <a:extLst>
              <a:ext uri="{FF2B5EF4-FFF2-40B4-BE49-F238E27FC236}">
                <a16:creationId xmlns:a16="http://schemas.microsoft.com/office/drawing/2014/main" id="{C7EB7C95-1A62-8EC4-5BDF-28C91F76177E}"/>
              </a:ext>
            </a:extLst>
          </p:cNvPr>
          <p:cNvSpPr txBox="1"/>
          <p:nvPr/>
        </p:nvSpPr>
        <p:spPr>
          <a:xfrm>
            <a:off x="3031039" y="2415008"/>
            <a:ext cx="1183529" cy="369332"/>
          </a:xfrm>
          <a:prstGeom prst="rect">
            <a:avLst/>
          </a:prstGeom>
          <a:noFill/>
          <a:ln>
            <a:solidFill>
              <a:schemeClr val="bg1"/>
            </a:solidFill>
          </a:ln>
        </p:spPr>
        <p:txBody>
          <a:bodyPr wrap="none" rtlCol="0">
            <a:spAutoFit/>
          </a:bodyPr>
          <a:lstStyle/>
          <a:p>
            <a:r>
              <a:rPr lang="en-US">
                <a:solidFill>
                  <a:schemeClr val="bg1"/>
                </a:solidFill>
              </a:rPr>
              <a:t>Address Hi</a:t>
            </a:r>
          </a:p>
        </p:txBody>
      </p:sp>
      <p:sp>
        <p:nvSpPr>
          <p:cNvPr id="24" name="TextBox 23">
            <a:extLst>
              <a:ext uri="{FF2B5EF4-FFF2-40B4-BE49-F238E27FC236}">
                <a16:creationId xmlns:a16="http://schemas.microsoft.com/office/drawing/2014/main" id="{D65B24A9-ACF6-F3D5-3682-DABD07431DC6}"/>
              </a:ext>
            </a:extLst>
          </p:cNvPr>
          <p:cNvSpPr txBox="1"/>
          <p:nvPr/>
        </p:nvSpPr>
        <p:spPr>
          <a:xfrm rot="5400000">
            <a:off x="2106176" y="1987558"/>
            <a:ext cx="1205971" cy="369332"/>
          </a:xfrm>
          <a:prstGeom prst="rect">
            <a:avLst/>
          </a:prstGeom>
          <a:noFill/>
          <a:ln>
            <a:solidFill>
              <a:schemeClr val="bg1"/>
            </a:solidFill>
          </a:ln>
        </p:spPr>
        <p:txBody>
          <a:bodyPr wrap="none" rtlCol="0">
            <a:spAutoFit/>
          </a:bodyPr>
          <a:lstStyle/>
          <a:p>
            <a:r>
              <a:rPr lang="en-US">
                <a:solidFill>
                  <a:schemeClr val="bg1"/>
                </a:solidFill>
              </a:rPr>
              <a:t>Address Lo</a:t>
            </a:r>
          </a:p>
        </p:txBody>
      </p:sp>
      <p:sp>
        <p:nvSpPr>
          <p:cNvPr id="28" name="Arrow: Down 27">
            <a:extLst>
              <a:ext uri="{FF2B5EF4-FFF2-40B4-BE49-F238E27FC236}">
                <a16:creationId xmlns:a16="http://schemas.microsoft.com/office/drawing/2014/main" id="{48FA4933-3A29-A47E-9928-53175D586960}"/>
              </a:ext>
            </a:extLst>
          </p:cNvPr>
          <p:cNvSpPr/>
          <p:nvPr/>
        </p:nvSpPr>
        <p:spPr>
          <a:xfrm rot="16200000">
            <a:off x="2237114" y="2020634"/>
            <a:ext cx="330076" cy="26352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Arrow Connector 31">
            <a:extLst>
              <a:ext uri="{FF2B5EF4-FFF2-40B4-BE49-F238E27FC236}">
                <a16:creationId xmlns:a16="http://schemas.microsoft.com/office/drawing/2014/main" id="{5EF04B87-63F5-AD77-569A-6EA589374B65}"/>
              </a:ext>
            </a:extLst>
          </p:cNvPr>
          <p:cNvCxnSpPr>
            <a:cxnSpLocks/>
          </p:cNvCxnSpPr>
          <p:nvPr/>
        </p:nvCxnSpPr>
        <p:spPr>
          <a:xfrm flipV="1">
            <a:off x="3504755" y="1236597"/>
            <a:ext cx="0" cy="3957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266D7D15-BC3F-F71A-3FB6-472E53DB9E85}"/>
              </a:ext>
            </a:extLst>
          </p:cNvPr>
          <p:cNvSpPr txBox="1"/>
          <p:nvPr/>
        </p:nvSpPr>
        <p:spPr>
          <a:xfrm>
            <a:off x="3405901" y="1541987"/>
            <a:ext cx="1032795" cy="369332"/>
          </a:xfrm>
          <a:prstGeom prst="rect">
            <a:avLst/>
          </a:prstGeom>
          <a:noFill/>
          <a:ln>
            <a:solidFill>
              <a:schemeClr val="bg1"/>
            </a:solidFill>
          </a:ln>
        </p:spPr>
        <p:txBody>
          <a:bodyPr wrap="square" rtlCol="0">
            <a:spAutoFit/>
          </a:bodyPr>
          <a:lstStyle/>
          <a:p>
            <a:r>
              <a:rPr lang="en-US">
                <a:solidFill>
                  <a:schemeClr val="bg1"/>
                </a:solidFill>
              </a:rPr>
              <a:t>Data</a:t>
            </a:r>
          </a:p>
        </p:txBody>
      </p:sp>
      <p:cxnSp>
        <p:nvCxnSpPr>
          <p:cNvPr id="36" name="Straight Arrow Connector 35">
            <a:extLst>
              <a:ext uri="{FF2B5EF4-FFF2-40B4-BE49-F238E27FC236}">
                <a16:creationId xmlns:a16="http://schemas.microsoft.com/office/drawing/2014/main" id="{F40E4A6C-CE03-4449-02F6-BB417CC45114}"/>
              </a:ext>
            </a:extLst>
          </p:cNvPr>
          <p:cNvCxnSpPr>
            <a:cxnSpLocks/>
          </p:cNvCxnSpPr>
          <p:nvPr/>
        </p:nvCxnSpPr>
        <p:spPr>
          <a:xfrm flipV="1">
            <a:off x="3657155" y="1236597"/>
            <a:ext cx="0" cy="3957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E32D9DBE-6FEA-99A5-6B5D-CBBD27C0D61F}"/>
              </a:ext>
            </a:extLst>
          </p:cNvPr>
          <p:cNvCxnSpPr>
            <a:cxnSpLocks/>
          </p:cNvCxnSpPr>
          <p:nvPr/>
        </p:nvCxnSpPr>
        <p:spPr>
          <a:xfrm flipV="1">
            <a:off x="3809555" y="1236597"/>
            <a:ext cx="0" cy="3957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98C31ECD-858E-DA4C-7F81-0DDDD9D0B854}"/>
              </a:ext>
            </a:extLst>
          </p:cNvPr>
          <p:cNvCxnSpPr>
            <a:cxnSpLocks/>
          </p:cNvCxnSpPr>
          <p:nvPr/>
        </p:nvCxnSpPr>
        <p:spPr>
          <a:xfrm flipV="1">
            <a:off x="3961955" y="1236597"/>
            <a:ext cx="0" cy="3957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C380E10B-73E3-EBF5-899F-73D72851C714}"/>
              </a:ext>
            </a:extLst>
          </p:cNvPr>
          <p:cNvCxnSpPr>
            <a:cxnSpLocks/>
          </p:cNvCxnSpPr>
          <p:nvPr/>
        </p:nvCxnSpPr>
        <p:spPr>
          <a:xfrm flipV="1">
            <a:off x="4114355" y="1236597"/>
            <a:ext cx="0" cy="3957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7C00EECD-AFFD-99E4-A2AB-943152CCDF34}"/>
              </a:ext>
            </a:extLst>
          </p:cNvPr>
          <p:cNvCxnSpPr>
            <a:cxnSpLocks/>
          </p:cNvCxnSpPr>
          <p:nvPr/>
        </p:nvCxnSpPr>
        <p:spPr>
          <a:xfrm flipV="1">
            <a:off x="4266755" y="1236597"/>
            <a:ext cx="0" cy="3957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CFEF3927-DAA7-94A0-A573-EEC33E874050}"/>
              </a:ext>
            </a:extLst>
          </p:cNvPr>
          <p:cNvCxnSpPr>
            <a:cxnSpLocks/>
            <a:stCxn id="41" idx="0"/>
            <a:endCxn id="6" idx="1"/>
          </p:cNvCxnSpPr>
          <p:nvPr/>
        </p:nvCxnSpPr>
        <p:spPr>
          <a:xfrm rot="16200000" flipH="1">
            <a:off x="4744528" y="1307935"/>
            <a:ext cx="492651" cy="1196275"/>
          </a:xfrm>
          <a:prstGeom prst="bentConnector4">
            <a:avLst>
              <a:gd name="adj1" fmla="val -46402"/>
              <a:gd name="adj2" fmla="val 51922"/>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CC2B8A72-DE22-E96D-751A-032A4890BABE}"/>
              </a:ext>
            </a:extLst>
          </p:cNvPr>
          <p:cNvSpPr txBox="1"/>
          <p:nvPr/>
        </p:nvSpPr>
        <p:spPr>
          <a:xfrm>
            <a:off x="4673996" y="2145103"/>
            <a:ext cx="914994" cy="276999"/>
          </a:xfrm>
          <a:prstGeom prst="rect">
            <a:avLst/>
          </a:prstGeom>
          <a:noFill/>
        </p:spPr>
        <p:txBody>
          <a:bodyPr wrap="none" rtlCol="0">
            <a:spAutoFit/>
          </a:bodyPr>
          <a:lstStyle/>
          <a:p>
            <a:r>
              <a:rPr lang="en-US" sz="1200"/>
              <a:t>PC Advance</a:t>
            </a:r>
          </a:p>
        </p:txBody>
      </p:sp>
      <p:pic>
        <p:nvPicPr>
          <p:cNvPr id="50" name="Picture 49">
            <a:hlinkClick r:id="rId3" action="ppaction://hlinksldjump"/>
            <a:extLst>
              <a:ext uri="{FF2B5EF4-FFF2-40B4-BE49-F238E27FC236}">
                <a16:creationId xmlns:a16="http://schemas.microsoft.com/office/drawing/2014/main" id="{C9475374-5CB6-5EF6-42B7-2FE1E5786411}"/>
              </a:ext>
            </a:extLst>
          </p:cNvPr>
          <p:cNvPicPr>
            <a:picLocks noChangeAspect="1"/>
          </p:cNvPicPr>
          <p:nvPr/>
        </p:nvPicPr>
        <p:blipFill>
          <a:blip r:embed="rId4"/>
          <a:stretch>
            <a:fillRect/>
          </a:stretch>
        </p:blipFill>
        <p:spPr>
          <a:xfrm>
            <a:off x="11038384" y="6427540"/>
            <a:ext cx="1076851" cy="222744"/>
          </a:xfrm>
          <a:prstGeom prst="rect">
            <a:avLst/>
          </a:prstGeom>
        </p:spPr>
      </p:pic>
      <p:sp>
        <p:nvSpPr>
          <p:cNvPr id="9" name="Title 8">
            <a:extLst>
              <a:ext uri="{FF2B5EF4-FFF2-40B4-BE49-F238E27FC236}">
                <a16:creationId xmlns:a16="http://schemas.microsoft.com/office/drawing/2014/main" id="{B2A47C82-9A81-696C-0DA6-55858BDD2CF2}"/>
              </a:ext>
            </a:extLst>
          </p:cNvPr>
          <p:cNvSpPr>
            <a:spLocks noGrp="1"/>
          </p:cNvSpPr>
          <p:nvPr>
            <p:ph type="ctrTitle"/>
          </p:nvPr>
        </p:nvSpPr>
        <p:spPr/>
        <p:txBody>
          <a:bodyPr/>
          <a:lstStyle/>
          <a:p>
            <a:r>
              <a:rPr lang="en-US" dirty="0"/>
              <a:t>Fetch State Machine Example</a:t>
            </a:r>
          </a:p>
        </p:txBody>
      </p:sp>
      <p:sp>
        <p:nvSpPr>
          <p:cNvPr id="2" name="Rectangle 1">
            <a:extLst>
              <a:ext uri="{FF2B5EF4-FFF2-40B4-BE49-F238E27FC236}">
                <a16:creationId xmlns:a16="http://schemas.microsoft.com/office/drawing/2014/main" id="{5DE0A318-9740-229A-AF89-65ED27429F8A}"/>
              </a:ext>
            </a:extLst>
          </p:cNvPr>
          <p:cNvSpPr/>
          <p:nvPr/>
        </p:nvSpPr>
        <p:spPr>
          <a:xfrm>
            <a:off x="4392715" y="5504278"/>
            <a:ext cx="1891247" cy="501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Fetch State Machine</a:t>
            </a:r>
          </a:p>
        </p:txBody>
      </p:sp>
      <p:sp>
        <p:nvSpPr>
          <p:cNvPr id="3" name="Rectangle 2">
            <a:extLst>
              <a:ext uri="{FF2B5EF4-FFF2-40B4-BE49-F238E27FC236}">
                <a16:creationId xmlns:a16="http://schemas.microsoft.com/office/drawing/2014/main" id="{D133E97C-B7F1-8AB8-B3CA-F9D6D7035D5D}"/>
              </a:ext>
            </a:extLst>
          </p:cNvPr>
          <p:cNvSpPr/>
          <p:nvPr/>
        </p:nvSpPr>
        <p:spPr>
          <a:xfrm>
            <a:off x="2572395" y="3839583"/>
            <a:ext cx="1005840" cy="10401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600"/>
              <a:t>Instruction Register</a:t>
            </a:r>
          </a:p>
          <a:p>
            <a:pPr algn="ctr"/>
            <a:r>
              <a:rPr lang="en-US" sz="1600"/>
              <a:t>High</a:t>
            </a:r>
          </a:p>
        </p:txBody>
      </p:sp>
      <p:cxnSp>
        <p:nvCxnSpPr>
          <p:cNvPr id="5" name="Connector: Elbow 4">
            <a:extLst>
              <a:ext uri="{FF2B5EF4-FFF2-40B4-BE49-F238E27FC236}">
                <a16:creationId xmlns:a16="http://schemas.microsoft.com/office/drawing/2014/main" id="{FE567D3D-C137-EE5D-6B55-80B822BA2F10}"/>
              </a:ext>
            </a:extLst>
          </p:cNvPr>
          <p:cNvCxnSpPr>
            <a:cxnSpLocks/>
            <a:stCxn id="2" idx="3"/>
            <a:endCxn id="15" idx="0"/>
          </p:cNvCxnSpPr>
          <p:nvPr/>
        </p:nvCxnSpPr>
        <p:spPr>
          <a:xfrm flipV="1">
            <a:off x="6283961" y="3810592"/>
            <a:ext cx="575347" cy="1944248"/>
          </a:xfrm>
          <a:prstGeom prst="bentConnector4">
            <a:avLst>
              <a:gd name="adj1" fmla="val 268549"/>
              <a:gd name="adj2" fmla="val 11175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A3E0D80B-F0B8-645F-BBB6-302F877C8319}"/>
              </a:ext>
            </a:extLst>
          </p:cNvPr>
          <p:cNvCxnSpPr>
            <a:cxnSpLocks/>
            <a:stCxn id="2" idx="0"/>
            <a:endCxn id="14" idx="2"/>
          </p:cNvCxnSpPr>
          <p:nvPr/>
        </p:nvCxnSpPr>
        <p:spPr>
          <a:xfrm rot="16200000" flipV="1">
            <a:off x="4461938" y="4627877"/>
            <a:ext cx="624508" cy="112829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7985FF14-7C77-61BE-461E-C64B31113277}"/>
              </a:ext>
            </a:extLst>
          </p:cNvPr>
          <p:cNvCxnSpPr>
            <a:cxnSpLocks/>
            <a:stCxn id="2" idx="0"/>
            <a:endCxn id="3" idx="2"/>
          </p:cNvCxnSpPr>
          <p:nvPr/>
        </p:nvCxnSpPr>
        <p:spPr>
          <a:xfrm rot="16200000" flipV="1">
            <a:off x="3894573" y="4060511"/>
            <a:ext cx="624508" cy="226302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Slide Number Placeholder 4">
            <a:extLst>
              <a:ext uri="{FF2B5EF4-FFF2-40B4-BE49-F238E27FC236}">
                <a16:creationId xmlns:a16="http://schemas.microsoft.com/office/drawing/2014/main" id="{B4E5EAB0-7E5B-F672-C59E-63E9F3696089}"/>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97</a:t>
            </a:fld>
            <a:endParaRPr lang="en-US" b="1">
              <a:solidFill>
                <a:schemeClr val="bg1"/>
              </a:solidFill>
            </a:endParaRPr>
          </a:p>
        </p:txBody>
      </p:sp>
    </p:spTree>
    <p:custDataLst>
      <p:tags r:id="rId1"/>
    </p:custDataLst>
    <p:extLst>
      <p:ext uri="{BB962C8B-B14F-4D97-AF65-F5344CB8AC3E}">
        <p14:creationId xmlns:p14="http://schemas.microsoft.com/office/powerpoint/2010/main" val="1365068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down)">
                                      <p:cBhvr>
                                        <p:cTn id="12" dur="500"/>
                                        <p:tgtEl>
                                          <p:spTgt spid="25"/>
                                        </p:tgtEl>
                                      </p:cBhvr>
                                    </p:animEffect>
                                  </p:childTnLst>
                                </p:cTn>
                              </p:par>
                            </p:childTnLst>
                          </p:cTn>
                        </p:par>
                        <p:par>
                          <p:cTn id="13" fill="hold">
                            <p:stCondLst>
                              <p:cond delay="500"/>
                            </p:stCondLst>
                            <p:childTnLst>
                              <p:par>
                                <p:cTn id="14" presetID="22" presetClass="entr" presetSubtype="2"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down)">
                                      <p:cBhvr>
                                        <p:cTn id="21" dur="500"/>
                                        <p:tgtEl>
                                          <p:spTgt spid="5"/>
                                        </p:tgtEl>
                                      </p:cBhvr>
                                    </p:animEffect>
                                  </p:childTnLst>
                                </p:cTn>
                              </p:par>
                              <p:par>
                                <p:cTn id="22" presetID="10" presetClass="exit" presetSubtype="0" fill="hold" nodeType="withEffect">
                                  <p:stCondLst>
                                    <p:cond delay="0"/>
                                  </p:stCondLst>
                                  <p:childTnLst>
                                    <p:animEffect transition="out" filter="fade">
                                      <p:cBhvr>
                                        <p:cTn id="23" dur="500"/>
                                        <p:tgtEl>
                                          <p:spTgt spid="25"/>
                                        </p:tgtEl>
                                      </p:cBhvr>
                                    </p:animEffect>
                                    <p:set>
                                      <p:cBhvr>
                                        <p:cTn id="24" dur="1" fill="hold">
                                          <p:stCondLst>
                                            <p:cond delay="499"/>
                                          </p:stCondLst>
                                        </p:cTn>
                                        <p:tgtEl>
                                          <p:spTgt spid="25"/>
                                        </p:tgtEl>
                                        <p:attrNameLst>
                                          <p:attrName>style.visibility</p:attrName>
                                        </p:attrNameLst>
                                      </p:cBhvr>
                                      <p:to>
                                        <p:strVal val="hidden"/>
                                      </p:to>
                                    </p:set>
                                  </p:childTnLst>
                                </p:cTn>
                              </p:par>
                            </p:childTnLst>
                          </p:cTn>
                        </p:par>
                        <p:par>
                          <p:cTn id="25" fill="hold">
                            <p:stCondLst>
                              <p:cond delay="500"/>
                            </p:stCondLst>
                            <p:childTnLst>
                              <p:par>
                                <p:cTn id="26" presetID="22" presetClass="entr" presetSubtype="2" fill="hold" nodeType="after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wipe(right)">
                                      <p:cBhvr>
                                        <p:cTn id="28" dur="500"/>
                                        <p:tgtEl>
                                          <p:spTgt spid="29"/>
                                        </p:tgtEl>
                                      </p:cBhvr>
                                    </p:animEffect>
                                  </p:childTnLst>
                                </p:cTn>
                              </p:par>
                            </p:childTnLst>
                          </p:cTn>
                        </p:par>
                        <p:par>
                          <p:cTn id="29" fill="hold">
                            <p:stCondLst>
                              <p:cond delay="1000"/>
                            </p:stCondLst>
                            <p:childTnLst>
                              <p:par>
                                <p:cTn id="30" presetID="22" presetClass="entr" presetSubtype="2" fill="hold" grpId="1"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right)">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down)">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wipe(left)">
                                      <p:cBhvr>
                                        <p:cTn id="42" dur="500"/>
                                        <p:tgtEl>
                                          <p:spTgt spid="28"/>
                                        </p:tgtEl>
                                      </p:cBhvr>
                                    </p:animEffect>
                                  </p:childTnLst>
                                </p:cTn>
                              </p:par>
                              <p:par>
                                <p:cTn id="43" presetID="10" presetClass="exit" presetSubtype="0" fill="hold" nodeType="withEffect">
                                  <p:stCondLst>
                                    <p:cond delay="0"/>
                                  </p:stCondLst>
                                  <p:childTnLst>
                                    <p:animEffect transition="out" filter="fade">
                                      <p:cBhvr>
                                        <p:cTn id="44" dur="500"/>
                                        <p:tgtEl>
                                          <p:spTgt spid="5"/>
                                        </p:tgtEl>
                                      </p:cBhvr>
                                    </p:animEffect>
                                    <p:set>
                                      <p:cBhvr>
                                        <p:cTn id="45" dur="1" fill="hold">
                                          <p:stCondLst>
                                            <p:cond delay="499"/>
                                          </p:stCondLst>
                                        </p:cTn>
                                        <p:tgtEl>
                                          <p:spTgt spid="5"/>
                                        </p:tgtEl>
                                        <p:attrNameLst>
                                          <p:attrName>style.visibility</p:attrName>
                                        </p:attrNameLst>
                                      </p:cBhvr>
                                      <p:to>
                                        <p:strVal val="hidden"/>
                                      </p:to>
                                    </p:set>
                                  </p:childTnLst>
                                </p:cTn>
                              </p:par>
                              <p:par>
                                <p:cTn id="46" presetID="10" presetClass="exit" presetSubtype="0" fill="hold" nodeType="withEffect">
                                  <p:stCondLst>
                                    <p:cond delay="0"/>
                                  </p:stCondLst>
                                  <p:childTnLst>
                                    <p:animEffect transition="out" filter="fade">
                                      <p:cBhvr>
                                        <p:cTn id="47" dur="500"/>
                                        <p:tgtEl>
                                          <p:spTgt spid="29"/>
                                        </p:tgtEl>
                                      </p:cBhvr>
                                    </p:animEffect>
                                    <p:set>
                                      <p:cBhvr>
                                        <p:cTn id="48" dur="1" fill="hold">
                                          <p:stCondLst>
                                            <p:cond delay="499"/>
                                          </p:stCondLst>
                                        </p:cTn>
                                        <p:tgtEl>
                                          <p:spTgt spid="29"/>
                                        </p:tgtEl>
                                        <p:attrNameLst>
                                          <p:attrName>style.visibility</p:attrName>
                                        </p:attrNameLst>
                                      </p:cBhvr>
                                      <p:to>
                                        <p:strVal val="hidden"/>
                                      </p:to>
                                    </p:set>
                                  </p:childTnLst>
                                </p:cTn>
                              </p:par>
                            </p:childTnLst>
                          </p:cTn>
                        </p:par>
                        <p:par>
                          <p:cTn id="49" fill="hold">
                            <p:stCondLst>
                              <p:cond delay="500"/>
                            </p:stCondLst>
                            <p:childTnLst>
                              <p:par>
                                <p:cTn id="50" presetID="22" presetClass="entr" presetSubtype="4" fill="hold" nodeType="after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wipe(down)">
                                      <p:cBhvr>
                                        <p:cTn id="52" dur="500"/>
                                        <p:tgtEl>
                                          <p:spTgt spid="32"/>
                                        </p:tgtEl>
                                      </p:cBhvr>
                                    </p:animEffect>
                                  </p:childTnLst>
                                </p:cTn>
                              </p:par>
                              <p:par>
                                <p:cTn id="53" presetID="22" presetClass="entr" presetSubtype="4" fill="hold"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wipe(down)">
                                      <p:cBhvr>
                                        <p:cTn id="55" dur="500"/>
                                        <p:tgtEl>
                                          <p:spTgt spid="37"/>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1" nodeType="clickEffect">
                                  <p:stCondLst>
                                    <p:cond delay="0"/>
                                  </p:stCondLst>
                                  <p:childTnLst>
                                    <p:set>
                                      <p:cBhvr>
                                        <p:cTn id="59" dur="1" fill="hold">
                                          <p:stCondLst>
                                            <p:cond delay="0"/>
                                          </p:stCondLst>
                                        </p:cTn>
                                        <p:tgtEl>
                                          <p:spTgt spid="28"/>
                                        </p:tgtEl>
                                        <p:attrNameLst>
                                          <p:attrName>style.visibility</p:attrName>
                                        </p:attrNameLst>
                                      </p:cBhvr>
                                      <p:to>
                                        <p:strVal val="visible"/>
                                      </p:to>
                                    </p:set>
                                    <p:animEffect transition="in" filter="wipe(left)">
                                      <p:cBhvr>
                                        <p:cTn id="60" dur="500"/>
                                        <p:tgtEl>
                                          <p:spTgt spid="28"/>
                                        </p:tgtEl>
                                      </p:cBhvr>
                                    </p:animEffect>
                                  </p:childTnLst>
                                </p:cTn>
                              </p:par>
                            </p:childTnLst>
                          </p:cTn>
                        </p:par>
                        <p:par>
                          <p:cTn id="61" fill="hold">
                            <p:stCondLst>
                              <p:cond delay="500"/>
                            </p:stCondLst>
                            <p:childTnLst>
                              <p:par>
                                <p:cTn id="62" presetID="1" presetClass="exit" presetSubtype="0" fill="hold" nodeType="afterEffect">
                                  <p:stCondLst>
                                    <p:cond delay="0"/>
                                  </p:stCondLst>
                                  <p:childTnLst>
                                    <p:set>
                                      <p:cBhvr>
                                        <p:cTn id="63" dur="1" fill="hold">
                                          <p:stCondLst>
                                            <p:cond delay="0"/>
                                          </p:stCondLst>
                                        </p:cTn>
                                        <p:tgtEl>
                                          <p:spTgt spid="32"/>
                                        </p:tgtEl>
                                        <p:attrNameLst>
                                          <p:attrName>style.visibility</p:attrName>
                                        </p:attrNameLst>
                                      </p:cBhvr>
                                      <p:to>
                                        <p:strVal val="hidden"/>
                                      </p:to>
                                    </p:set>
                                  </p:childTnLst>
                                </p:cTn>
                              </p:par>
                            </p:childTnLst>
                          </p:cTn>
                        </p:par>
                        <p:par>
                          <p:cTn id="64" fill="hold">
                            <p:stCondLst>
                              <p:cond delay="500"/>
                            </p:stCondLst>
                            <p:childTnLst>
                              <p:par>
                                <p:cTn id="65" presetID="1" presetClass="exit" presetSubtype="0" fill="hold" nodeType="afterEffect">
                                  <p:stCondLst>
                                    <p:cond delay="0"/>
                                  </p:stCondLst>
                                  <p:childTnLst>
                                    <p:set>
                                      <p:cBhvr>
                                        <p:cTn id="66" dur="1" fill="hold">
                                          <p:stCondLst>
                                            <p:cond delay="0"/>
                                          </p:stCondLst>
                                        </p:cTn>
                                        <p:tgtEl>
                                          <p:spTgt spid="37"/>
                                        </p:tgtEl>
                                        <p:attrNameLst>
                                          <p:attrName>style.visibility</p:attrName>
                                        </p:attrNameLst>
                                      </p:cBhvr>
                                      <p:to>
                                        <p:strVal val="hidden"/>
                                      </p:to>
                                    </p:set>
                                  </p:childTnLst>
                                </p:cTn>
                              </p:par>
                            </p:childTnLst>
                          </p:cTn>
                        </p:par>
                        <p:par>
                          <p:cTn id="67" fill="hold">
                            <p:stCondLst>
                              <p:cond delay="500"/>
                            </p:stCondLst>
                            <p:childTnLst>
                              <p:par>
                                <p:cTn id="68" presetID="22" presetClass="entr" presetSubtype="4" fill="hold" nodeType="afterEffect">
                                  <p:stCondLst>
                                    <p:cond delay="0"/>
                                  </p:stCondLst>
                                  <p:childTnLst>
                                    <p:set>
                                      <p:cBhvr>
                                        <p:cTn id="69" dur="1" fill="hold">
                                          <p:stCondLst>
                                            <p:cond delay="0"/>
                                          </p:stCondLst>
                                        </p:cTn>
                                        <p:tgtEl>
                                          <p:spTgt spid="38"/>
                                        </p:tgtEl>
                                        <p:attrNameLst>
                                          <p:attrName>style.visibility</p:attrName>
                                        </p:attrNameLst>
                                      </p:cBhvr>
                                      <p:to>
                                        <p:strVal val="visible"/>
                                      </p:to>
                                    </p:set>
                                    <p:animEffect transition="in" filter="wipe(down)">
                                      <p:cBhvr>
                                        <p:cTn id="70" dur="500"/>
                                        <p:tgtEl>
                                          <p:spTgt spid="38"/>
                                        </p:tgtEl>
                                      </p:cBhvr>
                                    </p:animEffect>
                                  </p:childTnLst>
                                </p:cTn>
                              </p:par>
                              <p:par>
                                <p:cTn id="71" presetID="22" presetClass="entr" presetSubtype="4" fill="hold" nodeType="withEffect">
                                  <p:stCondLst>
                                    <p:cond delay="0"/>
                                  </p:stCondLst>
                                  <p:childTnLst>
                                    <p:set>
                                      <p:cBhvr>
                                        <p:cTn id="72" dur="1" fill="hold">
                                          <p:stCondLst>
                                            <p:cond delay="0"/>
                                          </p:stCondLst>
                                        </p:cTn>
                                        <p:tgtEl>
                                          <p:spTgt spid="36"/>
                                        </p:tgtEl>
                                        <p:attrNameLst>
                                          <p:attrName>style.visibility</p:attrName>
                                        </p:attrNameLst>
                                      </p:cBhvr>
                                      <p:to>
                                        <p:strVal val="visible"/>
                                      </p:to>
                                    </p:set>
                                    <p:animEffect transition="in" filter="wipe(down)">
                                      <p:cBhvr>
                                        <p:cTn id="73" dur="500"/>
                                        <p:tgtEl>
                                          <p:spTgt spid="36"/>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2" nodeType="click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wipe(left)">
                                      <p:cBhvr>
                                        <p:cTn id="78" dur="500"/>
                                        <p:tgtEl>
                                          <p:spTgt spid="28"/>
                                        </p:tgtEl>
                                      </p:cBhvr>
                                    </p:animEffect>
                                  </p:childTnLst>
                                </p:cTn>
                              </p:par>
                            </p:childTnLst>
                          </p:cTn>
                        </p:par>
                        <p:par>
                          <p:cTn id="79" fill="hold">
                            <p:stCondLst>
                              <p:cond delay="500"/>
                            </p:stCondLst>
                            <p:childTnLst>
                              <p:par>
                                <p:cTn id="80" presetID="1" presetClass="exit" presetSubtype="0" fill="hold" nodeType="afterEffect">
                                  <p:stCondLst>
                                    <p:cond delay="0"/>
                                  </p:stCondLst>
                                  <p:childTnLst>
                                    <p:set>
                                      <p:cBhvr>
                                        <p:cTn id="81" dur="1" fill="hold">
                                          <p:stCondLst>
                                            <p:cond delay="0"/>
                                          </p:stCondLst>
                                        </p:cTn>
                                        <p:tgtEl>
                                          <p:spTgt spid="38"/>
                                        </p:tgtEl>
                                        <p:attrNameLst>
                                          <p:attrName>style.visibility</p:attrName>
                                        </p:attrNameLst>
                                      </p:cBhvr>
                                      <p:to>
                                        <p:strVal val="hidden"/>
                                      </p:to>
                                    </p:set>
                                  </p:childTnLst>
                                </p:cTn>
                              </p:par>
                              <p:par>
                                <p:cTn id="82" presetID="1" presetClass="exit" presetSubtype="0" fill="hold" nodeType="withEffect">
                                  <p:stCondLst>
                                    <p:cond delay="0"/>
                                  </p:stCondLst>
                                  <p:childTnLst>
                                    <p:set>
                                      <p:cBhvr>
                                        <p:cTn id="83" dur="1" fill="hold">
                                          <p:stCondLst>
                                            <p:cond delay="0"/>
                                          </p:stCondLst>
                                        </p:cTn>
                                        <p:tgtEl>
                                          <p:spTgt spid="36"/>
                                        </p:tgtEl>
                                        <p:attrNameLst>
                                          <p:attrName>style.visibility</p:attrName>
                                        </p:attrNameLst>
                                      </p:cBhvr>
                                      <p:to>
                                        <p:strVal val="hidden"/>
                                      </p:to>
                                    </p:set>
                                  </p:childTnLst>
                                </p:cTn>
                              </p:par>
                            </p:childTnLst>
                          </p:cTn>
                        </p:par>
                        <p:par>
                          <p:cTn id="84" fill="hold">
                            <p:stCondLst>
                              <p:cond delay="500"/>
                            </p:stCondLst>
                            <p:childTnLst>
                              <p:par>
                                <p:cTn id="85" presetID="22" presetClass="entr" presetSubtype="4" fill="hold" nodeType="afterEffect">
                                  <p:stCondLst>
                                    <p:cond delay="0"/>
                                  </p:stCondLst>
                                  <p:childTnLst>
                                    <p:set>
                                      <p:cBhvr>
                                        <p:cTn id="86" dur="1" fill="hold">
                                          <p:stCondLst>
                                            <p:cond delay="0"/>
                                          </p:stCondLst>
                                        </p:cTn>
                                        <p:tgtEl>
                                          <p:spTgt spid="39"/>
                                        </p:tgtEl>
                                        <p:attrNameLst>
                                          <p:attrName>style.visibility</p:attrName>
                                        </p:attrNameLst>
                                      </p:cBhvr>
                                      <p:to>
                                        <p:strVal val="visible"/>
                                      </p:to>
                                    </p:set>
                                    <p:animEffect transition="in" filter="wipe(down)">
                                      <p:cBhvr>
                                        <p:cTn id="87" dur="500"/>
                                        <p:tgtEl>
                                          <p:spTgt spid="39"/>
                                        </p:tgtEl>
                                      </p:cBhvr>
                                    </p:animEffect>
                                  </p:childTnLst>
                                </p:cTn>
                              </p:par>
                              <p:par>
                                <p:cTn id="88" presetID="22" presetClass="entr" presetSubtype="4" fill="hold" nodeType="withEffect">
                                  <p:stCondLst>
                                    <p:cond delay="0"/>
                                  </p:stCondLst>
                                  <p:childTnLst>
                                    <p:set>
                                      <p:cBhvr>
                                        <p:cTn id="89" dur="1" fill="hold">
                                          <p:stCondLst>
                                            <p:cond delay="0"/>
                                          </p:stCondLst>
                                        </p:cTn>
                                        <p:tgtEl>
                                          <p:spTgt spid="40"/>
                                        </p:tgtEl>
                                        <p:attrNameLst>
                                          <p:attrName>style.visibility</p:attrName>
                                        </p:attrNameLst>
                                      </p:cBhvr>
                                      <p:to>
                                        <p:strVal val="visible"/>
                                      </p:to>
                                    </p:set>
                                    <p:animEffect transition="in" filter="wipe(down)">
                                      <p:cBhvr>
                                        <p:cTn id="90" dur="500"/>
                                        <p:tgtEl>
                                          <p:spTgt spid="40"/>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3" nodeType="clickEffect">
                                  <p:stCondLst>
                                    <p:cond delay="0"/>
                                  </p:stCondLst>
                                  <p:childTnLst>
                                    <p:set>
                                      <p:cBhvr>
                                        <p:cTn id="94" dur="1" fill="hold">
                                          <p:stCondLst>
                                            <p:cond delay="0"/>
                                          </p:stCondLst>
                                        </p:cTn>
                                        <p:tgtEl>
                                          <p:spTgt spid="28"/>
                                        </p:tgtEl>
                                        <p:attrNameLst>
                                          <p:attrName>style.visibility</p:attrName>
                                        </p:attrNameLst>
                                      </p:cBhvr>
                                      <p:to>
                                        <p:strVal val="visible"/>
                                      </p:to>
                                    </p:set>
                                    <p:animEffect transition="in" filter="wipe(left)">
                                      <p:cBhvr>
                                        <p:cTn id="95" dur="500"/>
                                        <p:tgtEl>
                                          <p:spTgt spid="28"/>
                                        </p:tgtEl>
                                      </p:cBhvr>
                                    </p:animEffect>
                                  </p:childTnLst>
                                </p:cTn>
                              </p:par>
                              <p:par>
                                <p:cTn id="96" presetID="1" presetClass="exit" presetSubtype="0" fill="hold" nodeType="withEffect">
                                  <p:stCondLst>
                                    <p:cond delay="0"/>
                                  </p:stCondLst>
                                  <p:childTnLst>
                                    <p:set>
                                      <p:cBhvr>
                                        <p:cTn id="97" dur="1" fill="hold">
                                          <p:stCondLst>
                                            <p:cond delay="0"/>
                                          </p:stCondLst>
                                        </p:cTn>
                                        <p:tgtEl>
                                          <p:spTgt spid="39"/>
                                        </p:tgtEl>
                                        <p:attrNameLst>
                                          <p:attrName>style.visibility</p:attrName>
                                        </p:attrNameLst>
                                      </p:cBhvr>
                                      <p:to>
                                        <p:strVal val="hidden"/>
                                      </p:to>
                                    </p:set>
                                  </p:childTnLst>
                                </p:cTn>
                              </p:par>
                              <p:par>
                                <p:cTn id="98" presetID="1" presetClass="exit" presetSubtype="0" fill="hold" nodeType="withEffect">
                                  <p:stCondLst>
                                    <p:cond delay="0"/>
                                  </p:stCondLst>
                                  <p:childTnLst>
                                    <p:set>
                                      <p:cBhvr>
                                        <p:cTn id="99" dur="1" fill="hold">
                                          <p:stCondLst>
                                            <p:cond delay="0"/>
                                          </p:stCondLst>
                                        </p:cTn>
                                        <p:tgtEl>
                                          <p:spTgt spid="40"/>
                                        </p:tgtEl>
                                        <p:attrNameLst>
                                          <p:attrName>style.visibility</p:attrName>
                                        </p:attrNameLst>
                                      </p:cBhvr>
                                      <p:to>
                                        <p:strVal val="hidden"/>
                                      </p:to>
                                    </p:set>
                                  </p:childTnLst>
                                </p:cTn>
                              </p:par>
                            </p:childTnLst>
                          </p:cTn>
                        </p:par>
                        <p:par>
                          <p:cTn id="100" fill="hold">
                            <p:stCondLst>
                              <p:cond delay="500"/>
                            </p:stCondLst>
                            <p:childTnLst>
                              <p:par>
                                <p:cTn id="101" presetID="22" presetClass="entr" presetSubtype="8" fill="hold" nodeType="afterEffect">
                                  <p:stCondLst>
                                    <p:cond delay="0"/>
                                  </p:stCondLst>
                                  <p:childTnLst>
                                    <p:set>
                                      <p:cBhvr>
                                        <p:cTn id="102" dur="1" fill="hold">
                                          <p:stCondLst>
                                            <p:cond delay="0"/>
                                          </p:stCondLst>
                                        </p:cTn>
                                        <p:tgtEl>
                                          <p:spTgt spid="45"/>
                                        </p:tgtEl>
                                        <p:attrNameLst>
                                          <p:attrName>style.visibility</p:attrName>
                                        </p:attrNameLst>
                                      </p:cBhvr>
                                      <p:to>
                                        <p:strVal val="visible"/>
                                      </p:to>
                                    </p:set>
                                    <p:animEffect transition="in" filter="wipe(left)">
                                      <p:cBhvr>
                                        <p:cTn id="103" dur="500"/>
                                        <p:tgtEl>
                                          <p:spTgt spid="45"/>
                                        </p:tgtEl>
                                      </p:cBhvr>
                                    </p:animEffect>
                                  </p:childTnLst>
                                </p:cTn>
                              </p:par>
                              <p:par>
                                <p:cTn id="104" presetID="22" presetClass="entr" presetSubtype="8" fill="hold" grpId="0" nodeType="withEffect">
                                  <p:stCondLst>
                                    <p:cond delay="0"/>
                                  </p:stCondLst>
                                  <p:childTnLst>
                                    <p:set>
                                      <p:cBhvr>
                                        <p:cTn id="105" dur="1" fill="hold">
                                          <p:stCondLst>
                                            <p:cond delay="0"/>
                                          </p:stCondLst>
                                        </p:cTn>
                                        <p:tgtEl>
                                          <p:spTgt spid="49"/>
                                        </p:tgtEl>
                                        <p:attrNameLst>
                                          <p:attrName>style.visibility</p:attrName>
                                        </p:attrNameLst>
                                      </p:cBhvr>
                                      <p:to>
                                        <p:strVal val="visible"/>
                                      </p:to>
                                    </p:set>
                                    <p:animEffect transition="in" filter="wipe(left)">
                                      <p:cBhvr>
                                        <p:cTn id="106"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P spid="12" grpId="1" animBg="1"/>
      <p:bldP spid="18" grpId="0" animBg="1"/>
      <p:bldP spid="28" grpId="0" animBg="1"/>
      <p:bldP spid="28" grpId="1" animBg="1"/>
      <p:bldP spid="28" grpId="2" animBg="1"/>
      <p:bldP spid="28" grpId="3" animBg="1"/>
      <p:bldP spid="49"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text, electronics&#10;&#10;Description automatically generated">
            <a:extLst>
              <a:ext uri="{FF2B5EF4-FFF2-40B4-BE49-F238E27FC236}">
                <a16:creationId xmlns:a16="http://schemas.microsoft.com/office/drawing/2014/main" id="{281775FE-6390-92F5-EE69-AFC2A7667713}"/>
              </a:ext>
            </a:extLst>
          </p:cNvPr>
          <p:cNvPicPr>
            <a:picLocks noChangeAspect="1"/>
          </p:cNvPicPr>
          <p:nvPr/>
        </p:nvPicPr>
        <p:blipFill rotWithShape="1">
          <a:blip r:embed="rId2">
            <a:extLst>
              <a:ext uri="{28A0092B-C50C-407E-A947-70E740481C1C}">
                <a14:useLocalDpi xmlns:a14="http://schemas.microsoft.com/office/drawing/2010/main" val="0"/>
              </a:ext>
            </a:extLst>
          </a:blip>
          <a:srcRect l="8634" t="6275" r="8402"/>
          <a:stretch/>
        </p:blipFill>
        <p:spPr>
          <a:xfrm rot="10800000">
            <a:off x="369651" y="-28684"/>
            <a:ext cx="10821480" cy="6876547"/>
          </a:xfrm>
          <a:prstGeom prst="rect">
            <a:avLst/>
          </a:prstGeom>
        </p:spPr>
      </p:pic>
      <p:sp>
        <p:nvSpPr>
          <p:cNvPr id="2" name="Title 1">
            <a:extLst>
              <a:ext uri="{FF2B5EF4-FFF2-40B4-BE49-F238E27FC236}">
                <a16:creationId xmlns:a16="http://schemas.microsoft.com/office/drawing/2014/main" id="{E9AE1059-F9BB-4893-A94F-CD565C4AA8A6}"/>
              </a:ext>
            </a:extLst>
          </p:cNvPr>
          <p:cNvSpPr>
            <a:spLocks noGrp="1"/>
          </p:cNvSpPr>
          <p:nvPr>
            <p:ph type="ctrTitle"/>
          </p:nvPr>
        </p:nvSpPr>
        <p:spPr>
          <a:xfrm>
            <a:off x="2" y="1"/>
            <a:ext cx="3519055" cy="803563"/>
          </a:xfrm>
          <a:prstGeom prst="rect">
            <a:avLst/>
          </a:prstGeom>
          <a:solidFill>
            <a:schemeClr val="bg1"/>
          </a:solidFill>
        </p:spPr>
        <p:txBody>
          <a:bodyPr anchor="ctr"/>
          <a:lstStyle/>
          <a:p>
            <a:r>
              <a:rPr lang="en-US"/>
              <a:t>Hardware</a:t>
            </a:r>
          </a:p>
        </p:txBody>
      </p:sp>
      <p:sp>
        <p:nvSpPr>
          <p:cNvPr id="6" name="Rectangle: Rounded Corners 5">
            <a:hlinkClick r:id="rId3" action="ppaction://hlinksldjump"/>
            <a:extLst>
              <a:ext uri="{FF2B5EF4-FFF2-40B4-BE49-F238E27FC236}">
                <a16:creationId xmlns:a16="http://schemas.microsoft.com/office/drawing/2014/main" id="{32F0A0E8-D303-442B-B773-A41CF36A29F4}"/>
              </a:ext>
            </a:extLst>
          </p:cNvPr>
          <p:cNvSpPr/>
          <p:nvPr/>
        </p:nvSpPr>
        <p:spPr>
          <a:xfrm>
            <a:off x="3366271" y="2027382"/>
            <a:ext cx="3363799" cy="909783"/>
          </a:xfrm>
          <a:prstGeom prst="roundRect">
            <a:avLst/>
          </a:prstGeom>
          <a:solidFill>
            <a:schemeClr val="accent4">
              <a:alpha val="4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Register File</a:t>
            </a:r>
          </a:p>
        </p:txBody>
      </p:sp>
      <p:sp>
        <p:nvSpPr>
          <p:cNvPr id="7" name="Rectangle: Rounded Corners 6">
            <a:hlinkClick r:id="rId4" action="ppaction://hlinksldjump"/>
            <a:extLst>
              <a:ext uri="{FF2B5EF4-FFF2-40B4-BE49-F238E27FC236}">
                <a16:creationId xmlns:a16="http://schemas.microsoft.com/office/drawing/2014/main" id="{FCE96723-9968-4A27-8E5D-41D38762DF4B}"/>
              </a:ext>
            </a:extLst>
          </p:cNvPr>
          <p:cNvSpPr/>
          <p:nvPr/>
        </p:nvSpPr>
        <p:spPr>
          <a:xfrm>
            <a:off x="7815094" y="209395"/>
            <a:ext cx="891495" cy="1200727"/>
          </a:xfrm>
          <a:prstGeom prst="roundRect">
            <a:avLst/>
          </a:prstGeom>
          <a:solidFill>
            <a:schemeClr val="accent4">
              <a:alpha val="4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Clock</a:t>
            </a:r>
          </a:p>
        </p:txBody>
      </p:sp>
      <p:sp>
        <p:nvSpPr>
          <p:cNvPr id="8" name="Rectangle: Rounded Corners 7">
            <a:hlinkClick r:id="rId5" action="ppaction://hlinksldjump"/>
            <a:extLst>
              <a:ext uri="{FF2B5EF4-FFF2-40B4-BE49-F238E27FC236}">
                <a16:creationId xmlns:a16="http://schemas.microsoft.com/office/drawing/2014/main" id="{BEB474BE-0C5F-46BD-B21E-579C0F451DC1}"/>
              </a:ext>
            </a:extLst>
          </p:cNvPr>
          <p:cNvSpPr/>
          <p:nvPr/>
        </p:nvSpPr>
        <p:spPr>
          <a:xfrm>
            <a:off x="7067484" y="4591455"/>
            <a:ext cx="3602267" cy="1010400"/>
          </a:xfrm>
          <a:prstGeom prst="roundRect">
            <a:avLst/>
          </a:prstGeom>
          <a:solidFill>
            <a:schemeClr val="accent4">
              <a:alpha val="4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PC Advance</a:t>
            </a:r>
          </a:p>
        </p:txBody>
      </p:sp>
      <p:sp>
        <p:nvSpPr>
          <p:cNvPr id="9" name="Rectangle: Rounded Corners 8">
            <a:hlinkClick r:id="rId5" action="ppaction://hlinksldjump"/>
            <a:extLst>
              <a:ext uri="{FF2B5EF4-FFF2-40B4-BE49-F238E27FC236}">
                <a16:creationId xmlns:a16="http://schemas.microsoft.com/office/drawing/2014/main" id="{6A9BFDFB-B769-4483-B239-F367E3B2FDCE}"/>
              </a:ext>
            </a:extLst>
          </p:cNvPr>
          <p:cNvSpPr/>
          <p:nvPr/>
        </p:nvSpPr>
        <p:spPr>
          <a:xfrm>
            <a:off x="4221801" y="3654755"/>
            <a:ext cx="1005840" cy="1688788"/>
          </a:xfrm>
          <a:prstGeom prst="roundRect">
            <a:avLst/>
          </a:prstGeom>
          <a:solidFill>
            <a:schemeClr val="accent4">
              <a:alpha val="4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H Reg Out</a:t>
            </a:r>
          </a:p>
        </p:txBody>
      </p:sp>
      <p:sp>
        <p:nvSpPr>
          <p:cNvPr id="10" name="Rectangle: Rounded Corners 9">
            <a:hlinkClick r:id="rId5" action="ppaction://hlinksldjump"/>
            <a:extLst>
              <a:ext uri="{FF2B5EF4-FFF2-40B4-BE49-F238E27FC236}">
                <a16:creationId xmlns:a16="http://schemas.microsoft.com/office/drawing/2014/main" id="{ABEBEB2C-9BA1-4139-82B5-E3314F01BDC4}"/>
              </a:ext>
            </a:extLst>
          </p:cNvPr>
          <p:cNvSpPr/>
          <p:nvPr/>
        </p:nvSpPr>
        <p:spPr>
          <a:xfrm>
            <a:off x="4221801" y="5388445"/>
            <a:ext cx="1005840" cy="384776"/>
          </a:xfrm>
          <a:prstGeom prst="roundRect">
            <a:avLst/>
          </a:prstGeom>
          <a:solidFill>
            <a:schemeClr val="accent4">
              <a:alpha val="4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Relative Branch</a:t>
            </a:r>
          </a:p>
        </p:txBody>
      </p:sp>
      <p:sp>
        <p:nvSpPr>
          <p:cNvPr id="11" name="Rectangle: Rounded Corners 10">
            <a:hlinkClick r:id="rId5" action="ppaction://hlinksldjump"/>
            <a:extLst>
              <a:ext uri="{FF2B5EF4-FFF2-40B4-BE49-F238E27FC236}">
                <a16:creationId xmlns:a16="http://schemas.microsoft.com/office/drawing/2014/main" id="{53EFB2DD-C02B-4B15-953D-8CCE657D44B4}"/>
              </a:ext>
            </a:extLst>
          </p:cNvPr>
          <p:cNvSpPr/>
          <p:nvPr/>
        </p:nvSpPr>
        <p:spPr>
          <a:xfrm>
            <a:off x="4221801" y="5825595"/>
            <a:ext cx="1005840" cy="384776"/>
          </a:xfrm>
          <a:prstGeom prst="roundRect">
            <a:avLst/>
          </a:prstGeom>
          <a:solidFill>
            <a:schemeClr val="accent4">
              <a:alpha val="4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Load Flags</a:t>
            </a:r>
          </a:p>
        </p:txBody>
      </p:sp>
      <p:sp>
        <p:nvSpPr>
          <p:cNvPr id="12" name="Rectangle: Rounded Corners 11">
            <a:hlinkClick r:id="rId5" action="ppaction://hlinksldjump"/>
            <a:extLst>
              <a:ext uri="{FF2B5EF4-FFF2-40B4-BE49-F238E27FC236}">
                <a16:creationId xmlns:a16="http://schemas.microsoft.com/office/drawing/2014/main" id="{5E0FCD79-557C-46AA-8D11-FB95F755999F}"/>
              </a:ext>
            </a:extLst>
          </p:cNvPr>
          <p:cNvSpPr/>
          <p:nvPr/>
        </p:nvSpPr>
        <p:spPr>
          <a:xfrm>
            <a:off x="5297367" y="3752505"/>
            <a:ext cx="1005840" cy="589972"/>
          </a:xfrm>
          <a:prstGeom prst="roundRect">
            <a:avLst/>
          </a:prstGeom>
          <a:solidFill>
            <a:schemeClr val="accent4">
              <a:alpha val="4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Load Flags</a:t>
            </a:r>
          </a:p>
        </p:txBody>
      </p:sp>
      <p:sp>
        <p:nvSpPr>
          <p:cNvPr id="13" name="Rectangle: Rounded Corners 12">
            <a:hlinkClick r:id="rId5" action="ppaction://hlinksldjump"/>
            <a:extLst>
              <a:ext uri="{FF2B5EF4-FFF2-40B4-BE49-F238E27FC236}">
                <a16:creationId xmlns:a16="http://schemas.microsoft.com/office/drawing/2014/main" id="{83C4B9AC-D3C8-49F5-A394-7381AFC1BBBB}"/>
              </a:ext>
            </a:extLst>
          </p:cNvPr>
          <p:cNvSpPr/>
          <p:nvPr/>
        </p:nvSpPr>
        <p:spPr>
          <a:xfrm>
            <a:off x="506957" y="5614033"/>
            <a:ext cx="2859315" cy="475904"/>
          </a:xfrm>
          <a:prstGeom prst="roundRect">
            <a:avLst/>
          </a:prstGeom>
          <a:solidFill>
            <a:schemeClr val="accent4">
              <a:alpha val="4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Load A and B</a:t>
            </a:r>
          </a:p>
        </p:txBody>
      </p:sp>
      <p:sp>
        <p:nvSpPr>
          <p:cNvPr id="14" name="Rectangle: Rounded Corners 13">
            <a:hlinkClick r:id="rId5" action="ppaction://hlinksldjump"/>
            <a:extLst>
              <a:ext uri="{FF2B5EF4-FFF2-40B4-BE49-F238E27FC236}">
                <a16:creationId xmlns:a16="http://schemas.microsoft.com/office/drawing/2014/main" id="{29F598CB-CDC1-4F64-B301-759CCA57BAB2}"/>
              </a:ext>
            </a:extLst>
          </p:cNvPr>
          <p:cNvSpPr/>
          <p:nvPr/>
        </p:nvSpPr>
        <p:spPr>
          <a:xfrm>
            <a:off x="564202" y="4490886"/>
            <a:ext cx="2806580" cy="697644"/>
          </a:xfrm>
          <a:prstGeom prst="roundRect">
            <a:avLst/>
          </a:prstGeom>
          <a:solidFill>
            <a:schemeClr val="accent4">
              <a:alpha val="4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ALU MUX</a:t>
            </a:r>
          </a:p>
        </p:txBody>
      </p:sp>
      <p:sp>
        <p:nvSpPr>
          <p:cNvPr id="15" name="Rectangle: Rounded Corners 14">
            <a:hlinkClick r:id="rId6" action="ppaction://hlinksldjump"/>
            <a:extLst>
              <a:ext uri="{FF2B5EF4-FFF2-40B4-BE49-F238E27FC236}">
                <a16:creationId xmlns:a16="http://schemas.microsoft.com/office/drawing/2014/main" id="{6AF603C1-0C9B-4619-BDE3-CF5DBEFD7270}"/>
              </a:ext>
            </a:extLst>
          </p:cNvPr>
          <p:cNvSpPr/>
          <p:nvPr/>
        </p:nvSpPr>
        <p:spPr>
          <a:xfrm>
            <a:off x="2879625" y="3992347"/>
            <a:ext cx="544403" cy="455456"/>
          </a:xfrm>
          <a:prstGeom prst="roundRect">
            <a:avLst/>
          </a:prstGeom>
          <a:solidFill>
            <a:schemeClr val="accent4">
              <a:alpha val="4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ADC</a:t>
            </a:r>
          </a:p>
          <a:p>
            <a:pPr algn="ctr"/>
            <a:r>
              <a:rPr lang="en-US" sz="1200"/>
              <a:t>SBC</a:t>
            </a:r>
          </a:p>
        </p:txBody>
      </p:sp>
      <p:sp>
        <p:nvSpPr>
          <p:cNvPr id="16" name="Rectangle: Rounded Corners 15">
            <a:hlinkClick r:id="rId7" action="ppaction://hlinksldjump"/>
            <a:extLst>
              <a:ext uri="{FF2B5EF4-FFF2-40B4-BE49-F238E27FC236}">
                <a16:creationId xmlns:a16="http://schemas.microsoft.com/office/drawing/2014/main" id="{E2F1C275-1D5D-4537-A11F-9CAFFE545773}"/>
              </a:ext>
            </a:extLst>
          </p:cNvPr>
          <p:cNvSpPr/>
          <p:nvPr/>
        </p:nvSpPr>
        <p:spPr>
          <a:xfrm>
            <a:off x="1157594" y="5217079"/>
            <a:ext cx="2214468" cy="384776"/>
          </a:xfrm>
          <a:prstGeom prst="roundRect">
            <a:avLst/>
          </a:prstGeom>
          <a:solidFill>
            <a:schemeClr val="accent4">
              <a:alpha val="4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XOR MUX</a:t>
            </a:r>
          </a:p>
        </p:txBody>
      </p:sp>
      <p:sp>
        <p:nvSpPr>
          <p:cNvPr id="17" name="Rectangle: Rounded Corners 16">
            <a:hlinkClick r:id="rId7" action="ppaction://hlinksldjump"/>
            <a:extLst>
              <a:ext uri="{FF2B5EF4-FFF2-40B4-BE49-F238E27FC236}">
                <a16:creationId xmlns:a16="http://schemas.microsoft.com/office/drawing/2014/main" id="{A250250B-DD74-4BF8-85AA-A8517CD66CD0}"/>
              </a:ext>
            </a:extLst>
          </p:cNvPr>
          <p:cNvSpPr/>
          <p:nvPr/>
        </p:nvSpPr>
        <p:spPr>
          <a:xfrm>
            <a:off x="1235414" y="6102117"/>
            <a:ext cx="1440431" cy="716977"/>
          </a:xfrm>
          <a:prstGeom prst="roundRect">
            <a:avLst/>
          </a:prstGeom>
          <a:solidFill>
            <a:schemeClr val="accent4">
              <a:alpha val="4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XOR</a:t>
            </a:r>
          </a:p>
          <a:p>
            <a:pPr algn="ctr"/>
            <a:r>
              <a:rPr lang="en-US"/>
              <a:t> ADD SUB</a:t>
            </a:r>
          </a:p>
        </p:txBody>
      </p:sp>
      <p:sp>
        <p:nvSpPr>
          <p:cNvPr id="18" name="Rectangle: Rounded Corners 17">
            <a:hlinkClick r:id="rId8" action="ppaction://hlinksldjump"/>
            <a:extLst>
              <a:ext uri="{FF2B5EF4-FFF2-40B4-BE49-F238E27FC236}">
                <a16:creationId xmlns:a16="http://schemas.microsoft.com/office/drawing/2014/main" id="{704375CE-2D2F-41D7-BB66-5A0AF628BB0B}"/>
              </a:ext>
            </a:extLst>
          </p:cNvPr>
          <p:cNvSpPr/>
          <p:nvPr/>
        </p:nvSpPr>
        <p:spPr>
          <a:xfrm>
            <a:off x="7095451" y="5832590"/>
            <a:ext cx="1978392" cy="935181"/>
          </a:xfrm>
          <a:prstGeom prst="roundRect">
            <a:avLst/>
          </a:prstGeom>
          <a:solidFill>
            <a:schemeClr val="accent4">
              <a:alpha val="4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SRAM</a:t>
            </a:r>
          </a:p>
        </p:txBody>
      </p:sp>
      <p:sp>
        <p:nvSpPr>
          <p:cNvPr id="19" name="Rectangle: Rounded Corners 18">
            <a:hlinkClick r:id="rId8" action="ppaction://hlinksldjump"/>
            <a:extLst>
              <a:ext uri="{FF2B5EF4-FFF2-40B4-BE49-F238E27FC236}">
                <a16:creationId xmlns:a16="http://schemas.microsoft.com/office/drawing/2014/main" id="{44B6F7D4-839C-44BD-B14D-54E474AFC509}"/>
              </a:ext>
            </a:extLst>
          </p:cNvPr>
          <p:cNvSpPr/>
          <p:nvPr/>
        </p:nvSpPr>
        <p:spPr>
          <a:xfrm>
            <a:off x="8825729" y="1440856"/>
            <a:ext cx="1526051" cy="863251"/>
          </a:xfrm>
          <a:prstGeom prst="roundRect">
            <a:avLst/>
          </a:prstGeom>
          <a:solidFill>
            <a:schemeClr val="accent4">
              <a:alpha val="4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SRAM</a:t>
            </a:r>
          </a:p>
          <a:p>
            <a:pPr algn="ctr"/>
            <a:r>
              <a:rPr lang="en-US"/>
              <a:t>Control</a:t>
            </a:r>
          </a:p>
        </p:txBody>
      </p:sp>
      <p:sp>
        <p:nvSpPr>
          <p:cNvPr id="20" name="Rectangle: Rounded Corners 19">
            <a:hlinkClick r:id="rId9" action="ppaction://hlinksldjump"/>
            <a:extLst>
              <a:ext uri="{FF2B5EF4-FFF2-40B4-BE49-F238E27FC236}">
                <a16:creationId xmlns:a16="http://schemas.microsoft.com/office/drawing/2014/main" id="{496573D3-1AAE-421A-9B8E-BEEADBA303D0}"/>
              </a:ext>
            </a:extLst>
          </p:cNvPr>
          <p:cNvSpPr/>
          <p:nvPr/>
        </p:nvSpPr>
        <p:spPr>
          <a:xfrm>
            <a:off x="7875421" y="3697471"/>
            <a:ext cx="1198419" cy="874595"/>
          </a:xfrm>
          <a:prstGeom prst="roundRect">
            <a:avLst/>
          </a:prstGeom>
          <a:solidFill>
            <a:schemeClr val="accent4">
              <a:alpha val="4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Reg Out </a:t>
            </a:r>
          </a:p>
          <a:p>
            <a:pPr algn="ctr"/>
            <a:r>
              <a:rPr lang="en-US"/>
              <a:t>Select</a:t>
            </a:r>
          </a:p>
        </p:txBody>
      </p:sp>
      <p:sp>
        <p:nvSpPr>
          <p:cNvPr id="21" name="Rectangle: Rounded Corners 20">
            <a:hlinkClick r:id="rId10" action="ppaction://hlinksldjump"/>
            <a:extLst>
              <a:ext uri="{FF2B5EF4-FFF2-40B4-BE49-F238E27FC236}">
                <a16:creationId xmlns:a16="http://schemas.microsoft.com/office/drawing/2014/main" id="{C8CC7C28-F618-9C74-3008-5BD61BF9E549}"/>
              </a:ext>
            </a:extLst>
          </p:cNvPr>
          <p:cNvSpPr/>
          <p:nvPr/>
        </p:nvSpPr>
        <p:spPr>
          <a:xfrm>
            <a:off x="6910627" y="209395"/>
            <a:ext cx="891495" cy="1200727"/>
          </a:xfrm>
          <a:prstGeom prst="roundRect">
            <a:avLst/>
          </a:prstGeom>
          <a:solidFill>
            <a:schemeClr val="accent4">
              <a:alpha val="4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Debug Mode</a:t>
            </a:r>
          </a:p>
        </p:txBody>
      </p:sp>
      <p:sp>
        <p:nvSpPr>
          <p:cNvPr id="22" name="Rectangle: Rounded Corners 21">
            <a:hlinkClick r:id="rId10" action="ppaction://hlinksldjump"/>
            <a:extLst>
              <a:ext uri="{FF2B5EF4-FFF2-40B4-BE49-F238E27FC236}">
                <a16:creationId xmlns:a16="http://schemas.microsoft.com/office/drawing/2014/main" id="{0B270D50-0508-DCEF-268B-6F0E1E4332F1}"/>
              </a:ext>
            </a:extLst>
          </p:cNvPr>
          <p:cNvSpPr/>
          <p:nvPr/>
        </p:nvSpPr>
        <p:spPr>
          <a:xfrm>
            <a:off x="8719560" y="209395"/>
            <a:ext cx="2459459" cy="1200727"/>
          </a:xfrm>
          <a:prstGeom prst="roundRect">
            <a:avLst/>
          </a:prstGeom>
          <a:solidFill>
            <a:schemeClr val="accent4">
              <a:alpha val="4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Status And Control</a:t>
            </a:r>
          </a:p>
        </p:txBody>
      </p:sp>
      <p:sp>
        <p:nvSpPr>
          <p:cNvPr id="23" name="AutoShape 2">
            <a:extLst>
              <a:ext uri="{FF2B5EF4-FFF2-40B4-BE49-F238E27FC236}">
                <a16:creationId xmlns:a16="http://schemas.microsoft.com/office/drawing/2014/main" id="{B28DCDC8-C991-3499-63B5-4F7F8595109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Rectangle: Rounded Corners 23">
            <a:hlinkClick r:id="rId11" action="ppaction://hlinksldjump"/>
            <a:extLst>
              <a:ext uri="{FF2B5EF4-FFF2-40B4-BE49-F238E27FC236}">
                <a16:creationId xmlns:a16="http://schemas.microsoft.com/office/drawing/2014/main" id="{9843CD24-6002-E26E-C284-5C5E077E5472}"/>
              </a:ext>
            </a:extLst>
          </p:cNvPr>
          <p:cNvSpPr/>
          <p:nvPr/>
        </p:nvSpPr>
        <p:spPr>
          <a:xfrm>
            <a:off x="4262355" y="3136021"/>
            <a:ext cx="2057343" cy="475904"/>
          </a:xfrm>
          <a:prstGeom prst="roundRect">
            <a:avLst/>
          </a:prstGeom>
          <a:solidFill>
            <a:schemeClr val="accent4">
              <a:alpha val="4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Branch</a:t>
            </a:r>
          </a:p>
        </p:txBody>
      </p:sp>
      <p:sp>
        <p:nvSpPr>
          <p:cNvPr id="25" name="Rectangle: Rounded Corners 24">
            <a:hlinkClick r:id="rId11" action="ppaction://hlinksldjump"/>
            <a:extLst>
              <a:ext uri="{FF2B5EF4-FFF2-40B4-BE49-F238E27FC236}">
                <a16:creationId xmlns:a16="http://schemas.microsoft.com/office/drawing/2014/main" id="{C1BF4C52-E471-FF7E-AA3E-A514CCF94425}"/>
              </a:ext>
            </a:extLst>
          </p:cNvPr>
          <p:cNvSpPr/>
          <p:nvPr/>
        </p:nvSpPr>
        <p:spPr>
          <a:xfrm>
            <a:off x="9982130" y="2576483"/>
            <a:ext cx="815527" cy="475904"/>
          </a:xfrm>
          <a:prstGeom prst="roundRect">
            <a:avLst/>
          </a:prstGeom>
          <a:solidFill>
            <a:schemeClr val="accent4">
              <a:alpha val="4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Load PC</a:t>
            </a:r>
          </a:p>
        </p:txBody>
      </p:sp>
      <p:sp>
        <p:nvSpPr>
          <p:cNvPr id="26" name="Rectangle: Rounded Corners 25">
            <a:hlinkClick r:id="rId10" action="ppaction://hlinksldjump"/>
            <a:extLst>
              <a:ext uri="{FF2B5EF4-FFF2-40B4-BE49-F238E27FC236}">
                <a16:creationId xmlns:a16="http://schemas.microsoft.com/office/drawing/2014/main" id="{5B792B2D-DC5F-2760-FAF4-2A6D4B062309}"/>
              </a:ext>
            </a:extLst>
          </p:cNvPr>
          <p:cNvSpPr/>
          <p:nvPr/>
        </p:nvSpPr>
        <p:spPr>
          <a:xfrm>
            <a:off x="7387279" y="2298970"/>
            <a:ext cx="2594851" cy="1379111"/>
          </a:xfrm>
          <a:prstGeom prst="roundRect">
            <a:avLst/>
          </a:prstGeom>
          <a:solidFill>
            <a:schemeClr val="accent4">
              <a:alpha val="4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Micro </a:t>
            </a:r>
            <a:r>
              <a:rPr lang="en-US" err="1"/>
              <a:t>Intructions</a:t>
            </a:r>
            <a:endParaRPr lang="en-US"/>
          </a:p>
        </p:txBody>
      </p:sp>
      <p:sp>
        <p:nvSpPr>
          <p:cNvPr id="27" name="Rectangle: Rounded Corners 26">
            <a:hlinkClick r:id="rId5" action="ppaction://hlinksldjump"/>
            <a:extLst>
              <a:ext uri="{FF2B5EF4-FFF2-40B4-BE49-F238E27FC236}">
                <a16:creationId xmlns:a16="http://schemas.microsoft.com/office/drawing/2014/main" id="{A0DA6D50-7552-4D1B-1A54-43694F6BE69A}"/>
              </a:ext>
            </a:extLst>
          </p:cNvPr>
          <p:cNvSpPr/>
          <p:nvPr/>
        </p:nvSpPr>
        <p:spPr>
          <a:xfrm>
            <a:off x="9151662" y="3561665"/>
            <a:ext cx="1518089" cy="1010400"/>
          </a:xfrm>
          <a:prstGeom prst="roundRect">
            <a:avLst/>
          </a:prstGeom>
          <a:solidFill>
            <a:schemeClr val="accent4">
              <a:alpha val="4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Program Counter</a:t>
            </a:r>
          </a:p>
        </p:txBody>
      </p:sp>
    </p:spTree>
    <p:extLst>
      <p:ext uri="{BB962C8B-B14F-4D97-AF65-F5344CB8AC3E}">
        <p14:creationId xmlns:p14="http://schemas.microsoft.com/office/powerpoint/2010/main" val="2443581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 name="Rectangle 471">
            <a:extLst>
              <a:ext uri="{FF2B5EF4-FFF2-40B4-BE49-F238E27FC236}">
                <a16:creationId xmlns:a16="http://schemas.microsoft.com/office/drawing/2014/main" id="{FD22F2E9-2DDE-4BB5-9BF5-E7B9D3639C78}"/>
              </a:ext>
            </a:extLst>
          </p:cNvPr>
          <p:cNvSpPr/>
          <p:nvPr/>
        </p:nvSpPr>
        <p:spPr>
          <a:xfrm>
            <a:off x="11460989" y="4138139"/>
            <a:ext cx="688767" cy="738664"/>
          </a:xfrm>
          <a:prstGeom prst="rect">
            <a:avLst/>
          </a:prstGeom>
          <a:solidFill>
            <a:srgbClr val="FF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1A07BA25-0F31-4359-960F-31B007A0CCE1}"/>
              </a:ext>
            </a:extLst>
          </p:cNvPr>
          <p:cNvSpPr/>
          <p:nvPr/>
        </p:nvSpPr>
        <p:spPr>
          <a:xfrm>
            <a:off x="11460989" y="1215643"/>
            <a:ext cx="688767" cy="738664"/>
          </a:xfrm>
          <a:prstGeom prst="rect">
            <a:avLst/>
          </a:prstGeom>
          <a:solidFill>
            <a:srgbClr val="FF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DCD78E2E-56C2-48AD-B4E7-F615D86E9D33}"/>
              </a:ext>
            </a:extLst>
          </p:cNvPr>
          <p:cNvPicPr>
            <a:picLocks noChangeAspect="1"/>
          </p:cNvPicPr>
          <p:nvPr/>
        </p:nvPicPr>
        <p:blipFill>
          <a:blip r:embed="rId3"/>
          <a:stretch>
            <a:fillRect/>
          </a:stretch>
        </p:blipFill>
        <p:spPr>
          <a:xfrm rot="10800000">
            <a:off x="169013" y="2553011"/>
            <a:ext cx="1608903" cy="1022075"/>
          </a:xfrm>
          <a:prstGeom prst="rect">
            <a:avLst/>
          </a:prstGeom>
        </p:spPr>
      </p:pic>
      <p:pic>
        <p:nvPicPr>
          <p:cNvPr id="22" name="Picture 21">
            <a:extLst>
              <a:ext uri="{FF2B5EF4-FFF2-40B4-BE49-F238E27FC236}">
                <a16:creationId xmlns:a16="http://schemas.microsoft.com/office/drawing/2014/main" id="{28CF5E5D-16CB-4475-9A77-FCC97506D784}"/>
              </a:ext>
            </a:extLst>
          </p:cNvPr>
          <p:cNvPicPr>
            <a:picLocks noChangeAspect="1"/>
          </p:cNvPicPr>
          <p:nvPr/>
        </p:nvPicPr>
        <p:blipFill>
          <a:blip r:embed="rId4"/>
          <a:stretch>
            <a:fillRect/>
          </a:stretch>
        </p:blipFill>
        <p:spPr>
          <a:xfrm rot="5400000">
            <a:off x="1946566" y="2249295"/>
            <a:ext cx="1741669" cy="1576035"/>
          </a:xfrm>
          <a:prstGeom prst="rect">
            <a:avLst/>
          </a:prstGeom>
        </p:spPr>
      </p:pic>
      <p:sp>
        <p:nvSpPr>
          <p:cNvPr id="2" name="Title 1">
            <a:extLst>
              <a:ext uri="{FF2B5EF4-FFF2-40B4-BE49-F238E27FC236}">
                <a16:creationId xmlns:a16="http://schemas.microsoft.com/office/drawing/2014/main" id="{08B246D3-941D-46D1-A7D2-804BE3128086}"/>
              </a:ext>
            </a:extLst>
          </p:cNvPr>
          <p:cNvSpPr>
            <a:spLocks noGrp="1"/>
          </p:cNvSpPr>
          <p:nvPr>
            <p:ph type="ctrTitle"/>
          </p:nvPr>
        </p:nvSpPr>
        <p:spPr>
          <a:prstGeom prst="rect">
            <a:avLst/>
          </a:prstGeom>
        </p:spPr>
        <p:txBody>
          <a:bodyPr/>
          <a:lstStyle/>
          <a:p>
            <a:r>
              <a:rPr lang="en-US"/>
              <a:t>Register File</a:t>
            </a:r>
          </a:p>
        </p:txBody>
      </p:sp>
      <p:pic>
        <p:nvPicPr>
          <p:cNvPr id="17" name="Picture 16">
            <a:extLst>
              <a:ext uri="{FF2B5EF4-FFF2-40B4-BE49-F238E27FC236}">
                <a16:creationId xmlns:a16="http://schemas.microsoft.com/office/drawing/2014/main" id="{853F47E3-9ABF-4FC4-9096-59288DAC418D}"/>
              </a:ext>
            </a:extLst>
          </p:cNvPr>
          <p:cNvPicPr>
            <a:picLocks noChangeAspect="1"/>
          </p:cNvPicPr>
          <p:nvPr/>
        </p:nvPicPr>
        <p:blipFill>
          <a:blip r:embed="rId5"/>
          <a:stretch>
            <a:fillRect/>
          </a:stretch>
        </p:blipFill>
        <p:spPr>
          <a:xfrm>
            <a:off x="7647631" y="4973904"/>
            <a:ext cx="2723191" cy="1240645"/>
          </a:xfrm>
          <a:prstGeom prst="rect">
            <a:avLst/>
          </a:prstGeom>
        </p:spPr>
      </p:pic>
      <p:pic>
        <p:nvPicPr>
          <p:cNvPr id="24" name="Picture 23">
            <a:extLst>
              <a:ext uri="{FF2B5EF4-FFF2-40B4-BE49-F238E27FC236}">
                <a16:creationId xmlns:a16="http://schemas.microsoft.com/office/drawing/2014/main" id="{FDD915CB-4C7D-43F1-97AA-A3038911EB13}"/>
              </a:ext>
            </a:extLst>
          </p:cNvPr>
          <p:cNvPicPr>
            <a:picLocks noChangeAspect="1"/>
          </p:cNvPicPr>
          <p:nvPr/>
        </p:nvPicPr>
        <p:blipFill>
          <a:blip r:embed="rId6"/>
          <a:stretch>
            <a:fillRect/>
          </a:stretch>
        </p:blipFill>
        <p:spPr>
          <a:xfrm>
            <a:off x="1696174" y="5512707"/>
            <a:ext cx="2081495" cy="1090880"/>
          </a:xfrm>
          <a:prstGeom prst="rect">
            <a:avLst/>
          </a:prstGeom>
        </p:spPr>
      </p:pic>
      <p:sp>
        <p:nvSpPr>
          <p:cNvPr id="25" name="TextBox 24">
            <a:extLst>
              <a:ext uri="{FF2B5EF4-FFF2-40B4-BE49-F238E27FC236}">
                <a16:creationId xmlns:a16="http://schemas.microsoft.com/office/drawing/2014/main" id="{1DECF081-7439-4F49-BB73-D7511364B531}"/>
              </a:ext>
            </a:extLst>
          </p:cNvPr>
          <p:cNvSpPr txBox="1"/>
          <p:nvPr/>
        </p:nvSpPr>
        <p:spPr>
          <a:xfrm>
            <a:off x="2525253" y="1098416"/>
            <a:ext cx="1330814" cy="577466"/>
          </a:xfrm>
          <a:prstGeom prst="rect">
            <a:avLst/>
          </a:prstGeom>
          <a:solidFill>
            <a:srgbClr val="FFFFCC"/>
          </a:solidFill>
        </p:spPr>
        <p:txBody>
          <a:bodyPr wrap="none" rtlCol="0">
            <a:spAutoFit/>
          </a:bodyPr>
          <a:lstStyle/>
          <a:p>
            <a:r>
              <a:rPr lang="en-US" sz="1051" b="1" u="sng"/>
              <a:t>Read from Register</a:t>
            </a:r>
            <a:endParaRPr lang="en-US" sz="1051"/>
          </a:p>
          <a:p>
            <a:pPr marL="171446" indent="-171446">
              <a:buFont typeface="Arial" panose="020B0604020202020204" pitchFamily="34" charset="0"/>
              <a:buChar char="•"/>
            </a:pPr>
            <a:r>
              <a:rPr lang="en-US" sz="1051"/>
              <a:t>~G Output Enable</a:t>
            </a:r>
          </a:p>
          <a:p>
            <a:pPr marL="171446" indent="-171446">
              <a:buFont typeface="Arial" panose="020B0604020202020204" pitchFamily="34" charset="0"/>
              <a:buChar char="•"/>
            </a:pPr>
            <a:r>
              <a:rPr lang="en-US" sz="1051"/>
              <a:t>A,B Register Id</a:t>
            </a:r>
          </a:p>
        </p:txBody>
      </p:sp>
      <p:sp>
        <p:nvSpPr>
          <p:cNvPr id="26" name="TextBox 25">
            <a:extLst>
              <a:ext uri="{FF2B5EF4-FFF2-40B4-BE49-F238E27FC236}">
                <a16:creationId xmlns:a16="http://schemas.microsoft.com/office/drawing/2014/main" id="{28BC0C98-8210-47B5-9649-E50C355DF5DD}"/>
              </a:ext>
            </a:extLst>
          </p:cNvPr>
          <p:cNvSpPr txBox="1"/>
          <p:nvPr/>
        </p:nvSpPr>
        <p:spPr>
          <a:xfrm>
            <a:off x="2525253" y="4367048"/>
            <a:ext cx="1619354" cy="577466"/>
          </a:xfrm>
          <a:prstGeom prst="rect">
            <a:avLst/>
          </a:prstGeom>
          <a:solidFill>
            <a:srgbClr val="FFFFCC"/>
          </a:solidFill>
        </p:spPr>
        <p:txBody>
          <a:bodyPr wrap="none" rtlCol="0">
            <a:spAutoFit/>
          </a:bodyPr>
          <a:lstStyle/>
          <a:p>
            <a:r>
              <a:rPr lang="en-US" sz="1051" b="1" u="sng"/>
              <a:t>Write to Register </a:t>
            </a:r>
            <a:endParaRPr lang="en-US" sz="1051"/>
          </a:p>
          <a:p>
            <a:pPr marL="171446" indent="-171446">
              <a:buFont typeface="Arial" panose="020B0604020202020204" pitchFamily="34" charset="0"/>
              <a:buChar char="•"/>
            </a:pPr>
            <a:r>
              <a:rPr lang="en-US" sz="1051" b="1"/>
              <a:t>~G</a:t>
            </a:r>
            <a:r>
              <a:rPr lang="en-US" sz="1051"/>
              <a:t>:  Input Clock Enable</a:t>
            </a:r>
          </a:p>
          <a:p>
            <a:pPr marL="171446" indent="-171446">
              <a:buFont typeface="Arial" panose="020B0604020202020204" pitchFamily="34" charset="0"/>
              <a:buChar char="•"/>
            </a:pPr>
            <a:r>
              <a:rPr lang="en-US" sz="1051" b="1"/>
              <a:t>A,B </a:t>
            </a:r>
            <a:r>
              <a:rPr lang="en-US" sz="1051"/>
              <a:t>Register Id</a:t>
            </a:r>
          </a:p>
        </p:txBody>
      </p:sp>
      <p:cxnSp>
        <p:nvCxnSpPr>
          <p:cNvPr id="28" name="Straight Connector 27">
            <a:extLst>
              <a:ext uri="{FF2B5EF4-FFF2-40B4-BE49-F238E27FC236}">
                <a16:creationId xmlns:a16="http://schemas.microsoft.com/office/drawing/2014/main" id="{AA30994E-A93C-4579-970C-AA1D1E785A8D}"/>
              </a:ext>
            </a:extLst>
          </p:cNvPr>
          <p:cNvCxnSpPr/>
          <p:nvPr/>
        </p:nvCxnSpPr>
        <p:spPr>
          <a:xfrm>
            <a:off x="1086925" y="1712037"/>
            <a:ext cx="0" cy="983048"/>
          </a:xfrm>
          <a:prstGeom prst="line">
            <a:avLst/>
          </a:prstGeom>
        </p:spPr>
        <p:style>
          <a:lnRef idx="2">
            <a:schemeClr val="accent3"/>
          </a:lnRef>
          <a:fillRef idx="0">
            <a:schemeClr val="accent3"/>
          </a:fillRef>
          <a:effectRef idx="1">
            <a:schemeClr val="accent3"/>
          </a:effectRef>
          <a:fontRef idx="minor">
            <a:schemeClr val="tx1"/>
          </a:fontRef>
        </p:style>
      </p:cxnSp>
      <p:sp>
        <p:nvSpPr>
          <p:cNvPr id="29" name="TextBox 28">
            <a:extLst>
              <a:ext uri="{FF2B5EF4-FFF2-40B4-BE49-F238E27FC236}">
                <a16:creationId xmlns:a16="http://schemas.microsoft.com/office/drawing/2014/main" id="{12D9562C-47F7-4C84-A736-3C14378D4C4A}"/>
              </a:ext>
            </a:extLst>
          </p:cNvPr>
          <p:cNvSpPr txBox="1"/>
          <p:nvPr/>
        </p:nvSpPr>
        <p:spPr>
          <a:xfrm>
            <a:off x="836039" y="1437493"/>
            <a:ext cx="519694" cy="276999"/>
          </a:xfrm>
          <a:prstGeom prst="rect">
            <a:avLst/>
          </a:prstGeom>
          <a:solidFill>
            <a:srgbClr val="FFFFCC"/>
          </a:solidFill>
        </p:spPr>
        <p:txBody>
          <a:bodyPr wrap="none" rtlCol="0">
            <a:spAutoFit/>
          </a:bodyPr>
          <a:lstStyle/>
          <a:p>
            <a:r>
              <a:rPr lang="en-US" sz="1200"/>
              <a:t>Clock</a:t>
            </a:r>
          </a:p>
        </p:txBody>
      </p:sp>
      <p:cxnSp>
        <p:nvCxnSpPr>
          <p:cNvPr id="30" name="Straight Connector 29">
            <a:extLst>
              <a:ext uri="{FF2B5EF4-FFF2-40B4-BE49-F238E27FC236}">
                <a16:creationId xmlns:a16="http://schemas.microsoft.com/office/drawing/2014/main" id="{59FEBD6D-250D-4009-81C4-2105DDDABC71}"/>
              </a:ext>
            </a:extLst>
          </p:cNvPr>
          <p:cNvCxnSpPr>
            <a:cxnSpLocks/>
          </p:cNvCxnSpPr>
          <p:nvPr/>
        </p:nvCxnSpPr>
        <p:spPr>
          <a:xfrm>
            <a:off x="745400" y="2361839"/>
            <a:ext cx="0" cy="335700"/>
          </a:xfrm>
          <a:prstGeom prst="line">
            <a:avLst/>
          </a:prstGeom>
          <a:ln>
            <a:headEnd type="oval"/>
          </a:ln>
        </p:spPr>
        <p:style>
          <a:lnRef idx="2">
            <a:schemeClr val="accent3"/>
          </a:lnRef>
          <a:fillRef idx="0">
            <a:schemeClr val="accent3"/>
          </a:fillRef>
          <a:effectRef idx="1">
            <a:schemeClr val="accent3"/>
          </a:effectRef>
          <a:fontRef idx="minor">
            <a:schemeClr val="tx1"/>
          </a:fontRef>
        </p:style>
      </p:cxnSp>
      <p:cxnSp>
        <p:nvCxnSpPr>
          <p:cNvPr id="33" name="Straight Connector 32">
            <a:extLst>
              <a:ext uri="{FF2B5EF4-FFF2-40B4-BE49-F238E27FC236}">
                <a16:creationId xmlns:a16="http://schemas.microsoft.com/office/drawing/2014/main" id="{CBC66723-B8E9-4156-8347-2B53DCF4AD5B}"/>
              </a:ext>
            </a:extLst>
          </p:cNvPr>
          <p:cNvCxnSpPr>
            <a:cxnSpLocks/>
          </p:cNvCxnSpPr>
          <p:nvPr/>
        </p:nvCxnSpPr>
        <p:spPr>
          <a:xfrm>
            <a:off x="1080271" y="3429001"/>
            <a:ext cx="0" cy="335700"/>
          </a:xfrm>
          <a:prstGeom prst="line">
            <a:avLst/>
          </a:prstGeom>
        </p:spPr>
        <p:style>
          <a:lnRef idx="2">
            <a:schemeClr val="accent3"/>
          </a:lnRef>
          <a:fillRef idx="0">
            <a:schemeClr val="accent3"/>
          </a:fillRef>
          <a:effectRef idx="1">
            <a:schemeClr val="accent3"/>
          </a:effectRef>
          <a:fontRef idx="minor">
            <a:schemeClr val="tx1"/>
          </a:fontRef>
        </p:style>
      </p:cxnSp>
      <p:cxnSp>
        <p:nvCxnSpPr>
          <p:cNvPr id="34" name="Straight Connector 33">
            <a:extLst>
              <a:ext uri="{FF2B5EF4-FFF2-40B4-BE49-F238E27FC236}">
                <a16:creationId xmlns:a16="http://schemas.microsoft.com/office/drawing/2014/main" id="{A0D23763-24B4-44DF-A3CC-2C94D0E50D90}"/>
              </a:ext>
            </a:extLst>
          </p:cNvPr>
          <p:cNvCxnSpPr>
            <a:cxnSpLocks/>
          </p:cNvCxnSpPr>
          <p:nvPr/>
        </p:nvCxnSpPr>
        <p:spPr>
          <a:xfrm>
            <a:off x="430368" y="3433978"/>
            <a:ext cx="0" cy="335700"/>
          </a:xfrm>
          <a:prstGeom prst="line">
            <a:avLst/>
          </a:prstGeom>
          <a:ln>
            <a:headEnd type="none"/>
            <a:tailEnd type="oval"/>
          </a:ln>
        </p:spPr>
        <p:style>
          <a:lnRef idx="2">
            <a:schemeClr val="accent3"/>
          </a:lnRef>
          <a:fillRef idx="0">
            <a:schemeClr val="accent3"/>
          </a:fillRef>
          <a:effectRef idx="1">
            <a:schemeClr val="accent3"/>
          </a:effectRef>
          <a:fontRef idx="minor">
            <a:schemeClr val="tx1"/>
          </a:fontRef>
        </p:style>
      </p:cxnSp>
      <p:cxnSp>
        <p:nvCxnSpPr>
          <p:cNvPr id="35" name="Straight Connector 34">
            <a:extLst>
              <a:ext uri="{FF2B5EF4-FFF2-40B4-BE49-F238E27FC236}">
                <a16:creationId xmlns:a16="http://schemas.microsoft.com/office/drawing/2014/main" id="{FAE9DAD8-0BF8-40A9-B25A-865682755965}"/>
              </a:ext>
            </a:extLst>
          </p:cNvPr>
          <p:cNvCxnSpPr>
            <a:cxnSpLocks/>
          </p:cNvCxnSpPr>
          <p:nvPr/>
        </p:nvCxnSpPr>
        <p:spPr>
          <a:xfrm>
            <a:off x="147976" y="3769183"/>
            <a:ext cx="930685" cy="0"/>
          </a:xfrm>
          <a:prstGeom prst="line">
            <a:avLst/>
          </a:prstGeom>
        </p:spPr>
        <p:style>
          <a:lnRef idx="2">
            <a:schemeClr val="accent3"/>
          </a:lnRef>
          <a:fillRef idx="0">
            <a:schemeClr val="accent3"/>
          </a:fillRef>
          <a:effectRef idx="1">
            <a:schemeClr val="accent3"/>
          </a:effectRef>
          <a:fontRef idx="minor">
            <a:schemeClr val="tx1"/>
          </a:fontRef>
        </p:style>
      </p:cxnSp>
      <p:cxnSp>
        <p:nvCxnSpPr>
          <p:cNvPr id="38" name="Straight Connector 37">
            <a:extLst>
              <a:ext uri="{FF2B5EF4-FFF2-40B4-BE49-F238E27FC236}">
                <a16:creationId xmlns:a16="http://schemas.microsoft.com/office/drawing/2014/main" id="{83D88A28-65D2-4D54-AD79-091342C915C9}"/>
              </a:ext>
            </a:extLst>
          </p:cNvPr>
          <p:cNvCxnSpPr>
            <a:cxnSpLocks/>
          </p:cNvCxnSpPr>
          <p:nvPr/>
        </p:nvCxnSpPr>
        <p:spPr>
          <a:xfrm flipH="1">
            <a:off x="167199" y="2361839"/>
            <a:ext cx="914400" cy="0"/>
          </a:xfrm>
          <a:prstGeom prst="line">
            <a:avLst/>
          </a:prstGeom>
          <a:ln>
            <a:headEnd type="oval"/>
          </a:ln>
        </p:spPr>
        <p:style>
          <a:lnRef idx="2">
            <a:schemeClr val="accent3"/>
          </a:lnRef>
          <a:fillRef idx="0">
            <a:schemeClr val="accent3"/>
          </a:fillRef>
          <a:effectRef idx="1">
            <a:schemeClr val="accent3"/>
          </a:effectRef>
          <a:fontRef idx="minor">
            <a:schemeClr val="tx1"/>
          </a:fontRef>
        </p:style>
      </p:cxnSp>
      <p:cxnSp>
        <p:nvCxnSpPr>
          <p:cNvPr id="39" name="Straight Connector 38">
            <a:extLst>
              <a:ext uri="{FF2B5EF4-FFF2-40B4-BE49-F238E27FC236}">
                <a16:creationId xmlns:a16="http://schemas.microsoft.com/office/drawing/2014/main" id="{D049FC9B-9C67-45AD-81B5-A7C86D8B2E25}"/>
              </a:ext>
            </a:extLst>
          </p:cNvPr>
          <p:cNvCxnSpPr>
            <a:cxnSpLocks/>
          </p:cNvCxnSpPr>
          <p:nvPr/>
        </p:nvCxnSpPr>
        <p:spPr>
          <a:xfrm flipH="1">
            <a:off x="149980" y="2359812"/>
            <a:ext cx="14291" cy="1413853"/>
          </a:xfrm>
          <a:prstGeom prst="line">
            <a:avLst/>
          </a:prstGeom>
        </p:spPr>
        <p:style>
          <a:lnRef idx="2">
            <a:schemeClr val="accent3"/>
          </a:lnRef>
          <a:fillRef idx="0">
            <a:schemeClr val="accent3"/>
          </a:fillRef>
          <a:effectRef idx="1">
            <a:schemeClr val="accent3"/>
          </a:effectRef>
          <a:fontRef idx="minor">
            <a:schemeClr val="tx1"/>
          </a:fontRef>
        </p:style>
      </p:cxnSp>
      <p:grpSp>
        <p:nvGrpSpPr>
          <p:cNvPr id="19" name="Group 18">
            <a:extLst>
              <a:ext uri="{FF2B5EF4-FFF2-40B4-BE49-F238E27FC236}">
                <a16:creationId xmlns:a16="http://schemas.microsoft.com/office/drawing/2014/main" id="{0004084C-4A22-4310-8D1F-265AF3DD93D1}"/>
              </a:ext>
            </a:extLst>
          </p:cNvPr>
          <p:cNvGrpSpPr/>
          <p:nvPr/>
        </p:nvGrpSpPr>
        <p:grpSpPr>
          <a:xfrm>
            <a:off x="2878645" y="3632784"/>
            <a:ext cx="325024" cy="766272"/>
            <a:chOff x="2475239" y="1839635"/>
            <a:chExt cx="325024" cy="914400"/>
          </a:xfrm>
        </p:grpSpPr>
        <p:cxnSp>
          <p:nvCxnSpPr>
            <p:cNvPr id="46" name="Straight Connector 45">
              <a:extLst>
                <a:ext uri="{FF2B5EF4-FFF2-40B4-BE49-F238E27FC236}">
                  <a16:creationId xmlns:a16="http://schemas.microsoft.com/office/drawing/2014/main" id="{6EF6E4C4-09E3-434A-897D-A56E0E77084B}"/>
                </a:ext>
              </a:extLst>
            </p:cNvPr>
            <p:cNvCxnSpPr>
              <a:cxnSpLocks/>
            </p:cNvCxnSpPr>
            <p:nvPr/>
          </p:nvCxnSpPr>
          <p:spPr>
            <a:xfrm>
              <a:off x="2634864" y="1839635"/>
              <a:ext cx="0" cy="914400"/>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735C9627-800A-4DEC-B472-2B6BFC4A17A7}"/>
                </a:ext>
              </a:extLst>
            </p:cNvPr>
            <p:cNvCxnSpPr>
              <a:cxnSpLocks/>
            </p:cNvCxnSpPr>
            <p:nvPr/>
          </p:nvCxnSpPr>
          <p:spPr>
            <a:xfrm>
              <a:off x="2800263" y="1839635"/>
              <a:ext cx="0" cy="914400"/>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452D8F7-1F79-4099-B207-153F37E81267}"/>
                </a:ext>
              </a:extLst>
            </p:cNvPr>
            <p:cNvCxnSpPr>
              <a:cxnSpLocks/>
            </p:cNvCxnSpPr>
            <p:nvPr/>
          </p:nvCxnSpPr>
          <p:spPr>
            <a:xfrm>
              <a:off x="2475239" y="1839635"/>
              <a:ext cx="0" cy="914400"/>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grpSp>
      <p:cxnSp>
        <p:nvCxnSpPr>
          <p:cNvPr id="50" name="Straight Connector 49">
            <a:extLst>
              <a:ext uri="{FF2B5EF4-FFF2-40B4-BE49-F238E27FC236}">
                <a16:creationId xmlns:a16="http://schemas.microsoft.com/office/drawing/2014/main" id="{DCAA0DEF-0B34-4B9A-84D1-3E0D054E47FB}"/>
              </a:ext>
            </a:extLst>
          </p:cNvPr>
          <p:cNvCxnSpPr>
            <a:cxnSpLocks/>
          </p:cNvCxnSpPr>
          <p:nvPr/>
        </p:nvCxnSpPr>
        <p:spPr>
          <a:xfrm>
            <a:off x="2385629" y="3689495"/>
            <a:ext cx="0" cy="290835"/>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C2C408CB-F9D5-4762-B5E0-19A55A786C7B}"/>
              </a:ext>
            </a:extLst>
          </p:cNvPr>
          <p:cNvCxnSpPr>
            <a:cxnSpLocks/>
          </p:cNvCxnSpPr>
          <p:nvPr/>
        </p:nvCxnSpPr>
        <p:spPr>
          <a:xfrm>
            <a:off x="2225327" y="3696602"/>
            <a:ext cx="0" cy="156881"/>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9CBE30A-6D59-4F69-83AD-F047D082AB05}"/>
              </a:ext>
            </a:extLst>
          </p:cNvPr>
          <p:cNvCxnSpPr>
            <a:cxnSpLocks/>
          </p:cNvCxnSpPr>
          <p:nvPr/>
        </p:nvCxnSpPr>
        <p:spPr>
          <a:xfrm>
            <a:off x="2546440" y="3690197"/>
            <a:ext cx="0" cy="443279"/>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14CE03A-0E5D-4FF5-9C42-34884EBD88E7}"/>
              </a:ext>
            </a:extLst>
          </p:cNvPr>
          <p:cNvCxnSpPr>
            <a:cxnSpLocks/>
          </p:cNvCxnSpPr>
          <p:nvPr/>
        </p:nvCxnSpPr>
        <p:spPr>
          <a:xfrm flipH="1">
            <a:off x="2698517" y="3705981"/>
            <a:ext cx="0" cy="572255"/>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08AACB8-32C9-4336-BDA8-BC4259CFC116}"/>
              </a:ext>
            </a:extLst>
          </p:cNvPr>
          <p:cNvCxnSpPr>
            <a:cxnSpLocks/>
          </p:cNvCxnSpPr>
          <p:nvPr/>
        </p:nvCxnSpPr>
        <p:spPr>
          <a:xfrm>
            <a:off x="601444" y="3430802"/>
            <a:ext cx="0" cy="562503"/>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10187E0-C1EB-4423-BA15-B02E7EC4C41B}"/>
              </a:ext>
            </a:extLst>
          </p:cNvPr>
          <p:cNvCxnSpPr>
            <a:cxnSpLocks/>
          </p:cNvCxnSpPr>
          <p:nvPr/>
        </p:nvCxnSpPr>
        <p:spPr>
          <a:xfrm>
            <a:off x="921539" y="3435855"/>
            <a:ext cx="0" cy="429032"/>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56515D7-D860-44C3-AA66-34466CCD9899}"/>
              </a:ext>
            </a:extLst>
          </p:cNvPr>
          <p:cNvCxnSpPr>
            <a:cxnSpLocks/>
          </p:cNvCxnSpPr>
          <p:nvPr/>
        </p:nvCxnSpPr>
        <p:spPr>
          <a:xfrm>
            <a:off x="596520" y="2148650"/>
            <a:ext cx="0" cy="554821"/>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CFD6FBBC-AB53-4139-8C1F-86FC94EFB933}"/>
              </a:ext>
            </a:extLst>
          </p:cNvPr>
          <p:cNvCxnSpPr>
            <a:cxnSpLocks/>
          </p:cNvCxnSpPr>
          <p:nvPr/>
        </p:nvCxnSpPr>
        <p:spPr>
          <a:xfrm>
            <a:off x="1247883" y="2290301"/>
            <a:ext cx="0" cy="408691"/>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443561F3-358A-47AA-89A4-DC985483AB32}"/>
              </a:ext>
            </a:extLst>
          </p:cNvPr>
          <p:cNvCxnSpPr>
            <a:cxnSpLocks/>
          </p:cNvCxnSpPr>
          <p:nvPr/>
        </p:nvCxnSpPr>
        <p:spPr>
          <a:xfrm flipH="1">
            <a:off x="601006" y="2147825"/>
            <a:ext cx="1265445" cy="824"/>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E38326B-AC30-4213-9075-5BD862CE42F7}"/>
              </a:ext>
            </a:extLst>
          </p:cNvPr>
          <p:cNvCxnSpPr>
            <a:cxnSpLocks/>
          </p:cNvCxnSpPr>
          <p:nvPr/>
        </p:nvCxnSpPr>
        <p:spPr>
          <a:xfrm flipH="1">
            <a:off x="1250944" y="2292084"/>
            <a:ext cx="473643" cy="0"/>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B6AEE66A-9CBC-43D1-81F4-F1A38A9C6BB2}"/>
              </a:ext>
            </a:extLst>
          </p:cNvPr>
          <p:cNvCxnSpPr>
            <a:cxnSpLocks/>
          </p:cNvCxnSpPr>
          <p:nvPr/>
        </p:nvCxnSpPr>
        <p:spPr>
          <a:xfrm flipH="1">
            <a:off x="603663" y="3980329"/>
            <a:ext cx="1771984" cy="0"/>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D1DAB50-D8BA-4C97-B562-C9BA8BD4E804}"/>
              </a:ext>
            </a:extLst>
          </p:cNvPr>
          <p:cNvCxnSpPr>
            <a:cxnSpLocks/>
          </p:cNvCxnSpPr>
          <p:nvPr/>
        </p:nvCxnSpPr>
        <p:spPr>
          <a:xfrm flipH="1">
            <a:off x="930745" y="3853483"/>
            <a:ext cx="1294583" cy="0"/>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3DD5344C-C304-49F1-AF25-0F38F643040A}"/>
              </a:ext>
            </a:extLst>
          </p:cNvPr>
          <p:cNvCxnSpPr>
            <a:cxnSpLocks/>
          </p:cNvCxnSpPr>
          <p:nvPr/>
        </p:nvCxnSpPr>
        <p:spPr>
          <a:xfrm flipH="1">
            <a:off x="1866451" y="4127653"/>
            <a:ext cx="679667" cy="0"/>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F5B938AC-3396-439E-A018-F66C21B4FEA4}"/>
              </a:ext>
            </a:extLst>
          </p:cNvPr>
          <p:cNvCxnSpPr>
            <a:cxnSpLocks/>
          </p:cNvCxnSpPr>
          <p:nvPr/>
        </p:nvCxnSpPr>
        <p:spPr>
          <a:xfrm>
            <a:off x="1714051" y="2281333"/>
            <a:ext cx="0" cy="1996903"/>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grpSp>
        <p:nvGrpSpPr>
          <p:cNvPr id="118" name="Group 117">
            <a:extLst>
              <a:ext uri="{FF2B5EF4-FFF2-40B4-BE49-F238E27FC236}">
                <a16:creationId xmlns:a16="http://schemas.microsoft.com/office/drawing/2014/main" id="{5C5FEE28-7BB6-4A7C-9CE0-E372BF585223}"/>
              </a:ext>
            </a:extLst>
          </p:cNvPr>
          <p:cNvGrpSpPr/>
          <p:nvPr/>
        </p:nvGrpSpPr>
        <p:grpSpPr>
          <a:xfrm rot="10800000">
            <a:off x="849830" y="2467683"/>
            <a:ext cx="144980" cy="231112"/>
            <a:chOff x="943958" y="3440342"/>
            <a:chExt cx="144980" cy="231112"/>
          </a:xfrm>
        </p:grpSpPr>
        <p:sp>
          <p:nvSpPr>
            <p:cNvPr id="90" name="Oval 89">
              <a:extLst>
                <a:ext uri="{FF2B5EF4-FFF2-40B4-BE49-F238E27FC236}">
                  <a16:creationId xmlns:a16="http://schemas.microsoft.com/office/drawing/2014/main" id="{85297213-F822-4911-B535-ED7E4044DAB4}"/>
                </a:ext>
              </a:extLst>
            </p:cNvPr>
            <p:cNvSpPr/>
            <p:nvPr/>
          </p:nvSpPr>
          <p:spPr>
            <a:xfrm rot="10800000">
              <a:off x="943958" y="3523536"/>
              <a:ext cx="144980" cy="1479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800"/>
                <a:t>C1</a:t>
              </a:r>
            </a:p>
          </p:txBody>
        </p:sp>
        <p:cxnSp>
          <p:nvCxnSpPr>
            <p:cNvPr id="91" name="Straight Connector 90">
              <a:extLst>
                <a:ext uri="{FF2B5EF4-FFF2-40B4-BE49-F238E27FC236}">
                  <a16:creationId xmlns:a16="http://schemas.microsoft.com/office/drawing/2014/main" id="{EB35FEB3-7A62-450E-AA01-6D9720A62E66}"/>
                </a:ext>
              </a:extLst>
            </p:cNvPr>
            <p:cNvCxnSpPr>
              <a:cxnSpLocks/>
              <a:endCxn id="90" idx="4"/>
            </p:cNvCxnSpPr>
            <p:nvPr/>
          </p:nvCxnSpPr>
          <p:spPr>
            <a:xfrm rot="10800000" flipH="1" flipV="1">
              <a:off x="1015668" y="3440342"/>
              <a:ext cx="780" cy="83194"/>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grpSp>
      <p:grpSp>
        <p:nvGrpSpPr>
          <p:cNvPr id="119" name="Group 118">
            <a:extLst>
              <a:ext uri="{FF2B5EF4-FFF2-40B4-BE49-F238E27FC236}">
                <a16:creationId xmlns:a16="http://schemas.microsoft.com/office/drawing/2014/main" id="{6E9847FD-05C1-423E-8797-0C952CF98C31}"/>
              </a:ext>
            </a:extLst>
          </p:cNvPr>
          <p:cNvGrpSpPr/>
          <p:nvPr/>
        </p:nvGrpSpPr>
        <p:grpSpPr>
          <a:xfrm rot="10800000">
            <a:off x="1350471" y="2457692"/>
            <a:ext cx="144980" cy="235600"/>
            <a:chOff x="464349" y="3435854"/>
            <a:chExt cx="144980" cy="235600"/>
          </a:xfrm>
        </p:grpSpPr>
        <p:sp>
          <p:nvSpPr>
            <p:cNvPr id="89" name="Oval 88">
              <a:extLst>
                <a:ext uri="{FF2B5EF4-FFF2-40B4-BE49-F238E27FC236}">
                  <a16:creationId xmlns:a16="http://schemas.microsoft.com/office/drawing/2014/main" id="{D89CD5F6-6E9C-4ED4-8C8E-D0ED37F7A8C2}"/>
                </a:ext>
              </a:extLst>
            </p:cNvPr>
            <p:cNvSpPr/>
            <p:nvPr/>
          </p:nvSpPr>
          <p:spPr>
            <a:xfrm rot="10800000">
              <a:off x="464349" y="3523536"/>
              <a:ext cx="144980" cy="1479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800"/>
                <a:t>C0</a:t>
              </a:r>
            </a:p>
          </p:txBody>
        </p:sp>
        <p:cxnSp>
          <p:nvCxnSpPr>
            <p:cNvPr id="93" name="Straight Connector 92">
              <a:extLst>
                <a:ext uri="{FF2B5EF4-FFF2-40B4-BE49-F238E27FC236}">
                  <a16:creationId xmlns:a16="http://schemas.microsoft.com/office/drawing/2014/main" id="{7486D547-8679-4A6A-BDDD-5145998E98BC}"/>
                </a:ext>
              </a:extLst>
            </p:cNvPr>
            <p:cNvCxnSpPr>
              <a:cxnSpLocks/>
              <a:endCxn id="89" idx="4"/>
            </p:cNvCxnSpPr>
            <p:nvPr/>
          </p:nvCxnSpPr>
          <p:spPr>
            <a:xfrm rot="10800000" flipV="1">
              <a:off x="536839" y="3435854"/>
              <a:ext cx="0" cy="87682"/>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grpSp>
      <p:grpSp>
        <p:nvGrpSpPr>
          <p:cNvPr id="105" name="Group 104">
            <a:extLst>
              <a:ext uri="{FF2B5EF4-FFF2-40B4-BE49-F238E27FC236}">
                <a16:creationId xmlns:a16="http://schemas.microsoft.com/office/drawing/2014/main" id="{175A3987-BAAB-41CA-8592-D6FA414540E4}"/>
              </a:ext>
            </a:extLst>
          </p:cNvPr>
          <p:cNvGrpSpPr/>
          <p:nvPr/>
        </p:nvGrpSpPr>
        <p:grpSpPr>
          <a:xfrm rot="10800000">
            <a:off x="688471" y="3424925"/>
            <a:ext cx="144980" cy="237559"/>
            <a:chOff x="1109802" y="2452249"/>
            <a:chExt cx="144980" cy="237559"/>
          </a:xfrm>
        </p:grpSpPr>
        <p:sp>
          <p:nvSpPr>
            <p:cNvPr id="102" name="Oval 101">
              <a:extLst>
                <a:ext uri="{FF2B5EF4-FFF2-40B4-BE49-F238E27FC236}">
                  <a16:creationId xmlns:a16="http://schemas.microsoft.com/office/drawing/2014/main" id="{85E11A5E-2FBA-4A2C-A12E-90CBEA33BB05}"/>
                </a:ext>
              </a:extLst>
            </p:cNvPr>
            <p:cNvSpPr/>
            <p:nvPr/>
          </p:nvSpPr>
          <p:spPr>
            <a:xfrm rot="10800000">
              <a:off x="1109802" y="2452249"/>
              <a:ext cx="144980" cy="1479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800"/>
                <a:t>C2</a:t>
              </a:r>
            </a:p>
          </p:txBody>
        </p:sp>
        <p:cxnSp>
          <p:nvCxnSpPr>
            <p:cNvPr id="103" name="Straight Connector 102">
              <a:extLst>
                <a:ext uri="{FF2B5EF4-FFF2-40B4-BE49-F238E27FC236}">
                  <a16:creationId xmlns:a16="http://schemas.microsoft.com/office/drawing/2014/main" id="{9E435528-4D5C-4E03-A793-B165741B4591}"/>
                </a:ext>
              </a:extLst>
            </p:cNvPr>
            <p:cNvCxnSpPr>
              <a:cxnSpLocks/>
            </p:cNvCxnSpPr>
            <p:nvPr/>
          </p:nvCxnSpPr>
          <p:spPr>
            <a:xfrm>
              <a:off x="1182292" y="2600167"/>
              <a:ext cx="0" cy="89641"/>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grpSp>
      <p:grpSp>
        <p:nvGrpSpPr>
          <p:cNvPr id="106" name="Group 105">
            <a:extLst>
              <a:ext uri="{FF2B5EF4-FFF2-40B4-BE49-F238E27FC236}">
                <a16:creationId xmlns:a16="http://schemas.microsoft.com/office/drawing/2014/main" id="{E3CF0999-9162-42C1-BB06-E62AC67AEBD9}"/>
              </a:ext>
            </a:extLst>
          </p:cNvPr>
          <p:cNvGrpSpPr/>
          <p:nvPr/>
        </p:nvGrpSpPr>
        <p:grpSpPr>
          <a:xfrm rot="10800000">
            <a:off x="1176915" y="3424925"/>
            <a:ext cx="144980" cy="237559"/>
            <a:chOff x="1109802" y="2452249"/>
            <a:chExt cx="144980" cy="237559"/>
          </a:xfrm>
        </p:grpSpPr>
        <p:sp>
          <p:nvSpPr>
            <p:cNvPr id="107" name="Oval 106">
              <a:extLst>
                <a:ext uri="{FF2B5EF4-FFF2-40B4-BE49-F238E27FC236}">
                  <a16:creationId xmlns:a16="http://schemas.microsoft.com/office/drawing/2014/main" id="{0B9550D3-9E10-45F7-BEFE-7EE661DC6D84}"/>
                </a:ext>
              </a:extLst>
            </p:cNvPr>
            <p:cNvSpPr/>
            <p:nvPr/>
          </p:nvSpPr>
          <p:spPr>
            <a:xfrm rot="10800000">
              <a:off x="1109802" y="2452249"/>
              <a:ext cx="144980" cy="1479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800"/>
                <a:t>C3</a:t>
              </a:r>
            </a:p>
          </p:txBody>
        </p:sp>
        <p:cxnSp>
          <p:nvCxnSpPr>
            <p:cNvPr id="108" name="Straight Connector 107">
              <a:extLst>
                <a:ext uri="{FF2B5EF4-FFF2-40B4-BE49-F238E27FC236}">
                  <a16:creationId xmlns:a16="http://schemas.microsoft.com/office/drawing/2014/main" id="{70A889B1-CBB1-431D-95CD-0936E06FEF49}"/>
                </a:ext>
              </a:extLst>
            </p:cNvPr>
            <p:cNvCxnSpPr>
              <a:cxnSpLocks/>
            </p:cNvCxnSpPr>
            <p:nvPr/>
          </p:nvCxnSpPr>
          <p:spPr>
            <a:xfrm>
              <a:off x="1182292" y="2600167"/>
              <a:ext cx="0" cy="89641"/>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E1F0B82A-064F-4405-97D6-B1C371DE389B}"/>
              </a:ext>
            </a:extLst>
          </p:cNvPr>
          <p:cNvGrpSpPr/>
          <p:nvPr/>
        </p:nvGrpSpPr>
        <p:grpSpPr>
          <a:xfrm>
            <a:off x="3040045" y="1856699"/>
            <a:ext cx="325024" cy="614840"/>
            <a:chOff x="2318356" y="3448800"/>
            <a:chExt cx="325024" cy="914400"/>
          </a:xfrm>
        </p:grpSpPr>
        <p:cxnSp>
          <p:nvCxnSpPr>
            <p:cNvPr id="115" name="Straight Connector 114">
              <a:extLst>
                <a:ext uri="{FF2B5EF4-FFF2-40B4-BE49-F238E27FC236}">
                  <a16:creationId xmlns:a16="http://schemas.microsoft.com/office/drawing/2014/main" id="{AD8F896A-E22F-4809-8C26-F224B4C8C10C}"/>
                </a:ext>
              </a:extLst>
            </p:cNvPr>
            <p:cNvCxnSpPr>
              <a:cxnSpLocks/>
            </p:cNvCxnSpPr>
            <p:nvPr/>
          </p:nvCxnSpPr>
          <p:spPr>
            <a:xfrm>
              <a:off x="2477981" y="3448800"/>
              <a:ext cx="0" cy="91440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95D95E96-1694-44ED-B995-B7BF4816F5CC}"/>
                </a:ext>
              </a:extLst>
            </p:cNvPr>
            <p:cNvCxnSpPr>
              <a:cxnSpLocks/>
            </p:cNvCxnSpPr>
            <p:nvPr/>
          </p:nvCxnSpPr>
          <p:spPr>
            <a:xfrm>
              <a:off x="2643380" y="3448800"/>
              <a:ext cx="0" cy="91440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56011699-5D71-484F-9DA1-A6B2B0F356AC}"/>
                </a:ext>
              </a:extLst>
            </p:cNvPr>
            <p:cNvCxnSpPr>
              <a:cxnSpLocks/>
            </p:cNvCxnSpPr>
            <p:nvPr/>
          </p:nvCxnSpPr>
          <p:spPr>
            <a:xfrm>
              <a:off x="2318356" y="3448800"/>
              <a:ext cx="0" cy="91440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45" name="Group 144">
            <a:extLst>
              <a:ext uri="{FF2B5EF4-FFF2-40B4-BE49-F238E27FC236}">
                <a16:creationId xmlns:a16="http://schemas.microsoft.com/office/drawing/2014/main" id="{06F2D6F1-6995-40C6-8654-A3D1A49C6CB1}"/>
              </a:ext>
            </a:extLst>
          </p:cNvPr>
          <p:cNvGrpSpPr/>
          <p:nvPr/>
        </p:nvGrpSpPr>
        <p:grpSpPr>
          <a:xfrm rot="10800000">
            <a:off x="2315576" y="1911352"/>
            <a:ext cx="633557" cy="478147"/>
            <a:chOff x="2736921" y="3444322"/>
            <a:chExt cx="633557" cy="478147"/>
          </a:xfrm>
        </p:grpSpPr>
        <p:grpSp>
          <p:nvGrpSpPr>
            <p:cNvPr id="120" name="Group 119">
              <a:extLst>
                <a:ext uri="{FF2B5EF4-FFF2-40B4-BE49-F238E27FC236}">
                  <a16:creationId xmlns:a16="http://schemas.microsoft.com/office/drawing/2014/main" id="{2A5F16B0-F08E-43EA-9AB9-DB33F7F6A005}"/>
                </a:ext>
              </a:extLst>
            </p:cNvPr>
            <p:cNvGrpSpPr/>
            <p:nvPr/>
          </p:nvGrpSpPr>
          <p:grpSpPr>
            <a:xfrm>
              <a:off x="2736921" y="3444322"/>
              <a:ext cx="144980" cy="478147"/>
              <a:chOff x="464349" y="3193307"/>
              <a:chExt cx="144980" cy="478147"/>
            </a:xfrm>
            <a:solidFill>
              <a:srgbClr val="FF0000"/>
            </a:solidFill>
          </p:grpSpPr>
          <p:sp>
            <p:nvSpPr>
              <p:cNvPr id="121" name="Oval 120">
                <a:extLst>
                  <a:ext uri="{FF2B5EF4-FFF2-40B4-BE49-F238E27FC236}">
                    <a16:creationId xmlns:a16="http://schemas.microsoft.com/office/drawing/2014/main" id="{20D17F78-34C3-4B44-8B9A-3A9553CB4296}"/>
                  </a:ext>
                </a:extLst>
              </p:cNvPr>
              <p:cNvSpPr/>
              <p:nvPr/>
            </p:nvSpPr>
            <p:spPr>
              <a:xfrm>
                <a:off x="464349" y="3523536"/>
                <a:ext cx="144980" cy="147918"/>
              </a:xfrm>
              <a:prstGeom prst="ellipse">
                <a:avLst/>
              </a:prstGeom>
              <a:gr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vert270" wrap="none" rtlCol="0" anchor="ctr"/>
              <a:lstStyle/>
              <a:p>
                <a:pPr algn="ctr"/>
                <a:r>
                  <a:rPr lang="en-US" sz="800"/>
                  <a:t>OE0</a:t>
                </a:r>
              </a:p>
            </p:txBody>
          </p:sp>
          <p:cxnSp>
            <p:nvCxnSpPr>
              <p:cNvPr id="122" name="Straight Connector 121">
                <a:extLst>
                  <a:ext uri="{FF2B5EF4-FFF2-40B4-BE49-F238E27FC236}">
                    <a16:creationId xmlns:a16="http://schemas.microsoft.com/office/drawing/2014/main" id="{F892D6B4-2C58-4DAA-BD76-7122DE1E5061}"/>
                  </a:ext>
                </a:extLst>
              </p:cNvPr>
              <p:cNvCxnSpPr>
                <a:cxnSpLocks/>
              </p:cNvCxnSpPr>
              <p:nvPr/>
            </p:nvCxnSpPr>
            <p:spPr>
              <a:xfrm>
                <a:off x="536839" y="3193307"/>
                <a:ext cx="0" cy="330229"/>
              </a:xfrm>
              <a:prstGeom prst="line">
                <a:avLst/>
              </a:prstGeom>
              <a:grpFill/>
              <a:ln w="127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24" name="Group 123">
              <a:extLst>
                <a:ext uri="{FF2B5EF4-FFF2-40B4-BE49-F238E27FC236}">
                  <a16:creationId xmlns:a16="http://schemas.microsoft.com/office/drawing/2014/main" id="{FB74B608-DA83-4660-A775-43310FA37D90}"/>
                </a:ext>
              </a:extLst>
            </p:cNvPr>
            <p:cNvGrpSpPr/>
            <p:nvPr/>
          </p:nvGrpSpPr>
          <p:grpSpPr>
            <a:xfrm>
              <a:off x="2899780" y="3444322"/>
              <a:ext cx="144980" cy="478147"/>
              <a:chOff x="464349" y="3193307"/>
              <a:chExt cx="144980" cy="478147"/>
            </a:xfrm>
            <a:solidFill>
              <a:srgbClr val="FF0000"/>
            </a:solidFill>
          </p:grpSpPr>
          <p:sp>
            <p:nvSpPr>
              <p:cNvPr id="125" name="Oval 124">
                <a:extLst>
                  <a:ext uri="{FF2B5EF4-FFF2-40B4-BE49-F238E27FC236}">
                    <a16:creationId xmlns:a16="http://schemas.microsoft.com/office/drawing/2014/main" id="{21D628DF-8A37-4463-9B55-C62EF46CF6A1}"/>
                  </a:ext>
                </a:extLst>
              </p:cNvPr>
              <p:cNvSpPr/>
              <p:nvPr/>
            </p:nvSpPr>
            <p:spPr>
              <a:xfrm>
                <a:off x="464349" y="3523536"/>
                <a:ext cx="144980" cy="147918"/>
              </a:xfrm>
              <a:prstGeom prst="ellipse">
                <a:avLst/>
              </a:prstGeom>
              <a:gr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vert270" wrap="none" rtlCol="0" anchor="ctr"/>
              <a:lstStyle/>
              <a:p>
                <a:pPr algn="ctr"/>
                <a:r>
                  <a:rPr lang="en-US" sz="800"/>
                  <a:t>OE1</a:t>
                </a:r>
              </a:p>
            </p:txBody>
          </p:sp>
          <p:cxnSp>
            <p:nvCxnSpPr>
              <p:cNvPr id="126" name="Straight Connector 125">
                <a:extLst>
                  <a:ext uri="{FF2B5EF4-FFF2-40B4-BE49-F238E27FC236}">
                    <a16:creationId xmlns:a16="http://schemas.microsoft.com/office/drawing/2014/main" id="{F5622B5B-F2D3-410E-AC1C-4A24AB8E0FD7}"/>
                  </a:ext>
                </a:extLst>
              </p:cNvPr>
              <p:cNvCxnSpPr>
                <a:cxnSpLocks/>
              </p:cNvCxnSpPr>
              <p:nvPr/>
            </p:nvCxnSpPr>
            <p:spPr>
              <a:xfrm>
                <a:off x="536839" y="3193307"/>
                <a:ext cx="0" cy="330229"/>
              </a:xfrm>
              <a:prstGeom prst="line">
                <a:avLst/>
              </a:prstGeom>
              <a:grpFill/>
              <a:ln w="127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27" name="Group 126">
              <a:extLst>
                <a:ext uri="{FF2B5EF4-FFF2-40B4-BE49-F238E27FC236}">
                  <a16:creationId xmlns:a16="http://schemas.microsoft.com/office/drawing/2014/main" id="{1A926D54-C224-4D9B-A712-D197A4A8644F}"/>
                </a:ext>
              </a:extLst>
            </p:cNvPr>
            <p:cNvGrpSpPr/>
            <p:nvPr/>
          </p:nvGrpSpPr>
          <p:grpSpPr>
            <a:xfrm>
              <a:off x="3062639" y="3444322"/>
              <a:ext cx="144980" cy="478147"/>
              <a:chOff x="464349" y="3193307"/>
              <a:chExt cx="144980" cy="478147"/>
            </a:xfrm>
            <a:solidFill>
              <a:srgbClr val="FF0000"/>
            </a:solidFill>
          </p:grpSpPr>
          <p:sp>
            <p:nvSpPr>
              <p:cNvPr id="128" name="Oval 127">
                <a:extLst>
                  <a:ext uri="{FF2B5EF4-FFF2-40B4-BE49-F238E27FC236}">
                    <a16:creationId xmlns:a16="http://schemas.microsoft.com/office/drawing/2014/main" id="{DB470477-8AE4-4C57-91F0-D2B6A8C0292A}"/>
                  </a:ext>
                </a:extLst>
              </p:cNvPr>
              <p:cNvSpPr/>
              <p:nvPr/>
            </p:nvSpPr>
            <p:spPr>
              <a:xfrm>
                <a:off x="464349" y="3523536"/>
                <a:ext cx="144980" cy="147918"/>
              </a:xfrm>
              <a:prstGeom prst="ellipse">
                <a:avLst/>
              </a:prstGeom>
              <a:gr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vert270" wrap="none" rtlCol="0" anchor="ctr"/>
              <a:lstStyle/>
              <a:p>
                <a:pPr algn="ctr"/>
                <a:r>
                  <a:rPr lang="en-US" sz="800"/>
                  <a:t>OE2</a:t>
                </a:r>
              </a:p>
            </p:txBody>
          </p:sp>
          <p:cxnSp>
            <p:nvCxnSpPr>
              <p:cNvPr id="129" name="Straight Connector 128">
                <a:extLst>
                  <a:ext uri="{FF2B5EF4-FFF2-40B4-BE49-F238E27FC236}">
                    <a16:creationId xmlns:a16="http://schemas.microsoft.com/office/drawing/2014/main" id="{5E902CF4-CBB6-4A42-AF88-B390257C9DA0}"/>
                  </a:ext>
                </a:extLst>
              </p:cNvPr>
              <p:cNvCxnSpPr>
                <a:cxnSpLocks/>
              </p:cNvCxnSpPr>
              <p:nvPr/>
            </p:nvCxnSpPr>
            <p:spPr>
              <a:xfrm>
                <a:off x="536839" y="3193307"/>
                <a:ext cx="0" cy="330229"/>
              </a:xfrm>
              <a:prstGeom prst="line">
                <a:avLst/>
              </a:prstGeom>
              <a:grpFill/>
              <a:ln w="127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30" name="Group 129">
              <a:extLst>
                <a:ext uri="{FF2B5EF4-FFF2-40B4-BE49-F238E27FC236}">
                  <a16:creationId xmlns:a16="http://schemas.microsoft.com/office/drawing/2014/main" id="{99179D2E-31D7-4AF0-BFD8-17A33F0ADAFE}"/>
                </a:ext>
              </a:extLst>
            </p:cNvPr>
            <p:cNvGrpSpPr/>
            <p:nvPr/>
          </p:nvGrpSpPr>
          <p:grpSpPr>
            <a:xfrm>
              <a:off x="3225498" y="3444322"/>
              <a:ext cx="144980" cy="478147"/>
              <a:chOff x="464349" y="3193307"/>
              <a:chExt cx="144980" cy="478147"/>
            </a:xfrm>
            <a:solidFill>
              <a:srgbClr val="FF0000"/>
            </a:solidFill>
          </p:grpSpPr>
          <p:sp>
            <p:nvSpPr>
              <p:cNvPr id="131" name="Oval 130">
                <a:extLst>
                  <a:ext uri="{FF2B5EF4-FFF2-40B4-BE49-F238E27FC236}">
                    <a16:creationId xmlns:a16="http://schemas.microsoft.com/office/drawing/2014/main" id="{E88BAD95-EFF6-49E9-A148-A94C96B7FFE3}"/>
                  </a:ext>
                </a:extLst>
              </p:cNvPr>
              <p:cNvSpPr/>
              <p:nvPr/>
            </p:nvSpPr>
            <p:spPr>
              <a:xfrm>
                <a:off x="464349" y="3523536"/>
                <a:ext cx="144980" cy="147918"/>
              </a:xfrm>
              <a:prstGeom prst="ellipse">
                <a:avLst/>
              </a:prstGeom>
              <a:gr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vert270" wrap="none" rtlCol="0" anchor="ctr"/>
              <a:lstStyle/>
              <a:p>
                <a:pPr algn="ctr"/>
                <a:r>
                  <a:rPr lang="en-US" sz="800"/>
                  <a:t>OE3</a:t>
                </a:r>
              </a:p>
            </p:txBody>
          </p:sp>
          <p:cxnSp>
            <p:nvCxnSpPr>
              <p:cNvPr id="132" name="Straight Connector 131">
                <a:extLst>
                  <a:ext uri="{FF2B5EF4-FFF2-40B4-BE49-F238E27FC236}">
                    <a16:creationId xmlns:a16="http://schemas.microsoft.com/office/drawing/2014/main" id="{B9CF1D71-6D0C-408F-9F30-4A12B5B5109E}"/>
                  </a:ext>
                </a:extLst>
              </p:cNvPr>
              <p:cNvCxnSpPr>
                <a:cxnSpLocks/>
              </p:cNvCxnSpPr>
              <p:nvPr/>
            </p:nvCxnSpPr>
            <p:spPr>
              <a:xfrm>
                <a:off x="536839" y="3193307"/>
                <a:ext cx="0" cy="330229"/>
              </a:xfrm>
              <a:prstGeom prst="line">
                <a:avLst/>
              </a:prstGeom>
              <a:grpFill/>
              <a:ln w="12700">
                <a:solidFill>
                  <a:srgbClr val="FF0000"/>
                </a:solidFill>
              </a:ln>
            </p:spPr>
            <p:style>
              <a:lnRef idx="1">
                <a:schemeClr val="accent1"/>
              </a:lnRef>
              <a:fillRef idx="0">
                <a:schemeClr val="accent1"/>
              </a:fillRef>
              <a:effectRef idx="0">
                <a:schemeClr val="accent1"/>
              </a:effectRef>
              <a:fontRef idx="minor">
                <a:schemeClr val="tx1"/>
              </a:fontRef>
            </p:style>
          </p:cxnSp>
        </p:grpSp>
      </p:grpSp>
      <p:grpSp>
        <p:nvGrpSpPr>
          <p:cNvPr id="3" name="Group 2">
            <a:extLst>
              <a:ext uri="{FF2B5EF4-FFF2-40B4-BE49-F238E27FC236}">
                <a16:creationId xmlns:a16="http://schemas.microsoft.com/office/drawing/2014/main" id="{6D3BBCE6-CA13-4044-B3AA-06525BB04B50}"/>
              </a:ext>
            </a:extLst>
          </p:cNvPr>
          <p:cNvGrpSpPr/>
          <p:nvPr/>
        </p:nvGrpSpPr>
        <p:grpSpPr>
          <a:xfrm rot="10800000">
            <a:off x="3856887" y="2376049"/>
            <a:ext cx="7701157" cy="1353683"/>
            <a:chOff x="3856886" y="2376049"/>
            <a:chExt cx="7701157" cy="1353682"/>
          </a:xfrm>
        </p:grpSpPr>
        <p:grpSp>
          <p:nvGrpSpPr>
            <p:cNvPr id="15" name="Group 14">
              <a:extLst>
                <a:ext uri="{FF2B5EF4-FFF2-40B4-BE49-F238E27FC236}">
                  <a16:creationId xmlns:a16="http://schemas.microsoft.com/office/drawing/2014/main" id="{C8CCC435-1371-40FB-9FC7-C5A2EC737CEF}"/>
                </a:ext>
              </a:extLst>
            </p:cNvPr>
            <p:cNvGrpSpPr/>
            <p:nvPr/>
          </p:nvGrpSpPr>
          <p:grpSpPr>
            <a:xfrm>
              <a:off x="3856886" y="2434985"/>
              <a:ext cx="7701157" cy="1258126"/>
              <a:chOff x="3856886" y="2434985"/>
              <a:chExt cx="7701157" cy="1258126"/>
            </a:xfrm>
          </p:grpSpPr>
          <p:grpSp>
            <p:nvGrpSpPr>
              <p:cNvPr id="10" name="Group 9">
                <a:extLst>
                  <a:ext uri="{FF2B5EF4-FFF2-40B4-BE49-F238E27FC236}">
                    <a16:creationId xmlns:a16="http://schemas.microsoft.com/office/drawing/2014/main" id="{66D5C9C5-4007-43DF-A1D1-3D088888D8AC}"/>
                  </a:ext>
                </a:extLst>
              </p:cNvPr>
              <p:cNvGrpSpPr/>
              <p:nvPr/>
            </p:nvGrpSpPr>
            <p:grpSpPr>
              <a:xfrm>
                <a:off x="3856886" y="2434985"/>
                <a:ext cx="7701157" cy="1258126"/>
                <a:chOff x="3856886" y="2434985"/>
                <a:chExt cx="7701157" cy="1258126"/>
              </a:xfrm>
            </p:grpSpPr>
            <p:pic>
              <p:nvPicPr>
                <p:cNvPr id="5" name="Picture 4">
                  <a:extLst>
                    <a:ext uri="{FF2B5EF4-FFF2-40B4-BE49-F238E27FC236}">
                      <a16:creationId xmlns:a16="http://schemas.microsoft.com/office/drawing/2014/main" id="{466B1293-B856-4823-905E-56EE2F7D2E22}"/>
                    </a:ext>
                  </a:extLst>
                </p:cNvPr>
                <p:cNvPicPr>
                  <a:picLocks noChangeAspect="1"/>
                </p:cNvPicPr>
                <p:nvPr/>
              </p:nvPicPr>
              <p:blipFill>
                <a:blip r:embed="rId7"/>
                <a:stretch>
                  <a:fillRect/>
                </a:stretch>
              </p:blipFill>
              <p:spPr>
                <a:xfrm>
                  <a:off x="7776212" y="2434985"/>
                  <a:ext cx="1822167" cy="1258126"/>
                </a:xfrm>
                <a:prstGeom prst="rect">
                  <a:avLst/>
                </a:prstGeom>
              </p:spPr>
            </p:pic>
            <p:pic>
              <p:nvPicPr>
                <p:cNvPr id="6" name="Picture 5">
                  <a:extLst>
                    <a:ext uri="{FF2B5EF4-FFF2-40B4-BE49-F238E27FC236}">
                      <a16:creationId xmlns:a16="http://schemas.microsoft.com/office/drawing/2014/main" id="{8813AF96-EF8E-4A9B-BDDE-7CE28564021D}"/>
                    </a:ext>
                  </a:extLst>
                </p:cNvPr>
                <p:cNvPicPr>
                  <a:picLocks noChangeAspect="1"/>
                </p:cNvPicPr>
                <p:nvPr/>
              </p:nvPicPr>
              <p:blipFill>
                <a:blip r:embed="rId7"/>
                <a:stretch>
                  <a:fillRect/>
                </a:stretch>
              </p:blipFill>
              <p:spPr>
                <a:xfrm>
                  <a:off x="9735876" y="2434985"/>
                  <a:ext cx="1822167" cy="1258126"/>
                </a:xfrm>
                <a:prstGeom prst="rect">
                  <a:avLst/>
                </a:prstGeom>
              </p:spPr>
            </p:pic>
            <p:pic>
              <p:nvPicPr>
                <p:cNvPr id="7" name="Picture 6">
                  <a:extLst>
                    <a:ext uri="{FF2B5EF4-FFF2-40B4-BE49-F238E27FC236}">
                      <a16:creationId xmlns:a16="http://schemas.microsoft.com/office/drawing/2014/main" id="{1BF3A7D1-F7CF-4B80-92E3-E53FB9E69DDD}"/>
                    </a:ext>
                  </a:extLst>
                </p:cNvPr>
                <p:cNvPicPr>
                  <a:picLocks noChangeAspect="1"/>
                </p:cNvPicPr>
                <p:nvPr/>
              </p:nvPicPr>
              <p:blipFill>
                <a:blip r:embed="rId7"/>
                <a:stretch>
                  <a:fillRect/>
                </a:stretch>
              </p:blipFill>
              <p:spPr>
                <a:xfrm>
                  <a:off x="5816549" y="2434985"/>
                  <a:ext cx="1822167" cy="1258126"/>
                </a:xfrm>
                <a:prstGeom prst="rect">
                  <a:avLst/>
                </a:prstGeom>
              </p:spPr>
            </p:pic>
            <p:pic>
              <p:nvPicPr>
                <p:cNvPr id="9" name="Picture 8">
                  <a:extLst>
                    <a:ext uri="{FF2B5EF4-FFF2-40B4-BE49-F238E27FC236}">
                      <a16:creationId xmlns:a16="http://schemas.microsoft.com/office/drawing/2014/main" id="{6855BF77-5479-4DF2-833D-84737415CE07}"/>
                    </a:ext>
                  </a:extLst>
                </p:cNvPr>
                <p:cNvPicPr>
                  <a:picLocks noChangeAspect="1"/>
                </p:cNvPicPr>
                <p:nvPr/>
              </p:nvPicPr>
              <p:blipFill>
                <a:blip r:embed="rId7"/>
                <a:stretch>
                  <a:fillRect/>
                </a:stretch>
              </p:blipFill>
              <p:spPr>
                <a:xfrm>
                  <a:off x="3856886" y="2434985"/>
                  <a:ext cx="1822167" cy="1258126"/>
                </a:xfrm>
                <a:prstGeom prst="rect">
                  <a:avLst/>
                </a:prstGeom>
              </p:spPr>
            </p:pic>
          </p:grpSp>
          <p:sp>
            <p:nvSpPr>
              <p:cNvPr id="11" name="TextBox 10">
                <a:extLst>
                  <a:ext uri="{FF2B5EF4-FFF2-40B4-BE49-F238E27FC236}">
                    <a16:creationId xmlns:a16="http://schemas.microsoft.com/office/drawing/2014/main" id="{EE187271-0DA4-4590-BFF4-DB0E437ADC97}"/>
                  </a:ext>
                </a:extLst>
              </p:cNvPr>
              <p:cNvSpPr txBox="1"/>
              <p:nvPr/>
            </p:nvSpPr>
            <p:spPr>
              <a:xfrm>
                <a:off x="10416126" y="2908049"/>
                <a:ext cx="461665" cy="334387"/>
              </a:xfrm>
              <a:prstGeom prst="rect">
                <a:avLst/>
              </a:prstGeom>
              <a:solidFill>
                <a:schemeClr val="bg2"/>
              </a:solidFill>
            </p:spPr>
            <p:txBody>
              <a:bodyPr vert="vert270" wrap="none" rtlCol="0">
                <a:spAutoFit/>
              </a:bodyPr>
              <a:lstStyle/>
              <a:p>
                <a:r>
                  <a:rPr lang="en-US"/>
                  <a:t>R3</a:t>
                </a:r>
              </a:p>
            </p:txBody>
          </p:sp>
          <p:sp>
            <p:nvSpPr>
              <p:cNvPr id="12" name="TextBox 11">
                <a:extLst>
                  <a:ext uri="{FF2B5EF4-FFF2-40B4-BE49-F238E27FC236}">
                    <a16:creationId xmlns:a16="http://schemas.microsoft.com/office/drawing/2014/main" id="{B8C2E4F8-100D-4441-8950-8850660E066E}"/>
                  </a:ext>
                </a:extLst>
              </p:cNvPr>
              <p:cNvSpPr txBox="1"/>
              <p:nvPr/>
            </p:nvSpPr>
            <p:spPr>
              <a:xfrm>
                <a:off x="8471565" y="2890578"/>
                <a:ext cx="461665" cy="369332"/>
              </a:xfrm>
              <a:prstGeom prst="rect">
                <a:avLst/>
              </a:prstGeom>
              <a:solidFill>
                <a:schemeClr val="bg2"/>
              </a:solidFill>
            </p:spPr>
            <p:txBody>
              <a:bodyPr vert="vert270" wrap="square" rtlCol="0">
                <a:spAutoFit/>
              </a:bodyPr>
              <a:lstStyle/>
              <a:p>
                <a:r>
                  <a:rPr lang="en-US"/>
                  <a:t>R2</a:t>
                </a:r>
              </a:p>
            </p:txBody>
          </p:sp>
          <p:sp>
            <p:nvSpPr>
              <p:cNvPr id="13" name="TextBox 12">
                <a:extLst>
                  <a:ext uri="{FF2B5EF4-FFF2-40B4-BE49-F238E27FC236}">
                    <a16:creationId xmlns:a16="http://schemas.microsoft.com/office/drawing/2014/main" id="{7FCB9D34-A6BB-43BA-B118-6B9CA122227A}"/>
                  </a:ext>
                </a:extLst>
              </p:cNvPr>
              <p:cNvSpPr txBox="1"/>
              <p:nvPr/>
            </p:nvSpPr>
            <p:spPr>
              <a:xfrm>
                <a:off x="6527005" y="2908049"/>
                <a:ext cx="461665" cy="334387"/>
              </a:xfrm>
              <a:prstGeom prst="rect">
                <a:avLst/>
              </a:prstGeom>
              <a:solidFill>
                <a:schemeClr val="bg2"/>
              </a:solidFill>
            </p:spPr>
            <p:txBody>
              <a:bodyPr vert="vert270" wrap="none" rtlCol="0">
                <a:spAutoFit/>
              </a:bodyPr>
              <a:lstStyle/>
              <a:p>
                <a:r>
                  <a:rPr lang="en-US"/>
                  <a:t>R1</a:t>
                </a:r>
              </a:p>
            </p:txBody>
          </p:sp>
          <p:sp>
            <p:nvSpPr>
              <p:cNvPr id="14" name="TextBox 13">
                <a:extLst>
                  <a:ext uri="{FF2B5EF4-FFF2-40B4-BE49-F238E27FC236}">
                    <a16:creationId xmlns:a16="http://schemas.microsoft.com/office/drawing/2014/main" id="{05E386D1-9E04-49BB-84A6-DA30F9285B7D}"/>
                  </a:ext>
                </a:extLst>
              </p:cNvPr>
              <p:cNvSpPr txBox="1"/>
              <p:nvPr/>
            </p:nvSpPr>
            <p:spPr>
              <a:xfrm>
                <a:off x="4582443" y="2890578"/>
                <a:ext cx="461665" cy="369332"/>
              </a:xfrm>
              <a:prstGeom prst="rect">
                <a:avLst/>
              </a:prstGeom>
              <a:solidFill>
                <a:schemeClr val="bg2"/>
              </a:solidFill>
            </p:spPr>
            <p:txBody>
              <a:bodyPr vert="vert270" wrap="square" rtlCol="0">
                <a:spAutoFit/>
              </a:bodyPr>
              <a:lstStyle/>
              <a:p>
                <a:r>
                  <a:rPr lang="en-US"/>
                  <a:t>R0</a:t>
                </a:r>
              </a:p>
            </p:txBody>
          </p:sp>
        </p:grpSp>
        <p:grpSp>
          <p:nvGrpSpPr>
            <p:cNvPr id="101" name="Group 100">
              <a:extLst>
                <a:ext uri="{FF2B5EF4-FFF2-40B4-BE49-F238E27FC236}">
                  <a16:creationId xmlns:a16="http://schemas.microsoft.com/office/drawing/2014/main" id="{C1B29526-8025-42C9-BF75-D5AA74BCF2DE}"/>
                </a:ext>
              </a:extLst>
            </p:cNvPr>
            <p:cNvGrpSpPr/>
            <p:nvPr/>
          </p:nvGrpSpPr>
          <p:grpSpPr>
            <a:xfrm>
              <a:off x="11280366" y="2376049"/>
              <a:ext cx="144980" cy="228598"/>
              <a:chOff x="11280366" y="2376049"/>
              <a:chExt cx="144980" cy="228598"/>
            </a:xfrm>
          </p:grpSpPr>
          <p:sp>
            <p:nvSpPr>
              <p:cNvPr id="96" name="Oval 95">
                <a:extLst>
                  <a:ext uri="{FF2B5EF4-FFF2-40B4-BE49-F238E27FC236}">
                    <a16:creationId xmlns:a16="http://schemas.microsoft.com/office/drawing/2014/main" id="{F2FC27E4-3390-4BD1-AF6E-A6B18AF63C61}"/>
                  </a:ext>
                </a:extLst>
              </p:cNvPr>
              <p:cNvSpPr/>
              <p:nvPr/>
            </p:nvSpPr>
            <p:spPr>
              <a:xfrm>
                <a:off x="11280366" y="2376049"/>
                <a:ext cx="144980" cy="1479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vert="vert270" wrap="none" rtlCol="0" anchor="ctr"/>
              <a:lstStyle/>
              <a:p>
                <a:pPr algn="ctr"/>
                <a:r>
                  <a:rPr lang="en-US" sz="800"/>
                  <a:t>C3</a:t>
                </a:r>
              </a:p>
            </p:txBody>
          </p:sp>
          <p:cxnSp>
            <p:nvCxnSpPr>
              <p:cNvPr id="97" name="Straight Connector 96">
                <a:extLst>
                  <a:ext uri="{FF2B5EF4-FFF2-40B4-BE49-F238E27FC236}">
                    <a16:creationId xmlns:a16="http://schemas.microsoft.com/office/drawing/2014/main" id="{4CECB1FB-221F-4A3A-85AF-BC16296CF855}"/>
                  </a:ext>
                </a:extLst>
              </p:cNvPr>
              <p:cNvCxnSpPr>
                <a:cxnSpLocks/>
              </p:cNvCxnSpPr>
              <p:nvPr/>
            </p:nvCxnSpPr>
            <p:spPr>
              <a:xfrm>
                <a:off x="11348371" y="2516965"/>
                <a:ext cx="0" cy="87682"/>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grpSp>
        <p:grpSp>
          <p:nvGrpSpPr>
            <p:cNvPr id="100" name="Group 99">
              <a:extLst>
                <a:ext uri="{FF2B5EF4-FFF2-40B4-BE49-F238E27FC236}">
                  <a16:creationId xmlns:a16="http://schemas.microsoft.com/office/drawing/2014/main" id="{2B081A4C-0C80-4D08-9CA3-73159DB532D6}"/>
                </a:ext>
              </a:extLst>
            </p:cNvPr>
            <p:cNvGrpSpPr/>
            <p:nvPr/>
          </p:nvGrpSpPr>
          <p:grpSpPr>
            <a:xfrm>
              <a:off x="9312603" y="2376049"/>
              <a:ext cx="144980" cy="228598"/>
              <a:chOff x="9312603" y="2340195"/>
              <a:chExt cx="144980" cy="228598"/>
            </a:xfrm>
          </p:grpSpPr>
          <p:sp>
            <p:nvSpPr>
              <p:cNvPr id="98" name="Oval 97">
                <a:extLst>
                  <a:ext uri="{FF2B5EF4-FFF2-40B4-BE49-F238E27FC236}">
                    <a16:creationId xmlns:a16="http://schemas.microsoft.com/office/drawing/2014/main" id="{8B0E2E4D-C107-4064-8A86-C0CB8D2CB46E}"/>
                  </a:ext>
                </a:extLst>
              </p:cNvPr>
              <p:cNvSpPr/>
              <p:nvPr/>
            </p:nvSpPr>
            <p:spPr>
              <a:xfrm>
                <a:off x="9312603" y="2340195"/>
                <a:ext cx="144980" cy="1479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vert="vert270" wrap="none" rtlCol="0" anchor="ctr"/>
              <a:lstStyle/>
              <a:p>
                <a:pPr algn="ctr"/>
                <a:r>
                  <a:rPr lang="en-US" sz="800"/>
                  <a:t>C2</a:t>
                </a:r>
              </a:p>
            </p:txBody>
          </p:sp>
          <p:cxnSp>
            <p:nvCxnSpPr>
              <p:cNvPr id="99" name="Straight Connector 98">
                <a:extLst>
                  <a:ext uri="{FF2B5EF4-FFF2-40B4-BE49-F238E27FC236}">
                    <a16:creationId xmlns:a16="http://schemas.microsoft.com/office/drawing/2014/main" id="{C6345025-CBFB-4B31-B27F-165054599B2C}"/>
                  </a:ext>
                </a:extLst>
              </p:cNvPr>
              <p:cNvCxnSpPr>
                <a:cxnSpLocks/>
              </p:cNvCxnSpPr>
              <p:nvPr/>
            </p:nvCxnSpPr>
            <p:spPr>
              <a:xfrm>
                <a:off x="9380608" y="2481111"/>
                <a:ext cx="0" cy="87682"/>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grpSp>
        <p:grpSp>
          <p:nvGrpSpPr>
            <p:cNvPr id="109" name="Group 108">
              <a:extLst>
                <a:ext uri="{FF2B5EF4-FFF2-40B4-BE49-F238E27FC236}">
                  <a16:creationId xmlns:a16="http://schemas.microsoft.com/office/drawing/2014/main" id="{DDEBA235-D001-4BC6-9330-14A5105E23A1}"/>
                </a:ext>
              </a:extLst>
            </p:cNvPr>
            <p:cNvGrpSpPr/>
            <p:nvPr/>
          </p:nvGrpSpPr>
          <p:grpSpPr>
            <a:xfrm>
              <a:off x="5394964" y="2398466"/>
              <a:ext cx="144980" cy="237559"/>
              <a:chOff x="1109802" y="2452249"/>
              <a:chExt cx="144980" cy="237559"/>
            </a:xfrm>
          </p:grpSpPr>
          <p:sp>
            <p:nvSpPr>
              <p:cNvPr id="110" name="Oval 109">
                <a:extLst>
                  <a:ext uri="{FF2B5EF4-FFF2-40B4-BE49-F238E27FC236}">
                    <a16:creationId xmlns:a16="http://schemas.microsoft.com/office/drawing/2014/main" id="{F8B1A00D-6CFC-411D-9244-1AAF11B97846}"/>
                  </a:ext>
                </a:extLst>
              </p:cNvPr>
              <p:cNvSpPr/>
              <p:nvPr/>
            </p:nvSpPr>
            <p:spPr>
              <a:xfrm>
                <a:off x="1109802" y="2452249"/>
                <a:ext cx="144980" cy="1479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vert="vert270" wrap="none" rtlCol="0" anchor="ctr"/>
              <a:lstStyle/>
              <a:p>
                <a:pPr algn="ctr"/>
                <a:r>
                  <a:rPr lang="en-US" sz="800"/>
                  <a:t>C0</a:t>
                </a:r>
              </a:p>
            </p:txBody>
          </p:sp>
          <p:cxnSp>
            <p:nvCxnSpPr>
              <p:cNvPr id="111" name="Straight Connector 110">
                <a:extLst>
                  <a:ext uri="{FF2B5EF4-FFF2-40B4-BE49-F238E27FC236}">
                    <a16:creationId xmlns:a16="http://schemas.microsoft.com/office/drawing/2014/main" id="{E5006A7F-8EE7-4677-8743-F992730211BE}"/>
                  </a:ext>
                </a:extLst>
              </p:cNvPr>
              <p:cNvCxnSpPr>
                <a:cxnSpLocks/>
              </p:cNvCxnSpPr>
              <p:nvPr/>
            </p:nvCxnSpPr>
            <p:spPr>
              <a:xfrm>
                <a:off x="1182292" y="2600167"/>
                <a:ext cx="0" cy="89641"/>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grpSp>
        <p:grpSp>
          <p:nvGrpSpPr>
            <p:cNvPr id="112" name="Group 111">
              <a:extLst>
                <a:ext uri="{FF2B5EF4-FFF2-40B4-BE49-F238E27FC236}">
                  <a16:creationId xmlns:a16="http://schemas.microsoft.com/office/drawing/2014/main" id="{6DAF7BFF-82FD-4BA4-85AE-5826F48FF3E8}"/>
                </a:ext>
              </a:extLst>
            </p:cNvPr>
            <p:cNvGrpSpPr/>
            <p:nvPr/>
          </p:nvGrpSpPr>
          <p:grpSpPr>
            <a:xfrm>
              <a:off x="7349296" y="2402946"/>
              <a:ext cx="144980" cy="237559"/>
              <a:chOff x="1109802" y="2452249"/>
              <a:chExt cx="144980" cy="237559"/>
            </a:xfrm>
          </p:grpSpPr>
          <p:sp>
            <p:nvSpPr>
              <p:cNvPr id="113" name="Oval 112">
                <a:extLst>
                  <a:ext uri="{FF2B5EF4-FFF2-40B4-BE49-F238E27FC236}">
                    <a16:creationId xmlns:a16="http://schemas.microsoft.com/office/drawing/2014/main" id="{C6F6D65C-FF83-4316-90A5-776803571500}"/>
                  </a:ext>
                </a:extLst>
              </p:cNvPr>
              <p:cNvSpPr/>
              <p:nvPr/>
            </p:nvSpPr>
            <p:spPr>
              <a:xfrm>
                <a:off x="1109802" y="2452249"/>
                <a:ext cx="144980" cy="1479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vert="vert270" wrap="none" rtlCol="0" anchor="ctr"/>
              <a:lstStyle/>
              <a:p>
                <a:pPr algn="ctr"/>
                <a:r>
                  <a:rPr lang="en-US" sz="800"/>
                  <a:t>C1</a:t>
                </a:r>
              </a:p>
            </p:txBody>
          </p:sp>
          <p:cxnSp>
            <p:nvCxnSpPr>
              <p:cNvPr id="114" name="Straight Connector 113">
                <a:extLst>
                  <a:ext uri="{FF2B5EF4-FFF2-40B4-BE49-F238E27FC236}">
                    <a16:creationId xmlns:a16="http://schemas.microsoft.com/office/drawing/2014/main" id="{7DD14726-FF6F-4505-9184-69D2050332D3}"/>
                  </a:ext>
                </a:extLst>
              </p:cNvPr>
              <p:cNvCxnSpPr>
                <a:cxnSpLocks/>
              </p:cNvCxnSpPr>
              <p:nvPr/>
            </p:nvCxnSpPr>
            <p:spPr>
              <a:xfrm>
                <a:off x="1182292" y="2600167"/>
                <a:ext cx="0" cy="89641"/>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grpSp>
        <p:grpSp>
          <p:nvGrpSpPr>
            <p:cNvPr id="133" name="Group 132">
              <a:extLst>
                <a:ext uri="{FF2B5EF4-FFF2-40B4-BE49-F238E27FC236}">
                  <a16:creationId xmlns:a16="http://schemas.microsoft.com/office/drawing/2014/main" id="{26840BC6-FD37-483C-B4BE-DFFB86049BD7}"/>
                </a:ext>
              </a:extLst>
            </p:cNvPr>
            <p:cNvGrpSpPr/>
            <p:nvPr/>
          </p:nvGrpSpPr>
          <p:grpSpPr>
            <a:xfrm>
              <a:off x="9899786" y="3251584"/>
              <a:ext cx="144980" cy="478147"/>
              <a:chOff x="464349" y="3193307"/>
              <a:chExt cx="144980" cy="478147"/>
            </a:xfrm>
            <a:solidFill>
              <a:srgbClr val="FF0000"/>
            </a:solidFill>
          </p:grpSpPr>
          <p:sp>
            <p:nvSpPr>
              <p:cNvPr id="134" name="Oval 133">
                <a:extLst>
                  <a:ext uri="{FF2B5EF4-FFF2-40B4-BE49-F238E27FC236}">
                    <a16:creationId xmlns:a16="http://schemas.microsoft.com/office/drawing/2014/main" id="{4F870670-371B-4A6D-AE32-DB66DA198DD1}"/>
                  </a:ext>
                </a:extLst>
              </p:cNvPr>
              <p:cNvSpPr/>
              <p:nvPr/>
            </p:nvSpPr>
            <p:spPr>
              <a:xfrm>
                <a:off x="464349" y="3523536"/>
                <a:ext cx="144980" cy="147918"/>
              </a:xfrm>
              <a:prstGeom prst="ellipse">
                <a:avLst/>
              </a:prstGeom>
              <a:gr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vert270" wrap="none" rtlCol="0" anchor="ctr"/>
              <a:lstStyle/>
              <a:p>
                <a:pPr algn="ctr"/>
                <a:r>
                  <a:rPr lang="en-US" sz="800"/>
                  <a:t>OE3</a:t>
                </a:r>
              </a:p>
            </p:txBody>
          </p:sp>
          <p:cxnSp>
            <p:nvCxnSpPr>
              <p:cNvPr id="135" name="Straight Connector 134">
                <a:extLst>
                  <a:ext uri="{FF2B5EF4-FFF2-40B4-BE49-F238E27FC236}">
                    <a16:creationId xmlns:a16="http://schemas.microsoft.com/office/drawing/2014/main" id="{4EB7DB99-34E0-4B3C-B22F-1A341EDC33F6}"/>
                  </a:ext>
                </a:extLst>
              </p:cNvPr>
              <p:cNvCxnSpPr>
                <a:cxnSpLocks/>
              </p:cNvCxnSpPr>
              <p:nvPr/>
            </p:nvCxnSpPr>
            <p:spPr>
              <a:xfrm>
                <a:off x="536839" y="3193307"/>
                <a:ext cx="0" cy="330229"/>
              </a:xfrm>
              <a:prstGeom prst="line">
                <a:avLst/>
              </a:prstGeom>
              <a:grpFill/>
              <a:ln w="127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36" name="Group 135">
              <a:extLst>
                <a:ext uri="{FF2B5EF4-FFF2-40B4-BE49-F238E27FC236}">
                  <a16:creationId xmlns:a16="http://schemas.microsoft.com/office/drawing/2014/main" id="{CFBC55B9-BF9C-4AED-B4CE-8CFE882AA70F}"/>
                </a:ext>
              </a:extLst>
            </p:cNvPr>
            <p:cNvGrpSpPr/>
            <p:nvPr/>
          </p:nvGrpSpPr>
          <p:grpSpPr>
            <a:xfrm>
              <a:off x="7937994" y="3251584"/>
              <a:ext cx="144980" cy="478147"/>
              <a:chOff x="464349" y="3193307"/>
              <a:chExt cx="144980" cy="478147"/>
            </a:xfrm>
            <a:solidFill>
              <a:srgbClr val="FF0000"/>
            </a:solidFill>
          </p:grpSpPr>
          <p:sp>
            <p:nvSpPr>
              <p:cNvPr id="137" name="Oval 136">
                <a:extLst>
                  <a:ext uri="{FF2B5EF4-FFF2-40B4-BE49-F238E27FC236}">
                    <a16:creationId xmlns:a16="http://schemas.microsoft.com/office/drawing/2014/main" id="{724862A9-8D17-4918-A60B-68BB88E70985}"/>
                  </a:ext>
                </a:extLst>
              </p:cNvPr>
              <p:cNvSpPr/>
              <p:nvPr/>
            </p:nvSpPr>
            <p:spPr>
              <a:xfrm>
                <a:off x="464349" y="3523536"/>
                <a:ext cx="144980" cy="147918"/>
              </a:xfrm>
              <a:prstGeom prst="ellipse">
                <a:avLst/>
              </a:prstGeom>
              <a:gr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vert270" wrap="none" rtlCol="0" anchor="ctr"/>
              <a:lstStyle/>
              <a:p>
                <a:pPr algn="ctr"/>
                <a:r>
                  <a:rPr lang="en-US" sz="800"/>
                  <a:t>OE2</a:t>
                </a:r>
              </a:p>
            </p:txBody>
          </p:sp>
          <p:cxnSp>
            <p:nvCxnSpPr>
              <p:cNvPr id="138" name="Straight Connector 137">
                <a:extLst>
                  <a:ext uri="{FF2B5EF4-FFF2-40B4-BE49-F238E27FC236}">
                    <a16:creationId xmlns:a16="http://schemas.microsoft.com/office/drawing/2014/main" id="{DE044DCF-345C-403F-8CE0-C0810E5299AD}"/>
                  </a:ext>
                </a:extLst>
              </p:cNvPr>
              <p:cNvCxnSpPr>
                <a:cxnSpLocks/>
              </p:cNvCxnSpPr>
              <p:nvPr/>
            </p:nvCxnSpPr>
            <p:spPr>
              <a:xfrm>
                <a:off x="536839" y="3193307"/>
                <a:ext cx="0" cy="330229"/>
              </a:xfrm>
              <a:prstGeom prst="line">
                <a:avLst/>
              </a:prstGeom>
              <a:grpFill/>
              <a:ln w="127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39" name="Group 138">
              <a:extLst>
                <a:ext uri="{FF2B5EF4-FFF2-40B4-BE49-F238E27FC236}">
                  <a16:creationId xmlns:a16="http://schemas.microsoft.com/office/drawing/2014/main" id="{E1B8174F-EB07-46B8-AB94-6E43B9B1066C}"/>
                </a:ext>
              </a:extLst>
            </p:cNvPr>
            <p:cNvGrpSpPr/>
            <p:nvPr/>
          </p:nvGrpSpPr>
          <p:grpSpPr>
            <a:xfrm>
              <a:off x="5980666" y="3251584"/>
              <a:ext cx="144980" cy="478147"/>
              <a:chOff x="464349" y="3193307"/>
              <a:chExt cx="144980" cy="478147"/>
            </a:xfrm>
            <a:solidFill>
              <a:srgbClr val="FF0000"/>
            </a:solidFill>
          </p:grpSpPr>
          <p:sp>
            <p:nvSpPr>
              <p:cNvPr id="140" name="Oval 139">
                <a:extLst>
                  <a:ext uri="{FF2B5EF4-FFF2-40B4-BE49-F238E27FC236}">
                    <a16:creationId xmlns:a16="http://schemas.microsoft.com/office/drawing/2014/main" id="{834444CE-8311-4ADB-8E5C-6DD9BE689FBE}"/>
                  </a:ext>
                </a:extLst>
              </p:cNvPr>
              <p:cNvSpPr/>
              <p:nvPr/>
            </p:nvSpPr>
            <p:spPr>
              <a:xfrm>
                <a:off x="464349" y="3523536"/>
                <a:ext cx="144980" cy="147918"/>
              </a:xfrm>
              <a:prstGeom prst="ellipse">
                <a:avLst/>
              </a:prstGeom>
              <a:gr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vert270" wrap="none" rtlCol="0" anchor="ctr"/>
              <a:lstStyle/>
              <a:p>
                <a:pPr algn="ctr"/>
                <a:r>
                  <a:rPr lang="en-US" sz="800"/>
                  <a:t>OE1</a:t>
                </a:r>
              </a:p>
            </p:txBody>
          </p:sp>
          <p:cxnSp>
            <p:nvCxnSpPr>
              <p:cNvPr id="141" name="Straight Connector 140">
                <a:extLst>
                  <a:ext uri="{FF2B5EF4-FFF2-40B4-BE49-F238E27FC236}">
                    <a16:creationId xmlns:a16="http://schemas.microsoft.com/office/drawing/2014/main" id="{EC06272E-08D1-4D17-B5FA-C5AC1343D8C5}"/>
                  </a:ext>
                </a:extLst>
              </p:cNvPr>
              <p:cNvCxnSpPr>
                <a:cxnSpLocks/>
              </p:cNvCxnSpPr>
              <p:nvPr/>
            </p:nvCxnSpPr>
            <p:spPr>
              <a:xfrm>
                <a:off x="536839" y="3193307"/>
                <a:ext cx="0" cy="330229"/>
              </a:xfrm>
              <a:prstGeom prst="line">
                <a:avLst/>
              </a:prstGeom>
              <a:grpFill/>
              <a:ln w="127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42" name="Group 141">
              <a:extLst>
                <a:ext uri="{FF2B5EF4-FFF2-40B4-BE49-F238E27FC236}">
                  <a16:creationId xmlns:a16="http://schemas.microsoft.com/office/drawing/2014/main" id="{5109F517-98C4-436D-A1DD-2FFA7F825488}"/>
                </a:ext>
              </a:extLst>
            </p:cNvPr>
            <p:cNvGrpSpPr/>
            <p:nvPr/>
          </p:nvGrpSpPr>
          <p:grpSpPr>
            <a:xfrm>
              <a:off x="4014387" y="3251584"/>
              <a:ext cx="144980" cy="478147"/>
              <a:chOff x="464349" y="3193307"/>
              <a:chExt cx="144980" cy="478147"/>
            </a:xfrm>
            <a:solidFill>
              <a:srgbClr val="FF0000"/>
            </a:solidFill>
          </p:grpSpPr>
          <p:sp>
            <p:nvSpPr>
              <p:cNvPr id="143" name="Oval 142">
                <a:extLst>
                  <a:ext uri="{FF2B5EF4-FFF2-40B4-BE49-F238E27FC236}">
                    <a16:creationId xmlns:a16="http://schemas.microsoft.com/office/drawing/2014/main" id="{28E152B0-3521-4655-A590-C592C363D8FA}"/>
                  </a:ext>
                </a:extLst>
              </p:cNvPr>
              <p:cNvSpPr/>
              <p:nvPr/>
            </p:nvSpPr>
            <p:spPr>
              <a:xfrm>
                <a:off x="464349" y="3523536"/>
                <a:ext cx="144980" cy="147918"/>
              </a:xfrm>
              <a:prstGeom prst="ellipse">
                <a:avLst/>
              </a:prstGeom>
              <a:gr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vert270" wrap="none" rtlCol="0" anchor="ctr"/>
              <a:lstStyle/>
              <a:p>
                <a:pPr algn="ctr"/>
                <a:r>
                  <a:rPr lang="en-US" sz="800"/>
                  <a:t>OE0</a:t>
                </a:r>
              </a:p>
            </p:txBody>
          </p:sp>
          <p:cxnSp>
            <p:nvCxnSpPr>
              <p:cNvPr id="144" name="Straight Connector 143">
                <a:extLst>
                  <a:ext uri="{FF2B5EF4-FFF2-40B4-BE49-F238E27FC236}">
                    <a16:creationId xmlns:a16="http://schemas.microsoft.com/office/drawing/2014/main" id="{C3698CCE-E875-4365-BBCF-E3C4B22B3C93}"/>
                  </a:ext>
                </a:extLst>
              </p:cNvPr>
              <p:cNvCxnSpPr>
                <a:cxnSpLocks/>
              </p:cNvCxnSpPr>
              <p:nvPr/>
            </p:nvCxnSpPr>
            <p:spPr>
              <a:xfrm>
                <a:off x="536839" y="3193307"/>
                <a:ext cx="0" cy="330229"/>
              </a:xfrm>
              <a:prstGeom prst="line">
                <a:avLst/>
              </a:prstGeom>
              <a:grpFill/>
              <a:ln w="12700">
                <a:solidFill>
                  <a:srgbClr val="FF0000"/>
                </a:solidFill>
              </a:ln>
            </p:spPr>
            <p:style>
              <a:lnRef idx="1">
                <a:schemeClr val="accent1"/>
              </a:lnRef>
              <a:fillRef idx="0">
                <a:schemeClr val="accent1"/>
              </a:fillRef>
              <a:effectRef idx="0">
                <a:schemeClr val="accent1"/>
              </a:effectRef>
              <a:fontRef idx="minor">
                <a:schemeClr val="tx1"/>
              </a:fontRef>
            </p:style>
          </p:cxnSp>
        </p:grpSp>
      </p:grpSp>
      <p:grpSp>
        <p:nvGrpSpPr>
          <p:cNvPr id="248" name="Group 247">
            <a:extLst>
              <a:ext uri="{FF2B5EF4-FFF2-40B4-BE49-F238E27FC236}">
                <a16:creationId xmlns:a16="http://schemas.microsoft.com/office/drawing/2014/main" id="{9E2C3972-E991-4618-A482-3C894505CB69}"/>
              </a:ext>
            </a:extLst>
          </p:cNvPr>
          <p:cNvGrpSpPr/>
          <p:nvPr/>
        </p:nvGrpSpPr>
        <p:grpSpPr>
          <a:xfrm>
            <a:off x="4288957" y="1274818"/>
            <a:ext cx="7764603" cy="605119"/>
            <a:chOff x="4413290" y="1433272"/>
            <a:chExt cx="7764603" cy="605118"/>
          </a:xfrm>
          <a:solidFill>
            <a:srgbClr val="00B050"/>
          </a:solidFill>
        </p:grpSpPr>
        <p:grpSp>
          <p:nvGrpSpPr>
            <p:cNvPr id="249" name="Group 248">
              <a:extLst>
                <a:ext uri="{FF2B5EF4-FFF2-40B4-BE49-F238E27FC236}">
                  <a16:creationId xmlns:a16="http://schemas.microsoft.com/office/drawing/2014/main" id="{7113708C-42C0-4517-B8F1-34848292C66C}"/>
                </a:ext>
              </a:extLst>
            </p:cNvPr>
            <p:cNvGrpSpPr/>
            <p:nvPr/>
          </p:nvGrpSpPr>
          <p:grpSpPr>
            <a:xfrm>
              <a:off x="4413290" y="1514656"/>
              <a:ext cx="7689831" cy="449826"/>
              <a:chOff x="4413290" y="1514656"/>
              <a:chExt cx="7689831" cy="449826"/>
            </a:xfrm>
            <a:grpFill/>
          </p:grpSpPr>
          <p:cxnSp>
            <p:nvCxnSpPr>
              <p:cNvPr id="254" name="Straight Connector 253">
                <a:extLst>
                  <a:ext uri="{FF2B5EF4-FFF2-40B4-BE49-F238E27FC236}">
                    <a16:creationId xmlns:a16="http://schemas.microsoft.com/office/drawing/2014/main" id="{109FE2B5-A8A8-4FFA-931D-A694B9340B27}"/>
                  </a:ext>
                </a:extLst>
              </p:cNvPr>
              <p:cNvCxnSpPr>
                <a:cxnSpLocks/>
              </p:cNvCxnSpPr>
              <p:nvPr/>
            </p:nvCxnSpPr>
            <p:spPr>
              <a:xfrm flipV="1">
                <a:off x="5332169" y="1514656"/>
                <a:ext cx="6313752" cy="0"/>
              </a:xfrm>
              <a:prstGeom prst="line">
                <a:avLst/>
              </a:prstGeom>
              <a:grpFill/>
              <a:ln>
                <a:solidFill>
                  <a:srgbClr val="00B050"/>
                </a:solidFill>
              </a:ln>
            </p:spPr>
            <p:style>
              <a:lnRef idx="2">
                <a:schemeClr val="accent2"/>
              </a:lnRef>
              <a:fillRef idx="0">
                <a:schemeClr val="accent2"/>
              </a:fillRef>
              <a:effectRef idx="1">
                <a:schemeClr val="accent2"/>
              </a:effectRef>
              <a:fontRef idx="minor">
                <a:schemeClr val="tx1"/>
              </a:fontRef>
            </p:style>
          </p:cxnSp>
          <p:cxnSp>
            <p:nvCxnSpPr>
              <p:cNvPr id="255" name="Straight Connector 254">
                <a:extLst>
                  <a:ext uri="{FF2B5EF4-FFF2-40B4-BE49-F238E27FC236}">
                    <a16:creationId xmlns:a16="http://schemas.microsoft.com/office/drawing/2014/main" id="{ECECD6C8-81F4-4182-81D6-30AF9B0AEB24}"/>
                  </a:ext>
                </a:extLst>
              </p:cNvPr>
              <p:cNvCxnSpPr>
                <a:cxnSpLocks/>
              </p:cNvCxnSpPr>
              <p:nvPr/>
            </p:nvCxnSpPr>
            <p:spPr>
              <a:xfrm>
                <a:off x="5022887" y="1667056"/>
                <a:ext cx="6775434" cy="0"/>
              </a:xfrm>
              <a:prstGeom prst="line">
                <a:avLst/>
              </a:prstGeom>
              <a:grpFill/>
              <a:ln>
                <a:solidFill>
                  <a:srgbClr val="00B050"/>
                </a:solidFill>
              </a:ln>
            </p:spPr>
            <p:style>
              <a:lnRef idx="2">
                <a:schemeClr val="accent2"/>
              </a:lnRef>
              <a:fillRef idx="0">
                <a:schemeClr val="accent2"/>
              </a:fillRef>
              <a:effectRef idx="1">
                <a:schemeClr val="accent2"/>
              </a:effectRef>
              <a:fontRef idx="minor">
                <a:schemeClr val="tx1"/>
              </a:fontRef>
            </p:style>
          </p:cxnSp>
          <p:cxnSp>
            <p:nvCxnSpPr>
              <p:cNvPr id="256" name="Straight Connector 255">
                <a:extLst>
                  <a:ext uri="{FF2B5EF4-FFF2-40B4-BE49-F238E27FC236}">
                    <a16:creationId xmlns:a16="http://schemas.microsoft.com/office/drawing/2014/main" id="{81D7E90F-6FB3-4496-9269-66CD4E9957E1}"/>
                  </a:ext>
                </a:extLst>
              </p:cNvPr>
              <p:cNvCxnSpPr>
                <a:cxnSpLocks/>
              </p:cNvCxnSpPr>
              <p:nvPr/>
            </p:nvCxnSpPr>
            <p:spPr>
              <a:xfrm>
                <a:off x="4713609" y="1818878"/>
                <a:ext cx="7237112" cy="0"/>
              </a:xfrm>
              <a:prstGeom prst="line">
                <a:avLst/>
              </a:prstGeom>
              <a:grpFill/>
              <a:ln>
                <a:solidFill>
                  <a:srgbClr val="00B050"/>
                </a:solidFill>
              </a:ln>
            </p:spPr>
            <p:style>
              <a:lnRef idx="2">
                <a:schemeClr val="accent2"/>
              </a:lnRef>
              <a:fillRef idx="0">
                <a:schemeClr val="accent2"/>
              </a:fillRef>
              <a:effectRef idx="1">
                <a:schemeClr val="accent2"/>
              </a:effectRef>
              <a:fontRef idx="minor">
                <a:schemeClr val="tx1"/>
              </a:fontRef>
            </p:style>
          </p:cxnSp>
          <p:cxnSp>
            <p:nvCxnSpPr>
              <p:cNvPr id="257" name="Straight Connector 256">
                <a:extLst>
                  <a:ext uri="{FF2B5EF4-FFF2-40B4-BE49-F238E27FC236}">
                    <a16:creationId xmlns:a16="http://schemas.microsoft.com/office/drawing/2014/main" id="{B2A8CC94-481F-4BD7-97FE-B06306D74939}"/>
                  </a:ext>
                </a:extLst>
              </p:cNvPr>
              <p:cNvCxnSpPr>
                <a:cxnSpLocks/>
              </p:cNvCxnSpPr>
              <p:nvPr/>
            </p:nvCxnSpPr>
            <p:spPr>
              <a:xfrm>
                <a:off x="4413290" y="1964482"/>
                <a:ext cx="7689831" cy="0"/>
              </a:xfrm>
              <a:prstGeom prst="line">
                <a:avLst/>
              </a:prstGeom>
              <a:grpFill/>
              <a:ln>
                <a:solidFill>
                  <a:srgbClr val="00B050"/>
                </a:solidFill>
              </a:ln>
            </p:spPr>
            <p:style>
              <a:lnRef idx="2">
                <a:schemeClr val="accent2"/>
              </a:lnRef>
              <a:fillRef idx="0">
                <a:schemeClr val="accent2"/>
              </a:fillRef>
              <a:effectRef idx="1">
                <a:schemeClr val="accent2"/>
              </a:effectRef>
              <a:fontRef idx="minor">
                <a:schemeClr val="tx1"/>
              </a:fontRef>
            </p:style>
          </p:cxnSp>
        </p:grpSp>
        <p:sp>
          <p:nvSpPr>
            <p:cNvPr id="250" name="Oval 249">
              <a:extLst>
                <a:ext uri="{FF2B5EF4-FFF2-40B4-BE49-F238E27FC236}">
                  <a16:creationId xmlns:a16="http://schemas.microsoft.com/office/drawing/2014/main" id="{F213134D-7A52-4609-A3D2-D6FBFE944BD4}"/>
                </a:ext>
              </a:extLst>
            </p:cNvPr>
            <p:cNvSpPr/>
            <p:nvPr/>
          </p:nvSpPr>
          <p:spPr>
            <a:xfrm>
              <a:off x="11575713" y="1433272"/>
              <a:ext cx="144980" cy="147918"/>
            </a:xfrm>
            <a:prstGeom prst="ellipse">
              <a:avLst/>
            </a:prstGeom>
            <a:grp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800"/>
                <a:t>D1</a:t>
              </a:r>
            </a:p>
          </p:txBody>
        </p:sp>
        <p:sp>
          <p:nvSpPr>
            <p:cNvPr id="251" name="Oval 250">
              <a:extLst>
                <a:ext uri="{FF2B5EF4-FFF2-40B4-BE49-F238E27FC236}">
                  <a16:creationId xmlns:a16="http://schemas.microsoft.com/office/drawing/2014/main" id="{FE6C027A-ADF9-4ED3-BCAD-5A03D6AE153B}"/>
                </a:ext>
              </a:extLst>
            </p:cNvPr>
            <p:cNvSpPr/>
            <p:nvPr/>
          </p:nvSpPr>
          <p:spPr>
            <a:xfrm>
              <a:off x="11728113" y="1585672"/>
              <a:ext cx="144980" cy="147918"/>
            </a:xfrm>
            <a:prstGeom prst="ellipse">
              <a:avLst/>
            </a:prstGeom>
            <a:grp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800"/>
                <a:t>D2</a:t>
              </a:r>
            </a:p>
          </p:txBody>
        </p:sp>
        <p:sp>
          <p:nvSpPr>
            <p:cNvPr id="252" name="Oval 251">
              <a:extLst>
                <a:ext uri="{FF2B5EF4-FFF2-40B4-BE49-F238E27FC236}">
                  <a16:creationId xmlns:a16="http://schemas.microsoft.com/office/drawing/2014/main" id="{0BF5ED05-207B-473D-A768-218AB5AE054C}"/>
                </a:ext>
              </a:extLst>
            </p:cNvPr>
            <p:cNvSpPr/>
            <p:nvPr/>
          </p:nvSpPr>
          <p:spPr>
            <a:xfrm>
              <a:off x="11880513" y="1738072"/>
              <a:ext cx="144980" cy="147918"/>
            </a:xfrm>
            <a:prstGeom prst="ellipse">
              <a:avLst/>
            </a:prstGeom>
            <a:grp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800"/>
                <a:t>D3</a:t>
              </a:r>
            </a:p>
          </p:txBody>
        </p:sp>
        <p:sp>
          <p:nvSpPr>
            <p:cNvPr id="253" name="Oval 252">
              <a:extLst>
                <a:ext uri="{FF2B5EF4-FFF2-40B4-BE49-F238E27FC236}">
                  <a16:creationId xmlns:a16="http://schemas.microsoft.com/office/drawing/2014/main" id="{6653A6E0-E407-44F3-B902-01319524D627}"/>
                </a:ext>
              </a:extLst>
            </p:cNvPr>
            <p:cNvSpPr/>
            <p:nvPr/>
          </p:nvSpPr>
          <p:spPr>
            <a:xfrm>
              <a:off x="12032913" y="1890472"/>
              <a:ext cx="144980" cy="147918"/>
            </a:xfrm>
            <a:prstGeom prst="ellipse">
              <a:avLst/>
            </a:prstGeom>
            <a:grp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800"/>
                <a:t>D4</a:t>
              </a:r>
            </a:p>
          </p:txBody>
        </p:sp>
      </p:grpSp>
      <p:cxnSp>
        <p:nvCxnSpPr>
          <p:cNvPr id="258" name="Straight Connector 257">
            <a:extLst>
              <a:ext uri="{FF2B5EF4-FFF2-40B4-BE49-F238E27FC236}">
                <a16:creationId xmlns:a16="http://schemas.microsoft.com/office/drawing/2014/main" id="{C0353860-81EA-453E-8F1B-DEC99122DA69}"/>
              </a:ext>
            </a:extLst>
          </p:cNvPr>
          <p:cNvCxnSpPr>
            <a:cxnSpLocks/>
          </p:cNvCxnSpPr>
          <p:nvPr/>
        </p:nvCxnSpPr>
        <p:spPr>
          <a:xfrm flipH="1">
            <a:off x="1714051" y="4280053"/>
            <a:ext cx="984468" cy="0"/>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1871AD2F-9073-42ED-8233-300B697C3032}"/>
              </a:ext>
            </a:extLst>
          </p:cNvPr>
          <p:cNvCxnSpPr>
            <a:cxnSpLocks/>
          </p:cNvCxnSpPr>
          <p:nvPr/>
        </p:nvCxnSpPr>
        <p:spPr>
          <a:xfrm>
            <a:off x="1866451" y="2155835"/>
            <a:ext cx="0" cy="1971819"/>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grpSp>
        <p:nvGrpSpPr>
          <p:cNvPr id="77" name="Group 76">
            <a:extLst>
              <a:ext uri="{FF2B5EF4-FFF2-40B4-BE49-F238E27FC236}">
                <a16:creationId xmlns:a16="http://schemas.microsoft.com/office/drawing/2014/main" id="{446C6F98-AF83-4FAE-AB4A-5AC57811080A}"/>
              </a:ext>
            </a:extLst>
          </p:cNvPr>
          <p:cNvGrpSpPr/>
          <p:nvPr/>
        </p:nvGrpSpPr>
        <p:grpSpPr>
          <a:xfrm>
            <a:off x="4208897" y="1356205"/>
            <a:ext cx="6963707" cy="1255068"/>
            <a:chOff x="4208897" y="1356204"/>
            <a:chExt cx="6963706" cy="1255068"/>
          </a:xfrm>
        </p:grpSpPr>
        <p:grpSp>
          <p:nvGrpSpPr>
            <p:cNvPr id="72" name="Group 71">
              <a:extLst>
                <a:ext uri="{FF2B5EF4-FFF2-40B4-BE49-F238E27FC236}">
                  <a16:creationId xmlns:a16="http://schemas.microsoft.com/office/drawing/2014/main" id="{11B93A5D-74C4-482A-AD7E-D3E468E9578E}"/>
                </a:ext>
              </a:extLst>
            </p:cNvPr>
            <p:cNvGrpSpPr/>
            <p:nvPr/>
          </p:nvGrpSpPr>
          <p:grpSpPr>
            <a:xfrm flipH="1">
              <a:off x="10085295" y="1356204"/>
              <a:ext cx="1087308" cy="1255068"/>
              <a:chOff x="10085295" y="1351720"/>
              <a:chExt cx="1087308" cy="1255068"/>
            </a:xfrm>
          </p:grpSpPr>
          <p:cxnSp>
            <p:nvCxnSpPr>
              <p:cNvPr id="244" name="Straight Connector 243">
                <a:extLst>
                  <a:ext uri="{FF2B5EF4-FFF2-40B4-BE49-F238E27FC236}">
                    <a16:creationId xmlns:a16="http://schemas.microsoft.com/office/drawing/2014/main" id="{163D71B0-2C1E-49E0-93B1-7C3D06C28A1D}"/>
                  </a:ext>
                </a:extLst>
              </p:cNvPr>
              <p:cNvCxnSpPr>
                <a:cxnSpLocks/>
              </p:cNvCxnSpPr>
              <p:nvPr/>
            </p:nvCxnSpPr>
            <p:spPr>
              <a:xfrm flipV="1">
                <a:off x="10169212" y="1351720"/>
                <a:ext cx="0" cy="1087088"/>
              </a:xfrm>
              <a:prstGeom prst="line">
                <a:avLst/>
              </a:prstGeom>
              <a:ln>
                <a:solidFill>
                  <a:srgbClr val="00B050"/>
                </a:solidFill>
                <a:tailEnd type="oval"/>
              </a:ln>
            </p:spPr>
            <p:style>
              <a:lnRef idx="2">
                <a:schemeClr val="accent2"/>
              </a:lnRef>
              <a:fillRef idx="0">
                <a:schemeClr val="accent2"/>
              </a:fillRef>
              <a:effectRef idx="1">
                <a:schemeClr val="accent2"/>
              </a:effectRef>
              <a:fontRef idx="minor">
                <a:schemeClr val="tx1"/>
              </a:fontRef>
            </p:style>
          </p:cxnSp>
          <p:cxnSp>
            <p:nvCxnSpPr>
              <p:cNvPr id="245" name="Straight Connector 244">
                <a:extLst>
                  <a:ext uri="{FF2B5EF4-FFF2-40B4-BE49-F238E27FC236}">
                    <a16:creationId xmlns:a16="http://schemas.microsoft.com/office/drawing/2014/main" id="{4AAB5723-ACFB-4945-9659-1F227E367DAA}"/>
                  </a:ext>
                </a:extLst>
              </p:cNvPr>
              <p:cNvCxnSpPr>
                <a:cxnSpLocks/>
              </p:cNvCxnSpPr>
              <p:nvPr/>
            </p:nvCxnSpPr>
            <p:spPr>
              <a:xfrm flipV="1">
                <a:off x="10478494" y="1497322"/>
                <a:ext cx="0" cy="959415"/>
              </a:xfrm>
              <a:prstGeom prst="line">
                <a:avLst/>
              </a:prstGeom>
              <a:ln>
                <a:solidFill>
                  <a:srgbClr val="00B050"/>
                </a:solidFill>
                <a:tailEnd type="oval"/>
              </a:ln>
            </p:spPr>
            <p:style>
              <a:lnRef idx="2">
                <a:schemeClr val="accent2"/>
              </a:lnRef>
              <a:fillRef idx="0">
                <a:schemeClr val="accent2"/>
              </a:fillRef>
              <a:effectRef idx="1">
                <a:schemeClr val="accent2"/>
              </a:effectRef>
              <a:fontRef idx="minor">
                <a:schemeClr val="tx1"/>
              </a:fontRef>
            </p:style>
          </p:cxnSp>
          <p:cxnSp>
            <p:nvCxnSpPr>
              <p:cNvPr id="246" name="Straight Connector 245">
                <a:extLst>
                  <a:ext uri="{FF2B5EF4-FFF2-40B4-BE49-F238E27FC236}">
                    <a16:creationId xmlns:a16="http://schemas.microsoft.com/office/drawing/2014/main" id="{00907660-22B1-4D48-9007-23E97D60AA6C}"/>
                  </a:ext>
                </a:extLst>
              </p:cNvPr>
              <p:cNvCxnSpPr>
                <a:cxnSpLocks/>
              </p:cNvCxnSpPr>
              <p:nvPr/>
            </p:nvCxnSpPr>
            <p:spPr>
              <a:xfrm flipV="1">
                <a:off x="10787772" y="1649722"/>
                <a:ext cx="0" cy="796893"/>
              </a:xfrm>
              <a:prstGeom prst="line">
                <a:avLst/>
              </a:prstGeom>
              <a:ln>
                <a:solidFill>
                  <a:srgbClr val="00B050"/>
                </a:solidFill>
                <a:tailEnd type="oval"/>
              </a:ln>
            </p:spPr>
            <p:style>
              <a:lnRef idx="2">
                <a:schemeClr val="accent2"/>
              </a:lnRef>
              <a:fillRef idx="0">
                <a:schemeClr val="accent2"/>
              </a:fillRef>
              <a:effectRef idx="1">
                <a:schemeClr val="accent2"/>
              </a:effectRef>
              <a:fontRef idx="minor">
                <a:schemeClr val="tx1"/>
              </a:fontRef>
            </p:style>
          </p:cxnSp>
          <p:cxnSp>
            <p:nvCxnSpPr>
              <p:cNvPr id="247" name="Straight Connector 246">
                <a:extLst>
                  <a:ext uri="{FF2B5EF4-FFF2-40B4-BE49-F238E27FC236}">
                    <a16:creationId xmlns:a16="http://schemas.microsoft.com/office/drawing/2014/main" id="{BDB37F7A-E063-4A45-9AF3-F53E57110689}"/>
                  </a:ext>
                </a:extLst>
              </p:cNvPr>
              <p:cNvCxnSpPr>
                <a:cxnSpLocks/>
              </p:cNvCxnSpPr>
              <p:nvPr/>
            </p:nvCxnSpPr>
            <p:spPr>
              <a:xfrm flipV="1">
                <a:off x="11088091" y="1802122"/>
                <a:ext cx="0" cy="643410"/>
              </a:xfrm>
              <a:prstGeom prst="line">
                <a:avLst/>
              </a:prstGeom>
              <a:ln>
                <a:solidFill>
                  <a:srgbClr val="00B050"/>
                </a:solidFill>
                <a:tailEnd type="oval"/>
              </a:ln>
            </p:spPr>
            <p:style>
              <a:lnRef idx="2">
                <a:schemeClr val="accent2"/>
              </a:lnRef>
              <a:fillRef idx="0">
                <a:schemeClr val="accent2"/>
              </a:fillRef>
              <a:effectRef idx="1">
                <a:schemeClr val="accent2"/>
              </a:effectRef>
              <a:fontRef idx="minor">
                <a:schemeClr val="tx1"/>
              </a:fontRef>
            </p:style>
          </p:cxnSp>
          <p:grpSp>
            <p:nvGrpSpPr>
              <p:cNvPr id="67" name="Group 66">
                <a:extLst>
                  <a:ext uri="{FF2B5EF4-FFF2-40B4-BE49-F238E27FC236}">
                    <a16:creationId xmlns:a16="http://schemas.microsoft.com/office/drawing/2014/main" id="{04EA92E6-AC2E-4004-9D10-E53010735A8C}"/>
                  </a:ext>
                </a:extLst>
              </p:cNvPr>
              <p:cNvGrpSpPr/>
              <p:nvPr/>
            </p:nvGrpSpPr>
            <p:grpSpPr>
              <a:xfrm>
                <a:off x="10085295" y="2436673"/>
                <a:ext cx="1087308" cy="170115"/>
                <a:chOff x="10085295" y="2436673"/>
                <a:chExt cx="1087308" cy="170115"/>
              </a:xfrm>
            </p:grpSpPr>
            <p:grpSp>
              <p:nvGrpSpPr>
                <p:cNvPr id="65" name="Group 64">
                  <a:extLst>
                    <a:ext uri="{FF2B5EF4-FFF2-40B4-BE49-F238E27FC236}">
                      <a16:creationId xmlns:a16="http://schemas.microsoft.com/office/drawing/2014/main" id="{264822B5-0ACF-4F3B-B560-2880D0989818}"/>
                    </a:ext>
                  </a:extLst>
                </p:cNvPr>
                <p:cNvGrpSpPr/>
                <p:nvPr/>
              </p:nvGrpSpPr>
              <p:grpSpPr>
                <a:xfrm>
                  <a:off x="10085295" y="2436673"/>
                  <a:ext cx="170111" cy="170115"/>
                  <a:chOff x="10085295" y="2429950"/>
                  <a:chExt cx="170111" cy="170115"/>
                </a:xfrm>
              </p:grpSpPr>
              <p:cxnSp>
                <p:nvCxnSpPr>
                  <p:cNvPr id="271" name="Straight Connector 270">
                    <a:extLst>
                      <a:ext uri="{FF2B5EF4-FFF2-40B4-BE49-F238E27FC236}">
                        <a16:creationId xmlns:a16="http://schemas.microsoft.com/office/drawing/2014/main" id="{1727D2B3-2ED9-478C-9087-2E911FF26BC5}"/>
                      </a:ext>
                    </a:extLst>
                  </p:cNvPr>
                  <p:cNvCxnSpPr/>
                  <p:nvPr/>
                </p:nvCxnSpPr>
                <p:spPr>
                  <a:xfrm>
                    <a:off x="10085295" y="2438808"/>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272" name="Straight Connector 271">
                    <a:extLst>
                      <a:ext uri="{FF2B5EF4-FFF2-40B4-BE49-F238E27FC236}">
                        <a16:creationId xmlns:a16="http://schemas.microsoft.com/office/drawing/2014/main" id="{92E7A42D-5EE3-4FCB-AB16-C8BED2CAB9B6}"/>
                      </a:ext>
                    </a:extLst>
                  </p:cNvPr>
                  <p:cNvCxnSpPr>
                    <a:cxnSpLocks/>
                  </p:cNvCxnSpPr>
                  <p:nvPr/>
                </p:nvCxnSpPr>
                <p:spPr>
                  <a:xfrm rot="16200000">
                    <a:off x="10009100" y="2515006"/>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273" name="Straight Connector 272">
                    <a:extLst>
                      <a:ext uri="{FF2B5EF4-FFF2-40B4-BE49-F238E27FC236}">
                        <a16:creationId xmlns:a16="http://schemas.microsoft.com/office/drawing/2014/main" id="{C5700806-4BC3-4AB7-948B-97E7B64EBEE0}"/>
                      </a:ext>
                    </a:extLst>
                  </p:cNvPr>
                  <p:cNvCxnSpPr>
                    <a:cxnSpLocks/>
                  </p:cNvCxnSpPr>
                  <p:nvPr/>
                </p:nvCxnSpPr>
                <p:spPr>
                  <a:xfrm rot="16200000">
                    <a:off x="10161500" y="2515010"/>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grpSp>
            <p:grpSp>
              <p:nvGrpSpPr>
                <p:cNvPr id="289" name="Group 288">
                  <a:extLst>
                    <a:ext uri="{FF2B5EF4-FFF2-40B4-BE49-F238E27FC236}">
                      <a16:creationId xmlns:a16="http://schemas.microsoft.com/office/drawing/2014/main" id="{FBE8182D-F78A-417B-8EE0-2D39599FB7CB}"/>
                    </a:ext>
                  </a:extLst>
                </p:cNvPr>
                <p:cNvGrpSpPr/>
                <p:nvPr/>
              </p:nvGrpSpPr>
              <p:grpSpPr>
                <a:xfrm>
                  <a:off x="10391027" y="2436673"/>
                  <a:ext cx="170111" cy="170115"/>
                  <a:chOff x="10085295" y="2429950"/>
                  <a:chExt cx="170111" cy="170115"/>
                </a:xfrm>
              </p:grpSpPr>
              <p:cxnSp>
                <p:nvCxnSpPr>
                  <p:cNvPr id="290" name="Straight Connector 289">
                    <a:extLst>
                      <a:ext uri="{FF2B5EF4-FFF2-40B4-BE49-F238E27FC236}">
                        <a16:creationId xmlns:a16="http://schemas.microsoft.com/office/drawing/2014/main" id="{3A725FC7-CFA3-410C-8B77-94260CE85FF8}"/>
                      </a:ext>
                    </a:extLst>
                  </p:cNvPr>
                  <p:cNvCxnSpPr/>
                  <p:nvPr/>
                </p:nvCxnSpPr>
                <p:spPr>
                  <a:xfrm>
                    <a:off x="10085295" y="2438808"/>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291" name="Straight Connector 290">
                    <a:extLst>
                      <a:ext uri="{FF2B5EF4-FFF2-40B4-BE49-F238E27FC236}">
                        <a16:creationId xmlns:a16="http://schemas.microsoft.com/office/drawing/2014/main" id="{C9DB8026-0D78-4C66-9E2C-DD7D429B8326}"/>
                      </a:ext>
                    </a:extLst>
                  </p:cNvPr>
                  <p:cNvCxnSpPr>
                    <a:cxnSpLocks/>
                  </p:cNvCxnSpPr>
                  <p:nvPr/>
                </p:nvCxnSpPr>
                <p:spPr>
                  <a:xfrm rot="16200000">
                    <a:off x="10009100" y="2515006"/>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292" name="Straight Connector 291">
                    <a:extLst>
                      <a:ext uri="{FF2B5EF4-FFF2-40B4-BE49-F238E27FC236}">
                        <a16:creationId xmlns:a16="http://schemas.microsoft.com/office/drawing/2014/main" id="{72558DA5-AA12-4591-B0EC-84A359C4B843}"/>
                      </a:ext>
                    </a:extLst>
                  </p:cNvPr>
                  <p:cNvCxnSpPr>
                    <a:cxnSpLocks/>
                  </p:cNvCxnSpPr>
                  <p:nvPr/>
                </p:nvCxnSpPr>
                <p:spPr>
                  <a:xfrm rot="16200000">
                    <a:off x="10161500" y="2515010"/>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grpSp>
            <p:grpSp>
              <p:nvGrpSpPr>
                <p:cNvPr id="293" name="Group 292">
                  <a:extLst>
                    <a:ext uri="{FF2B5EF4-FFF2-40B4-BE49-F238E27FC236}">
                      <a16:creationId xmlns:a16="http://schemas.microsoft.com/office/drawing/2014/main" id="{9095FE3F-A3DE-4BF8-81C0-43A6E76BDAF5}"/>
                    </a:ext>
                  </a:extLst>
                </p:cNvPr>
                <p:cNvGrpSpPr/>
                <p:nvPr/>
              </p:nvGrpSpPr>
              <p:grpSpPr>
                <a:xfrm>
                  <a:off x="10696759" y="2436673"/>
                  <a:ext cx="170111" cy="170115"/>
                  <a:chOff x="10085295" y="2429950"/>
                  <a:chExt cx="170111" cy="170115"/>
                </a:xfrm>
              </p:grpSpPr>
              <p:cxnSp>
                <p:nvCxnSpPr>
                  <p:cNvPr id="294" name="Straight Connector 293">
                    <a:extLst>
                      <a:ext uri="{FF2B5EF4-FFF2-40B4-BE49-F238E27FC236}">
                        <a16:creationId xmlns:a16="http://schemas.microsoft.com/office/drawing/2014/main" id="{1E135313-610F-4349-84F1-DB22329665F9}"/>
                      </a:ext>
                    </a:extLst>
                  </p:cNvPr>
                  <p:cNvCxnSpPr/>
                  <p:nvPr/>
                </p:nvCxnSpPr>
                <p:spPr>
                  <a:xfrm>
                    <a:off x="10085295" y="2438808"/>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295" name="Straight Connector 294">
                    <a:extLst>
                      <a:ext uri="{FF2B5EF4-FFF2-40B4-BE49-F238E27FC236}">
                        <a16:creationId xmlns:a16="http://schemas.microsoft.com/office/drawing/2014/main" id="{6C53A309-7C4A-4D33-85B0-773D20436B19}"/>
                      </a:ext>
                    </a:extLst>
                  </p:cNvPr>
                  <p:cNvCxnSpPr>
                    <a:cxnSpLocks/>
                  </p:cNvCxnSpPr>
                  <p:nvPr/>
                </p:nvCxnSpPr>
                <p:spPr>
                  <a:xfrm rot="16200000">
                    <a:off x="10009100" y="2515006"/>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296" name="Straight Connector 295">
                    <a:extLst>
                      <a:ext uri="{FF2B5EF4-FFF2-40B4-BE49-F238E27FC236}">
                        <a16:creationId xmlns:a16="http://schemas.microsoft.com/office/drawing/2014/main" id="{F739A537-D895-490C-955B-40F5D74473AB}"/>
                      </a:ext>
                    </a:extLst>
                  </p:cNvPr>
                  <p:cNvCxnSpPr>
                    <a:cxnSpLocks/>
                  </p:cNvCxnSpPr>
                  <p:nvPr/>
                </p:nvCxnSpPr>
                <p:spPr>
                  <a:xfrm rot="16200000">
                    <a:off x="10161500" y="2515010"/>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grpSp>
            <p:grpSp>
              <p:nvGrpSpPr>
                <p:cNvPr id="297" name="Group 296">
                  <a:extLst>
                    <a:ext uri="{FF2B5EF4-FFF2-40B4-BE49-F238E27FC236}">
                      <a16:creationId xmlns:a16="http://schemas.microsoft.com/office/drawing/2014/main" id="{45FF0ACD-65EE-4BFF-9BCD-8FB7362395EB}"/>
                    </a:ext>
                  </a:extLst>
                </p:cNvPr>
                <p:cNvGrpSpPr/>
                <p:nvPr/>
              </p:nvGrpSpPr>
              <p:grpSpPr>
                <a:xfrm>
                  <a:off x="11002492" y="2436673"/>
                  <a:ext cx="170111" cy="170115"/>
                  <a:chOff x="10085295" y="2429950"/>
                  <a:chExt cx="170111" cy="170115"/>
                </a:xfrm>
              </p:grpSpPr>
              <p:cxnSp>
                <p:nvCxnSpPr>
                  <p:cNvPr id="298" name="Straight Connector 297">
                    <a:extLst>
                      <a:ext uri="{FF2B5EF4-FFF2-40B4-BE49-F238E27FC236}">
                        <a16:creationId xmlns:a16="http://schemas.microsoft.com/office/drawing/2014/main" id="{CF4EE9A7-D067-4912-844E-B89E40BA4911}"/>
                      </a:ext>
                    </a:extLst>
                  </p:cNvPr>
                  <p:cNvCxnSpPr/>
                  <p:nvPr/>
                </p:nvCxnSpPr>
                <p:spPr>
                  <a:xfrm>
                    <a:off x="10085295" y="2438808"/>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299" name="Straight Connector 298">
                    <a:extLst>
                      <a:ext uri="{FF2B5EF4-FFF2-40B4-BE49-F238E27FC236}">
                        <a16:creationId xmlns:a16="http://schemas.microsoft.com/office/drawing/2014/main" id="{62CDCF78-6787-4BB5-A098-A5C48D9B8C18}"/>
                      </a:ext>
                    </a:extLst>
                  </p:cNvPr>
                  <p:cNvCxnSpPr>
                    <a:cxnSpLocks/>
                  </p:cNvCxnSpPr>
                  <p:nvPr/>
                </p:nvCxnSpPr>
                <p:spPr>
                  <a:xfrm rot="16200000">
                    <a:off x="10009100" y="2515006"/>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300" name="Straight Connector 299">
                    <a:extLst>
                      <a:ext uri="{FF2B5EF4-FFF2-40B4-BE49-F238E27FC236}">
                        <a16:creationId xmlns:a16="http://schemas.microsoft.com/office/drawing/2014/main" id="{78664EA4-1593-4AE2-9A43-CF2C34EFF55A}"/>
                      </a:ext>
                    </a:extLst>
                  </p:cNvPr>
                  <p:cNvCxnSpPr>
                    <a:cxnSpLocks/>
                  </p:cNvCxnSpPr>
                  <p:nvPr/>
                </p:nvCxnSpPr>
                <p:spPr>
                  <a:xfrm rot="16200000">
                    <a:off x="10161500" y="2515010"/>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grpSp>
          </p:grpSp>
        </p:grpSp>
        <p:grpSp>
          <p:nvGrpSpPr>
            <p:cNvPr id="318" name="Group 317">
              <a:extLst>
                <a:ext uri="{FF2B5EF4-FFF2-40B4-BE49-F238E27FC236}">
                  <a16:creationId xmlns:a16="http://schemas.microsoft.com/office/drawing/2014/main" id="{CD3789A1-1258-4044-898B-8B3AB15738E7}"/>
                </a:ext>
              </a:extLst>
            </p:cNvPr>
            <p:cNvGrpSpPr/>
            <p:nvPr/>
          </p:nvGrpSpPr>
          <p:grpSpPr>
            <a:xfrm flipH="1">
              <a:off x="8126495" y="1356204"/>
              <a:ext cx="1087308" cy="1255068"/>
              <a:chOff x="10085295" y="1351720"/>
              <a:chExt cx="1087308" cy="1255068"/>
            </a:xfrm>
          </p:grpSpPr>
          <p:cxnSp>
            <p:nvCxnSpPr>
              <p:cNvPr id="319" name="Straight Connector 318">
                <a:extLst>
                  <a:ext uri="{FF2B5EF4-FFF2-40B4-BE49-F238E27FC236}">
                    <a16:creationId xmlns:a16="http://schemas.microsoft.com/office/drawing/2014/main" id="{6A5A40AF-7F1F-47CF-9AFB-B326F5FE2D4C}"/>
                  </a:ext>
                </a:extLst>
              </p:cNvPr>
              <p:cNvCxnSpPr>
                <a:cxnSpLocks/>
              </p:cNvCxnSpPr>
              <p:nvPr/>
            </p:nvCxnSpPr>
            <p:spPr>
              <a:xfrm flipV="1">
                <a:off x="10169212" y="1351720"/>
                <a:ext cx="0" cy="1087088"/>
              </a:xfrm>
              <a:prstGeom prst="line">
                <a:avLst/>
              </a:prstGeom>
              <a:ln>
                <a:solidFill>
                  <a:srgbClr val="00B050"/>
                </a:solidFill>
                <a:tailEnd type="oval"/>
              </a:ln>
            </p:spPr>
            <p:style>
              <a:lnRef idx="2">
                <a:schemeClr val="accent2"/>
              </a:lnRef>
              <a:fillRef idx="0">
                <a:schemeClr val="accent2"/>
              </a:fillRef>
              <a:effectRef idx="1">
                <a:schemeClr val="accent2"/>
              </a:effectRef>
              <a:fontRef idx="minor">
                <a:schemeClr val="tx1"/>
              </a:fontRef>
            </p:style>
          </p:cxnSp>
          <p:cxnSp>
            <p:nvCxnSpPr>
              <p:cNvPr id="320" name="Straight Connector 319">
                <a:extLst>
                  <a:ext uri="{FF2B5EF4-FFF2-40B4-BE49-F238E27FC236}">
                    <a16:creationId xmlns:a16="http://schemas.microsoft.com/office/drawing/2014/main" id="{53085796-C9AF-4352-A4E7-73D8E5766EAD}"/>
                  </a:ext>
                </a:extLst>
              </p:cNvPr>
              <p:cNvCxnSpPr>
                <a:cxnSpLocks/>
              </p:cNvCxnSpPr>
              <p:nvPr/>
            </p:nvCxnSpPr>
            <p:spPr>
              <a:xfrm flipV="1">
                <a:off x="10478494" y="1497322"/>
                <a:ext cx="0" cy="959415"/>
              </a:xfrm>
              <a:prstGeom prst="line">
                <a:avLst/>
              </a:prstGeom>
              <a:ln>
                <a:solidFill>
                  <a:srgbClr val="00B050"/>
                </a:solidFill>
                <a:tailEnd type="oval"/>
              </a:ln>
            </p:spPr>
            <p:style>
              <a:lnRef idx="2">
                <a:schemeClr val="accent2"/>
              </a:lnRef>
              <a:fillRef idx="0">
                <a:schemeClr val="accent2"/>
              </a:fillRef>
              <a:effectRef idx="1">
                <a:schemeClr val="accent2"/>
              </a:effectRef>
              <a:fontRef idx="minor">
                <a:schemeClr val="tx1"/>
              </a:fontRef>
            </p:style>
          </p:cxnSp>
          <p:cxnSp>
            <p:nvCxnSpPr>
              <p:cNvPr id="321" name="Straight Connector 320">
                <a:extLst>
                  <a:ext uri="{FF2B5EF4-FFF2-40B4-BE49-F238E27FC236}">
                    <a16:creationId xmlns:a16="http://schemas.microsoft.com/office/drawing/2014/main" id="{0A80A371-A4E7-40F4-B1CB-55F23410E20D}"/>
                  </a:ext>
                </a:extLst>
              </p:cNvPr>
              <p:cNvCxnSpPr>
                <a:cxnSpLocks/>
              </p:cNvCxnSpPr>
              <p:nvPr/>
            </p:nvCxnSpPr>
            <p:spPr>
              <a:xfrm flipV="1">
                <a:off x="10787772" y="1649722"/>
                <a:ext cx="0" cy="796893"/>
              </a:xfrm>
              <a:prstGeom prst="line">
                <a:avLst/>
              </a:prstGeom>
              <a:ln>
                <a:solidFill>
                  <a:srgbClr val="00B050"/>
                </a:solidFill>
                <a:tailEnd type="oval"/>
              </a:ln>
            </p:spPr>
            <p:style>
              <a:lnRef idx="2">
                <a:schemeClr val="accent2"/>
              </a:lnRef>
              <a:fillRef idx="0">
                <a:schemeClr val="accent2"/>
              </a:fillRef>
              <a:effectRef idx="1">
                <a:schemeClr val="accent2"/>
              </a:effectRef>
              <a:fontRef idx="minor">
                <a:schemeClr val="tx1"/>
              </a:fontRef>
            </p:style>
          </p:cxnSp>
          <p:cxnSp>
            <p:nvCxnSpPr>
              <p:cNvPr id="322" name="Straight Connector 321">
                <a:extLst>
                  <a:ext uri="{FF2B5EF4-FFF2-40B4-BE49-F238E27FC236}">
                    <a16:creationId xmlns:a16="http://schemas.microsoft.com/office/drawing/2014/main" id="{97407500-A358-40C6-A063-439EF99D2083}"/>
                  </a:ext>
                </a:extLst>
              </p:cNvPr>
              <p:cNvCxnSpPr>
                <a:cxnSpLocks/>
              </p:cNvCxnSpPr>
              <p:nvPr/>
            </p:nvCxnSpPr>
            <p:spPr>
              <a:xfrm flipV="1">
                <a:off x="11088091" y="1802122"/>
                <a:ext cx="0" cy="643410"/>
              </a:xfrm>
              <a:prstGeom prst="line">
                <a:avLst/>
              </a:prstGeom>
              <a:ln>
                <a:solidFill>
                  <a:srgbClr val="00B050"/>
                </a:solidFill>
                <a:tailEnd type="oval"/>
              </a:ln>
            </p:spPr>
            <p:style>
              <a:lnRef idx="2">
                <a:schemeClr val="accent2"/>
              </a:lnRef>
              <a:fillRef idx="0">
                <a:schemeClr val="accent2"/>
              </a:fillRef>
              <a:effectRef idx="1">
                <a:schemeClr val="accent2"/>
              </a:effectRef>
              <a:fontRef idx="minor">
                <a:schemeClr val="tx1"/>
              </a:fontRef>
            </p:style>
          </p:cxnSp>
          <p:grpSp>
            <p:nvGrpSpPr>
              <p:cNvPr id="323" name="Group 322">
                <a:extLst>
                  <a:ext uri="{FF2B5EF4-FFF2-40B4-BE49-F238E27FC236}">
                    <a16:creationId xmlns:a16="http://schemas.microsoft.com/office/drawing/2014/main" id="{4292A5F2-7E80-460A-AEF2-B27FE6016C62}"/>
                  </a:ext>
                </a:extLst>
              </p:cNvPr>
              <p:cNvGrpSpPr/>
              <p:nvPr/>
            </p:nvGrpSpPr>
            <p:grpSpPr>
              <a:xfrm>
                <a:off x="10085295" y="2436673"/>
                <a:ext cx="1087308" cy="170115"/>
                <a:chOff x="10085295" y="2436673"/>
                <a:chExt cx="1087308" cy="170115"/>
              </a:xfrm>
            </p:grpSpPr>
            <p:grpSp>
              <p:nvGrpSpPr>
                <p:cNvPr id="324" name="Group 323">
                  <a:extLst>
                    <a:ext uri="{FF2B5EF4-FFF2-40B4-BE49-F238E27FC236}">
                      <a16:creationId xmlns:a16="http://schemas.microsoft.com/office/drawing/2014/main" id="{47D2ADF2-430A-4192-A611-F82698FE522D}"/>
                    </a:ext>
                  </a:extLst>
                </p:cNvPr>
                <p:cNvGrpSpPr/>
                <p:nvPr/>
              </p:nvGrpSpPr>
              <p:grpSpPr>
                <a:xfrm>
                  <a:off x="10085295" y="2436673"/>
                  <a:ext cx="170111" cy="170115"/>
                  <a:chOff x="10085295" y="2429950"/>
                  <a:chExt cx="170111" cy="170115"/>
                </a:xfrm>
              </p:grpSpPr>
              <p:cxnSp>
                <p:nvCxnSpPr>
                  <p:cNvPr id="337" name="Straight Connector 336">
                    <a:extLst>
                      <a:ext uri="{FF2B5EF4-FFF2-40B4-BE49-F238E27FC236}">
                        <a16:creationId xmlns:a16="http://schemas.microsoft.com/office/drawing/2014/main" id="{A506C03E-F9CA-4D5C-A6D8-28C01CD4BA02}"/>
                      </a:ext>
                    </a:extLst>
                  </p:cNvPr>
                  <p:cNvCxnSpPr/>
                  <p:nvPr/>
                </p:nvCxnSpPr>
                <p:spPr>
                  <a:xfrm>
                    <a:off x="10085295" y="2438808"/>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338" name="Straight Connector 337">
                    <a:extLst>
                      <a:ext uri="{FF2B5EF4-FFF2-40B4-BE49-F238E27FC236}">
                        <a16:creationId xmlns:a16="http://schemas.microsoft.com/office/drawing/2014/main" id="{1E4ADC70-C59C-403D-8D06-0F4E9D3788BA}"/>
                      </a:ext>
                    </a:extLst>
                  </p:cNvPr>
                  <p:cNvCxnSpPr>
                    <a:cxnSpLocks/>
                  </p:cNvCxnSpPr>
                  <p:nvPr/>
                </p:nvCxnSpPr>
                <p:spPr>
                  <a:xfrm rot="16200000">
                    <a:off x="10009100" y="2515006"/>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339" name="Straight Connector 338">
                    <a:extLst>
                      <a:ext uri="{FF2B5EF4-FFF2-40B4-BE49-F238E27FC236}">
                        <a16:creationId xmlns:a16="http://schemas.microsoft.com/office/drawing/2014/main" id="{B6DC0D61-D3F5-4CE0-9D6A-99EBDC7EA8DF}"/>
                      </a:ext>
                    </a:extLst>
                  </p:cNvPr>
                  <p:cNvCxnSpPr>
                    <a:cxnSpLocks/>
                  </p:cNvCxnSpPr>
                  <p:nvPr/>
                </p:nvCxnSpPr>
                <p:spPr>
                  <a:xfrm rot="16200000">
                    <a:off x="10161500" y="2515010"/>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grpSp>
            <p:grpSp>
              <p:nvGrpSpPr>
                <p:cNvPr id="325" name="Group 324">
                  <a:extLst>
                    <a:ext uri="{FF2B5EF4-FFF2-40B4-BE49-F238E27FC236}">
                      <a16:creationId xmlns:a16="http://schemas.microsoft.com/office/drawing/2014/main" id="{571BFDB5-C4E0-41FD-AB47-AE5DFE2082C1}"/>
                    </a:ext>
                  </a:extLst>
                </p:cNvPr>
                <p:cNvGrpSpPr/>
                <p:nvPr/>
              </p:nvGrpSpPr>
              <p:grpSpPr>
                <a:xfrm>
                  <a:off x="10391027" y="2436673"/>
                  <a:ext cx="170111" cy="170115"/>
                  <a:chOff x="10085295" y="2429950"/>
                  <a:chExt cx="170111" cy="170115"/>
                </a:xfrm>
              </p:grpSpPr>
              <p:cxnSp>
                <p:nvCxnSpPr>
                  <p:cNvPr id="334" name="Straight Connector 333">
                    <a:extLst>
                      <a:ext uri="{FF2B5EF4-FFF2-40B4-BE49-F238E27FC236}">
                        <a16:creationId xmlns:a16="http://schemas.microsoft.com/office/drawing/2014/main" id="{E1798EDB-8594-4CCA-BEA0-099B0790193A}"/>
                      </a:ext>
                    </a:extLst>
                  </p:cNvPr>
                  <p:cNvCxnSpPr/>
                  <p:nvPr/>
                </p:nvCxnSpPr>
                <p:spPr>
                  <a:xfrm>
                    <a:off x="10085295" y="2438808"/>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335" name="Straight Connector 334">
                    <a:extLst>
                      <a:ext uri="{FF2B5EF4-FFF2-40B4-BE49-F238E27FC236}">
                        <a16:creationId xmlns:a16="http://schemas.microsoft.com/office/drawing/2014/main" id="{D638F26C-9154-4AEE-961E-08A10BC055FF}"/>
                      </a:ext>
                    </a:extLst>
                  </p:cNvPr>
                  <p:cNvCxnSpPr>
                    <a:cxnSpLocks/>
                  </p:cNvCxnSpPr>
                  <p:nvPr/>
                </p:nvCxnSpPr>
                <p:spPr>
                  <a:xfrm rot="16200000">
                    <a:off x="10009100" y="2515006"/>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336" name="Straight Connector 335">
                    <a:extLst>
                      <a:ext uri="{FF2B5EF4-FFF2-40B4-BE49-F238E27FC236}">
                        <a16:creationId xmlns:a16="http://schemas.microsoft.com/office/drawing/2014/main" id="{069474E9-93DD-4E42-B27C-9ACD87EEDBD2}"/>
                      </a:ext>
                    </a:extLst>
                  </p:cNvPr>
                  <p:cNvCxnSpPr>
                    <a:cxnSpLocks/>
                  </p:cNvCxnSpPr>
                  <p:nvPr/>
                </p:nvCxnSpPr>
                <p:spPr>
                  <a:xfrm rot="16200000">
                    <a:off x="10161500" y="2515010"/>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grpSp>
            <p:grpSp>
              <p:nvGrpSpPr>
                <p:cNvPr id="326" name="Group 325">
                  <a:extLst>
                    <a:ext uri="{FF2B5EF4-FFF2-40B4-BE49-F238E27FC236}">
                      <a16:creationId xmlns:a16="http://schemas.microsoft.com/office/drawing/2014/main" id="{F6C26973-6708-4C95-8801-8291ED75865A}"/>
                    </a:ext>
                  </a:extLst>
                </p:cNvPr>
                <p:cNvGrpSpPr/>
                <p:nvPr/>
              </p:nvGrpSpPr>
              <p:grpSpPr>
                <a:xfrm>
                  <a:off x="10696759" y="2436673"/>
                  <a:ext cx="170111" cy="170115"/>
                  <a:chOff x="10085295" y="2429950"/>
                  <a:chExt cx="170111" cy="170115"/>
                </a:xfrm>
              </p:grpSpPr>
              <p:cxnSp>
                <p:nvCxnSpPr>
                  <p:cNvPr id="331" name="Straight Connector 330">
                    <a:extLst>
                      <a:ext uri="{FF2B5EF4-FFF2-40B4-BE49-F238E27FC236}">
                        <a16:creationId xmlns:a16="http://schemas.microsoft.com/office/drawing/2014/main" id="{FE8B961D-2366-4852-9B01-DCB805387C19}"/>
                      </a:ext>
                    </a:extLst>
                  </p:cNvPr>
                  <p:cNvCxnSpPr/>
                  <p:nvPr/>
                </p:nvCxnSpPr>
                <p:spPr>
                  <a:xfrm>
                    <a:off x="10085295" y="2438808"/>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332" name="Straight Connector 331">
                    <a:extLst>
                      <a:ext uri="{FF2B5EF4-FFF2-40B4-BE49-F238E27FC236}">
                        <a16:creationId xmlns:a16="http://schemas.microsoft.com/office/drawing/2014/main" id="{DA8A646C-053B-47E7-85EF-7C925C6108C2}"/>
                      </a:ext>
                    </a:extLst>
                  </p:cNvPr>
                  <p:cNvCxnSpPr>
                    <a:cxnSpLocks/>
                  </p:cNvCxnSpPr>
                  <p:nvPr/>
                </p:nvCxnSpPr>
                <p:spPr>
                  <a:xfrm rot="16200000">
                    <a:off x="10009100" y="2515006"/>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333" name="Straight Connector 332">
                    <a:extLst>
                      <a:ext uri="{FF2B5EF4-FFF2-40B4-BE49-F238E27FC236}">
                        <a16:creationId xmlns:a16="http://schemas.microsoft.com/office/drawing/2014/main" id="{716FBDFB-DF8F-4EAB-84FE-FBB61303BD17}"/>
                      </a:ext>
                    </a:extLst>
                  </p:cNvPr>
                  <p:cNvCxnSpPr>
                    <a:cxnSpLocks/>
                  </p:cNvCxnSpPr>
                  <p:nvPr/>
                </p:nvCxnSpPr>
                <p:spPr>
                  <a:xfrm rot="16200000">
                    <a:off x="10161500" y="2515010"/>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grpSp>
            <p:grpSp>
              <p:nvGrpSpPr>
                <p:cNvPr id="327" name="Group 326">
                  <a:extLst>
                    <a:ext uri="{FF2B5EF4-FFF2-40B4-BE49-F238E27FC236}">
                      <a16:creationId xmlns:a16="http://schemas.microsoft.com/office/drawing/2014/main" id="{128B2EAA-A4CD-4F93-87A6-964BBCCFF541}"/>
                    </a:ext>
                  </a:extLst>
                </p:cNvPr>
                <p:cNvGrpSpPr/>
                <p:nvPr/>
              </p:nvGrpSpPr>
              <p:grpSpPr>
                <a:xfrm>
                  <a:off x="11002492" y="2436673"/>
                  <a:ext cx="170111" cy="170115"/>
                  <a:chOff x="10085295" y="2429950"/>
                  <a:chExt cx="170111" cy="170115"/>
                </a:xfrm>
              </p:grpSpPr>
              <p:cxnSp>
                <p:nvCxnSpPr>
                  <p:cNvPr id="328" name="Straight Connector 327">
                    <a:extLst>
                      <a:ext uri="{FF2B5EF4-FFF2-40B4-BE49-F238E27FC236}">
                        <a16:creationId xmlns:a16="http://schemas.microsoft.com/office/drawing/2014/main" id="{A59CB654-9D4C-43BC-9C1B-B52A5D8EE8FC}"/>
                      </a:ext>
                    </a:extLst>
                  </p:cNvPr>
                  <p:cNvCxnSpPr/>
                  <p:nvPr/>
                </p:nvCxnSpPr>
                <p:spPr>
                  <a:xfrm>
                    <a:off x="10085295" y="2438808"/>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329" name="Straight Connector 328">
                    <a:extLst>
                      <a:ext uri="{FF2B5EF4-FFF2-40B4-BE49-F238E27FC236}">
                        <a16:creationId xmlns:a16="http://schemas.microsoft.com/office/drawing/2014/main" id="{76207ACC-7A44-40A0-BBEB-1F4A3665C770}"/>
                      </a:ext>
                    </a:extLst>
                  </p:cNvPr>
                  <p:cNvCxnSpPr>
                    <a:cxnSpLocks/>
                  </p:cNvCxnSpPr>
                  <p:nvPr/>
                </p:nvCxnSpPr>
                <p:spPr>
                  <a:xfrm rot="16200000">
                    <a:off x="10009100" y="2515006"/>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330" name="Straight Connector 329">
                    <a:extLst>
                      <a:ext uri="{FF2B5EF4-FFF2-40B4-BE49-F238E27FC236}">
                        <a16:creationId xmlns:a16="http://schemas.microsoft.com/office/drawing/2014/main" id="{C6FDD702-F1A8-482B-A4EC-048F4FFA54A1}"/>
                      </a:ext>
                    </a:extLst>
                  </p:cNvPr>
                  <p:cNvCxnSpPr>
                    <a:cxnSpLocks/>
                  </p:cNvCxnSpPr>
                  <p:nvPr/>
                </p:nvCxnSpPr>
                <p:spPr>
                  <a:xfrm rot="16200000">
                    <a:off x="10161500" y="2515010"/>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grpSp>
          </p:grpSp>
        </p:grpSp>
        <p:grpSp>
          <p:nvGrpSpPr>
            <p:cNvPr id="340" name="Group 339">
              <a:extLst>
                <a:ext uri="{FF2B5EF4-FFF2-40B4-BE49-F238E27FC236}">
                  <a16:creationId xmlns:a16="http://schemas.microsoft.com/office/drawing/2014/main" id="{12B22C60-2D77-4C5D-92FC-DEC40D5BBBA5}"/>
                </a:ext>
              </a:extLst>
            </p:cNvPr>
            <p:cNvGrpSpPr/>
            <p:nvPr/>
          </p:nvGrpSpPr>
          <p:grpSpPr>
            <a:xfrm flipH="1">
              <a:off x="6167696" y="1356204"/>
              <a:ext cx="1087308" cy="1255068"/>
              <a:chOff x="10085295" y="1351720"/>
              <a:chExt cx="1087308" cy="1255068"/>
            </a:xfrm>
          </p:grpSpPr>
          <p:cxnSp>
            <p:nvCxnSpPr>
              <p:cNvPr id="341" name="Straight Connector 340">
                <a:extLst>
                  <a:ext uri="{FF2B5EF4-FFF2-40B4-BE49-F238E27FC236}">
                    <a16:creationId xmlns:a16="http://schemas.microsoft.com/office/drawing/2014/main" id="{0F73B1B2-FC6B-47B8-AF45-518542F85CE7}"/>
                  </a:ext>
                </a:extLst>
              </p:cNvPr>
              <p:cNvCxnSpPr>
                <a:cxnSpLocks/>
              </p:cNvCxnSpPr>
              <p:nvPr/>
            </p:nvCxnSpPr>
            <p:spPr>
              <a:xfrm flipV="1">
                <a:off x="10169212" y="1351720"/>
                <a:ext cx="0" cy="1087088"/>
              </a:xfrm>
              <a:prstGeom prst="line">
                <a:avLst/>
              </a:prstGeom>
              <a:ln>
                <a:solidFill>
                  <a:srgbClr val="00B050"/>
                </a:solidFill>
                <a:tailEnd type="oval"/>
              </a:ln>
            </p:spPr>
            <p:style>
              <a:lnRef idx="2">
                <a:schemeClr val="accent2"/>
              </a:lnRef>
              <a:fillRef idx="0">
                <a:schemeClr val="accent2"/>
              </a:fillRef>
              <a:effectRef idx="1">
                <a:schemeClr val="accent2"/>
              </a:effectRef>
              <a:fontRef idx="minor">
                <a:schemeClr val="tx1"/>
              </a:fontRef>
            </p:style>
          </p:cxnSp>
          <p:cxnSp>
            <p:nvCxnSpPr>
              <p:cNvPr id="342" name="Straight Connector 341">
                <a:extLst>
                  <a:ext uri="{FF2B5EF4-FFF2-40B4-BE49-F238E27FC236}">
                    <a16:creationId xmlns:a16="http://schemas.microsoft.com/office/drawing/2014/main" id="{DF82A606-9DCE-4822-BF56-EAF37079D3F9}"/>
                  </a:ext>
                </a:extLst>
              </p:cNvPr>
              <p:cNvCxnSpPr>
                <a:cxnSpLocks/>
              </p:cNvCxnSpPr>
              <p:nvPr/>
            </p:nvCxnSpPr>
            <p:spPr>
              <a:xfrm flipV="1">
                <a:off x="10478494" y="1497322"/>
                <a:ext cx="0" cy="959415"/>
              </a:xfrm>
              <a:prstGeom prst="line">
                <a:avLst/>
              </a:prstGeom>
              <a:ln>
                <a:solidFill>
                  <a:srgbClr val="00B050"/>
                </a:solidFill>
                <a:tailEnd type="oval"/>
              </a:ln>
            </p:spPr>
            <p:style>
              <a:lnRef idx="2">
                <a:schemeClr val="accent2"/>
              </a:lnRef>
              <a:fillRef idx="0">
                <a:schemeClr val="accent2"/>
              </a:fillRef>
              <a:effectRef idx="1">
                <a:schemeClr val="accent2"/>
              </a:effectRef>
              <a:fontRef idx="minor">
                <a:schemeClr val="tx1"/>
              </a:fontRef>
            </p:style>
          </p:cxnSp>
          <p:cxnSp>
            <p:nvCxnSpPr>
              <p:cNvPr id="343" name="Straight Connector 342">
                <a:extLst>
                  <a:ext uri="{FF2B5EF4-FFF2-40B4-BE49-F238E27FC236}">
                    <a16:creationId xmlns:a16="http://schemas.microsoft.com/office/drawing/2014/main" id="{E95491F3-6E49-4737-885C-F4B7872125E9}"/>
                  </a:ext>
                </a:extLst>
              </p:cNvPr>
              <p:cNvCxnSpPr>
                <a:cxnSpLocks/>
              </p:cNvCxnSpPr>
              <p:nvPr/>
            </p:nvCxnSpPr>
            <p:spPr>
              <a:xfrm flipV="1">
                <a:off x="10787772" y="1649722"/>
                <a:ext cx="0" cy="796893"/>
              </a:xfrm>
              <a:prstGeom prst="line">
                <a:avLst/>
              </a:prstGeom>
              <a:ln>
                <a:solidFill>
                  <a:srgbClr val="00B050"/>
                </a:solidFill>
                <a:tailEnd type="oval"/>
              </a:ln>
            </p:spPr>
            <p:style>
              <a:lnRef idx="2">
                <a:schemeClr val="accent2"/>
              </a:lnRef>
              <a:fillRef idx="0">
                <a:schemeClr val="accent2"/>
              </a:fillRef>
              <a:effectRef idx="1">
                <a:schemeClr val="accent2"/>
              </a:effectRef>
              <a:fontRef idx="minor">
                <a:schemeClr val="tx1"/>
              </a:fontRef>
            </p:style>
          </p:cxnSp>
          <p:cxnSp>
            <p:nvCxnSpPr>
              <p:cNvPr id="344" name="Straight Connector 343">
                <a:extLst>
                  <a:ext uri="{FF2B5EF4-FFF2-40B4-BE49-F238E27FC236}">
                    <a16:creationId xmlns:a16="http://schemas.microsoft.com/office/drawing/2014/main" id="{3EAF5106-5F09-4975-9553-01118596FA65}"/>
                  </a:ext>
                </a:extLst>
              </p:cNvPr>
              <p:cNvCxnSpPr>
                <a:cxnSpLocks/>
              </p:cNvCxnSpPr>
              <p:nvPr/>
            </p:nvCxnSpPr>
            <p:spPr>
              <a:xfrm flipV="1">
                <a:off x="11088091" y="1802122"/>
                <a:ext cx="0" cy="643410"/>
              </a:xfrm>
              <a:prstGeom prst="line">
                <a:avLst/>
              </a:prstGeom>
              <a:ln>
                <a:solidFill>
                  <a:srgbClr val="00B050"/>
                </a:solidFill>
                <a:tailEnd type="oval"/>
              </a:ln>
            </p:spPr>
            <p:style>
              <a:lnRef idx="2">
                <a:schemeClr val="accent2"/>
              </a:lnRef>
              <a:fillRef idx="0">
                <a:schemeClr val="accent2"/>
              </a:fillRef>
              <a:effectRef idx="1">
                <a:schemeClr val="accent2"/>
              </a:effectRef>
              <a:fontRef idx="minor">
                <a:schemeClr val="tx1"/>
              </a:fontRef>
            </p:style>
          </p:cxnSp>
          <p:grpSp>
            <p:nvGrpSpPr>
              <p:cNvPr id="345" name="Group 344">
                <a:extLst>
                  <a:ext uri="{FF2B5EF4-FFF2-40B4-BE49-F238E27FC236}">
                    <a16:creationId xmlns:a16="http://schemas.microsoft.com/office/drawing/2014/main" id="{E7D1ED6A-8AF9-4B6D-A8AE-9DC814DDF758}"/>
                  </a:ext>
                </a:extLst>
              </p:cNvPr>
              <p:cNvGrpSpPr/>
              <p:nvPr/>
            </p:nvGrpSpPr>
            <p:grpSpPr>
              <a:xfrm>
                <a:off x="10085295" y="2436673"/>
                <a:ext cx="1087308" cy="170115"/>
                <a:chOff x="10085295" y="2436673"/>
                <a:chExt cx="1087308" cy="170115"/>
              </a:xfrm>
            </p:grpSpPr>
            <p:grpSp>
              <p:nvGrpSpPr>
                <p:cNvPr id="346" name="Group 345">
                  <a:extLst>
                    <a:ext uri="{FF2B5EF4-FFF2-40B4-BE49-F238E27FC236}">
                      <a16:creationId xmlns:a16="http://schemas.microsoft.com/office/drawing/2014/main" id="{164C9CB7-4336-4814-AD26-25C99317EBCE}"/>
                    </a:ext>
                  </a:extLst>
                </p:cNvPr>
                <p:cNvGrpSpPr/>
                <p:nvPr/>
              </p:nvGrpSpPr>
              <p:grpSpPr>
                <a:xfrm>
                  <a:off x="10085295" y="2436673"/>
                  <a:ext cx="170111" cy="170115"/>
                  <a:chOff x="10085295" y="2429950"/>
                  <a:chExt cx="170111" cy="170115"/>
                </a:xfrm>
              </p:grpSpPr>
              <p:cxnSp>
                <p:nvCxnSpPr>
                  <p:cNvPr id="359" name="Straight Connector 358">
                    <a:extLst>
                      <a:ext uri="{FF2B5EF4-FFF2-40B4-BE49-F238E27FC236}">
                        <a16:creationId xmlns:a16="http://schemas.microsoft.com/office/drawing/2014/main" id="{345BA626-2D76-4D9A-A825-D8420040FDB3}"/>
                      </a:ext>
                    </a:extLst>
                  </p:cNvPr>
                  <p:cNvCxnSpPr/>
                  <p:nvPr/>
                </p:nvCxnSpPr>
                <p:spPr>
                  <a:xfrm>
                    <a:off x="10085295" y="2438808"/>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360" name="Straight Connector 359">
                    <a:extLst>
                      <a:ext uri="{FF2B5EF4-FFF2-40B4-BE49-F238E27FC236}">
                        <a16:creationId xmlns:a16="http://schemas.microsoft.com/office/drawing/2014/main" id="{A886F5FF-7956-4BB7-A0F3-9C084B84C166}"/>
                      </a:ext>
                    </a:extLst>
                  </p:cNvPr>
                  <p:cNvCxnSpPr>
                    <a:cxnSpLocks/>
                  </p:cNvCxnSpPr>
                  <p:nvPr/>
                </p:nvCxnSpPr>
                <p:spPr>
                  <a:xfrm rot="16200000">
                    <a:off x="10009100" y="2515006"/>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361" name="Straight Connector 360">
                    <a:extLst>
                      <a:ext uri="{FF2B5EF4-FFF2-40B4-BE49-F238E27FC236}">
                        <a16:creationId xmlns:a16="http://schemas.microsoft.com/office/drawing/2014/main" id="{FBF13600-A1F2-49F3-8606-16EDF965177C}"/>
                      </a:ext>
                    </a:extLst>
                  </p:cNvPr>
                  <p:cNvCxnSpPr>
                    <a:cxnSpLocks/>
                  </p:cNvCxnSpPr>
                  <p:nvPr/>
                </p:nvCxnSpPr>
                <p:spPr>
                  <a:xfrm rot="16200000">
                    <a:off x="10161500" y="2515010"/>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grpSp>
            <p:grpSp>
              <p:nvGrpSpPr>
                <p:cNvPr id="347" name="Group 346">
                  <a:extLst>
                    <a:ext uri="{FF2B5EF4-FFF2-40B4-BE49-F238E27FC236}">
                      <a16:creationId xmlns:a16="http://schemas.microsoft.com/office/drawing/2014/main" id="{53DC116F-4BC8-4BC1-A826-012FB6D8550C}"/>
                    </a:ext>
                  </a:extLst>
                </p:cNvPr>
                <p:cNvGrpSpPr/>
                <p:nvPr/>
              </p:nvGrpSpPr>
              <p:grpSpPr>
                <a:xfrm>
                  <a:off x="10391027" y="2436673"/>
                  <a:ext cx="170111" cy="170115"/>
                  <a:chOff x="10085295" y="2429950"/>
                  <a:chExt cx="170111" cy="170115"/>
                </a:xfrm>
              </p:grpSpPr>
              <p:cxnSp>
                <p:nvCxnSpPr>
                  <p:cNvPr id="356" name="Straight Connector 355">
                    <a:extLst>
                      <a:ext uri="{FF2B5EF4-FFF2-40B4-BE49-F238E27FC236}">
                        <a16:creationId xmlns:a16="http://schemas.microsoft.com/office/drawing/2014/main" id="{A507D673-036F-4A94-9FEC-F817A1EBDEFD}"/>
                      </a:ext>
                    </a:extLst>
                  </p:cNvPr>
                  <p:cNvCxnSpPr/>
                  <p:nvPr/>
                </p:nvCxnSpPr>
                <p:spPr>
                  <a:xfrm>
                    <a:off x="10085295" y="2438808"/>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357" name="Straight Connector 356">
                    <a:extLst>
                      <a:ext uri="{FF2B5EF4-FFF2-40B4-BE49-F238E27FC236}">
                        <a16:creationId xmlns:a16="http://schemas.microsoft.com/office/drawing/2014/main" id="{11A3A08C-1C62-4804-9A97-45A7B947E461}"/>
                      </a:ext>
                    </a:extLst>
                  </p:cNvPr>
                  <p:cNvCxnSpPr>
                    <a:cxnSpLocks/>
                  </p:cNvCxnSpPr>
                  <p:nvPr/>
                </p:nvCxnSpPr>
                <p:spPr>
                  <a:xfrm rot="16200000">
                    <a:off x="10009100" y="2515006"/>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358" name="Straight Connector 357">
                    <a:extLst>
                      <a:ext uri="{FF2B5EF4-FFF2-40B4-BE49-F238E27FC236}">
                        <a16:creationId xmlns:a16="http://schemas.microsoft.com/office/drawing/2014/main" id="{756EE0B7-CAD7-451B-A9F8-0478EABEDBEC}"/>
                      </a:ext>
                    </a:extLst>
                  </p:cNvPr>
                  <p:cNvCxnSpPr>
                    <a:cxnSpLocks/>
                  </p:cNvCxnSpPr>
                  <p:nvPr/>
                </p:nvCxnSpPr>
                <p:spPr>
                  <a:xfrm rot="16200000">
                    <a:off x="10161500" y="2515010"/>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grpSp>
            <p:grpSp>
              <p:nvGrpSpPr>
                <p:cNvPr id="348" name="Group 347">
                  <a:extLst>
                    <a:ext uri="{FF2B5EF4-FFF2-40B4-BE49-F238E27FC236}">
                      <a16:creationId xmlns:a16="http://schemas.microsoft.com/office/drawing/2014/main" id="{94526DDF-8405-498B-AD26-18893F468E48}"/>
                    </a:ext>
                  </a:extLst>
                </p:cNvPr>
                <p:cNvGrpSpPr/>
                <p:nvPr/>
              </p:nvGrpSpPr>
              <p:grpSpPr>
                <a:xfrm>
                  <a:off x="10696759" y="2436673"/>
                  <a:ext cx="170111" cy="170115"/>
                  <a:chOff x="10085295" y="2429950"/>
                  <a:chExt cx="170111" cy="170115"/>
                </a:xfrm>
              </p:grpSpPr>
              <p:cxnSp>
                <p:nvCxnSpPr>
                  <p:cNvPr id="353" name="Straight Connector 352">
                    <a:extLst>
                      <a:ext uri="{FF2B5EF4-FFF2-40B4-BE49-F238E27FC236}">
                        <a16:creationId xmlns:a16="http://schemas.microsoft.com/office/drawing/2014/main" id="{D6092876-AF06-4A4F-A4C9-1C4605F01563}"/>
                      </a:ext>
                    </a:extLst>
                  </p:cNvPr>
                  <p:cNvCxnSpPr/>
                  <p:nvPr/>
                </p:nvCxnSpPr>
                <p:spPr>
                  <a:xfrm>
                    <a:off x="10085295" y="2438808"/>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354" name="Straight Connector 353">
                    <a:extLst>
                      <a:ext uri="{FF2B5EF4-FFF2-40B4-BE49-F238E27FC236}">
                        <a16:creationId xmlns:a16="http://schemas.microsoft.com/office/drawing/2014/main" id="{16886088-3BB3-415C-B064-FCBFACE12FA9}"/>
                      </a:ext>
                    </a:extLst>
                  </p:cNvPr>
                  <p:cNvCxnSpPr>
                    <a:cxnSpLocks/>
                  </p:cNvCxnSpPr>
                  <p:nvPr/>
                </p:nvCxnSpPr>
                <p:spPr>
                  <a:xfrm rot="16200000">
                    <a:off x="10009100" y="2515006"/>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355" name="Straight Connector 354">
                    <a:extLst>
                      <a:ext uri="{FF2B5EF4-FFF2-40B4-BE49-F238E27FC236}">
                        <a16:creationId xmlns:a16="http://schemas.microsoft.com/office/drawing/2014/main" id="{C8F7B777-A169-4178-833D-6CF90173BB7B}"/>
                      </a:ext>
                    </a:extLst>
                  </p:cNvPr>
                  <p:cNvCxnSpPr>
                    <a:cxnSpLocks/>
                  </p:cNvCxnSpPr>
                  <p:nvPr/>
                </p:nvCxnSpPr>
                <p:spPr>
                  <a:xfrm rot="16200000">
                    <a:off x="10161500" y="2515010"/>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grpSp>
            <p:grpSp>
              <p:nvGrpSpPr>
                <p:cNvPr id="349" name="Group 348">
                  <a:extLst>
                    <a:ext uri="{FF2B5EF4-FFF2-40B4-BE49-F238E27FC236}">
                      <a16:creationId xmlns:a16="http://schemas.microsoft.com/office/drawing/2014/main" id="{AA6955E0-7066-481D-B2C1-8876D15004D3}"/>
                    </a:ext>
                  </a:extLst>
                </p:cNvPr>
                <p:cNvGrpSpPr/>
                <p:nvPr/>
              </p:nvGrpSpPr>
              <p:grpSpPr>
                <a:xfrm>
                  <a:off x="11002492" y="2436673"/>
                  <a:ext cx="170111" cy="170115"/>
                  <a:chOff x="10085295" y="2429950"/>
                  <a:chExt cx="170111" cy="170115"/>
                </a:xfrm>
              </p:grpSpPr>
              <p:cxnSp>
                <p:nvCxnSpPr>
                  <p:cNvPr id="350" name="Straight Connector 349">
                    <a:extLst>
                      <a:ext uri="{FF2B5EF4-FFF2-40B4-BE49-F238E27FC236}">
                        <a16:creationId xmlns:a16="http://schemas.microsoft.com/office/drawing/2014/main" id="{AAEDE115-52F0-4AEF-B7D0-A87F6945E843}"/>
                      </a:ext>
                    </a:extLst>
                  </p:cNvPr>
                  <p:cNvCxnSpPr/>
                  <p:nvPr/>
                </p:nvCxnSpPr>
                <p:spPr>
                  <a:xfrm>
                    <a:off x="10085295" y="2438808"/>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351" name="Straight Connector 350">
                    <a:extLst>
                      <a:ext uri="{FF2B5EF4-FFF2-40B4-BE49-F238E27FC236}">
                        <a16:creationId xmlns:a16="http://schemas.microsoft.com/office/drawing/2014/main" id="{F9C021B5-9657-4850-8E68-BBDF8CE82361}"/>
                      </a:ext>
                    </a:extLst>
                  </p:cNvPr>
                  <p:cNvCxnSpPr>
                    <a:cxnSpLocks/>
                  </p:cNvCxnSpPr>
                  <p:nvPr/>
                </p:nvCxnSpPr>
                <p:spPr>
                  <a:xfrm rot="16200000">
                    <a:off x="10009100" y="2515006"/>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352" name="Straight Connector 351">
                    <a:extLst>
                      <a:ext uri="{FF2B5EF4-FFF2-40B4-BE49-F238E27FC236}">
                        <a16:creationId xmlns:a16="http://schemas.microsoft.com/office/drawing/2014/main" id="{813398AB-EC46-41A9-80D3-7A296065883F}"/>
                      </a:ext>
                    </a:extLst>
                  </p:cNvPr>
                  <p:cNvCxnSpPr>
                    <a:cxnSpLocks/>
                  </p:cNvCxnSpPr>
                  <p:nvPr/>
                </p:nvCxnSpPr>
                <p:spPr>
                  <a:xfrm rot="16200000">
                    <a:off x="10161500" y="2515010"/>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grpSp>
          </p:grpSp>
        </p:grpSp>
        <p:grpSp>
          <p:nvGrpSpPr>
            <p:cNvPr id="362" name="Group 361">
              <a:extLst>
                <a:ext uri="{FF2B5EF4-FFF2-40B4-BE49-F238E27FC236}">
                  <a16:creationId xmlns:a16="http://schemas.microsoft.com/office/drawing/2014/main" id="{C1CA3403-771E-4A34-ABDE-D86AF619CEB2}"/>
                </a:ext>
              </a:extLst>
            </p:cNvPr>
            <p:cNvGrpSpPr/>
            <p:nvPr/>
          </p:nvGrpSpPr>
          <p:grpSpPr>
            <a:xfrm flipH="1">
              <a:off x="4208897" y="1356204"/>
              <a:ext cx="1087308" cy="1255068"/>
              <a:chOff x="10085295" y="1351720"/>
              <a:chExt cx="1087308" cy="1255068"/>
            </a:xfrm>
          </p:grpSpPr>
          <p:cxnSp>
            <p:nvCxnSpPr>
              <p:cNvPr id="363" name="Straight Connector 362">
                <a:extLst>
                  <a:ext uri="{FF2B5EF4-FFF2-40B4-BE49-F238E27FC236}">
                    <a16:creationId xmlns:a16="http://schemas.microsoft.com/office/drawing/2014/main" id="{E0CC050B-6FFA-4BB9-A9F5-2E732B9131F8}"/>
                  </a:ext>
                </a:extLst>
              </p:cNvPr>
              <p:cNvCxnSpPr>
                <a:cxnSpLocks/>
              </p:cNvCxnSpPr>
              <p:nvPr/>
            </p:nvCxnSpPr>
            <p:spPr>
              <a:xfrm flipV="1">
                <a:off x="10169212" y="1351720"/>
                <a:ext cx="0" cy="1087088"/>
              </a:xfrm>
              <a:prstGeom prst="line">
                <a:avLst/>
              </a:prstGeom>
              <a:ln>
                <a:solidFill>
                  <a:srgbClr val="00B050"/>
                </a:solidFill>
                <a:tailEnd type="oval"/>
              </a:ln>
            </p:spPr>
            <p:style>
              <a:lnRef idx="2">
                <a:schemeClr val="accent2"/>
              </a:lnRef>
              <a:fillRef idx="0">
                <a:schemeClr val="accent2"/>
              </a:fillRef>
              <a:effectRef idx="1">
                <a:schemeClr val="accent2"/>
              </a:effectRef>
              <a:fontRef idx="minor">
                <a:schemeClr val="tx1"/>
              </a:fontRef>
            </p:style>
          </p:cxnSp>
          <p:cxnSp>
            <p:nvCxnSpPr>
              <p:cNvPr id="364" name="Straight Connector 363">
                <a:extLst>
                  <a:ext uri="{FF2B5EF4-FFF2-40B4-BE49-F238E27FC236}">
                    <a16:creationId xmlns:a16="http://schemas.microsoft.com/office/drawing/2014/main" id="{AA82CCBC-7BF6-4DB4-AED9-B12E543D3C9A}"/>
                  </a:ext>
                </a:extLst>
              </p:cNvPr>
              <p:cNvCxnSpPr>
                <a:cxnSpLocks/>
              </p:cNvCxnSpPr>
              <p:nvPr/>
            </p:nvCxnSpPr>
            <p:spPr>
              <a:xfrm flipV="1">
                <a:off x="10478494" y="1497322"/>
                <a:ext cx="0" cy="959415"/>
              </a:xfrm>
              <a:prstGeom prst="line">
                <a:avLst/>
              </a:prstGeom>
              <a:ln>
                <a:solidFill>
                  <a:srgbClr val="00B050"/>
                </a:solidFill>
                <a:tailEnd type="oval"/>
              </a:ln>
            </p:spPr>
            <p:style>
              <a:lnRef idx="2">
                <a:schemeClr val="accent2"/>
              </a:lnRef>
              <a:fillRef idx="0">
                <a:schemeClr val="accent2"/>
              </a:fillRef>
              <a:effectRef idx="1">
                <a:schemeClr val="accent2"/>
              </a:effectRef>
              <a:fontRef idx="minor">
                <a:schemeClr val="tx1"/>
              </a:fontRef>
            </p:style>
          </p:cxnSp>
          <p:cxnSp>
            <p:nvCxnSpPr>
              <p:cNvPr id="365" name="Straight Connector 364">
                <a:extLst>
                  <a:ext uri="{FF2B5EF4-FFF2-40B4-BE49-F238E27FC236}">
                    <a16:creationId xmlns:a16="http://schemas.microsoft.com/office/drawing/2014/main" id="{A02B250C-0732-44A1-9746-F5214CD4F742}"/>
                  </a:ext>
                </a:extLst>
              </p:cNvPr>
              <p:cNvCxnSpPr>
                <a:cxnSpLocks/>
              </p:cNvCxnSpPr>
              <p:nvPr/>
            </p:nvCxnSpPr>
            <p:spPr>
              <a:xfrm flipV="1">
                <a:off x="10787772" y="1649722"/>
                <a:ext cx="0" cy="796893"/>
              </a:xfrm>
              <a:prstGeom prst="line">
                <a:avLst/>
              </a:prstGeom>
              <a:ln>
                <a:solidFill>
                  <a:srgbClr val="00B050"/>
                </a:solidFill>
                <a:tailEnd type="oval"/>
              </a:ln>
            </p:spPr>
            <p:style>
              <a:lnRef idx="2">
                <a:schemeClr val="accent2"/>
              </a:lnRef>
              <a:fillRef idx="0">
                <a:schemeClr val="accent2"/>
              </a:fillRef>
              <a:effectRef idx="1">
                <a:schemeClr val="accent2"/>
              </a:effectRef>
              <a:fontRef idx="minor">
                <a:schemeClr val="tx1"/>
              </a:fontRef>
            </p:style>
          </p:cxnSp>
          <p:cxnSp>
            <p:nvCxnSpPr>
              <p:cNvPr id="366" name="Straight Connector 365">
                <a:extLst>
                  <a:ext uri="{FF2B5EF4-FFF2-40B4-BE49-F238E27FC236}">
                    <a16:creationId xmlns:a16="http://schemas.microsoft.com/office/drawing/2014/main" id="{BAF58390-603B-47FA-BB6E-99CCBB4A9D50}"/>
                  </a:ext>
                </a:extLst>
              </p:cNvPr>
              <p:cNvCxnSpPr>
                <a:cxnSpLocks/>
              </p:cNvCxnSpPr>
              <p:nvPr/>
            </p:nvCxnSpPr>
            <p:spPr>
              <a:xfrm flipV="1">
                <a:off x="11088091" y="1802122"/>
                <a:ext cx="0" cy="643410"/>
              </a:xfrm>
              <a:prstGeom prst="line">
                <a:avLst/>
              </a:prstGeom>
              <a:ln>
                <a:solidFill>
                  <a:srgbClr val="00B050"/>
                </a:solidFill>
                <a:tailEnd type="oval"/>
              </a:ln>
            </p:spPr>
            <p:style>
              <a:lnRef idx="2">
                <a:schemeClr val="accent2"/>
              </a:lnRef>
              <a:fillRef idx="0">
                <a:schemeClr val="accent2"/>
              </a:fillRef>
              <a:effectRef idx="1">
                <a:schemeClr val="accent2"/>
              </a:effectRef>
              <a:fontRef idx="minor">
                <a:schemeClr val="tx1"/>
              </a:fontRef>
            </p:style>
          </p:cxnSp>
          <p:grpSp>
            <p:nvGrpSpPr>
              <p:cNvPr id="367" name="Group 366">
                <a:extLst>
                  <a:ext uri="{FF2B5EF4-FFF2-40B4-BE49-F238E27FC236}">
                    <a16:creationId xmlns:a16="http://schemas.microsoft.com/office/drawing/2014/main" id="{7BACBF7F-8264-41CF-AD2E-E736C8763FC8}"/>
                  </a:ext>
                </a:extLst>
              </p:cNvPr>
              <p:cNvGrpSpPr/>
              <p:nvPr/>
            </p:nvGrpSpPr>
            <p:grpSpPr>
              <a:xfrm>
                <a:off x="10085295" y="2436673"/>
                <a:ext cx="1087308" cy="170115"/>
                <a:chOff x="10085295" y="2436673"/>
                <a:chExt cx="1087308" cy="170115"/>
              </a:xfrm>
            </p:grpSpPr>
            <p:grpSp>
              <p:nvGrpSpPr>
                <p:cNvPr id="368" name="Group 367">
                  <a:extLst>
                    <a:ext uri="{FF2B5EF4-FFF2-40B4-BE49-F238E27FC236}">
                      <a16:creationId xmlns:a16="http://schemas.microsoft.com/office/drawing/2014/main" id="{4F188332-E8C2-4AC9-B8C5-5D2C7799E75D}"/>
                    </a:ext>
                  </a:extLst>
                </p:cNvPr>
                <p:cNvGrpSpPr/>
                <p:nvPr/>
              </p:nvGrpSpPr>
              <p:grpSpPr>
                <a:xfrm>
                  <a:off x="10085295" y="2436673"/>
                  <a:ext cx="170111" cy="170115"/>
                  <a:chOff x="10085295" y="2429950"/>
                  <a:chExt cx="170111" cy="170115"/>
                </a:xfrm>
              </p:grpSpPr>
              <p:cxnSp>
                <p:nvCxnSpPr>
                  <p:cNvPr id="381" name="Straight Connector 380">
                    <a:extLst>
                      <a:ext uri="{FF2B5EF4-FFF2-40B4-BE49-F238E27FC236}">
                        <a16:creationId xmlns:a16="http://schemas.microsoft.com/office/drawing/2014/main" id="{E487E084-EC12-4F08-B824-DB37ABC5CA8E}"/>
                      </a:ext>
                    </a:extLst>
                  </p:cNvPr>
                  <p:cNvCxnSpPr/>
                  <p:nvPr/>
                </p:nvCxnSpPr>
                <p:spPr>
                  <a:xfrm>
                    <a:off x="10085295" y="2438808"/>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382" name="Straight Connector 381">
                    <a:extLst>
                      <a:ext uri="{FF2B5EF4-FFF2-40B4-BE49-F238E27FC236}">
                        <a16:creationId xmlns:a16="http://schemas.microsoft.com/office/drawing/2014/main" id="{A405E33A-CC6B-49A9-954C-7DCBD941E59F}"/>
                      </a:ext>
                    </a:extLst>
                  </p:cNvPr>
                  <p:cNvCxnSpPr>
                    <a:cxnSpLocks/>
                  </p:cNvCxnSpPr>
                  <p:nvPr/>
                </p:nvCxnSpPr>
                <p:spPr>
                  <a:xfrm rot="16200000">
                    <a:off x="10009100" y="2515006"/>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383" name="Straight Connector 382">
                    <a:extLst>
                      <a:ext uri="{FF2B5EF4-FFF2-40B4-BE49-F238E27FC236}">
                        <a16:creationId xmlns:a16="http://schemas.microsoft.com/office/drawing/2014/main" id="{48361352-BC3E-4F74-9C9E-834604877F85}"/>
                      </a:ext>
                    </a:extLst>
                  </p:cNvPr>
                  <p:cNvCxnSpPr>
                    <a:cxnSpLocks/>
                  </p:cNvCxnSpPr>
                  <p:nvPr/>
                </p:nvCxnSpPr>
                <p:spPr>
                  <a:xfrm rot="16200000">
                    <a:off x="10161500" y="2515010"/>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grpSp>
            <p:grpSp>
              <p:nvGrpSpPr>
                <p:cNvPr id="369" name="Group 368">
                  <a:extLst>
                    <a:ext uri="{FF2B5EF4-FFF2-40B4-BE49-F238E27FC236}">
                      <a16:creationId xmlns:a16="http://schemas.microsoft.com/office/drawing/2014/main" id="{E4355314-D220-4D7D-9786-E97738434F64}"/>
                    </a:ext>
                  </a:extLst>
                </p:cNvPr>
                <p:cNvGrpSpPr/>
                <p:nvPr/>
              </p:nvGrpSpPr>
              <p:grpSpPr>
                <a:xfrm>
                  <a:off x="10391027" y="2436673"/>
                  <a:ext cx="170111" cy="170115"/>
                  <a:chOff x="10085295" y="2429950"/>
                  <a:chExt cx="170111" cy="170115"/>
                </a:xfrm>
              </p:grpSpPr>
              <p:cxnSp>
                <p:nvCxnSpPr>
                  <p:cNvPr id="378" name="Straight Connector 377">
                    <a:extLst>
                      <a:ext uri="{FF2B5EF4-FFF2-40B4-BE49-F238E27FC236}">
                        <a16:creationId xmlns:a16="http://schemas.microsoft.com/office/drawing/2014/main" id="{E4C7B6A0-3810-480C-BCD6-9501DAB97E8C}"/>
                      </a:ext>
                    </a:extLst>
                  </p:cNvPr>
                  <p:cNvCxnSpPr/>
                  <p:nvPr/>
                </p:nvCxnSpPr>
                <p:spPr>
                  <a:xfrm>
                    <a:off x="10085295" y="2438808"/>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379" name="Straight Connector 378">
                    <a:extLst>
                      <a:ext uri="{FF2B5EF4-FFF2-40B4-BE49-F238E27FC236}">
                        <a16:creationId xmlns:a16="http://schemas.microsoft.com/office/drawing/2014/main" id="{11CC0992-4943-4650-A774-2D20572BB406}"/>
                      </a:ext>
                    </a:extLst>
                  </p:cNvPr>
                  <p:cNvCxnSpPr>
                    <a:cxnSpLocks/>
                  </p:cNvCxnSpPr>
                  <p:nvPr/>
                </p:nvCxnSpPr>
                <p:spPr>
                  <a:xfrm rot="16200000">
                    <a:off x="10009100" y="2515006"/>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380" name="Straight Connector 379">
                    <a:extLst>
                      <a:ext uri="{FF2B5EF4-FFF2-40B4-BE49-F238E27FC236}">
                        <a16:creationId xmlns:a16="http://schemas.microsoft.com/office/drawing/2014/main" id="{E0E56912-E1F3-4A0D-8B22-B320E9175024}"/>
                      </a:ext>
                    </a:extLst>
                  </p:cNvPr>
                  <p:cNvCxnSpPr>
                    <a:cxnSpLocks/>
                  </p:cNvCxnSpPr>
                  <p:nvPr/>
                </p:nvCxnSpPr>
                <p:spPr>
                  <a:xfrm rot="16200000">
                    <a:off x="10161500" y="2515010"/>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grpSp>
            <p:grpSp>
              <p:nvGrpSpPr>
                <p:cNvPr id="370" name="Group 369">
                  <a:extLst>
                    <a:ext uri="{FF2B5EF4-FFF2-40B4-BE49-F238E27FC236}">
                      <a16:creationId xmlns:a16="http://schemas.microsoft.com/office/drawing/2014/main" id="{C85707C6-6A02-42FB-93EB-18A6944476D0}"/>
                    </a:ext>
                  </a:extLst>
                </p:cNvPr>
                <p:cNvGrpSpPr/>
                <p:nvPr/>
              </p:nvGrpSpPr>
              <p:grpSpPr>
                <a:xfrm>
                  <a:off x="10696759" y="2436673"/>
                  <a:ext cx="170111" cy="170115"/>
                  <a:chOff x="10085295" y="2429950"/>
                  <a:chExt cx="170111" cy="170115"/>
                </a:xfrm>
              </p:grpSpPr>
              <p:cxnSp>
                <p:nvCxnSpPr>
                  <p:cNvPr id="375" name="Straight Connector 374">
                    <a:extLst>
                      <a:ext uri="{FF2B5EF4-FFF2-40B4-BE49-F238E27FC236}">
                        <a16:creationId xmlns:a16="http://schemas.microsoft.com/office/drawing/2014/main" id="{85916FF5-4DFC-48F6-B98C-45C3FD442C34}"/>
                      </a:ext>
                    </a:extLst>
                  </p:cNvPr>
                  <p:cNvCxnSpPr/>
                  <p:nvPr/>
                </p:nvCxnSpPr>
                <p:spPr>
                  <a:xfrm>
                    <a:off x="10085295" y="2438808"/>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376" name="Straight Connector 375">
                    <a:extLst>
                      <a:ext uri="{FF2B5EF4-FFF2-40B4-BE49-F238E27FC236}">
                        <a16:creationId xmlns:a16="http://schemas.microsoft.com/office/drawing/2014/main" id="{E0FD48DB-9F82-42EA-A45C-0327191D2FC3}"/>
                      </a:ext>
                    </a:extLst>
                  </p:cNvPr>
                  <p:cNvCxnSpPr>
                    <a:cxnSpLocks/>
                  </p:cNvCxnSpPr>
                  <p:nvPr/>
                </p:nvCxnSpPr>
                <p:spPr>
                  <a:xfrm rot="16200000">
                    <a:off x="10009100" y="2515006"/>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377" name="Straight Connector 376">
                    <a:extLst>
                      <a:ext uri="{FF2B5EF4-FFF2-40B4-BE49-F238E27FC236}">
                        <a16:creationId xmlns:a16="http://schemas.microsoft.com/office/drawing/2014/main" id="{963732B3-2E6C-468A-8E80-D150B3575E33}"/>
                      </a:ext>
                    </a:extLst>
                  </p:cNvPr>
                  <p:cNvCxnSpPr>
                    <a:cxnSpLocks/>
                  </p:cNvCxnSpPr>
                  <p:nvPr/>
                </p:nvCxnSpPr>
                <p:spPr>
                  <a:xfrm rot="16200000">
                    <a:off x="10161500" y="2515010"/>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grpSp>
            <p:grpSp>
              <p:nvGrpSpPr>
                <p:cNvPr id="371" name="Group 370">
                  <a:extLst>
                    <a:ext uri="{FF2B5EF4-FFF2-40B4-BE49-F238E27FC236}">
                      <a16:creationId xmlns:a16="http://schemas.microsoft.com/office/drawing/2014/main" id="{B547257D-9AD0-4C63-ADD6-23175FE6BE25}"/>
                    </a:ext>
                  </a:extLst>
                </p:cNvPr>
                <p:cNvGrpSpPr/>
                <p:nvPr/>
              </p:nvGrpSpPr>
              <p:grpSpPr>
                <a:xfrm>
                  <a:off x="11002492" y="2436673"/>
                  <a:ext cx="170111" cy="170115"/>
                  <a:chOff x="10085295" y="2429950"/>
                  <a:chExt cx="170111" cy="170115"/>
                </a:xfrm>
              </p:grpSpPr>
              <p:cxnSp>
                <p:nvCxnSpPr>
                  <p:cNvPr id="372" name="Straight Connector 371">
                    <a:extLst>
                      <a:ext uri="{FF2B5EF4-FFF2-40B4-BE49-F238E27FC236}">
                        <a16:creationId xmlns:a16="http://schemas.microsoft.com/office/drawing/2014/main" id="{E2703967-A77B-41EE-A0F9-0B80359E6A75}"/>
                      </a:ext>
                    </a:extLst>
                  </p:cNvPr>
                  <p:cNvCxnSpPr/>
                  <p:nvPr/>
                </p:nvCxnSpPr>
                <p:spPr>
                  <a:xfrm>
                    <a:off x="10085295" y="2438808"/>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373" name="Straight Connector 372">
                    <a:extLst>
                      <a:ext uri="{FF2B5EF4-FFF2-40B4-BE49-F238E27FC236}">
                        <a16:creationId xmlns:a16="http://schemas.microsoft.com/office/drawing/2014/main" id="{64CE9C38-9283-4EF6-8336-41B298A1343F}"/>
                      </a:ext>
                    </a:extLst>
                  </p:cNvPr>
                  <p:cNvCxnSpPr>
                    <a:cxnSpLocks/>
                  </p:cNvCxnSpPr>
                  <p:nvPr/>
                </p:nvCxnSpPr>
                <p:spPr>
                  <a:xfrm rot="16200000">
                    <a:off x="10009100" y="2515006"/>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374" name="Straight Connector 373">
                    <a:extLst>
                      <a:ext uri="{FF2B5EF4-FFF2-40B4-BE49-F238E27FC236}">
                        <a16:creationId xmlns:a16="http://schemas.microsoft.com/office/drawing/2014/main" id="{2AF63350-95D0-489D-B3A6-551A0FEF0E84}"/>
                      </a:ext>
                    </a:extLst>
                  </p:cNvPr>
                  <p:cNvCxnSpPr>
                    <a:cxnSpLocks/>
                  </p:cNvCxnSpPr>
                  <p:nvPr/>
                </p:nvCxnSpPr>
                <p:spPr>
                  <a:xfrm rot="16200000">
                    <a:off x="10161500" y="2515010"/>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grpSp>
          </p:grpSp>
        </p:grpSp>
      </p:grpSp>
      <p:grpSp>
        <p:nvGrpSpPr>
          <p:cNvPr id="75" name="Group 74">
            <a:extLst>
              <a:ext uri="{FF2B5EF4-FFF2-40B4-BE49-F238E27FC236}">
                <a16:creationId xmlns:a16="http://schemas.microsoft.com/office/drawing/2014/main" id="{7A31F2DE-F135-4CE0-B4A2-1206F7D0EFB9}"/>
              </a:ext>
            </a:extLst>
          </p:cNvPr>
          <p:cNvGrpSpPr/>
          <p:nvPr/>
        </p:nvGrpSpPr>
        <p:grpSpPr>
          <a:xfrm>
            <a:off x="4204446" y="3467389"/>
            <a:ext cx="7921607" cy="1332735"/>
            <a:chOff x="4204446" y="3467388"/>
            <a:chExt cx="7921606" cy="1332734"/>
          </a:xfrm>
        </p:grpSpPr>
        <p:grpSp>
          <p:nvGrpSpPr>
            <p:cNvPr id="214" name="Group 213">
              <a:extLst>
                <a:ext uri="{FF2B5EF4-FFF2-40B4-BE49-F238E27FC236}">
                  <a16:creationId xmlns:a16="http://schemas.microsoft.com/office/drawing/2014/main" id="{19CF7F7B-A035-4CB4-8767-8E7C52DC6B0B}"/>
                </a:ext>
              </a:extLst>
            </p:cNvPr>
            <p:cNvGrpSpPr/>
            <p:nvPr/>
          </p:nvGrpSpPr>
          <p:grpSpPr>
            <a:xfrm>
              <a:off x="4288957" y="4195004"/>
              <a:ext cx="7837095" cy="605118"/>
              <a:chOff x="4340798" y="1433272"/>
              <a:chExt cx="7837095" cy="605118"/>
            </a:xfrm>
            <a:solidFill>
              <a:srgbClr val="00B050"/>
            </a:solidFill>
          </p:grpSpPr>
          <p:grpSp>
            <p:nvGrpSpPr>
              <p:cNvPr id="215" name="Group 214">
                <a:extLst>
                  <a:ext uri="{FF2B5EF4-FFF2-40B4-BE49-F238E27FC236}">
                    <a16:creationId xmlns:a16="http://schemas.microsoft.com/office/drawing/2014/main" id="{3498C8A1-CC28-409E-8458-ACED67F1C57C}"/>
                  </a:ext>
                </a:extLst>
              </p:cNvPr>
              <p:cNvGrpSpPr/>
              <p:nvPr/>
            </p:nvGrpSpPr>
            <p:grpSpPr>
              <a:xfrm>
                <a:off x="4340798" y="1503376"/>
                <a:ext cx="7762323" cy="447607"/>
                <a:chOff x="4340798" y="1503376"/>
                <a:chExt cx="7762323" cy="447607"/>
              </a:xfrm>
              <a:grpFill/>
            </p:grpSpPr>
            <p:cxnSp>
              <p:nvCxnSpPr>
                <p:cNvPr id="220" name="Straight Connector 219">
                  <a:extLst>
                    <a:ext uri="{FF2B5EF4-FFF2-40B4-BE49-F238E27FC236}">
                      <a16:creationId xmlns:a16="http://schemas.microsoft.com/office/drawing/2014/main" id="{39874792-752B-4075-8478-F3391F6B6694}"/>
                    </a:ext>
                  </a:extLst>
                </p:cNvPr>
                <p:cNvCxnSpPr>
                  <a:cxnSpLocks/>
                </p:cNvCxnSpPr>
                <p:nvPr/>
              </p:nvCxnSpPr>
              <p:spPr>
                <a:xfrm>
                  <a:off x="4340798" y="1503376"/>
                  <a:ext cx="7305123" cy="0"/>
                </a:xfrm>
                <a:prstGeom prst="line">
                  <a:avLst/>
                </a:prstGeom>
                <a:grpFill/>
                <a:ln>
                  <a:solidFill>
                    <a:srgbClr val="00B050"/>
                  </a:solidFill>
                </a:ln>
              </p:spPr>
              <p:style>
                <a:lnRef idx="2">
                  <a:schemeClr val="accent2"/>
                </a:lnRef>
                <a:fillRef idx="0">
                  <a:schemeClr val="accent2"/>
                </a:fillRef>
                <a:effectRef idx="1">
                  <a:schemeClr val="accent2"/>
                </a:effectRef>
                <a:fontRef idx="minor">
                  <a:schemeClr val="tx1"/>
                </a:fontRef>
              </p:style>
            </p:cxnSp>
            <p:cxnSp>
              <p:nvCxnSpPr>
                <p:cNvPr id="221" name="Straight Connector 220">
                  <a:extLst>
                    <a:ext uri="{FF2B5EF4-FFF2-40B4-BE49-F238E27FC236}">
                      <a16:creationId xmlns:a16="http://schemas.microsoft.com/office/drawing/2014/main" id="{AD600660-4D6A-4AD9-A6A9-9D74CDF569C4}"/>
                    </a:ext>
                  </a:extLst>
                </p:cNvPr>
                <p:cNvCxnSpPr>
                  <a:cxnSpLocks/>
                </p:cNvCxnSpPr>
                <p:nvPr/>
              </p:nvCxnSpPr>
              <p:spPr>
                <a:xfrm>
                  <a:off x="4641117" y="1651294"/>
                  <a:ext cx="7157204" cy="0"/>
                </a:xfrm>
                <a:prstGeom prst="line">
                  <a:avLst/>
                </a:prstGeom>
                <a:grpFill/>
                <a:ln>
                  <a:solidFill>
                    <a:srgbClr val="00B050"/>
                  </a:solidFill>
                </a:ln>
              </p:spPr>
              <p:style>
                <a:lnRef idx="2">
                  <a:schemeClr val="accent2"/>
                </a:lnRef>
                <a:fillRef idx="0">
                  <a:schemeClr val="accent2"/>
                </a:fillRef>
                <a:effectRef idx="1">
                  <a:schemeClr val="accent2"/>
                </a:effectRef>
                <a:fontRef idx="minor">
                  <a:schemeClr val="tx1"/>
                </a:fontRef>
              </p:style>
            </p:cxnSp>
            <p:cxnSp>
              <p:nvCxnSpPr>
                <p:cNvPr id="222" name="Straight Connector 221">
                  <a:extLst>
                    <a:ext uri="{FF2B5EF4-FFF2-40B4-BE49-F238E27FC236}">
                      <a16:creationId xmlns:a16="http://schemas.microsoft.com/office/drawing/2014/main" id="{73634F87-DF69-40A8-9F0D-EA05E94F3CB0}"/>
                    </a:ext>
                  </a:extLst>
                </p:cNvPr>
                <p:cNvCxnSpPr>
                  <a:cxnSpLocks/>
                </p:cNvCxnSpPr>
                <p:nvPr/>
              </p:nvCxnSpPr>
              <p:spPr>
                <a:xfrm>
                  <a:off x="4939310" y="1819456"/>
                  <a:ext cx="7011411" cy="0"/>
                </a:xfrm>
                <a:prstGeom prst="line">
                  <a:avLst/>
                </a:prstGeom>
                <a:grpFill/>
                <a:ln>
                  <a:solidFill>
                    <a:srgbClr val="00B050"/>
                  </a:solidFill>
                </a:ln>
              </p:spPr>
              <p:style>
                <a:lnRef idx="2">
                  <a:schemeClr val="accent2"/>
                </a:lnRef>
                <a:fillRef idx="0">
                  <a:schemeClr val="accent2"/>
                </a:fillRef>
                <a:effectRef idx="1">
                  <a:schemeClr val="accent2"/>
                </a:effectRef>
                <a:fontRef idx="minor">
                  <a:schemeClr val="tx1"/>
                </a:fontRef>
              </p:style>
            </p:cxnSp>
            <p:cxnSp>
              <p:nvCxnSpPr>
                <p:cNvPr id="223" name="Straight Connector 222">
                  <a:extLst>
                    <a:ext uri="{FF2B5EF4-FFF2-40B4-BE49-F238E27FC236}">
                      <a16:creationId xmlns:a16="http://schemas.microsoft.com/office/drawing/2014/main" id="{22EB0BCB-6688-47AF-9E95-B2AF811BE497}"/>
                    </a:ext>
                  </a:extLst>
                </p:cNvPr>
                <p:cNvCxnSpPr>
                  <a:cxnSpLocks/>
                </p:cNvCxnSpPr>
                <p:nvPr/>
              </p:nvCxnSpPr>
              <p:spPr>
                <a:xfrm>
                  <a:off x="5258539" y="1950983"/>
                  <a:ext cx="6844582" cy="0"/>
                </a:xfrm>
                <a:prstGeom prst="line">
                  <a:avLst/>
                </a:prstGeom>
                <a:grpFill/>
                <a:ln>
                  <a:solidFill>
                    <a:srgbClr val="00B050"/>
                  </a:solidFill>
                </a:ln>
              </p:spPr>
              <p:style>
                <a:lnRef idx="2">
                  <a:schemeClr val="accent2"/>
                </a:lnRef>
                <a:fillRef idx="0">
                  <a:schemeClr val="accent2"/>
                </a:fillRef>
                <a:effectRef idx="1">
                  <a:schemeClr val="accent2"/>
                </a:effectRef>
                <a:fontRef idx="minor">
                  <a:schemeClr val="tx1"/>
                </a:fontRef>
              </p:style>
            </p:cxnSp>
          </p:grpSp>
          <p:sp>
            <p:nvSpPr>
              <p:cNvPr id="216" name="Oval 215">
                <a:extLst>
                  <a:ext uri="{FF2B5EF4-FFF2-40B4-BE49-F238E27FC236}">
                    <a16:creationId xmlns:a16="http://schemas.microsoft.com/office/drawing/2014/main" id="{0ECB8F80-0B39-4382-AB2C-F1E7E4E1B677}"/>
                  </a:ext>
                </a:extLst>
              </p:cNvPr>
              <p:cNvSpPr/>
              <p:nvPr/>
            </p:nvSpPr>
            <p:spPr>
              <a:xfrm>
                <a:off x="11575713" y="1433272"/>
                <a:ext cx="144980" cy="147918"/>
              </a:xfrm>
              <a:prstGeom prst="ellipse">
                <a:avLst/>
              </a:prstGeom>
              <a:grp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800"/>
                  <a:t>D5</a:t>
                </a:r>
              </a:p>
            </p:txBody>
          </p:sp>
          <p:sp>
            <p:nvSpPr>
              <p:cNvPr id="217" name="Oval 216">
                <a:extLst>
                  <a:ext uri="{FF2B5EF4-FFF2-40B4-BE49-F238E27FC236}">
                    <a16:creationId xmlns:a16="http://schemas.microsoft.com/office/drawing/2014/main" id="{80EABE82-F63E-4784-81CB-49C1582231E5}"/>
                  </a:ext>
                </a:extLst>
              </p:cNvPr>
              <p:cNvSpPr/>
              <p:nvPr/>
            </p:nvSpPr>
            <p:spPr>
              <a:xfrm>
                <a:off x="11728113" y="1585672"/>
                <a:ext cx="144980" cy="147918"/>
              </a:xfrm>
              <a:prstGeom prst="ellipse">
                <a:avLst/>
              </a:prstGeom>
              <a:grp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800"/>
                  <a:t>D6</a:t>
                </a:r>
              </a:p>
            </p:txBody>
          </p:sp>
          <p:sp>
            <p:nvSpPr>
              <p:cNvPr id="218" name="Oval 217">
                <a:extLst>
                  <a:ext uri="{FF2B5EF4-FFF2-40B4-BE49-F238E27FC236}">
                    <a16:creationId xmlns:a16="http://schemas.microsoft.com/office/drawing/2014/main" id="{78D8C52E-EC0A-4D2E-8101-FA6474DB3BA8}"/>
                  </a:ext>
                </a:extLst>
              </p:cNvPr>
              <p:cNvSpPr/>
              <p:nvPr/>
            </p:nvSpPr>
            <p:spPr>
              <a:xfrm>
                <a:off x="11880513" y="1738072"/>
                <a:ext cx="144980" cy="147918"/>
              </a:xfrm>
              <a:prstGeom prst="ellipse">
                <a:avLst/>
              </a:prstGeom>
              <a:grp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800"/>
                  <a:t>D7</a:t>
                </a:r>
              </a:p>
            </p:txBody>
          </p:sp>
          <p:sp>
            <p:nvSpPr>
              <p:cNvPr id="219" name="Oval 218">
                <a:extLst>
                  <a:ext uri="{FF2B5EF4-FFF2-40B4-BE49-F238E27FC236}">
                    <a16:creationId xmlns:a16="http://schemas.microsoft.com/office/drawing/2014/main" id="{E5BF77EF-1147-428D-A70C-02FF09322989}"/>
                  </a:ext>
                </a:extLst>
              </p:cNvPr>
              <p:cNvSpPr/>
              <p:nvPr/>
            </p:nvSpPr>
            <p:spPr>
              <a:xfrm>
                <a:off x="12032913" y="1890472"/>
                <a:ext cx="144980" cy="147918"/>
              </a:xfrm>
              <a:prstGeom prst="ellipse">
                <a:avLst/>
              </a:prstGeom>
              <a:grp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800"/>
                  <a:t>D8</a:t>
                </a:r>
              </a:p>
            </p:txBody>
          </p:sp>
        </p:grpSp>
        <p:grpSp>
          <p:nvGrpSpPr>
            <p:cNvPr id="74" name="Group 73">
              <a:extLst>
                <a:ext uri="{FF2B5EF4-FFF2-40B4-BE49-F238E27FC236}">
                  <a16:creationId xmlns:a16="http://schemas.microsoft.com/office/drawing/2014/main" id="{82C2275E-A936-4DBB-B4DA-7DA8E7845445}"/>
                </a:ext>
              </a:extLst>
            </p:cNvPr>
            <p:cNvGrpSpPr/>
            <p:nvPr/>
          </p:nvGrpSpPr>
          <p:grpSpPr>
            <a:xfrm>
              <a:off x="4204446" y="3467388"/>
              <a:ext cx="6963677" cy="1255069"/>
              <a:chOff x="4204446" y="3467388"/>
              <a:chExt cx="6963677" cy="1255069"/>
            </a:xfrm>
          </p:grpSpPr>
          <p:grpSp>
            <p:nvGrpSpPr>
              <p:cNvPr id="384" name="Group 383">
                <a:extLst>
                  <a:ext uri="{FF2B5EF4-FFF2-40B4-BE49-F238E27FC236}">
                    <a16:creationId xmlns:a16="http://schemas.microsoft.com/office/drawing/2014/main" id="{2E3E54FD-7B7E-4EAD-9A31-A2E99FA8B70E}"/>
                  </a:ext>
                </a:extLst>
              </p:cNvPr>
              <p:cNvGrpSpPr/>
              <p:nvPr/>
            </p:nvGrpSpPr>
            <p:grpSpPr>
              <a:xfrm rot="10800000">
                <a:off x="8122026" y="3467388"/>
                <a:ext cx="1087308" cy="1255068"/>
                <a:chOff x="10085295" y="1351720"/>
                <a:chExt cx="1087308" cy="1255068"/>
              </a:xfrm>
            </p:grpSpPr>
            <p:cxnSp>
              <p:nvCxnSpPr>
                <p:cNvPr id="385" name="Straight Connector 384">
                  <a:extLst>
                    <a:ext uri="{FF2B5EF4-FFF2-40B4-BE49-F238E27FC236}">
                      <a16:creationId xmlns:a16="http://schemas.microsoft.com/office/drawing/2014/main" id="{7E73E86C-7914-43AD-B877-79B313A1407F}"/>
                    </a:ext>
                  </a:extLst>
                </p:cNvPr>
                <p:cNvCxnSpPr>
                  <a:cxnSpLocks/>
                </p:cNvCxnSpPr>
                <p:nvPr/>
              </p:nvCxnSpPr>
              <p:spPr>
                <a:xfrm flipV="1">
                  <a:off x="10169212" y="1351720"/>
                  <a:ext cx="0" cy="1087088"/>
                </a:xfrm>
                <a:prstGeom prst="line">
                  <a:avLst/>
                </a:prstGeom>
                <a:ln>
                  <a:solidFill>
                    <a:srgbClr val="00B050"/>
                  </a:solidFill>
                  <a:tailEnd type="oval"/>
                </a:ln>
              </p:spPr>
              <p:style>
                <a:lnRef idx="2">
                  <a:schemeClr val="accent2"/>
                </a:lnRef>
                <a:fillRef idx="0">
                  <a:schemeClr val="accent2"/>
                </a:fillRef>
                <a:effectRef idx="1">
                  <a:schemeClr val="accent2"/>
                </a:effectRef>
                <a:fontRef idx="minor">
                  <a:schemeClr val="tx1"/>
                </a:fontRef>
              </p:style>
            </p:cxnSp>
            <p:cxnSp>
              <p:nvCxnSpPr>
                <p:cNvPr id="386" name="Straight Connector 385">
                  <a:extLst>
                    <a:ext uri="{FF2B5EF4-FFF2-40B4-BE49-F238E27FC236}">
                      <a16:creationId xmlns:a16="http://schemas.microsoft.com/office/drawing/2014/main" id="{FB02AA10-CE83-4210-A8A3-91359C3E3F72}"/>
                    </a:ext>
                  </a:extLst>
                </p:cNvPr>
                <p:cNvCxnSpPr>
                  <a:cxnSpLocks/>
                </p:cNvCxnSpPr>
                <p:nvPr/>
              </p:nvCxnSpPr>
              <p:spPr>
                <a:xfrm flipV="1">
                  <a:off x="10478494" y="1497322"/>
                  <a:ext cx="0" cy="959415"/>
                </a:xfrm>
                <a:prstGeom prst="line">
                  <a:avLst/>
                </a:prstGeom>
                <a:ln>
                  <a:solidFill>
                    <a:srgbClr val="00B050"/>
                  </a:solidFill>
                  <a:tailEnd type="oval"/>
                </a:ln>
              </p:spPr>
              <p:style>
                <a:lnRef idx="2">
                  <a:schemeClr val="accent2"/>
                </a:lnRef>
                <a:fillRef idx="0">
                  <a:schemeClr val="accent2"/>
                </a:fillRef>
                <a:effectRef idx="1">
                  <a:schemeClr val="accent2"/>
                </a:effectRef>
                <a:fontRef idx="minor">
                  <a:schemeClr val="tx1"/>
                </a:fontRef>
              </p:style>
            </p:cxnSp>
            <p:cxnSp>
              <p:nvCxnSpPr>
                <p:cNvPr id="387" name="Straight Connector 386">
                  <a:extLst>
                    <a:ext uri="{FF2B5EF4-FFF2-40B4-BE49-F238E27FC236}">
                      <a16:creationId xmlns:a16="http://schemas.microsoft.com/office/drawing/2014/main" id="{D373DEC9-1D85-4982-B16F-A2D8BFB60DEB}"/>
                    </a:ext>
                  </a:extLst>
                </p:cNvPr>
                <p:cNvCxnSpPr>
                  <a:cxnSpLocks/>
                </p:cNvCxnSpPr>
                <p:nvPr/>
              </p:nvCxnSpPr>
              <p:spPr>
                <a:xfrm flipV="1">
                  <a:off x="10787772" y="1649722"/>
                  <a:ext cx="0" cy="796893"/>
                </a:xfrm>
                <a:prstGeom prst="line">
                  <a:avLst/>
                </a:prstGeom>
                <a:ln>
                  <a:solidFill>
                    <a:srgbClr val="00B050"/>
                  </a:solidFill>
                  <a:tailEnd type="oval"/>
                </a:ln>
              </p:spPr>
              <p:style>
                <a:lnRef idx="2">
                  <a:schemeClr val="accent2"/>
                </a:lnRef>
                <a:fillRef idx="0">
                  <a:schemeClr val="accent2"/>
                </a:fillRef>
                <a:effectRef idx="1">
                  <a:schemeClr val="accent2"/>
                </a:effectRef>
                <a:fontRef idx="minor">
                  <a:schemeClr val="tx1"/>
                </a:fontRef>
              </p:style>
            </p:cxnSp>
            <p:cxnSp>
              <p:nvCxnSpPr>
                <p:cNvPr id="388" name="Straight Connector 387">
                  <a:extLst>
                    <a:ext uri="{FF2B5EF4-FFF2-40B4-BE49-F238E27FC236}">
                      <a16:creationId xmlns:a16="http://schemas.microsoft.com/office/drawing/2014/main" id="{E020EB4C-C8FE-4359-86ED-2A4EFC5460A9}"/>
                    </a:ext>
                  </a:extLst>
                </p:cNvPr>
                <p:cNvCxnSpPr>
                  <a:cxnSpLocks/>
                </p:cNvCxnSpPr>
                <p:nvPr/>
              </p:nvCxnSpPr>
              <p:spPr>
                <a:xfrm flipV="1">
                  <a:off x="11088091" y="1802122"/>
                  <a:ext cx="0" cy="643410"/>
                </a:xfrm>
                <a:prstGeom prst="line">
                  <a:avLst/>
                </a:prstGeom>
                <a:ln>
                  <a:solidFill>
                    <a:srgbClr val="00B050"/>
                  </a:solidFill>
                  <a:tailEnd type="oval"/>
                </a:ln>
              </p:spPr>
              <p:style>
                <a:lnRef idx="2">
                  <a:schemeClr val="accent2"/>
                </a:lnRef>
                <a:fillRef idx="0">
                  <a:schemeClr val="accent2"/>
                </a:fillRef>
                <a:effectRef idx="1">
                  <a:schemeClr val="accent2"/>
                </a:effectRef>
                <a:fontRef idx="minor">
                  <a:schemeClr val="tx1"/>
                </a:fontRef>
              </p:style>
            </p:cxnSp>
            <p:grpSp>
              <p:nvGrpSpPr>
                <p:cNvPr id="389" name="Group 388">
                  <a:extLst>
                    <a:ext uri="{FF2B5EF4-FFF2-40B4-BE49-F238E27FC236}">
                      <a16:creationId xmlns:a16="http://schemas.microsoft.com/office/drawing/2014/main" id="{06A9A8E9-728D-45CA-B3FA-A1F8D50BCEB9}"/>
                    </a:ext>
                  </a:extLst>
                </p:cNvPr>
                <p:cNvGrpSpPr/>
                <p:nvPr/>
              </p:nvGrpSpPr>
              <p:grpSpPr>
                <a:xfrm>
                  <a:off x="10085295" y="2436673"/>
                  <a:ext cx="1087308" cy="170115"/>
                  <a:chOff x="10085295" y="2436673"/>
                  <a:chExt cx="1087308" cy="170115"/>
                </a:xfrm>
              </p:grpSpPr>
              <p:grpSp>
                <p:nvGrpSpPr>
                  <p:cNvPr id="390" name="Group 389">
                    <a:extLst>
                      <a:ext uri="{FF2B5EF4-FFF2-40B4-BE49-F238E27FC236}">
                        <a16:creationId xmlns:a16="http://schemas.microsoft.com/office/drawing/2014/main" id="{3E999EF3-734D-44F3-93B9-C514D9897568}"/>
                      </a:ext>
                    </a:extLst>
                  </p:cNvPr>
                  <p:cNvGrpSpPr/>
                  <p:nvPr/>
                </p:nvGrpSpPr>
                <p:grpSpPr>
                  <a:xfrm>
                    <a:off x="10085295" y="2436673"/>
                    <a:ext cx="170111" cy="170115"/>
                    <a:chOff x="10085295" y="2429950"/>
                    <a:chExt cx="170111" cy="170115"/>
                  </a:xfrm>
                </p:grpSpPr>
                <p:cxnSp>
                  <p:nvCxnSpPr>
                    <p:cNvPr id="403" name="Straight Connector 402">
                      <a:extLst>
                        <a:ext uri="{FF2B5EF4-FFF2-40B4-BE49-F238E27FC236}">
                          <a16:creationId xmlns:a16="http://schemas.microsoft.com/office/drawing/2014/main" id="{DB9D2493-58D3-4D62-AB88-57E9FE8E90F5}"/>
                        </a:ext>
                      </a:extLst>
                    </p:cNvPr>
                    <p:cNvCxnSpPr/>
                    <p:nvPr/>
                  </p:nvCxnSpPr>
                  <p:spPr>
                    <a:xfrm>
                      <a:off x="10085295" y="2438808"/>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404" name="Straight Connector 403">
                      <a:extLst>
                        <a:ext uri="{FF2B5EF4-FFF2-40B4-BE49-F238E27FC236}">
                          <a16:creationId xmlns:a16="http://schemas.microsoft.com/office/drawing/2014/main" id="{08DCFDCA-C3CD-4409-9C08-4B024B12DA5B}"/>
                        </a:ext>
                      </a:extLst>
                    </p:cNvPr>
                    <p:cNvCxnSpPr>
                      <a:cxnSpLocks/>
                    </p:cNvCxnSpPr>
                    <p:nvPr/>
                  </p:nvCxnSpPr>
                  <p:spPr>
                    <a:xfrm rot="16200000">
                      <a:off x="10009100" y="2515006"/>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405" name="Straight Connector 404">
                      <a:extLst>
                        <a:ext uri="{FF2B5EF4-FFF2-40B4-BE49-F238E27FC236}">
                          <a16:creationId xmlns:a16="http://schemas.microsoft.com/office/drawing/2014/main" id="{85529053-1736-4A97-8893-D5F0683F1577}"/>
                        </a:ext>
                      </a:extLst>
                    </p:cNvPr>
                    <p:cNvCxnSpPr>
                      <a:cxnSpLocks/>
                    </p:cNvCxnSpPr>
                    <p:nvPr/>
                  </p:nvCxnSpPr>
                  <p:spPr>
                    <a:xfrm rot="16200000">
                      <a:off x="10161500" y="2515010"/>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grpSp>
              <p:grpSp>
                <p:nvGrpSpPr>
                  <p:cNvPr id="391" name="Group 390">
                    <a:extLst>
                      <a:ext uri="{FF2B5EF4-FFF2-40B4-BE49-F238E27FC236}">
                        <a16:creationId xmlns:a16="http://schemas.microsoft.com/office/drawing/2014/main" id="{0AE3CD09-283B-4A36-BBD0-63C87869A9B6}"/>
                      </a:ext>
                    </a:extLst>
                  </p:cNvPr>
                  <p:cNvGrpSpPr/>
                  <p:nvPr/>
                </p:nvGrpSpPr>
                <p:grpSpPr>
                  <a:xfrm>
                    <a:off x="10391027" y="2436673"/>
                    <a:ext cx="170111" cy="170115"/>
                    <a:chOff x="10085295" y="2429950"/>
                    <a:chExt cx="170111" cy="170115"/>
                  </a:xfrm>
                </p:grpSpPr>
                <p:cxnSp>
                  <p:nvCxnSpPr>
                    <p:cNvPr id="400" name="Straight Connector 399">
                      <a:extLst>
                        <a:ext uri="{FF2B5EF4-FFF2-40B4-BE49-F238E27FC236}">
                          <a16:creationId xmlns:a16="http://schemas.microsoft.com/office/drawing/2014/main" id="{E0FBC196-26D4-40FA-B792-28322389CCD7}"/>
                        </a:ext>
                      </a:extLst>
                    </p:cNvPr>
                    <p:cNvCxnSpPr/>
                    <p:nvPr/>
                  </p:nvCxnSpPr>
                  <p:spPr>
                    <a:xfrm>
                      <a:off x="10085295" y="2438808"/>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401" name="Straight Connector 400">
                      <a:extLst>
                        <a:ext uri="{FF2B5EF4-FFF2-40B4-BE49-F238E27FC236}">
                          <a16:creationId xmlns:a16="http://schemas.microsoft.com/office/drawing/2014/main" id="{A0119D1A-FBDC-4C89-9EAC-F3C697D404AA}"/>
                        </a:ext>
                      </a:extLst>
                    </p:cNvPr>
                    <p:cNvCxnSpPr>
                      <a:cxnSpLocks/>
                    </p:cNvCxnSpPr>
                    <p:nvPr/>
                  </p:nvCxnSpPr>
                  <p:spPr>
                    <a:xfrm rot="16200000">
                      <a:off x="10009100" y="2515006"/>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402" name="Straight Connector 401">
                      <a:extLst>
                        <a:ext uri="{FF2B5EF4-FFF2-40B4-BE49-F238E27FC236}">
                          <a16:creationId xmlns:a16="http://schemas.microsoft.com/office/drawing/2014/main" id="{F940DED8-B714-41EC-B304-38608A92BCA5}"/>
                        </a:ext>
                      </a:extLst>
                    </p:cNvPr>
                    <p:cNvCxnSpPr>
                      <a:cxnSpLocks/>
                    </p:cNvCxnSpPr>
                    <p:nvPr/>
                  </p:nvCxnSpPr>
                  <p:spPr>
                    <a:xfrm rot="16200000">
                      <a:off x="10161500" y="2515010"/>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grpSp>
              <p:grpSp>
                <p:nvGrpSpPr>
                  <p:cNvPr id="392" name="Group 391">
                    <a:extLst>
                      <a:ext uri="{FF2B5EF4-FFF2-40B4-BE49-F238E27FC236}">
                        <a16:creationId xmlns:a16="http://schemas.microsoft.com/office/drawing/2014/main" id="{5EAC94DC-5475-46B3-B51D-659A76B80719}"/>
                      </a:ext>
                    </a:extLst>
                  </p:cNvPr>
                  <p:cNvGrpSpPr/>
                  <p:nvPr/>
                </p:nvGrpSpPr>
                <p:grpSpPr>
                  <a:xfrm>
                    <a:off x="10696759" y="2436673"/>
                    <a:ext cx="170111" cy="170115"/>
                    <a:chOff x="10085295" y="2429950"/>
                    <a:chExt cx="170111" cy="170115"/>
                  </a:xfrm>
                </p:grpSpPr>
                <p:cxnSp>
                  <p:nvCxnSpPr>
                    <p:cNvPr id="397" name="Straight Connector 396">
                      <a:extLst>
                        <a:ext uri="{FF2B5EF4-FFF2-40B4-BE49-F238E27FC236}">
                          <a16:creationId xmlns:a16="http://schemas.microsoft.com/office/drawing/2014/main" id="{98799F4B-D552-4636-A861-BD0FF54AAAE2}"/>
                        </a:ext>
                      </a:extLst>
                    </p:cNvPr>
                    <p:cNvCxnSpPr/>
                    <p:nvPr/>
                  </p:nvCxnSpPr>
                  <p:spPr>
                    <a:xfrm>
                      <a:off x="10085295" y="2438808"/>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398" name="Straight Connector 397">
                      <a:extLst>
                        <a:ext uri="{FF2B5EF4-FFF2-40B4-BE49-F238E27FC236}">
                          <a16:creationId xmlns:a16="http://schemas.microsoft.com/office/drawing/2014/main" id="{FC93F300-EA65-4520-B961-F92B6600A9CC}"/>
                        </a:ext>
                      </a:extLst>
                    </p:cNvPr>
                    <p:cNvCxnSpPr>
                      <a:cxnSpLocks/>
                    </p:cNvCxnSpPr>
                    <p:nvPr/>
                  </p:nvCxnSpPr>
                  <p:spPr>
                    <a:xfrm rot="16200000">
                      <a:off x="10009100" y="2515006"/>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399" name="Straight Connector 398">
                      <a:extLst>
                        <a:ext uri="{FF2B5EF4-FFF2-40B4-BE49-F238E27FC236}">
                          <a16:creationId xmlns:a16="http://schemas.microsoft.com/office/drawing/2014/main" id="{A08359C1-174A-4FF4-BABD-603363225CB5}"/>
                        </a:ext>
                      </a:extLst>
                    </p:cNvPr>
                    <p:cNvCxnSpPr>
                      <a:cxnSpLocks/>
                    </p:cNvCxnSpPr>
                    <p:nvPr/>
                  </p:nvCxnSpPr>
                  <p:spPr>
                    <a:xfrm rot="16200000">
                      <a:off x="10161500" y="2515010"/>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grpSp>
              <p:grpSp>
                <p:nvGrpSpPr>
                  <p:cNvPr id="393" name="Group 392">
                    <a:extLst>
                      <a:ext uri="{FF2B5EF4-FFF2-40B4-BE49-F238E27FC236}">
                        <a16:creationId xmlns:a16="http://schemas.microsoft.com/office/drawing/2014/main" id="{2F019E9F-7D02-4B09-B667-923031065A49}"/>
                      </a:ext>
                    </a:extLst>
                  </p:cNvPr>
                  <p:cNvGrpSpPr/>
                  <p:nvPr/>
                </p:nvGrpSpPr>
                <p:grpSpPr>
                  <a:xfrm>
                    <a:off x="11002492" y="2436673"/>
                    <a:ext cx="170111" cy="170115"/>
                    <a:chOff x="10085295" y="2429950"/>
                    <a:chExt cx="170111" cy="170115"/>
                  </a:xfrm>
                </p:grpSpPr>
                <p:cxnSp>
                  <p:nvCxnSpPr>
                    <p:cNvPr id="394" name="Straight Connector 393">
                      <a:extLst>
                        <a:ext uri="{FF2B5EF4-FFF2-40B4-BE49-F238E27FC236}">
                          <a16:creationId xmlns:a16="http://schemas.microsoft.com/office/drawing/2014/main" id="{D4329852-4D7F-4B5F-A945-0525CE63DD1A}"/>
                        </a:ext>
                      </a:extLst>
                    </p:cNvPr>
                    <p:cNvCxnSpPr/>
                    <p:nvPr/>
                  </p:nvCxnSpPr>
                  <p:spPr>
                    <a:xfrm>
                      <a:off x="10085295" y="2438808"/>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395" name="Straight Connector 394">
                      <a:extLst>
                        <a:ext uri="{FF2B5EF4-FFF2-40B4-BE49-F238E27FC236}">
                          <a16:creationId xmlns:a16="http://schemas.microsoft.com/office/drawing/2014/main" id="{12266CC2-45AF-402C-9E02-830E29442579}"/>
                        </a:ext>
                      </a:extLst>
                    </p:cNvPr>
                    <p:cNvCxnSpPr>
                      <a:cxnSpLocks/>
                    </p:cNvCxnSpPr>
                    <p:nvPr/>
                  </p:nvCxnSpPr>
                  <p:spPr>
                    <a:xfrm rot="16200000">
                      <a:off x="10009100" y="2515006"/>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396" name="Straight Connector 395">
                      <a:extLst>
                        <a:ext uri="{FF2B5EF4-FFF2-40B4-BE49-F238E27FC236}">
                          <a16:creationId xmlns:a16="http://schemas.microsoft.com/office/drawing/2014/main" id="{9F91218F-49D4-4023-8C40-F09A3AF6BA4B}"/>
                        </a:ext>
                      </a:extLst>
                    </p:cNvPr>
                    <p:cNvCxnSpPr>
                      <a:cxnSpLocks/>
                    </p:cNvCxnSpPr>
                    <p:nvPr/>
                  </p:nvCxnSpPr>
                  <p:spPr>
                    <a:xfrm rot="16200000">
                      <a:off x="10161500" y="2515010"/>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grpSp>
            </p:grpSp>
          </p:grpSp>
          <p:grpSp>
            <p:nvGrpSpPr>
              <p:cNvPr id="406" name="Group 405">
                <a:extLst>
                  <a:ext uri="{FF2B5EF4-FFF2-40B4-BE49-F238E27FC236}">
                    <a16:creationId xmlns:a16="http://schemas.microsoft.com/office/drawing/2014/main" id="{6BFD64DE-16F5-43DD-8671-FC91429DA3F0}"/>
                  </a:ext>
                </a:extLst>
              </p:cNvPr>
              <p:cNvGrpSpPr/>
              <p:nvPr/>
            </p:nvGrpSpPr>
            <p:grpSpPr>
              <a:xfrm rot="10800000">
                <a:off x="10080815" y="3467389"/>
                <a:ext cx="1087308" cy="1255068"/>
                <a:chOff x="10085295" y="1351720"/>
                <a:chExt cx="1087308" cy="1255068"/>
              </a:xfrm>
            </p:grpSpPr>
            <p:cxnSp>
              <p:nvCxnSpPr>
                <p:cNvPr id="407" name="Straight Connector 406">
                  <a:extLst>
                    <a:ext uri="{FF2B5EF4-FFF2-40B4-BE49-F238E27FC236}">
                      <a16:creationId xmlns:a16="http://schemas.microsoft.com/office/drawing/2014/main" id="{D6002DB4-AFD1-4632-BB28-FF59F87171BD}"/>
                    </a:ext>
                  </a:extLst>
                </p:cNvPr>
                <p:cNvCxnSpPr>
                  <a:cxnSpLocks/>
                </p:cNvCxnSpPr>
                <p:nvPr/>
              </p:nvCxnSpPr>
              <p:spPr>
                <a:xfrm flipV="1">
                  <a:off x="10169212" y="1351720"/>
                  <a:ext cx="0" cy="1087088"/>
                </a:xfrm>
                <a:prstGeom prst="line">
                  <a:avLst/>
                </a:prstGeom>
                <a:ln>
                  <a:solidFill>
                    <a:srgbClr val="00B050"/>
                  </a:solidFill>
                  <a:tailEnd type="oval"/>
                </a:ln>
              </p:spPr>
              <p:style>
                <a:lnRef idx="2">
                  <a:schemeClr val="accent2"/>
                </a:lnRef>
                <a:fillRef idx="0">
                  <a:schemeClr val="accent2"/>
                </a:fillRef>
                <a:effectRef idx="1">
                  <a:schemeClr val="accent2"/>
                </a:effectRef>
                <a:fontRef idx="minor">
                  <a:schemeClr val="tx1"/>
                </a:fontRef>
              </p:style>
            </p:cxnSp>
            <p:cxnSp>
              <p:nvCxnSpPr>
                <p:cNvPr id="408" name="Straight Connector 407">
                  <a:extLst>
                    <a:ext uri="{FF2B5EF4-FFF2-40B4-BE49-F238E27FC236}">
                      <a16:creationId xmlns:a16="http://schemas.microsoft.com/office/drawing/2014/main" id="{0D150FD4-8072-4588-B0E1-A83798E1A024}"/>
                    </a:ext>
                  </a:extLst>
                </p:cNvPr>
                <p:cNvCxnSpPr>
                  <a:cxnSpLocks/>
                </p:cNvCxnSpPr>
                <p:nvPr/>
              </p:nvCxnSpPr>
              <p:spPr>
                <a:xfrm flipV="1">
                  <a:off x="10478494" y="1497322"/>
                  <a:ext cx="0" cy="959415"/>
                </a:xfrm>
                <a:prstGeom prst="line">
                  <a:avLst/>
                </a:prstGeom>
                <a:ln>
                  <a:solidFill>
                    <a:srgbClr val="00B050"/>
                  </a:solidFill>
                  <a:tailEnd type="oval"/>
                </a:ln>
              </p:spPr>
              <p:style>
                <a:lnRef idx="2">
                  <a:schemeClr val="accent2"/>
                </a:lnRef>
                <a:fillRef idx="0">
                  <a:schemeClr val="accent2"/>
                </a:fillRef>
                <a:effectRef idx="1">
                  <a:schemeClr val="accent2"/>
                </a:effectRef>
                <a:fontRef idx="minor">
                  <a:schemeClr val="tx1"/>
                </a:fontRef>
              </p:style>
            </p:cxnSp>
            <p:cxnSp>
              <p:nvCxnSpPr>
                <p:cNvPr id="409" name="Straight Connector 408">
                  <a:extLst>
                    <a:ext uri="{FF2B5EF4-FFF2-40B4-BE49-F238E27FC236}">
                      <a16:creationId xmlns:a16="http://schemas.microsoft.com/office/drawing/2014/main" id="{05B2735C-0641-4A6D-847E-C7C040E177CB}"/>
                    </a:ext>
                  </a:extLst>
                </p:cNvPr>
                <p:cNvCxnSpPr>
                  <a:cxnSpLocks/>
                </p:cNvCxnSpPr>
                <p:nvPr/>
              </p:nvCxnSpPr>
              <p:spPr>
                <a:xfrm flipV="1">
                  <a:off x="10787772" y="1649722"/>
                  <a:ext cx="0" cy="796893"/>
                </a:xfrm>
                <a:prstGeom prst="line">
                  <a:avLst/>
                </a:prstGeom>
                <a:ln>
                  <a:solidFill>
                    <a:srgbClr val="00B050"/>
                  </a:solidFill>
                  <a:tailEnd type="oval"/>
                </a:ln>
              </p:spPr>
              <p:style>
                <a:lnRef idx="2">
                  <a:schemeClr val="accent2"/>
                </a:lnRef>
                <a:fillRef idx="0">
                  <a:schemeClr val="accent2"/>
                </a:fillRef>
                <a:effectRef idx="1">
                  <a:schemeClr val="accent2"/>
                </a:effectRef>
                <a:fontRef idx="minor">
                  <a:schemeClr val="tx1"/>
                </a:fontRef>
              </p:style>
            </p:cxnSp>
            <p:cxnSp>
              <p:nvCxnSpPr>
                <p:cNvPr id="410" name="Straight Connector 409">
                  <a:extLst>
                    <a:ext uri="{FF2B5EF4-FFF2-40B4-BE49-F238E27FC236}">
                      <a16:creationId xmlns:a16="http://schemas.microsoft.com/office/drawing/2014/main" id="{EB3C8D08-73B6-4DC0-A523-E6BAC53A5862}"/>
                    </a:ext>
                  </a:extLst>
                </p:cNvPr>
                <p:cNvCxnSpPr>
                  <a:cxnSpLocks/>
                </p:cNvCxnSpPr>
                <p:nvPr/>
              </p:nvCxnSpPr>
              <p:spPr>
                <a:xfrm flipV="1">
                  <a:off x="11088091" y="1802122"/>
                  <a:ext cx="0" cy="643410"/>
                </a:xfrm>
                <a:prstGeom prst="line">
                  <a:avLst/>
                </a:prstGeom>
                <a:ln>
                  <a:solidFill>
                    <a:srgbClr val="00B050"/>
                  </a:solidFill>
                  <a:tailEnd type="oval"/>
                </a:ln>
              </p:spPr>
              <p:style>
                <a:lnRef idx="2">
                  <a:schemeClr val="accent2"/>
                </a:lnRef>
                <a:fillRef idx="0">
                  <a:schemeClr val="accent2"/>
                </a:fillRef>
                <a:effectRef idx="1">
                  <a:schemeClr val="accent2"/>
                </a:effectRef>
                <a:fontRef idx="minor">
                  <a:schemeClr val="tx1"/>
                </a:fontRef>
              </p:style>
            </p:cxnSp>
            <p:grpSp>
              <p:nvGrpSpPr>
                <p:cNvPr id="411" name="Group 410">
                  <a:extLst>
                    <a:ext uri="{FF2B5EF4-FFF2-40B4-BE49-F238E27FC236}">
                      <a16:creationId xmlns:a16="http://schemas.microsoft.com/office/drawing/2014/main" id="{C7011DF3-540F-44AF-A2DA-23EB9AD6ED11}"/>
                    </a:ext>
                  </a:extLst>
                </p:cNvPr>
                <p:cNvGrpSpPr/>
                <p:nvPr/>
              </p:nvGrpSpPr>
              <p:grpSpPr>
                <a:xfrm>
                  <a:off x="10085295" y="2436673"/>
                  <a:ext cx="1087308" cy="170115"/>
                  <a:chOff x="10085295" y="2436673"/>
                  <a:chExt cx="1087308" cy="170115"/>
                </a:xfrm>
              </p:grpSpPr>
              <p:grpSp>
                <p:nvGrpSpPr>
                  <p:cNvPr id="412" name="Group 411">
                    <a:extLst>
                      <a:ext uri="{FF2B5EF4-FFF2-40B4-BE49-F238E27FC236}">
                        <a16:creationId xmlns:a16="http://schemas.microsoft.com/office/drawing/2014/main" id="{7C24512C-D354-4093-B307-604F6799D094}"/>
                      </a:ext>
                    </a:extLst>
                  </p:cNvPr>
                  <p:cNvGrpSpPr/>
                  <p:nvPr/>
                </p:nvGrpSpPr>
                <p:grpSpPr>
                  <a:xfrm>
                    <a:off x="10085295" y="2436673"/>
                    <a:ext cx="170111" cy="170115"/>
                    <a:chOff x="10085295" y="2429950"/>
                    <a:chExt cx="170111" cy="170115"/>
                  </a:xfrm>
                </p:grpSpPr>
                <p:cxnSp>
                  <p:nvCxnSpPr>
                    <p:cNvPr id="425" name="Straight Connector 424">
                      <a:extLst>
                        <a:ext uri="{FF2B5EF4-FFF2-40B4-BE49-F238E27FC236}">
                          <a16:creationId xmlns:a16="http://schemas.microsoft.com/office/drawing/2014/main" id="{9AA8A265-B66B-4F29-9B62-AF826B2B8BE0}"/>
                        </a:ext>
                      </a:extLst>
                    </p:cNvPr>
                    <p:cNvCxnSpPr/>
                    <p:nvPr/>
                  </p:nvCxnSpPr>
                  <p:spPr>
                    <a:xfrm>
                      <a:off x="10085295" y="2438808"/>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426" name="Straight Connector 425">
                      <a:extLst>
                        <a:ext uri="{FF2B5EF4-FFF2-40B4-BE49-F238E27FC236}">
                          <a16:creationId xmlns:a16="http://schemas.microsoft.com/office/drawing/2014/main" id="{2FF77C94-1791-4089-9B85-1592DB376116}"/>
                        </a:ext>
                      </a:extLst>
                    </p:cNvPr>
                    <p:cNvCxnSpPr>
                      <a:cxnSpLocks/>
                    </p:cNvCxnSpPr>
                    <p:nvPr/>
                  </p:nvCxnSpPr>
                  <p:spPr>
                    <a:xfrm rot="16200000">
                      <a:off x="10009100" y="2515006"/>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427" name="Straight Connector 426">
                      <a:extLst>
                        <a:ext uri="{FF2B5EF4-FFF2-40B4-BE49-F238E27FC236}">
                          <a16:creationId xmlns:a16="http://schemas.microsoft.com/office/drawing/2014/main" id="{6D3DF9D5-2D67-4544-8321-BF6E626D2E48}"/>
                        </a:ext>
                      </a:extLst>
                    </p:cNvPr>
                    <p:cNvCxnSpPr>
                      <a:cxnSpLocks/>
                    </p:cNvCxnSpPr>
                    <p:nvPr/>
                  </p:nvCxnSpPr>
                  <p:spPr>
                    <a:xfrm rot="16200000">
                      <a:off x="10161500" y="2515010"/>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grpSp>
              <p:grpSp>
                <p:nvGrpSpPr>
                  <p:cNvPr id="413" name="Group 412">
                    <a:extLst>
                      <a:ext uri="{FF2B5EF4-FFF2-40B4-BE49-F238E27FC236}">
                        <a16:creationId xmlns:a16="http://schemas.microsoft.com/office/drawing/2014/main" id="{F4416AA3-DC79-418B-A3FD-5D17BB0CC220}"/>
                      </a:ext>
                    </a:extLst>
                  </p:cNvPr>
                  <p:cNvGrpSpPr/>
                  <p:nvPr/>
                </p:nvGrpSpPr>
                <p:grpSpPr>
                  <a:xfrm>
                    <a:off x="10391027" y="2436673"/>
                    <a:ext cx="170111" cy="170115"/>
                    <a:chOff x="10085295" y="2429950"/>
                    <a:chExt cx="170111" cy="170115"/>
                  </a:xfrm>
                </p:grpSpPr>
                <p:cxnSp>
                  <p:nvCxnSpPr>
                    <p:cNvPr id="422" name="Straight Connector 421">
                      <a:extLst>
                        <a:ext uri="{FF2B5EF4-FFF2-40B4-BE49-F238E27FC236}">
                          <a16:creationId xmlns:a16="http://schemas.microsoft.com/office/drawing/2014/main" id="{22483F36-C3CE-4DBB-9535-F4DE894E3CF0}"/>
                        </a:ext>
                      </a:extLst>
                    </p:cNvPr>
                    <p:cNvCxnSpPr/>
                    <p:nvPr/>
                  </p:nvCxnSpPr>
                  <p:spPr>
                    <a:xfrm>
                      <a:off x="10085295" y="2438808"/>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423" name="Straight Connector 422">
                      <a:extLst>
                        <a:ext uri="{FF2B5EF4-FFF2-40B4-BE49-F238E27FC236}">
                          <a16:creationId xmlns:a16="http://schemas.microsoft.com/office/drawing/2014/main" id="{7E047ECA-26E1-4E93-8E3D-5ED83AAD920E}"/>
                        </a:ext>
                      </a:extLst>
                    </p:cNvPr>
                    <p:cNvCxnSpPr>
                      <a:cxnSpLocks/>
                    </p:cNvCxnSpPr>
                    <p:nvPr/>
                  </p:nvCxnSpPr>
                  <p:spPr>
                    <a:xfrm rot="16200000">
                      <a:off x="10009100" y="2515006"/>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424" name="Straight Connector 423">
                      <a:extLst>
                        <a:ext uri="{FF2B5EF4-FFF2-40B4-BE49-F238E27FC236}">
                          <a16:creationId xmlns:a16="http://schemas.microsoft.com/office/drawing/2014/main" id="{7181D37C-9B27-4D4F-851B-CB7FDD26B932}"/>
                        </a:ext>
                      </a:extLst>
                    </p:cNvPr>
                    <p:cNvCxnSpPr>
                      <a:cxnSpLocks/>
                    </p:cNvCxnSpPr>
                    <p:nvPr/>
                  </p:nvCxnSpPr>
                  <p:spPr>
                    <a:xfrm rot="16200000">
                      <a:off x="10161500" y="2515010"/>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grpSp>
              <p:grpSp>
                <p:nvGrpSpPr>
                  <p:cNvPr id="414" name="Group 413">
                    <a:extLst>
                      <a:ext uri="{FF2B5EF4-FFF2-40B4-BE49-F238E27FC236}">
                        <a16:creationId xmlns:a16="http://schemas.microsoft.com/office/drawing/2014/main" id="{0C2A5CBD-7C48-48A1-A555-4D3FB6F43516}"/>
                      </a:ext>
                    </a:extLst>
                  </p:cNvPr>
                  <p:cNvGrpSpPr/>
                  <p:nvPr/>
                </p:nvGrpSpPr>
                <p:grpSpPr>
                  <a:xfrm>
                    <a:off x="10696759" y="2436673"/>
                    <a:ext cx="170111" cy="170115"/>
                    <a:chOff x="10085295" y="2429950"/>
                    <a:chExt cx="170111" cy="170115"/>
                  </a:xfrm>
                </p:grpSpPr>
                <p:cxnSp>
                  <p:nvCxnSpPr>
                    <p:cNvPr id="419" name="Straight Connector 418">
                      <a:extLst>
                        <a:ext uri="{FF2B5EF4-FFF2-40B4-BE49-F238E27FC236}">
                          <a16:creationId xmlns:a16="http://schemas.microsoft.com/office/drawing/2014/main" id="{42E45DEF-EEDF-4ADC-B6A6-FF38D0909F2F}"/>
                        </a:ext>
                      </a:extLst>
                    </p:cNvPr>
                    <p:cNvCxnSpPr/>
                    <p:nvPr/>
                  </p:nvCxnSpPr>
                  <p:spPr>
                    <a:xfrm>
                      <a:off x="10085295" y="2438808"/>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420" name="Straight Connector 419">
                      <a:extLst>
                        <a:ext uri="{FF2B5EF4-FFF2-40B4-BE49-F238E27FC236}">
                          <a16:creationId xmlns:a16="http://schemas.microsoft.com/office/drawing/2014/main" id="{B7AE2449-C9E7-41F6-AF0D-9D84862B683D}"/>
                        </a:ext>
                      </a:extLst>
                    </p:cNvPr>
                    <p:cNvCxnSpPr>
                      <a:cxnSpLocks/>
                    </p:cNvCxnSpPr>
                    <p:nvPr/>
                  </p:nvCxnSpPr>
                  <p:spPr>
                    <a:xfrm rot="16200000">
                      <a:off x="10009100" y="2515006"/>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421" name="Straight Connector 420">
                      <a:extLst>
                        <a:ext uri="{FF2B5EF4-FFF2-40B4-BE49-F238E27FC236}">
                          <a16:creationId xmlns:a16="http://schemas.microsoft.com/office/drawing/2014/main" id="{F89CE1DE-2E52-4ED3-A397-ECB336A42435}"/>
                        </a:ext>
                      </a:extLst>
                    </p:cNvPr>
                    <p:cNvCxnSpPr>
                      <a:cxnSpLocks/>
                    </p:cNvCxnSpPr>
                    <p:nvPr/>
                  </p:nvCxnSpPr>
                  <p:spPr>
                    <a:xfrm rot="16200000">
                      <a:off x="10161500" y="2515010"/>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grpSp>
              <p:grpSp>
                <p:nvGrpSpPr>
                  <p:cNvPr id="415" name="Group 414">
                    <a:extLst>
                      <a:ext uri="{FF2B5EF4-FFF2-40B4-BE49-F238E27FC236}">
                        <a16:creationId xmlns:a16="http://schemas.microsoft.com/office/drawing/2014/main" id="{0BC42844-1F43-444B-B98B-89723D78289D}"/>
                      </a:ext>
                    </a:extLst>
                  </p:cNvPr>
                  <p:cNvGrpSpPr/>
                  <p:nvPr/>
                </p:nvGrpSpPr>
                <p:grpSpPr>
                  <a:xfrm>
                    <a:off x="11002492" y="2436673"/>
                    <a:ext cx="170111" cy="170115"/>
                    <a:chOff x="10085295" y="2429950"/>
                    <a:chExt cx="170111" cy="170115"/>
                  </a:xfrm>
                </p:grpSpPr>
                <p:cxnSp>
                  <p:nvCxnSpPr>
                    <p:cNvPr id="416" name="Straight Connector 415">
                      <a:extLst>
                        <a:ext uri="{FF2B5EF4-FFF2-40B4-BE49-F238E27FC236}">
                          <a16:creationId xmlns:a16="http://schemas.microsoft.com/office/drawing/2014/main" id="{3BDD1912-D513-4DE5-BA98-A8F06C286C4E}"/>
                        </a:ext>
                      </a:extLst>
                    </p:cNvPr>
                    <p:cNvCxnSpPr/>
                    <p:nvPr/>
                  </p:nvCxnSpPr>
                  <p:spPr>
                    <a:xfrm>
                      <a:off x="10085295" y="2438808"/>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417" name="Straight Connector 416">
                      <a:extLst>
                        <a:ext uri="{FF2B5EF4-FFF2-40B4-BE49-F238E27FC236}">
                          <a16:creationId xmlns:a16="http://schemas.microsoft.com/office/drawing/2014/main" id="{916987F6-5018-49D1-8F88-300627B3C33E}"/>
                        </a:ext>
                      </a:extLst>
                    </p:cNvPr>
                    <p:cNvCxnSpPr>
                      <a:cxnSpLocks/>
                    </p:cNvCxnSpPr>
                    <p:nvPr/>
                  </p:nvCxnSpPr>
                  <p:spPr>
                    <a:xfrm rot="16200000">
                      <a:off x="10009100" y="2515006"/>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418" name="Straight Connector 417">
                      <a:extLst>
                        <a:ext uri="{FF2B5EF4-FFF2-40B4-BE49-F238E27FC236}">
                          <a16:creationId xmlns:a16="http://schemas.microsoft.com/office/drawing/2014/main" id="{3926C683-E161-4AE1-A4F6-A98EB0654945}"/>
                        </a:ext>
                      </a:extLst>
                    </p:cNvPr>
                    <p:cNvCxnSpPr>
                      <a:cxnSpLocks/>
                    </p:cNvCxnSpPr>
                    <p:nvPr/>
                  </p:nvCxnSpPr>
                  <p:spPr>
                    <a:xfrm rot="16200000">
                      <a:off x="10161500" y="2515010"/>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grpSp>
            </p:grpSp>
          </p:grpSp>
          <p:grpSp>
            <p:nvGrpSpPr>
              <p:cNvPr id="428" name="Group 427">
                <a:extLst>
                  <a:ext uri="{FF2B5EF4-FFF2-40B4-BE49-F238E27FC236}">
                    <a16:creationId xmlns:a16="http://schemas.microsoft.com/office/drawing/2014/main" id="{8BD8FB43-E142-4BC3-8381-37E200306883}"/>
                  </a:ext>
                </a:extLst>
              </p:cNvPr>
              <p:cNvGrpSpPr/>
              <p:nvPr/>
            </p:nvGrpSpPr>
            <p:grpSpPr>
              <a:xfrm rot="10800000">
                <a:off x="6163236" y="3467388"/>
                <a:ext cx="1087308" cy="1255068"/>
                <a:chOff x="10085295" y="1351720"/>
                <a:chExt cx="1087308" cy="1255068"/>
              </a:xfrm>
            </p:grpSpPr>
            <p:cxnSp>
              <p:nvCxnSpPr>
                <p:cNvPr id="429" name="Straight Connector 428">
                  <a:extLst>
                    <a:ext uri="{FF2B5EF4-FFF2-40B4-BE49-F238E27FC236}">
                      <a16:creationId xmlns:a16="http://schemas.microsoft.com/office/drawing/2014/main" id="{A30D0263-CC65-4BA0-BA22-072D07A6A660}"/>
                    </a:ext>
                  </a:extLst>
                </p:cNvPr>
                <p:cNvCxnSpPr>
                  <a:cxnSpLocks/>
                </p:cNvCxnSpPr>
                <p:nvPr/>
              </p:nvCxnSpPr>
              <p:spPr>
                <a:xfrm flipV="1">
                  <a:off x="10169212" y="1351720"/>
                  <a:ext cx="0" cy="1087088"/>
                </a:xfrm>
                <a:prstGeom prst="line">
                  <a:avLst/>
                </a:prstGeom>
                <a:ln>
                  <a:solidFill>
                    <a:srgbClr val="00B050"/>
                  </a:solidFill>
                  <a:tailEnd type="oval"/>
                </a:ln>
              </p:spPr>
              <p:style>
                <a:lnRef idx="2">
                  <a:schemeClr val="accent2"/>
                </a:lnRef>
                <a:fillRef idx="0">
                  <a:schemeClr val="accent2"/>
                </a:fillRef>
                <a:effectRef idx="1">
                  <a:schemeClr val="accent2"/>
                </a:effectRef>
                <a:fontRef idx="minor">
                  <a:schemeClr val="tx1"/>
                </a:fontRef>
              </p:style>
            </p:cxnSp>
            <p:cxnSp>
              <p:nvCxnSpPr>
                <p:cNvPr id="430" name="Straight Connector 429">
                  <a:extLst>
                    <a:ext uri="{FF2B5EF4-FFF2-40B4-BE49-F238E27FC236}">
                      <a16:creationId xmlns:a16="http://schemas.microsoft.com/office/drawing/2014/main" id="{FC7243A1-746D-4084-A136-8AED44835789}"/>
                    </a:ext>
                  </a:extLst>
                </p:cNvPr>
                <p:cNvCxnSpPr>
                  <a:cxnSpLocks/>
                </p:cNvCxnSpPr>
                <p:nvPr/>
              </p:nvCxnSpPr>
              <p:spPr>
                <a:xfrm flipV="1">
                  <a:off x="10478494" y="1497322"/>
                  <a:ext cx="0" cy="959415"/>
                </a:xfrm>
                <a:prstGeom prst="line">
                  <a:avLst/>
                </a:prstGeom>
                <a:ln>
                  <a:solidFill>
                    <a:srgbClr val="00B050"/>
                  </a:solidFill>
                  <a:tailEnd type="oval"/>
                </a:ln>
              </p:spPr>
              <p:style>
                <a:lnRef idx="2">
                  <a:schemeClr val="accent2"/>
                </a:lnRef>
                <a:fillRef idx="0">
                  <a:schemeClr val="accent2"/>
                </a:fillRef>
                <a:effectRef idx="1">
                  <a:schemeClr val="accent2"/>
                </a:effectRef>
                <a:fontRef idx="minor">
                  <a:schemeClr val="tx1"/>
                </a:fontRef>
              </p:style>
            </p:cxnSp>
            <p:cxnSp>
              <p:nvCxnSpPr>
                <p:cNvPr id="431" name="Straight Connector 430">
                  <a:extLst>
                    <a:ext uri="{FF2B5EF4-FFF2-40B4-BE49-F238E27FC236}">
                      <a16:creationId xmlns:a16="http://schemas.microsoft.com/office/drawing/2014/main" id="{84E7CCC2-1A64-4A9E-8211-FB3C32F3F48B}"/>
                    </a:ext>
                  </a:extLst>
                </p:cNvPr>
                <p:cNvCxnSpPr>
                  <a:cxnSpLocks/>
                </p:cNvCxnSpPr>
                <p:nvPr/>
              </p:nvCxnSpPr>
              <p:spPr>
                <a:xfrm flipV="1">
                  <a:off x="10787772" y="1649722"/>
                  <a:ext cx="0" cy="796893"/>
                </a:xfrm>
                <a:prstGeom prst="line">
                  <a:avLst/>
                </a:prstGeom>
                <a:ln>
                  <a:solidFill>
                    <a:srgbClr val="00B050"/>
                  </a:solidFill>
                  <a:tailEnd type="oval"/>
                </a:ln>
              </p:spPr>
              <p:style>
                <a:lnRef idx="2">
                  <a:schemeClr val="accent2"/>
                </a:lnRef>
                <a:fillRef idx="0">
                  <a:schemeClr val="accent2"/>
                </a:fillRef>
                <a:effectRef idx="1">
                  <a:schemeClr val="accent2"/>
                </a:effectRef>
                <a:fontRef idx="minor">
                  <a:schemeClr val="tx1"/>
                </a:fontRef>
              </p:style>
            </p:cxnSp>
            <p:cxnSp>
              <p:nvCxnSpPr>
                <p:cNvPr id="432" name="Straight Connector 431">
                  <a:extLst>
                    <a:ext uri="{FF2B5EF4-FFF2-40B4-BE49-F238E27FC236}">
                      <a16:creationId xmlns:a16="http://schemas.microsoft.com/office/drawing/2014/main" id="{57653701-3050-48FF-942C-938E183DC757}"/>
                    </a:ext>
                  </a:extLst>
                </p:cNvPr>
                <p:cNvCxnSpPr>
                  <a:cxnSpLocks/>
                </p:cNvCxnSpPr>
                <p:nvPr/>
              </p:nvCxnSpPr>
              <p:spPr>
                <a:xfrm flipV="1">
                  <a:off x="11088091" y="1802122"/>
                  <a:ext cx="0" cy="643410"/>
                </a:xfrm>
                <a:prstGeom prst="line">
                  <a:avLst/>
                </a:prstGeom>
                <a:ln>
                  <a:solidFill>
                    <a:srgbClr val="00B050"/>
                  </a:solidFill>
                  <a:tailEnd type="oval"/>
                </a:ln>
              </p:spPr>
              <p:style>
                <a:lnRef idx="2">
                  <a:schemeClr val="accent2"/>
                </a:lnRef>
                <a:fillRef idx="0">
                  <a:schemeClr val="accent2"/>
                </a:fillRef>
                <a:effectRef idx="1">
                  <a:schemeClr val="accent2"/>
                </a:effectRef>
                <a:fontRef idx="minor">
                  <a:schemeClr val="tx1"/>
                </a:fontRef>
              </p:style>
            </p:cxnSp>
            <p:grpSp>
              <p:nvGrpSpPr>
                <p:cNvPr id="433" name="Group 432">
                  <a:extLst>
                    <a:ext uri="{FF2B5EF4-FFF2-40B4-BE49-F238E27FC236}">
                      <a16:creationId xmlns:a16="http://schemas.microsoft.com/office/drawing/2014/main" id="{1676466A-A3A9-430A-A07B-FBB31CB86906}"/>
                    </a:ext>
                  </a:extLst>
                </p:cNvPr>
                <p:cNvGrpSpPr/>
                <p:nvPr/>
              </p:nvGrpSpPr>
              <p:grpSpPr>
                <a:xfrm>
                  <a:off x="10085295" y="2436673"/>
                  <a:ext cx="1087308" cy="170115"/>
                  <a:chOff x="10085295" y="2436673"/>
                  <a:chExt cx="1087308" cy="170115"/>
                </a:xfrm>
              </p:grpSpPr>
              <p:grpSp>
                <p:nvGrpSpPr>
                  <p:cNvPr id="434" name="Group 433">
                    <a:extLst>
                      <a:ext uri="{FF2B5EF4-FFF2-40B4-BE49-F238E27FC236}">
                        <a16:creationId xmlns:a16="http://schemas.microsoft.com/office/drawing/2014/main" id="{4C7AF9E9-BDCE-4218-B4E8-87B8865F001D}"/>
                      </a:ext>
                    </a:extLst>
                  </p:cNvPr>
                  <p:cNvGrpSpPr/>
                  <p:nvPr/>
                </p:nvGrpSpPr>
                <p:grpSpPr>
                  <a:xfrm>
                    <a:off x="10085295" y="2436673"/>
                    <a:ext cx="170111" cy="170115"/>
                    <a:chOff x="10085295" y="2429950"/>
                    <a:chExt cx="170111" cy="170115"/>
                  </a:xfrm>
                </p:grpSpPr>
                <p:cxnSp>
                  <p:nvCxnSpPr>
                    <p:cNvPr id="447" name="Straight Connector 446">
                      <a:extLst>
                        <a:ext uri="{FF2B5EF4-FFF2-40B4-BE49-F238E27FC236}">
                          <a16:creationId xmlns:a16="http://schemas.microsoft.com/office/drawing/2014/main" id="{614EC905-5638-4682-B314-B413DD4D87C4}"/>
                        </a:ext>
                      </a:extLst>
                    </p:cNvPr>
                    <p:cNvCxnSpPr/>
                    <p:nvPr/>
                  </p:nvCxnSpPr>
                  <p:spPr>
                    <a:xfrm>
                      <a:off x="10085295" y="2438808"/>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448" name="Straight Connector 447">
                      <a:extLst>
                        <a:ext uri="{FF2B5EF4-FFF2-40B4-BE49-F238E27FC236}">
                          <a16:creationId xmlns:a16="http://schemas.microsoft.com/office/drawing/2014/main" id="{931383E6-30CD-4694-B011-0AEC46E12065}"/>
                        </a:ext>
                      </a:extLst>
                    </p:cNvPr>
                    <p:cNvCxnSpPr>
                      <a:cxnSpLocks/>
                    </p:cNvCxnSpPr>
                    <p:nvPr/>
                  </p:nvCxnSpPr>
                  <p:spPr>
                    <a:xfrm rot="16200000">
                      <a:off x="10009100" y="2515006"/>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449" name="Straight Connector 448">
                      <a:extLst>
                        <a:ext uri="{FF2B5EF4-FFF2-40B4-BE49-F238E27FC236}">
                          <a16:creationId xmlns:a16="http://schemas.microsoft.com/office/drawing/2014/main" id="{A5706381-0EE1-4C28-A246-7E93EEDED018}"/>
                        </a:ext>
                      </a:extLst>
                    </p:cNvPr>
                    <p:cNvCxnSpPr>
                      <a:cxnSpLocks/>
                    </p:cNvCxnSpPr>
                    <p:nvPr/>
                  </p:nvCxnSpPr>
                  <p:spPr>
                    <a:xfrm rot="16200000">
                      <a:off x="10161500" y="2515010"/>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grpSp>
              <p:grpSp>
                <p:nvGrpSpPr>
                  <p:cNvPr id="435" name="Group 434">
                    <a:extLst>
                      <a:ext uri="{FF2B5EF4-FFF2-40B4-BE49-F238E27FC236}">
                        <a16:creationId xmlns:a16="http://schemas.microsoft.com/office/drawing/2014/main" id="{B8FF444E-16AC-4791-B2DC-4B2F0D3B994D}"/>
                      </a:ext>
                    </a:extLst>
                  </p:cNvPr>
                  <p:cNvGrpSpPr/>
                  <p:nvPr/>
                </p:nvGrpSpPr>
                <p:grpSpPr>
                  <a:xfrm>
                    <a:off x="10391027" y="2436673"/>
                    <a:ext cx="170111" cy="170115"/>
                    <a:chOff x="10085295" y="2429950"/>
                    <a:chExt cx="170111" cy="170115"/>
                  </a:xfrm>
                </p:grpSpPr>
                <p:cxnSp>
                  <p:nvCxnSpPr>
                    <p:cNvPr id="444" name="Straight Connector 443">
                      <a:extLst>
                        <a:ext uri="{FF2B5EF4-FFF2-40B4-BE49-F238E27FC236}">
                          <a16:creationId xmlns:a16="http://schemas.microsoft.com/office/drawing/2014/main" id="{2A40BA23-6E5A-4F3C-98DD-2D159AB6FEE8}"/>
                        </a:ext>
                      </a:extLst>
                    </p:cNvPr>
                    <p:cNvCxnSpPr/>
                    <p:nvPr/>
                  </p:nvCxnSpPr>
                  <p:spPr>
                    <a:xfrm>
                      <a:off x="10085295" y="2438808"/>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445" name="Straight Connector 444">
                      <a:extLst>
                        <a:ext uri="{FF2B5EF4-FFF2-40B4-BE49-F238E27FC236}">
                          <a16:creationId xmlns:a16="http://schemas.microsoft.com/office/drawing/2014/main" id="{67C7C226-4367-4E81-A2D9-6B4A83F4548B}"/>
                        </a:ext>
                      </a:extLst>
                    </p:cNvPr>
                    <p:cNvCxnSpPr>
                      <a:cxnSpLocks/>
                    </p:cNvCxnSpPr>
                    <p:nvPr/>
                  </p:nvCxnSpPr>
                  <p:spPr>
                    <a:xfrm rot="16200000">
                      <a:off x="10009100" y="2515006"/>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446" name="Straight Connector 445">
                      <a:extLst>
                        <a:ext uri="{FF2B5EF4-FFF2-40B4-BE49-F238E27FC236}">
                          <a16:creationId xmlns:a16="http://schemas.microsoft.com/office/drawing/2014/main" id="{809F0938-BD31-493F-94A8-BA0FB532B84E}"/>
                        </a:ext>
                      </a:extLst>
                    </p:cNvPr>
                    <p:cNvCxnSpPr>
                      <a:cxnSpLocks/>
                    </p:cNvCxnSpPr>
                    <p:nvPr/>
                  </p:nvCxnSpPr>
                  <p:spPr>
                    <a:xfrm rot="16200000">
                      <a:off x="10161500" y="2515010"/>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grpSp>
              <p:grpSp>
                <p:nvGrpSpPr>
                  <p:cNvPr id="436" name="Group 435">
                    <a:extLst>
                      <a:ext uri="{FF2B5EF4-FFF2-40B4-BE49-F238E27FC236}">
                        <a16:creationId xmlns:a16="http://schemas.microsoft.com/office/drawing/2014/main" id="{08B0CD87-46DC-4BC6-B7B1-083EC4249962}"/>
                      </a:ext>
                    </a:extLst>
                  </p:cNvPr>
                  <p:cNvGrpSpPr/>
                  <p:nvPr/>
                </p:nvGrpSpPr>
                <p:grpSpPr>
                  <a:xfrm>
                    <a:off x="10696759" y="2436673"/>
                    <a:ext cx="170111" cy="170115"/>
                    <a:chOff x="10085295" y="2429950"/>
                    <a:chExt cx="170111" cy="170115"/>
                  </a:xfrm>
                </p:grpSpPr>
                <p:cxnSp>
                  <p:nvCxnSpPr>
                    <p:cNvPr id="441" name="Straight Connector 440">
                      <a:extLst>
                        <a:ext uri="{FF2B5EF4-FFF2-40B4-BE49-F238E27FC236}">
                          <a16:creationId xmlns:a16="http://schemas.microsoft.com/office/drawing/2014/main" id="{0CD23BBA-CEB6-4AB7-A1B9-910B852A0826}"/>
                        </a:ext>
                      </a:extLst>
                    </p:cNvPr>
                    <p:cNvCxnSpPr/>
                    <p:nvPr/>
                  </p:nvCxnSpPr>
                  <p:spPr>
                    <a:xfrm>
                      <a:off x="10085295" y="2438808"/>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442" name="Straight Connector 441">
                      <a:extLst>
                        <a:ext uri="{FF2B5EF4-FFF2-40B4-BE49-F238E27FC236}">
                          <a16:creationId xmlns:a16="http://schemas.microsoft.com/office/drawing/2014/main" id="{2D284E99-3DD4-42E3-8549-C28266D07AF9}"/>
                        </a:ext>
                      </a:extLst>
                    </p:cNvPr>
                    <p:cNvCxnSpPr>
                      <a:cxnSpLocks/>
                    </p:cNvCxnSpPr>
                    <p:nvPr/>
                  </p:nvCxnSpPr>
                  <p:spPr>
                    <a:xfrm rot="16200000">
                      <a:off x="10009100" y="2515006"/>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443" name="Straight Connector 442">
                      <a:extLst>
                        <a:ext uri="{FF2B5EF4-FFF2-40B4-BE49-F238E27FC236}">
                          <a16:creationId xmlns:a16="http://schemas.microsoft.com/office/drawing/2014/main" id="{2C11814A-48E0-48C8-9B1B-E43E8259AA14}"/>
                        </a:ext>
                      </a:extLst>
                    </p:cNvPr>
                    <p:cNvCxnSpPr>
                      <a:cxnSpLocks/>
                    </p:cNvCxnSpPr>
                    <p:nvPr/>
                  </p:nvCxnSpPr>
                  <p:spPr>
                    <a:xfrm rot="16200000">
                      <a:off x="10161500" y="2515010"/>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grpSp>
              <p:grpSp>
                <p:nvGrpSpPr>
                  <p:cNvPr id="437" name="Group 436">
                    <a:extLst>
                      <a:ext uri="{FF2B5EF4-FFF2-40B4-BE49-F238E27FC236}">
                        <a16:creationId xmlns:a16="http://schemas.microsoft.com/office/drawing/2014/main" id="{A7944B2D-E605-44C5-94DE-594C9EDE9727}"/>
                      </a:ext>
                    </a:extLst>
                  </p:cNvPr>
                  <p:cNvGrpSpPr/>
                  <p:nvPr/>
                </p:nvGrpSpPr>
                <p:grpSpPr>
                  <a:xfrm>
                    <a:off x="11002492" y="2436673"/>
                    <a:ext cx="170111" cy="170115"/>
                    <a:chOff x="10085295" y="2429950"/>
                    <a:chExt cx="170111" cy="170115"/>
                  </a:xfrm>
                </p:grpSpPr>
                <p:cxnSp>
                  <p:nvCxnSpPr>
                    <p:cNvPr id="438" name="Straight Connector 437">
                      <a:extLst>
                        <a:ext uri="{FF2B5EF4-FFF2-40B4-BE49-F238E27FC236}">
                          <a16:creationId xmlns:a16="http://schemas.microsoft.com/office/drawing/2014/main" id="{F7CA3F78-566D-4280-998F-25A86BCB06D2}"/>
                        </a:ext>
                      </a:extLst>
                    </p:cNvPr>
                    <p:cNvCxnSpPr/>
                    <p:nvPr/>
                  </p:nvCxnSpPr>
                  <p:spPr>
                    <a:xfrm>
                      <a:off x="10085295" y="2438808"/>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439" name="Straight Connector 438">
                      <a:extLst>
                        <a:ext uri="{FF2B5EF4-FFF2-40B4-BE49-F238E27FC236}">
                          <a16:creationId xmlns:a16="http://schemas.microsoft.com/office/drawing/2014/main" id="{31260B39-1618-4AAF-ACC1-6B3A6DBC906D}"/>
                        </a:ext>
                      </a:extLst>
                    </p:cNvPr>
                    <p:cNvCxnSpPr>
                      <a:cxnSpLocks/>
                    </p:cNvCxnSpPr>
                    <p:nvPr/>
                  </p:nvCxnSpPr>
                  <p:spPr>
                    <a:xfrm rot="16200000">
                      <a:off x="10009100" y="2515006"/>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440" name="Straight Connector 439">
                      <a:extLst>
                        <a:ext uri="{FF2B5EF4-FFF2-40B4-BE49-F238E27FC236}">
                          <a16:creationId xmlns:a16="http://schemas.microsoft.com/office/drawing/2014/main" id="{BED4D769-B016-4061-8969-4C2F0F1ED5A0}"/>
                        </a:ext>
                      </a:extLst>
                    </p:cNvPr>
                    <p:cNvCxnSpPr>
                      <a:cxnSpLocks/>
                    </p:cNvCxnSpPr>
                    <p:nvPr/>
                  </p:nvCxnSpPr>
                  <p:spPr>
                    <a:xfrm rot="16200000">
                      <a:off x="10161500" y="2515010"/>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grpSp>
            </p:grpSp>
          </p:grpSp>
          <p:grpSp>
            <p:nvGrpSpPr>
              <p:cNvPr id="450" name="Group 449">
                <a:extLst>
                  <a:ext uri="{FF2B5EF4-FFF2-40B4-BE49-F238E27FC236}">
                    <a16:creationId xmlns:a16="http://schemas.microsoft.com/office/drawing/2014/main" id="{3B44286D-9024-4781-B4E0-5602882DD6EA}"/>
                  </a:ext>
                </a:extLst>
              </p:cNvPr>
              <p:cNvGrpSpPr/>
              <p:nvPr/>
            </p:nvGrpSpPr>
            <p:grpSpPr>
              <a:xfrm rot="10800000">
                <a:off x="4204446" y="3467388"/>
                <a:ext cx="1087308" cy="1255068"/>
                <a:chOff x="10085295" y="1351720"/>
                <a:chExt cx="1087308" cy="1255068"/>
              </a:xfrm>
            </p:grpSpPr>
            <p:cxnSp>
              <p:nvCxnSpPr>
                <p:cNvPr id="451" name="Straight Connector 450">
                  <a:extLst>
                    <a:ext uri="{FF2B5EF4-FFF2-40B4-BE49-F238E27FC236}">
                      <a16:creationId xmlns:a16="http://schemas.microsoft.com/office/drawing/2014/main" id="{18F98956-7550-441B-8C9F-EB72C6881E4C}"/>
                    </a:ext>
                  </a:extLst>
                </p:cNvPr>
                <p:cNvCxnSpPr>
                  <a:cxnSpLocks/>
                </p:cNvCxnSpPr>
                <p:nvPr/>
              </p:nvCxnSpPr>
              <p:spPr>
                <a:xfrm flipV="1">
                  <a:off x="10169212" y="1351720"/>
                  <a:ext cx="0" cy="1087088"/>
                </a:xfrm>
                <a:prstGeom prst="line">
                  <a:avLst/>
                </a:prstGeom>
                <a:ln>
                  <a:solidFill>
                    <a:srgbClr val="00B050"/>
                  </a:solidFill>
                  <a:tailEnd type="oval"/>
                </a:ln>
              </p:spPr>
              <p:style>
                <a:lnRef idx="2">
                  <a:schemeClr val="accent2"/>
                </a:lnRef>
                <a:fillRef idx="0">
                  <a:schemeClr val="accent2"/>
                </a:fillRef>
                <a:effectRef idx="1">
                  <a:schemeClr val="accent2"/>
                </a:effectRef>
                <a:fontRef idx="minor">
                  <a:schemeClr val="tx1"/>
                </a:fontRef>
              </p:style>
            </p:cxnSp>
            <p:cxnSp>
              <p:nvCxnSpPr>
                <p:cNvPr id="452" name="Straight Connector 451">
                  <a:extLst>
                    <a:ext uri="{FF2B5EF4-FFF2-40B4-BE49-F238E27FC236}">
                      <a16:creationId xmlns:a16="http://schemas.microsoft.com/office/drawing/2014/main" id="{A5638657-F78E-4F13-B78B-F87CB52C421E}"/>
                    </a:ext>
                  </a:extLst>
                </p:cNvPr>
                <p:cNvCxnSpPr>
                  <a:cxnSpLocks/>
                </p:cNvCxnSpPr>
                <p:nvPr/>
              </p:nvCxnSpPr>
              <p:spPr>
                <a:xfrm flipV="1">
                  <a:off x="10478494" y="1497322"/>
                  <a:ext cx="0" cy="959415"/>
                </a:xfrm>
                <a:prstGeom prst="line">
                  <a:avLst/>
                </a:prstGeom>
                <a:ln>
                  <a:solidFill>
                    <a:srgbClr val="00B050"/>
                  </a:solidFill>
                  <a:tailEnd type="oval"/>
                </a:ln>
              </p:spPr>
              <p:style>
                <a:lnRef idx="2">
                  <a:schemeClr val="accent2"/>
                </a:lnRef>
                <a:fillRef idx="0">
                  <a:schemeClr val="accent2"/>
                </a:fillRef>
                <a:effectRef idx="1">
                  <a:schemeClr val="accent2"/>
                </a:effectRef>
                <a:fontRef idx="minor">
                  <a:schemeClr val="tx1"/>
                </a:fontRef>
              </p:style>
            </p:cxnSp>
            <p:cxnSp>
              <p:nvCxnSpPr>
                <p:cNvPr id="453" name="Straight Connector 452">
                  <a:extLst>
                    <a:ext uri="{FF2B5EF4-FFF2-40B4-BE49-F238E27FC236}">
                      <a16:creationId xmlns:a16="http://schemas.microsoft.com/office/drawing/2014/main" id="{1C063CA4-BD6C-4BF1-8768-0B6792B2E734}"/>
                    </a:ext>
                  </a:extLst>
                </p:cNvPr>
                <p:cNvCxnSpPr>
                  <a:cxnSpLocks/>
                </p:cNvCxnSpPr>
                <p:nvPr/>
              </p:nvCxnSpPr>
              <p:spPr>
                <a:xfrm flipV="1">
                  <a:off x="10787772" y="1649722"/>
                  <a:ext cx="0" cy="796893"/>
                </a:xfrm>
                <a:prstGeom prst="line">
                  <a:avLst/>
                </a:prstGeom>
                <a:ln>
                  <a:solidFill>
                    <a:srgbClr val="00B050"/>
                  </a:solidFill>
                  <a:tailEnd type="oval"/>
                </a:ln>
              </p:spPr>
              <p:style>
                <a:lnRef idx="2">
                  <a:schemeClr val="accent2"/>
                </a:lnRef>
                <a:fillRef idx="0">
                  <a:schemeClr val="accent2"/>
                </a:fillRef>
                <a:effectRef idx="1">
                  <a:schemeClr val="accent2"/>
                </a:effectRef>
                <a:fontRef idx="minor">
                  <a:schemeClr val="tx1"/>
                </a:fontRef>
              </p:style>
            </p:cxnSp>
            <p:cxnSp>
              <p:nvCxnSpPr>
                <p:cNvPr id="454" name="Straight Connector 453">
                  <a:extLst>
                    <a:ext uri="{FF2B5EF4-FFF2-40B4-BE49-F238E27FC236}">
                      <a16:creationId xmlns:a16="http://schemas.microsoft.com/office/drawing/2014/main" id="{C418E1E3-BDB5-47A3-814B-D6B1CEA8E6DF}"/>
                    </a:ext>
                  </a:extLst>
                </p:cNvPr>
                <p:cNvCxnSpPr>
                  <a:cxnSpLocks/>
                </p:cNvCxnSpPr>
                <p:nvPr/>
              </p:nvCxnSpPr>
              <p:spPr>
                <a:xfrm flipV="1">
                  <a:off x="11088091" y="1802122"/>
                  <a:ext cx="0" cy="643410"/>
                </a:xfrm>
                <a:prstGeom prst="line">
                  <a:avLst/>
                </a:prstGeom>
                <a:ln>
                  <a:solidFill>
                    <a:srgbClr val="00B050"/>
                  </a:solidFill>
                  <a:tailEnd type="oval"/>
                </a:ln>
              </p:spPr>
              <p:style>
                <a:lnRef idx="2">
                  <a:schemeClr val="accent2"/>
                </a:lnRef>
                <a:fillRef idx="0">
                  <a:schemeClr val="accent2"/>
                </a:fillRef>
                <a:effectRef idx="1">
                  <a:schemeClr val="accent2"/>
                </a:effectRef>
                <a:fontRef idx="minor">
                  <a:schemeClr val="tx1"/>
                </a:fontRef>
              </p:style>
            </p:cxnSp>
            <p:grpSp>
              <p:nvGrpSpPr>
                <p:cNvPr id="455" name="Group 454">
                  <a:extLst>
                    <a:ext uri="{FF2B5EF4-FFF2-40B4-BE49-F238E27FC236}">
                      <a16:creationId xmlns:a16="http://schemas.microsoft.com/office/drawing/2014/main" id="{4B8592F0-7A7F-4973-A8F5-2D696500C33C}"/>
                    </a:ext>
                  </a:extLst>
                </p:cNvPr>
                <p:cNvGrpSpPr/>
                <p:nvPr/>
              </p:nvGrpSpPr>
              <p:grpSpPr>
                <a:xfrm>
                  <a:off x="10085295" y="2436673"/>
                  <a:ext cx="1087308" cy="170115"/>
                  <a:chOff x="10085295" y="2436673"/>
                  <a:chExt cx="1087308" cy="170115"/>
                </a:xfrm>
              </p:grpSpPr>
              <p:grpSp>
                <p:nvGrpSpPr>
                  <p:cNvPr id="456" name="Group 455">
                    <a:extLst>
                      <a:ext uri="{FF2B5EF4-FFF2-40B4-BE49-F238E27FC236}">
                        <a16:creationId xmlns:a16="http://schemas.microsoft.com/office/drawing/2014/main" id="{2E2AA82A-0AF5-4A01-BDD8-22A1E6027F09}"/>
                      </a:ext>
                    </a:extLst>
                  </p:cNvPr>
                  <p:cNvGrpSpPr/>
                  <p:nvPr/>
                </p:nvGrpSpPr>
                <p:grpSpPr>
                  <a:xfrm>
                    <a:off x="10085295" y="2436673"/>
                    <a:ext cx="170111" cy="170115"/>
                    <a:chOff x="10085295" y="2429950"/>
                    <a:chExt cx="170111" cy="170115"/>
                  </a:xfrm>
                </p:grpSpPr>
                <p:cxnSp>
                  <p:nvCxnSpPr>
                    <p:cNvPr id="469" name="Straight Connector 468">
                      <a:extLst>
                        <a:ext uri="{FF2B5EF4-FFF2-40B4-BE49-F238E27FC236}">
                          <a16:creationId xmlns:a16="http://schemas.microsoft.com/office/drawing/2014/main" id="{93E36B3C-ED07-492E-A76D-FC33481B254A}"/>
                        </a:ext>
                      </a:extLst>
                    </p:cNvPr>
                    <p:cNvCxnSpPr/>
                    <p:nvPr/>
                  </p:nvCxnSpPr>
                  <p:spPr>
                    <a:xfrm>
                      <a:off x="10085295" y="2438808"/>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470" name="Straight Connector 469">
                      <a:extLst>
                        <a:ext uri="{FF2B5EF4-FFF2-40B4-BE49-F238E27FC236}">
                          <a16:creationId xmlns:a16="http://schemas.microsoft.com/office/drawing/2014/main" id="{820C1F19-18C4-4832-AEF9-460A583009A4}"/>
                        </a:ext>
                      </a:extLst>
                    </p:cNvPr>
                    <p:cNvCxnSpPr>
                      <a:cxnSpLocks/>
                    </p:cNvCxnSpPr>
                    <p:nvPr/>
                  </p:nvCxnSpPr>
                  <p:spPr>
                    <a:xfrm rot="16200000">
                      <a:off x="10009100" y="2515006"/>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471" name="Straight Connector 470">
                      <a:extLst>
                        <a:ext uri="{FF2B5EF4-FFF2-40B4-BE49-F238E27FC236}">
                          <a16:creationId xmlns:a16="http://schemas.microsoft.com/office/drawing/2014/main" id="{C11E9DBA-634E-4E1F-AAB9-0F209378CFF3}"/>
                        </a:ext>
                      </a:extLst>
                    </p:cNvPr>
                    <p:cNvCxnSpPr>
                      <a:cxnSpLocks/>
                    </p:cNvCxnSpPr>
                    <p:nvPr/>
                  </p:nvCxnSpPr>
                  <p:spPr>
                    <a:xfrm rot="16200000">
                      <a:off x="10161500" y="2515010"/>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grpSp>
              <p:grpSp>
                <p:nvGrpSpPr>
                  <p:cNvPr id="457" name="Group 456">
                    <a:extLst>
                      <a:ext uri="{FF2B5EF4-FFF2-40B4-BE49-F238E27FC236}">
                        <a16:creationId xmlns:a16="http://schemas.microsoft.com/office/drawing/2014/main" id="{611F9E21-9851-4C85-B106-A3297856EE88}"/>
                      </a:ext>
                    </a:extLst>
                  </p:cNvPr>
                  <p:cNvGrpSpPr/>
                  <p:nvPr/>
                </p:nvGrpSpPr>
                <p:grpSpPr>
                  <a:xfrm>
                    <a:off x="10391027" y="2436673"/>
                    <a:ext cx="170111" cy="170115"/>
                    <a:chOff x="10085295" y="2429950"/>
                    <a:chExt cx="170111" cy="170115"/>
                  </a:xfrm>
                </p:grpSpPr>
                <p:cxnSp>
                  <p:nvCxnSpPr>
                    <p:cNvPr id="466" name="Straight Connector 465">
                      <a:extLst>
                        <a:ext uri="{FF2B5EF4-FFF2-40B4-BE49-F238E27FC236}">
                          <a16:creationId xmlns:a16="http://schemas.microsoft.com/office/drawing/2014/main" id="{90D856D7-EB84-4732-885B-BFBBC5B7671C}"/>
                        </a:ext>
                      </a:extLst>
                    </p:cNvPr>
                    <p:cNvCxnSpPr/>
                    <p:nvPr/>
                  </p:nvCxnSpPr>
                  <p:spPr>
                    <a:xfrm>
                      <a:off x="10085295" y="2438808"/>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467" name="Straight Connector 466">
                      <a:extLst>
                        <a:ext uri="{FF2B5EF4-FFF2-40B4-BE49-F238E27FC236}">
                          <a16:creationId xmlns:a16="http://schemas.microsoft.com/office/drawing/2014/main" id="{896DA3A9-7B34-4039-BA74-4BBD77A846D5}"/>
                        </a:ext>
                      </a:extLst>
                    </p:cNvPr>
                    <p:cNvCxnSpPr>
                      <a:cxnSpLocks/>
                    </p:cNvCxnSpPr>
                    <p:nvPr/>
                  </p:nvCxnSpPr>
                  <p:spPr>
                    <a:xfrm rot="16200000">
                      <a:off x="10009100" y="2515006"/>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468" name="Straight Connector 467">
                      <a:extLst>
                        <a:ext uri="{FF2B5EF4-FFF2-40B4-BE49-F238E27FC236}">
                          <a16:creationId xmlns:a16="http://schemas.microsoft.com/office/drawing/2014/main" id="{A47D286E-8BCF-4050-BB38-A994A440AC50}"/>
                        </a:ext>
                      </a:extLst>
                    </p:cNvPr>
                    <p:cNvCxnSpPr>
                      <a:cxnSpLocks/>
                    </p:cNvCxnSpPr>
                    <p:nvPr/>
                  </p:nvCxnSpPr>
                  <p:spPr>
                    <a:xfrm rot="16200000">
                      <a:off x="10161500" y="2515010"/>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grpSp>
              <p:grpSp>
                <p:nvGrpSpPr>
                  <p:cNvPr id="458" name="Group 457">
                    <a:extLst>
                      <a:ext uri="{FF2B5EF4-FFF2-40B4-BE49-F238E27FC236}">
                        <a16:creationId xmlns:a16="http://schemas.microsoft.com/office/drawing/2014/main" id="{E904BD03-D3E7-4B6A-9694-DAD9E3E5BB71}"/>
                      </a:ext>
                    </a:extLst>
                  </p:cNvPr>
                  <p:cNvGrpSpPr/>
                  <p:nvPr/>
                </p:nvGrpSpPr>
                <p:grpSpPr>
                  <a:xfrm>
                    <a:off x="10696759" y="2436673"/>
                    <a:ext cx="170111" cy="170115"/>
                    <a:chOff x="10085295" y="2429950"/>
                    <a:chExt cx="170111" cy="170115"/>
                  </a:xfrm>
                </p:grpSpPr>
                <p:cxnSp>
                  <p:nvCxnSpPr>
                    <p:cNvPr id="463" name="Straight Connector 462">
                      <a:extLst>
                        <a:ext uri="{FF2B5EF4-FFF2-40B4-BE49-F238E27FC236}">
                          <a16:creationId xmlns:a16="http://schemas.microsoft.com/office/drawing/2014/main" id="{AA8E0F40-0776-4357-9F2B-11A8B88B27EF}"/>
                        </a:ext>
                      </a:extLst>
                    </p:cNvPr>
                    <p:cNvCxnSpPr/>
                    <p:nvPr/>
                  </p:nvCxnSpPr>
                  <p:spPr>
                    <a:xfrm>
                      <a:off x="10085295" y="2438808"/>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464" name="Straight Connector 463">
                      <a:extLst>
                        <a:ext uri="{FF2B5EF4-FFF2-40B4-BE49-F238E27FC236}">
                          <a16:creationId xmlns:a16="http://schemas.microsoft.com/office/drawing/2014/main" id="{B9C8FF61-91DF-4868-AAA2-F80FC380B406}"/>
                        </a:ext>
                      </a:extLst>
                    </p:cNvPr>
                    <p:cNvCxnSpPr>
                      <a:cxnSpLocks/>
                    </p:cNvCxnSpPr>
                    <p:nvPr/>
                  </p:nvCxnSpPr>
                  <p:spPr>
                    <a:xfrm rot="16200000">
                      <a:off x="10009100" y="2515006"/>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465" name="Straight Connector 464">
                      <a:extLst>
                        <a:ext uri="{FF2B5EF4-FFF2-40B4-BE49-F238E27FC236}">
                          <a16:creationId xmlns:a16="http://schemas.microsoft.com/office/drawing/2014/main" id="{0A1FB0D1-9E59-45FB-A6EC-ED1AC135A2C5}"/>
                        </a:ext>
                      </a:extLst>
                    </p:cNvPr>
                    <p:cNvCxnSpPr>
                      <a:cxnSpLocks/>
                    </p:cNvCxnSpPr>
                    <p:nvPr/>
                  </p:nvCxnSpPr>
                  <p:spPr>
                    <a:xfrm rot="16200000">
                      <a:off x="10161500" y="2515010"/>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grpSp>
              <p:grpSp>
                <p:nvGrpSpPr>
                  <p:cNvPr id="459" name="Group 458">
                    <a:extLst>
                      <a:ext uri="{FF2B5EF4-FFF2-40B4-BE49-F238E27FC236}">
                        <a16:creationId xmlns:a16="http://schemas.microsoft.com/office/drawing/2014/main" id="{D81D7E84-4EE4-497E-832A-18791118088D}"/>
                      </a:ext>
                    </a:extLst>
                  </p:cNvPr>
                  <p:cNvGrpSpPr/>
                  <p:nvPr/>
                </p:nvGrpSpPr>
                <p:grpSpPr>
                  <a:xfrm>
                    <a:off x="11002492" y="2436673"/>
                    <a:ext cx="170111" cy="170115"/>
                    <a:chOff x="10085295" y="2429950"/>
                    <a:chExt cx="170111" cy="170115"/>
                  </a:xfrm>
                </p:grpSpPr>
                <p:cxnSp>
                  <p:nvCxnSpPr>
                    <p:cNvPr id="460" name="Straight Connector 459">
                      <a:extLst>
                        <a:ext uri="{FF2B5EF4-FFF2-40B4-BE49-F238E27FC236}">
                          <a16:creationId xmlns:a16="http://schemas.microsoft.com/office/drawing/2014/main" id="{B554C8BB-6A0E-45FC-93B1-822F25568141}"/>
                        </a:ext>
                      </a:extLst>
                    </p:cNvPr>
                    <p:cNvCxnSpPr/>
                    <p:nvPr/>
                  </p:nvCxnSpPr>
                  <p:spPr>
                    <a:xfrm>
                      <a:off x="10085295" y="2438808"/>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461" name="Straight Connector 460">
                      <a:extLst>
                        <a:ext uri="{FF2B5EF4-FFF2-40B4-BE49-F238E27FC236}">
                          <a16:creationId xmlns:a16="http://schemas.microsoft.com/office/drawing/2014/main" id="{77BDBE63-F460-4B1F-82E7-00F732180AF8}"/>
                        </a:ext>
                      </a:extLst>
                    </p:cNvPr>
                    <p:cNvCxnSpPr>
                      <a:cxnSpLocks/>
                    </p:cNvCxnSpPr>
                    <p:nvPr/>
                  </p:nvCxnSpPr>
                  <p:spPr>
                    <a:xfrm rot="16200000">
                      <a:off x="10009100" y="2515006"/>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cxnSp>
                  <p:nvCxnSpPr>
                    <p:cNvPr id="462" name="Straight Connector 461">
                      <a:extLst>
                        <a:ext uri="{FF2B5EF4-FFF2-40B4-BE49-F238E27FC236}">
                          <a16:creationId xmlns:a16="http://schemas.microsoft.com/office/drawing/2014/main" id="{9EB4B350-B888-439F-B7ED-312E4EE7A940}"/>
                        </a:ext>
                      </a:extLst>
                    </p:cNvPr>
                    <p:cNvCxnSpPr>
                      <a:cxnSpLocks/>
                    </p:cNvCxnSpPr>
                    <p:nvPr/>
                  </p:nvCxnSpPr>
                  <p:spPr>
                    <a:xfrm rot="16200000">
                      <a:off x="10161500" y="2515010"/>
                      <a:ext cx="170111" cy="0"/>
                    </a:xfrm>
                    <a:prstGeom prst="line">
                      <a:avLst/>
                    </a:prstGeom>
                    <a:ln>
                      <a:solidFill>
                        <a:srgbClr val="00B050"/>
                      </a:solidFill>
                      <a:tailEnd type="none"/>
                    </a:ln>
                  </p:spPr>
                  <p:style>
                    <a:lnRef idx="2">
                      <a:schemeClr val="accent2"/>
                    </a:lnRef>
                    <a:fillRef idx="0">
                      <a:schemeClr val="accent2"/>
                    </a:fillRef>
                    <a:effectRef idx="1">
                      <a:schemeClr val="accent2"/>
                    </a:effectRef>
                    <a:fontRef idx="minor">
                      <a:schemeClr val="tx1"/>
                    </a:fontRef>
                  </p:style>
                </p:cxnSp>
              </p:grpSp>
            </p:grpSp>
          </p:grpSp>
        </p:grpSp>
      </p:grpSp>
      <p:sp>
        <p:nvSpPr>
          <p:cNvPr id="302" name="TextBox 301">
            <a:hlinkClick r:id="rId8" action="ppaction://hlinksldjump"/>
            <a:extLst>
              <a:ext uri="{FF2B5EF4-FFF2-40B4-BE49-F238E27FC236}">
                <a16:creationId xmlns:a16="http://schemas.microsoft.com/office/drawing/2014/main" id="{CB83E0F8-845E-3180-39D5-90CD15A49BEF}"/>
              </a:ext>
            </a:extLst>
          </p:cNvPr>
          <p:cNvSpPr txBox="1"/>
          <p:nvPr/>
        </p:nvSpPr>
        <p:spPr>
          <a:xfrm>
            <a:off x="654009" y="1379904"/>
            <a:ext cx="865943" cy="307777"/>
          </a:xfrm>
          <a:prstGeom prst="rect">
            <a:avLst/>
          </a:prstGeom>
          <a:solidFill>
            <a:schemeClr val="bg1"/>
          </a:solidFill>
          <a:ln>
            <a:solidFill>
              <a:schemeClr val="accent1"/>
            </a:solidFill>
          </a:ln>
        </p:spPr>
        <p:txBody>
          <a:bodyPr wrap="none" rtlCol="0">
            <a:spAutoFit/>
          </a:bodyPr>
          <a:lstStyle/>
          <a:p>
            <a:r>
              <a:rPr lang="en-US" sz="1400"/>
              <a:t>Main CLK</a:t>
            </a:r>
          </a:p>
        </p:txBody>
      </p:sp>
      <p:sp>
        <p:nvSpPr>
          <p:cNvPr id="303" name="TextBox 302">
            <a:extLst>
              <a:ext uri="{FF2B5EF4-FFF2-40B4-BE49-F238E27FC236}">
                <a16:creationId xmlns:a16="http://schemas.microsoft.com/office/drawing/2014/main" id="{04CBFAC5-2A11-751D-D1AC-F86DEDEAA9CE}"/>
              </a:ext>
            </a:extLst>
          </p:cNvPr>
          <p:cNvSpPr txBox="1"/>
          <p:nvPr/>
        </p:nvSpPr>
        <p:spPr>
          <a:xfrm>
            <a:off x="2459100" y="1110757"/>
            <a:ext cx="1330814" cy="577466"/>
          </a:xfrm>
          <a:prstGeom prst="rect">
            <a:avLst/>
          </a:prstGeom>
          <a:solidFill>
            <a:srgbClr val="FFFFCC"/>
          </a:solidFill>
        </p:spPr>
        <p:txBody>
          <a:bodyPr wrap="none" rtlCol="0">
            <a:spAutoFit/>
          </a:bodyPr>
          <a:lstStyle/>
          <a:p>
            <a:r>
              <a:rPr lang="en-US" sz="1051" b="1" u="sng"/>
              <a:t>Read from Register</a:t>
            </a:r>
            <a:endParaRPr lang="en-US" sz="1051"/>
          </a:p>
          <a:p>
            <a:pPr marL="171446" indent="-171446">
              <a:buFont typeface="Arial" panose="020B0604020202020204" pitchFamily="34" charset="0"/>
              <a:buChar char="•"/>
            </a:pPr>
            <a:r>
              <a:rPr lang="en-US" sz="1051"/>
              <a:t>~G Output Enable</a:t>
            </a:r>
          </a:p>
          <a:p>
            <a:pPr marL="171446" indent="-171446">
              <a:buFont typeface="Arial" panose="020B0604020202020204" pitchFamily="34" charset="0"/>
              <a:buChar char="•"/>
            </a:pPr>
            <a:r>
              <a:rPr lang="en-US" sz="1051"/>
              <a:t>A,B Register Id</a:t>
            </a:r>
          </a:p>
        </p:txBody>
      </p:sp>
      <p:sp>
        <p:nvSpPr>
          <p:cNvPr id="304" name="TextBox 303">
            <a:hlinkClick r:id="rId9" action="ppaction://hlinksldjump"/>
            <a:extLst>
              <a:ext uri="{FF2B5EF4-FFF2-40B4-BE49-F238E27FC236}">
                <a16:creationId xmlns:a16="http://schemas.microsoft.com/office/drawing/2014/main" id="{6AA55AC5-42E7-2E16-25B1-331B11B5055F}"/>
              </a:ext>
            </a:extLst>
          </p:cNvPr>
          <p:cNvSpPr txBox="1"/>
          <p:nvPr/>
        </p:nvSpPr>
        <p:spPr>
          <a:xfrm>
            <a:off x="2672626" y="1288392"/>
            <a:ext cx="1029449" cy="254044"/>
          </a:xfrm>
          <a:prstGeom prst="rect">
            <a:avLst/>
          </a:prstGeom>
          <a:solidFill>
            <a:schemeClr val="bg1"/>
          </a:solidFill>
          <a:ln>
            <a:solidFill>
              <a:schemeClr val="accent1"/>
            </a:solidFill>
          </a:ln>
        </p:spPr>
        <p:txBody>
          <a:bodyPr wrap="none" rtlCol="0" anchor="ctr">
            <a:spAutoFit/>
          </a:bodyPr>
          <a:lstStyle/>
          <a:p>
            <a:r>
              <a:rPr lang="en-US" sz="1051"/>
              <a:t>R.O. Select Low</a:t>
            </a:r>
          </a:p>
        </p:txBody>
      </p:sp>
      <p:sp>
        <p:nvSpPr>
          <p:cNvPr id="305" name="TextBox 304">
            <a:hlinkClick r:id="rId9" action="ppaction://hlinksldjump"/>
            <a:extLst>
              <a:ext uri="{FF2B5EF4-FFF2-40B4-BE49-F238E27FC236}">
                <a16:creationId xmlns:a16="http://schemas.microsoft.com/office/drawing/2014/main" id="{2F52CB5D-223E-61CF-004E-60298D1EB9A5}"/>
              </a:ext>
            </a:extLst>
          </p:cNvPr>
          <p:cNvSpPr txBox="1"/>
          <p:nvPr/>
        </p:nvSpPr>
        <p:spPr>
          <a:xfrm>
            <a:off x="2646978" y="1480071"/>
            <a:ext cx="1055097" cy="254044"/>
          </a:xfrm>
          <a:prstGeom prst="rect">
            <a:avLst/>
          </a:prstGeom>
          <a:solidFill>
            <a:schemeClr val="bg1"/>
          </a:solidFill>
          <a:ln>
            <a:solidFill>
              <a:schemeClr val="accent1"/>
            </a:solidFill>
          </a:ln>
        </p:spPr>
        <p:txBody>
          <a:bodyPr wrap="none" rtlCol="0" anchor="ctr">
            <a:spAutoFit/>
          </a:bodyPr>
          <a:lstStyle/>
          <a:p>
            <a:r>
              <a:rPr lang="en-US" sz="1051">
                <a:hlinkClick r:id="rId9" action="ppaction://hlinksldjump"/>
              </a:rPr>
              <a:t>R</a:t>
            </a:r>
            <a:r>
              <a:rPr lang="en-US" sz="1051"/>
              <a:t>.O. Select High</a:t>
            </a:r>
          </a:p>
        </p:txBody>
      </p:sp>
      <p:sp>
        <p:nvSpPr>
          <p:cNvPr id="8" name="TextBox 7">
            <a:extLst>
              <a:ext uri="{FF2B5EF4-FFF2-40B4-BE49-F238E27FC236}">
                <a16:creationId xmlns:a16="http://schemas.microsoft.com/office/drawing/2014/main" id="{714AEC8D-B50D-4468-A886-61550CA58663}"/>
              </a:ext>
            </a:extLst>
          </p:cNvPr>
          <p:cNvSpPr txBox="1"/>
          <p:nvPr/>
        </p:nvSpPr>
        <p:spPr>
          <a:xfrm>
            <a:off x="2516499" y="2882773"/>
            <a:ext cx="598241" cy="276999"/>
          </a:xfrm>
          <a:prstGeom prst="rect">
            <a:avLst/>
          </a:prstGeom>
          <a:noFill/>
        </p:spPr>
        <p:txBody>
          <a:bodyPr wrap="none" rtlCol="0">
            <a:spAutoFit/>
          </a:bodyPr>
          <a:lstStyle/>
          <a:p>
            <a:r>
              <a:rPr lang="en-US" sz="1200"/>
              <a:t>HC139</a:t>
            </a:r>
          </a:p>
        </p:txBody>
      </p:sp>
      <p:grpSp>
        <p:nvGrpSpPr>
          <p:cNvPr id="309" name="Group 308">
            <a:extLst>
              <a:ext uri="{FF2B5EF4-FFF2-40B4-BE49-F238E27FC236}">
                <a16:creationId xmlns:a16="http://schemas.microsoft.com/office/drawing/2014/main" id="{C25F0635-BCF4-9543-0779-45E66477CB9B}"/>
              </a:ext>
            </a:extLst>
          </p:cNvPr>
          <p:cNvGrpSpPr/>
          <p:nvPr/>
        </p:nvGrpSpPr>
        <p:grpSpPr>
          <a:xfrm>
            <a:off x="2728533" y="4562039"/>
            <a:ext cx="1463040" cy="182880"/>
            <a:chOff x="9859776" y="1158931"/>
            <a:chExt cx="1463040" cy="182880"/>
          </a:xfrm>
        </p:grpSpPr>
        <p:sp>
          <p:nvSpPr>
            <p:cNvPr id="310" name="Rectangle 309">
              <a:hlinkClick r:id="rId8" action="ppaction://hlinksldjump"/>
              <a:extLst>
                <a:ext uri="{FF2B5EF4-FFF2-40B4-BE49-F238E27FC236}">
                  <a16:creationId xmlns:a16="http://schemas.microsoft.com/office/drawing/2014/main" id="{F98CF491-909F-4471-D455-45C08C8E9747}"/>
                </a:ext>
              </a:extLst>
            </p:cNvPr>
            <p:cNvSpPr/>
            <p:nvPr/>
          </p:nvSpPr>
          <p:spPr>
            <a:xfrm>
              <a:off x="9859776" y="115893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5. Reg In </a:t>
              </a:r>
              <a:r>
                <a:rPr lang="en-US" sz="1200" err="1"/>
                <a:t>En</a:t>
              </a:r>
              <a:endParaRPr lang="en-US" sz="1200"/>
            </a:p>
          </p:txBody>
        </p:sp>
        <p:cxnSp>
          <p:nvCxnSpPr>
            <p:cNvPr id="311" name="Straight Connector 310">
              <a:extLst>
                <a:ext uri="{FF2B5EF4-FFF2-40B4-BE49-F238E27FC236}">
                  <a16:creationId xmlns:a16="http://schemas.microsoft.com/office/drawing/2014/main" id="{BAB9F976-6F67-7A28-D224-BE3D8528B1BE}"/>
                </a:ext>
              </a:extLst>
            </p:cNvPr>
            <p:cNvCxnSpPr>
              <a:cxnSpLocks/>
            </p:cNvCxnSpPr>
            <p:nvPr/>
          </p:nvCxnSpPr>
          <p:spPr>
            <a:xfrm flipV="1">
              <a:off x="10068793" y="1186643"/>
              <a:ext cx="5987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15" name="Group 314">
            <a:extLst>
              <a:ext uri="{FF2B5EF4-FFF2-40B4-BE49-F238E27FC236}">
                <a16:creationId xmlns:a16="http://schemas.microsoft.com/office/drawing/2014/main" id="{670ED1CA-4A5B-C70F-F5AB-44B14EB749A0}"/>
              </a:ext>
            </a:extLst>
          </p:cNvPr>
          <p:cNvGrpSpPr/>
          <p:nvPr/>
        </p:nvGrpSpPr>
        <p:grpSpPr>
          <a:xfrm>
            <a:off x="2649196" y="1670847"/>
            <a:ext cx="1463040" cy="182880"/>
            <a:chOff x="9859776" y="1158931"/>
            <a:chExt cx="1463040" cy="182880"/>
          </a:xfrm>
        </p:grpSpPr>
        <p:sp>
          <p:nvSpPr>
            <p:cNvPr id="316" name="Rectangle 315">
              <a:hlinkClick r:id="rId8" action="ppaction://hlinksldjump"/>
              <a:extLst>
                <a:ext uri="{FF2B5EF4-FFF2-40B4-BE49-F238E27FC236}">
                  <a16:creationId xmlns:a16="http://schemas.microsoft.com/office/drawing/2014/main" id="{F3400D2F-334F-8054-5128-AD6915F83482}"/>
                </a:ext>
              </a:extLst>
            </p:cNvPr>
            <p:cNvSpPr/>
            <p:nvPr/>
          </p:nvSpPr>
          <p:spPr>
            <a:xfrm>
              <a:off x="9859776" y="115893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4. Reg Out </a:t>
              </a:r>
              <a:r>
                <a:rPr lang="en-US" sz="1200" err="1"/>
                <a:t>En</a:t>
              </a:r>
              <a:endParaRPr lang="en-US" sz="1200"/>
            </a:p>
          </p:txBody>
        </p:sp>
        <p:cxnSp>
          <p:nvCxnSpPr>
            <p:cNvPr id="317" name="Straight Connector 316">
              <a:extLst>
                <a:ext uri="{FF2B5EF4-FFF2-40B4-BE49-F238E27FC236}">
                  <a16:creationId xmlns:a16="http://schemas.microsoft.com/office/drawing/2014/main" id="{7EC5F992-C332-7064-0A17-BD3571351EC3}"/>
                </a:ext>
              </a:extLst>
            </p:cNvPr>
            <p:cNvCxnSpPr>
              <a:cxnSpLocks/>
            </p:cNvCxnSpPr>
            <p:nvPr/>
          </p:nvCxnSpPr>
          <p:spPr>
            <a:xfrm flipV="1">
              <a:off x="10068793" y="1186643"/>
              <a:ext cx="5987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13" name="Group 312">
            <a:extLst>
              <a:ext uri="{FF2B5EF4-FFF2-40B4-BE49-F238E27FC236}">
                <a16:creationId xmlns:a16="http://schemas.microsoft.com/office/drawing/2014/main" id="{829B7EF8-8D79-115A-FE7E-9288A4FA53DA}"/>
              </a:ext>
            </a:extLst>
          </p:cNvPr>
          <p:cNvGrpSpPr/>
          <p:nvPr/>
        </p:nvGrpSpPr>
        <p:grpSpPr>
          <a:xfrm>
            <a:off x="2726371" y="4780629"/>
            <a:ext cx="1463040" cy="182880"/>
            <a:chOff x="9859776" y="1158931"/>
            <a:chExt cx="1463040" cy="182880"/>
          </a:xfrm>
        </p:grpSpPr>
        <p:sp>
          <p:nvSpPr>
            <p:cNvPr id="314" name="Rectangle 313">
              <a:hlinkClick r:id="rId10" action="ppaction://hlinksldjump"/>
              <a:extLst>
                <a:ext uri="{FF2B5EF4-FFF2-40B4-BE49-F238E27FC236}">
                  <a16:creationId xmlns:a16="http://schemas.microsoft.com/office/drawing/2014/main" id="{49881FDC-8E26-6979-9776-605BE6811772}"/>
                </a:ext>
              </a:extLst>
            </p:cNvPr>
            <p:cNvSpPr/>
            <p:nvPr/>
          </p:nvSpPr>
          <p:spPr>
            <a:xfrm>
              <a:off x="9859776" y="115893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OpCode [7:6] Rd</a:t>
              </a:r>
            </a:p>
          </p:txBody>
        </p:sp>
        <p:cxnSp>
          <p:nvCxnSpPr>
            <p:cNvPr id="473" name="Straight Connector 472">
              <a:extLst>
                <a:ext uri="{FF2B5EF4-FFF2-40B4-BE49-F238E27FC236}">
                  <a16:creationId xmlns:a16="http://schemas.microsoft.com/office/drawing/2014/main" id="{00D78905-6E4A-AC70-EDB0-4F955151E707}"/>
                </a:ext>
              </a:extLst>
            </p:cNvPr>
            <p:cNvCxnSpPr>
              <a:cxnSpLocks/>
            </p:cNvCxnSpPr>
            <p:nvPr/>
          </p:nvCxnSpPr>
          <p:spPr>
            <a:xfrm flipV="1">
              <a:off x="10068793" y="1186643"/>
              <a:ext cx="5987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74" name="Arrow: Right 473">
            <a:hlinkClick r:id="rId10" action="ppaction://hlinksldjump"/>
            <a:extLst>
              <a:ext uri="{FF2B5EF4-FFF2-40B4-BE49-F238E27FC236}">
                <a16:creationId xmlns:a16="http://schemas.microsoft.com/office/drawing/2014/main" id="{EFDA13BD-4D07-C328-2F73-D1223824275D}"/>
              </a:ext>
            </a:extLst>
          </p:cNvPr>
          <p:cNvSpPr/>
          <p:nvPr/>
        </p:nvSpPr>
        <p:spPr>
          <a:xfrm>
            <a:off x="1895477" y="4508970"/>
            <a:ext cx="731520" cy="755881"/>
          </a:xfrm>
          <a:prstGeom prst="rightArrow">
            <a:avLst/>
          </a:prstGeom>
          <a:solidFill>
            <a:schemeClr val="accent6">
              <a:lumMod val="50000"/>
            </a:schemeClr>
          </a:solidFill>
        </p:spPr>
        <p:style>
          <a:lnRef idx="1">
            <a:schemeClr val="accent5"/>
          </a:lnRef>
          <a:fillRef idx="2">
            <a:schemeClr val="accent5"/>
          </a:fillRef>
          <a:effectRef idx="1">
            <a:schemeClr val="accent5"/>
          </a:effectRef>
          <a:fontRef idx="minor">
            <a:schemeClr val="dk1"/>
          </a:fontRef>
        </p:style>
        <p:txBody>
          <a:bodyPr wrap="none" lIns="0" tIns="0" rIns="0" bIns="0" rtlCol="0" anchor="ctr"/>
          <a:lstStyle/>
          <a:p>
            <a:pPr algn="ctr"/>
            <a:r>
              <a:rPr lang="en-US" sz="1200">
                <a:solidFill>
                  <a:schemeClr val="bg1"/>
                </a:solidFill>
              </a:rPr>
              <a:t>OpCode</a:t>
            </a:r>
          </a:p>
          <a:p>
            <a:pPr algn="ctr"/>
            <a:r>
              <a:rPr lang="en-US" sz="1200">
                <a:solidFill>
                  <a:schemeClr val="bg1"/>
                </a:solidFill>
              </a:rPr>
              <a:t>[7:6] Rd RI</a:t>
            </a:r>
          </a:p>
        </p:txBody>
      </p:sp>
      <p:pic>
        <p:nvPicPr>
          <p:cNvPr id="36" name="Picture 35">
            <a:hlinkClick r:id="rId11" action="ppaction://hlinksldjump"/>
            <a:extLst>
              <a:ext uri="{FF2B5EF4-FFF2-40B4-BE49-F238E27FC236}">
                <a16:creationId xmlns:a16="http://schemas.microsoft.com/office/drawing/2014/main" id="{858FBB6E-13F1-D094-ACEE-5EC3B26F0105}"/>
              </a:ext>
            </a:extLst>
          </p:cNvPr>
          <p:cNvPicPr>
            <a:picLocks noChangeAspect="1"/>
          </p:cNvPicPr>
          <p:nvPr/>
        </p:nvPicPr>
        <p:blipFill>
          <a:blip r:embed="rId12"/>
          <a:stretch>
            <a:fillRect/>
          </a:stretch>
        </p:blipFill>
        <p:spPr>
          <a:xfrm>
            <a:off x="11038384" y="6427540"/>
            <a:ext cx="1076851" cy="222744"/>
          </a:xfrm>
          <a:prstGeom prst="rect">
            <a:avLst/>
          </a:prstGeom>
        </p:spPr>
      </p:pic>
      <p:sp>
        <p:nvSpPr>
          <p:cNvPr id="16" name="Slide Number Placeholder 4">
            <a:extLst>
              <a:ext uri="{FF2B5EF4-FFF2-40B4-BE49-F238E27FC236}">
                <a16:creationId xmlns:a16="http://schemas.microsoft.com/office/drawing/2014/main" id="{DBE3F7BD-CA8A-E510-B5BF-6324030E2CDD}"/>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99</a:t>
            </a:fld>
            <a:endParaRPr lang="en-US" b="1">
              <a:solidFill>
                <a:schemeClr val="bg1"/>
              </a:solidFill>
            </a:endParaRPr>
          </a:p>
        </p:txBody>
      </p:sp>
    </p:spTree>
    <p:extLst>
      <p:ext uri="{BB962C8B-B14F-4D97-AF65-F5344CB8AC3E}">
        <p14:creationId xmlns:p14="http://schemas.microsoft.com/office/powerpoint/2010/main" val="2196176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Group 37">
            <a:extLst>
              <a:ext uri="{FF2B5EF4-FFF2-40B4-BE49-F238E27FC236}">
                <a16:creationId xmlns:a16="http://schemas.microsoft.com/office/drawing/2014/main" id="{0FBD0549-69A7-48A0-BA7C-F187329B5DA8}"/>
              </a:ext>
            </a:extLst>
          </p:cNvPr>
          <p:cNvGrpSpPr/>
          <p:nvPr/>
        </p:nvGrpSpPr>
        <p:grpSpPr>
          <a:xfrm>
            <a:off x="5636975" y="2932234"/>
            <a:ext cx="618565" cy="1187737"/>
            <a:chOff x="5437094" y="3282589"/>
            <a:chExt cx="618565" cy="1187737"/>
          </a:xfrm>
        </p:grpSpPr>
        <p:pic>
          <p:nvPicPr>
            <p:cNvPr id="1026" name="Picture 2" descr="NOR logic - Wikipedia">
              <a:extLst>
                <a:ext uri="{FF2B5EF4-FFF2-40B4-BE49-F238E27FC236}">
                  <a16:creationId xmlns:a16="http://schemas.microsoft.com/office/drawing/2014/main" id="{464DC891-99B7-4C9D-84DE-0888E57117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7094" y="3282589"/>
              <a:ext cx="618565" cy="257736"/>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 descr="NOR logic - Wikipedia">
              <a:extLst>
                <a:ext uri="{FF2B5EF4-FFF2-40B4-BE49-F238E27FC236}">
                  <a16:creationId xmlns:a16="http://schemas.microsoft.com/office/drawing/2014/main" id="{18CC3F7B-62FC-4117-BB70-E5E8C1F200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7094" y="3592589"/>
              <a:ext cx="618565" cy="257736"/>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descr="NOR logic - Wikipedia">
              <a:extLst>
                <a:ext uri="{FF2B5EF4-FFF2-40B4-BE49-F238E27FC236}">
                  <a16:creationId xmlns:a16="http://schemas.microsoft.com/office/drawing/2014/main" id="{5C509F8B-4EB9-42EE-92F3-1F076B1A87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7094" y="3902589"/>
              <a:ext cx="618565" cy="257736"/>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descr="NOR logic - Wikipedia">
              <a:extLst>
                <a:ext uri="{FF2B5EF4-FFF2-40B4-BE49-F238E27FC236}">
                  <a16:creationId xmlns:a16="http://schemas.microsoft.com/office/drawing/2014/main" id="{5DAACEEB-C22E-4D73-B061-FFE3BB7960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7094" y="4212590"/>
              <a:ext cx="618565" cy="257736"/>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Title 1">
            <a:extLst>
              <a:ext uri="{FF2B5EF4-FFF2-40B4-BE49-F238E27FC236}">
                <a16:creationId xmlns:a16="http://schemas.microsoft.com/office/drawing/2014/main" id="{6F7C066E-CAA5-4387-9DD5-C9E10E6E6DEE}"/>
              </a:ext>
            </a:extLst>
          </p:cNvPr>
          <p:cNvSpPr>
            <a:spLocks noGrp="1"/>
          </p:cNvSpPr>
          <p:nvPr>
            <p:ph type="ctrTitle"/>
          </p:nvPr>
        </p:nvSpPr>
        <p:spPr>
          <a:xfrm>
            <a:off x="914399" y="457200"/>
            <a:ext cx="3840480" cy="457200"/>
          </a:xfrm>
          <a:prstGeom prst="rect">
            <a:avLst/>
          </a:prstGeom>
        </p:spPr>
        <p:txBody>
          <a:bodyPr/>
          <a:lstStyle/>
          <a:p>
            <a:r>
              <a:rPr lang="en-US"/>
              <a:t>Registers Schematics</a:t>
            </a:r>
          </a:p>
        </p:txBody>
      </p:sp>
      <p:pic>
        <p:nvPicPr>
          <p:cNvPr id="5" name="Picture 4">
            <a:extLst>
              <a:ext uri="{FF2B5EF4-FFF2-40B4-BE49-F238E27FC236}">
                <a16:creationId xmlns:a16="http://schemas.microsoft.com/office/drawing/2014/main" id="{1D09547C-AFED-47E6-8C89-F272F6F83B47}"/>
              </a:ext>
            </a:extLst>
          </p:cNvPr>
          <p:cNvPicPr>
            <a:picLocks noChangeAspect="1"/>
          </p:cNvPicPr>
          <p:nvPr/>
        </p:nvPicPr>
        <p:blipFill>
          <a:blip r:embed="rId4"/>
          <a:stretch>
            <a:fillRect/>
          </a:stretch>
        </p:blipFill>
        <p:spPr>
          <a:xfrm>
            <a:off x="8538192" y="765661"/>
            <a:ext cx="2541881" cy="4463260"/>
          </a:xfrm>
          <a:prstGeom prst="rect">
            <a:avLst/>
          </a:prstGeom>
        </p:spPr>
      </p:pic>
      <p:pic>
        <p:nvPicPr>
          <p:cNvPr id="6" name="Picture 5">
            <a:extLst>
              <a:ext uri="{FF2B5EF4-FFF2-40B4-BE49-F238E27FC236}">
                <a16:creationId xmlns:a16="http://schemas.microsoft.com/office/drawing/2014/main" id="{2D15B45B-E522-4EB2-A6AD-A1FE5B8A8CEE}"/>
              </a:ext>
            </a:extLst>
          </p:cNvPr>
          <p:cNvPicPr>
            <a:picLocks noChangeAspect="1"/>
          </p:cNvPicPr>
          <p:nvPr/>
        </p:nvPicPr>
        <p:blipFill>
          <a:blip r:embed="rId5"/>
          <a:stretch>
            <a:fillRect/>
          </a:stretch>
        </p:blipFill>
        <p:spPr>
          <a:xfrm>
            <a:off x="1696174" y="5512707"/>
            <a:ext cx="2081495" cy="1090880"/>
          </a:xfrm>
          <a:prstGeom prst="rect">
            <a:avLst/>
          </a:prstGeom>
        </p:spPr>
      </p:pic>
      <p:pic>
        <p:nvPicPr>
          <p:cNvPr id="7" name="Picture 6">
            <a:extLst>
              <a:ext uri="{FF2B5EF4-FFF2-40B4-BE49-F238E27FC236}">
                <a16:creationId xmlns:a16="http://schemas.microsoft.com/office/drawing/2014/main" id="{B1AEB0AE-2F4B-4D8F-BCCB-3A6E6214EF00}"/>
              </a:ext>
            </a:extLst>
          </p:cNvPr>
          <p:cNvPicPr>
            <a:picLocks noChangeAspect="1"/>
          </p:cNvPicPr>
          <p:nvPr/>
        </p:nvPicPr>
        <p:blipFill>
          <a:blip r:embed="rId6"/>
          <a:stretch>
            <a:fillRect/>
          </a:stretch>
        </p:blipFill>
        <p:spPr>
          <a:xfrm>
            <a:off x="8538191" y="5278631"/>
            <a:ext cx="2723191" cy="1240645"/>
          </a:xfrm>
          <a:prstGeom prst="rect">
            <a:avLst/>
          </a:prstGeom>
        </p:spPr>
      </p:pic>
      <p:pic>
        <p:nvPicPr>
          <p:cNvPr id="9" name="Picture 8">
            <a:extLst>
              <a:ext uri="{FF2B5EF4-FFF2-40B4-BE49-F238E27FC236}">
                <a16:creationId xmlns:a16="http://schemas.microsoft.com/office/drawing/2014/main" id="{0552BE21-8D8B-4047-9E61-D81349A1F32F}"/>
              </a:ext>
            </a:extLst>
          </p:cNvPr>
          <p:cNvPicPr>
            <a:picLocks noChangeAspect="1"/>
          </p:cNvPicPr>
          <p:nvPr/>
        </p:nvPicPr>
        <p:blipFill>
          <a:blip r:embed="rId7"/>
          <a:stretch>
            <a:fillRect/>
          </a:stretch>
        </p:blipFill>
        <p:spPr>
          <a:xfrm>
            <a:off x="2104064" y="2185081"/>
            <a:ext cx="2351376" cy="1741760"/>
          </a:xfrm>
          <a:prstGeom prst="rect">
            <a:avLst/>
          </a:prstGeom>
        </p:spPr>
      </p:pic>
      <p:grpSp>
        <p:nvGrpSpPr>
          <p:cNvPr id="10" name="Group 9">
            <a:extLst>
              <a:ext uri="{FF2B5EF4-FFF2-40B4-BE49-F238E27FC236}">
                <a16:creationId xmlns:a16="http://schemas.microsoft.com/office/drawing/2014/main" id="{DA122FA3-89F3-4A92-A453-98061ECF3DB6}"/>
              </a:ext>
            </a:extLst>
          </p:cNvPr>
          <p:cNvGrpSpPr/>
          <p:nvPr/>
        </p:nvGrpSpPr>
        <p:grpSpPr>
          <a:xfrm rot="5400000">
            <a:off x="1724555" y="2311623"/>
            <a:ext cx="325024" cy="614840"/>
            <a:chOff x="2318356" y="3448800"/>
            <a:chExt cx="325024" cy="914400"/>
          </a:xfrm>
        </p:grpSpPr>
        <p:cxnSp>
          <p:nvCxnSpPr>
            <p:cNvPr id="11" name="Straight Connector 10">
              <a:extLst>
                <a:ext uri="{FF2B5EF4-FFF2-40B4-BE49-F238E27FC236}">
                  <a16:creationId xmlns:a16="http://schemas.microsoft.com/office/drawing/2014/main" id="{8A74EA97-47F5-4FA1-9586-88818670385F}"/>
                </a:ext>
              </a:extLst>
            </p:cNvPr>
            <p:cNvCxnSpPr>
              <a:cxnSpLocks/>
            </p:cNvCxnSpPr>
            <p:nvPr/>
          </p:nvCxnSpPr>
          <p:spPr>
            <a:xfrm>
              <a:off x="2477981" y="3448800"/>
              <a:ext cx="0" cy="91440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3067CBB-BA05-437F-A648-99688CC91357}"/>
                </a:ext>
              </a:extLst>
            </p:cNvPr>
            <p:cNvCxnSpPr>
              <a:cxnSpLocks/>
            </p:cNvCxnSpPr>
            <p:nvPr/>
          </p:nvCxnSpPr>
          <p:spPr>
            <a:xfrm>
              <a:off x="2643380" y="3448800"/>
              <a:ext cx="0" cy="91440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2F50D17-4461-4AE8-A032-A66C56B5FBBA}"/>
                </a:ext>
              </a:extLst>
            </p:cNvPr>
            <p:cNvCxnSpPr>
              <a:cxnSpLocks/>
            </p:cNvCxnSpPr>
            <p:nvPr/>
          </p:nvCxnSpPr>
          <p:spPr>
            <a:xfrm>
              <a:off x="2318356" y="3448800"/>
              <a:ext cx="0" cy="91440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15" name="Connector: Elbow 14">
            <a:extLst>
              <a:ext uri="{FF2B5EF4-FFF2-40B4-BE49-F238E27FC236}">
                <a16:creationId xmlns:a16="http://schemas.microsoft.com/office/drawing/2014/main" id="{CE0CBB5D-EDE5-42E5-AE21-D31080373779}"/>
              </a:ext>
            </a:extLst>
          </p:cNvPr>
          <p:cNvCxnSpPr>
            <a:cxnSpLocks/>
            <a:stCxn id="21" idx="4"/>
          </p:cNvCxnSpPr>
          <p:nvPr/>
        </p:nvCxnSpPr>
        <p:spPr>
          <a:xfrm flipV="1">
            <a:off x="4739258" y="1251047"/>
            <a:ext cx="3849735" cy="1120820"/>
          </a:xfrm>
          <a:prstGeom prst="bentConnector3">
            <a:avLst/>
          </a:prstGeom>
          <a:ln>
            <a:solidFill>
              <a:srgbClr val="FF0000"/>
            </a:solidFill>
            <a:tailEnd type="oval"/>
          </a:ln>
        </p:spPr>
        <p:style>
          <a:lnRef idx="2">
            <a:schemeClr val="accent2"/>
          </a:lnRef>
          <a:fillRef idx="0">
            <a:schemeClr val="accent2"/>
          </a:fillRef>
          <a:effectRef idx="1">
            <a:schemeClr val="accent2"/>
          </a:effectRef>
          <a:fontRef idx="minor">
            <a:schemeClr val="tx1"/>
          </a:fontRef>
        </p:style>
      </p:cxnSp>
      <p:grpSp>
        <p:nvGrpSpPr>
          <p:cNvPr id="16" name="Group 15">
            <a:extLst>
              <a:ext uri="{FF2B5EF4-FFF2-40B4-BE49-F238E27FC236}">
                <a16:creationId xmlns:a16="http://schemas.microsoft.com/office/drawing/2014/main" id="{928053D3-B2B0-4B39-84F2-CCC71B427EF5}"/>
              </a:ext>
            </a:extLst>
          </p:cNvPr>
          <p:cNvGrpSpPr/>
          <p:nvPr/>
        </p:nvGrpSpPr>
        <p:grpSpPr>
          <a:xfrm rot="16200000">
            <a:off x="4183404" y="2377083"/>
            <a:ext cx="633557" cy="478147"/>
            <a:chOff x="2736921" y="3444322"/>
            <a:chExt cx="633557" cy="478147"/>
          </a:xfrm>
        </p:grpSpPr>
        <p:grpSp>
          <p:nvGrpSpPr>
            <p:cNvPr id="17" name="Group 16">
              <a:extLst>
                <a:ext uri="{FF2B5EF4-FFF2-40B4-BE49-F238E27FC236}">
                  <a16:creationId xmlns:a16="http://schemas.microsoft.com/office/drawing/2014/main" id="{8EDAD3ED-0CC8-4FB8-90DE-4B5723D2DD09}"/>
                </a:ext>
              </a:extLst>
            </p:cNvPr>
            <p:cNvGrpSpPr/>
            <p:nvPr/>
          </p:nvGrpSpPr>
          <p:grpSpPr>
            <a:xfrm>
              <a:off x="2736921" y="3444322"/>
              <a:ext cx="144980" cy="478147"/>
              <a:chOff x="464349" y="3193307"/>
              <a:chExt cx="144980" cy="478147"/>
            </a:xfrm>
            <a:solidFill>
              <a:srgbClr val="FF0000"/>
            </a:solidFill>
          </p:grpSpPr>
          <p:sp>
            <p:nvSpPr>
              <p:cNvPr id="27" name="Oval 26">
                <a:extLst>
                  <a:ext uri="{FF2B5EF4-FFF2-40B4-BE49-F238E27FC236}">
                    <a16:creationId xmlns:a16="http://schemas.microsoft.com/office/drawing/2014/main" id="{7FEFF9C5-137E-4711-9BD6-3BE0B68D13C3}"/>
                  </a:ext>
                </a:extLst>
              </p:cNvPr>
              <p:cNvSpPr/>
              <p:nvPr/>
            </p:nvSpPr>
            <p:spPr>
              <a:xfrm>
                <a:off x="464349" y="3523536"/>
                <a:ext cx="144980" cy="147918"/>
              </a:xfrm>
              <a:prstGeom prst="ellipse">
                <a:avLst/>
              </a:prstGeom>
              <a:gr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vert" wrap="none" rtlCol="0" anchor="ctr"/>
              <a:lstStyle/>
              <a:p>
                <a:pPr algn="ctr"/>
                <a:r>
                  <a:rPr lang="en-US" sz="800"/>
                  <a:t>OE3</a:t>
                </a:r>
              </a:p>
            </p:txBody>
          </p:sp>
          <p:cxnSp>
            <p:nvCxnSpPr>
              <p:cNvPr id="28" name="Straight Connector 27">
                <a:extLst>
                  <a:ext uri="{FF2B5EF4-FFF2-40B4-BE49-F238E27FC236}">
                    <a16:creationId xmlns:a16="http://schemas.microsoft.com/office/drawing/2014/main" id="{CD047DEE-CD6E-4DDC-8665-DFEFDEDE392A}"/>
                  </a:ext>
                </a:extLst>
              </p:cNvPr>
              <p:cNvCxnSpPr>
                <a:cxnSpLocks/>
              </p:cNvCxnSpPr>
              <p:nvPr/>
            </p:nvCxnSpPr>
            <p:spPr>
              <a:xfrm>
                <a:off x="536839" y="3193307"/>
                <a:ext cx="0" cy="330229"/>
              </a:xfrm>
              <a:prstGeom prst="line">
                <a:avLst/>
              </a:prstGeom>
              <a:grpFill/>
              <a:ln w="127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2B308B62-C1B1-4682-A842-3944E891F126}"/>
                </a:ext>
              </a:extLst>
            </p:cNvPr>
            <p:cNvGrpSpPr/>
            <p:nvPr/>
          </p:nvGrpSpPr>
          <p:grpSpPr>
            <a:xfrm>
              <a:off x="2899780" y="3444322"/>
              <a:ext cx="144980" cy="478147"/>
              <a:chOff x="464349" y="3193307"/>
              <a:chExt cx="144980" cy="478147"/>
            </a:xfrm>
            <a:solidFill>
              <a:srgbClr val="FF0000"/>
            </a:solidFill>
          </p:grpSpPr>
          <p:sp>
            <p:nvSpPr>
              <p:cNvPr id="25" name="Oval 24">
                <a:extLst>
                  <a:ext uri="{FF2B5EF4-FFF2-40B4-BE49-F238E27FC236}">
                    <a16:creationId xmlns:a16="http://schemas.microsoft.com/office/drawing/2014/main" id="{51259928-5AFE-41FF-9196-8005CA99D52C}"/>
                  </a:ext>
                </a:extLst>
              </p:cNvPr>
              <p:cNvSpPr/>
              <p:nvPr/>
            </p:nvSpPr>
            <p:spPr>
              <a:xfrm>
                <a:off x="464349" y="3523536"/>
                <a:ext cx="144980" cy="147918"/>
              </a:xfrm>
              <a:prstGeom prst="ellipse">
                <a:avLst/>
              </a:prstGeom>
              <a:gr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vert" wrap="none" rtlCol="0" anchor="ctr"/>
              <a:lstStyle/>
              <a:p>
                <a:pPr algn="ctr"/>
                <a:r>
                  <a:rPr lang="en-US" sz="800"/>
                  <a:t>OE2</a:t>
                </a:r>
              </a:p>
            </p:txBody>
          </p:sp>
          <p:cxnSp>
            <p:nvCxnSpPr>
              <p:cNvPr id="26" name="Straight Connector 25">
                <a:extLst>
                  <a:ext uri="{FF2B5EF4-FFF2-40B4-BE49-F238E27FC236}">
                    <a16:creationId xmlns:a16="http://schemas.microsoft.com/office/drawing/2014/main" id="{E4DBFC99-B34F-4986-812A-DE09C0811A89}"/>
                  </a:ext>
                </a:extLst>
              </p:cNvPr>
              <p:cNvCxnSpPr>
                <a:cxnSpLocks/>
              </p:cNvCxnSpPr>
              <p:nvPr/>
            </p:nvCxnSpPr>
            <p:spPr>
              <a:xfrm>
                <a:off x="536839" y="3193307"/>
                <a:ext cx="0" cy="330229"/>
              </a:xfrm>
              <a:prstGeom prst="line">
                <a:avLst/>
              </a:prstGeom>
              <a:grpFill/>
              <a:ln w="127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3B913E6C-A166-4F23-99C0-FAF972D23041}"/>
                </a:ext>
              </a:extLst>
            </p:cNvPr>
            <p:cNvGrpSpPr/>
            <p:nvPr/>
          </p:nvGrpSpPr>
          <p:grpSpPr>
            <a:xfrm>
              <a:off x="3062639" y="3444322"/>
              <a:ext cx="144980" cy="478147"/>
              <a:chOff x="464349" y="3193307"/>
              <a:chExt cx="144980" cy="478147"/>
            </a:xfrm>
            <a:solidFill>
              <a:srgbClr val="FF0000"/>
            </a:solidFill>
          </p:grpSpPr>
          <p:sp>
            <p:nvSpPr>
              <p:cNvPr id="23" name="Oval 22">
                <a:extLst>
                  <a:ext uri="{FF2B5EF4-FFF2-40B4-BE49-F238E27FC236}">
                    <a16:creationId xmlns:a16="http://schemas.microsoft.com/office/drawing/2014/main" id="{6CDEADC4-2C3F-4D6A-B9FE-F4AF2505276A}"/>
                  </a:ext>
                </a:extLst>
              </p:cNvPr>
              <p:cNvSpPr/>
              <p:nvPr/>
            </p:nvSpPr>
            <p:spPr>
              <a:xfrm>
                <a:off x="464349" y="3523536"/>
                <a:ext cx="144980" cy="147918"/>
              </a:xfrm>
              <a:prstGeom prst="ellipse">
                <a:avLst/>
              </a:prstGeom>
              <a:gr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vert" wrap="none" rtlCol="0" anchor="ctr"/>
              <a:lstStyle/>
              <a:p>
                <a:pPr algn="ctr"/>
                <a:r>
                  <a:rPr lang="en-US" sz="800"/>
                  <a:t>OE1</a:t>
                </a:r>
              </a:p>
            </p:txBody>
          </p:sp>
          <p:cxnSp>
            <p:nvCxnSpPr>
              <p:cNvPr id="24" name="Straight Connector 23">
                <a:extLst>
                  <a:ext uri="{FF2B5EF4-FFF2-40B4-BE49-F238E27FC236}">
                    <a16:creationId xmlns:a16="http://schemas.microsoft.com/office/drawing/2014/main" id="{77A09E4D-F8B5-44BE-9191-84F2FD17A33A}"/>
                  </a:ext>
                </a:extLst>
              </p:cNvPr>
              <p:cNvCxnSpPr>
                <a:cxnSpLocks/>
              </p:cNvCxnSpPr>
              <p:nvPr/>
            </p:nvCxnSpPr>
            <p:spPr>
              <a:xfrm>
                <a:off x="536839" y="3193307"/>
                <a:ext cx="0" cy="330229"/>
              </a:xfrm>
              <a:prstGeom prst="line">
                <a:avLst/>
              </a:prstGeom>
              <a:grpFill/>
              <a:ln w="127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7BC75B5D-A89A-4407-B3EA-B606857A0D9D}"/>
                </a:ext>
              </a:extLst>
            </p:cNvPr>
            <p:cNvGrpSpPr/>
            <p:nvPr/>
          </p:nvGrpSpPr>
          <p:grpSpPr>
            <a:xfrm>
              <a:off x="3225498" y="3444322"/>
              <a:ext cx="144980" cy="478147"/>
              <a:chOff x="464349" y="3193307"/>
              <a:chExt cx="144980" cy="478147"/>
            </a:xfrm>
            <a:solidFill>
              <a:srgbClr val="FF0000"/>
            </a:solidFill>
          </p:grpSpPr>
          <p:sp>
            <p:nvSpPr>
              <p:cNvPr id="21" name="Oval 20">
                <a:extLst>
                  <a:ext uri="{FF2B5EF4-FFF2-40B4-BE49-F238E27FC236}">
                    <a16:creationId xmlns:a16="http://schemas.microsoft.com/office/drawing/2014/main" id="{D098150E-90EC-4C44-B052-4F76A2D1002C}"/>
                  </a:ext>
                </a:extLst>
              </p:cNvPr>
              <p:cNvSpPr/>
              <p:nvPr/>
            </p:nvSpPr>
            <p:spPr>
              <a:xfrm>
                <a:off x="464349" y="3523536"/>
                <a:ext cx="144980" cy="147918"/>
              </a:xfrm>
              <a:prstGeom prst="ellipse">
                <a:avLst/>
              </a:prstGeom>
              <a:gr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vert" wrap="none" rtlCol="0" anchor="ctr"/>
              <a:lstStyle/>
              <a:p>
                <a:pPr algn="ctr"/>
                <a:r>
                  <a:rPr lang="en-US" sz="800"/>
                  <a:t>OE0</a:t>
                </a:r>
              </a:p>
            </p:txBody>
          </p:sp>
          <p:cxnSp>
            <p:nvCxnSpPr>
              <p:cNvPr id="22" name="Straight Connector 21">
                <a:extLst>
                  <a:ext uri="{FF2B5EF4-FFF2-40B4-BE49-F238E27FC236}">
                    <a16:creationId xmlns:a16="http://schemas.microsoft.com/office/drawing/2014/main" id="{1B346488-4487-4834-8E51-4C57AC3F277D}"/>
                  </a:ext>
                </a:extLst>
              </p:cNvPr>
              <p:cNvCxnSpPr>
                <a:cxnSpLocks/>
              </p:cNvCxnSpPr>
              <p:nvPr/>
            </p:nvCxnSpPr>
            <p:spPr>
              <a:xfrm>
                <a:off x="536839" y="3193307"/>
                <a:ext cx="0" cy="330229"/>
              </a:xfrm>
              <a:prstGeom prst="line">
                <a:avLst/>
              </a:prstGeom>
              <a:grpFill/>
              <a:ln w="12700">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29" name="TextBox 28">
            <a:extLst>
              <a:ext uri="{FF2B5EF4-FFF2-40B4-BE49-F238E27FC236}">
                <a16:creationId xmlns:a16="http://schemas.microsoft.com/office/drawing/2014/main" id="{2FA88325-C1AD-414A-B1FE-315CDDD13C22}"/>
              </a:ext>
            </a:extLst>
          </p:cNvPr>
          <p:cNvSpPr txBox="1"/>
          <p:nvPr/>
        </p:nvSpPr>
        <p:spPr>
          <a:xfrm>
            <a:off x="552473" y="2102984"/>
            <a:ext cx="1330814" cy="577466"/>
          </a:xfrm>
          <a:prstGeom prst="rect">
            <a:avLst/>
          </a:prstGeom>
          <a:solidFill>
            <a:srgbClr val="FFFFCC"/>
          </a:solidFill>
        </p:spPr>
        <p:txBody>
          <a:bodyPr wrap="none" rtlCol="0">
            <a:spAutoFit/>
          </a:bodyPr>
          <a:lstStyle/>
          <a:p>
            <a:r>
              <a:rPr lang="en-US" sz="1051" b="1" u="sng"/>
              <a:t>Read from Register</a:t>
            </a:r>
            <a:endParaRPr lang="en-US" sz="1051"/>
          </a:p>
          <a:p>
            <a:pPr marL="171446" indent="-171446">
              <a:buFont typeface="Arial" panose="020B0604020202020204" pitchFamily="34" charset="0"/>
              <a:buChar char="•"/>
            </a:pPr>
            <a:r>
              <a:rPr lang="en-US" sz="1051"/>
              <a:t>~G Output Enable</a:t>
            </a:r>
          </a:p>
          <a:p>
            <a:pPr marL="171446" indent="-171446">
              <a:buFont typeface="Arial" panose="020B0604020202020204" pitchFamily="34" charset="0"/>
              <a:buChar char="•"/>
            </a:pPr>
            <a:r>
              <a:rPr lang="en-US" sz="1051"/>
              <a:t>A,B Register Id</a:t>
            </a:r>
          </a:p>
        </p:txBody>
      </p:sp>
      <p:grpSp>
        <p:nvGrpSpPr>
          <p:cNvPr id="32" name="Group 31">
            <a:extLst>
              <a:ext uri="{FF2B5EF4-FFF2-40B4-BE49-F238E27FC236}">
                <a16:creationId xmlns:a16="http://schemas.microsoft.com/office/drawing/2014/main" id="{E54C3567-8E5E-4A70-B0A2-3226061D5A67}"/>
              </a:ext>
            </a:extLst>
          </p:cNvPr>
          <p:cNvGrpSpPr/>
          <p:nvPr/>
        </p:nvGrpSpPr>
        <p:grpSpPr>
          <a:xfrm rot="5400000">
            <a:off x="1628031" y="3075548"/>
            <a:ext cx="406780" cy="766272"/>
            <a:chOff x="2475239" y="1839635"/>
            <a:chExt cx="325024" cy="914400"/>
          </a:xfrm>
        </p:grpSpPr>
        <p:cxnSp>
          <p:nvCxnSpPr>
            <p:cNvPr id="33" name="Straight Connector 32">
              <a:extLst>
                <a:ext uri="{FF2B5EF4-FFF2-40B4-BE49-F238E27FC236}">
                  <a16:creationId xmlns:a16="http://schemas.microsoft.com/office/drawing/2014/main" id="{E55DF350-3295-4C24-BB02-25E92BD79D2F}"/>
                </a:ext>
              </a:extLst>
            </p:cNvPr>
            <p:cNvCxnSpPr>
              <a:cxnSpLocks/>
            </p:cNvCxnSpPr>
            <p:nvPr/>
          </p:nvCxnSpPr>
          <p:spPr>
            <a:xfrm>
              <a:off x="2634864" y="1839635"/>
              <a:ext cx="0" cy="914400"/>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99B137D-3BC6-4315-9446-298532C25F48}"/>
                </a:ext>
              </a:extLst>
            </p:cNvPr>
            <p:cNvCxnSpPr>
              <a:cxnSpLocks/>
            </p:cNvCxnSpPr>
            <p:nvPr/>
          </p:nvCxnSpPr>
          <p:spPr>
            <a:xfrm>
              <a:off x="2800263" y="1839635"/>
              <a:ext cx="0" cy="914400"/>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26DCDA4-4C84-4825-9988-6FA31E728BDA}"/>
                </a:ext>
              </a:extLst>
            </p:cNvPr>
            <p:cNvCxnSpPr>
              <a:cxnSpLocks/>
            </p:cNvCxnSpPr>
            <p:nvPr/>
          </p:nvCxnSpPr>
          <p:spPr>
            <a:xfrm>
              <a:off x="2475239" y="1839635"/>
              <a:ext cx="0" cy="914400"/>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grpSp>
      <p:sp>
        <p:nvSpPr>
          <p:cNvPr id="30" name="TextBox 29">
            <a:extLst>
              <a:ext uri="{FF2B5EF4-FFF2-40B4-BE49-F238E27FC236}">
                <a16:creationId xmlns:a16="http://schemas.microsoft.com/office/drawing/2014/main" id="{68073CF0-08E7-47CF-9516-8CB18E1BB67E}"/>
              </a:ext>
            </a:extLst>
          </p:cNvPr>
          <p:cNvSpPr txBox="1"/>
          <p:nvPr/>
        </p:nvSpPr>
        <p:spPr>
          <a:xfrm>
            <a:off x="213669" y="3156915"/>
            <a:ext cx="1619354" cy="577466"/>
          </a:xfrm>
          <a:prstGeom prst="rect">
            <a:avLst/>
          </a:prstGeom>
          <a:solidFill>
            <a:srgbClr val="FFFFCC"/>
          </a:solidFill>
        </p:spPr>
        <p:txBody>
          <a:bodyPr wrap="none" rtlCol="0">
            <a:spAutoFit/>
          </a:bodyPr>
          <a:lstStyle/>
          <a:p>
            <a:r>
              <a:rPr lang="en-US" sz="1051" b="1" u="sng"/>
              <a:t>Write to Register </a:t>
            </a:r>
            <a:endParaRPr lang="en-US" sz="1051"/>
          </a:p>
          <a:p>
            <a:pPr marL="171446" indent="-171446">
              <a:buFont typeface="Arial" panose="020B0604020202020204" pitchFamily="34" charset="0"/>
              <a:buChar char="•"/>
            </a:pPr>
            <a:r>
              <a:rPr lang="en-US" sz="1051" b="1"/>
              <a:t>~G</a:t>
            </a:r>
            <a:r>
              <a:rPr lang="en-US" sz="1051"/>
              <a:t>:  Input Clock Enable</a:t>
            </a:r>
          </a:p>
          <a:p>
            <a:pPr marL="171446" indent="-171446">
              <a:buFont typeface="Arial" panose="020B0604020202020204" pitchFamily="34" charset="0"/>
              <a:buChar char="•"/>
            </a:pPr>
            <a:r>
              <a:rPr lang="en-US" sz="1051" b="1"/>
              <a:t>A,B </a:t>
            </a:r>
            <a:r>
              <a:rPr lang="en-US" sz="1051"/>
              <a:t>Register Id</a:t>
            </a:r>
          </a:p>
        </p:txBody>
      </p:sp>
      <p:cxnSp>
        <p:nvCxnSpPr>
          <p:cNvPr id="43" name="Connector: Elbow 42">
            <a:extLst>
              <a:ext uri="{FF2B5EF4-FFF2-40B4-BE49-F238E27FC236}">
                <a16:creationId xmlns:a16="http://schemas.microsoft.com/office/drawing/2014/main" id="{BF0B9CBF-C986-497A-8B67-EDD424CDCD29}"/>
              </a:ext>
            </a:extLst>
          </p:cNvPr>
          <p:cNvCxnSpPr>
            <a:cxnSpLocks/>
          </p:cNvCxnSpPr>
          <p:nvPr/>
        </p:nvCxnSpPr>
        <p:spPr>
          <a:xfrm flipV="1">
            <a:off x="4261110" y="3005424"/>
            <a:ext cx="1355279" cy="127621"/>
          </a:xfrm>
          <a:prstGeom prst="bentConnector3">
            <a:avLst/>
          </a:prstGeom>
          <a:ln>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49" name="Connector: Elbow 48">
            <a:extLst>
              <a:ext uri="{FF2B5EF4-FFF2-40B4-BE49-F238E27FC236}">
                <a16:creationId xmlns:a16="http://schemas.microsoft.com/office/drawing/2014/main" id="{EF6A1FC2-B9B1-440A-A8F0-339471DA98B1}"/>
              </a:ext>
            </a:extLst>
          </p:cNvPr>
          <p:cNvCxnSpPr>
            <a:cxnSpLocks/>
          </p:cNvCxnSpPr>
          <p:nvPr/>
        </p:nvCxnSpPr>
        <p:spPr>
          <a:xfrm>
            <a:off x="4254779" y="3499057"/>
            <a:ext cx="1375575" cy="129676"/>
          </a:xfrm>
          <a:prstGeom prst="bentConnector3">
            <a:avLst/>
          </a:prstGeom>
          <a:ln>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51" name="Connector: Elbow 50">
            <a:extLst>
              <a:ext uri="{FF2B5EF4-FFF2-40B4-BE49-F238E27FC236}">
                <a16:creationId xmlns:a16="http://schemas.microsoft.com/office/drawing/2014/main" id="{68456337-0033-47DE-B28D-574104A21106}"/>
              </a:ext>
            </a:extLst>
          </p:cNvPr>
          <p:cNvCxnSpPr>
            <a:cxnSpLocks/>
          </p:cNvCxnSpPr>
          <p:nvPr/>
        </p:nvCxnSpPr>
        <p:spPr>
          <a:xfrm>
            <a:off x="4258431" y="3702960"/>
            <a:ext cx="1371923" cy="240472"/>
          </a:xfrm>
          <a:prstGeom prst="bentConnector3">
            <a:avLst/>
          </a:prstGeom>
          <a:ln>
            <a:solidFill>
              <a:srgbClr val="7030A0"/>
            </a:solidFill>
          </a:ln>
        </p:spPr>
        <p:style>
          <a:lnRef idx="2">
            <a:schemeClr val="accent1"/>
          </a:lnRef>
          <a:fillRef idx="0">
            <a:schemeClr val="accent1"/>
          </a:fillRef>
          <a:effectRef idx="1">
            <a:schemeClr val="accent1"/>
          </a:effectRef>
          <a:fontRef idx="minor">
            <a:schemeClr val="tx1"/>
          </a:fontRef>
        </p:style>
      </p:cxnSp>
      <p:sp>
        <p:nvSpPr>
          <p:cNvPr id="53" name="TextBox 52">
            <a:hlinkClick r:id="rId8" action="ppaction://hlinksldjump"/>
            <a:extLst>
              <a:ext uri="{FF2B5EF4-FFF2-40B4-BE49-F238E27FC236}">
                <a16:creationId xmlns:a16="http://schemas.microsoft.com/office/drawing/2014/main" id="{777E339E-1862-4AD4-9EC5-CAA015772BE0}"/>
              </a:ext>
            </a:extLst>
          </p:cNvPr>
          <p:cNvSpPr txBox="1"/>
          <p:nvPr/>
        </p:nvSpPr>
        <p:spPr>
          <a:xfrm>
            <a:off x="661227" y="4521351"/>
            <a:ext cx="519694" cy="276999"/>
          </a:xfrm>
          <a:prstGeom prst="rect">
            <a:avLst/>
          </a:prstGeom>
          <a:solidFill>
            <a:srgbClr val="FFFFCC"/>
          </a:solidFill>
        </p:spPr>
        <p:txBody>
          <a:bodyPr wrap="none" rtlCol="0">
            <a:spAutoFit/>
          </a:bodyPr>
          <a:lstStyle/>
          <a:p>
            <a:r>
              <a:rPr lang="en-US" sz="1200"/>
              <a:t>Clock</a:t>
            </a:r>
          </a:p>
        </p:txBody>
      </p:sp>
      <p:cxnSp>
        <p:nvCxnSpPr>
          <p:cNvPr id="56" name="Straight Connector 55">
            <a:extLst>
              <a:ext uri="{FF2B5EF4-FFF2-40B4-BE49-F238E27FC236}">
                <a16:creationId xmlns:a16="http://schemas.microsoft.com/office/drawing/2014/main" id="{9003AEF3-A6C6-418D-BEEF-698B3B4051B8}"/>
              </a:ext>
            </a:extLst>
          </p:cNvPr>
          <p:cNvCxnSpPr>
            <a:cxnSpLocks/>
            <a:stCxn id="53" idx="3"/>
          </p:cNvCxnSpPr>
          <p:nvPr/>
        </p:nvCxnSpPr>
        <p:spPr>
          <a:xfrm>
            <a:off x="1180921" y="4659851"/>
            <a:ext cx="4117220" cy="0"/>
          </a:xfrm>
          <a:prstGeom prst="line">
            <a:avLst/>
          </a:prstGeom>
        </p:spPr>
        <p:style>
          <a:lnRef idx="2">
            <a:schemeClr val="accent3"/>
          </a:lnRef>
          <a:fillRef idx="0">
            <a:schemeClr val="accent3"/>
          </a:fillRef>
          <a:effectRef idx="1">
            <a:schemeClr val="accent3"/>
          </a:effectRef>
          <a:fontRef idx="minor">
            <a:schemeClr val="tx1"/>
          </a:fontRef>
        </p:style>
      </p:cxnSp>
      <p:grpSp>
        <p:nvGrpSpPr>
          <p:cNvPr id="62" name="Group 61">
            <a:extLst>
              <a:ext uri="{FF2B5EF4-FFF2-40B4-BE49-F238E27FC236}">
                <a16:creationId xmlns:a16="http://schemas.microsoft.com/office/drawing/2014/main" id="{CF6317F4-44DB-4E0A-97C7-9587A11A55F4}"/>
              </a:ext>
            </a:extLst>
          </p:cNvPr>
          <p:cNvGrpSpPr/>
          <p:nvPr/>
        </p:nvGrpSpPr>
        <p:grpSpPr>
          <a:xfrm>
            <a:off x="5298142" y="3133045"/>
            <a:ext cx="341175" cy="1526807"/>
            <a:chOff x="5298141" y="3133044"/>
            <a:chExt cx="341175" cy="1526806"/>
          </a:xfrm>
        </p:grpSpPr>
        <p:cxnSp>
          <p:nvCxnSpPr>
            <p:cNvPr id="58" name="Straight Connector 57">
              <a:extLst>
                <a:ext uri="{FF2B5EF4-FFF2-40B4-BE49-F238E27FC236}">
                  <a16:creationId xmlns:a16="http://schemas.microsoft.com/office/drawing/2014/main" id="{6AB143BB-33C6-4119-BFBA-CD2B33BE3BA1}"/>
                </a:ext>
              </a:extLst>
            </p:cNvPr>
            <p:cNvCxnSpPr/>
            <p:nvPr/>
          </p:nvCxnSpPr>
          <p:spPr>
            <a:xfrm>
              <a:off x="5298141" y="3133044"/>
              <a:ext cx="0" cy="1526806"/>
            </a:xfrm>
            <a:prstGeom prst="line">
              <a:avLst/>
            </a:prstGeom>
          </p:spPr>
          <p:style>
            <a:lnRef idx="2">
              <a:schemeClr val="accent3"/>
            </a:lnRef>
            <a:fillRef idx="0">
              <a:schemeClr val="accent3"/>
            </a:fillRef>
            <a:effectRef idx="1">
              <a:schemeClr val="accent3"/>
            </a:effectRef>
            <a:fontRef idx="minor">
              <a:schemeClr val="tx1"/>
            </a:fontRef>
          </p:style>
        </p:cxnSp>
        <p:cxnSp>
          <p:nvCxnSpPr>
            <p:cNvPr id="61" name="Straight Connector 60">
              <a:extLst>
                <a:ext uri="{FF2B5EF4-FFF2-40B4-BE49-F238E27FC236}">
                  <a16:creationId xmlns:a16="http://schemas.microsoft.com/office/drawing/2014/main" id="{FEDE8476-2813-4294-961B-8279CD8DE759}"/>
                </a:ext>
              </a:extLst>
            </p:cNvPr>
            <p:cNvCxnSpPr/>
            <p:nvPr/>
          </p:nvCxnSpPr>
          <p:spPr>
            <a:xfrm flipH="1">
              <a:off x="5298141" y="3133044"/>
              <a:ext cx="332212" cy="0"/>
            </a:xfrm>
            <a:prstGeom prst="line">
              <a:avLst/>
            </a:prstGeom>
          </p:spPr>
          <p:style>
            <a:lnRef idx="2">
              <a:schemeClr val="accent3"/>
            </a:lnRef>
            <a:fillRef idx="0">
              <a:schemeClr val="accent3"/>
            </a:fillRef>
            <a:effectRef idx="1">
              <a:schemeClr val="accent3"/>
            </a:effectRef>
            <a:fontRef idx="minor">
              <a:schemeClr val="tx1"/>
            </a:fontRef>
          </p:style>
        </p:cxnSp>
        <p:cxnSp>
          <p:nvCxnSpPr>
            <p:cNvPr id="63" name="Straight Connector 62">
              <a:extLst>
                <a:ext uri="{FF2B5EF4-FFF2-40B4-BE49-F238E27FC236}">
                  <a16:creationId xmlns:a16="http://schemas.microsoft.com/office/drawing/2014/main" id="{59EEA86F-C1AF-41EE-B10A-87ACA11240E3}"/>
                </a:ext>
              </a:extLst>
            </p:cNvPr>
            <p:cNvCxnSpPr/>
            <p:nvPr/>
          </p:nvCxnSpPr>
          <p:spPr>
            <a:xfrm flipH="1">
              <a:off x="5302629" y="3415426"/>
              <a:ext cx="332212" cy="0"/>
            </a:xfrm>
            <a:prstGeom prst="line">
              <a:avLst/>
            </a:prstGeom>
            <a:ln>
              <a:headEnd type="none"/>
              <a:tailEnd type="oval"/>
            </a:ln>
          </p:spPr>
          <p:style>
            <a:lnRef idx="2">
              <a:schemeClr val="accent3"/>
            </a:lnRef>
            <a:fillRef idx="0">
              <a:schemeClr val="accent3"/>
            </a:fillRef>
            <a:effectRef idx="1">
              <a:schemeClr val="accent3"/>
            </a:effectRef>
            <a:fontRef idx="minor">
              <a:schemeClr val="tx1"/>
            </a:fontRef>
          </p:style>
        </p:cxnSp>
        <p:cxnSp>
          <p:nvCxnSpPr>
            <p:cNvPr id="64" name="Straight Connector 63">
              <a:extLst>
                <a:ext uri="{FF2B5EF4-FFF2-40B4-BE49-F238E27FC236}">
                  <a16:creationId xmlns:a16="http://schemas.microsoft.com/office/drawing/2014/main" id="{7F79E3AF-6DA6-40F9-B6AC-83333128B86B}"/>
                </a:ext>
              </a:extLst>
            </p:cNvPr>
            <p:cNvCxnSpPr/>
            <p:nvPr/>
          </p:nvCxnSpPr>
          <p:spPr>
            <a:xfrm flipH="1">
              <a:off x="5307104" y="3724711"/>
              <a:ext cx="332212" cy="0"/>
            </a:xfrm>
            <a:prstGeom prst="line">
              <a:avLst/>
            </a:prstGeom>
            <a:ln>
              <a:headEnd type="none"/>
              <a:tailEnd type="oval"/>
            </a:ln>
          </p:spPr>
          <p:style>
            <a:lnRef idx="2">
              <a:schemeClr val="accent3"/>
            </a:lnRef>
            <a:fillRef idx="0">
              <a:schemeClr val="accent3"/>
            </a:fillRef>
            <a:effectRef idx="1">
              <a:schemeClr val="accent3"/>
            </a:effectRef>
            <a:fontRef idx="minor">
              <a:schemeClr val="tx1"/>
            </a:fontRef>
          </p:style>
        </p:cxnSp>
        <p:cxnSp>
          <p:nvCxnSpPr>
            <p:cNvPr id="65" name="Straight Connector 64">
              <a:extLst>
                <a:ext uri="{FF2B5EF4-FFF2-40B4-BE49-F238E27FC236}">
                  <a16:creationId xmlns:a16="http://schemas.microsoft.com/office/drawing/2014/main" id="{EBF59606-F021-45FE-8F01-F1FD4A7486BF}"/>
                </a:ext>
              </a:extLst>
            </p:cNvPr>
            <p:cNvCxnSpPr/>
            <p:nvPr/>
          </p:nvCxnSpPr>
          <p:spPr>
            <a:xfrm flipH="1">
              <a:off x="5302626" y="4038471"/>
              <a:ext cx="332212" cy="0"/>
            </a:xfrm>
            <a:prstGeom prst="line">
              <a:avLst/>
            </a:prstGeom>
            <a:ln>
              <a:headEnd type="none"/>
              <a:tailEnd type="oval"/>
            </a:ln>
          </p:spPr>
          <p:style>
            <a:lnRef idx="2">
              <a:schemeClr val="accent3"/>
            </a:lnRef>
            <a:fillRef idx="0">
              <a:schemeClr val="accent3"/>
            </a:fillRef>
            <a:effectRef idx="1">
              <a:schemeClr val="accent3"/>
            </a:effectRef>
            <a:fontRef idx="minor">
              <a:schemeClr val="tx1"/>
            </a:fontRef>
          </p:style>
        </p:cxnSp>
      </p:grpSp>
      <p:cxnSp>
        <p:nvCxnSpPr>
          <p:cNvPr id="68" name="Straight Connector 67">
            <a:extLst>
              <a:ext uri="{FF2B5EF4-FFF2-40B4-BE49-F238E27FC236}">
                <a16:creationId xmlns:a16="http://schemas.microsoft.com/office/drawing/2014/main" id="{5D625DB4-8705-41D1-AA59-EEE9C6A3B064}"/>
              </a:ext>
            </a:extLst>
          </p:cNvPr>
          <p:cNvCxnSpPr>
            <a:endCxn id="39" idx="1"/>
          </p:cNvCxnSpPr>
          <p:nvPr/>
        </p:nvCxnSpPr>
        <p:spPr>
          <a:xfrm>
            <a:off x="4254780" y="3316941"/>
            <a:ext cx="1382195" cy="0"/>
          </a:xfrm>
          <a:prstGeom prst="line">
            <a:avLst/>
          </a:prstGeom>
          <a:ln>
            <a:solidFill>
              <a:srgbClr val="7030A0"/>
            </a:solidFill>
          </a:ln>
        </p:spPr>
        <p:style>
          <a:lnRef idx="2">
            <a:schemeClr val="accent1"/>
          </a:lnRef>
          <a:fillRef idx="0">
            <a:schemeClr val="accent1"/>
          </a:fillRef>
          <a:effectRef idx="1">
            <a:schemeClr val="accent1"/>
          </a:effectRef>
          <a:fontRef idx="minor">
            <a:schemeClr val="tx1"/>
          </a:fontRef>
        </p:style>
      </p:cxnSp>
      <p:sp>
        <p:nvSpPr>
          <p:cNvPr id="70" name="Oval 69">
            <a:extLst>
              <a:ext uri="{FF2B5EF4-FFF2-40B4-BE49-F238E27FC236}">
                <a16:creationId xmlns:a16="http://schemas.microsoft.com/office/drawing/2014/main" id="{B0E9F216-D78B-45C3-AB05-2AEAA1E8950A}"/>
              </a:ext>
            </a:extLst>
          </p:cNvPr>
          <p:cNvSpPr/>
          <p:nvPr/>
        </p:nvSpPr>
        <p:spPr>
          <a:xfrm rot="5400000">
            <a:off x="6298775" y="3607142"/>
            <a:ext cx="144980" cy="1479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vert="vert270" wrap="none" rtlCol="0" anchor="ctr"/>
          <a:lstStyle/>
          <a:p>
            <a:pPr algn="ctr"/>
            <a:r>
              <a:rPr lang="en-US" sz="800"/>
              <a:t>C2</a:t>
            </a:r>
          </a:p>
        </p:txBody>
      </p:sp>
      <p:sp>
        <p:nvSpPr>
          <p:cNvPr id="71" name="Oval 70">
            <a:extLst>
              <a:ext uri="{FF2B5EF4-FFF2-40B4-BE49-F238E27FC236}">
                <a16:creationId xmlns:a16="http://schemas.microsoft.com/office/drawing/2014/main" id="{4D6DF45F-0D58-43E8-9FC2-12C588AF7BB8}"/>
              </a:ext>
            </a:extLst>
          </p:cNvPr>
          <p:cNvSpPr/>
          <p:nvPr/>
        </p:nvSpPr>
        <p:spPr>
          <a:xfrm rot="5400000">
            <a:off x="6298775" y="3917143"/>
            <a:ext cx="144980" cy="1479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vert="vert270" wrap="none" rtlCol="0" anchor="ctr"/>
          <a:lstStyle/>
          <a:p>
            <a:pPr algn="ctr"/>
            <a:r>
              <a:rPr lang="en-US" sz="800"/>
              <a:t>C3</a:t>
            </a:r>
          </a:p>
        </p:txBody>
      </p:sp>
      <p:sp>
        <p:nvSpPr>
          <p:cNvPr id="72" name="Oval 71">
            <a:extLst>
              <a:ext uri="{FF2B5EF4-FFF2-40B4-BE49-F238E27FC236}">
                <a16:creationId xmlns:a16="http://schemas.microsoft.com/office/drawing/2014/main" id="{43150426-23F8-4E44-AB02-1E2AF1F9B561}"/>
              </a:ext>
            </a:extLst>
          </p:cNvPr>
          <p:cNvSpPr/>
          <p:nvPr/>
        </p:nvSpPr>
        <p:spPr>
          <a:xfrm rot="5400000">
            <a:off x="6307743" y="2984102"/>
            <a:ext cx="144980" cy="1479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vert="vert270" wrap="none" rtlCol="0" anchor="ctr"/>
          <a:lstStyle/>
          <a:p>
            <a:pPr algn="ctr"/>
            <a:r>
              <a:rPr lang="en-US" sz="800"/>
              <a:t>C0</a:t>
            </a:r>
          </a:p>
        </p:txBody>
      </p:sp>
      <p:sp>
        <p:nvSpPr>
          <p:cNvPr id="73" name="Oval 72">
            <a:extLst>
              <a:ext uri="{FF2B5EF4-FFF2-40B4-BE49-F238E27FC236}">
                <a16:creationId xmlns:a16="http://schemas.microsoft.com/office/drawing/2014/main" id="{B6F7839A-BC55-4C37-A261-82FD3595FE52}"/>
              </a:ext>
            </a:extLst>
          </p:cNvPr>
          <p:cNvSpPr/>
          <p:nvPr/>
        </p:nvSpPr>
        <p:spPr>
          <a:xfrm rot="5400000">
            <a:off x="6307743" y="3294102"/>
            <a:ext cx="144980" cy="1479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vert="vert270" wrap="none" rtlCol="0" anchor="ctr"/>
          <a:lstStyle/>
          <a:p>
            <a:pPr algn="ctr"/>
            <a:r>
              <a:rPr lang="en-US" sz="800"/>
              <a:t>C1</a:t>
            </a:r>
          </a:p>
        </p:txBody>
      </p:sp>
      <p:cxnSp>
        <p:nvCxnSpPr>
          <p:cNvPr id="74" name="Connector: Elbow 73">
            <a:extLst>
              <a:ext uri="{FF2B5EF4-FFF2-40B4-BE49-F238E27FC236}">
                <a16:creationId xmlns:a16="http://schemas.microsoft.com/office/drawing/2014/main" id="{78584957-5A48-4211-8210-65DCC68902B3}"/>
              </a:ext>
            </a:extLst>
          </p:cNvPr>
          <p:cNvCxnSpPr>
            <a:stCxn id="72" idx="0"/>
          </p:cNvCxnSpPr>
          <p:nvPr/>
        </p:nvCxnSpPr>
        <p:spPr>
          <a:xfrm>
            <a:off x="6454192" y="3058061"/>
            <a:ext cx="2277432" cy="2078716"/>
          </a:xfrm>
          <a:prstGeom prst="bentConnector3">
            <a:avLst/>
          </a:prstGeom>
          <a:ln>
            <a:solidFill>
              <a:srgbClr val="7030A0"/>
            </a:solidFill>
            <a:tailEnd type="oval"/>
          </a:ln>
        </p:spPr>
        <p:style>
          <a:lnRef idx="2">
            <a:schemeClr val="accent5"/>
          </a:lnRef>
          <a:fillRef idx="0">
            <a:schemeClr val="accent5"/>
          </a:fillRef>
          <a:effectRef idx="1">
            <a:schemeClr val="accent5"/>
          </a:effectRef>
          <a:fontRef idx="minor">
            <a:schemeClr val="tx1"/>
          </a:fontRef>
        </p:style>
      </p:cxnSp>
      <p:sp>
        <p:nvSpPr>
          <p:cNvPr id="54" name="TextBox 53">
            <a:hlinkClick r:id="rId9" action="ppaction://hlinksldjump"/>
            <a:extLst>
              <a:ext uri="{FF2B5EF4-FFF2-40B4-BE49-F238E27FC236}">
                <a16:creationId xmlns:a16="http://schemas.microsoft.com/office/drawing/2014/main" id="{736E1874-8E79-AA2B-8F7E-6CB79B432459}"/>
              </a:ext>
            </a:extLst>
          </p:cNvPr>
          <p:cNvSpPr txBox="1"/>
          <p:nvPr/>
        </p:nvSpPr>
        <p:spPr>
          <a:xfrm>
            <a:off x="766001" y="2280619"/>
            <a:ext cx="1029449" cy="254044"/>
          </a:xfrm>
          <a:prstGeom prst="rect">
            <a:avLst/>
          </a:prstGeom>
          <a:solidFill>
            <a:schemeClr val="bg1"/>
          </a:solidFill>
          <a:ln>
            <a:solidFill>
              <a:schemeClr val="accent1"/>
            </a:solidFill>
          </a:ln>
        </p:spPr>
        <p:txBody>
          <a:bodyPr wrap="none" rtlCol="0" anchor="ctr">
            <a:spAutoFit/>
          </a:bodyPr>
          <a:lstStyle/>
          <a:p>
            <a:r>
              <a:rPr lang="en-US" sz="1051"/>
              <a:t>R.O. Select Low</a:t>
            </a:r>
          </a:p>
        </p:txBody>
      </p:sp>
      <p:sp>
        <p:nvSpPr>
          <p:cNvPr id="55" name="TextBox 54">
            <a:hlinkClick r:id="rId9" action="ppaction://hlinksldjump"/>
            <a:extLst>
              <a:ext uri="{FF2B5EF4-FFF2-40B4-BE49-F238E27FC236}">
                <a16:creationId xmlns:a16="http://schemas.microsoft.com/office/drawing/2014/main" id="{2ACF75C3-D8F5-175E-3CFE-F40B28E03F77}"/>
              </a:ext>
            </a:extLst>
          </p:cNvPr>
          <p:cNvSpPr txBox="1"/>
          <p:nvPr/>
        </p:nvSpPr>
        <p:spPr>
          <a:xfrm>
            <a:off x="740353" y="2472296"/>
            <a:ext cx="1055097" cy="254044"/>
          </a:xfrm>
          <a:prstGeom prst="rect">
            <a:avLst/>
          </a:prstGeom>
          <a:solidFill>
            <a:schemeClr val="bg1"/>
          </a:solidFill>
          <a:ln>
            <a:solidFill>
              <a:schemeClr val="accent1"/>
            </a:solidFill>
          </a:ln>
        </p:spPr>
        <p:txBody>
          <a:bodyPr wrap="none" rtlCol="0" anchor="ctr">
            <a:spAutoFit/>
          </a:bodyPr>
          <a:lstStyle/>
          <a:p>
            <a:r>
              <a:rPr lang="en-US" sz="1051">
                <a:hlinkClick r:id="rId9" action="ppaction://hlinksldjump"/>
              </a:rPr>
              <a:t>R</a:t>
            </a:r>
            <a:r>
              <a:rPr lang="en-US" sz="1051"/>
              <a:t>.O. Select High</a:t>
            </a:r>
          </a:p>
        </p:txBody>
      </p:sp>
      <p:sp>
        <p:nvSpPr>
          <p:cNvPr id="59" name="TextBox 58">
            <a:hlinkClick r:id="rId8" action="ppaction://hlinksldjump"/>
            <a:extLst>
              <a:ext uri="{FF2B5EF4-FFF2-40B4-BE49-F238E27FC236}">
                <a16:creationId xmlns:a16="http://schemas.microsoft.com/office/drawing/2014/main" id="{DF3EA9B8-B579-96EF-CDAF-36FF8450B37F}"/>
              </a:ext>
            </a:extLst>
          </p:cNvPr>
          <p:cNvSpPr txBox="1"/>
          <p:nvPr/>
        </p:nvSpPr>
        <p:spPr>
          <a:xfrm>
            <a:off x="654009" y="4502496"/>
            <a:ext cx="865943" cy="307777"/>
          </a:xfrm>
          <a:prstGeom prst="rect">
            <a:avLst/>
          </a:prstGeom>
          <a:solidFill>
            <a:schemeClr val="bg1"/>
          </a:solidFill>
          <a:ln>
            <a:solidFill>
              <a:schemeClr val="accent1"/>
            </a:solidFill>
          </a:ln>
        </p:spPr>
        <p:txBody>
          <a:bodyPr wrap="none" rtlCol="0">
            <a:spAutoFit/>
          </a:bodyPr>
          <a:lstStyle/>
          <a:p>
            <a:r>
              <a:rPr lang="en-US" sz="1400"/>
              <a:t>Main CLK</a:t>
            </a:r>
          </a:p>
        </p:txBody>
      </p:sp>
      <p:grpSp>
        <p:nvGrpSpPr>
          <p:cNvPr id="60" name="Group 59">
            <a:extLst>
              <a:ext uri="{FF2B5EF4-FFF2-40B4-BE49-F238E27FC236}">
                <a16:creationId xmlns:a16="http://schemas.microsoft.com/office/drawing/2014/main" id="{9CB6F7E2-FAB4-B81D-F437-EE2AFFE3EB09}"/>
              </a:ext>
            </a:extLst>
          </p:cNvPr>
          <p:cNvGrpSpPr/>
          <p:nvPr/>
        </p:nvGrpSpPr>
        <p:grpSpPr>
          <a:xfrm>
            <a:off x="469311" y="3540429"/>
            <a:ext cx="1463040" cy="182880"/>
            <a:chOff x="9859776" y="1158931"/>
            <a:chExt cx="1463040" cy="182880"/>
          </a:xfrm>
        </p:grpSpPr>
        <p:sp>
          <p:nvSpPr>
            <p:cNvPr id="66" name="Rectangle 65">
              <a:hlinkClick r:id="rId8" action="ppaction://hlinksldjump"/>
              <a:extLst>
                <a:ext uri="{FF2B5EF4-FFF2-40B4-BE49-F238E27FC236}">
                  <a16:creationId xmlns:a16="http://schemas.microsoft.com/office/drawing/2014/main" id="{9B180D3C-4935-6D3D-4B48-3614D27A84C3}"/>
                </a:ext>
              </a:extLst>
            </p:cNvPr>
            <p:cNvSpPr/>
            <p:nvPr/>
          </p:nvSpPr>
          <p:spPr>
            <a:xfrm>
              <a:off x="9859776" y="115893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5. Reg In </a:t>
              </a:r>
              <a:r>
                <a:rPr lang="en-US" sz="1200" err="1"/>
                <a:t>En</a:t>
              </a:r>
              <a:endParaRPr lang="en-US" sz="1200"/>
            </a:p>
          </p:txBody>
        </p:sp>
        <p:cxnSp>
          <p:nvCxnSpPr>
            <p:cNvPr id="67" name="Straight Connector 66">
              <a:extLst>
                <a:ext uri="{FF2B5EF4-FFF2-40B4-BE49-F238E27FC236}">
                  <a16:creationId xmlns:a16="http://schemas.microsoft.com/office/drawing/2014/main" id="{68FBFD55-6567-C745-CDB7-04F0DD97B4CB}"/>
                </a:ext>
              </a:extLst>
            </p:cNvPr>
            <p:cNvCxnSpPr>
              <a:cxnSpLocks/>
            </p:cNvCxnSpPr>
            <p:nvPr/>
          </p:nvCxnSpPr>
          <p:spPr>
            <a:xfrm flipV="1">
              <a:off x="10068793" y="1186643"/>
              <a:ext cx="5987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9" name="Group 68">
            <a:extLst>
              <a:ext uri="{FF2B5EF4-FFF2-40B4-BE49-F238E27FC236}">
                <a16:creationId xmlns:a16="http://schemas.microsoft.com/office/drawing/2014/main" id="{EE6C2494-335E-4D11-AC55-E3728820B70C}"/>
              </a:ext>
            </a:extLst>
          </p:cNvPr>
          <p:cNvGrpSpPr/>
          <p:nvPr/>
        </p:nvGrpSpPr>
        <p:grpSpPr>
          <a:xfrm>
            <a:off x="332408" y="2731469"/>
            <a:ext cx="1463040" cy="182880"/>
            <a:chOff x="9859776" y="1158931"/>
            <a:chExt cx="1463040" cy="182880"/>
          </a:xfrm>
        </p:grpSpPr>
        <p:sp>
          <p:nvSpPr>
            <p:cNvPr id="75" name="Rectangle 74">
              <a:hlinkClick r:id="rId8" action="ppaction://hlinksldjump"/>
              <a:extLst>
                <a:ext uri="{FF2B5EF4-FFF2-40B4-BE49-F238E27FC236}">
                  <a16:creationId xmlns:a16="http://schemas.microsoft.com/office/drawing/2014/main" id="{F943E187-D669-18A3-E8C6-A7EF14B90AA9}"/>
                </a:ext>
              </a:extLst>
            </p:cNvPr>
            <p:cNvSpPr/>
            <p:nvPr/>
          </p:nvSpPr>
          <p:spPr>
            <a:xfrm>
              <a:off x="9859776" y="115893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4. Reg Out </a:t>
              </a:r>
              <a:r>
                <a:rPr lang="en-US" sz="1200" err="1"/>
                <a:t>En</a:t>
              </a:r>
              <a:endParaRPr lang="en-US" sz="1200"/>
            </a:p>
          </p:txBody>
        </p:sp>
        <p:cxnSp>
          <p:nvCxnSpPr>
            <p:cNvPr id="76" name="Straight Connector 75">
              <a:extLst>
                <a:ext uri="{FF2B5EF4-FFF2-40B4-BE49-F238E27FC236}">
                  <a16:creationId xmlns:a16="http://schemas.microsoft.com/office/drawing/2014/main" id="{A2BCE197-6A5B-7351-4CD0-4E3EB214DAEE}"/>
                </a:ext>
              </a:extLst>
            </p:cNvPr>
            <p:cNvCxnSpPr>
              <a:cxnSpLocks/>
            </p:cNvCxnSpPr>
            <p:nvPr/>
          </p:nvCxnSpPr>
          <p:spPr>
            <a:xfrm flipV="1">
              <a:off x="10068793" y="1186643"/>
              <a:ext cx="5987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6" name="Slide Number Placeholder 4">
            <a:extLst>
              <a:ext uri="{FF2B5EF4-FFF2-40B4-BE49-F238E27FC236}">
                <a16:creationId xmlns:a16="http://schemas.microsoft.com/office/drawing/2014/main" id="{431C9557-DFD6-5C46-99B7-F35FF3D9AF89}"/>
              </a:ext>
            </a:extLst>
          </p:cNvPr>
          <p:cNvSpPr txBox="1">
            <a:spLocks/>
          </p:cNvSpPr>
          <p:nvPr/>
        </p:nvSpPr>
        <p:spPr>
          <a:xfrm>
            <a:off x="9361051" y="6544422"/>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100</a:t>
            </a:fld>
            <a:endParaRPr lang="en-US" b="1">
              <a:solidFill>
                <a:schemeClr val="bg1"/>
              </a:solidFill>
            </a:endParaRPr>
          </a:p>
        </p:txBody>
      </p:sp>
      <p:grpSp>
        <p:nvGrpSpPr>
          <p:cNvPr id="3" name="Group 2">
            <a:extLst>
              <a:ext uri="{FF2B5EF4-FFF2-40B4-BE49-F238E27FC236}">
                <a16:creationId xmlns:a16="http://schemas.microsoft.com/office/drawing/2014/main" id="{B8F2597B-8D93-1E00-7BDF-3FAFDD7C554E}"/>
              </a:ext>
            </a:extLst>
          </p:cNvPr>
          <p:cNvGrpSpPr/>
          <p:nvPr/>
        </p:nvGrpSpPr>
        <p:grpSpPr>
          <a:xfrm>
            <a:off x="469311" y="3337560"/>
            <a:ext cx="1463040" cy="182880"/>
            <a:chOff x="9859776" y="1158931"/>
            <a:chExt cx="1463040" cy="182880"/>
          </a:xfrm>
        </p:grpSpPr>
        <p:sp>
          <p:nvSpPr>
            <p:cNvPr id="4" name="Rectangle 3">
              <a:hlinkClick r:id="rId10" action="ppaction://hlinksldjump"/>
              <a:extLst>
                <a:ext uri="{FF2B5EF4-FFF2-40B4-BE49-F238E27FC236}">
                  <a16:creationId xmlns:a16="http://schemas.microsoft.com/office/drawing/2014/main" id="{9DA07C38-50EC-2B06-F98F-F1D6E7CFCBA3}"/>
                </a:ext>
              </a:extLst>
            </p:cNvPr>
            <p:cNvSpPr/>
            <p:nvPr/>
          </p:nvSpPr>
          <p:spPr>
            <a:xfrm>
              <a:off x="9859776" y="115893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OpCode [7:6] Rd</a:t>
              </a:r>
            </a:p>
          </p:txBody>
        </p:sp>
        <p:cxnSp>
          <p:nvCxnSpPr>
            <p:cNvPr id="8" name="Straight Connector 7">
              <a:extLst>
                <a:ext uri="{FF2B5EF4-FFF2-40B4-BE49-F238E27FC236}">
                  <a16:creationId xmlns:a16="http://schemas.microsoft.com/office/drawing/2014/main" id="{52B5C7EC-CCED-7E5B-E6B3-3F7359F33023}"/>
                </a:ext>
              </a:extLst>
            </p:cNvPr>
            <p:cNvCxnSpPr>
              <a:cxnSpLocks/>
            </p:cNvCxnSpPr>
            <p:nvPr/>
          </p:nvCxnSpPr>
          <p:spPr>
            <a:xfrm flipV="1">
              <a:off x="10068793" y="1186643"/>
              <a:ext cx="5987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09759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angle 73">
            <a:extLst>
              <a:ext uri="{FF2B5EF4-FFF2-40B4-BE49-F238E27FC236}">
                <a16:creationId xmlns:a16="http://schemas.microsoft.com/office/drawing/2014/main" id="{02408726-8F3C-4D63-B0A5-CC8CCC6F4E70}"/>
              </a:ext>
            </a:extLst>
          </p:cNvPr>
          <p:cNvSpPr/>
          <p:nvPr/>
        </p:nvSpPr>
        <p:spPr>
          <a:xfrm>
            <a:off x="5242347" y="4362221"/>
            <a:ext cx="304800" cy="1754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38842BFB-FD3A-421E-ADE3-027CA9EC7517}"/>
              </a:ext>
            </a:extLst>
          </p:cNvPr>
          <p:cNvSpPr/>
          <p:nvPr/>
        </p:nvSpPr>
        <p:spPr>
          <a:xfrm>
            <a:off x="5594008" y="2423223"/>
            <a:ext cx="197163" cy="2920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56EE3AC3-0156-4ED6-A3EC-DC4F900602DB}"/>
              </a:ext>
            </a:extLst>
          </p:cNvPr>
          <p:cNvSpPr/>
          <p:nvPr/>
        </p:nvSpPr>
        <p:spPr>
          <a:xfrm>
            <a:off x="5629088" y="4339189"/>
            <a:ext cx="127003" cy="2405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B3891462-E653-4B1A-90BD-C5D8C8272DEC}"/>
              </a:ext>
            </a:extLst>
          </p:cNvPr>
          <p:cNvSpPr/>
          <p:nvPr/>
        </p:nvSpPr>
        <p:spPr>
          <a:xfrm>
            <a:off x="5948049" y="4339189"/>
            <a:ext cx="127003" cy="2405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B0B95ECA-7F24-47BD-BB12-B9A639948174}"/>
              </a:ext>
            </a:extLst>
          </p:cNvPr>
          <p:cNvSpPr/>
          <p:nvPr/>
        </p:nvSpPr>
        <p:spPr>
          <a:xfrm>
            <a:off x="6267012" y="4339189"/>
            <a:ext cx="127003" cy="2405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78556CB9-1D2A-481E-A19E-AE5A87865CDF}"/>
              </a:ext>
            </a:extLst>
          </p:cNvPr>
          <p:cNvSpPr/>
          <p:nvPr/>
        </p:nvSpPr>
        <p:spPr>
          <a:xfrm>
            <a:off x="6585973" y="4339189"/>
            <a:ext cx="127003" cy="2405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D3B70D5-66A6-486F-AAC1-F2CD9895DBA4}"/>
              </a:ext>
            </a:extLst>
          </p:cNvPr>
          <p:cNvSpPr/>
          <p:nvPr/>
        </p:nvSpPr>
        <p:spPr>
          <a:xfrm>
            <a:off x="5947028" y="2463132"/>
            <a:ext cx="127003" cy="2405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BB262646-A44B-4823-9AC7-CD8C29231D4C}"/>
              </a:ext>
            </a:extLst>
          </p:cNvPr>
          <p:cNvSpPr/>
          <p:nvPr/>
        </p:nvSpPr>
        <p:spPr>
          <a:xfrm>
            <a:off x="6265989" y="2463132"/>
            <a:ext cx="127003" cy="2405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03340C0B-2215-4F0D-99F9-6685DF8679F3}"/>
              </a:ext>
            </a:extLst>
          </p:cNvPr>
          <p:cNvSpPr/>
          <p:nvPr/>
        </p:nvSpPr>
        <p:spPr>
          <a:xfrm>
            <a:off x="6584952" y="2463132"/>
            <a:ext cx="127003" cy="2405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B60BC8D7-E2F3-4E48-9504-6A8EFDE25E0A}"/>
              </a:ext>
            </a:extLst>
          </p:cNvPr>
          <p:cNvSpPr/>
          <p:nvPr/>
        </p:nvSpPr>
        <p:spPr>
          <a:xfrm>
            <a:off x="6903913" y="2463132"/>
            <a:ext cx="127003" cy="2405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D9E071D2-0B34-4C52-9904-A6C8EB755657}"/>
              </a:ext>
            </a:extLst>
          </p:cNvPr>
          <p:cNvSpPr/>
          <p:nvPr/>
        </p:nvSpPr>
        <p:spPr>
          <a:xfrm>
            <a:off x="7108091" y="2358186"/>
            <a:ext cx="304800" cy="2555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2DB7795-5C56-49FA-8EDF-68422CCB782D}"/>
              </a:ext>
            </a:extLst>
          </p:cNvPr>
          <p:cNvSpPr/>
          <p:nvPr/>
        </p:nvSpPr>
        <p:spPr>
          <a:xfrm>
            <a:off x="6815015" y="4276870"/>
            <a:ext cx="304800" cy="2555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CEDADA86-D5F0-4031-22B4-1A4D61FC69CD}"/>
              </a:ext>
            </a:extLst>
          </p:cNvPr>
          <p:cNvSpPr>
            <a:spLocks noGrp="1"/>
          </p:cNvSpPr>
          <p:nvPr>
            <p:ph type="ctrTitle"/>
          </p:nvPr>
        </p:nvSpPr>
        <p:spPr>
          <a:xfrm>
            <a:off x="7444527" y="457200"/>
            <a:ext cx="3840480" cy="457200"/>
          </a:xfrm>
        </p:spPr>
        <p:txBody>
          <a:bodyPr/>
          <a:lstStyle/>
          <a:p>
            <a:r>
              <a:rPr lang="en-US"/>
              <a:t>Register Out (RO) Select</a:t>
            </a:r>
          </a:p>
        </p:txBody>
      </p:sp>
      <p:grpSp>
        <p:nvGrpSpPr>
          <p:cNvPr id="2" name="Group 1">
            <a:extLst>
              <a:ext uri="{FF2B5EF4-FFF2-40B4-BE49-F238E27FC236}">
                <a16:creationId xmlns:a16="http://schemas.microsoft.com/office/drawing/2014/main" id="{C9C921FA-B972-4867-BD23-75C16F193495}"/>
              </a:ext>
            </a:extLst>
          </p:cNvPr>
          <p:cNvGrpSpPr/>
          <p:nvPr/>
        </p:nvGrpSpPr>
        <p:grpSpPr>
          <a:xfrm>
            <a:off x="4723119" y="2063134"/>
            <a:ext cx="3390900" cy="2876551"/>
            <a:chOff x="4723118" y="2063133"/>
            <a:chExt cx="3390900" cy="2876550"/>
          </a:xfrm>
        </p:grpSpPr>
        <p:pic>
          <p:nvPicPr>
            <p:cNvPr id="1026" name="Picture 2" descr="74HC153 ( Dual 4-input Multiplexer) – Future Electronics Egypt">
              <a:extLst>
                <a:ext uri="{FF2B5EF4-FFF2-40B4-BE49-F238E27FC236}">
                  <a16:creationId xmlns:a16="http://schemas.microsoft.com/office/drawing/2014/main" id="{9D1CA221-C151-4C88-A50A-00CBCA8B95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4980293" y="1805958"/>
              <a:ext cx="2876550" cy="3390900"/>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47F5E05F-6C74-49DA-BC3E-E4F34FF49762}"/>
                </a:ext>
              </a:extLst>
            </p:cNvPr>
            <p:cNvSpPr txBox="1"/>
            <p:nvPr/>
          </p:nvSpPr>
          <p:spPr>
            <a:xfrm>
              <a:off x="5884509" y="2967335"/>
              <a:ext cx="1061431" cy="923330"/>
            </a:xfrm>
            <a:prstGeom prst="rect">
              <a:avLst/>
            </a:prstGeom>
            <a:noFill/>
            <a:ln>
              <a:solidFill>
                <a:schemeClr val="accent1">
                  <a:lumMod val="75000"/>
                </a:schemeClr>
              </a:solidFill>
            </a:ln>
          </p:spPr>
          <p:txBody>
            <a:bodyPr wrap="square" rtlCol="0">
              <a:spAutoFit/>
            </a:bodyPr>
            <a:lstStyle/>
            <a:p>
              <a:r>
                <a:rPr lang="en-US"/>
                <a:t>74HC153</a:t>
              </a:r>
            </a:p>
            <a:p>
              <a:r>
                <a:rPr lang="en-US"/>
                <a:t>Dual </a:t>
              </a:r>
            </a:p>
            <a:p>
              <a:r>
                <a:rPr lang="en-US"/>
                <a:t>4:1 MUX</a:t>
              </a:r>
            </a:p>
          </p:txBody>
        </p:sp>
      </p:grpSp>
      <p:cxnSp>
        <p:nvCxnSpPr>
          <p:cNvPr id="29" name="Connector: Elbow 28">
            <a:extLst>
              <a:ext uri="{FF2B5EF4-FFF2-40B4-BE49-F238E27FC236}">
                <a16:creationId xmlns:a16="http://schemas.microsoft.com/office/drawing/2014/main" id="{129977F3-12C1-4E86-9B33-54867C51DDAF}"/>
              </a:ext>
            </a:extLst>
          </p:cNvPr>
          <p:cNvCxnSpPr>
            <a:cxnSpLocks/>
            <a:endCxn id="6" idx="2"/>
          </p:cNvCxnSpPr>
          <p:nvPr/>
        </p:nvCxnSpPr>
        <p:spPr>
          <a:xfrm flipV="1">
            <a:off x="2880114" y="4532399"/>
            <a:ext cx="4087303" cy="407285"/>
          </a:xfrm>
          <a:prstGeom prst="bentConnector2">
            <a:avLst/>
          </a:prstGeom>
        </p:spPr>
        <p:style>
          <a:lnRef idx="3">
            <a:schemeClr val="accent1"/>
          </a:lnRef>
          <a:fillRef idx="0">
            <a:schemeClr val="accent1"/>
          </a:fillRef>
          <a:effectRef idx="2">
            <a:schemeClr val="accent1"/>
          </a:effectRef>
          <a:fontRef idx="minor">
            <a:schemeClr val="tx1"/>
          </a:fontRef>
        </p:style>
      </p:cxnSp>
      <p:cxnSp>
        <p:nvCxnSpPr>
          <p:cNvPr id="56" name="Connector: Elbow 55">
            <a:extLst>
              <a:ext uri="{FF2B5EF4-FFF2-40B4-BE49-F238E27FC236}">
                <a16:creationId xmlns:a16="http://schemas.microsoft.com/office/drawing/2014/main" id="{F2266344-A1A7-41B1-A770-F0BD7F7738A0}"/>
              </a:ext>
            </a:extLst>
          </p:cNvPr>
          <p:cNvCxnSpPr>
            <a:cxnSpLocks/>
            <a:endCxn id="53" idx="0"/>
          </p:cNvCxnSpPr>
          <p:nvPr/>
        </p:nvCxnSpPr>
        <p:spPr>
          <a:xfrm>
            <a:off x="2880114" y="2052204"/>
            <a:ext cx="4380377" cy="305981"/>
          </a:xfrm>
          <a:prstGeom prst="bentConnector2">
            <a:avLst/>
          </a:prstGeom>
        </p:spPr>
        <p:style>
          <a:lnRef idx="3">
            <a:schemeClr val="accent1"/>
          </a:lnRef>
          <a:fillRef idx="0">
            <a:schemeClr val="accent1"/>
          </a:fillRef>
          <a:effectRef idx="2">
            <a:schemeClr val="accent1"/>
          </a:effectRef>
          <a:fontRef idx="minor">
            <a:schemeClr val="tx1"/>
          </a:fontRef>
        </p:style>
      </p:cxnSp>
      <p:sp>
        <p:nvSpPr>
          <p:cNvPr id="59" name="TextBox 58">
            <a:extLst>
              <a:ext uri="{FF2B5EF4-FFF2-40B4-BE49-F238E27FC236}">
                <a16:creationId xmlns:a16="http://schemas.microsoft.com/office/drawing/2014/main" id="{FFB4A250-12FC-473F-BF46-B676B815FCF7}"/>
              </a:ext>
            </a:extLst>
          </p:cNvPr>
          <p:cNvSpPr txBox="1"/>
          <p:nvPr/>
        </p:nvSpPr>
        <p:spPr>
          <a:xfrm>
            <a:off x="685553" y="1080107"/>
            <a:ext cx="2194560" cy="307777"/>
          </a:xfrm>
          <a:prstGeom prst="rect">
            <a:avLst/>
          </a:prstGeom>
          <a:noFill/>
          <a:ln>
            <a:solidFill>
              <a:schemeClr val="accent1"/>
            </a:solidFill>
          </a:ln>
        </p:spPr>
        <p:txBody>
          <a:bodyPr wrap="square" rtlCol="0">
            <a:spAutoFit/>
          </a:bodyPr>
          <a:lstStyle/>
          <a:p>
            <a:r>
              <a:rPr lang="en-US" sz="1400"/>
              <a:t>OpCode[12]: Rs1 Low</a:t>
            </a:r>
          </a:p>
        </p:txBody>
      </p:sp>
      <p:sp>
        <p:nvSpPr>
          <p:cNvPr id="60" name="TextBox 59">
            <a:extLst>
              <a:ext uri="{FF2B5EF4-FFF2-40B4-BE49-F238E27FC236}">
                <a16:creationId xmlns:a16="http://schemas.microsoft.com/office/drawing/2014/main" id="{4E419FC1-311E-4F7C-AF42-083C10DF3470}"/>
              </a:ext>
            </a:extLst>
          </p:cNvPr>
          <p:cNvSpPr txBox="1"/>
          <p:nvPr/>
        </p:nvSpPr>
        <p:spPr>
          <a:xfrm>
            <a:off x="685553" y="5605643"/>
            <a:ext cx="2194560" cy="307777"/>
          </a:xfrm>
          <a:prstGeom prst="rect">
            <a:avLst/>
          </a:prstGeom>
          <a:noFill/>
          <a:ln>
            <a:solidFill>
              <a:schemeClr val="accent1"/>
            </a:solidFill>
          </a:ln>
        </p:spPr>
        <p:txBody>
          <a:bodyPr wrap="square" rtlCol="0">
            <a:spAutoFit/>
          </a:bodyPr>
          <a:lstStyle/>
          <a:p>
            <a:r>
              <a:rPr lang="en-US" sz="1400"/>
              <a:t>OpCode[15]: Rs2 High</a:t>
            </a:r>
          </a:p>
        </p:txBody>
      </p:sp>
      <p:cxnSp>
        <p:nvCxnSpPr>
          <p:cNvPr id="18" name="Connector: Elbow 17">
            <a:extLst>
              <a:ext uri="{FF2B5EF4-FFF2-40B4-BE49-F238E27FC236}">
                <a16:creationId xmlns:a16="http://schemas.microsoft.com/office/drawing/2014/main" id="{2ED4AB2B-359D-4DE2-9AE9-B1BC19F6D7C9}"/>
              </a:ext>
            </a:extLst>
          </p:cNvPr>
          <p:cNvCxnSpPr>
            <a:cxnSpLocks/>
            <a:stCxn id="59" idx="3"/>
            <a:endCxn id="19" idx="0"/>
          </p:cNvCxnSpPr>
          <p:nvPr/>
        </p:nvCxnSpPr>
        <p:spPr>
          <a:xfrm>
            <a:off x="2880113" y="1233996"/>
            <a:ext cx="3130417" cy="1229136"/>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B5F89D96-5B93-4DCE-88E5-D0285F30D65E}"/>
              </a:ext>
            </a:extLst>
          </p:cNvPr>
          <p:cNvSpPr txBox="1"/>
          <p:nvPr/>
        </p:nvSpPr>
        <p:spPr>
          <a:xfrm>
            <a:off x="685553" y="5195719"/>
            <a:ext cx="2194560" cy="307777"/>
          </a:xfrm>
          <a:prstGeom prst="rect">
            <a:avLst/>
          </a:prstGeom>
          <a:noFill/>
          <a:ln>
            <a:solidFill>
              <a:schemeClr val="accent1"/>
            </a:solidFill>
          </a:ln>
        </p:spPr>
        <p:txBody>
          <a:bodyPr wrap="square" rtlCol="0">
            <a:spAutoFit/>
          </a:bodyPr>
          <a:lstStyle/>
          <a:p>
            <a:r>
              <a:rPr lang="en-US" sz="1400"/>
              <a:t>OpCode[13]: Rs1 High</a:t>
            </a:r>
          </a:p>
        </p:txBody>
      </p:sp>
      <p:sp>
        <p:nvSpPr>
          <p:cNvPr id="73" name="TextBox 72">
            <a:extLst>
              <a:ext uri="{FF2B5EF4-FFF2-40B4-BE49-F238E27FC236}">
                <a16:creationId xmlns:a16="http://schemas.microsoft.com/office/drawing/2014/main" id="{DC12344B-840D-4AFC-ABD2-43FF3B497CA6}"/>
              </a:ext>
            </a:extLst>
          </p:cNvPr>
          <p:cNvSpPr txBox="1"/>
          <p:nvPr/>
        </p:nvSpPr>
        <p:spPr>
          <a:xfrm>
            <a:off x="685553" y="1489211"/>
            <a:ext cx="2194560" cy="307777"/>
          </a:xfrm>
          <a:prstGeom prst="rect">
            <a:avLst/>
          </a:prstGeom>
          <a:noFill/>
          <a:ln>
            <a:solidFill>
              <a:schemeClr val="accent1"/>
            </a:solidFill>
          </a:ln>
        </p:spPr>
        <p:txBody>
          <a:bodyPr wrap="square" rtlCol="0">
            <a:spAutoFit/>
          </a:bodyPr>
          <a:lstStyle/>
          <a:p>
            <a:r>
              <a:rPr lang="en-US" sz="1400"/>
              <a:t>OpCode[14]: Rs2 Low</a:t>
            </a:r>
          </a:p>
        </p:txBody>
      </p:sp>
      <p:cxnSp>
        <p:nvCxnSpPr>
          <p:cNvPr id="75" name="Connector: Elbow 74">
            <a:extLst>
              <a:ext uri="{FF2B5EF4-FFF2-40B4-BE49-F238E27FC236}">
                <a16:creationId xmlns:a16="http://schemas.microsoft.com/office/drawing/2014/main" id="{8E6E54F6-43EE-4CB7-BE19-BE7E3F423EFB}"/>
              </a:ext>
            </a:extLst>
          </p:cNvPr>
          <p:cNvCxnSpPr>
            <a:cxnSpLocks/>
            <a:stCxn id="73" idx="3"/>
            <a:endCxn id="64" idx="0"/>
          </p:cNvCxnSpPr>
          <p:nvPr/>
        </p:nvCxnSpPr>
        <p:spPr>
          <a:xfrm>
            <a:off x="2880113" y="1643100"/>
            <a:ext cx="3449378" cy="820032"/>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CBE08672-B05F-4400-8686-D1813EE74C46}"/>
              </a:ext>
            </a:extLst>
          </p:cNvPr>
          <p:cNvSpPr txBox="1"/>
          <p:nvPr/>
        </p:nvSpPr>
        <p:spPr>
          <a:xfrm>
            <a:off x="685553" y="671002"/>
            <a:ext cx="2194560" cy="307777"/>
          </a:xfrm>
          <a:prstGeom prst="rect">
            <a:avLst/>
          </a:prstGeom>
          <a:noFill/>
          <a:ln>
            <a:solidFill>
              <a:schemeClr val="accent1"/>
            </a:solidFill>
          </a:ln>
        </p:spPr>
        <p:txBody>
          <a:bodyPr wrap="square" rtlCol="0">
            <a:spAutoFit/>
          </a:bodyPr>
          <a:lstStyle/>
          <a:p>
            <a:r>
              <a:rPr lang="en-US" sz="1400"/>
              <a:t>OpCode[6]: Rd Low</a:t>
            </a:r>
          </a:p>
        </p:txBody>
      </p:sp>
      <p:sp>
        <p:nvSpPr>
          <p:cNvPr id="79" name="TextBox 78">
            <a:extLst>
              <a:ext uri="{FF2B5EF4-FFF2-40B4-BE49-F238E27FC236}">
                <a16:creationId xmlns:a16="http://schemas.microsoft.com/office/drawing/2014/main" id="{6948290B-17CE-4FA0-B024-C43B929456F8}"/>
              </a:ext>
            </a:extLst>
          </p:cNvPr>
          <p:cNvSpPr txBox="1"/>
          <p:nvPr/>
        </p:nvSpPr>
        <p:spPr>
          <a:xfrm>
            <a:off x="685553" y="6015568"/>
            <a:ext cx="2194560" cy="307777"/>
          </a:xfrm>
          <a:prstGeom prst="rect">
            <a:avLst/>
          </a:prstGeom>
          <a:noFill/>
          <a:ln>
            <a:solidFill>
              <a:schemeClr val="accent1"/>
            </a:solidFill>
          </a:ln>
        </p:spPr>
        <p:txBody>
          <a:bodyPr wrap="square" rtlCol="0">
            <a:spAutoFit/>
          </a:bodyPr>
          <a:lstStyle/>
          <a:p>
            <a:r>
              <a:rPr lang="en-US" sz="1400"/>
              <a:t>OpCode[7]: Rd High</a:t>
            </a:r>
          </a:p>
        </p:txBody>
      </p:sp>
      <p:cxnSp>
        <p:nvCxnSpPr>
          <p:cNvPr id="84" name="Connector: Elbow 83">
            <a:extLst>
              <a:ext uri="{FF2B5EF4-FFF2-40B4-BE49-F238E27FC236}">
                <a16:creationId xmlns:a16="http://schemas.microsoft.com/office/drawing/2014/main" id="{9D770B67-1958-4A75-97AF-4DEDCB66334F}"/>
              </a:ext>
            </a:extLst>
          </p:cNvPr>
          <p:cNvCxnSpPr>
            <a:cxnSpLocks/>
            <a:stCxn id="78" idx="3"/>
            <a:endCxn id="65" idx="0"/>
          </p:cNvCxnSpPr>
          <p:nvPr/>
        </p:nvCxnSpPr>
        <p:spPr>
          <a:xfrm>
            <a:off x="2880113" y="824891"/>
            <a:ext cx="3768341" cy="1638241"/>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88" name="Connector: Elbow 87">
            <a:extLst>
              <a:ext uri="{FF2B5EF4-FFF2-40B4-BE49-F238E27FC236}">
                <a16:creationId xmlns:a16="http://schemas.microsoft.com/office/drawing/2014/main" id="{6FAD871F-AED3-4304-A03A-B1F77D4074DE}"/>
              </a:ext>
            </a:extLst>
          </p:cNvPr>
          <p:cNvCxnSpPr>
            <a:cxnSpLocks/>
            <a:stCxn id="78" idx="3"/>
            <a:endCxn id="66" idx="0"/>
          </p:cNvCxnSpPr>
          <p:nvPr/>
        </p:nvCxnSpPr>
        <p:spPr>
          <a:xfrm>
            <a:off x="2880113" y="824891"/>
            <a:ext cx="4087302" cy="1638241"/>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92" name="Connector: Elbow 91">
            <a:extLst>
              <a:ext uri="{FF2B5EF4-FFF2-40B4-BE49-F238E27FC236}">
                <a16:creationId xmlns:a16="http://schemas.microsoft.com/office/drawing/2014/main" id="{5C93FCB2-215B-4011-9AB2-1ADCF7F90B85}"/>
              </a:ext>
            </a:extLst>
          </p:cNvPr>
          <p:cNvCxnSpPr>
            <a:cxnSpLocks/>
            <a:stCxn id="72" idx="3"/>
            <a:endCxn id="67" idx="2"/>
          </p:cNvCxnSpPr>
          <p:nvPr/>
        </p:nvCxnSpPr>
        <p:spPr>
          <a:xfrm flipV="1">
            <a:off x="2880113" y="4579773"/>
            <a:ext cx="2812477" cy="769835"/>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19224A3D-EA33-40DA-9834-7D56FC3198B5}"/>
              </a:ext>
            </a:extLst>
          </p:cNvPr>
          <p:cNvCxnSpPr>
            <a:cxnSpLocks/>
            <a:stCxn id="60" idx="3"/>
            <a:endCxn id="68" idx="2"/>
          </p:cNvCxnSpPr>
          <p:nvPr/>
        </p:nvCxnSpPr>
        <p:spPr>
          <a:xfrm flipV="1">
            <a:off x="2880113" y="4579773"/>
            <a:ext cx="3131438" cy="1179759"/>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96" name="Connector: Elbow 95">
            <a:extLst>
              <a:ext uri="{FF2B5EF4-FFF2-40B4-BE49-F238E27FC236}">
                <a16:creationId xmlns:a16="http://schemas.microsoft.com/office/drawing/2014/main" id="{4E8B1E2A-F5A7-4D1F-9FDB-31EB2A15C22B}"/>
              </a:ext>
            </a:extLst>
          </p:cNvPr>
          <p:cNvCxnSpPr>
            <a:cxnSpLocks/>
            <a:stCxn id="79" idx="3"/>
            <a:endCxn id="69" idx="2"/>
          </p:cNvCxnSpPr>
          <p:nvPr/>
        </p:nvCxnSpPr>
        <p:spPr>
          <a:xfrm flipV="1">
            <a:off x="2880113" y="4579773"/>
            <a:ext cx="3450401" cy="1589684"/>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99" name="Connector: Elbow 98">
            <a:extLst>
              <a:ext uri="{FF2B5EF4-FFF2-40B4-BE49-F238E27FC236}">
                <a16:creationId xmlns:a16="http://schemas.microsoft.com/office/drawing/2014/main" id="{EEC648A7-AE63-4951-AEB1-914676B693AE}"/>
              </a:ext>
            </a:extLst>
          </p:cNvPr>
          <p:cNvCxnSpPr>
            <a:cxnSpLocks/>
            <a:stCxn id="79" idx="3"/>
            <a:endCxn id="70" idx="2"/>
          </p:cNvCxnSpPr>
          <p:nvPr/>
        </p:nvCxnSpPr>
        <p:spPr>
          <a:xfrm flipV="1">
            <a:off x="2880113" y="4579773"/>
            <a:ext cx="3769362" cy="1589684"/>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57" name="Connector: Elbow 56">
            <a:extLst>
              <a:ext uri="{FF2B5EF4-FFF2-40B4-BE49-F238E27FC236}">
                <a16:creationId xmlns:a16="http://schemas.microsoft.com/office/drawing/2014/main" id="{7AAD6AA1-435A-4C86-8E9C-0416F5717577}"/>
              </a:ext>
            </a:extLst>
          </p:cNvPr>
          <p:cNvCxnSpPr>
            <a:cxnSpLocks/>
            <a:stCxn id="58" idx="0"/>
          </p:cNvCxnSpPr>
          <p:nvPr/>
        </p:nvCxnSpPr>
        <p:spPr>
          <a:xfrm rot="5400000" flipH="1" flipV="1">
            <a:off x="7545637" y="11836"/>
            <a:ext cx="558340" cy="4264435"/>
          </a:xfrm>
          <a:prstGeom prst="bentConnector2">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108" name="Connector: Elbow 107">
            <a:extLst>
              <a:ext uri="{FF2B5EF4-FFF2-40B4-BE49-F238E27FC236}">
                <a16:creationId xmlns:a16="http://schemas.microsoft.com/office/drawing/2014/main" id="{9F931F22-798C-48DB-9424-EAA93EDF2079}"/>
              </a:ext>
            </a:extLst>
          </p:cNvPr>
          <p:cNvCxnSpPr>
            <a:cxnSpLocks/>
            <a:stCxn id="74" idx="2"/>
          </p:cNvCxnSpPr>
          <p:nvPr/>
        </p:nvCxnSpPr>
        <p:spPr>
          <a:xfrm rot="16200000" flipH="1">
            <a:off x="7375769" y="2556679"/>
            <a:ext cx="600232" cy="4562276"/>
          </a:xfrm>
          <a:prstGeom prst="bentConnector2">
            <a:avLst/>
          </a:prstGeom>
          <a:ln>
            <a:tailEnd type="triangle"/>
          </a:ln>
        </p:spPr>
        <p:style>
          <a:lnRef idx="2">
            <a:schemeClr val="accent6"/>
          </a:lnRef>
          <a:fillRef idx="0">
            <a:schemeClr val="accent6"/>
          </a:fillRef>
          <a:effectRef idx="1">
            <a:schemeClr val="accent6"/>
          </a:effectRef>
          <a:fontRef idx="minor">
            <a:schemeClr val="tx1"/>
          </a:fontRef>
        </p:style>
      </p:cxnSp>
      <p:sp>
        <p:nvSpPr>
          <p:cNvPr id="81" name="TextBox 80">
            <a:hlinkClick r:id="rId4" action="ppaction://hlinksldjump"/>
            <a:extLst>
              <a:ext uri="{FF2B5EF4-FFF2-40B4-BE49-F238E27FC236}">
                <a16:creationId xmlns:a16="http://schemas.microsoft.com/office/drawing/2014/main" id="{3D4F1E87-EA5F-4285-B119-F512919CFDFD}"/>
              </a:ext>
            </a:extLst>
          </p:cNvPr>
          <p:cNvSpPr txBox="1"/>
          <p:nvPr/>
        </p:nvSpPr>
        <p:spPr>
          <a:xfrm>
            <a:off x="9513862" y="1602870"/>
            <a:ext cx="1029449" cy="254044"/>
          </a:xfrm>
          <a:prstGeom prst="rect">
            <a:avLst/>
          </a:prstGeom>
          <a:noFill/>
          <a:ln>
            <a:solidFill>
              <a:schemeClr val="accent1"/>
            </a:solidFill>
          </a:ln>
        </p:spPr>
        <p:txBody>
          <a:bodyPr wrap="none" rtlCol="0">
            <a:spAutoFit/>
          </a:bodyPr>
          <a:lstStyle/>
          <a:p>
            <a:r>
              <a:rPr lang="en-US" sz="1051"/>
              <a:t>R.O. Select Low</a:t>
            </a:r>
          </a:p>
        </p:txBody>
      </p:sp>
      <p:sp>
        <p:nvSpPr>
          <p:cNvPr id="114" name="TextBox 113">
            <a:hlinkClick r:id="rId4" action="ppaction://hlinksldjump"/>
            <a:extLst>
              <a:ext uri="{FF2B5EF4-FFF2-40B4-BE49-F238E27FC236}">
                <a16:creationId xmlns:a16="http://schemas.microsoft.com/office/drawing/2014/main" id="{41C5B3A6-586F-4DAD-B01A-DC7830204919}"/>
              </a:ext>
            </a:extLst>
          </p:cNvPr>
          <p:cNvSpPr txBox="1"/>
          <p:nvPr/>
        </p:nvSpPr>
        <p:spPr>
          <a:xfrm>
            <a:off x="9513862" y="4772376"/>
            <a:ext cx="1055097" cy="254044"/>
          </a:xfrm>
          <a:prstGeom prst="rect">
            <a:avLst/>
          </a:prstGeom>
          <a:noFill/>
          <a:ln>
            <a:solidFill>
              <a:schemeClr val="accent1"/>
            </a:solidFill>
          </a:ln>
        </p:spPr>
        <p:txBody>
          <a:bodyPr wrap="none" rtlCol="0">
            <a:spAutoFit/>
          </a:bodyPr>
          <a:lstStyle/>
          <a:p>
            <a:r>
              <a:rPr lang="en-US" sz="1051"/>
              <a:t>R.O. Select High</a:t>
            </a:r>
          </a:p>
        </p:txBody>
      </p:sp>
      <p:sp>
        <p:nvSpPr>
          <p:cNvPr id="44" name="Rectangle 43">
            <a:hlinkClick r:id="rId5" action="ppaction://hlinksldjump"/>
            <a:extLst>
              <a:ext uri="{FF2B5EF4-FFF2-40B4-BE49-F238E27FC236}">
                <a16:creationId xmlns:a16="http://schemas.microsoft.com/office/drawing/2014/main" id="{FFB5738A-D727-974D-FA81-45F9A212C781}"/>
              </a:ext>
            </a:extLst>
          </p:cNvPr>
          <p:cNvSpPr/>
          <p:nvPr/>
        </p:nvSpPr>
        <p:spPr>
          <a:xfrm>
            <a:off x="1412905" y="483558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3: Reg Out Select</a:t>
            </a:r>
          </a:p>
        </p:txBody>
      </p:sp>
      <p:sp>
        <p:nvSpPr>
          <p:cNvPr id="45" name="Rectangle 44">
            <a:hlinkClick r:id="rId5" action="ppaction://hlinksldjump"/>
            <a:extLst>
              <a:ext uri="{FF2B5EF4-FFF2-40B4-BE49-F238E27FC236}">
                <a16:creationId xmlns:a16="http://schemas.microsoft.com/office/drawing/2014/main" id="{BD7F4332-11E2-8A83-8029-71F7190025E5}"/>
              </a:ext>
            </a:extLst>
          </p:cNvPr>
          <p:cNvSpPr/>
          <p:nvPr/>
        </p:nvSpPr>
        <p:spPr>
          <a:xfrm>
            <a:off x="1412905" y="1961173"/>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13: Reg Out Rd</a:t>
            </a:r>
          </a:p>
        </p:txBody>
      </p:sp>
      <p:sp>
        <p:nvSpPr>
          <p:cNvPr id="40" name="Arrow: Right 39">
            <a:hlinkClick r:id="rId6" action="ppaction://hlinksldjump"/>
            <a:extLst>
              <a:ext uri="{FF2B5EF4-FFF2-40B4-BE49-F238E27FC236}">
                <a16:creationId xmlns:a16="http://schemas.microsoft.com/office/drawing/2014/main" id="{07693BED-12B7-A8BA-0C7D-DACF7E5577A6}"/>
              </a:ext>
            </a:extLst>
          </p:cNvPr>
          <p:cNvSpPr/>
          <p:nvPr/>
        </p:nvSpPr>
        <p:spPr>
          <a:xfrm>
            <a:off x="43461" y="2144054"/>
            <a:ext cx="731520" cy="755881"/>
          </a:xfrm>
          <a:prstGeom prst="rightArrow">
            <a:avLst/>
          </a:prstGeom>
          <a:solidFill>
            <a:srgbClr val="92D050"/>
          </a:solidFill>
        </p:spPr>
        <p:style>
          <a:lnRef idx="1">
            <a:schemeClr val="accent5"/>
          </a:lnRef>
          <a:fillRef idx="2">
            <a:schemeClr val="accent5"/>
          </a:fillRef>
          <a:effectRef idx="1">
            <a:schemeClr val="accent5"/>
          </a:effectRef>
          <a:fontRef idx="minor">
            <a:schemeClr val="dk1"/>
          </a:fontRef>
        </p:style>
        <p:txBody>
          <a:bodyPr wrap="none" lIns="0" tIns="0" rIns="0" bIns="0" rtlCol="0" anchor="ctr"/>
          <a:lstStyle/>
          <a:p>
            <a:pPr algn="ctr"/>
            <a:r>
              <a:rPr lang="en-US" sz="1200"/>
              <a:t>OpCode</a:t>
            </a:r>
          </a:p>
          <a:p>
            <a:pPr algn="ctr"/>
            <a:r>
              <a:rPr lang="en-US" sz="1200"/>
              <a:t>[7:6]</a:t>
            </a:r>
          </a:p>
        </p:txBody>
      </p:sp>
      <p:sp>
        <p:nvSpPr>
          <p:cNvPr id="41" name="Arrow: Right 40">
            <a:hlinkClick r:id="rId6" action="ppaction://hlinksldjump"/>
            <a:extLst>
              <a:ext uri="{FF2B5EF4-FFF2-40B4-BE49-F238E27FC236}">
                <a16:creationId xmlns:a16="http://schemas.microsoft.com/office/drawing/2014/main" id="{F2BBE60A-4EA6-D510-92E4-4E3CE1749D44}"/>
              </a:ext>
            </a:extLst>
          </p:cNvPr>
          <p:cNvSpPr/>
          <p:nvPr/>
        </p:nvSpPr>
        <p:spPr>
          <a:xfrm>
            <a:off x="43461" y="3456605"/>
            <a:ext cx="731520" cy="755881"/>
          </a:xfrm>
          <a:prstGeom prst="rightArrow">
            <a:avLst/>
          </a:prstGeom>
          <a:solidFill>
            <a:srgbClr val="92D050"/>
          </a:solidFill>
        </p:spPr>
        <p:style>
          <a:lnRef idx="1">
            <a:schemeClr val="accent5"/>
          </a:lnRef>
          <a:fillRef idx="2">
            <a:schemeClr val="accent5"/>
          </a:fillRef>
          <a:effectRef idx="1">
            <a:schemeClr val="accent5"/>
          </a:effectRef>
          <a:fontRef idx="minor">
            <a:schemeClr val="dk1"/>
          </a:fontRef>
        </p:style>
        <p:txBody>
          <a:bodyPr wrap="none" lIns="0" tIns="0" rIns="0" bIns="0" rtlCol="0" anchor="ctr"/>
          <a:lstStyle/>
          <a:p>
            <a:pPr algn="ctr"/>
            <a:r>
              <a:rPr lang="en-US" sz="1200"/>
              <a:t>OpCode</a:t>
            </a:r>
          </a:p>
          <a:p>
            <a:pPr algn="ctr"/>
            <a:r>
              <a:rPr lang="en-US" sz="1200"/>
              <a:t>[15:12]</a:t>
            </a:r>
          </a:p>
        </p:txBody>
      </p:sp>
      <p:pic>
        <p:nvPicPr>
          <p:cNvPr id="11" name="Picture 10">
            <a:hlinkClick r:id="rId7" action="ppaction://hlinksldjump"/>
            <a:extLst>
              <a:ext uri="{FF2B5EF4-FFF2-40B4-BE49-F238E27FC236}">
                <a16:creationId xmlns:a16="http://schemas.microsoft.com/office/drawing/2014/main" id="{136BC6ED-D9BB-2BAC-36DE-E36E7E971E1F}"/>
              </a:ext>
            </a:extLst>
          </p:cNvPr>
          <p:cNvPicPr>
            <a:picLocks noChangeAspect="1"/>
          </p:cNvPicPr>
          <p:nvPr/>
        </p:nvPicPr>
        <p:blipFill>
          <a:blip r:embed="rId8"/>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6B9C3208-1C94-9DEE-07F4-32740E073293}"/>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101</a:t>
            </a:fld>
            <a:endParaRPr lang="en-US" b="1">
              <a:solidFill>
                <a:schemeClr val="bg1"/>
              </a:solidFill>
            </a:endParaRPr>
          </a:p>
        </p:txBody>
      </p:sp>
    </p:spTree>
    <p:extLst>
      <p:ext uri="{BB962C8B-B14F-4D97-AF65-F5344CB8AC3E}">
        <p14:creationId xmlns:p14="http://schemas.microsoft.com/office/powerpoint/2010/main" val="155665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8F325-4959-471C-976D-2959655950B6}"/>
              </a:ext>
            </a:extLst>
          </p:cNvPr>
          <p:cNvSpPr>
            <a:spLocks noGrp="1"/>
          </p:cNvSpPr>
          <p:nvPr>
            <p:ph type="ctrTitle"/>
          </p:nvPr>
        </p:nvSpPr>
        <p:spPr>
          <a:prstGeom prst="rect">
            <a:avLst/>
          </a:prstGeom>
        </p:spPr>
        <p:txBody>
          <a:bodyPr/>
          <a:lstStyle/>
          <a:p>
            <a:r>
              <a:rPr lang="en-US"/>
              <a:t>Clock</a:t>
            </a:r>
          </a:p>
        </p:txBody>
      </p:sp>
      <p:grpSp>
        <p:nvGrpSpPr>
          <p:cNvPr id="7" name="Group 6">
            <a:extLst>
              <a:ext uri="{FF2B5EF4-FFF2-40B4-BE49-F238E27FC236}">
                <a16:creationId xmlns:a16="http://schemas.microsoft.com/office/drawing/2014/main" id="{57F02E6A-22AD-4FEA-94B9-3359A7D41065}"/>
              </a:ext>
            </a:extLst>
          </p:cNvPr>
          <p:cNvGrpSpPr/>
          <p:nvPr/>
        </p:nvGrpSpPr>
        <p:grpSpPr>
          <a:xfrm>
            <a:off x="4097669" y="1381788"/>
            <a:ext cx="3385907" cy="2312776"/>
            <a:chOff x="1824396" y="1716917"/>
            <a:chExt cx="4271604" cy="2914650"/>
          </a:xfrm>
        </p:grpSpPr>
        <p:pic>
          <p:nvPicPr>
            <p:cNvPr id="1026" name="Picture 2" descr="50% duty cycle astable oscillator">
              <a:extLst>
                <a:ext uri="{FF2B5EF4-FFF2-40B4-BE49-F238E27FC236}">
                  <a16:creationId xmlns:a16="http://schemas.microsoft.com/office/drawing/2014/main" id="{A3ECFF7A-BF1F-4176-983B-612B7C7D39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8825" y="1716917"/>
              <a:ext cx="4067175" cy="29146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E5D6191-CB39-467C-976A-5D6F57158B4A}"/>
                </a:ext>
              </a:extLst>
            </p:cNvPr>
            <p:cNvSpPr txBox="1"/>
            <p:nvPr/>
          </p:nvSpPr>
          <p:spPr>
            <a:xfrm>
              <a:off x="1824396" y="2713791"/>
              <a:ext cx="412751" cy="232723"/>
            </a:xfrm>
            <a:prstGeom prst="rect">
              <a:avLst/>
            </a:prstGeom>
            <a:solidFill>
              <a:schemeClr val="bg1"/>
            </a:solidFill>
          </p:spPr>
          <p:txBody>
            <a:bodyPr wrap="square" lIns="0" tIns="0" rIns="0" bIns="0" rtlCol="0">
              <a:spAutoFit/>
            </a:bodyPr>
            <a:lstStyle/>
            <a:p>
              <a:pPr algn="r"/>
              <a:r>
                <a:rPr lang="en-US" sz="1200"/>
                <a:t>220</a:t>
              </a:r>
            </a:p>
          </p:txBody>
        </p:sp>
      </p:grpSp>
      <p:sp>
        <p:nvSpPr>
          <p:cNvPr id="8" name="TextBox 7">
            <a:extLst>
              <a:ext uri="{FF2B5EF4-FFF2-40B4-BE49-F238E27FC236}">
                <a16:creationId xmlns:a16="http://schemas.microsoft.com/office/drawing/2014/main" id="{66B2D1A1-775B-413F-9F21-42B3584D8583}"/>
              </a:ext>
            </a:extLst>
          </p:cNvPr>
          <p:cNvSpPr txBox="1"/>
          <p:nvPr/>
        </p:nvSpPr>
        <p:spPr>
          <a:xfrm>
            <a:off x="4149193" y="3556805"/>
            <a:ext cx="502061" cy="600164"/>
          </a:xfrm>
          <a:prstGeom prst="rect">
            <a:avLst/>
          </a:prstGeom>
          <a:noFill/>
        </p:spPr>
        <p:txBody>
          <a:bodyPr wrap="none" rtlCol="0">
            <a:spAutoFit/>
          </a:bodyPr>
          <a:lstStyle/>
          <a:p>
            <a:r>
              <a:rPr lang="en-US" sz="1100"/>
              <a:t>0.1uF</a:t>
            </a:r>
          </a:p>
          <a:p>
            <a:r>
              <a:rPr lang="en-US" sz="1100"/>
              <a:t>Or </a:t>
            </a:r>
          </a:p>
          <a:p>
            <a:r>
              <a:rPr lang="en-US" sz="1100"/>
              <a:t>10uF</a:t>
            </a:r>
          </a:p>
        </p:txBody>
      </p:sp>
      <p:sp>
        <p:nvSpPr>
          <p:cNvPr id="10" name="Rectangle 9">
            <a:extLst>
              <a:ext uri="{FF2B5EF4-FFF2-40B4-BE49-F238E27FC236}">
                <a16:creationId xmlns:a16="http://schemas.microsoft.com/office/drawing/2014/main" id="{1C921E29-B7B0-493E-8307-F1914903709A}"/>
              </a:ext>
            </a:extLst>
          </p:cNvPr>
          <p:cNvSpPr/>
          <p:nvPr/>
        </p:nvSpPr>
        <p:spPr>
          <a:xfrm>
            <a:off x="4582332" y="2747931"/>
            <a:ext cx="318443" cy="2422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6396A2A9-BD0C-4959-B611-26E3E0992C92}"/>
              </a:ext>
            </a:extLst>
          </p:cNvPr>
          <p:cNvCxnSpPr>
            <a:cxnSpLocks/>
          </p:cNvCxnSpPr>
          <p:nvPr/>
        </p:nvCxnSpPr>
        <p:spPr>
          <a:xfrm>
            <a:off x="4682415" y="2573924"/>
            <a:ext cx="0" cy="511792"/>
          </a:xfrm>
          <a:prstGeom prst="line">
            <a:avLst/>
          </a:prstGeom>
        </p:spPr>
        <p:style>
          <a:lnRef idx="2">
            <a:schemeClr val="dk1"/>
          </a:lnRef>
          <a:fillRef idx="0">
            <a:schemeClr val="dk1"/>
          </a:fillRef>
          <a:effectRef idx="1">
            <a:schemeClr val="dk1"/>
          </a:effectRef>
          <a:fontRef idx="minor">
            <a:schemeClr val="tx1"/>
          </a:fontRef>
        </p:style>
      </p:cxnSp>
      <p:sp>
        <p:nvSpPr>
          <p:cNvPr id="23" name="Rectangle 22">
            <a:extLst>
              <a:ext uri="{FF2B5EF4-FFF2-40B4-BE49-F238E27FC236}">
                <a16:creationId xmlns:a16="http://schemas.microsoft.com/office/drawing/2014/main" id="{68AB0A6E-C840-4D51-A484-374DB8B5B0B0}"/>
              </a:ext>
            </a:extLst>
          </p:cNvPr>
          <p:cNvSpPr/>
          <p:nvPr/>
        </p:nvSpPr>
        <p:spPr>
          <a:xfrm>
            <a:off x="4835828" y="1611401"/>
            <a:ext cx="216403" cy="14007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7BB1F815-ED35-4B63-964E-192E8F7AEF4A}"/>
              </a:ext>
            </a:extLst>
          </p:cNvPr>
          <p:cNvCxnSpPr>
            <a:cxnSpLocks/>
          </p:cNvCxnSpPr>
          <p:nvPr/>
        </p:nvCxnSpPr>
        <p:spPr>
          <a:xfrm>
            <a:off x="4154559" y="2876451"/>
            <a:ext cx="1014485" cy="0"/>
          </a:xfrm>
          <a:prstGeom prst="line">
            <a:avLst/>
          </a:prstGeom>
        </p:spPr>
        <p:style>
          <a:lnRef idx="2">
            <a:schemeClr val="accent1"/>
          </a:lnRef>
          <a:fillRef idx="0">
            <a:schemeClr val="accent1"/>
          </a:fillRef>
          <a:effectRef idx="1">
            <a:schemeClr val="accent1"/>
          </a:effectRef>
          <a:fontRef idx="minor">
            <a:schemeClr val="tx1"/>
          </a:fontRef>
        </p:style>
      </p:cxnSp>
      <p:pic>
        <p:nvPicPr>
          <p:cNvPr id="31" name="Picture 30">
            <a:extLst>
              <a:ext uri="{FF2B5EF4-FFF2-40B4-BE49-F238E27FC236}">
                <a16:creationId xmlns:a16="http://schemas.microsoft.com/office/drawing/2014/main" id="{C7953591-D507-4414-927A-C9CA0629FA3B}"/>
              </a:ext>
            </a:extLst>
          </p:cNvPr>
          <p:cNvPicPr>
            <a:picLocks noChangeAspect="1"/>
          </p:cNvPicPr>
          <p:nvPr/>
        </p:nvPicPr>
        <p:blipFill>
          <a:blip r:embed="rId4"/>
          <a:stretch>
            <a:fillRect/>
          </a:stretch>
        </p:blipFill>
        <p:spPr>
          <a:xfrm rot="5400000">
            <a:off x="2980743" y="2281731"/>
            <a:ext cx="497528" cy="740224"/>
          </a:xfrm>
          <a:prstGeom prst="rect">
            <a:avLst/>
          </a:prstGeom>
        </p:spPr>
      </p:pic>
      <p:cxnSp>
        <p:nvCxnSpPr>
          <p:cNvPr id="33" name="Straight Connector 32">
            <a:extLst>
              <a:ext uri="{FF2B5EF4-FFF2-40B4-BE49-F238E27FC236}">
                <a16:creationId xmlns:a16="http://schemas.microsoft.com/office/drawing/2014/main" id="{63C8BFC8-BA7B-4CDD-BFAC-A570F2D9DF1C}"/>
              </a:ext>
            </a:extLst>
          </p:cNvPr>
          <p:cNvCxnSpPr>
            <a:cxnSpLocks/>
          </p:cNvCxnSpPr>
          <p:nvPr/>
        </p:nvCxnSpPr>
        <p:spPr>
          <a:xfrm>
            <a:off x="2868300" y="1715305"/>
            <a:ext cx="2407653" cy="0"/>
          </a:xfrm>
          <a:prstGeom prst="line">
            <a:avLst/>
          </a:prstGeom>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D6E7EC9E-C1DE-4CC9-BC4C-C6518D0759A7}"/>
              </a:ext>
            </a:extLst>
          </p:cNvPr>
          <p:cNvSpPr txBox="1"/>
          <p:nvPr/>
        </p:nvSpPr>
        <p:spPr>
          <a:xfrm>
            <a:off x="5979202" y="1407529"/>
            <a:ext cx="577402" cy="307777"/>
          </a:xfrm>
          <a:prstGeom prst="rect">
            <a:avLst/>
          </a:prstGeom>
          <a:noFill/>
        </p:spPr>
        <p:txBody>
          <a:bodyPr wrap="none" rtlCol="0">
            <a:spAutoFit/>
          </a:bodyPr>
          <a:lstStyle/>
          <a:p>
            <a:r>
              <a:rPr lang="en-US" sz="1400"/>
              <a:t>100</a:t>
            </a:r>
            <a:r>
              <a:rPr lang="el-GR" sz="1400"/>
              <a:t>Ω</a:t>
            </a:r>
            <a:endParaRPr lang="en-US" sz="1400"/>
          </a:p>
        </p:txBody>
      </p:sp>
      <p:sp>
        <p:nvSpPr>
          <p:cNvPr id="36" name="TextBox 35">
            <a:extLst>
              <a:ext uri="{FF2B5EF4-FFF2-40B4-BE49-F238E27FC236}">
                <a16:creationId xmlns:a16="http://schemas.microsoft.com/office/drawing/2014/main" id="{375B6A58-6CEA-4F68-AEAC-C8091FBB04A1}"/>
              </a:ext>
            </a:extLst>
          </p:cNvPr>
          <p:cNvSpPr txBox="1"/>
          <p:nvPr/>
        </p:nvSpPr>
        <p:spPr>
          <a:xfrm>
            <a:off x="2895593" y="2219042"/>
            <a:ext cx="612668" cy="307777"/>
          </a:xfrm>
          <a:prstGeom prst="rect">
            <a:avLst/>
          </a:prstGeom>
          <a:noFill/>
        </p:spPr>
        <p:txBody>
          <a:bodyPr wrap="none" rtlCol="0">
            <a:spAutoFit/>
          </a:bodyPr>
          <a:lstStyle/>
          <a:p>
            <a:r>
              <a:rPr lang="en-US" sz="1400"/>
              <a:t>9.3k</a:t>
            </a:r>
            <a:r>
              <a:rPr lang="el-GR" sz="1400"/>
              <a:t>Ω</a:t>
            </a:r>
            <a:endParaRPr lang="en-US" sz="1400"/>
          </a:p>
        </p:txBody>
      </p:sp>
      <p:cxnSp>
        <p:nvCxnSpPr>
          <p:cNvPr id="48" name="Straight Connector 47">
            <a:extLst>
              <a:ext uri="{FF2B5EF4-FFF2-40B4-BE49-F238E27FC236}">
                <a16:creationId xmlns:a16="http://schemas.microsoft.com/office/drawing/2014/main" id="{0309A0E1-9BCA-4266-9556-EFED913F1AFE}"/>
              </a:ext>
            </a:extLst>
          </p:cNvPr>
          <p:cNvCxnSpPr>
            <a:cxnSpLocks/>
          </p:cNvCxnSpPr>
          <p:nvPr/>
        </p:nvCxnSpPr>
        <p:spPr>
          <a:xfrm>
            <a:off x="2859395" y="1715306"/>
            <a:ext cx="6028" cy="1028079"/>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7D69C70-D93A-4B19-9B3E-A339004411B1}"/>
              </a:ext>
            </a:extLst>
          </p:cNvPr>
          <p:cNvCxnSpPr>
            <a:cxnSpLocks/>
          </p:cNvCxnSpPr>
          <p:nvPr/>
        </p:nvCxnSpPr>
        <p:spPr>
          <a:xfrm>
            <a:off x="3496925" y="2756720"/>
            <a:ext cx="666875" cy="119731"/>
          </a:xfrm>
          <a:prstGeom prst="line">
            <a:avLst/>
          </a:prstGeom>
          <a:ln>
            <a:headEnd type="none" w="med" len="med"/>
          </a:ln>
        </p:spPr>
        <p:style>
          <a:lnRef idx="2">
            <a:schemeClr val="accent1"/>
          </a:lnRef>
          <a:fillRef idx="0">
            <a:schemeClr val="accent1"/>
          </a:fillRef>
          <a:effectRef idx="1">
            <a:schemeClr val="accent1"/>
          </a:effectRef>
          <a:fontRef idx="minor">
            <a:schemeClr val="tx1"/>
          </a:fontRef>
        </p:style>
      </p:cxnSp>
      <p:graphicFrame>
        <p:nvGraphicFramePr>
          <p:cNvPr id="1039" name="Table 1039">
            <a:extLst>
              <a:ext uri="{FF2B5EF4-FFF2-40B4-BE49-F238E27FC236}">
                <a16:creationId xmlns:a16="http://schemas.microsoft.com/office/drawing/2014/main" id="{54DAC0DE-BE5A-45E3-9394-012C951D11B6}"/>
              </a:ext>
            </a:extLst>
          </p:cNvPr>
          <p:cNvGraphicFramePr>
            <a:graphicFrameLocks noGrp="1"/>
          </p:cNvGraphicFramePr>
          <p:nvPr>
            <p:extLst>
              <p:ext uri="{D42A27DB-BD31-4B8C-83A1-F6EECF244321}">
                <p14:modId xmlns:p14="http://schemas.microsoft.com/office/powerpoint/2010/main" val="3503049508"/>
              </p:ext>
            </p:extLst>
          </p:nvPr>
        </p:nvGraphicFramePr>
        <p:xfrm>
          <a:off x="8525302" y="280472"/>
          <a:ext cx="3512025" cy="1280160"/>
        </p:xfrm>
        <a:graphic>
          <a:graphicData uri="http://schemas.openxmlformats.org/drawingml/2006/table">
            <a:tbl>
              <a:tblPr firstRow="1" bandRow="1">
                <a:tableStyleId>{5C22544A-7EE6-4342-B048-85BDC9FD1C3A}</a:tableStyleId>
              </a:tblPr>
              <a:tblGrid>
                <a:gridCol w="1170675">
                  <a:extLst>
                    <a:ext uri="{9D8B030D-6E8A-4147-A177-3AD203B41FA5}">
                      <a16:colId xmlns:a16="http://schemas.microsoft.com/office/drawing/2014/main" val="1024278149"/>
                    </a:ext>
                  </a:extLst>
                </a:gridCol>
                <a:gridCol w="1170675">
                  <a:extLst>
                    <a:ext uri="{9D8B030D-6E8A-4147-A177-3AD203B41FA5}">
                      <a16:colId xmlns:a16="http://schemas.microsoft.com/office/drawing/2014/main" val="203658192"/>
                    </a:ext>
                  </a:extLst>
                </a:gridCol>
                <a:gridCol w="1170675">
                  <a:extLst>
                    <a:ext uri="{9D8B030D-6E8A-4147-A177-3AD203B41FA5}">
                      <a16:colId xmlns:a16="http://schemas.microsoft.com/office/drawing/2014/main" val="3275322668"/>
                    </a:ext>
                  </a:extLst>
                </a:gridCol>
              </a:tblGrid>
              <a:tr h="314960">
                <a:tc>
                  <a:txBody>
                    <a:bodyPr/>
                    <a:lstStyle/>
                    <a:p>
                      <a:r>
                        <a:rPr lang="en-US" sz="1500"/>
                        <a:t>Parts</a:t>
                      </a:r>
                    </a:p>
                  </a:txBody>
                  <a:tcPr/>
                </a:tc>
                <a:tc>
                  <a:txBody>
                    <a:bodyPr/>
                    <a:lstStyle/>
                    <a:p>
                      <a:r>
                        <a:rPr lang="en-US" sz="1500"/>
                        <a:t>Min</a:t>
                      </a:r>
                    </a:p>
                  </a:txBody>
                  <a:tcPr/>
                </a:tc>
                <a:tc>
                  <a:txBody>
                    <a:bodyPr/>
                    <a:lstStyle/>
                    <a:p>
                      <a:r>
                        <a:rPr lang="en-US" sz="1500"/>
                        <a:t>Frequency</a:t>
                      </a:r>
                    </a:p>
                  </a:txBody>
                  <a:tcPr/>
                </a:tc>
                <a:extLst>
                  <a:ext uri="{0D108BD9-81ED-4DB2-BD59-A6C34878D82A}">
                    <a16:rowId xmlns:a16="http://schemas.microsoft.com/office/drawing/2014/main" val="4138996223"/>
                  </a:ext>
                </a:extLst>
              </a:tr>
              <a:tr h="314960">
                <a:tc>
                  <a:txBody>
                    <a:bodyPr/>
                    <a:lstStyle/>
                    <a:p>
                      <a:r>
                        <a:rPr lang="en-US" sz="1500"/>
                        <a:t>0.01uF (103)</a:t>
                      </a:r>
                    </a:p>
                  </a:txBody>
                  <a:tcPr/>
                </a:tc>
                <a:tc rowSpan="3">
                  <a:txBody>
                    <a:bodyPr/>
                    <a:lstStyle/>
                    <a:p>
                      <a:pPr algn="ctr"/>
                      <a:r>
                        <a:rPr lang="en-US" sz="1500"/>
                        <a:t>5KHz</a:t>
                      </a:r>
                    </a:p>
                  </a:txBody>
                  <a:tcPr anchor="ctr"/>
                </a:tc>
                <a:tc rowSpan="3">
                  <a:txBody>
                    <a:bodyPr/>
                    <a:lstStyle/>
                    <a:p>
                      <a:pPr algn="ctr"/>
                      <a:r>
                        <a:rPr lang="en-US" sz="1500"/>
                        <a:t>420KHz</a:t>
                      </a:r>
                    </a:p>
                  </a:txBody>
                  <a:tcPr anchor="ctr"/>
                </a:tc>
                <a:extLst>
                  <a:ext uri="{0D108BD9-81ED-4DB2-BD59-A6C34878D82A}">
                    <a16:rowId xmlns:a16="http://schemas.microsoft.com/office/drawing/2014/main" val="1858621553"/>
                  </a:ext>
                </a:extLst>
              </a:tr>
              <a:tr h="314960">
                <a:tc>
                  <a:txBody>
                    <a:bodyPr/>
                    <a:lstStyle/>
                    <a:p>
                      <a:r>
                        <a:rPr lang="en-US" sz="1500"/>
                        <a:t>R2=100</a:t>
                      </a:r>
                    </a:p>
                  </a:txBody>
                  <a:tcPr/>
                </a:tc>
                <a:tc vMerge="1">
                  <a:txBody>
                    <a:bodyPr/>
                    <a:lstStyle/>
                    <a:p>
                      <a:pPr algn="r"/>
                      <a:endParaRPr lang="en-US" sz="1400"/>
                    </a:p>
                  </a:txBody>
                  <a:tcPr/>
                </a:tc>
                <a:tc vMerge="1">
                  <a:txBody>
                    <a:bodyPr/>
                    <a:lstStyle/>
                    <a:p>
                      <a:pPr algn="r"/>
                      <a:endParaRPr lang="en-US" sz="1400"/>
                    </a:p>
                  </a:txBody>
                  <a:tcPr/>
                </a:tc>
                <a:extLst>
                  <a:ext uri="{0D108BD9-81ED-4DB2-BD59-A6C34878D82A}">
                    <a16:rowId xmlns:a16="http://schemas.microsoft.com/office/drawing/2014/main" val="4071630758"/>
                  </a:ext>
                </a:extLst>
              </a:tr>
              <a:tr h="314960">
                <a:tc>
                  <a:txBody>
                    <a:bodyPr/>
                    <a:lstStyle/>
                    <a:p>
                      <a:r>
                        <a:rPr lang="en-US" sz="1500"/>
                        <a:t>Rpin5=10K</a:t>
                      </a:r>
                    </a:p>
                  </a:txBody>
                  <a:tcPr/>
                </a:tc>
                <a:tc vMerge="1">
                  <a:txBody>
                    <a:bodyPr/>
                    <a:lstStyle/>
                    <a:p>
                      <a:pPr algn="r"/>
                      <a:endParaRPr lang="en-US" sz="1400"/>
                    </a:p>
                  </a:txBody>
                  <a:tcPr/>
                </a:tc>
                <a:tc vMerge="1">
                  <a:txBody>
                    <a:bodyPr/>
                    <a:lstStyle/>
                    <a:p>
                      <a:pPr algn="r"/>
                      <a:endParaRPr lang="en-US" sz="1400"/>
                    </a:p>
                  </a:txBody>
                  <a:tcPr/>
                </a:tc>
                <a:extLst>
                  <a:ext uri="{0D108BD9-81ED-4DB2-BD59-A6C34878D82A}">
                    <a16:rowId xmlns:a16="http://schemas.microsoft.com/office/drawing/2014/main" val="3484433657"/>
                  </a:ext>
                </a:extLst>
              </a:tr>
            </a:tbl>
          </a:graphicData>
        </a:graphic>
      </p:graphicFrame>
      <p:sp>
        <p:nvSpPr>
          <p:cNvPr id="1041" name="TextBox 1040">
            <a:extLst>
              <a:ext uri="{FF2B5EF4-FFF2-40B4-BE49-F238E27FC236}">
                <a16:creationId xmlns:a16="http://schemas.microsoft.com/office/drawing/2014/main" id="{40EB74ED-D30C-4C82-89F8-553E3EA1FC8E}"/>
              </a:ext>
            </a:extLst>
          </p:cNvPr>
          <p:cNvSpPr txBox="1"/>
          <p:nvPr/>
        </p:nvSpPr>
        <p:spPr>
          <a:xfrm>
            <a:off x="5274345" y="3302150"/>
            <a:ext cx="276038" cy="307777"/>
          </a:xfrm>
          <a:prstGeom prst="rect">
            <a:avLst/>
          </a:prstGeom>
          <a:noFill/>
        </p:spPr>
        <p:txBody>
          <a:bodyPr wrap="none" rtlCol="0">
            <a:spAutoFit/>
          </a:bodyPr>
          <a:lstStyle/>
          <a:p>
            <a:r>
              <a:rPr lang="en-US" sz="1400"/>
              <a:t>2</a:t>
            </a:r>
          </a:p>
        </p:txBody>
      </p:sp>
      <p:sp>
        <p:nvSpPr>
          <p:cNvPr id="86" name="TextBox 85">
            <a:extLst>
              <a:ext uri="{FF2B5EF4-FFF2-40B4-BE49-F238E27FC236}">
                <a16:creationId xmlns:a16="http://schemas.microsoft.com/office/drawing/2014/main" id="{5E50FE53-A2B5-4E2D-896A-F6AD05014F28}"/>
              </a:ext>
            </a:extLst>
          </p:cNvPr>
          <p:cNvSpPr txBox="1"/>
          <p:nvPr/>
        </p:nvSpPr>
        <p:spPr>
          <a:xfrm>
            <a:off x="4280143" y="2538177"/>
            <a:ext cx="276038" cy="307777"/>
          </a:xfrm>
          <a:prstGeom prst="rect">
            <a:avLst/>
          </a:prstGeom>
          <a:noFill/>
        </p:spPr>
        <p:txBody>
          <a:bodyPr wrap="none" rtlCol="0">
            <a:spAutoFit/>
          </a:bodyPr>
          <a:lstStyle/>
          <a:p>
            <a:r>
              <a:rPr lang="en-US" sz="1400"/>
              <a:t>6</a:t>
            </a:r>
          </a:p>
        </p:txBody>
      </p:sp>
      <p:pic>
        <p:nvPicPr>
          <p:cNvPr id="4" name="Picture 2" descr="555 Timer Tutorial - The Monostable Multivibrator">
            <a:extLst>
              <a:ext uri="{FF2B5EF4-FFF2-40B4-BE49-F238E27FC236}">
                <a16:creationId xmlns:a16="http://schemas.microsoft.com/office/drawing/2014/main" id="{75083809-154A-8B31-459A-8D52DFA443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3085" y="3738929"/>
            <a:ext cx="4114599" cy="3023435"/>
          </a:xfrm>
          <a:prstGeom prst="rect">
            <a:avLst/>
          </a:prstGeom>
          <a:noFill/>
          <a:extLst>
            <a:ext uri="{909E8E84-426E-40DD-AFC4-6F175D3DCCD1}">
              <a14:hiddenFill xmlns:a14="http://schemas.microsoft.com/office/drawing/2010/main">
                <a:solidFill>
                  <a:srgbClr val="FFFFFF"/>
                </a:solidFill>
              </a14:hiddenFill>
            </a:ext>
          </a:extLst>
        </p:spPr>
      </p:pic>
      <p:sp>
        <p:nvSpPr>
          <p:cNvPr id="1038" name="TextBox 1037">
            <a:extLst>
              <a:ext uri="{FF2B5EF4-FFF2-40B4-BE49-F238E27FC236}">
                <a16:creationId xmlns:a16="http://schemas.microsoft.com/office/drawing/2014/main" id="{86B098DF-6361-4E5A-98CF-2B9C0F7A9272}"/>
              </a:ext>
            </a:extLst>
          </p:cNvPr>
          <p:cNvSpPr txBox="1"/>
          <p:nvPr/>
        </p:nvSpPr>
        <p:spPr>
          <a:xfrm>
            <a:off x="2693159" y="5911374"/>
            <a:ext cx="1155429" cy="523220"/>
          </a:xfrm>
          <a:prstGeom prst="rect">
            <a:avLst/>
          </a:prstGeom>
          <a:solidFill>
            <a:schemeClr val="accent6">
              <a:lumMod val="20000"/>
              <a:lumOff val="80000"/>
            </a:schemeClr>
          </a:solidFill>
          <a:ln>
            <a:solidFill>
              <a:schemeClr val="tx2"/>
            </a:solidFill>
          </a:ln>
        </p:spPr>
        <p:txBody>
          <a:bodyPr wrap="square" rtlCol="0">
            <a:spAutoFit/>
          </a:bodyPr>
          <a:lstStyle/>
          <a:p>
            <a:r>
              <a:rPr lang="en-US" sz="1400"/>
              <a:t>Single Step</a:t>
            </a:r>
          </a:p>
          <a:p>
            <a:r>
              <a:rPr lang="en-US" sz="1400"/>
              <a:t>(Yellow wire)</a:t>
            </a:r>
          </a:p>
        </p:txBody>
      </p:sp>
      <p:cxnSp>
        <p:nvCxnSpPr>
          <p:cNvPr id="15" name="Straight Arrow Connector 14">
            <a:extLst>
              <a:ext uri="{FF2B5EF4-FFF2-40B4-BE49-F238E27FC236}">
                <a16:creationId xmlns:a16="http://schemas.microsoft.com/office/drawing/2014/main" id="{68C41745-66AD-A365-31E2-85802A2D2C75}"/>
              </a:ext>
            </a:extLst>
          </p:cNvPr>
          <p:cNvCxnSpPr/>
          <p:nvPr/>
        </p:nvCxnSpPr>
        <p:spPr>
          <a:xfrm>
            <a:off x="7483575" y="2743383"/>
            <a:ext cx="975708"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6" name="Straight Arrow Connector 45">
            <a:extLst>
              <a:ext uri="{FF2B5EF4-FFF2-40B4-BE49-F238E27FC236}">
                <a16:creationId xmlns:a16="http://schemas.microsoft.com/office/drawing/2014/main" id="{186F107D-007A-8099-0BF6-F252A3F47D0A}"/>
              </a:ext>
            </a:extLst>
          </p:cNvPr>
          <p:cNvCxnSpPr/>
          <p:nvPr/>
        </p:nvCxnSpPr>
        <p:spPr>
          <a:xfrm>
            <a:off x="7284950" y="5335628"/>
            <a:ext cx="975708"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7" name="TextBox 46">
            <a:extLst>
              <a:ext uri="{FF2B5EF4-FFF2-40B4-BE49-F238E27FC236}">
                <a16:creationId xmlns:a16="http://schemas.microsoft.com/office/drawing/2014/main" id="{A7042D63-9204-AA1F-528B-A1277DED8F00}"/>
              </a:ext>
            </a:extLst>
          </p:cNvPr>
          <p:cNvSpPr txBox="1"/>
          <p:nvPr/>
        </p:nvSpPr>
        <p:spPr>
          <a:xfrm>
            <a:off x="8322267" y="5181740"/>
            <a:ext cx="742511" cy="307777"/>
          </a:xfrm>
          <a:prstGeom prst="rect">
            <a:avLst/>
          </a:prstGeom>
          <a:solidFill>
            <a:schemeClr val="bg1"/>
          </a:solidFill>
          <a:ln>
            <a:solidFill>
              <a:schemeClr val="tx2"/>
            </a:solidFill>
          </a:ln>
        </p:spPr>
        <p:txBody>
          <a:bodyPr wrap="none" rtlCol="0">
            <a:spAutoFit/>
          </a:bodyPr>
          <a:lstStyle/>
          <a:p>
            <a:r>
              <a:rPr lang="en-US" sz="1400"/>
              <a:t>S.S. CLK</a:t>
            </a:r>
          </a:p>
        </p:txBody>
      </p:sp>
      <p:sp>
        <p:nvSpPr>
          <p:cNvPr id="49" name="TextBox 48">
            <a:extLst>
              <a:ext uri="{FF2B5EF4-FFF2-40B4-BE49-F238E27FC236}">
                <a16:creationId xmlns:a16="http://schemas.microsoft.com/office/drawing/2014/main" id="{9B655F30-8A60-405A-CAA6-D36889C5681C}"/>
              </a:ext>
            </a:extLst>
          </p:cNvPr>
          <p:cNvSpPr txBox="1"/>
          <p:nvPr/>
        </p:nvSpPr>
        <p:spPr>
          <a:xfrm>
            <a:off x="8459284" y="2561280"/>
            <a:ext cx="1091966" cy="307777"/>
          </a:xfrm>
          <a:prstGeom prst="rect">
            <a:avLst/>
          </a:prstGeom>
          <a:solidFill>
            <a:schemeClr val="bg1"/>
          </a:solidFill>
          <a:ln>
            <a:solidFill>
              <a:schemeClr val="tx2"/>
            </a:solidFill>
          </a:ln>
        </p:spPr>
        <p:txBody>
          <a:bodyPr wrap="none" rtlCol="0">
            <a:spAutoFit/>
          </a:bodyPr>
          <a:lstStyle/>
          <a:p>
            <a:r>
              <a:rPr lang="en-US" sz="1400"/>
              <a:t>Running CLK</a:t>
            </a:r>
          </a:p>
        </p:txBody>
      </p:sp>
      <p:sp>
        <p:nvSpPr>
          <p:cNvPr id="3" name="Oval 2">
            <a:extLst>
              <a:ext uri="{FF2B5EF4-FFF2-40B4-BE49-F238E27FC236}">
                <a16:creationId xmlns:a16="http://schemas.microsoft.com/office/drawing/2014/main" id="{577908C6-97FD-4F66-9F2B-FEE655F6C528}"/>
              </a:ext>
            </a:extLst>
          </p:cNvPr>
          <p:cNvSpPr/>
          <p:nvPr/>
        </p:nvSpPr>
        <p:spPr>
          <a:xfrm>
            <a:off x="4641652" y="2832574"/>
            <a:ext cx="89211" cy="892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9F596BB-9367-C0A9-F3C7-BB4D6D43CE47}"/>
              </a:ext>
            </a:extLst>
          </p:cNvPr>
          <p:cNvSpPr/>
          <p:nvPr/>
        </p:nvSpPr>
        <p:spPr>
          <a:xfrm>
            <a:off x="4641652" y="2984974"/>
            <a:ext cx="89211" cy="892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97214CB1-89FF-573A-7E67-21382ED69902}"/>
              </a:ext>
            </a:extLst>
          </p:cNvPr>
          <p:cNvPicPr>
            <a:picLocks noChangeAspect="1"/>
          </p:cNvPicPr>
          <p:nvPr/>
        </p:nvPicPr>
        <p:blipFill>
          <a:blip r:embed="rId6"/>
          <a:stretch>
            <a:fillRect/>
          </a:stretch>
        </p:blipFill>
        <p:spPr>
          <a:xfrm>
            <a:off x="4953984" y="3248107"/>
            <a:ext cx="150176" cy="361787"/>
          </a:xfrm>
          <a:prstGeom prst="rect">
            <a:avLst/>
          </a:prstGeom>
        </p:spPr>
      </p:pic>
      <p:sp>
        <p:nvSpPr>
          <p:cNvPr id="32" name="TextBox 31">
            <a:extLst>
              <a:ext uri="{FF2B5EF4-FFF2-40B4-BE49-F238E27FC236}">
                <a16:creationId xmlns:a16="http://schemas.microsoft.com/office/drawing/2014/main" id="{08256651-26D9-BD2C-50D5-7C37ADDE41C5}"/>
              </a:ext>
            </a:extLst>
          </p:cNvPr>
          <p:cNvSpPr txBox="1"/>
          <p:nvPr/>
        </p:nvSpPr>
        <p:spPr>
          <a:xfrm rot="16200000">
            <a:off x="4644677" y="3309920"/>
            <a:ext cx="524503" cy="276999"/>
          </a:xfrm>
          <a:prstGeom prst="rect">
            <a:avLst/>
          </a:prstGeom>
          <a:noFill/>
        </p:spPr>
        <p:txBody>
          <a:bodyPr wrap="none" rtlCol="0">
            <a:spAutoFit/>
          </a:bodyPr>
          <a:lstStyle/>
          <a:p>
            <a:r>
              <a:rPr lang="en-US" sz="1200"/>
              <a:t>10K</a:t>
            </a:r>
            <a:r>
              <a:rPr lang="el-GR" sz="1200"/>
              <a:t>Ω</a:t>
            </a:r>
            <a:endParaRPr lang="en-US" sz="1200"/>
          </a:p>
        </p:txBody>
      </p:sp>
      <p:cxnSp>
        <p:nvCxnSpPr>
          <p:cNvPr id="16" name="Straight Connector 15">
            <a:extLst>
              <a:ext uri="{FF2B5EF4-FFF2-40B4-BE49-F238E27FC236}">
                <a16:creationId xmlns:a16="http://schemas.microsoft.com/office/drawing/2014/main" id="{82A19C8E-A580-B396-10D9-D5333CC21061}"/>
              </a:ext>
            </a:extLst>
          </p:cNvPr>
          <p:cNvCxnSpPr>
            <a:cxnSpLocks/>
          </p:cNvCxnSpPr>
          <p:nvPr/>
        </p:nvCxnSpPr>
        <p:spPr>
          <a:xfrm>
            <a:off x="5030447" y="3267044"/>
            <a:ext cx="274320" cy="0"/>
          </a:xfrm>
          <a:prstGeom prst="line">
            <a:avLst/>
          </a:prstGeom>
        </p:spPr>
        <p:style>
          <a:lnRef idx="2">
            <a:schemeClr val="accent1"/>
          </a:lnRef>
          <a:fillRef idx="0">
            <a:schemeClr val="accent1"/>
          </a:fillRef>
          <a:effectRef idx="1">
            <a:schemeClr val="accent1"/>
          </a:effectRef>
          <a:fontRef idx="minor">
            <a:schemeClr val="tx1"/>
          </a:fontRef>
        </p:style>
      </p:cxnSp>
      <p:sp>
        <p:nvSpPr>
          <p:cNvPr id="5" name="Speech Bubble: Rectangle with Corners Rounded 4">
            <a:extLst>
              <a:ext uri="{FF2B5EF4-FFF2-40B4-BE49-F238E27FC236}">
                <a16:creationId xmlns:a16="http://schemas.microsoft.com/office/drawing/2014/main" id="{472271AF-9030-28BB-EE5D-5BA0144EAA61}"/>
              </a:ext>
            </a:extLst>
          </p:cNvPr>
          <p:cNvSpPr/>
          <p:nvPr/>
        </p:nvSpPr>
        <p:spPr>
          <a:xfrm>
            <a:off x="46970" y="2816586"/>
            <a:ext cx="3099357" cy="1873405"/>
          </a:xfrm>
          <a:prstGeom prst="wedgeRoundRectCallout">
            <a:avLst>
              <a:gd name="adj1" fmla="val 101733"/>
              <a:gd name="adj2" fmla="val -11510"/>
              <a:gd name="adj3" fmla="val 16667"/>
            </a:avLst>
          </a:prstGeom>
        </p:spPr>
        <p:style>
          <a:lnRef idx="2">
            <a:schemeClr val="accent2"/>
          </a:lnRef>
          <a:fillRef idx="1">
            <a:schemeClr val="lt1"/>
          </a:fillRef>
          <a:effectRef idx="0">
            <a:schemeClr val="accent2"/>
          </a:effectRef>
          <a:fontRef idx="minor">
            <a:schemeClr val="dk1"/>
          </a:fontRef>
        </p:style>
        <p:txBody>
          <a:bodyPr rtlCol="0" anchor="ctr"/>
          <a:lstStyle/>
          <a:p>
            <a:r>
              <a:rPr lang="en-US" sz="1000" u="sng"/>
              <a:t>R on pin 5:</a:t>
            </a:r>
          </a:p>
          <a:p>
            <a:r>
              <a:rPr lang="en-US" sz="1000"/>
              <a:t>The design of using </a:t>
            </a:r>
            <a:r>
              <a:rPr lang="en-US" sz="1000" err="1"/>
              <a:t>Vout</a:t>
            </a:r>
            <a:r>
              <a:rPr lang="en-US" sz="1000"/>
              <a:t> as power for charging C1 generates 50% duty cycle only if </a:t>
            </a:r>
            <a:r>
              <a:rPr lang="en-US" sz="1000" err="1"/>
              <a:t>Vout</a:t>
            </a:r>
            <a:r>
              <a:rPr lang="en-US" sz="1000"/>
              <a:t>==</a:t>
            </a:r>
            <a:r>
              <a:rPr lang="en-US" sz="1000" err="1"/>
              <a:t>Vcc</a:t>
            </a:r>
            <a:r>
              <a:rPr lang="en-US" sz="1000"/>
              <a:t>. In reality, it is lower and the capacitor takes more time to reach the higher trigger point and duty cycle without it is only 33%.</a:t>
            </a:r>
          </a:p>
          <a:p>
            <a:r>
              <a:rPr lang="en-US" sz="1000"/>
              <a:t>With 10K on pin 5, both  triggering points become lower, closer to 1/3 and 2/3 of </a:t>
            </a:r>
            <a:r>
              <a:rPr lang="en-US" sz="1000" err="1"/>
              <a:t>Vout</a:t>
            </a:r>
            <a:r>
              <a:rPr lang="en-US" sz="1000"/>
              <a:t> (instead of </a:t>
            </a:r>
            <a:r>
              <a:rPr lang="en-US" sz="1000" err="1"/>
              <a:t>Vcc</a:t>
            </a:r>
            <a:r>
              <a:rPr lang="en-US" sz="1000"/>
              <a:t>). That provides 50% duty </a:t>
            </a:r>
            <a:r>
              <a:rPr lang="en-US" sz="1000" err="1"/>
              <a:t>cicle,also</a:t>
            </a:r>
            <a:r>
              <a:rPr lang="en-US" sz="1000"/>
              <a:t> increase the frequency because the distance between the points is smaller (increasing the max frequency of this design from 250hHz to 420kHz) </a:t>
            </a:r>
          </a:p>
        </p:txBody>
      </p:sp>
      <p:pic>
        <p:nvPicPr>
          <p:cNvPr id="13" name="Picture 12">
            <a:hlinkClick r:id="rId7" action="ppaction://hlinksldjump"/>
            <a:extLst>
              <a:ext uri="{FF2B5EF4-FFF2-40B4-BE49-F238E27FC236}">
                <a16:creationId xmlns:a16="http://schemas.microsoft.com/office/drawing/2014/main" id="{D7ADB074-8D27-35B3-6F57-1AA16E4E460E}"/>
              </a:ext>
            </a:extLst>
          </p:cNvPr>
          <p:cNvPicPr>
            <a:picLocks noChangeAspect="1"/>
          </p:cNvPicPr>
          <p:nvPr/>
        </p:nvPicPr>
        <p:blipFill>
          <a:blip r:embed="rId8"/>
          <a:stretch>
            <a:fillRect/>
          </a:stretch>
        </p:blipFill>
        <p:spPr>
          <a:xfrm>
            <a:off x="11038384" y="6427540"/>
            <a:ext cx="1076851" cy="222744"/>
          </a:xfrm>
          <a:prstGeom prst="rect">
            <a:avLst/>
          </a:prstGeom>
        </p:spPr>
      </p:pic>
      <p:sp>
        <p:nvSpPr>
          <p:cNvPr id="17" name="Slide Number Placeholder 4">
            <a:extLst>
              <a:ext uri="{FF2B5EF4-FFF2-40B4-BE49-F238E27FC236}">
                <a16:creationId xmlns:a16="http://schemas.microsoft.com/office/drawing/2014/main" id="{FC7E088F-3479-F490-72DF-B3AA127B6ACA}"/>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102</a:t>
            </a:fld>
            <a:endParaRPr lang="en-US" b="1">
              <a:solidFill>
                <a:schemeClr val="bg1"/>
              </a:solidFill>
            </a:endParaRPr>
          </a:p>
        </p:txBody>
      </p:sp>
    </p:spTree>
    <p:extLst>
      <p:ext uri="{BB962C8B-B14F-4D97-AF65-F5344CB8AC3E}">
        <p14:creationId xmlns:p14="http://schemas.microsoft.com/office/powerpoint/2010/main" val="3710021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89B5FF5-F178-E2F4-AF11-468D75A35BB1}"/>
              </a:ext>
            </a:extLst>
          </p:cNvPr>
          <p:cNvGrpSpPr/>
          <p:nvPr/>
        </p:nvGrpSpPr>
        <p:grpSpPr>
          <a:xfrm>
            <a:off x="2644080" y="1247406"/>
            <a:ext cx="2537085" cy="3480628"/>
            <a:chOff x="5173899" y="2163970"/>
            <a:chExt cx="2537085" cy="3480628"/>
          </a:xfrm>
        </p:grpSpPr>
        <p:pic>
          <p:nvPicPr>
            <p:cNvPr id="6" name="Picture 5">
              <a:extLst>
                <a:ext uri="{FF2B5EF4-FFF2-40B4-BE49-F238E27FC236}">
                  <a16:creationId xmlns:a16="http://schemas.microsoft.com/office/drawing/2014/main" id="{16AD962D-D1E3-CA7D-6DA0-DBA991368E5C}"/>
                </a:ext>
              </a:extLst>
            </p:cNvPr>
            <p:cNvPicPr>
              <a:picLocks noChangeAspect="1"/>
            </p:cNvPicPr>
            <p:nvPr/>
          </p:nvPicPr>
          <p:blipFill>
            <a:blip r:embed="rId2"/>
            <a:stretch>
              <a:fillRect/>
            </a:stretch>
          </p:blipFill>
          <p:spPr>
            <a:xfrm>
              <a:off x="5173899" y="2163970"/>
              <a:ext cx="2537085" cy="3480628"/>
            </a:xfrm>
            <a:prstGeom prst="rect">
              <a:avLst/>
            </a:prstGeom>
          </p:spPr>
        </p:pic>
        <p:sp>
          <p:nvSpPr>
            <p:cNvPr id="7" name="TextBox 6">
              <a:extLst>
                <a:ext uri="{FF2B5EF4-FFF2-40B4-BE49-F238E27FC236}">
                  <a16:creationId xmlns:a16="http://schemas.microsoft.com/office/drawing/2014/main" id="{1685D90A-7743-022F-C61A-576A0EE216AC}"/>
                </a:ext>
              </a:extLst>
            </p:cNvPr>
            <p:cNvSpPr txBox="1"/>
            <p:nvPr/>
          </p:nvSpPr>
          <p:spPr>
            <a:xfrm>
              <a:off x="6096000" y="3593685"/>
              <a:ext cx="1086575" cy="369332"/>
            </a:xfrm>
            <a:prstGeom prst="rect">
              <a:avLst/>
            </a:prstGeom>
            <a:noFill/>
          </p:spPr>
          <p:txBody>
            <a:bodyPr wrap="square" rtlCol="0">
              <a:spAutoFit/>
            </a:bodyPr>
            <a:lstStyle/>
            <a:p>
              <a:r>
                <a:rPr lang="en-US"/>
                <a:t>74LS76</a:t>
              </a:r>
            </a:p>
          </p:txBody>
        </p:sp>
      </p:grpSp>
      <p:sp>
        <p:nvSpPr>
          <p:cNvPr id="9" name="TextBox 8">
            <a:extLst>
              <a:ext uri="{FF2B5EF4-FFF2-40B4-BE49-F238E27FC236}">
                <a16:creationId xmlns:a16="http://schemas.microsoft.com/office/drawing/2014/main" id="{0E410501-3753-888C-6A4E-DCCB6BE51BDF}"/>
              </a:ext>
            </a:extLst>
          </p:cNvPr>
          <p:cNvSpPr txBox="1"/>
          <p:nvPr/>
        </p:nvSpPr>
        <p:spPr>
          <a:xfrm>
            <a:off x="1218919" y="2833832"/>
            <a:ext cx="1091966" cy="307777"/>
          </a:xfrm>
          <a:prstGeom prst="rect">
            <a:avLst/>
          </a:prstGeom>
          <a:solidFill>
            <a:schemeClr val="bg1"/>
          </a:solidFill>
          <a:ln>
            <a:solidFill>
              <a:schemeClr val="tx2"/>
            </a:solidFill>
          </a:ln>
        </p:spPr>
        <p:txBody>
          <a:bodyPr wrap="none" rtlCol="0">
            <a:spAutoFit/>
          </a:bodyPr>
          <a:lstStyle/>
          <a:p>
            <a:r>
              <a:rPr lang="en-US" sz="1400"/>
              <a:t>Running CLK</a:t>
            </a:r>
          </a:p>
        </p:txBody>
      </p:sp>
      <p:sp>
        <p:nvSpPr>
          <p:cNvPr id="10" name="TextBox 9">
            <a:hlinkClick r:id="rId3" action="ppaction://hlinksldjump"/>
            <a:extLst>
              <a:ext uri="{FF2B5EF4-FFF2-40B4-BE49-F238E27FC236}">
                <a16:creationId xmlns:a16="http://schemas.microsoft.com/office/drawing/2014/main" id="{D94467CC-CB2B-A44E-90BC-6CF06B902578}"/>
              </a:ext>
            </a:extLst>
          </p:cNvPr>
          <p:cNvSpPr txBox="1"/>
          <p:nvPr/>
        </p:nvSpPr>
        <p:spPr>
          <a:xfrm>
            <a:off x="989689" y="4574145"/>
            <a:ext cx="1321196" cy="307777"/>
          </a:xfrm>
          <a:prstGeom prst="rect">
            <a:avLst/>
          </a:prstGeom>
          <a:solidFill>
            <a:schemeClr val="bg1"/>
          </a:solidFill>
          <a:ln>
            <a:solidFill>
              <a:schemeClr val="tx2"/>
            </a:solidFill>
          </a:ln>
        </p:spPr>
        <p:txBody>
          <a:bodyPr wrap="none" rtlCol="0">
            <a:spAutoFit/>
          </a:bodyPr>
          <a:lstStyle/>
          <a:p>
            <a:r>
              <a:rPr lang="en-US" sz="1400"/>
              <a:t>Op Code 1: BRK</a:t>
            </a:r>
          </a:p>
        </p:txBody>
      </p:sp>
      <p:cxnSp>
        <p:nvCxnSpPr>
          <p:cNvPr id="12" name="Connector: Elbow 11">
            <a:extLst>
              <a:ext uri="{FF2B5EF4-FFF2-40B4-BE49-F238E27FC236}">
                <a16:creationId xmlns:a16="http://schemas.microsoft.com/office/drawing/2014/main" id="{9D213837-50FD-854A-4D89-CFFB612CCFBA}"/>
              </a:ext>
            </a:extLst>
          </p:cNvPr>
          <p:cNvCxnSpPr>
            <a:cxnSpLocks/>
            <a:stCxn id="10" idx="3"/>
          </p:cNvCxnSpPr>
          <p:nvPr/>
        </p:nvCxnSpPr>
        <p:spPr>
          <a:xfrm flipV="1">
            <a:off x="2310885" y="4308401"/>
            <a:ext cx="1646770" cy="419633"/>
          </a:xfrm>
          <a:prstGeom prst="bentConnector3">
            <a:avLst/>
          </a:prstGeom>
          <a:ln w="12700"/>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A4B9473-EE4A-26B5-764D-CA9E3EBFB4AD}"/>
              </a:ext>
            </a:extLst>
          </p:cNvPr>
          <p:cNvSpPr txBox="1"/>
          <p:nvPr/>
        </p:nvSpPr>
        <p:spPr>
          <a:xfrm>
            <a:off x="1721555" y="1528468"/>
            <a:ext cx="589329" cy="307777"/>
          </a:xfrm>
          <a:prstGeom prst="rect">
            <a:avLst/>
          </a:prstGeom>
          <a:solidFill>
            <a:schemeClr val="bg1"/>
          </a:solidFill>
          <a:ln>
            <a:solidFill>
              <a:schemeClr val="tx2"/>
            </a:solidFill>
          </a:ln>
        </p:spPr>
        <p:txBody>
          <a:bodyPr wrap="none" rtlCol="0">
            <a:spAutoFit/>
          </a:bodyPr>
          <a:lstStyle/>
          <a:p>
            <a:r>
              <a:rPr lang="en-US" sz="1400"/>
              <a:t>Reset</a:t>
            </a:r>
          </a:p>
        </p:txBody>
      </p:sp>
      <p:cxnSp>
        <p:nvCxnSpPr>
          <p:cNvPr id="15" name="Connector: Elbow 14">
            <a:extLst>
              <a:ext uri="{FF2B5EF4-FFF2-40B4-BE49-F238E27FC236}">
                <a16:creationId xmlns:a16="http://schemas.microsoft.com/office/drawing/2014/main" id="{3BD08A02-914A-5184-E75A-3FAAAAC6C5F1}"/>
              </a:ext>
            </a:extLst>
          </p:cNvPr>
          <p:cNvCxnSpPr>
            <a:cxnSpLocks/>
          </p:cNvCxnSpPr>
          <p:nvPr/>
        </p:nvCxnSpPr>
        <p:spPr>
          <a:xfrm>
            <a:off x="2325553" y="1672511"/>
            <a:ext cx="1632103" cy="249831"/>
          </a:xfrm>
          <a:prstGeom prst="bentConnector3">
            <a:avLst/>
          </a:prstGeom>
          <a:ln w="12700"/>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0309A12-DF6F-0A74-F810-F0DF692803CC}"/>
              </a:ext>
            </a:extLst>
          </p:cNvPr>
          <p:cNvSpPr txBox="1"/>
          <p:nvPr/>
        </p:nvSpPr>
        <p:spPr>
          <a:xfrm>
            <a:off x="1254317" y="2211430"/>
            <a:ext cx="1052404" cy="523220"/>
          </a:xfrm>
          <a:prstGeom prst="rect">
            <a:avLst/>
          </a:prstGeom>
          <a:solidFill>
            <a:schemeClr val="accent6">
              <a:lumMod val="20000"/>
              <a:lumOff val="80000"/>
            </a:schemeClr>
          </a:solidFill>
          <a:ln>
            <a:solidFill>
              <a:schemeClr val="tx2"/>
            </a:solidFill>
          </a:ln>
        </p:spPr>
        <p:txBody>
          <a:bodyPr wrap="none" rtlCol="0">
            <a:spAutoFit/>
          </a:bodyPr>
          <a:lstStyle/>
          <a:p>
            <a:r>
              <a:rPr lang="en-US" sz="1400"/>
              <a:t>BRK Button </a:t>
            </a:r>
          </a:p>
          <a:p>
            <a:r>
              <a:rPr lang="en-US" sz="1400"/>
              <a:t>(Purple)</a:t>
            </a:r>
          </a:p>
        </p:txBody>
      </p:sp>
      <p:sp>
        <p:nvSpPr>
          <p:cNvPr id="17" name="TextBox 16">
            <a:extLst>
              <a:ext uri="{FF2B5EF4-FFF2-40B4-BE49-F238E27FC236}">
                <a16:creationId xmlns:a16="http://schemas.microsoft.com/office/drawing/2014/main" id="{7D3BF3D6-1B71-4A41-E3BE-D00B4F1548D6}"/>
              </a:ext>
            </a:extLst>
          </p:cNvPr>
          <p:cNvSpPr txBox="1"/>
          <p:nvPr/>
        </p:nvSpPr>
        <p:spPr>
          <a:xfrm>
            <a:off x="1220835" y="3273544"/>
            <a:ext cx="1113253" cy="523220"/>
          </a:xfrm>
          <a:prstGeom prst="rect">
            <a:avLst/>
          </a:prstGeom>
          <a:solidFill>
            <a:schemeClr val="accent6">
              <a:lumMod val="20000"/>
              <a:lumOff val="80000"/>
            </a:schemeClr>
          </a:solidFill>
          <a:ln>
            <a:solidFill>
              <a:schemeClr val="tx2"/>
            </a:solidFill>
          </a:ln>
        </p:spPr>
        <p:txBody>
          <a:bodyPr wrap="none" rtlCol="0">
            <a:spAutoFit/>
          </a:bodyPr>
          <a:lstStyle/>
          <a:p>
            <a:r>
              <a:rPr lang="en-US" sz="1400"/>
              <a:t>Cont. Button</a:t>
            </a:r>
          </a:p>
          <a:p>
            <a:r>
              <a:rPr lang="en-US" sz="1400"/>
              <a:t>(Gray)</a:t>
            </a:r>
          </a:p>
        </p:txBody>
      </p:sp>
      <p:cxnSp>
        <p:nvCxnSpPr>
          <p:cNvPr id="19" name="Connector: Elbow 18">
            <a:extLst>
              <a:ext uri="{FF2B5EF4-FFF2-40B4-BE49-F238E27FC236}">
                <a16:creationId xmlns:a16="http://schemas.microsoft.com/office/drawing/2014/main" id="{A238C610-FB10-22A2-57AD-B109A7766D6A}"/>
              </a:ext>
            </a:extLst>
          </p:cNvPr>
          <p:cNvCxnSpPr>
            <a:cxnSpLocks/>
            <a:stCxn id="17" idx="3"/>
          </p:cNvCxnSpPr>
          <p:nvPr/>
        </p:nvCxnSpPr>
        <p:spPr>
          <a:xfrm>
            <a:off x="2334088" y="3535154"/>
            <a:ext cx="830718" cy="148310"/>
          </a:xfrm>
          <a:prstGeom prst="bentConnector3">
            <a:avLst/>
          </a:prstGeom>
          <a:ln w="12700"/>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136740B2-0197-4CF8-2D22-20F183F99748}"/>
              </a:ext>
            </a:extLst>
          </p:cNvPr>
          <p:cNvCxnSpPr>
            <a:cxnSpLocks/>
            <a:stCxn id="16" idx="3"/>
          </p:cNvCxnSpPr>
          <p:nvPr/>
        </p:nvCxnSpPr>
        <p:spPr>
          <a:xfrm>
            <a:off x="2306721" y="2473040"/>
            <a:ext cx="888381" cy="44932"/>
          </a:xfrm>
          <a:prstGeom prst="bentConnector3">
            <a:avLst/>
          </a:prstGeom>
          <a:ln w="12700"/>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74BA8C38-CB62-DDB4-F9F3-9A7E2F0406D2}"/>
              </a:ext>
            </a:extLst>
          </p:cNvPr>
          <p:cNvCxnSpPr>
            <a:cxnSpLocks/>
            <a:stCxn id="9" idx="3"/>
          </p:cNvCxnSpPr>
          <p:nvPr/>
        </p:nvCxnSpPr>
        <p:spPr>
          <a:xfrm>
            <a:off x="2310885" y="2987721"/>
            <a:ext cx="830719" cy="132753"/>
          </a:xfrm>
          <a:prstGeom prst="bentConnector3">
            <a:avLst/>
          </a:prstGeom>
          <a:ln w="12700"/>
        </p:spPr>
        <p:style>
          <a:lnRef idx="1">
            <a:schemeClr val="accent1"/>
          </a:lnRef>
          <a:fillRef idx="0">
            <a:schemeClr val="accent1"/>
          </a:fillRef>
          <a:effectRef idx="0">
            <a:schemeClr val="accent1"/>
          </a:effectRef>
          <a:fontRef idx="minor">
            <a:schemeClr val="tx1"/>
          </a:fontRef>
        </p:style>
      </p:cxnSp>
      <p:pic>
        <p:nvPicPr>
          <p:cNvPr id="32" name="Picture 31">
            <a:extLst>
              <a:ext uri="{FF2B5EF4-FFF2-40B4-BE49-F238E27FC236}">
                <a16:creationId xmlns:a16="http://schemas.microsoft.com/office/drawing/2014/main" id="{5A45FE57-CE87-8C91-21E2-EF630FDE4521}"/>
              </a:ext>
            </a:extLst>
          </p:cNvPr>
          <p:cNvPicPr>
            <a:picLocks noChangeAspect="1"/>
          </p:cNvPicPr>
          <p:nvPr/>
        </p:nvPicPr>
        <p:blipFill rotWithShape="1">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65790" t="23028" r="7330" b="48750"/>
          <a:stretch/>
        </p:blipFill>
        <p:spPr>
          <a:xfrm>
            <a:off x="6671729" y="2144137"/>
            <a:ext cx="778849" cy="604563"/>
          </a:xfrm>
          <a:prstGeom prst="rect">
            <a:avLst/>
          </a:prstGeom>
        </p:spPr>
      </p:pic>
      <p:pic>
        <p:nvPicPr>
          <p:cNvPr id="34" name="Picture 33">
            <a:extLst>
              <a:ext uri="{FF2B5EF4-FFF2-40B4-BE49-F238E27FC236}">
                <a16:creationId xmlns:a16="http://schemas.microsoft.com/office/drawing/2014/main" id="{46506EC7-FEC1-7CD5-24FA-F34177762CFB}"/>
              </a:ext>
            </a:extLst>
          </p:cNvPr>
          <p:cNvPicPr>
            <a:picLocks noChangeAspect="1"/>
          </p:cNvPicPr>
          <p:nvPr/>
        </p:nvPicPr>
        <p:blipFill rotWithShape="1">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65790" t="23028" r="7330" b="48750"/>
          <a:stretch/>
        </p:blipFill>
        <p:spPr>
          <a:xfrm>
            <a:off x="6659332" y="3880467"/>
            <a:ext cx="778849" cy="604563"/>
          </a:xfrm>
          <a:prstGeom prst="rect">
            <a:avLst/>
          </a:prstGeom>
        </p:spPr>
      </p:pic>
      <p:cxnSp>
        <p:nvCxnSpPr>
          <p:cNvPr id="36" name="Connector: Elbow 35">
            <a:extLst>
              <a:ext uri="{FF2B5EF4-FFF2-40B4-BE49-F238E27FC236}">
                <a16:creationId xmlns:a16="http://schemas.microsoft.com/office/drawing/2014/main" id="{E5E03782-0F6D-8254-2AEC-7D7CF537B04F}"/>
              </a:ext>
            </a:extLst>
          </p:cNvPr>
          <p:cNvCxnSpPr>
            <a:cxnSpLocks/>
          </p:cNvCxnSpPr>
          <p:nvPr/>
        </p:nvCxnSpPr>
        <p:spPr>
          <a:xfrm>
            <a:off x="4652755" y="2530661"/>
            <a:ext cx="2113104" cy="12700"/>
          </a:xfrm>
          <a:prstGeom prst="bentConnector3">
            <a:avLst/>
          </a:prstGeom>
          <a:ln w="12700"/>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914A8326-F77E-8FEB-DE9A-A90AE66BCB91}"/>
              </a:ext>
            </a:extLst>
          </p:cNvPr>
          <p:cNvCxnSpPr/>
          <p:nvPr/>
        </p:nvCxnSpPr>
        <p:spPr>
          <a:xfrm>
            <a:off x="4789715" y="3664909"/>
            <a:ext cx="1882012" cy="405139"/>
          </a:xfrm>
          <a:prstGeom prst="bentConnector3">
            <a:avLst/>
          </a:prstGeom>
          <a:ln w="12700"/>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2553DDD7-FACD-A797-C47E-488CB0094EAB}"/>
              </a:ext>
            </a:extLst>
          </p:cNvPr>
          <p:cNvSpPr txBox="1"/>
          <p:nvPr/>
        </p:nvSpPr>
        <p:spPr>
          <a:xfrm>
            <a:off x="4988211" y="1198970"/>
            <a:ext cx="742511" cy="307777"/>
          </a:xfrm>
          <a:prstGeom prst="rect">
            <a:avLst/>
          </a:prstGeom>
          <a:solidFill>
            <a:schemeClr val="bg1"/>
          </a:solidFill>
          <a:ln>
            <a:solidFill>
              <a:schemeClr val="tx2"/>
            </a:solidFill>
          </a:ln>
        </p:spPr>
        <p:txBody>
          <a:bodyPr wrap="none" rtlCol="0">
            <a:spAutoFit/>
          </a:bodyPr>
          <a:lstStyle/>
          <a:p>
            <a:r>
              <a:rPr lang="en-US" sz="1400"/>
              <a:t>S.S. CLK</a:t>
            </a:r>
          </a:p>
        </p:txBody>
      </p:sp>
      <p:sp>
        <p:nvSpPr>
          <p:cNvPr id="40" name="TextBox 39">
            <a:extLst>
              <a:ext uri="{FF2B5EF4-FFF2-40B4-BE49-F238E27FC236}">
                <a16:creationId xmlns:a16="http://schemas.microsoft.com/office/drawing/2014/main" id="{EC7AF068-5AFF-5C3C-77AF-3E68291C81AB}"/>
              </a:ext>
            </a:extLst>
          </p:cNvPr>
          <p:cNvSpPr txBox="1"/>
          <p:nvPr/>
        </p:nvSpPr>
        <p:spPr>
          <a:xfrm>
            <a:off x="4388380" y="4574145"/>
            <a:ext cx="1091966" cy="307777"/>
          </a:xfrm>
          <a:prstGeom prst="rect">
            <a:avLst/>
          </a:prstGeom>
          <a:solidFill>
            <a:schemeClr val="bg1"/>
          </a:solidFill>
          <a:ln>
            <a:solidFill>
              <a:schemeClr val="tx2"/>
            </a:solidFill>
          </a:ln>
        </p:spPr>
        <p:txBody>
          <a:bodyPr wrap="none" rtlCol="0">
            <a:spAutoFit/>
          </a:bodyPr>
          <a:lstStyle/>
          <a:p>
            <a:r>
              <a:rPr lang="en-US" sz="1400"/>
              <a:t>Running CLK</a:t>
            </a:r>
          </a:p>
        </p:txBody>
      </p:sp>
      <p:cxnSp>
        <p:nvCxnSpPr>
          <p:cNvPr id="42" name="Connector: Elbow 41">
            <a:extLst>
              <a:ext uri="{FF2B5EF4-FFF2-40B4-BE49-F238E27FC236}">
                <a16:creationId xmlns:a16="http://schemas.microsoft.com/office/drawing/2014/main" id="{5B107775-044A-C423-1BC0-3D7C4779E1C3}"/>
              </a:ext>
            </a:extLst>
          </p:cNvPr>
          <p:cNvCxnSpPr>
            <a:stCxn id="40" idx="3"/>
          </p:cNvCxnSpPr>
          <p:nvPr/>
        </p:nvCxnSpPr>
        <p:spPr>
          <a:xfrm flipV="1">
            <a:off x="5480346" y="4243395"/>
            <a:ext cx="1285514" cy="484639"/>
          </a:xfrm>
          <a:prstGeom prst="bentConnector3">
            <a:avLst/>
          </a:prstGeom>
          <a:ln w="12700"/>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A4D7E8B6-A483-06FA-3E58-93421918507E}"/>
              </a:ext>
            </a:extLst>
          </p:cNvPr>
          <p:cNvCxnSpPr>
            <a:cxnSpLocks/>
            <a:stCxn id="39" idx="3"/>
          </p:cNvCxnSpPr>
          <p:nvPr/>
        </p:nvCxnSpPr>
        <p:spPr>
          <a:xfrm>
            <a:off x="5730722" y="1352859"/>
            <a:ext cx="1035137" cy="985529"/>
          </a:xfrm>
          <a:prstGeom prst="bentConnector3">
            <a:avLst/>
          </a:prstGeom>
          <a:ln w="12700"/>
        </p:spPr>
        <p:style>
          <a:lnRef idx="1">
            <a:schemeClr val="accent1"/>
          </a:lnRef>
          <a:fillRef idx="0">
            <a:schemeClr val="accent1"/>
          </a:fillRef>
          <a:effectRef idx="0">
            <a:schemeClr val="accent1"/>
          </a:effectRef>
          <a:fontRef idx="minor">
            <a:schemeClr val="tx1"/>
          </a:fontRef>
        </p:style>
      </p:cxnSp>
      <p:cxnSp>
        <p:nvCxnSpPr>
          <p:cNvPr id="54" name="Connector: Elbow 53">
            <a:extLst>
              <a:ext uri="{FF2B5EF4-FFF2-40B4-BE49-F238E27FC236}">
                <a16:creationId xmlns:a16="http://schemas.microsoft.com/office/drawing/2014/main" id="{840FA690-103B-0E4A-E30A-F5D1DF7B1509}"/>
              </a:ext>
            </a:extLst>
          </p:cNvPr>
          <p:cNvCxnSpPr>
            <a:cxnSpLocks/>
            <a:stCxn id="32" idx="3"/>
            <a:endCxn id="55" idx="1"/>
          </p:cNvCxnSpPr>
          <p:nvPr/>
        </p:nvCxnSpPr>
        <p:spPr>
          <a:xfrm>
            <a:off x="7450577" y="2446417"/>
            <a:ext cx="775723" cy="741075"/>
          </a:xfrm>
          <a:prstGeom prst="bentConnector3">
            <a:avLst>
              <a:gd name="adj1" fmla="val 50000"/>
            </a:avLst>
          </a:prstGeom>
          <a:ln w="12700"/>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99514577-3E47-6ACE-9EA4-6B5B5DF33FFB}"/>
              </a:ext>
            </a:extLst>
          </p:cNvPr>
          <p:cNvSpPr/>
          <p:nvPr/>
        </p:nvSpPr>
        <p:spPr>
          <a:xfrm>
            <a:off x="8226299" y="3095939"/>
            <a:ext cx="111028" cy="1831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E6E3B51B-C2C7-B058-F46B-1C26657FB1D6}"/>
              </a:ext>
            </a:extLst>
          </p:cNvPr>
          <p:cNvSpPr/>
          <p:nvPr/>
        </p:nvSpPr>
        <p:spPr>
          <a:xfrm>
            <a:off x="8201897" y="3291134"/>
            <a:ext cx="111028" cy="1831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Connector: Elbow 61">
            <a:extLst>
              <a:ext uri="{FF2B5EF4-FFF2-40B4-BE49-F238E27FC236}">
                <a16:creationId xmlns:a16="http://schemas.microsoft.com/office/drawing/2014/main" id="{252C5C38-F5F9-5862-8FC5-58C535BCABF3}"/>
              </a:ext>
            </a:extLst>
          </p:cNvPr>
          <p:cNvCxnSpPr>
            <a:stCxn id="34" idx="3"/>
            <a:endCxn id="60" idx="1"/>
          </p:cNvCxnSpPr>
          <p:nvPr/>
        </p:nvCxnSpPr>
        <p:spPr>
          <a:xfrm flipV="1">
            <a:off x="7438180" y="3382688"/>
            <a:ext cx="763717" cy="800061"/>
          </a:xfrm>
          <a:prstGeom prst="bentConnector3">
            <a:avLst/>
          </a:prstGeom>
          <a:ln w="12700"/>
        </p:spPr>
        <p:style>
          <a:lnRef idx="1">
            <a:schemeClr val="accent1"/>
          </a:lnRef>
          <a:fillRef idx="0">
            <a:schemeClr val="accent1"/>
          </a:fillRef>
          <a:effectRef idx="0">
            <a:schemeClr val="accent1"/>
          </a:effectRef>
          <a:fontRef idx="minor">
            <a:schemeClr val="tx1"/>
          </a:fontRef>
        </p:style>
      </p:cxnSp>
      <p:pic>
        <p:nvPicPr>
          <p:cNvPr id="27" name="Picture 26" descr="Shape&#10;&#10;Description automatically generated with medium confidence">
            <a:extLst>
              <a:ext uri="{FF2B5EF4-FFF2-40B4-BE49-F238E27FC236}">
                <a16:creationId xmlns:a16="http://schemas.microsoft.com/office/drawing/2014/main" id="{70AB2C8A-23EA-7569-C090-676F022F14FA}"/>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10289" r="54774"/>
          <a:stretch/>
        </p:blipFill>
        <p:spPr>
          <a:xfrm>
            <a:off x="8028355" y="3017549"/>
            <a:ext cx="730861" cy="522996"/>
          </a:xfrm>
          <a:prstGeom prst="rect">
            <a:avLst/>
          </a:prstGeom>
          <a:solidFill>
            <a:schemeClr val="bg1"/>
          </a:solidFill>
        </p:spPr>
      </p:pic>
      <p:sp>
        <p:nvSpPr>
          <p:cNvPr id="64" name="TextBox 63">
            <a:extLst>
              <a:ext uri="{FF2B5EF4-FFF2-40B4-BE49-F238E27FC236}">
                <a16:creationId xmlns:a16="http://schemas.microsoft.com/office/drawing/2014/main" id="{2C4081FB-D7F0-0FE2-123D-EADAC63A602D}"/>
              </a:ext>
            </a:extLst>
          </p:cNvPr>
          <p:cNvSpPr txBox="1"/>
          <p:nvPr/>
        </p:nvSpPr>
        <p:spPr>
          <a:xfrm>
            <a:off x="2880225" y="6080672"/>
            <a:ext cx="701987" cy="369332"/>
          </a:xfrm>
          <a:prstGeom prst="rect">
            <a:avLst/>
          </a:prstGeom>
          <a:noFill/>
        </p:spPr>
        <p:txBody>
          <a:bodyPr wrap="none" rtlCol="0">
            <a:spAutoFit/>
          </a:bodyPr>
          <a:lstStyle/>
          <a:p>
            <a:r>
              <a:rPr lang="en-US"/>
              <a:t>Reset</a:t>
            </a:r>
          </a:p>
        </p:txBody>
      </p:sp>
      <p:pic>
        <p:nvPicPr>
          <p:cNvPr id="65" name="Picture 64" descr="Shape&#10;&#10;Description automatically generated with medium confidence">
            <a:extLst>
              <a:ext uri="{FF2B5EF4-FFF2-40B4-BE49-F238E27FC236}">
                <a16:creationId xmlns:a16="http://schemas.microsoft.com/office/drawing/2014/main" id="{F792454E-E65A-CADF-332A-718BC12D6F4F}"/>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10289" r="54774"/>
          <a:stretch/>
        </p:blipFill>
        <p:spPr>
          <a:xfrm>
            <a:off x="5691307" y="5327865"/>
            <a:ext cx="730861" cy="522996"/>
          </a:xfrm>
          <a:prstGeom prst="rect">
            <a:avLst/>
          </a:prstGeom>
          <a:solidFill>
            <a:schemeClr val="bg1"/>
          </a:solidFill>
        </p:spPr>
      </p:pic>
      <p:cxnSp>
        <p:nvCxnSpPr>
          <p:cNvPr id="67" name="Connector: Elbow 66">
            <a:extLst>
              <a:ext uri="{FF2B5EF4-FFF2-40B4-BE49-F238E27FC236}">
                <a16:creationId xmlns:a16="http://schemas.microsoft.com/office/drawing/2014/main" id="{0D975A43-EABB-D894-F8E1-08CBC748B92F}"/>
              </a:ext>
            </a:extLst>
          </p:cNvPr>
          <p:cNvCxnSpPr>
            <a:cxnSpLocks/>
            <a:stCxn id="109" idx="3"/>
          </p:cNvCxnSpPr>
          <p:nvPr/>
        </p:nvCxnSpPr>
        <p:spPr>
          <a:xfrm flipV="1">
            <a:off x="3582212" y="5483036"/>
            <a:ext cx="2260233" cy="386880"/>
          </a:xfrm>
          <a:prstGeom prst="bentConnector3">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8" name="Connector: Elbow 67">
            <a:extLst>
              <a:ext uri="{FF2B5EF4-FFF2-40B4-BE49-F238E27FC236}">
                <a16:creationId xmlns:a16="http://schemas.microsoft.com/office/drawing/2014/main" id="{3A2A6B09-7544-F6EC-2CB5-259185746B4F}"/>
              </a:ext>
            </a:extLst>
          </p:cNvPr>
          <p:cNvCxnSpPr>
            <a:cxnSpLocks/>
            <a:stCxn id="109" idx="3"/>
          </p:cNvCxnSpPr>
          <p:nvPr/>
        </p:nvCxnSpPr>
        <p:spPr>
          <a:xfrm flipV="1">
            <a:off x="3582212" y="5700017"/>
            <a:ext cx="2260233" cy="169900"/>
          </a:xfrm>
          <a:prstGeom prst="bentConnector3">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2" name="Connector: Elbow 71">
            <a:extLst>
              <a:ext uri="{FF2B5EF4-FFF2-40B4-BE49-F238E27FC236}">
                <a16:creationId xmlns:a16="http://schemas.microsoft.com/office/drawing/2014/main" id="{FECBEA81-0BE9-A341-3D16-7C99A3218144}"/>
              </a:ext>
            </a:extLst>
          </p:cNvPr>
          <p:cNvCxnSpPr>
            <a:cxnSpLocks/>
            <a:stCxn id="65" idx="3"/>
            <a:endCxn id="3" idx="2"/>
          </p:cNvCxnSpPr>
          <p:nvPr/>
        </p:nvCxnSpPr>
        <p:spPr>
          <a:xfrm>
            <a:off x="6422167" y="5589363"/>
            <a:ext cx="1080376" cy="389052"/>
          </a:xfrm>
          <a:prstGeom prst="bentConnector3">
            <a:avLst/>
          </a:prstGeom>
          <a:ln>
            <a:tailEnd type="none"/>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58896A64-5E64-EE5A-9A5D-C46B4E1B2567}"/>
              </a:ext>
            </a:extLst>
          </p:cNvPr>
          <p:cNvGrpSpPr/>
          <p:nvPr/>
        </p:nvGrpSpPr>
        <p:grpSpPr>
          <a:xfrm>
            <a:off x="10232137" y="5793761"/>
            <a:ext cx="1237390" cy="369333"/>
            <a:chOff x="7341000" y="5775412"/>
            <a:chExt cx="1237389" cy="369331"/>
          </a:xfrm>
        </p:grpSpPr>
        <p:sp>
          <p:nvSpPr>
            <p:cNvPr id="73" name="TextBox 72">
              <a:extLst>
                <a:ext uri="{FF2B5EF4-FFF2-40B4-BE49-F238E27FC236}">
                  <a16:creationId xmlns:a16="http://schemas.microsoft.com/office/drawing/2014/main" id="{5CAE2A0E-E1CA-30E0-C18D-06B2C1CC6DDC}"/>
                </a:ext>
              </a:extLst>
            </p:cNvPr>
            <p:cNvSpPr txBox="1"/>
            <p:nvPr/>
          </p:nvSpPr>
          <p:spPr>
            <a:xfrm>
              <a:off x="7341000" y="5775412"/>
              <a:ext cx="1237389" cy="369331"/>
            </a:xfrm>
            <a:prstGeom prst="rect">
              <a:avLst/>
            </a:prstGeom>
            <a:solidFill>
              <a:schemeClr val="bg1"/>
            </a:solidFill>
            <a:ln>
              <a:solidFill>
                <a:schemeClr val="accent1"/>
              </a:solidFill>
            </a:ln>
          </p:spPr>
          <p:txBody>
            <a:bodyPr wrap="none" rtlCol="0">
              <a:spAutoFit/>
            </a:bodyPr>
            <a:lstStyle/>
            <a:p>
              <a:r>
                <a:rPr lang="en-US"/>
                <a:t>Main Reset</a:t>
              </a:r>
            </a:p>
          </p:txBody>
        </p:sp>
        <p:cxnSp>
          <p:nvCxnSpPr>
            <p:cNvPr id="75" name="Straight Connector 74">
              <a:extLst>
                <a:ext uri="{FF2B5EF4-FFF2-40B4-BE49-F238E27FC236}">
                  <a16:creationId xmlns:a16="http://schemas.microsoft.com/office/drawing/2014/main" id="{D866FD1F-47C7-C662-E2A7-527E11D767D7}"/>
                </a:ext>
              </a:extLst>
            </p:cNvPr>
            <p:cNvCxnSpPr>
              <a:cxnSpLocks/>
            </p:cNvCxnSpPr>
            <p:nvPr/>
          </p:nvCxnSpPr>
          <p:spPr>
            <a:xfrm>
              <a:off x="7439099" y="5831844"/>
              <a:ext cx="923062"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79" name="Picture 78" descr="Shape&#10;&#10;Description automatically generated with medium confidence">
            <a:extLst>
              <a:ext uri="{FF2B5EF4-FFF2-40B4-BE49-F238E27FC236}">
                <a16:creationId xmlns:a16="http://schemas.microsoft.com/office/drawing/2014/main" id="{F9EC91AB-C271-E0C6-EFD9-65C18907BBCD}"/>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10289" r="54774"/>
          <a:stretch/>
        </p:blipFill>
        <p:spPr>
          <a:xfrm>
            <a:off x="9497207" y="3659753"/>
            <a:ext cx="730861" cy="522996"/>
          </a:xfrm>
          <a:prstGeom prst="rect">
            <a:avLst/>
          </a:prstGeom>
          <a:solidFill>
            <a:schemeClr val="bg1"/>
          </a:solidFill>
        </p:spPr>
      </p:pic>
      <p:cxnSp>
        <p:nvCxnSpPr>
          <p:cNvPr id="81" name="Connector: Elbow 80">
            <a:extLst>
              <a:ext uri="{FF2B5EF4-FFF2-40B4-BE49-F238E27FC236}">
                <a16:creationId xmlns:a16="http://schemas.microsoft.com/office/drawing/2014/main" id="{1E8E5304-F5FB-6983-09F7-FC9E511D9F09}"/>
              </a:ext>
            </a:extLst>
          </p:cNvPr>
          <p:cNvCxnSpPr>
            <a:cxnSpLocks/>
            <a:stCxn id="65" idx="3"/>
          </p:cNvCxnSpPr>
          <p:nvPr/>
        </p:nvCxnSpPr>
        <p:spPr>
          <a:xfrm flipV="1">
            <a:off x="6422169" y="4038325"/>
            <a:ext cx="3125753" cy="1551039"/>
          </a:xfrm>
          <a:prstGeom prst="bentConnector3">
            <a:avLst>
              <a:gd name="adj1" fmla="val 50000"/>
            </a:avLst>
          </a:prstGeom>
          <a:ln w="12700"/>
        </p:spPr>
        <p:style>
          <a:lnRef idx="1">
            <a:schemeClr val="accent1"/>
          </a:lnRef>
          <a:fillRef idx="0">
            <a:schemeClr val="accent1"/>
          </a:fillRef>
          <a:effectRef idx="0">
            <a:schemeClr val="accent1"/>
          </a:effectRef>
          <a:fontRef idx="minor">
            <a:schemeClr val="tx1"/>
          </a:fontRef>
        </p:style>
      </p:cxnSp>
      <p:cxnSp>
        <p:nvCxnSpPr>
          <p:cNvPr id="87" name="Connector: Elbow 86">
            <a:extLst>
              <a:ext uri="{FF2B5EF4-FFF2-40B4-BE49-F238E27FC236}">
                <a16:creationId xmlns:a16="http://schemas.microsoft.com/office/drawing/2014/main" id="{5BC4E5DB-74EE-2587-BB85-559100E33EE1}"/>
              </a:ext>
            </a:extLst>
          </p:cNvPr>
          <p:cNvCxnSpPr>
            <a:stCxn id="27" idx="3"/>
          </p:cNvCxnSpPr>
          <p:nvPr/>
        </p:nvCxnSpPr>
        <p:spPr>
          <a:xfrm>
            <a:off x="8759215" y="3279046"/>
            <a:ext cx="892855" cy="548319"/>
          </a:xfrm>
          <a:prstGeom prst="bentConnector3">
            <a:avLst/>
          </a:prstGeom>
          <a:ln w="12700"/>
        </p:spPr>
        <p:style>
          <a:lnRef idx="1">
            <a:schemeClr val="accent1"/>
          </a:lnRef>
          <a:fillRef idx="0">
            <a:schemeClr val="accent1"/>
          </a:fillRef>
          <a:effectRef idx="0">
            <a:schemeClr val="accent1"/>
          </a:effectRef>
          <a:fontRef idx="minor">
            <a:schemeClr val="tx1"/>
          </a:fontRef>
        </p:style>
      </p:cxnSp>
      <p:sp>
        <p:nvSpPr>
          <p:cNvPr id="92" name="TextBox 91">
            <a:hlinkClick r:id="rId8" action="ppaction://hlinksldjump"/>
            <a:extLst>
              <a:ext uri="{FF2B5EF4-FFF2-40B4-BE49-F238E27FC236}">
                <a16:creationId xmlns:a16="http://schemas.microsoft.com/office/drawing/2014/main" id="{7D5298CC-B03B-1BD0-7B0A-0D3A746A2D49}"/>
              </a:ext>
            </a:extLst>
          </p:cNvPr>
          <p:cNvSpPr txBox="1"/>
          <p:nvPr/>
        </p:nvSpPr>
        <p:spPr>
          <a:xfrm>
            <a:off x="10933522" y="3736477"/>
            <a:ext cx="1061509" cy="369332"/>
          </a:xfrm>
          <a:prstGeom prst="rect">
            <a:avLst/>
          </a:prstGeom>
          <a:solidFill>
            <a:schemeClr val="bg1"/>
          </a:solidFill>
          <a:ln>
            <a:solidFill>
              <a:schemeClr val="accent1"/>
            </a:solidFill>
          </a:ln>
        </p:spPr>
        <p:txBody>
          <a:bodyPr wrap="none" rtlCol="0">
            <a:spAutoFit/>
          </a:bodyPr>
          <a:lstStyle/>
          <a:p>
            <a:r>
              <a:rPr lang="en-US"/>
              <a:t>Main CLK</a:t>
            </a:r>
          </a:p>
        </p:txBody>
      </p:sp>
      <p:sp>
        <p:nvSpPr>
          <p:cNvPr id="94" name="TextBox 93">
            <a:extLst>
              <a:ext uri="{FF2B5EF4-FFF2-40B4-BE49-F238E27FC236}">
                <a16:creationId xmlns:a16="http://schemas.microsoft.com/office/drawing/2014/main" id="{F4C9360E-69B0-14F5-A402-C77F534E033A}"/>
              </a:ext>
            </a:extLst>
          </p:cNvPr>
          <p:cNvSpPr txBox="1"/>
          <p:nvPr/>
        </p:nvSpPr>
        <p:spPr>
          <a:xfrm>
            <a:off x="4186209" y="6037529"/>
            <a:ext cx="1185453" cy="523220"/>
          </a:xfrm>
          <a:prstGeom prst="rect">
            <a:avLst/>
          </a:prstGeom>
          <a:solidFill>
            <a:schemeClr val="accent2">
              <a:lumMod val="40000"/>
              <a:lumOff val="60000"/>
            </a:schemeClr>
          </a:solidFill>
          <a:ln>
            <a:solidFill>
              <a:schemeClr val="accent1"/>
            </a:solidFill>
          </a:ln>
        </p:spPr>
        <p:txBody>
          <a:bodyPr wrap="none" rtlCol="0">
            <a:spAutoFit/>
          </a:bodyPr>
          <a:lstStyle/>
          <a:p>
            <a:r>
              <a:rPr lang="en-US" sz="1400"/>
              <a:t>Reset LED</a:t>
            </a:r>
          </a:p>
          <a:p>
            <a:r>
              <a:rPr lang="en-US" sz="1400"/>
              <a:t>(Orange wire)</a:t>
            </a:r>
          </a:p>
        </p:txBody>
      </p:sp>
      <p:cxnSp>
        <p:nvCxnSpPr>
          <p:cNvPr id="96" name="Connector: Elbow 95">
            <a:extLst>
              <a:ext uri="{FF2B5EF4-FFF2-40B4-BE49-F238E27FC236}">
                <a16:creationId xmlns:a16="http://schemas.microsoft.com/office/drawing/2014/main" id="{200683F0-A0F3-8157-2ADE-9EA3510F0850}"/>
              </a:ext>
            </a:extLst>
          </p:cNvPr>
          <p:cNvCxnSpPr>
            <a:cxnSpLocks/>
            <a:stCxn id="109" idx="3"/>
            <a:endCxn id="94" idx="1"/>
          </p:cNvCxnSpPr>
          <p:nvPr/>
        </p:nvCxnSpPr>
        <p:spPr>
          <a:xfrm>
            <a:off x="3582211" y="5869916"/>
            <a:ext cx="603998" cy="429223"/>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63ED18AA-66BC-6120-7444-22EF2FDD772A}"/>
              </a:ext>
            </a:extLst>
          </p:cNvPr>
          <p:cNvSpPr txBox="1"/>
          <p:nvPr/>
        </p:nvSpPr>
        <p:spPr>
          <a:xfrm>
            <a:off x="6237901" y="2748699"/>
            <a:ext cx="1127681" cy="523220"/>
          </a:xfrm>
          <a:prstGeom prst="rect">
            <a:avLst/>
          </a:prstGeom>
          <a:solidFill>
            <a:schemeClr val="accent2">
              <a:lumMod val="40000"/>
              <a:lumOff val="60000"/>
            </a:schemeClr>
          </a:solidFill>
          <a:ln>
            <a:solidFill>
              <a:schemeClr val="accent1"/>
            </a:solidFill>
          </a:ln>
        </p:spPr>
        <p:txBody>
          <a:bodyPr wrap="none" rtlCol="0">
            <a:spAutoFit/>
          </a:bodyPr>
          <a:lstStyle/>
          <a:p>
            <a:r>
              <a:rPr lang="en-US" sz="1400"/>
              <a:t>RUN LED</a:t>
            </a:r>
          </a:p>
          <a:p>
            <a:r>
              <a:rPr lang="en-US" sz="1400"/>
              <a:t>(Brown wire)</a:t>
            </a:r>
          </a:p>
        </p:txBody>
      </p:sp>
      <p:cxnSp>
        <p:nvCxnSpPr>
          <p:cNvPr id="103" name="Connector: Elbow 102">
            <a:extLst>
              <a:ext uri="{FF2B5EF4-FFF2-40B4-BE49-F238E27FC236}">
                <a16:creationId xmlns:a16="http://schemas.microsoft.com/office/drawing/2014/main" id="{7661E0BC-7885-A860-B846-8331E235AC6B}"/>
              </a:ext>
            </a:extLst>
          </p:cNvPr>
          <p:cNvCxnSpPr>
            <a:cxnSpLocks/>
            <a:endCxn id="101" idx="1"/>
          </p:cNvCxnSpPr>
          <p:nvPr/>
        </p:nvCxnSpPr>
        <p:spPr>
          <a:xfrm>
            <a:off x="4722124" y="2537010"/>
            <a:ext cx="1515777" cy="473299"/>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B1273613-710A-66F9-8FE1-AF953328BF6B}"/>
              </a:ext>
            </a:extLst>
          </p:cNvPr>
          <p:cNvSpPr txBox="1"/>
          <p:nvPr/>
        </p:nvSpPr>
        <p:spPr>
          <a:xfrm>
            <a:off x="6225153" y="3397924"/>
            <a:ext cx="977383" cy="523220"/>
          </a:xfrm>
          <a:prstGeom prst="rect">
            <a:avLst/>
          </a:prstGeom>
          <a:solidFill>
            <a:schemeClr val="accent2">
              <a:lumMod val="40000"/>
              <a:lumOff val="60000"/>
            </a:schemeClr>
          </a:solidFill>
          <a:ln>
            <a:solidFill>
              <a:schemeClr val="accent1"/>
            </a:solidFill>
          </a:ln>
        </p:spPr>
        <p:txBody>
          <a:bodyPr wrap="none" rtlCol="0">
            <a:spAutoFit/>
          </a:bodyPr>
          <a:lstStyle/>
          <a:p>
            <a:r>
              <a:rPr lang="en-US" sz="1400"/>
              <a:t>Halt  LED</a:t>
            </a:r>
          </a:p>
          <a:p>
            <a:r>
              <a:rPr lang="en-US" sz="1400"/>
              <a:t>(Blue wire)</a:t>
            </a:r>
          </a:p>
        </p:txBody>
      </p:sp>
      <p:cxnSp>
        <p:nvCxnSpPr>
          <p:cNvPr id="107" name="Connector: Elbow 106">
            <a:extLst>
              <a:ext uri="{FF2B5EF4-FFF2-40B4-BE49-F238E27FC236}">
                <a16:creationId xmlns:a16="http://schemas.microsoft.com/office/drawing/2014/main" id="{7CBD5B9C-49B3-72E4-63F0-04F66911F29A}"/>
              </a:ext>
            </a:extLst>
          </p:cNvPr>
          <p:cNvCxnSpPr>
            <a:endCxn id="105" idx="1"/>
          </p:cNvCxnSpPr>
          <p:nvPr/>
        </p:nvCxnSpPr>
        <p:spPr>
          <a:xfrm flipV="1">
            <a:off x="4789717" y="3659534"/>
            <a:ext cx="1435436" cy="1"/>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AE1F58B9-AB21-B5FD-EDE0-14F438C79885}"/>
              </a:ext>
            </a:extLst>
          </p:cNvPr>
          <p:cNvSpPr txBox="1"/>
          <p:nvPr/>
        </p:nvSpPr>
        <p:spPr>
          <a:xfrm>
            <a:off x="10827753" y="2890087"/>
            <a:ext cx="1101648" cy="523220"/>
          </a:xfrm>
          <a:prstGeom prst="rect">
            <a:avLst/>
          </a:prstGeom>
          <a:solidFill>
            <a:schemeClr val="accent2">
              <a:lumMod val="40000"/>
              <a:lumOff val="60000"/>
            </a:schemeClr>
          </a:solidFill>
          <a:ln>
            <a:solidFill>
              <a:schemeClr val="accent1"/>
            </a:solidFill>
          </a:ln>
        </p:spPr>
        <p:txBody>
          <a:bodyPr wrap="none" rtlCol="0">
            <a:spAutoFit/>
          </a:bodyPr>
          <a:lstStyle/>
          <a:p>
            <a:r>
              <a:rPr lang="en-US" sz="1400"/>
              <a:t>Clock LED</a:t>
            </a:r>
          </a:p>
          <a:p>
            <a:r>
              <a:rPr lang="en-US" sz="1400"/>
              <a:t>(Green wire)</a:t>
            </a:r>
          </a:p>
        </p:txBody>
      </p:sp>
      <p:pic>
        <p:nvPicPr>
          <p:cNvPr id="109" name="Picture 2" descr="555 Timer Tutorial - The Monostable Multivibrator">
            <a:extLst>
              <a:ext uri="{FF2B5EF4-FFF2-40B4-BE49-F238E27FC236}">
                <a16:creationId xmlns:a16="http://schemas.microsoft.com/office/drawing/2014/main" id="{D6CCFD03-6EDA-DDDC-044B-4572F76F777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55563" y="5272280"/>
            <a:ext cx="1626648" cy="1195272"/>
          </a:xfrm>
          <a:prstGeom prst="rect">
            <a:avLst/>
          </a:prstGeom>
          <a:noFill/>
          <a:extLst>
            <a:ext uri="{909E8E84-426E-40DD-AFC4-6F175D3DCCD1}">
              <a14:hiddenFill xmlns:a14="http://schemas.microsoft.com/office/drawing/2010/main">
                <a:solidFill>
                  <a:srgbClr val="FFFFFF"/>
                </a:solidFill>
              </a14:hiddenFill>
            </a:ext>
          </a:extLst>
        </p:spPr>
      </p:pic>
      <p:sp>
        <p:nvSpPr>
          <p:cNvPr id="110" name="TextBox 109">
            <a:extLst>
              <a:ext uri="{FF2B5EF4-FFF2-40B4-BE49-F238E27FC236}">
                <a16:creationId xmlns:a16="http://schemas.microsoft.com/office/drawing/2014/main" id="{665BD4CC-F920-2E59-10CE-D0CA49177C3C}"/>
              </a:ext>
            </a:extLst>
          </p:cNvPr>
          <p:cNvSpPr txBox="1"/>
          <p:nvPr/>
        </p:nvSpPr>
        <p:spPr>
          <a:xfrm>
            <a:off x="411974" y="5513802"/>
            <a:ext cx="1155429" cy="523220"/>
          </a:xfrm>
          <a:prstGeom prst="rect">
            <a:avLst/>
          </a:prstGeom>
          <a:solidFill>
            <a:schemeClr val="accent6">
              <a:lumMod val="20000"/>
              <a:lumOff val="80000"/>
            </a:schemeClr>
          </a:solidFill>
          <a:ln>
            <a:solidFill>
              <a:schemeClr val="tx2"/>
            </a:solidFill>
          </a:ln>
        </p:spPr>
        <p:txBody>
          <a:bodyPr wrap="square" rtlCol="0">
            <a:spAutoFit/>
          </a:bodyPr>
          <a:lstStyle/>
          <a:p>
            <a:r>
              <a:rPr lang="en-US" sz="1400"/>
              <a:t>Reset Button</a:t>
            </a:r>
          </a:p>
          <a:p>
            <a:r>
              <a:rPr lang="en-US" sz="1400"/>
              <a:t>(Red wire)</a:t>
            </a:r>
          </a:p>
        </p:txBody>
      </p:sp>
      <p:cxnSp>
        <p:nvCxnSpPr>
          <p:cNvPr id="122" name="Connector: Elbow 121">
            <a:extLst>
              <a:ext uri="{FF2B5EF4-FFF2-40B4-BE49-F238E27FC236}">
                <a16:creationId xmlns:a16="http://schemas.microsoft.com/office/drawing/2014/main" id="{DDAFABFE-940A-BE2F-15F3-E1E83040406A}"/>
              </a:ext>
            </a:extLst>
          </p:cNvPr>
          <p:cNvCxnSpPr>
            <a:stCxn id="79" idx="3"/>
            <a:endCxn id="108" idx="1"/>
          </p:cNvCxnSpPr>
          <p:nvPr/>
        </p:nvCxnSpPr>
        <p:spPr>
          <a:xfrm flipV="1">
            <a:off x="10228068" y="3151697"/>
            <a:ext cx="599685" cy="769554"/>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24" name="Connector: Elbow 123">
            <a:extLst>
              <a:ext uri="{FF2B5EF4-FFF2-40B4-BE49-F238E27FC236}">
                <a16:creationId xmlns:a16="http://schemas.microsoft.com/office/drawing/2014/main" id="{3A25A732-9FE7-AF3F-0A29-004512CB06B7}"/>
              </a:ext>
            </a:extLst>
          </p:cNvPr>
          <p:cNvCxnSpPr>
            <a:stCxn id="79" idx="3"/>
            <a:endCxn id="92" idx="1"/>
          </p:cNvCxnSpPr>
          <p:nvPr/>
        </p:nvCxnSpPr>
        <p:spPr>
          <a:xfrm flipV="1">
            <a:off x="10228068" y="3921143"/>
            <a:ext cx="705454" cy="108"/>
          </a:xfrm>
          <a:prstGeom prst="bentConnector3">
            <a:avLst/>
          </a:prstGeom>
          <a:ln w="12700"/>
        </p:spPr>
        <p:style>
          <a:lnRef idx="1">
            <a:schemeClr val="accent1"/>
          </a:lnRef>
          <a:fillRef idx="0">
            <a:schemeClr val="accent1"/>
          </a:fillRef>
          <a:effectRef idx="0">
            <a:schemeClr val="accent1"/>
          </a:effectRef>
          <a:fontRef idx="minor">
            <a:schemeClr val="tx1"/>
          </a:fontRef>
        </p:style>
      </p:cxnSp>
      <p:cxnSp>
        <p:nvCxnSpPr>
          <p:cNvPr id="128" name="Connector: Elbow 127">
            <a:extLst>
              <a:ext uri="{FF2B5EF4-FFF2-40B4-BE49-F238E27FC236}">
                <a16:creationId xmlns:a16="http://schemas.microsoft.com/office/drawing/2014/main" id="{DF2474A6-7F40-B1B1-E0FD-D16029FBAA08}"/>
              </a:ext>
            </a:extLst>
          </p:cNvPr>
          <p:cNvCxnSpPr>
            <a:stCxn id="110" idx="3"/>
          </p:cNvCxnSpPr>
          <p:nvPr/>
        </p:nvCxnSpPr>
        <p:spPr>
          <a:xfrm>
            <a:off x="1567403" y="5775412"/>
            <a:ext cx="588944" cy="305261"/>
          </a:xfrm>
          <a:prstGeom prst="bentConnector3">
            <a:avLst/>
          </a:prstGeom>
          <a:ln w="12700"/>
        </p:spPr>
        <p:style>
          <a:lnRef idx="1">
            <a:schemeClr val="accent1"/>
          </a:lnRef>
          <a:fillRef idx="0">
            <a:schemeClr val="accent1"/>
          </a:fillRef>
          <a:effectRef idx="0">
            <a:schemeClr val="accent1"/>
          </a:effectRef>
          <a:fontRef idx="minor">
            <a:schemeClr val="tx1"/>
          </a:fontRef>
        </p:style>
      </p:cxnSp>
      <p:sp>
        <p:nvSpPr>
          <p:cNvPr id="3" name="Equals 2">
            <a:extLst>
              <a:ext uri="{FF2B5EF4-FFF2-40B4-BE49-F238E27FC236}">
                <a16:creationId xmlns:a16="http://schemas.microsoft.com/office/drawing/2014/main" id="{054667D2-79C5-CB94-3000-1F24A1321BF9}"/>
              </a:ext>
            </a:extLst>
          </p:cNvPr>
          <p:cNvSpPr/>
          <p:nvPr/>
        </p:nvSpPr>
        <p:spPr>
          <a:xfrm rot="5400000">
            <a:off x="7348077" y="5847658"/>
            <a:ext cx="462703" cy="261513"/>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4" name="Picture 13" descr="A picture containing text, clock&#10;&#10;Description automatically generated">
            <a:extLst>
              <a:ext uri="{FF2B5EF4-FFF2-40B4-BE49-F238E27FC236}">
                <a16:creationId xmlns:a16="http://schemas.microsoft.com/office/drawing/2014/main" id="{B2B62BBF-760B-E32A-72B2-219F49CF6AE5}"/>
              </a:ext>
            </a:extLst>
          </p:cNvPr>
          <p:cNvPicPr>
            <a:picLocks noChangeAspect="1"/>
          </p:cNvPicPr>
          <p:nvPr/>
        </p:nvPicPr>
        <p:blipFill rotWithShape="1">
          <a:blip r:embed="rId10">
            <a:extLst>
              <a:ext uri="{28A0092B-C50C-407E-A947-70E740481C1C}">
                <a14:useLocalDpi xmlns:a14="http://schemas.microsoft.com/office/drawing/2010/main" val="0"/>
              </a:ext>
              <a:ext uri="{837473B0-CC2E-450A-ABE3-18F120FF3D39}">
                <a1611:picAttrSrcUrl xmlns:a1611="http://schemas.microsoft.com/office/drawing/2016/11/main" r:id="rId11"/>
              </a:ext>
            </a:extLst>
          </a:blip>
          <a:srcRect l="7253" t="17711" r="66763" b="43946"/>
          <a:stretch/>
        </p:blipFill>
        <p:spPr>
          <a:xfrm>
            <a:off x="8395510" y="5695509"/>
            <a:ext cx="670996" cy="565808"/>
          </a:xfrm>
          <a:prstGeom prst="rect">
            <a:avLst/>
          </a:prstGeom>
        </p:spPr>
      </p:pic>
      <p:pic>
        <p:nvPicPr>
          <p:cNvPr id="58" name="Picture 57" descr="A picture containing text, clock&#10;&#10;Description automatically generated">
            <a:extLst>
              <a:ext uri="{FF2B5EF4-FFF2-40B4-BE49-F238E27FC236}">
                <a16:creationId xmlns:a16="http://schemas.microsoft.com/office/drawing/2014/main" id="{D322B5D3-2ADF-6622-F0D3-EDBE725D4989}"/>
              </a:ext>
            </a:extLst>
          </p:cNvPr>
          <p:cNvPicPr>
            <a:picLocks noChangeAspect="1"/>
          </p:cNvPicPr>
          <p:nvPr/>
        </p:nvPicPr>
        <p:blipFill rotWithShape="1">
          <a:blip r:embed="rId10">
            <a:extLst>
              <a:ext uri="{28A0092B-C50C-407E-A947-70E740481C1C}">
                <a14:useLocalDpi xmlns:a14="http://schemas.microsoft.com/office/drawing/2010/main" val="0"/>
              </a:ext>
              <a:ext uri="{837473B0-CC2E-450A-ABE3-18F120FF3D39}">
                <a1611:picAttrSrcUrl xmlns:a1611="http://schemas.microsoft.com/office/drawing/2016/11/main" r:id="rId11"/>
              </a:ext>
            </a:extLst>
          </a:blip>
          <a:srcRect l="7253" t="17711" r="66763" b="43946"/>
          <a:stretch/>
        </p:blipFill>
        <p:spPr>
          <a:xfrm>
            <a:off x="9013635" y="5695509"/>
            <a:ext cx="670996" cy="565808"/>
          </a:xfrm>
          <a:prstGeom prst="rect">
            <a:avLst/>
          </a:prstGeom>
        </p:spPr>
      </p:pic>
      <p:cxnSp>
        <p:nvCxnSpPr>
          <p:cNvPr id="22" name="Straight Connector 21">
            <a:extLst>
              <a:ext uri="{FF2B5EF4-FFF2-40B4-BE49-F238E27FC236}">
                <a16:creationId xmlns:a16="http://schemas.microsoft.com/office/drawing/2014/main" id="{C4CE30D2-8BF4-81B9-0179-4D487F49FE24}"/>
              </a:ext>
            </a:extLst>
          </p:cNvPr>
          <p:cNvCxnSpPr>
            <a:stCxn id="3" idx="5"/>
            <a:endCxn id="14" idx="1"/>
          </p:cNvCxnSpPr>
          <p:nvPr/>
        </p:nvCxnSpPr>
        <p:spPr>
          <a:xfrm flipV="1">
            <a:off x="7656312" y="5978414"/>
            <a:ext cx="739197"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83D5BFC-9AD7-983F-06FB-2E4E536C50DB}"/>
              </a:ext>
            </a:extLst>
          </p:cNvPr>
          <p:cNvCxnSpPr>
            <a:stCxn id="58" idx="3"/>
            <a:endCxn id="73" idx="1"/>
          </p:cNvCxnSpPr>
          <p:nvPr/>
        </p:nvCxnSpPr>
        <p:spPr>
          <a:xfrm>
            <a:off x="9684631" y="5978413"/>
            <a:ext cx="547506" cy="15"/>
          </a:xfrm>
          <a:prstGeom prst="line">
            <a:avLst/>
          </a:prstGeom>
        </p:spPr>
        <p:style>
          <a:lnRef idx="1">
            <a:schemeClr val="accent1"/>
          </a:lnRef>
          <a:fillRef idx="0">
            <a:schemeClr val="accent1"/>
          </a:fillRef>
          <a:effectRef idx="0">
            <a:schemeClr val="accent1"/>
          </a:effectRef>
          <a:fontRef idx="minor">
            <a:schemeClr val="tx1"/>
          </a:fontRef>
        </p:style>
      </p:cxnSp>
      <p:pic>
        <p:nvPicPr>
          <p:cNvPr id="28" name="Picture 27" descr="Diagram&#10;&#10;Description automatically generated">
            <a:extLst>
              <a:ext uri="{FF2B5EF4-FFF2-40B4-BE49-F238E27FC236}">
                <a16:creationId xmlns:a16="http://schemas.microsoft.com/office/drawing/2014/main" id="{E74B8242-84C8-EA2D-40AC-5EAD8F29172C}"/>
              </a:ext>
            </a:extLst>
          </p:cNvPr>
          <p:cNvPicPr>
            <a:picLocks noChangeAspect="1"/>
          </p:cNvPicPr>
          <p:nvPr/>
        </p:nvPicPr>
        <p:blipFill rotWithShape="1">
          <a:blip r:embed="rId12">
            <a:extLst>
              <a:ext uri="{28A0092B-C50C-407E-A947-70E740481C1C}">
                <a14:useLocalDpi xmlns:a14="http://schemas.microsoft.com/office/drawing/2010/main" val="0"/>
              </a:ext>
              <a:ext uri="{837473B0-CC2E-450A-ABE3-18F120FF3D39}">
                <a1611:picAttrSrcUrl xmlns:a1611="http://schemas.microsoft.com/office/drawing/2016/11/main" r:id="rId13"/>
              </a:ext>
            </a:extLst>
          </a:blip>
          <a:srcRect l="63613" t="13374" r="28089" b="51466"/>
          <a:stretch/>
        </p:blipFill>
        <p:spPr>
          <a:xfrm>
            <a:off x="8143291" y="5349439"/>
            <a:ext cx="277045" cy="599791"/>
          </a:xfrm>
          <a:prstGeom prst="rect">
            <a:avLst/>
          </a:prstGeom>
        </p:spPr>
      </p:pic>
      <p:cxnSp>
        <p:nvCxnSpPr>
          <p:cNvPr id="31" name="Straight Arrow Connector 30">
            <a:extLst>
              <a:ext uri="{FF2B5EF4-FFF2-40B4-BE49-F238E27FC236}">
                <a16:creationId xmlns:a16="http://schemas.microsoft.com/office/drawing/2014/main" id="{B8FF3696-FD1E-7A1F-5F02-071FD12C70F0}"/>
              </a:ext>
            </a:extLst>
          </p:cNvPr>
          <p:cNvCxnSpPr>
            <a:cxnSpLocks/>
          </p:cNvCxnSpPr>
          <p:nvPr/>
        </p:nvCxnSpPr>
        <p:spPr>
          <a:xfrm flipV="1">
            <a:off x="8242901" y="5107022"/>
            <a:ext cx="0" cy="2716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585DCC0F-820D-1CBD-60B1-212AC6F40689}"/>
              </a:ext>
            </a:extLst>
          </p:cNvPr>
          <p:cNvSpPr/>
          <p:nvPr/>
        </p:nvSpPr>
        <p:spPr>
          <a:xfrm>
            <a:off x="8221747" y="5936661"/>
            <a:ext cx="91440" cy="91440"/>
          </a:xfrm>
          <a:prstGeom prst="ellipse">
            <a:avLst/>
          </a:prstGeom>
          <a:solidFill>
            <a:srgbClr val="4472C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Picture 40">
            <a:extLst>
              <a:ext uri="{FF2B5EF4-FFF2-40B4-BE49-F238E27FC236}">
                <a16:creationId xmlns:a16="http://schemas.microsoft.com/office/drawing/2014/main" id="{CFC6B962-5979-19C6-9FC1-C21A697E539E}"/>
              </a:ext>
            </a:extLst>
          </p:cNvPr>
          <p:cNvPicPr>
            <a:picLocks noChangeAspect="1"/>
          </p:cNvPicPr>
          <p:nvPr/>
        </p:nvPicPr>
        <p:blipFill rotWithShape="1">
          <a:blip r:embed="rId14"/>
          <a:srcRect l="78563"/>
          <a:stretch/>
        </p:blipFill>
        <p:spPr>
          <a:xfrm>
            <a:off x="7710185" y="5855575"/>
            <a:ext cx="782379" cy="977879"/>
          </a:xfrm>
          <a:prstGeom prst="rect">
            <a:avLst/>
          </a:prstGeom>
        </p:spPr>
      </p:pic>
      <p:pic>
        <p:nvPicPr>
          <p:cNvPr id="1026" name="Picture 2" descr="OPAMP Monostable - Electronics-Lab.com">
            <a:extLst>
              <a:ext uri="{FF2B5EF4-FFF2-40B4-BE49-F238E27FC236}">
                <a16:creationId xmlns:a16="http://schemas.microsoft.com/office/drawing/2014/main" id="{CCE992C0-4D65-F2C5-36B0-12431E97D030}"/>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r="76236"/>
          <a:stretch/>
        </p:blipFill>
        <p:spPr bwMode="auto">
          <a:xfrm>
            <a:off x="6240174" y="5831781"/>
            <a:ext cx="867319" cy="977879"/>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2" descr="OPAMP Monostable - Electronics-Lab.com">
            <a:extLst>
              <a:ext uri="{FF2B5EF4-FFF2-40B4-BE49-F238E27FC236}">
                <a16:creationId xmlns:a16="http://schemas.microsoft.com/office/drawing/2014/main" id="{CDFE5E19-BC04-5AA0-8D74-3890F92C3E33}"/>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r="76236"/>
          <a:stretch/>
        </p:blipFill>
        <p:spPr bwMode="auto">
          <a:xfrm>
            <a:off x="9524722" y="5869798"/>
            <a:ext cx="300215" cy="977879"/>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42">
            <a:extLst>
              <a:ext uri="{FF2B5EF4-FFF2-40B4-BE49-F238E27FC236}">
                <a16:creationId xmlns:a16="http://schemas.microsoft.com/office/drawing/2014/main" id="{313AA7E1-003F-4FD1-DBFD-E4264EB686A6}"/>
              </a:ext>
            </a:extLst>
          </p:cNvPr>
          <p:cNvSpPr txBox="1"/>
          <p:nvPr/>
        </p:nvSpPr>
        <p:spPr>
          <a:xfrm>
            <a:off x="9824936" y="6462876"/>
            <a:ext cx="489236" cy="307777"/>
          </a:xfrm>
          <a:prstGeom prst="rect">
            <a:avLst/>
          </a:prstGeom>
          <a:noFill/>
        </p:spPr>
        <p:txBody>
          <a:bodyPr wrap="none" rtlCol="0">
            <a:spAutoFit/>
          </a:bodyPr>
          <a:lstStyle/>
          <a:p>
            <a:r>
              <a:rPr lang="en-US" sz="1400"/>
              <a:t>4ms</a:t>
            </a:r>
          </a:p>
        </p:txBody>
      </p:sp>
      <p:sp>
        <p:nvSpPr>
          <p:cNvPr id="76" name="TextBox 75">
            <a:extLst>
              <a:ext uri="{FF2B5EF4-FFF2-40B4-BE49-F238E27FC236}">
                <a16:creationId xmlns:a16="http://schemas.microsoft.com/office/drawing/2014/main" id="{8468C279-BA6C-922A-0D5A-25914B099778}"/>
              </a:ext>
            </a:extLst>
          </p:cNvPr>
          <p:cNvSpPr txBox="1"/>
          <p:nvPr/>
        </p:nvSpPr>
        <p:spPr>
          <a:xfrm>
            <a:off x="6767262" y="6407672"/>
            <a:ext cx="346570" cy="307777"/>
          </a:xfrm>
          <a:prstGeom prst="rect">
            <a:avLst/>
          </a:prstGeom>
          <a:noFill/>
        </p:spPr>
        <p:txBody>
          <a:bodyPr wrap="none" rtlCol="0">
            <a:spAutoFit/>
          </a:bodyPr>
          <a:lstStyle/>
          <a:p>
            <a:r>
              <a:rPr lang="en-US" sz="1400"/>
              <a:t>2s</a:t>
            </a:r>
          </a:p>
        </p:txBody>
      </p:sp>
      <p:sp>
        <p:nvSpPr>
          <p:cNvPr id="45" name="TextBox 44">
            <a:extLst>
              <a:ext uri="{FF2B5EF4-FFF2-40B4-BE49-F238E27FC236}">
                <a16:creationId xmlns:a16="http://schemas.microsoft.com/office/drawing/2014/main" id="{81F8FAD8-6DE6-85DE-57C3-07611D7FBBAB}"/>
              </a:ext>
            </a:extLst>
          </p:cNvPr>
          <p:cNvSpPr txBox="1"/>
          <p:nvPr/>
        </p:nvSpPr>
        <p:spPr>
          <a:xfrm>
            <a:off x="7985044" y="4211720"/>
            <a:ext cx="1739515" cy="461665"/>
          </a:xfrm>
          <a:prstGeom prst="rect">
            <a:avLst/>
          </a:prstGeom>
          <a:noFill/>
        </p:spPr>
        <p:txBody>
          <a:bodyPr wrap="none" rtlCol="0">
            <a:spAutoFit/>
          </a:bodyPr>
          <a:lstStyle/>
          <a:p>
            <a:r>
              <a:rPr lang="en-US" sz="1200"/>
              <a:t>Clock gating 2sec for </a:t>
            </a:r>
          </a:p>
          <a:p>
            <a:r>
              <a:rPr lang="en-US" sz="1200"/>
              <a:t>Arduino (display) to boot</a:t>
            </a:r>
          </a:p>
        </p:txBody>
      </p:sp>
      <p:pic>
        <p:nvPicPr>
          <p:cNvPr id="11" name="Picture 10">
            <a:hlinkClick r:id="rId16" action="ppaction://hlinksldjump"/>
            <a:extLst>
              <a:ext uri="{FF2B5EF4-FFF2-40B4-BE49-F238E27FC236}">
                <a16:creationId xmlns:a16="http://schemas.microsoft.com/office/drawing/2014/main" id="{A041EF89-BC66-89B2-3C62-89ABD4A713BB}"/>
              </a:ext>
            </a:extLst>
          </p:cNvPr>
          <p:cNvPicPr>
            <a:picLocks noChangeAspect="1"/>
          </p:cNvPicPr>
          <p:nvPr/>
        </p:nvPicPr>
        <p:blipFill>
          <a:blip r:embed="rId17"/>
          <a:stretch>
            <a:fillRect/>
          </a:stretch>
        </p:blipFill>
        <p:spPr>
          <a:xfrm>
            <a:off x="11038384" y="6427540"/>
            <a:ext cx="1076851" cy="222744"/>
          </a:xfrm>
          <a:prstGeom prst="rect">
            <a:avLst/>
          </a:prstGeom>
        </p:spPr>
      </p:pic>
      <p:sp>
        <p:nvSpPr>
          <p:cNvPr id="5" name="Title 4">
            <a:extLst>
              <a:ext uri="{FF2B5EF4-FFF2-40B4-BE49-F238E27FC236}">
                <a16:creationId xmlns:a16="http://schemas.microsoft.com/office/drawing/2014/main" id="{E50D1287-DF6D-5714-A25D-89B3F15EDD1B}"/>
              </a:ext>
            </a:extLst>
          </p:cNvPr>
          <p:cNvSpPr>
            <a:spLocks noGrp="1"/>
          </p:cNvSpPr>
          <p:nvPr>
            <p:ph type="ctrTitle"/>
          </p:nvPr>
        </p:nvSpPr>
        <p:spPr/>
        <p:txBody>
          <a:bodyPr/>
          <a:lstStyle/>
          <a:p>
            <a:r>
              <a:rPr lang="en-US"/>
              <a:t>Clock Gating</a:t>
            </a:r>
          </a:p>
        </p:txBody>
      </p:sp>
      <p:sp>
        <p:nvSpPr>
          <p:cNvPr id="20" name="Slide Number Placeholder 4">
            <a:extLst>
              <a:ext uri="{FF2B5EF4-FFF2-40B4-BE49-F238E27FC236}">
                <a16:creationId xmlns:a16="http://schemas.microsoft.com/office/drawing/2014/main" id="{19C26B8C-9278-1972-8E28-80286EDF6445}"/>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103</a:t>
            </a:fld>
            <a:endParaRPr lang="en-US" b="1">
              <a:solidFill>
                <a:schemeClr val="bg1"/>
              </a:solidFill>
            </a:endParaRPr>
          </a:p>
        </p:txBody>
      </p:sp>
    </p:spTree>
    <p:extLst>
      <p:ext uri="{BB962C8B-B14F-4D97-AF65-F5344CB8AC3E}">
        <p14:creationId xmlns:p14="http://schemas.microsoft.com/office/powerpoint/2010/main" val="3560774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1" name="Oval 130">
            <a:extLst>
              <a:ext uri="{FF2B5EF4-FFF2-40B4-BE49-F238E27FC236}">
                <a16:creationId xmlns:a16="http://schemas.microsoft.com/office/drawing/2014/main" id="{9886224F-CAA2-4EBC-A58B-02FD24426156}"/>
              </a:ext>
            </a:extLst>
          </p:cNvPr>
          <p:cNvSpPr/>
          <p:nvPr/>
        </p:nvSpPr>
        <p:spPr>
          <a:xfrm>
            <a:off x="1380006" y="1859929"/>
            <a:ext cx="80156" cy="425017"/>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 name="Subtitle 2">
            <a:extLst>
              <a:ext uri="{FF2B5EF4-FFF2-40B4-BE49-F238E27FC236}">
                <a16:creationId xmlns:a16="http://schemas.microsoft.com/office/drawing/2014/main" id="{A2120283-D86F-4ABD-85B3-501710FBE72B}"/>
              </a:ext>
            </a:extLst>
          </p:cNvPr>
          <p:cNvSpPr txBox="1">
            <a:spLocks/>
          </p:cNvSpPr>
          <p:nvPr/>
        </p:nvSpPr>
        <p:spPr>
          <a:xfrm>
            <a:off x="1524000" y="276949"/>
            <a:ext cx="9144000" cy="425017"/>
          </a:xfrm>
          <a:prstGeom prst="rect">
            <a:avLst/>
          </a:prstGeom>
          <a:solidFill>
            <a:schemeClr val="accent6">
              <a:lumMod val="20000"/>
              <a:lumOff val="80000"/>
            </a:schemeClr>
          </a:solidFill>
        </p:spPr>
        <p:txBody>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atin typeface="+mj-lt"/>
              </a:rPr>
              <a:t>ALU Interface – Flags, A,B Registers, Op Code selection</a:t>
            </a:r>
          </a:p>
        </p:txBody>
      </p:sp>
      <p:sp>
        <p:nvSpPr>
          <p:cNvPr id="5" name="Rectangle 4">
            <a:extLst>
              <a:ext uri="{FF2B5EF4-FFF2-40B4-BE49-F238E27FC236}">
                <a16:creationId xmlns:a16="http://schemas.microsoft.com/office/drawing/2014/main" id="{438E741D-940C-49CF-A062-A3AD42708A8B}"/>
              </a:ext>
            </a:extLst>
          </p:cNvPr>
          <p:cNvSpPr/>
          <p:nvPr/>
        </p:nvSpPr>
        <p:spPr>
          <a:xfrm>
            <a:off x="9889158" y="1242646"/>
            <a:ext cx="1787028" cy="5438073"/>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t>ALU</a:t>
            </a:r>
          </a:p>
        </p:txBody>
      </p:sp>
      <p:sp>
        <p:nvSpPr>
          <p:cNvPr id="8" name="Arrow: Right 7">
            <a:extLst>
              <a:ext uri="{FF2B5EF4-FFF2-40B4-BE49-F238E27FC236}">
                <a16:creationId xmlns:a16="http://schemas.microsoft.com/office/drawing/2014/main" id="{28071295-7FBE-431D-A512-56AF088F8291}"/>
              </a:ext>
            </a:extLst>
          </p:cNvPr>
          <p:cNvSpPr/>
          <p:nvPr/>
        </p:nvSpPr>
        <p:spPr>
          <a:xfrm>
            <a:off x="6979137" y="3123316"/>
            <a:ext cx="2809347" cy="515816"/>
          </a:xfrm>
          <a:prstGeom prst="rightArrow">
            <a:avLst/>
          </a:prstGeom>
          <a:solidFill>
            <a:schemeClr val="bg2"/>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ALU OpCode</a:t>
            </a:r>
          </a:p>
        </p:txBody>
      </p:sp>
      <p:cxnSp>
        <p:nvCxnSpPr>
          <p:cNvPr id="10" name="Straight Arrow Connector 9">
            <a:extLst>
              <a:ext uri="{FF2B5EF4-FFF2-40B4-BE49-F238E27FC236}">
                <a16:creationId xmlns:a16="http://schemas.microsoft.com/office/drawing/2014/main" id="{10C437D5-7B7B-4D7C-B0C5-7791AA9C0D79}"/>
              </a:ext>
            </a:extLst>
          </p:cNvPr>
          <p:cNvCxnSpPr>
            <a:cxnSpLocks/>
          </p:cNvCxnSpPr>
          <p:nvPr/>
        </p:nvCxnSpPr>
        <p:spPr>
          <a:xfrm>
            <a:off x="3777674" y="4095263"/>
            <a:ext cx="63119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Arrow: Right 12">
            <a:extLst>
              <a:ext uri="{FF2B5EF4-FFF2-40B4-BE49-F238E27FC236}">
                <a16:creationId xmlns:a16="http://schemas.microsoft.com/office/drawing/2014/main" id="{ACA768EA-8559-406C-9F9A-ACEC8CE3E13D}"/>
              </a:ext>
            </a:extLst>
          </p:cNvPr>
          <p:cNvSpPr/>
          <p:nvPr/>
        </p:nvSpPr>
        <p:spPr>
          <a:xfrm flipH="1">
            <a:off x="10439785" y="5628597"/>
            <a:ext cx="798179" cy="515816"/>
          </a:xfrm>
          <a:prstGeom prst="rightArrow">
            <a:avLst/>
          </a:prstGeom>
          <a:solidFill>
            <a:schemeClr val="bg2"/>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Flags</a:t>
            </a:r>
          </a:p>
        </p:txBody>
      </p:sp>
      <p:sp>
        <p:nvSpPr>
          <p:cNvPr id="15" name="TextBox 14">
            <a:extLst>
              <a:ext uri="{FF2B5EF4-FFF2-40B4-BE49-F238E27FC236}">
                <a16:creationId xmlns:a16="http://schemas.microsoft.com/office/drawing/2014/main" id="{F81B56AE-EEE1-4601-81F1-D4BA1DBF3818}"/>
              </a:ext>
            </a:extLst>
          </p:cNvPr>
          <p:cNvSpPr txBox="1"/>
          <p:nvPr/>
        </p:nvSpPr>
        <p:spPr>
          <a:xfrm>
            <a:off x="10668000" y="6365609"/>
            <a:ext cx="569964" cy="215444"/>
          </a:xfrm>
          <a:prstGeom prst="rect">
            <a:avLst/>
          </a:prstGeom>
          <a:solidFill>
            <a:schemeClr val="bg1"/>
          </a:solidFill>
          <a:ln>
            <a:solidFill>
              <a:schemeClr val="accent1"/>
            </a:solidFill>
          </a:ln>
        </p:spPr>
        <p:txBody>
          <a:bodyPr wrap="none" lIns="0" tIns="0" rIns="0" bIns="0" rtlCol="0">
            <a:spAutoFit/>
          </a:bodyPr>
          <a:lstStyle/>
          <a:p>
            <a:r>
              <a:rPr lang="en-US" sz="1400"/>
              <a:t>Carry In</a:t>
            </a:r>
          </a:p>
        </p:txBody>
      </p:sp>
      <p:sp>
        <p:nvSpPr>
          <p:cNvPr id="16" name="Trapezoid 15">
            <a:extLst>
              <a:ext uri="{FF2B5EF4-FFF2-40B4-BE49-F238E27FC236}">
                <a16:creationId xmlns:a16="http://schemas.microsoft.com/office/drawing/2014/main" id="{E17F45E1-B5B3-4B1D-AFD6-AC5E7FEB2ACF}"/>
              </a:ext>
            </a:extLst>
          </p:cNvPr>
          <p:cNvSpPr/>
          <p:nvPr/>
        </p:nvSpPr>
        <p:spPr>
          <a:xfrm rot="16200000">
            <a:off x="10395880" y="4714721"/>
            <a:ext cx="1097049" cy="366417"/>
          </a:xfrm>
          <a:prstGeom prst="trapezoid">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a:t>74HC251</a:t>
            </a:r>
          </a:p>
        </p:txBody>
      </p:sp>
      <p:cxnSp>
        <p:nvCxnSpPr>
          <p:cNvPr id="18" name="Connector: Elbow 17">
            <a:extLst>
              <a:ext uri="{FF2B5EF4-FFF2-40B4-BE49-F238E27FC236}">
                <a16:creationId xmlns:a16="http://schemas.microsoft.com/office/drawing/2014/main" id="{AF85FB46-8BD9-4C02-95A2-03038E0FC06F}"/>
              </a:ext>
            </a:extLst>
          </p:cNvPr>
          <p:cNvCxnSpPr>
            <a:cxnSpLocks/>
            <a:endCxn id="16" idx="3"/>
          </p:cNvCxnSpPr>
          <p:nvPr/>
        </p:nvCxnSpPr>
        <p:spPr>
          <a:xfrm>
            <a:off x="9804425" y="4095263"/>
            <a:ext cx="1139979" cy="299943"/>
          </a:xfrm>
          <a:prstGeom prst="bentConnector2">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52EA69A9-A280-4BAD-AB66-AE6A1494E3AF}"/>
              </a:ext>
            </a:extLst>
          </p:cNvPr>
          <p:cNvSpPr/>
          <p:nvPr/>
        </p:nvSpPr>
        <p:spPr>
          <a:xfrm rot="16200000">
            <a:off x="9843181" y="5688988"/>
            <a:ext cx="942000" cy="29286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a:t>74HC161</a:t>
            </a:r>
          </a:p>
        </p:txBody>
      </p:sp>
      <p:cxnSp>
        <p:nvCxnSpPr>
          <p:cNvPr id="23" name="Connector: Elbow 22">
            <a:extLst>
              <a:ext uri="{FF2B5EF4-FFF2-40B4-BE49-F238E27FC236}">
                <a16:creationId xmlns:a16="http://schemas.microsoft.com/office/drawing/2014/main" id="{BFD92FED-91CF-4735-AAB3-96A25615893A}"/>
              </a:ext>
            </a:extLst>
          </p:cNvPr>
          <p:cNvCxnSpPr>
            <a:cxnSpLocks/>
            <a:stCxn id="21" idx="0"/>
            <a:endCxn id="15" idx="1"/>
          </p:cNvCxnSpPr>
          <p:nvPr/>
        </p:nvCxnSpPr>
        <p:spPr>
          <a:xfrm rot="10800000" flipH="1" flipV="1">
            <a:off x="10167746" y="5835423"/>
            <a:ext cx="500253" cy="637908"/>
          </a:xfrm>
          <a:prstGeom prst="bentConnector3">
            <a:avLst>
              <a:gd name="adj1" fmla="val -11057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9916795-CAE7-4965-9DEF-F413C2624194}"/>
              </a:ext>
            </a:extLst>
          </p:cNvPr>
          <p:cNvCxnSpPr>
            <a:cxnSpLocks/>
          </p:cNvCxnSpPr>
          <p:nvPr/>
        </p:nvCxnSpPr>
        <p:spPr>
          <a:xfrm>
            <a:off x="5769205" y="5416623"/>
            <a:ext cx="4398543" cy="0"/>
          </a:xfrm>
          <a:prstGeom prst="line">
            <a:avLst/>
          </a:prstGeom>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F41F89F2-C680-4820-B376-72B5BCD40754}"/>
              </a:ext>
            </a:extLst>
          </p:cNvPr>
          <p:cNvSpPr txBox="1"/>
          <p:nvPr/>
        </p:nvSpPr>
        <p:spPr>
          <a:xfrm>
            <a:off x="6138946" y="5217727"/>
            <a:ext cx="1277914" cy="254044"/>
          </a:xfrm>
          <a:prstGeom prst="rect">
            <a:avLst/>
          </a:prstGeom>
          <a:noFill/>
        </p:spPr>
        <p:txBody>
          <a:bodyPr wrap="none" rtlCol="0">
            <a:spAutoFit/>
          </a:bodyPr>
          <a:lstStyle/>
          <a:p>
            <a:r>
              <a:rPr lang="en-US" sz="1051"/>
              <a:t>Parallel Load Enable</a:t>
            </a:r>
          </a:p>
        </p:txBody>
      </p:sp>
      <p:sp>
        <p:nvSpPr>
          <p:cNvPr id="38" name="Oval 37">
            <a:extLst>
              <a:ext uri="{FF2B5EF4-FFF2-40B4-BE49-F238E27FC236}">
                <a16:creationId xmlns:a16="http://schemas.microsoft.com/office/drawing/2014/main" id="{AD190C31-1A0E-4A1A-ACF8-CA10B239B5BF}"/>
              </a:ext>
            </a:extLst>
          </p:cNvPr>
          <p:cNvSpPr/>
          <p:nvPr/>
        </p:nvSpPr>
        <p:spPr>
          <a:xfrm>
            <a:off x="10530183" y="4322579"/>
            <a:ext cx="90960" cy="9144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43" name="Connector: Elbow 42">
            <a:extLst>
              <a:ext uri="{FF2B5EF4-FFF2-40B4-BE49-F238E27FC236}">
                <a16:creationId xmlns:a16="http://schemas.microsoft.com/office/drawing/2014/main" id="{9EBF51E4-73DC-4DCC-A52A-7FCAD472FB1B}"/>
              </a:ext>
            </a:extLst>
          </p:cNvPr>
          <p:cNvCxnSpPr>
            <a:cxnSpLocks/>
            <a:stCxn id="48" idx="4"/>
            <a:endCxn id="68" idx="1"/>
          </p:cNvCxnSpPr>
          <p:nvPr/>
        </p:nvCxnSpPr>
        <p:spPr>
          <a:xfrm rot="16200000" flipH="1">
            <a:off x="4112697" y="4604753"/>
            <a:ext cx="1146284" cy="236819"/>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48" name="Oval 47">
            <a:extLst>
              <a:ext uri="{FF2B5EF4-FFF2-40B4-BE49-F238E27FC236}">
                <a16:creationId xmlns:a16="http://schemas.microsoft.com/office/drawing/2014/main" id="{527252F1-02EB-42EA-8625-76BCDBE2C9A5}"/>
              </a:ext>
            </a:extLst>
          </p:cNvPr>
          <p:cNvSpPr/>
          <p:nvPr/>
        </p:nvSpPr>
        <p:spPr>
          <a:xfrm>
            <a:off x="4521949" y="4058581"/>
            <a:ext cx="90960" cy="9144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3" name="Trapezoid 52">
            <a:extLst>
              <a:ext uri="{FF2B5EF4-FFF2-40B4-BE49-F238E27FC236}">
                <a16:creationId xmlns:a16="http://schemas.microsoft.com/office/drawing/2014/main" id="{233A8CB9-402D-465D-98B7-D5952E3F26F9}"/>
              </a:ext>
            </a:extLst>
          </p:cNvPr>
          <p:cNvSpPr/>
          <p:nvPr/>
        </p:nvSpPr>
        <p:spPr>
          <a:xfrm rot="5400000">
            <a:off x="6386545" y="3217973"/>
            <a:ext cx="836729" cy="366417"/>
          </a:xfrm>
          <a:prstGeom prst="trapezoid">
            <a:avLst/>
          </a:prstGeom>
        </p:spPr>
        <p:style>
          <a:lnRef idx="2">
            <a:schemeClr val="accent6">
              <a:shade val="50000"/>
            </a:schemeClr>
          </a:lnRef>
          <a:fillRef idx="1">
            <a:schemeClr val="accent6"/>
          </a:fillRef>
          <a:effectRef idx="0">
            <a:schemeClr val="accent6"/>
          </a:effectRef>
          <a:fontRef idx="minor">
            <a:schemeClr val="lt1"/>
          </a:fontRef>
        </p:style>
        <p:txBody>
          <a:bodyPr wrap="none" rtlCol="0" anchor="ctr"/>
          <a:lstStyle/>
          <a:p>
            <a:pPr algn="ctr"/>
            <a:r>
              <a:rPr lang="en-US" sz="1200" dirty="0"/>
              <a:t>74HC157</a:t>
            </a:r>
          </a:p>
        </p:txBody>
      </p:sp>
      <p:sp>
        <p:nvSpPr>
          <p:cNvPr id="57" name="Arrow: Right 56">
            <a:extLst>
              <a:ext uri="{FF2B5EF4-FFF2-40B4-BE49-F238E27FC236}">
                <a16:creationId xmlns:a16="http://schemas.microsoft.com/office/drawing/2014/main" id="{303E707C-DAB0-4224-B779-23C920C80A64}"/>
              </a:ext>
            </a:extLst>
          </p:cNvPr>
          <p:cNvSpPr/>
          <p:nvPr/>
        </p:nvSpPr>
        <p:spPr>
          <a:xfrm>
            <a:off x="5220491" y="3076692"/>
            <a:ext cx="1390125" cy="219469"/>
          </a:xfrm>
          <a:prstGeom prst="rightArrow">
            <a:avLst/>
          </a:prstGeom>
          <a:solidFill>
            <a:schemeClr val="bg2"/>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a:t>4b’0110 (ADD)</a:t>
            </a:r>
          </a:p>
        </p:txBody>
      </p:sp>
      <p:sp>
        <p:nvSpPr>
          <p:cNvPr id="58" name="Arrow: Right 57">
            <a:extLst>
              <a:ext uri="{FF2B5EF4-FFF2-40B4-BE49-F238E27FC236}">
                <a16:creationId xmlns:a16="http://schemas.microsoft.com/office/drawing/2014/main" id="{7A175B8C-7C4C-438D-96C2-3443FBDFA711}"/>
              </a:ext>
            </a:extLst>
          </p:cNvPr>
          <p:cNvSpPr/>
          <p:nvPr/>
        </p:nvSpPr>
        <p:spPr>
          <a:xfrm>
            <a:off x="5220280" y="3461416"/>
            <a:ext cx="1390125" cy="219469"/>
          </a:xfrm>
          <a:prstGeom prst="rightArrow">
            <a:avLst/>
          </a:prstGeom>
          <a:solidFill>
            <a:schemeClr val="bg2"/>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a:t>4b from H reg[3:0]</a:t>
            </a:r>
          </a:p>
        </p:txBody>
      </p:sp>
      <p:grpSp>
        <p:nvGrpSpPr>
          <p:cNvPr id="59" name="Group 58">
            <a:extLst>
              <a:ext uri="{FF2B5EF4-FFF2-40B4-BE49-F238E27FC236}">
                <a16:creationId xmlns:a16="http://schemas.microsoft.com/office/drawing/2014/main" id="{7EFE7581-7C2B-4E9B-8B5D-339CF83307B7}"/>
              </a:ext>
            </a:extLst>
          </p:cNvPr>
          <p:cNvGrpSpPr/>
          <p:nvPr/>
        </p:nvGrpSpPr>
        <p:grpSpPr>
          <a:xfrm>
            <a:off x="2034537" y="2621659"/>
            <a:ext cx="1122423" cy="500265"/>
            <a:chOff x="1992327" y="3559447"/>
            <a:chExt cx="1122423" cy="500266"/>
          </a:xfrm>
        </p:grpSpPr>
        <p:sp>
          <p:nvSpPr>
            <p:cNvPr id="60" name="TextBox 59">
              <a:hlinkClick r:id="rId3" action="ppaction://hlinksldjump"/>
              <a:extLst>
                <a:ext uri="{FF2B5EF4-FFF2-40B4-BE49-F238E27FC236}">
                  <a16:creationId xmlns:a16="http://schemas.microsoft.com/office/drawing/2014/main" id="{240250E3-A821-4528-8E04-10F76620023F}"/>
                </a:ext>
              </a:extLst>
            </p:cNvPr>
            <p:cNvSpPr txBox="1"/>
            <p:nvPr/>
          </p:nvSpPr>
          <p:spPr>
            <a:xfrm>
              <a:off x="1992327" y="3559447"/>
              <a:ext cx="1122423" cy="500266"/>
            </a:xfrm>
            <a:prstGeom prst="rect">
              <a:avLst/>
            </a:prstGeom>
            <a:noFill/>
            <a:ln>
              <a:solidFill>
                <a:schemeClr val="accent1"/>
              </a:solidFill>
            </a:ln>
          </p:spPr>
          <p:txBody>
            <a:bodyPr wrap="none" rtlCol="0">
              <a:spAutoFit/>
            </a:bodyPr>
            <a:lstStyle/>
            <a:p>
              <a:r>
                <a:rPr lang="en-US" sz="1600"/>
                <a:t>OpCode_7</a:t>
              </a:r>
            </a:p>
            <a:p>
              <a:r>
                <a:rPr lang="en-US" sz="1051"/>
                <a:t>BRANCH Relative</a:t>
              </a:r>
            </a:p>
          </p:txBody>
        </p:sp>
        <p:cxnSp>
          <p:nvCxnSpPr>
            <p:cNvPr id="61" name="Straight Connector 60">
              <a:extLst>
                <a:ext uri="{FF2B5EF4-FFF2-40B4-BE49-F238E27FC236}">
                  <a16:creationId xmlns:a16="http://schemas.microsoft.com/office/drawing/2014/main" id="{F1ACBF9A-4714-4715-AE28-4EBE518D064E}"/>
                </a:ext>
              </a:extLst>
            </p:cNvPr>
            <p:cNvCxnSpPr>
              <a:cxnSpLocks/>
            </p:cNvCxnSpPr>
            <p:nvPr/>
          </p:nvCxnSpPr>
          <p:spPr>
            <a:xfrm>
              <a:off x="2080151" y="3626824"/>
              <a:ext cx="979405"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63" name="Connector: Elbow 62">
            <a:extLst>
              <a:ext uri="{FF2B5EF4-FFF2-40B4-BE49-F238E27FC236}">
                <a16:creationId xmlns:a16="http://schemas.microsoft.com/office/drawing/2014/main" id="{F4996657-AE1C-49A6-8479-184C10DA6E75}"/>
              </a:ext>
            </a:extLst>
          </p:cNvPr>
          <p:cNvCxnSpPr>
            <a:cxnSpLocks/>
            <a:stCxn id="60" idx="3"/>
            <a:endCxn id="53" idx="1"/>
          </p:cNvCxnSpPr>
          <p:nvPr/>
        </p:nvCxnSpPr>
        <p:spPr>
          <a:xfrm>
            <a:off x="3156960" y="2871792"/>
            <a:ext cx="3647949" cy="156827"/>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199BFEF6-30D7-4A47-82CA-2FB57C936693}"/>
              </a:ext>
            </a:extLst>
          </p:cNvPr>
          <p:cNvSpPr txBox="1"/>
          <p:nvPr/>
        </p:nvSpPr>
        <p:spPr>
          <a:xfrm>
            <a:off x="4307619" y="2632658"/>
            <a:ext cx="441146" cy="254044"/>
          </a:xfrm>
          <a:prstGeom prst="rect">
            <a:avLst/>
          </a:prstGeom>
          <a:noFill/>
        </p:spPr>
        <p:txBody>
          <a:bodyPr wrap="none" rtlCol="0">
            <a:spAutoFit/>
          </a:bodyPr>
          <a:lstStyle/>
          <a:p>
            <a:r>
              <a:rPr lang="en-US" sz="1051"/>
              <a:t>Gray</a:t>
            </a:r>
          </a:p>
        </p:txBody>
      </p:sp>
      <p:sp>
        <p:nvSpPr>
          <p:cNvPr id="66" name="TextBox 65">
            <a:extLst>
              <a:ext uri="{FF2B5EF4-FFF2-40B4-BE49-F238E27FC236}">
                <a16:creationId xmlns:a16="http://schemas.microsoft.com/office/drawing/2014/main" id="{BD728FE5-CDBC-499D-8C71-18C7E0D1FA58}"/>
              </a:ext>
            </a:extLst>
          </p:cNvPr>
          <p:cNvSpPr txBox="1"/>
          <p:nvPr/>
        </p:nvSpPr>
        <p:spPr>
          <a:xfrm>
            <a:off x="6555284" y="3042832"/>
            <a:ext cx="253596" cy="254044"/>
          </a:xfrm>
          <a:prstGeom prst="rect">
            <a:avLst/>
          </a:prstGeom>
          <a:noFill/>
        </p:spPr>
        <p:txBody>
          <a:bodyPr wrap="none" rtlCol="0">
            <a:spAutoFit/>
          </a:bodyPr>
          <a:lstStyle/>
          <a:p>
            <a:r>
              <a:rPr lang="en-US" sz="1051"/>
              <a:t>0</a:t>
            </a:r>
          </a:p>
        </p:txBody>
      </p:sp>
      <p:sp>
        <p:nvSpPr>
          <p:cNvPr id="67" name="TextBox 66">
            <a:extLst>
              <a:ext uri="{FF2B5EF4-FFF2-40B4-BE49-F238E27FC236}">
                <a16:creationId xmlns:a16="http://schemas.microsoft.com/office/drawing/2014/main" id="{1D947DB4-137A-4816-ADC4-6E0512B9C9E2}"/>
              </a:ext>
            </a:extLst>
          </p:cNvPr>
          <p:cNvSpPr txBox="1"/>
          <p:nvPr/>
        </p:nvSpPr>
        <p:spPr>
          <a:xfrm>
            <a:off x="6555284" y="3444616"/>
            <a:ext cx="253596" cy="254044"/>
          </a:xfrm>
          <a:prstGeom prst="rect">
            <a:avLst/>
          </a:prstGeom>
          <a:noFill/>
        </p:spPr>
        <p:txBody>
          <a:bodyPr wrap="none" rtlCol="0">
            <a:spAutoFit/>
          </a:bodyPr>
          <a:lstStyle/>
          <a:p>
            <a:r>
              <a:rPr lang="en-US" sz="1051"/>
              <a:t>1</a:t>
            </a:r>
          </a:p>
        </p:txBody>
      </p:sp>
      <p:pic>
        <p:nvPicPr>
          <p:cNvPr id="68" name="Picture 67" descr="Shape&#10;&#10;Description automatically generated with medium confidence">
            <a:extLst>
              <a:ext uri="{FF2B5EF4-FFF2-40B4-BE49-F238E27FC236}">
                <a16:creationId xmlns:a16="http://schemas.microsoft.com/office/drawing/2014/main" id="{033C3C8A-E755-406D-A760-451FCACC9727}"/>
              </a:ext>
            </a:extLst>
          </p:cNvPr>
          <p:cNvPicPr>
            <a:picLocks noChangeAspect="1"/>
          </p:cNvPicPr>
          <p:nvPr/>
        </p:nvPicPr>
        <p:blipFill rotWithShape="1">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45226" r="11520"/>
          <a:stretch/>
        </p:blipFill>
        <p:spPr>
          <a:xfrm>
            <a:off x="4804250" y="5092366"/>
            <a:ext cx="705703" cy="407879"/>
          </a:xfrm>
          <a:prstGeom prst="rect">
            <a:avLst/>
          </a:prstGeom>
        </p:spPr>
      </p:pic>
      <p:cxnSp>
        <p:nvCxnSpPr>
          <p:cNvPr id="70" name="Connector: Elbow 69">
            <a:extLst>
              <a:ext uri="{FF2B5EF4-FFF2-40B4-BE49-F238E27FC236}">
                <a16:creationId xmlns:a16="http://schemas.microsoft.com/office/drawing/2014/main" id="{91CD06F2-E1A4-43BA-BC65-A1A42FD96D3A}"/>
              </a:ext>
            </a:extLst>
          </p:cNvPr>
          <p:cNvCxnSpPr>
            <a:cxnSpLocks/>
            <a:stCxn id="68" idx="3"/>
          </p:cNvCxnSpPr>
          <p:nvPr/>
        </p:nvCxnSpPr>
        <p:spPr>
          <a:xfrm>
            <a:off x="5509952" y="5296306"/>
            <a:ext cx="225237" cy="74597"/>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D3488E9E-0387-462B-9173-8670588367EA}"/>
              </a:ext>
            </a:extLst>
          </p:cNvPr>
          <p:cNvCxnSpPr>
            <a:cxnSpLocks/>
            <a:stCxn id="60" idx="2"/>
          </p:cNvCxnSpPr>
          <p:nvPr/>
        </p:nvCxnSpPr>
        <p:spPr>
          <a:xfrm rot="16200000" flipH="1">
            <a:off x="2965907" y="2751766"/>
            <a:ext cx="2405087" cy="3145402"/>
          </a:xfrm>
          <a:prstGeom prst="bentConnector2">
            <a:avLst/>
          </a:prstGeom>
          <a:ln>
            <a:tailEnd type="none"/>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037780A8-F1FC-4B41-A1EC-FA61E6D62F56}"/>
              </a:ext>
            </a:extLst>
          </p:cNvPr>
          <p:cNvSpPr txBox="1"/>
          <p:nvPr/>
        </p:nvSpPr>
        <p:spPr>
          <a:xfrm>
            <a:off x="2531301" y="5296732"/>
            <a:ext cx="1981633" cy="254044"/>
          </a:xfrm>
          <a:prstGeom prst="rect">
            <a:avLst/>
          </a:prstGeom>
          <a:noFill/>
        </p:spPr>
        <p:txBody>
          <a:bodyPr wrap="none" rtlCol="0">
            <a:spAutoFit/>
          </a:bodyPr>
          <a:lstStyle/>
          <a:p>
            <a:r>
              <a:rPr lang="en-US" sz="1051"/>
              <a:t>Don’t update flags on BR relative</a:t>
            </a:r>
          </a:p>
        </p:txBody>
      </p:sp>
      <p:sp>
        <p:nvSpPr>
          <p:cNvPr id="84" name="TextBox 83">
            <a:extLst>
              <a:ext uri="{FF2B5EF4-FFF2-40B4-BE49-F238E27FC236}">
                <a16:creationId xmlns:a16="http://schemas.microsoft.com/office/drawing/2014/main" id="{B62CEA64-E7DD-40DC-B037-433307F67662}"/>
              </a:ext>
            </a:extLst>
          </p:cNvPr>
          <p:cNvSpPr txBox="1"/>
          <p:nvPr/>
        </p:nvSpPr>
        <p:spPr>
          <a:xfrm>
            <a:off x="8445829" y="883631"/>
            <a:ext cx="276417" cy="161711"/>
          </a:xfrm>
          <a:prstGeom prst="rect">
            <a:avLst/>
          </a:prstGeom>
          <a:solidFill>
            <a:srgbClr val="FFC000"/>
          </a:solidFill>
        </p:spPr>
        <p:txBody>
          <a:bodyPr wrap="square" lIns="0" tIns="0" rIns="0" bIns="0" rtlCol="0" anchor="ctr">
            <a:spAutoFit/>
          </a:bodyPr>
          <a:lstStyle/>
          <a:p>
            <a:pPr algn="ctr"/>
            <a:r>
              <a:rPr lang="en-US" sz="1051"/>
              <a:t>MR</a:t>
            </a:r>
          </a:p>
        </p:txBody>
      </p:sp>
      <p:cxnSp>
        <p:nvCxnSpPr>
          <p:cNvPr id="85" name="Connector: Elbow 84">
            <a:extLst>
              <a:ext uri="{FF2B5EF4-FFF2-40B4-BE49-F238E27FC236}">
                <a16:creationId xmlns:a16="http://schemas.microsoft.com/office/drawing/2014/main" id="{61B7A3C6-6599-45B7-90F3-B357C3FDE01E}"/>
              </a:ext>
            </a:extLst>
          </p:cNvPr>
          <p:cNvCxnSpPr>
            <a:cxnSpLocks/>
            <a:stCxn id="84" idx="3"/>
            <a:endCxn id="100" idx="1"/>
          </p:cNvCxnSpPr>
          <p:nvPr/>
        </p:nvCxnSpPr>
        <p:spPr>
          <a:xfrm>
            <a:off x="8722246" y="964487"/>
            <a:ext cx="2434501" cy="701286"/>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87" name="Connector: Elbow 86">
            <a:extLst>
              <a:ext uri="{FF2B5EF4-FFF2-40B4-BE49-F238E27FC236}">
                <a16:creationId xmlns:a16="http://schemas.microsoft.com/office/drawing/2014/main" id="{F18AEC42-BF15-4599-A492-A9AE13027B6D}"/>
              </a:ext>
            </a:extLst>
          </p:cNvPr>
          <p:cNvCxnSpPr>
            <a:cxnSpLocks/>
            <a:stCxn id="100" idx="1"/>
            <a:endCxn id="97" idx="3"/>
          </p:cNvCxnSpPr>
          <p:nvPr/>
        </p:nvCxnSpPr>
        <p:spPr>
          <a:xfrm rot="16200000" flipV="1">
            <a:off x="7803754" y="-1687222"/>
            <a:ext cx="144252" cy="6561735"/>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89" name="Connector: Elbow 88">
            <a:extLst>
              <a:ext uri="{FF2B5EF4-FFF2-40B4-BE49-F238E27FC236}">
                <a16:creationId xmlns:a16="http://schemas.microsoft.com/office/drawing/2014/main" id="{0A8F2BD3-D87A-435E-8F7E-BC9C9519DE97}"/>
              </a:ext>
            </a:extLst>
          </p:cNvPr>
          <p:cNvCxnSpPr>
            <a:cxnSpLocks/>
            <a:stCxn id="75" idx="1"/>
            <a:endCxn id="98" idx="3"/>
          </p:cNvCxnSpPr>
          <p:nvPr/>
        </p:nvCxnSpPr>
        <p:spPr>
          <a:xfrm rot="16200000" flipV="1">
            <a:off x="7732091" y="-2063685"/>
            <a:ext cx="439979" cy="6714135"/>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764C4AA9-CCD7-4E75-BDEE-5431C168B7D6}"/>
              </a:ext>
            </a:extLst>
          </p:cNvPr>
          <p:cNvSpPr txBox="1"/>
          <p:nvPr/>
        </p:nvSpPr>
        <p:spPr>
          <a:xfrm>
            <a:off x="3504702" y="934894"/>
            <a:ext cx="519694" cy="276999"/>
          </a:xfrm>
          <a:prstGeom prst="rect">
            <a:avLst/>
          </a:prstGeom>
          <a:noFill/>
          <a:ln>
            <a:solidFill>
              <a:schemeClr val="accent1">
                <a:lumMod val="75000"/>
              </a:schemeClr>
            </a:solidFill>
          </a:ln>
        </p:spPr>
        <p:txBody>
          <a:bodyPr wrap="none" rtlCol="0">
            <a:spAutoFit/>
          </a:bodyPr>
          <a:lstStyle/>
          <a:p>
            <a:r>
              <a:rPr lang="en-US" sz="1200"/>
              <a:t>Clock</a:t>
            </a:r>
          </a:p>
        </p:txBody>
      </p:sp>
      <p:cxnSp>
        <p:nvCxnSpPr>
          <p:cNvPr id="102" name="Connector: Elbow 101">
            <a:extLst>
              <a:ext uri="{FF2B5EF4-FFF2-40B4-BE49-F238E27FC236}">
                <a16:creationId xmlns:a16="http://schemas.microsoft.com/office/drawing/2014/main" id="{83211141-BFF3-49B4-A39D-8DC90BA00252}"/>
              </a:ext>
            </a:extLst>
          </p:cNvPr>
          <p:cNvCxnSpPr>
            <a:cxnSpLocks/>
            <a:endCxn id="97" idx="1"/>
          </p:cNvCxnSpPr>
          <p:nvPr/>
        </p:nvCxnSpPr>
        <p:spPr>
          <a:xfrm>
            <a:off x="3651951" y="1493700"/>
            <a:ext cx="502240" cy="2782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119" name="TextBox 118">
            <a:extLst>
              <a:ext uri="{FF2B5EF4-FFF2-40B4-BE49-F238E27FC236}">
                <a16:creationId xmlns:a16="http://schemas.microsoft.com/office/drawing/2014/main" id="{F8154FDF-C0D7-46F7-9F5B-2C4BDBF09D00}"/>
              </a:ext>
            </a:extLst>
          </p:cNvPr>
          <p:cNvSpPr txBox="1"/>
          <p:nvPr/>
        </p:nvSpPr>
        <p:spPr>
          <a:xfrm>
            <a:off x="396188" y="1888249"/>
            <a:ext cx="340158" cy="246221"/>
          </a:xfrm>
          <a:prstGeom prst="rect">
            <a:avLst/>
          </a:prstGeom>
          <a:noFill/>
        </p:spPr>
        <p:txBody>
          <a:bodyPr wrap="none" rtlCol="0">
            <a:spAutoFit/>
          </a:bodyPr>
          <a:lstStyle/>
          <a:p>
            <a:r>
              <a:rPr lang="en-US" sz="1000"/>
              <a:t>Clk</a:t>
            </a:r>
          </a:p>
        </p:txBody>
      </p:sp>
      <p:graphicFrame>
        <p:nvGraphicFramePr>
          <p:cNvPr id="122" name="Table 110">
            <a:extLst>
              <a:ext uri="{FF2B5EF4-FFF2-40B4-BE49-F238E27FC236}">
                <a16:creationId xmlns:a16="http://schemas.microsoft.com/office/drawing/2014/main" id="{00D55C70-2B32-4E4F-9764-4E1639103CA2}"/>
              </a:ext>
            </a:extLst>
          </p:cNvPr>
          <p:cNvGraphicFramePr>
            <a:graphicFrameLocks noGrp="1"/>
          </p:cNvGraphicFramePr>
          <p:nvPr>
            <p:extLst>
              <p:ext uri="{D42A27DB-BD31-4B8C-83A1-F6EECF244321}">
                <p14:modId xmlns:p14="http://schemas.microsoft.com/office/powerpoint/2010/main" val="3988836141"/>
              </p:ext>
            </p:extLst>
          </p:nvPr>
        </p:nvGraphicFramePr>
        <p:xfrm>
          <a:off x="735025" y="1434212"/>
          <a:ext cx="1378332" cy="247176"/>
        </p:xfrm>
        <a:graphic>
          <a:graphicData uri="http://schemas.openxmlformats.org/drawingml/2006/table">
            <a:tbl>
              <a:tblPr bandRow="1">
                <a:tableStyleId>{5C22544A-7EE6-4342-B048-85BDC9FD1C3A}</a:tableStyleId>
              </a:tblPr>
              <a:tblGrid>
                <a:gridCol w="344583">
                  <a:extLst>
                    <a:ext uri="{9D8B030D-6E8A-4147-A177-3AD203B41FA5}">
                      <a16:colId xmlns:a16="http://schemas.microsoft.com/office/drawing/2014/main" val="866373483"/>
                    </a:ext>
                  </a:extLst>
                </a:gridCol>
                <a:gridCol w="344583">
                  <a:extLst>
                    <a:ext uri="{9D8B030D-6E8A-4147-A177-3AD203B41FA5}">
                      <a16:colId xmlns:a16="http://schemas.microsoft.com/office/drawing/2014/main" val="2024381536"/>
                    </a:ext>
                  </a:extLst>
                </a:gridCol>
                <a:gridCol w="344583">
                  <a:extLst>
                    <a:ext uri="{9D8B030D-6E8A-4147-A177-3AD203B41FA5}">
                      <a16:colId xmlns:a16="http://schemas.microsoft.com/office/drawing/2014/main" val="158804817"/>
                    </a:ext>
                  </a:extLst>
                </a:gridCol>
                <a:gridCol w="344583">
                  <a:extLst>
                    <a:ext uri="{9D8B030D-6E8A-4147-A177-3AD203B41FA5}">
                      <a16:colId xmlns:a16="http://schemas.microsoft.com/office/drawing/2014/main" val="1655900654"/>
                    </a:ext>
                  </a:extLst>
                </a:gridCol>
              </a:tblGrid>
              <a:tr h="247176">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891770497"/>
                  </a:ext>
                </a:extLst>
              </a:tr>
            </a:tbl>
          </a:graphicData>
        </a:graphic>
      </p:graphicFrame>
      <p:graphicFrame>
        <p:nvGraphicFramePr>
          <p:cNvPr id="123" name="Table 110">
            <a:extLst>
              <a:ext uri="{FF2B5EF4-FFF2-40B4-BE49-F238E27FC236}">
                <a16:creationId xmlns:a16="http://schemas.microsoft.com/office/drawing/2014/main" id="{CE1D6F67-8776-4D02-B706-EEF5F261FC8E}"/>
              </a:ext>
            </a:extLst>
          </p:cNvPr>
          <p:cNvGraphicFramePr>
            <a:graphicFrameLocks noGrp="1"/>
          </p:cNvGraphicFramePr>
          <p:nvPr>
            <p:extLst>
              <p:ext uri="{D42A27DB-BD31-4B8C-83A1-F6EECF244321}">
                <p14:modId xmlns:p14="http://schemas.microsoft.com/office/powerpoint/2010/main" val="2430075"/>
              </p:ext>
            </p:extLst>
          </p:nvPr>
        </p:nvGraphicFramePr>
        <p:xfrm>
          <a:off x="871607" y="1550171"/>
          <a:ext cx="1378332" cy="247176"/>
        </p:xfrm>
        <a:graphic>
          <a:graphicData uri="http://schemas.openxmlformats.org/drawingml/2006/table">
            <a:tbl>
              <a:tblPr bandRow="1">
                <a:tableStyleId>{5C22544A-7EE6-4342-B048-85BDC9FD1C3A}</a:tableStyleId>
              </a:tblPr>
              <a:tblGrid>
                <a:gridCol w="344583">
                  <a:extLst>
                    <a:ext uri="{9D8B030D-6E8A-4147-A177-3AD203B41FA5}">
                      <a16:colId xmlns:a16="http://schemas.microsoft.com/office/drawing/2014/main" val="866373483"/>
                    </a:ext>
                  </a:extLst>
                </a:gridCol>
                <a:gridCol w="344583">
                  <a:extLst>
                    <a:ext uri="{9D8B030D-6E8A-4147-A177-3AD203B41FA5}">
                      <a16:colId xmlns:a16="http://schemas.microsoft.com/office/drawing/2014/main" val="2024381536"/>
                    </a:ext>
                  </a:extLst>
                </a:gridCol>
                <a:gridCol w="344583">
                  <a:extLst>
                    <a:ext uri="{9D8B030D-6E8A-4147-A177-3AD203B41FA5}">
                      <a16:colId xmlns:a16="http://schemas.microsoft.com/office/drawing/2014/main" val="158804817"/>
                    </a:ext>
                  </a:extLst>
                </a:gridCol>
                <a:gridCol w="344583">
                  <a:extLst>
                    <a:ext uri="{9D8B030D-6E8A-4147-A177-3AD203B41FA5}">
                      <a16:colId xmlns:a16="http://schemas.microsoft.com/office/drawing/2014/main" val="1655900654"/>
                    </a:ext>
                  </a:extLst>
                </a:gridCol>
              </a:tblGrid>
              <a:tr h="247176">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891770497"/>
                  </a:ext>
                </a:extLst>
              </a:tr>
            </a:tbl>
          </a:graphicData>
        </a:graphic>
      </p:graphicFrame>
      <p:sp>
        <p:nvSpPr>
          <p:cNvPr id="124" name="TextBox 123">
            <a:extLst>
              <a:ext uri="{FF2B5EF4-FFF2-40B4-BE49-F238E27FC236}">
                <a16:creationId xmlns:a16="http://schemas.microsoft.com/office/drawing/2014/main" id="{42788A31-ED29-43BB-9B63-A634FCC6C30B}"/>
              </a:ext>
            </a:extLst>
          </p:cNvPr>
          <p:cNvSpPr txBox="1"/>
          <p:nvPr/>
        </p:nvSpPr>
        <p:spPr>
          <a:xfrm>
            <a:off x="391565" y="1434213"/>
            <a:ext cx="340158" cy="246221"/>
          </a:xfrm>
          <a:prstGeom prst="rect">
            <a:avLst/>
          </a:prstGeom>
          <a:noFill/>
        </p:spPr>
        <p:txBody>
          <a:bodyPr wrap="none" rtlCol="0">
            <a:spAutoFit/>
          </a:bodyPr>
          <a:lstStyle/>
          <a:p>
            <a:r>
              <a:rPr lang="en-US" sz="1000"/>
              <a:t>Clk</a:t>
            </a:r>
          </a:p>
        </p:txBody>
      </p:sp>
      <p:grpSp>
        <p:nvGrpSpPr>
          <p:cNvPr id="129" name="Group 128">
            <a:extLst>
              <a:ext uri="{FF2B5EF4-FFF2-40B4-BE49-F238E27FC236}">
                <a16:creationId xmlns:a16="http://schemas.microsoft.com/office/drawing/2014/main" id="{1EDE5662-3D72-4EE3-90EF-2C0A72DB5C7D}"/>
              </a:ext>
            </a:extLst>
          </p:cNvPr>
          <p:cNvGrpSpPr/>
          <p:nvPr/>
        </p:nvGrpSpPr>
        <p:grpSpPr>
          <a:xfrm>
            <a:off x="391561" y="1634256"/>
            <a:ext cx="354584" cy="246221"/>
            <a:chOff x="411018" y="1634251"/>
            <a:chExt cx="354583" cy="246220"/>
          </a:xfrm>
        </p:grpSpPr>
        <p:sp>
          <p:nvSpPr>
            <p:cNvPr id="125" name="TextBox 124">
              <a:extLst>
                <a:ext uri="{FF2B5EF4-FFF2-40B4-BE49-F238E27FC236}">
                  <a16:creationId xmlns:a16="http://schemas.microsoft.com/office/drawing/2014/main" id="{93700EAD-5DB7-4546-8613-7A6AE4E5302D}"/>
                </a:ext>
              </a:extLst>
            </p:cNvPr>
            <p:cNvSpPr txBox="1"/>
            <p:nvPr/>
          </p:nvSpPr>
          <p:spPr>
            <a:xfrm>
              <a:off x="411018" y="1634251"/>
              <a:ext cx="354583" cy="246220"/>
            </a:xfrm>
            <a:prstGeom prst="rect">
              <a:avLst/>
            </a:prstGeom>
            <a:noFill/>
          </p:spPr>
          <p:txBody>
            <a:bodyPr wrap="none" rtlCol="0">
              <a:spAutoFit/>
            </a:bodyPr>
            <a:lstStyle/>
            <a:p>
              <a:r>
                <a:rPr lang="en-US" sz="1000"/>
                <a:t>A_I</a:t>
              </a:r>
            </a:p>
          </p:txBody>
        </p:sp>
        <p:cxnSp>
          <p:nvCxnSpPr>
            <p:cNvPr id="127" name="Straight Connector 126">
              <a:extLst>
                <a:ext uri="{FF2B5EF4-FFF2-40B4-BE49-F238E27FC236}">
                  <a16:creationId xmlns:a16="http://schemas.microsoft.com/office/drawing/2014/main" id="{1D34C0FE-8A45-4EE2-994D-23DFFB8829AE}"/>
                </a:ext>
              </a:extLst>
            </p:cNvPr>
            <p:cNvCxnSpPr>
              <a:cxnSpLocks/>
            </p:cNvCxnSpPr>
            <p:nvPr/>
          </p:nvCxnSpPr>
          <p:spPr>
            <a:xfrm>
              <a:off x="511696" y="1680431"/>
              <a:ext cx="18288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35" name="Picture 134" descr="Shape&#10;&#10;Description automatically generated with medium confidence">
            <a:extLst>
              <a:ext uri="{FF2B5EF4-FFF2-40B4-BE49-F238E27FC236}">
                <a16:creationId xmlns:a16="http://schemas.microsoft.com/office/drawing/2014/main" id="{DBC153C2-D7F9-4F31-AB7F-2820C0F249F2}"/>
              </a:ext>
            </a:extLst>
          </p:cNvPr>
          <p:cNvPicPr>
            <a:picLocks noChangeAspect="1"/>
          </p:cNvPicPr>
          <p:nvPr/>
        </p:nvPicPr>
        <p:blipFill rotWithShape="1">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10289" r="54774"/>
          <a:stretch/>
        </p:blipFill>
        <p:spPr>
          <a:xfrm>
            <a:off x="5638092" y="5232381"/>
            <a:ext cx="581411" cy="416051"/>
          </a:xfrm>
          <a:prstGeom prst="rect">
            <a:avLst/>
          </a:prstGeom>
        </p:spPr>
      </p:pic>
      <p:cxnSp>
        <p:nvCxnSpPr>
          <p:cNvPr id="161" name="Connector: Elbow 160">
            <a:extLst>
              <a:ext uri="{FF2B5EF4-FFF2-40B4-BE49-F238E27FC236}">
                <a16:creationId xmlns:a16="http://schemas.microsoft.com/office/drawing/2014/main" id="{778AA801-D66B-4754-8657-B0A4C8055EB0}"/>
              </a:ext>
            </a:extLst>
          </p:cNvPr>
          <p:cNvCxnSpPr>
            <a:cxnSpLocks/>
            <a:endCxn id="92" idx="1"/>
          </p:cNvCxnSpPr>
          <p:nvPr/>
        </p:nvCxnSpPr>
        <p:spPr>
          <a:xfrm flipV="1">
            <a:off x="3645539" y="2002024"/>
            <a:ext cx="508652" cy="39925"/>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grpSp>
        <p:nvGrpSpPr>
          <p:cNvPr id="88" name="Group 87">
            <a:extLst>
              <a:ext uri="{FF2B5EF4-FFF2-40B4-BE49-F238E27FC236}">
                <a16:creationId xmlns:a16="http://schemas.microsoft.com/office/drawing/2014/main" id="{278FE2BF-4231-9A53-7DD3-8A2281454D5C}"/>
              </a:ext>
            </a:extLst>
          </p:cNvPr>
          <p:cNvGrpSpPr/>
          <p:nvPr/>
        </p:nvGrpSpPr>
        <p:grpSpPr>
          <a:xfrm>
            <a:off x="2862060" y="4012387"/>
            <a:ext cx="1463040" cy="182880"/>
            <a:chOff x="9859776" y="1158931"/>
            <a:chExt cx="1463040" cy="182880"/>
          </a:xfrm>
        </p:grpSpPr>
        <p:sp>
          <p:nvSpPr>
            <p:cNvPr id="93" name="Rectangle 92">
              <a:hlinkClick r:id="rId6" action="ppaction://hlinksldjump"/>
              <a:extLst>
                <a:ext uri="{FF2B5EF4-FFF2-40B4-BE49-F238E27FC236}">
                  <a16:creationId xmlns:a16="http://schemas.microsoft.com/office/drawing/2014/main" id="{ECE18F15-615D-68B3-9423-D92F1D079D08}"/>
                </a:ext>
              </a:extLst>
            </p:cNvPr>
            <p:cNvSpPr/>
            <p:nvPr/>
          </p:nvSpPr>
          <p:spPr>
            <a:xfrm>
              <a:off x="9859776" y="115893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2. ALU Out </a:t>
              </a:r>
              <a:r>
                <a:rPr lang="en-US" sz="1200" err="1"/>
                <a:t>En</a:t>
              </a:r>
              <a:endParaRPr lang="en-US" sz="1200"/>
            </a:p>
          </p:txBody>
        </p:sp>
        <p:cxnSp>
          <p:nvCxnSpPr>
            <p:cNvPr id="94" name="Straight Connector 93">
              <a:extLst>
                <a:ext uri="{FF2B5EF4-FFF2-40B4-BE49-F238E27FC236}">
                  <a16:creationId xmlns:a16="http://schemas.microsoft.com/office/drawing/2014/main" id="{8AC2CF9E-6FE4-F4B9-F971-5E22F12D0FF1}"/>
                </a:ext>
              </a:extLst>
            </p:cNvPr>
            <p:cNvCxnSpPr>
              <a:cxnSpLocks/>
            </p:cNvCxnSpPr>
            <p:nvPr/>
          </p:nvCxnSpPr>
          <p:spPr>
            <a:xfrm flipV="1">
              <a:off x="10068793" y="1186643"/>
              <a:ext cx="5987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5" name="Rectangle 94">
            <a:hlinkClick r:id="rId6" action="ppaction://hlinksldjump"/>
            <a:extLst>
              <a:ext uri="{FF2B5EF4-FFF2-40B4-BE49-F238E27FC236}">
                <a16:creationId xmlns:a16="http://schemas.microsoft.com/office/drawing/2014/main" id="{C4F08B23-90F7-C379-198D-00D2327DC27A}"/>
              </a:ext>
            </a:extLst>
          </p:cNvPr>
          <p:cNvSpPr/>
          <p:nvPr/>
        </p:nvSpPr>
        <p:spPr>
          <a:xfrm>
            <a:off x="2544191" y="1422887"/>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1: ALU Load A</a:t>
            </a:r>
          </a:p>
        </p:txBody>
      </p:sp>
      <p:sp>
        <p:nvSpPr>
          <p:cNvPr id="96" name="Rectangle 95">
            <a:hlinkClick r:id="rId6" action="ppaction://hlinksldjump"/>
            <a:extLst>
              <a:ext uri="{FF2B5EF4-FFF2-40B4-BE49-F238E27FC236}">
                <a16:creationId xmlns:a16="http://schemas.microsoft.com/office/drawing/2014/main" id="{82CD5E2C-2199-A8DB-1C7C-ECD984C7C02F}"/>
              </a:ext>
            </a:extLst>
          </p:cNvPr>
          <p:cNvSpPr/>
          <p:nvPr/>
        </p:nvSpPr>
        <p:spPr>
          <a:xfrm>
            <a:off x="2542985" y="1910328"/>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0: ALU Load B</a:t>
            </a:r>
          </a:p>
        </p:txBody>
      </p:sp>
      <p:pic>
        <p:nvPicPr>
          <p:cNvPr id="92" name="Picture 91" descr="Diagram&#10;&#10;Description automatically generated with low confidence">
            <a:extLst>
              <a:ext uri="{FF2B5EF4-FFF2-40B4-BE49-F238E27FC236}">
                <a16:creationId xmlns:a16="http://schemas.microsoft.com/office/drawing/2014/main" id="{6FF29213-7C9E-2E3C-36DD-5B955D5D591E}"/>
              </a:ext>
            </a:extLst>
          </p:cNvPr>
          <p:cNvPicPr>
            <a:picLocks noChangeAspect="1"/>
          </p:cNvPicPr>
          <p:nvPr/>
        </p:nvPicPr>
        <p:blipFill rotWithShape="1">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t="-3588" r="58979" b="29396"/>
          <a:stretch/>
        </p:blipFill>
        <p:spPr>
          <a:xfrm>
            <a:off x="4154192" y="1846162"/>
            <a:ext cx="440821" cy="311727"/>
          </a:xfrm>
          <a:prstGeom prst="rect">
            <a:avLst/>
          </a:prstGeom>
          <a:solidFill>
            <a:schemeClr val="bg1"/>
          </a:solidFill>
        </p:spPr>
      </p:pic>
      <p:pic>
        <p:nvPicPr>
          <p:cNvPr id="97" name="Picture 96" descr="Diagram&#10;&#10;Description automatically generated with low confidence">
            <a:extLst>
              <a:ext uri="{FF2B5EF4-FFF2-40B4-BE49-F238E27FC236}">
                <a16:creationId xmlns:a16="http://schemas.microsoft.com/office/drawing/2014/main" id="{0C3362D1-F9D0-A5F4-F06D-6E08DDE4335D}"/>
              </a:ext>
            </a:extLst>
          </p:cNvPr>
          <p:cNvPicPr>
            <a:picLocks noChangeAspect="1"/>
          </p:cNvPicPr>
          <p:nvPr/>
        </p:nvPicPr>
        <p:blipFill rotWithShape="1">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t="-3588" r="58979" b="29396"/>
          <a:stretch/>
        </p:blipFill>
        <p:spPr>
          <a:xfrm>
            <a:off x="4154192" y="1365658"/>
            <a:ext cx="440821" cy="311727"/>
          </a:xfrm>
          <a:prstGeom prst="rect">
            <a:avLst/>
          </a:prstGeom>
          <a:solidFill>
            <a:schemeClr val="bg1"/>
          </a:solidFill>
        </p:spPr>
      </p:pic>
      <p:pic>
        <p:nvPicPr>
          <p:cNvPr id="98" name="Picture 97" descr="Diagram&#10;&#10;Description automatically generated with low confidence">
            <a:extLst>
              <a:ext uri="{FF2B5EF4-FFF2-40B4-BE49-F238E27FC236}">
                <a16:creationId xmlns:a16="http://schemas.microsoft.com/office/drawing/2014/main" id="{0DF5CBFF-28ED-9557-F9C6-78930A20EB62}"/>
              </a:ext>
            </a:extLst>
          </p:cNvPr>
          <p:cNvPicPr>
            <a:picLocks noChangeAspect="1"/>
          </p:cNvPicPr>
          <p:nvPr/>
        </p:nvPicPr>
        <p:blipFill rotWithShape="1">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t="-3588" r="58979" b="29396"/>
          <a:stretch/>
        </p:blipFill>
        <p:spPr>
          <a:xfrm>
            <a:off x="4154192" y="917530"/>
            <a:ext cx="440821" cy="311727"/>
          </a:xfrm>
          <a:prstGeom prst="rect">
            <a:avLst/>
          </a:prstGeom>
          <a:solidFill>
            <a:schemeClr val="bg1"/>
          </a:solidFill>
        </p:spPr>
      </p:pic>
      <p:cxnSp>
        <p:nvCxnSpPr>
          <p:cNvPr id="3" name="Straight Connector 2">
            <a:extLst>
              <a:ext uri="{FF2B5EF4-FFF2-40B4-BE49-F238E27FC236}">
                <a16:creationId xmlns:a16="http://schemas.microsoft.com/office/drawing/2014/main" id="{409AAEC1-5FAB-681A-429D-C665458AB967}"/>
              </a:ext>
            </a:extLst>
          </p:cNvPr>
          <p:cNvCxnSpPr>
            <a:cxnSpLocks/>
            <a:stCxn id="90" idx="3"/>
            <a:endCxn id="98" idx="1"/>
          </p:cNvCxnSpPr>
          <p:nvPr/>
        </p:nvCxnSpPr>
        <p:spPr>
          <a:xfrm>
            <a:off x="4024396" y="1073394"/>
            <a:ext cx="129796" cy="0"/>
          </a:xfrm>
          <a:prstGeom prst="line">
            <a:avLst/>
          </a:prstGeom>
        </p:spPr>
        <p:style>
          <a:lnRef idx="1">
            <a:schemeClr val="accent1"/>
          </a:lnRef>
          <a:fillRef idx="0">
            <a:schemeClr val="accent1"/>
          </a:fillRef>
          <a:effectRef idx="0">
            <a:schemeClr val="accent1"/>
          </a:effectRef>
          <a:fontRef idx="minor">
            <a:schemeClr val="tx1"/>
          </a:fontRef>
        </p:style>
      </p:cxnSp>
      <p:pic>
        <p:nvPicPr>
          <p:cNvPr id="99" name="Picture 98" descr="Diagram&#10;&#10;Description automatically generated with low confidence">
            <a:extLst>
              <a:ext uri="{FF2B5EF4-FFF2-40B4-BE49-F238E27FC236}">
                <a16:creationId xmlns:a16="http://schemas.microsoft.com/office/drawing/2014/main" id="{2496707C-5C1D-0127-ED8E-A4CE9274AFC9}"/>
              </a:ext>
            </a:extLst>
          </p:cNvPr>
          <p:cNvPicPr>
            <a:picLocks noChangeAspect="1"/>
          </p:cNvPicPr>
          <p:nvPr/>
        </p:nvPicPr>
        <p:blipFill rotWithShape="1">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t="-3588" r="58979" b="29396"/>
          <a:stretch/>
        </p:blipFill>
        <p:spPr>
          <a:xfrm>
            <a:off x="4007587" y="1846162"/>
            <a:ext cx="440821" cy="311727"/>
          </a:xfrm>
          <a:prstGeom prst="rect">
            <a:avLst/>
          </a:prstGeom>
          <a:solidFill>
            <a:schemeClr val="bg1"/>
          </a:solidFill>
        </p:spPr>
      </p:pic>
      <p:grpSp>
        <p:nvGrpSpPr>
          <p:cNvPr id="24" name="Group 23">
            <a:extLst>
              <a:ext uri="{FF2B5EF4-FFF2-40B4-BE49-F238E27FC236}">
                <a16:creationId xmlns:a16="http://schemas.microsoft.com/office/drawing/2014/main" id="{57E7623F-AD97-6EDA-0551-C3C7E9305099}"/>
              </a:ext>
            </a:extLst>
          </p:cNvPr>
          <p:cNvGrpSpPr/>
          <p:nvPr/>
        </p:nvGrpSpPr>
        <p:grpSpPr>
          <a:xfrm rot="5400000">
            <a:off x="10685747" y="1837938"/>
            <a:ext cx="1094400" cy="445269"/>
            <a:chOff x="10355007" y="1964399"/>
            <a:chExt cx="1094400" cy="445269"/>
          </a:xfrm>
        </p:grpSpPr>
        <p:sp>
          <p:nvSpPr>
            <p:cNvPr id="75" name="Rectangle 74">
              <a:extLst>
                <a:ext uri="{FF2B5EF4-FFF2-40B4-BE49-F238E27FC236}">
                  <a16:creationId xmlns:a16="http://schemas.microsoft.com/office/drawing/2014/main" id="{8DCEAE88-4D07-42C5-BCD7-30E76D4A7652}"/>
                </a:ext>
              </a:extLst>
            </p:cNvPr>
            <p:cNvSpPr/>
            <p:nvPr/>
          </p:nvSpPr>
          <p:spPr>
            <a:xfrm>
              <a:off x="10355007" y="1964399"/>
              <a:ext cx="942000" cy="29286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a:t>74HC161</a:t>
              </a:r>
            </a:p>
          </p:txBody>
        </p:sp>
        <p:sp>
          <p:nvSpPr>
            <p:cNvPr id="100" name="Rectangle 99">
              <a:extLst>
                <a:ext uri="{FF2B5EF4-FFF2-40B4-BE49-F238E27FC236}">
                  <a16:creationId xmlns:a16="http://schemas.microsoft.com/office/drawing/2014/main" id="{7A8DA342-9C83-B68C-7569-7B290BA80BE9}"/>
                </a:ext>
              </a:extLst>
            </p:cNvPr>
            <p:cNvSpPr/>
            <p:nvPr/>
          </p:nvSpPr>
          <p:spPr>
            <a:xfrm>
              <a:off x="10507407" y="2116799"/>
              <a:ext cx="942000" cy="29286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a:t>74HC161</a:t>
              </a:r>
            </a:p>
          </p:txBody>
        </p:sp>
      </p:grpSp>
      <p:sp>
        <p:nvSpPr>
          <p:cNvPr id="101" name="Rectangle 100">
            <a:extLst>
              <a:ext uri="{FF2B5EF4-FFF2-40B4-BE49-F238E27FC236}">
                <a16:creationId xmlns:a16="http://schemas.microsoft.com/office/drawing/2014/main" id="{268D48FB-4F27-20C5-A3ED-CE6B4EA750EE}"/>
              </a:ext>
            </a:extLst>
          </p:cNvPr>
          <p:cNvSpPr/>
          <p:nvPr/>
        </p:nvSpPr>
        <p:spPr>
          <a:xfrm>
            <a:off x="10020856" y="1982779"/>
            <a:ext cx="303885" cy="3168243"/>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t>Data </a:t>
            </a:r>
          </a:p>
          <a:p>
            <a:pPr algn="ctr"/>
            <a:endParaRPr lang="en-US"/>
          </a:p>
          <a:p>
            <a:pPr algn="ctr"/>
            <a:r>
              <a:rPr lang="en-US"/>
              <a:t>  Bus </a:t>
            </a:r>
          </a:p>
          <a:p>
            <a:pPr algn="ctr"/>
            <a:r>
              <a:rPr lang="en-US"/>
              <a:t> </a:t>
            </a:r>
          </a:p>
        </p:txBody>
      </p:sp>
      <p:sp>
        <p:nvSpPr>
          <p:cNvPr id="22" name="Arrow: Left-Right 21">
            <a:extLst>
              <a:ext uri="{FF2B5EF4-FFF2-40B4-BE49-F238E27FC236}">
                <a16:creationId xmlns:a16="http://schemas.microsoft.com/office/drawing/2014/main" id="{26EBF11D-6019-51BE-DA8D-73632A1DB9D2}"/>
              </a:ext>
            </a:extLst>
          </p:cNvPr>
          <p:cNvSpPr/>
          <p:nvPr/>
        </p:nvSpPr>
        <p:spPr>
          <a:xfrm>
            <a:off x="7464512" y="4579448"/>
            <a:ext cx="2543635" cy="489280"/>
          </a:xfrm>
          <a:prstGeom prst="lef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t>Data Bus</a:t>
            </a:r>
          </a:p>
        </p:txBody>
      </p:sp>
      <p:grpSp>
        <p:nvGrpSpPr>
          <p:cNvPr id="103" name="Group 102">
            <a:extLst>
              <a:ext uri="{FF2B5EF4-FFF2-40B4-BE49-F238E27FC236}">
                <a16:creationId xmlns:a16="http://schemas.microsoft.com/office/drawing/2014/main" id="{E2C23304-8E77-781D-4A9E-0F62993E81DC}"/>
              </a:ext>
            </a:extLst>
          </p:cNvPr>
          <p:cNvGrpSpPr/>
          <p:nvPr/>
        </p:nvGrpSpPr>
        <p:grpSpPr>
          <a:xfrm rot="5400000">
            <a:off x="10351761" y="3011746"/>
            <a:ext cx="1094400" cy="445269"/>
            <a:chOff x="10355007" y="1964399"/>
            <a:chExt cx="1094400" cy="445269"/>
          </a:xfrm>
        </p:grpSpPr>
        <p:sp>
          <p:nvSpPr>
            <p:cNvPr id="105" name="Rectangle 104">
              <a:extLst>
                <a:ext uri="{FF2B5EF4-FFF2-40B4-BE49-F238E27FC236}">
                  <a16:creationId xmlns:a16="http://schemas.microsoft.com/office/drawing/2014/main" id="{5BE2DBF8-20CF-6FD1-7735-E751C2154C17}"/>
                </a:ext>
              </a:extLst>
            </p:cNvPr>
            <p:cNvSpPr/>
            <p:nvPr/>
          </p:nvSpPr>
          <p:spPr>
            <a:xfrm>
              <a:off x="10355007" y="1964399"/>
              <a:ext cx="942000" cy="29286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a:t>74HC161</a:t>
              </a:r>
            </a:p>
          </p:txBody>
        </p:sp>
        <p:sp>
          <p:nvSpPr>
            <p:cNvPr id="106" name="Rectangle 105">
              <a:extLst>
                <a:ext uri="{FF2B5EF4-FFF2-40B4-BE49-F238E27FC236}">
                  <a16:creationId xmlns:a16="http://schemas.microsoft.com/office/drawing/2014/main" id="{AFA3E3BB-2875-6FA8-AA5B-8666ED3CAE72}"/>
                </a:ext>
              </a:extLst>
            </p:cNvPr>
            <p:cNvSpPr/>
            <p:nvPr/>
          </p:nvSpPr>
          <p:spPr>
            <a:xfrm>
              <a:off x="10507407" y="2116799"/>
              <a:ext cx="942000" cy="29286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a:t>74HC161</a:t>
              </a:r>
            </a:p>
          </p:txBody>
        </p:sp>
      </p:grpSp>
      <p:sp>
        <p:nvSpPr>
          <p:cNvPr id="25" name="Arrow: Right 24">
            <a:extLst>
              <a:ext uri="{FF2B5EF4-FFF2-40B4-BE49-F238E27FC236}">
                <a16:creationId xmlns:a16="http://schemas.microsoft.com/office/drawing/2014/main" id="{241588B4-01B1-F3F8-1DB3-EACFD7CFEEBD}"/>
              </a:ext>
            </a:extLst>
          </p:cNvPr>
          <p:cNvSpPr/>
          <p:nvPr/>
        </p:nvSpPr>
        <p:spPr>
          <a:xfrm>
            <a:off x="10320017" y="2134468"/>
            <a:ext cx="744827" cy="239029"/>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11" name="Arrow: Right 110">
            <a:extLst>
              <a:ext uri="{FF2B5EF4-FFF2-40B4-BE49-F238E27FC236}">
                <a16:creationId xmlns:a16="http://schemas.microsoft.com/office/drawing/2014/main" id="{AE4E3701-F81D-17B5-B880-B1D553DA6F06}"/>
              </a:ext>
            </a:extLst>
          </p:cNvPr>
          <p:cNvSpPr/>
          <p:nvPr/>
        </p:nvSpPr>
        <p:spPr>
          <a:xfrm>
            <a:off x="10320017" y="3202640"/>
            <a:ext cx="408883" cy="241976"/>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cxnSp>
        <p:nvCxnSpPr>
          <p:cNvPr id="112" name="Connector: Elbow 111">
            <a:extLst>
              <a:ext uri="{FF2B5EF4-FFF2-40B4-BE49-F238E27FC236}">
                <a16:creationId xmlns:a16="http://schemas.microsoft.com/office/drawing/2014/main" id="{65BE50C3-C538-A46A-8E59-175F2CC1F396}"/>
              </a:ext>
            </a:extLst>
          </p:cNvPr>
          <p:cNvCxnSpPr>
            <a:cxnSpLocks/>
            <a:stCxn id="106" idx="1"/>
            <a:endCxn id="92" idx="3"/>
          </p:cNvCxnSpPr>
          <p:nvPr/>
        </p:nvCxnSpPr>
        <p:spPr>
          <a:xfrm rot="16200000" flipV="1">
            <a:off x="7290110" y="-693072"/>
            <a:ext cx="837556" cy="6227749"/>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BE0B8B7B-EAC3-FC3A-9A5D-940AA75F8470}"/>
              </a:ext>
            </a:extLst>
          </p:cNvPr>
          <p:cNvSpPr txBox="1"/>
          <p:nvPr/>
        </p:nvSpPr>
        <p:spPr>
          <a:xfrm>
            <a:off x="11396822" y="1798113"/>
            <a:ext cx="317716" cy="369332"/>
          </a:xfrm>
          <a:prstGeom prst="rect">
            <a:avLst/>
          </a:prstGeom>
          <a:noFill/>
        </p:spPr>
        <p:txBody>
          <a:bodyPr wrap="none" rtlCol="0">
            <a:spAutoFit/>
          </a:bodyPr>
          <a:lstStyle/>
          <a:p>
            <a:r>
              <a:rPr lang="en-US"/>
              <a:t>A</a:t>
            </a:r>
          </a:p>
        </p:txBody>
      </p:sp>
      <p:sp>
        <p:nvSpPr>
          <p:cNvPr id="126" name="TextBox 125">
            <a:extLst>
              <a:ext uri="{FF2B5EF4-FFF2-40B4-BE49-F238E27FC236}">
                <a16:creationId xmlns:a16="http://schemas.microsoft.com/office/drawing/2014/main" id="{8A320021-FE64-2EF7-6BDA-2496CBED7FA5}"/>
              </a:ext>
            </a:extLst>
          </p:cNvPr>
          <p:cNvSpPr txBox="1"/>
          <p:nvPr/>
        </p:nvSpPr>
        <p:spPr>
          <a:xfrm>
            <a:off x="11094294" y="3081459"/>
            <a:ext cx="309700" cy="369332"/>
          </a:xfrm>
          <a:prstGeom prst="rect">
            <a:avLst/>
          </a:prstGeom>
          <a:noFill/>
        </p:spPr>
        <p:txBody>
          <a:bodyPr wrap="none" rtlCol="0">
            <a:spAutoFit/>
          </a:bodyPr>
          <a:lstStyle/>
          <a:p>
            <a:r>
              <a:rPr lang="en-US"/>
              <a:t>B</a:t>
            </a:r>
          </a:p>
        </p:txBody>
      </p:sp>
      <p:sp>
        <p:nvSpPr>
          <p:cNvPr id="128" name="TextBox 127">
            <a:extLst>
              <a:ext uri="{FF2B5EF4-FFF2-40B4-BE49-F238E27FC236}">
                <a16:creationId xmlns:a16="http://schemas.microsoft.com/office/drawing/2014/main" id="{6D07568C-F4C4-4ECD-E2F9-C8578759DBD2}"/>
              </a:ext>
            </a:extLst>
          </p:cNvPr>
          <p:cNvSpPr txBox="1"/>
          <p:nvPr/>
        </p:nvSpPr>
        <p:spPr>
          <a:xfrm>
            <a:off x="11153027" y="4781697"/>
            <a:ext cx="308098" cy="369332"/>
          </a:xfrm>
          <a:prstGeom prst="rect">
            <a:avLst/>
          </a:prstGeom>
          <a:noFill/>
        </p:spPr>
        <p:txBody>
          <a:bodyPr wrap="none" rtlCol="0">
            <a:spAutoFit/>
          </a:bodyPr>
          <a:lstStyle/>
          <a:p>
            <a:r>
              <a:rPr lang="en-US"/>
              <a:t>C</a:t>
            </a:r>
          </a:p>
        </p:txBody>
      </p:sp>
      <p:sp>
        <p:nvSpPr>
          <p:cNvPr id="132" name="Arrow: Right 131">
            <a:extLst>
              <a:ext uri="{FF2B5EF4-FFF2-40B4-BE49-F238E27FC236}">
                <a16:creationId xmlns:a16="http://schemas.microsoft.com/office/drawing/2014/main" id="{8DDC8F4B-0EFA-C8C6-9A49-4B7A996DF7AD}"/>
              </a:ext>
            </a:extLst>
          </p:cNvPr>
          <p:cNvSpPr/>
          <p:nvPr/>
        </p:nvSpPr>
        <p:spPr>
          <a:xfrm rot="10800000">
            <a:off x="10279011" y="4802630"/>
            <a:ext cx="469475" cy="243223"/>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9B25A7D6-F049-3DA1-3547-9853EECB3B0F}"/>
              </a:ext>
            </a:extLst>
          </p:cNvPr>
          <p:cNvCxnSpPr>
            <a:cxnSpLocks/>
          </p:cNvCxnSpPr>
          <p:nvPr/>
        </p:nvCxnSpPr>
        <p:spPr>
          <a:xfrm>
            <a:off x="478717" y="1936887"/>
            <a:ext cx="182880"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133" name="Table 110">
            <a:extLst>
              <a:ext uri="{FF2B5EF4-FFF2-40B4-BE49-F238E27FC236}">
                <a16:creationId xmlns:a16="http://schemas.microsoft.com/office/drawing/2014/main" id="{34D2FAB7-D586-F192-D66B-2E93A886D477}"/>
              </a:ext>
            </a:extLst>
          </p:cNvPr>
          <p:cNvGraphicFramePr>
            <a:graphicFrameLocks noGrp="1"/>
          </p:cNvGraphicFramePr>
          <p:nvPr>
            <p:extLst>
              <p:ext uri="{D42A27DB-BD31-4B8C-83A1-F6EECF244321}">
                <p14:modId xmlns:p14="http://schemas.microsoft.com/office/powerpoint/2010/main" val="3190312818"/>
              </p:ext>
            </p:extLst>
          </p:nvPr>
        </p:nvGraphicFramePr>
        <p:xfrm>
          <a:off x="731777" y="1936805"/>
          <a:ext cx="1378332" cy="247176"/>
        </p:xfrm>
        <a:graphic>
          <a:graphicData uri="http://schemas.openxmlformats.org/drawingml/2006/table">
            <a:tbl>
              <a:tblPr bandRow="1">
                <a:tableStyleId>{5C22544A-7EE6-4342-B048-85BDC9FD1C3A}</a:tableStyleId>
              </a:tblPr>
              <a:tblGrid>
                <a:gridCol w="344583">
                  <a:extLst>
                    <a:ext uri="{9D8B030D-6E8A-4147-A177-3AD203B41FA5}">
                      <a16:colId xmlns:a16="http://schemas.microsoft.com/office/drawing/2014/main" val="866373483"/>
                    </a:ext>
                  </a:extLst>
                </a:gridCol>
                <a:gridCol w="344583">
                  <a:extLst>
                    <a:ext uri="{9D8B030D-6E8A-4147-A177-3AD203B41FA5}">
                      <a16:colId xmlns:a16="http://schemas.microsoft.com/office/drawing/2014/main" val="2024381536"/>
                    </a:ext>
                  </a:extLst>
                </a:gridCol>
                <a:gridCol w="344583">
                  <a:extLst>
                    <a:ext uri="{9D8B030D-6E8A-4147-A177-3AD203B41FA5}">
                      <a16:colId xmlns:a16="http://schemas.microsoft.com/office/drawing/2014/main" val="158804817"/>
                    </a:ext>
                  </a:extLst>
                </a:gridCol>
                <a:gridCol w="344583">
                  <a:extLst>
                    <a:ext uri="{9D8B030D-6E8A-4147-A177-3AD203B41FA5}">
                      <a16:colId xmlns:a16="http://schemas.microsoft.com/office/drawing/2014/main" val="1655900654"/>
                    </a:ext>
                  </a:extLst>
                </a:gridCol>
              </a:tblGrid>
              <a:tr h="247176">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91770497"/>
                  </a:ext>
                </a:extLst>
              </a:tr>
            </a:tbl>
          </a:graphicData>
        </a:graphic>
      </p:graphicFrame>
      <p:sp>
        <p:nvSpPr>
          <p:cNvPr id="82" name="Arrow: Right 81">
            <a:hlinkClick r:id="rId9" action="ppaction://hlinksldjump"/>
            <a:extLst>
              <a:ext uri="{FF2B5EF4-FFF2-40B4-BE49-F238E27FC236}">
                <a16:creationId xmlns:a16="http://schemas.microsoft.com/office/drawing/2014/main" id="{465DA97F-4A4E-C0E5-53D6-91CCB3C6CD5C}"/>
              </a:ext>
            </a:extLst>
          </p:cNvPr>
          <p:cNvSpPr/>
          <p:nvPr/>
        </p:nvSpPr>
        <p:spPr>
          <a:xfrm flipH="1">
            <a:off x="7968343" y="5618061"/>
            <a:ext cx="2175453" cy="515816"/>
          </a:xfrm>
          <a:prstGeom prst="rightArrow">
            <a:avLst/>
          </a:prstGeom>
          <a:solidFill>
            <a:schemeClr val="bg2"/>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Flags</a:t>
            </a:r>
          </a:p>
        </p:txBody>
      </p:sp>
      <p:sp>
        <p:nvSpPr>
          <p:cNvPr id="2" name="TextBox 1">
            <a:extLst>
              <a:ext uri="{FF2B5EF4-FFF2-40B4-BE49-F238E27FC236}">
                <a16:creationId xmlns:a16="http://schemas.microsoft.com/office/drawing/2014/main" id="{93AB52C5-87D7-5764-DD5D-9D29A085472D}"/>
              </a:ext>
            </a:extLst>
          </p:cNvPr>
          <p:cNvSpPr txBox="1"/>
          <p:nvPr/>
        </p:nvSpPr>
        <p:spPr>
          <a:xfrm>
            <a:off x="280505" y="5911425"/>
            <a:ext cx="7595377" cy="769441"/>
          </a:xfrm>
          <a:prstGeom prst="rect">
            <a:avLst/>
          </a:prstGeom>
          <a:solidFill>
            <a:srgbClr val="FFFFCC"/>
          </a:solidFill>
        </p:spPr>
        <p:txBody>
          <a:bodyPr wrap="square" rtlCol="0">
            <a:spAutoFit/>
          </a:bodyPr>
          <a:lstStyle/>
          <a:p>
            <a:r>
              <a:rPr lang="en-US" sz="1100"/>
              <a:t>Notes: Registers A and B are implemented by two HC161s, each stores 4 bits as the typical HC273 and HC347 won't fit into the 16pin sockets on the ALU </a:t>
            </a:r>
            <a:r>
              <a:rPr lang="en-US" sz="1100" err="1"/>
              <a:t>wireup</a:t>
            </a:r>
            <a:r>
              <a:rPr lang="en-US" sz="1100"/>
              <a:t> board.</a:t>
            </a:r>
          </a:p>
          <a:p>
            <a:r>
              <a:rPr lang="en-US" sz="1100"/>
              <a:t>The branch relative instruction doesn’t update flag bits to avoid corrupting the flag register state when executing a branch instruction (which may occur due to the ADD operation performed)</a:t>
            </a:r>
          </a:p>
        </p:txBody>
      </p:sp>
    </p:spTree>
    <p:extLst>
      <p:ext uri="{BB962C8B-B14F-4D97-AF65-F5344CB8AC3E}">
        <p14:creationId xmlns:p14="http://schemas.microsoft.com/office/powerpoint/2010/main" val="814623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31FEA-EDA4-FF12-90F5-0A10EC5C08F9}"/>
              </a:ext>
            </a:extLst>
          </p:cNvPr>
          <p:cNvSpPr>
            <a:spLocks noGrp="1"/>
          </p:cNvSpPr>
          <p:nvPr>
            <p:ph type="ctrTitle"/>
          </p:nvPr>
        </p:nvSpPr>
        <p:spPr>
          <a:prstGeom prst="rect">
            <a:avLst/>
          </a:prstGeom>
        </p:spPr>
        <p:txBody>
          <a:bodyPr/>
          <a:lstStyle/>
          <a:p>
            <a:r>
              <a:rPr lang="en-US"/>
              <a:t>Branch</a:t>
            </a:r>
          </a:p>
        </p:txBody>
      </p:sp>
      <p:sp>
        <p:nvSpPr>
          <p:cNvPr id="4" name="Trapezoid 3">
            <a:extLst>
              <a:ext uri="{FF2B5EF4-FFF2-40B4-BE49-F238E27FC236}">
                <a16:creationId xmlns:a16="http://schemas.microsoft.com/office/drawing/2014/main" id="{C1806882-918C-D9C8-DE8A-90D47ADD5F9C}"/>
              </a:ext>
            </a:extLst>
          </p:cNvPr>
          <p:cNvSpPr/>
          <p:nvPr/>
        </p:nvSpPr>
        <p:spPr>
          <a:xfrm rot="16200000">
            <a:off x="4909478" y="3268612"/>
            <a:ext cx="1097049" cy="366417"/>
          </a:xfrm>
          <a:prstGeom prst="trapezoid">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a:t>74HC151</a:t>
            </a:r>
          </a:p>
        </p:txBody>
      </p:sp>
      <p:sp>
        <p:nvSpPr>
          <p:cNvPr id="5" name="Arrow: Right 4">
            <a:hlinkClick r:id="rId2" action="ppaction://hlinksldjump"/>
            <a:extLst>
              <a:ext uri="{FF2B5EF4-FFF2-40B4-BE49-F238E27FC236}">
                <a16:creationId xmlns:a16="http://schemas.microsoft.com/office/drawing/2014/main" id="{835F1750-F4C7-1FFB-BFAF-C1CBE7F0AA7F}"/>
              </a:ext>
            </a:extLst>
          </p:cNvPr>
          <p:cNvSpPr/>
          <p:nvPr/>
        </p:nvSpPr>
        <p:spPr>
          <a:xfrm flipH="1">
            <a:off x="7601619" y="3171092"/>
            <a:ext cx="2484911" cy="515816"/>
          </a:xfrm>
          <a:prstGeom prst="rightArrow">
            <a:avLst/>
          </a:prstGeom>
          <a:solidFill>
            <a:schemeClr val="bg2"/>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Flags</a:t>
            </a:r>
          </a:p>
        </p:txBody>
      </p:sp>
      <p:sp>
        <p:nvSpPr>
          <p:cNvPr id="6" name="Rectangle 5">
            <a:extLst>
              <a:ext uri="{FF2B5EF4-FFF2-40B4-BE49-F238E27FC236}">
                <a16:creationId xmlns:a16="http://schemas.microsoft.com/office/drawing/2014/main" id="{7FCD47CA-1292-8015-F0BF-CF84F1E46CA4}"/>
              </a:ext>
            </a:extLst>
          </p:cNvPr>
          <p:cNvSpPr/>
          <p:nvPr/>
        </p:nvSpPr>
        <p:spPr>
          <a:xfrm rot="16200000">
            <a:off x="6997879" y="3227860"/>
            <a:ext cx="942000" cy="29286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a:t>74HC161</a:t>
            </a:r>
          </a:p>
        </p:txBody>
      </p:sp>
      <p:cxnSp>
        <p:nvCxnSpPr>
          <p:cNvPr id="8" name="Straight Arrow Connector 7">
            <a:extLst>
              <a:ext uri="{FF2B5EF4-FFF2-40B4-BE49-F238E27FC236}">
                <a16:creationId xmlns:a16="http://schemas.microsoft.com/office/drawing/2014/main" id="{1289A0DD-7502-E07F-7CEB-246A5C7F1685}"/>
              </a:ext>
            </a:extLst>
          </p:cNvPr>
          <p:cNvCxnSpPr>
            <a:cxnSpLocks/>
          </p:cNvCxnSpPr>
          <p:nvPr/>
        </p:nvCxnSpPr>
        <p:spPr>
          <a:xfrm flipH="1">
            <a:off x="5632315" y="3217569"/>
            <a:ext cx="16901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96D04DD7-392E-3E44-3984-D4E99A176DE9}"/>
              </a:ext>
            </a:extLst>
          </p:cNvPr>
          <p:cNvCxnSpPr>
            <a:cxnSpLocks/>
          </p:cNvCxnSpPr>
          <p:nvPr/>
        </p:nvCxnSpPr>
        <p:spPr>
          <a:xfrm flipH="1">
            <a:off x="5632315" y="3439144"/>
            <a:ext cx="16901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32440070-FDEC-8BDA-14EC-88E8AB92C90F}"/>
              </a:ext>
            </a:extLst>
          </p:cNvPr>
          <p:cNvCxnSpPr>
            <a:cxnSpLocks/>
          </p:cNvCxnSpPr>
          <p:nvPr/>
        </p:nvCxnSpPr>
        <p:spPr>
          <a:xfrm flipH="1">
            <a:off x="5632315" y="3660720"/>
            <a:ext cx="16901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92CB849-26A2-724D-5EBD-1AC65A4504A3}"/>
              </a:ext>
            </a:extLst>
          </p:cNvPr>
          <p:cNvCxnSpPr>
            <a:cxnSpLocks/>
          </p:cNvCxnSpPr>
          <p:nvPr/>
        </p:nvCxnSpPr>
        <p:spPr>
          <a:xfrm flipH="1">
            <a:off x="5632316" y="2995995"/>
            <a:ext cx="5674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8DF15A4F-7FD5-6CE3-0F19-0CA2C7373B7A}"/>
              </a:ext>
            </a:extLst>
          </p:cNvPr>
          <p:cNvSpPr txBox="1"/>
          <p:nvPr/>
        </p:nvSpPr>
        <p:spPr>
          <a:xfrm>
            <a:off x="6140185" y="2797639"/>
            <a:ext cx="417102" cy="369332"/>
          </a:xfrm>
          <a:prstGeom prst="rect">
            <a:avLst/>
          </a:prstGeom>
          <a:noFill/>
        </p:spPr>
        <p:txBody>
          <a:bodyPr wrap="none" rtlCol="0">
            <a:spAutoFit/>
          </a:bodyPr>
          <a:lstStyle/>
          <a:p>
            <a:r>
              <a:rPr lang="en-US"/>
              <a:t>‘1’</a:t>
            </a:r>
          </a:p>
        </p:txBody>
      </p:sp>
      <p:sp>
        <p:nvSpPr>
          <p:cNvPr id="14" name="TextBox 13">
            <a:extLst>
              <a:ext uri="{FF2B5EF4-FFF2-40B4-BE49-F238E27FC236}">
                <a16:creationId xmlns:a16="http://schemas.microsoft.com/office/drawing/2014/main" id="{440E6CE4-BFD9-9990-D08A-44EE797FEDE0}"/>
              </a:ext>
            </a:extLst>
          </p:cNvPr>
          <p:cNvSpPr txBox="1"/>
          <p:nvPr/>
        </p:nvSpPr>
        <p:spPr>
          <a:xfrm>
            <a:off x="6565773" y="2942997"/>
            <a:ext cx="449162" cy="369332"/>
          </a:xfrm>
          <a:prstGeom prst="rect">
            <a:avLst/>
          </a:prstGeom>
          <a:noFill/>
        </p:spPr>
        <p:txBody>
          <a:bodyPr wrap="none" rtlCol="0">
            <a:spAutoFit/>
          </a:bodyPr>
          <a:lstStyle/>
          <a:p>
            <a:r>
              <a:rPr lang="en-US"/>
              <a:t>‘N’</a:t>
            </a:r>
          </a:p>
        </p:txBody>
      </p:sp>
      <p:sp>
        <p:nvSpPr>
          <p:cNvPr id="15" name="TextBox 14">
            <a:extLst>
              <a:ext uri="{FF2B5EF4-FFF2-40B4-BE49-F238E27FC236}">
                <a16:creationId xmlns:a16="http://schemas.microsoft.com/office/drawing/2014/main" id="{4EEC24B4-7C48-A0A4-AFF9-76EEA52C23A3}"/>
              </a:ext>
            </a:extLst>
          </p:cNvPr>
          <p:cNvSpPr txBox="1"/>
          <p:nvPr/>
        </p:nvSpPr>
        <p:spPr>
          <a:xfrm>
            <a:off x="6550843" y="3152116"/>
            <a:ext cx="433517" cy="369332"/>
          </a:xfrm>
          <a:prstGeom prst="rect">
            <a:avLst/>
          </a:prstGeom>
          <a:noFill/>
        </p:spPr>
        <p:txBody>
          <a:bodyPr wrap="none" rtlCol="0">
            <a:spAutoFit/>
          </a:bodyPr>
          <a:lstStyle/>
          <a:p>
            <a:r>
              <a:rPr lang="en-US"/>
              <a:t>‘C’</a:t>
            </a:r>
          </a:p>
        </p:txBody>
      </p:sp>
      <p:sp>
        <p:nvSpPr>
          <p:cNvPr id="16" name="TextBox 15">
            <a:extLst>
              <a:ext uri="{FF2B5EF4-FFF2-40B4-BE49-F238E27FC236}">
                <a16:creationId xmlns:a16="http://schemas.microsoft.com/office/drawing/2014/main" id="{3564D57F-A434-1F6E-541B-4BC5E6BBCA51}"/>
              </a:ext>
            </a:extLst>
          </p:cNvPr>
          <p:cNvSpPr txBox="1"/>
          <p:nvPr/>
        </p:nvSpPr>
        <p:spPr>
          <a:xfrm>
            <a:off x="6569086" y="3387380"/>
            <a:ext cx="412677" cy="369332"/>
          </a:xfrm>
          <a:prstGeom prst="rect">
            <a:avLst/>
          </a:prstGeom>
          <a:noFill/>
        </p:spPr>
        <p:txBody>
          <a:bodyPr wrap="none" rtlCol="0">
            <a:spAutoFit/>
          </a:bodyPr>
          <a:lstStyle/>
          <a:p>
            <a:r>
              <a:rPr lang="en-US"/>
              <a:t>‘Z’</a:t>
            </a:r>
          </a:p>
        </p:txBody>
      </p:sp>
      <p:sp>
        <p:nvSpPr>
          <p:cNvPr id="17" name="TextBox 16">
            <a:extLst>
              <a:ext uri="{FF2B5EF4-FFF2-40B4-BE49-F238E27FC236}">
                <a16:creationId xmlns:a16="http://schemas.microsoft.com/office/drawing/2014/main" id="{4CC0C3FA-DEB7-C9BC-4460-0E3963C407A0}"/>
              </a:ext>
            </a:extLst>
          </p:cNvPr>
          <p:cNvSpPr txBox="1"/>
          <p:nvPr/>
        </p:nvSpPr>
        <p:spPr>
          <a:xfrm>
            <a:off x="5636211" y="2766105"/>
            <a:ext cx="386644" cy="954107"/>
          </a:xfrm>
          <a:prstGeom prst="rect">
            <a:avLst/>
          </a:prstGeom>
          <a:noFill/>
        </p:spPr>
        <p:txBody>
          <a:bodyPr wrap="none" rtlCol="0">
            <a:spAutoFit/>
          </a:bodyPr>
          <a:lstStyle/>
          <a:p>
            <a:r>
              <a:rPr lang="en-US" sz="1400"/>
              <a:t>D4</a:t>
            </a:r>
          </a:p>
          <a:p>
            <a:r>
              <a:rPr lang="en-US" sz="1400"/>
              <a:t>D5</a:t>
            </a:r>
          </a:p>
          <a:p>
            <a:r>
              <a:rPr lang="en-US" sz="1400"/>
              <a:t>D6</a:t>
            </a:r>
          </a:p>
          <a:p>
            <a:r>
              <a:rPr lang="en-US" sz="1400"/>
              <a:t>D7</a:t>
            </a:r>
          </a:p>
        </p:txBody>
      </p:sp>
      <p:pic>
        <p:nvPicPr>
          <p:cNvPr id="19" name="Picture 18">
            <a:extLst>
              <a:ext uri="{FF2B5EF4-FFF2-40B4-BE49-F238E27FC236}">
                <a16:creationId xmlns:a16="http://schemas.microsoft.com/office/drawing/2014/main" id="{DC6E3A0E-3B37-6FF6-F82C-15E756E7B41B}"/>
              </a:ext>
            </a:extLst>
          </p:cNvPr>
          <p:cNvPicPr>
            <a:picLocks noChangeAspect="1"/>
          </p:cNvPicPr>
          <p:nvPr/>
        </p:nvPicPr>
        <p:blipFill>
          <a:blip r:embed="rId3"/>
          <a:stretch>
            <a:fillRect/>
          </a:stretch>
        </p:blipFill>
        <p:spPr>
          <a:xfrm>
            <a:off x="4161491" y="1234175"/>
            <a:ext cx="2404283" cy="871615"/>
          </a:xfrm>
          <a:prstGeom prst="rect">
            <a:avLst/>
          </a:prstGeom>
        </p:spPr>
      </p:pic>
      <p:cxnSp>
        <p:nvCxnSpPr>
          <p:cNvPr id="21" name="Connector: Elbow 20">
            <a:extLst>
              <a:ext uri="{FF2B5EF4-FFF2-40B4-BE49-F238E27FC236}">
                <a16:creationId xmlns:a16="http://schemas.microsoft.com/office/drawing/2014/main" id="{DB68A079-241C-8336-2DAF-8C1146613D80}"/>
              </a:ext>
            </a:extLst>
          </p:cNvPr>
          <p:cNvCxnSpPr>
            <a:cxnSpLocks/>
          </p:cNvCxnSpPr>
          <p:nvPr/>
        </p:nvCxnSpPr>
        <p:spPr>
          <a:xfrm rot="5400000">
            <a:off x="5351823" y="2574621"/>
            <a:ext cx="448039" cy="4188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751919E6-BDC2-8284-2309-8F92527FB5E4}"/>
              </a:ext>
            </a:extLst>
          </p:cNvPr>
          <p:cNvCxnSpPr>
            <a:cxnSpLocks/>
          </p:cNvCxnSpPr>
          <p:nvPr/>
        </p:nvCxnSpPr>
        <p:spPr>
          <a:xfrm rot="5400000">
            <a:off x="5051599" y="2637264"/>
            <a:ext cx="544139" cy="1269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AD0B6F1C-479C-64F2-44B3-42F217263FEA}"/>
              </a:ext>
            </a:extLst>
          </p:cNvPr>
          <p:cNvCxnSpPr>
            <a:cxnSpLocks/>
          </p:cNvCxnSpPr>
          <p:nvPr/>
        </p:nvCxnSpPr>
        <p:spPr>
          <a:xfrm rot="10800000" flipV="1">
            <a:off x="3709439" y="2371544"/>
            <a:ext cx="1376647" cy="871613"/>
          </a:xfrm>
          <a:prstGeom prst="bentConnector3">
            <a:avLst>
              <a:gd name="adj1" fmla="val 1243"/>
            </a:avLst>
          </a:prstGeom>
          <a:ln>
            <a:tailEnd type="triangle"/>
          </a:ln>
        </p:spPr>
        <p:style>
          <a:lnRef idx="1">
            <a:schemeClr val="accent1"/>
          </a:lnRef>
          <a:fillRef idx="0">
            <a:schemeClr val="accent1"/>
          </a:fillRef>
          <a:effectRef idx="0">
            <a:schemeClr val="accent1"/>
          </a:effectRef>
          <a:fontRef idx="minor">
            <a:schemeClr val="tx1"/>
          </a:fontRef>
        </p:style>
      </p:cxnSp>
      <p:pic>
        <p:nvPicPr>
          <p:cNvPr id="26" name="Picture 25" descr="A picture containing text, ax, clipart&#10;&#10;Description automatically generated">
            <a:extLst>
              <a:ext uri="{FF2B5EF4-FFF2-40B4-BE49-F238E27FC236}">
                <a16:creationId xmlns:a16="http://schemas.microsoft.com/office/drawing/2014/main" id="{61E96A45-179F-0A86-C1A3-0F1EF4996D0F}"/>
              </a:ext>
            </a:extLst>
          </p:cNvPr>
          <p:cNvPicPr>
            <a:picLocks noChangeAspect="1"/>
          </p:cNvPicPr>
          <p:nvPr/>
        </p:nvPicPr>
        <p:blipFill rotWithShape="1">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19288" r="31715"/>
          <a:stretch/>
        </p:blipFill>
        <p:spPr>
          <a:xfrm rot="10800000">
            <a:off x="2990803" y="3132931"/>
            <a:ext cx="694381" cy="508900"/>
          </a:xfrm>
          <a:prstGeom prst="rect">
            <a:avLst/>
          </a:prstGeom>
        </p:spPr>
      </p:pic>
      <p:cxnSp>
        <p:nvCxnSpPr>
          <p:cNvPr id="29" name="Connector: Elbow 28">
            <a:extLst>
              <a:ext uri="{FF2B5EF4-FFF2-40B4-BE49-F238E27FC236}">
                <a16:creationId xmlns:a16="http://schemas.microsoft.com/office/drawing/2014/main" id="{51B3D0FF-7D26-CD22-72EC-63A94752CADA}"/>
              </a:ext>
            </a:extLst>
          </p:cNvPr>
          <p:cNvCxnSpPr>
            <a:stCxn id="4" idx="0"/>
          </p:cNvCxnSpPr>
          <p:nvPr/>
        </p:nvCxnSpPr>
        <p:spPr>
          <a:xfrm rot="10800000" flipV="1">
            <a:off x="3689281" y="3451818"/>
            <a:ext cx="1585512" cy="6963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A0836999-E371-5438-2A90-07D2CA4B9DBE}"/>
              </a:ext>
            </a:extLst>
          </p:cNvPr>
          <p:cNvSpPr txBox="1"/>
          <p:nvPr/>
        </p:nvSpPr>
        <p:spPr>
          <a:xfrm>
            <a:off x="4898602" y="2142698"/>
            <a:ext cx="1197399" cy="276999"/>
          </a:xfrm>
          <a:prstGeom prst="rect">
            <a:avLst/>
          </a:prstGeom>
          <a:noFill/>
        </p:spPr>
        <p:txBody>
          <a:bodyPr wrap="square" rtlCol="0">
            <a:spAutoFit/>
          </a:bodyPr>
          <a:lstStyle/>
          <a:p>
            <a:r>
              <a:rPr lang="en-US" sz="1200"/>
              <a:t>Q7  Q6  Q5</a:t>
            </a:r>
          </a:p>
        </p:txBody>
      </p:sp>
      <p:sp>
        <p:nvSpPr>
          <p:cNvPr id="38" name="TextBox 37">
            <a:extLst>
              <a:ext uri="{FF2B5EF4-FFF2-40B4-BE49-F238E27FC236}">
                <a16:creationId xmlns:a16="http://schemas.microsoft.com/office/drawing/2014/main" id="{50522DED-E479-CDCD-86BA-76E4D2097383}"/>
              </a:ext>
            </a:extLst>
          </p:cNvPr>
          <p:cNvSpPr txBox="1"/>
          <p:nvPr/>
        </p:nvSpPr>
        <p:spPr>
          <a:xfrm>
            <a:off x="6371541" y="1510451"/>
            <a:ext cx="1583126" cy="369332"/>
          </a:xfrm>
          <a:prstGeom prst="rect">
            <a:avLst/>
          </a:prstGeom>
          <a:noFill/>
        </p:spPr>
        <p:txBody>
          <a:bodyPr wrap="none" rtlCol="0">
            <a:spAutoFit/>
          </a:bodyPr>
          <a:lstStyle/>
          <a:p>
            <a:r>
              <a:rPr lang="en-US"/>
              <a:t>Instruction LSB</a:t>
            </a:r>
          </a:p>
        </p:txBody>
      </p:sp>
      <p:graphicFrame>
        <p:nvGraphicFramePr>
          <p:cNvPr id="39" name="Table 6">
            <a:extLst>
              <a:ext uri="{FF2B5EF4-FFF2-40B4-BE49-F238E27FC236}">
                <a16:creationId xmlns:a16="http://schemas.microsoft.com/office/drawing/2014/main" id="{19F45AEA-21A5-0404-629E-B4497B3892C3}"/>
              </a:ext>
            </a:extLst>
          </p:cNvPr>
          <p:cNvGraphicFramePr>
            <a:graphicFrameLocks noGrp="1"/>
          </p:cNvGraphicFramePr>
          <p:nvPr>
            <p:extLst>
              <p:ext uri="{D42A27DB-BD31-4B8C-83A1-F6EECF244321}">
                <p14:modId xmlns:p14="http://schemas.microsoft.com/office/powerpoint/2010/main" val="4124123261"/>
              </p:ext>
            </p:extLst>
          </p:nvPr>
        </p:nvGraphicFramePr>
        <p:xfrm>
          <a:off x="5763237" y="3998417"/>
          <a:ext cx="5206979" cy="2670147"/>
        </p:xfrm>
        <a:graphic>
          <a:graphicData uri="http://schemas.openxmlformats.org/drawingml/2006/table">
            <a:tbl>
              <a:tblPr firstRow="1" bandRow="1">
                <a:tableStyleId>{5C22544A-7EE6-4342-B048-85BDC9FD1C3A}</a:tableStyleId>
              </a:tblPr>
              <a:tblGrid>
                <a:gridCol w="352337">
                  <a:extLst>
                    <a:ext uri="{9D8B030D-6E8A-4147-A177-3AD203B41FA5}">
                      <a16:colId xmlns:a16="http://schemas.microsoft.com/office/drawing/2014/main" val="3129483676"/>
                    </a:ext>
                  </a:extLst>
                </a:gridCol>
                <a:gridCol w="369116">
                  <a:extLst>
                    <a:ext uri="{9D8B030D-6E8A-4147-A177-3AD203B41FA5}">
                      <a16:colId xmlns:a16="http://schemas.microsoft.com/office/drawing/2014/main" val="3639428745"/>
                    </a:ext>
                  </a:extLst>
                </a:gridCol>
                <a:gridCol w="402671">
                  <a:extLst>
                    <a:ext uri="{9D8B030D-6E8A-4147-A177-3AD203B41FA5}">
                      <a16:colId xmlns:a16="http://schemas.microsoft.com/office/drawing/2014/main" val="136219337"/>
                    </a:ext>
                  </a:extLst>
                </a:gridCol>
                <a:gridCol w="838899">
                  <a:extLst>
                    <a:ext uri="{9D8B030D-6E8A-4147-A177-3AD203B41FA5}">
                      <a16:colId xmlns:a16="http://schemas.microsoft.com/office/drawing/2014/main" val="4010529361"/>
                    </a:ext>
                  </a:extLst>
                </a:gridCol>
                <a:gridCol w="1169693">
                  <a:extLst>
                    <a:ext uri="{9D8B030D-6E8A-4147-A177-3AD203B41FA5}">
                      <a16:colId xmlns:a16="http://schemas.microsoft.com/office/drawing/2014/main" val="3300204691"/>
                    </a:ext>
                  </a:extLst>
                </a:gridCol>
                <a:gridCol w="2074263">
                  <a:extLst>
                    <a:ext uri="{9D8B030D-6E8A-4147-A177-3AD203B41FA5}">
                      <a16:colId xmlns:a16="http://schemas.microsoft.com/office/drawing/2014/main" val="322570224"/>
                    </a:ext>
                  </a:extLst>
                </a:gridCol>
              </a:tblGrid>
              <a:tr h="475587">
                <a:tc>
                  <a:txBody>
                    <a:bodyPr/>
                    <a:lstStyle/>
                    <a:p>
                      <a:r>
                        <a:rPr lang="en-US" sz="1200"/>
                        <a:t>C2</a:t>
                      </a:r>
                    </a:p>
                  </a:txBody>
                  <a:tcPr/>
                </a:tc>
                <a:tc>
                  <a:txBody>
                    <a:bodyPr/>
                    <a:lstStyle/>
                    <a:p>
                      <a:r>
                        <a:rPr lang="en-US" sz="1200"/>
                        <a:t>C1</a:t>
                      </a:r>
                    </a:p>
                  </a:txBody>
                  <a:tcPr/>
                </a:tc>
                <a:tc>
                  <a:txBody>
                    <a:bodyPr/>
                    <a:lstStyle/>
                    <a:p>
                      <a:r>
                        <a:rPr lang="en-US" sz="1200"/>
                        <a:t>C0</a:t>
                      </a:r>
                    </a:p>
                  </a:txBody>
                  <a:tcPr/>
                </a:tc>
                <a:tc>
                  <a:txBody>
                    <a:bodyPr/>
                    <a:lstStyle/>
                    <a:p>
                      <a:r>
                        <a:rPr lang="en-US" sz="1200"/>
                        <a:t>Condition</a:t>
                      </a:r>
                    </a:p>
                  </a:txBody>
                  <a:tcPr/>
                </a:tc>
                <a:tc>
                  <a:txBody>
                    <a:bodyPr/>
                    <a:lstStyle/>
                    <a:p>
                      <a:r>
                        <a:rPr lang="en-US" sz="1200"/>
                        <a:t>Instruction LSB</a:t>
                      </a:r>
                    </a:p>
                  </a:txBody>
                  <a:tcPr/>
                </a:tc>
                <a:tc>
                  <a:txBody>
                    <a:bodyPr/>
                    <a:lstStyle/>
                    <a:p>
                      <a:r>
                        <a:rPr lang="en-US" sz="1200"/>
                        <a:t>Equivalent Assembly Instruction</a:t>
                      </a:r>
                    </a:p>
                  </a:txBody>
                  <a:tcPr/>
                </a:tc>
                <a:extLst>
                  <a:ext uri="{0D108BD9-81ED-4DB2-BD59-A6C34878D82A}">
                    <a16:rowId xmlns:a16="http://schemas.microsoft.com/office/drawing/2014/main" val="727245786"/>
                  </a:ext>
                </a:extLst>
              </a:tr>
              <a:tr h="274320">
                <a:tc>
                  <a:txBody>
                    <a:bodyPr/>
                    <a:lstStyle/>
                    <a:p>
                      <a:r>
                        <a:rPr lang="en-US" sz="1200"/>
                        <a:t>0</a:t>
                      </a:r>
                    </a:p>
                  </a:txBody>
                  <a:tcPr/>
                </a:tc>
                <a:tc>
                  <a:txBody>
                    <a:bodyPr/>
                    <a:lstStyle/>
                    <a:p>
                      <a:r>
                        <a:rPr lang="en-US" sz="1200"/>
                        <a:t>0</a:t>
                      </a:r>
                    </a:p>
                  </a:txBody>
                  <a:tcPr/>
                </a:tc>
                <a:tc>
                  <a:txBody>
                    <a:bodyPr/>
                    <a:lstStyle/>
                    <a:p>
                      <a:r>
                        <a:rPr lang="en-US" sz="1200"/>
                        <a:t>0</a:t>
                      </a:r>
                    </a:p>
                  </a:txBody>
                  <a:tcPr/>
                </a:tc>
                <a:tc>
                  <a:txBody>
                    <a:bodyPr/>
                    <a:lstStyle/>
                    <a:p>
                      <a:r>
                        <a:rPr lang="en-US" sz="1200"/>
                        <a:t>JMP</a:t>
                      </a:r>
                    </a:p>
                  </a:txBody>
                  <a:tcPr/>
                </a:tc>
                <a:tc>
                  <a:txBody>
                    <a:bodyPr/>
                    <a:lstStyle/>
                    <a:p>
                      <a:pPr algn="ctr"/>
                      <a:r>
                        <a:rPr lang="en-US" sz="1200"/>
                        <a:t>05</a:t>
                      </a:r>
                    </a:p>
                  </a:txBody>
                  <a:tcPr>
                    <a:solidFill>
                      <a:schemeClr val="accent6">
                        <a:lumMod val="60000"/>
                        <a:lumOff val="40000"/>
                      </a:schemeClr>
                    </a:solidFill>
                  </a:tcPr>
                </a:tc>
                <a:tc>
                  <a:txBody>
                    <a:bodyPr/>
                    <a:lstStyle/>
                    <a:p>
                      <a:r>
                        <a:rPr lang="en-US" sz="1200"/>
                        <a:t>JMP</a:t>
                      </a:r>
                    </a:p>
                  </a:txBody>
                  <a:tcPr>
                    <a:solidFill>
                      <a:schemeClr val="accent6">
                        <a:lumMod val="60000"/>
                        <a:lumOff val="40000"/>
                      </a:schemeClr>
                    </a:solidFill>
                  </a:tcPr>
                </a:tc>
                <a:extLst>
                  <a:ext uri="{0D108BD9-81ED-4DB2-BD59-A6C34878D82A}">
                    <a16:rowId xmlns:a16="http://schemas.microsoft.com/office/drawing/2014/main" val="3427146651"/>
                  </a:ext>
                </a:extLst>
              </a:tr>
              <a:tr h="274320">
                <a:tc>
                  <a:txBody>
                    <a:bodyPr/>
                    <a:lstStyle/>
                    <a:p>
                      <a:r>
                        <a:rPr lang="en-US" sz="1200"/>
                        <a:t>0</a:t>
                      </a:r>
                    </a:p>
                  </a:txBody>
                  <a:tcPr/>
                </a:tc>
                <a:tc>
                  <a:txBody>
                    <a:bodyPr/>
                    <a:lstStyle/>
                    <a:p>
                      <a:r>
                        <a:rPr lang="en-US" sz="1200"/>
                        <a:t>0</a:t>
                      </a:r>
                    </a:p>
                  </a:txBody>
                  <a:tcPr/>
                </a:tc>
                <a:tc>
                  <a:txBody>
                    <a:bodyPr/>
                    <a:lstStyle/>
                    <a:p>
                      <a:r>
                        <a:rPr lang="en-US" sz="1200"/>
                        <a:t>1</a:t>
                      </a:r>
                    </a:p>
                  </a:txBody>
                  <a:tcPr/>
                </a:tc>
                <a:tc>
                  <a:txBody>
                    <a:bodyPr/>
                    <a:lstStyle/>
                    <a:p>
                      <a:r>
                        <a:rPr lang="en-US" sz="1200"/>
                        <a:t>N</a:t>
                      </a:r>
                    </a:p>
                  </a:txBody>
                  <a:tcPr/>
                </a:tc>
                <a:tc>
                  <a:txBody>
                    <a:bodyPr/>
                    <a:lstStyle/>
                    <a:p>
                      <a:pPr algn="ctr"/>
                      <a:r>
                        <a:rPr lang="en-US" sz="1200"/>
                        <a:t>25</a:t>
                      </a:r>
                    </a:p>
                  </a:txBody>
                  <a:tcPr>
                    <a:solidFill>
                      <a:schemeClr val="accent6">
                        <a:lumMod val="60000"/>
                        <a:lumOff val="40000"/>
                      </a:schemeClr>
                    </a:solidFill>
                  </a:tcPr>
                </a:tc>
                <a:tc>
                  <a:txBody>
                    <a:bodyPr/>
                    <a:lstStyle/>
                    <a:p>
                      <a:r>
                        <a:rPr lang="en-US" sz="1200"/>
                        <a:t>BMI – Branch on Minus</a:t>
                      </a:r>
                    </a:p>
                  </a:txBody>
                  <a:tcPr>
                    <a:solidFill>
                      <a:schemeClr val="accent6">
                        <a:lumMod val="60000"/>
                        <a:lumOff val="40000"/>
                      </a:schemeClr>
                    </a:solidFill>
                  </a:tcPr>
                </a:tc>
                <a:extLst>
                  <a:ext uri="{0D108BD9-81ED-4DB2-BD59-A6C34878D82A}">
                    <a16:rowId xmlns:a16="http://schemas.microsoft.com/office/drawing/2014/main" val="1942712580"/>
                  </a:ext>
                </a:extLst>
              </a:tr>
              <a:tr h="274320">
                <a:tc>
                  <a:txBody>
                    <a:bodyPr/>
                    <a:lstStyle/>
                    <a:p>
                      <a:r>
                        <a:rPr lang="en-US" sz="1200"/>
                        <a:t>0</a:t>
                      </a:r>
                    </a:p>
                  </a:txBody>
                  <a:tcPr/>
                </a:tc>
                <a:tc>
                  <a:txBody>
                    <a:bodyPr/>
                    <a:lstStyle/>
                    <a:p>
                      <a:r>
                        <a:rPr lang="en-US" sz="1200"/>
                        <a:t>1</a:t>
                      </a:r>
                    </a:p>
                  </a:txBody>
                  <a:tcPr/>
                </a:tc>
                <a:tc>
                  <a:txBody>
                    <a:bodyPr/>
                    <a:lstStyle/>
                    <a:p>
                      <a:r>
                        <a:rPr lang="en-US" sz="1200"/>
                        <a:t>0</a:t>
                      </a:r>
                    </a:p>
                  </a:txBody>
                  <a:tcPr/>
                </a:tc>
                <a:tc>
                  <a:txBody>
                    <a:bodyPr/>
                    <a:lstStyle/>
                    <a:p>
                      <a:r>
                        <a:rPr lang="en-US" sz="1200"/>
                        <a:t>C</a:t>
                      </a:r>
                    </a:p>
                  </a:txBody>
                  <a:tcPr/>
                </a:tc>
                <a:tc>
                  <a:txBody>
                    <a:bodyPr/>
                    <a:lstStyle/>
                    <a:p>
                      <a:pPr algn="ctr"/>
                      <a:r>
                        <a:rPr lang="en-US" sz="1200"/>
                        <a:t>45</a:t>
                      </a:r>
                    </a:p>
                  </a:txBody>
                  <a:tcPr>
                    <a:solidFill>
                      <a:schemeClr val="accent6">
                        <a:lumMod val="60000"/>
                        <a:lumOff val="40000"/>
                      </a:schemeClr>
                    </a:solidFill>
                  </a:tcPr>
                </a:tc>
                <a:tc>
                  <a:txBody>
                    <a:bodyPr/>
                    <a:lstStyle/>
                    <a:p>
                      <a:r>
                        <a:rPr lang="en-US" sz="1200"/>
                        <a:t>BCS – Branch Carry Set</a:t>
                      </a:r>
                    </a:p>
                  </a:txBody>
                  <a:tcPr>
                    <a:solidFill>
                      <a:schemeClr val="accent6">
                        <a:lumMod val="60000"/>
                        <a:lumOff val="40000"/>
                      </a:schemeClr>
                    </a:solidFill>
                  </a:tcPr>
                </a:tc>
                <a:extLst>
                  <a:ext uri="{0D108BD9-81ED-4DB2-BD59-A6C34878D82A}">
                    <a16:rowId xmlns:a16="http://schemas.microsoft.com/office/drawing/2014/main" val="4217135763"/>
                  </a:ext>
                </a:extLst>
              </a:tr>
              <a:tr h="274320">
                <a:tc>
                  <a:txBody>
                    <a:bodyPr/>
                    <a:lstStyle/>
                    <a:p>
                      <a:r>
                        <a:rPr lang="en-US" sz="1200"/>
                        <a:t>0</a:t>
                      </a:r>
                    </a:p>
                  </a:txBody>
                  <a:tcPr/>
                </a:tc>
                <a:tc>
                  <a:txBody>
                    <a:bodyPr/>
                    <a:lstStyle/>
                    <a:p>
                      <a:r>
                        <a:rPr lang="en-US" sz="1200"/>
                        <a:t>1</a:t>
                      </a:r>
                    </a:p>
                  </a:txBody>
                  <a:tcPr/>
                </a:tc>
                <a:tc>
                  <a:txBody>
                    <a:bodyPr/>
                    <a:lstStyle/>
                    <a:p>
                      <a:r>
                        <a:rPr lang="en-US" sz="1200"/>
                        <a:t>1</a:t>
                      </a:r>
                    </a:p>
                  </a:txBody>
                  <a:tcPr/>
                </a:tc>
                <a:tc>
                  <a:txBody>
                    <a:bodyPr/>
                    <a:lstStyle/>
                    <a:p>
                      <a:r>
                        <a:rPr lang="en-US" sz="1200"/>
                        <a:t>Z</a:t>
                      </a:r>
                    </a:p>
                  </a:txBody>
                  <a:tcPr/>
                </a:tc>
                <a:tc>
                  <a:txBody>
                    <a:bodyPr/>
                    <a:lstStyle/>
                    <a:p>
                      <a:pPr algn="ctr"/>
                      <a:r>
                        <a:rPr lang="en-US" sz="1200"/>
                        <a:t>65</a:t>
                      </a:r>
                    </a:p>
                  </a:txBody>
                  <a:tcPr>
                    <a:solidFill>
                      <a:schemeClr val="accent6">
                        <a:lumMod val="60000"/>
                        <a:lumOff val="40000"/>
                      </a:schemeClr>
                    </a:solidFill>
                  </a:tcPr>
                </a:tc>
                <a:tc>
                  <a:txBody>
                    <a:bodyPr/>
                    <a:lstStyle/>
                    <a:p>
                      <a:r>
                        <a:rPr lang="en-US" sz="1200"/>
                        <a:t>BEQ – Branch Equal</a:t>
                      </a:r>
                    </a:p>
                  </a:txBody>
                  <a:tcPr>
                    <a:solidFill>
                      <a:schemeClr val="accent6">
                        <a:lumMod val="60000"/>
                        <a:lumOff val="40000"/>
                      </a:schemeClr>
                    </a:solidFill>
                  </a:tcPr>
                </a:tc>
                <a:extLst>
                  <a:ext uri="{0D108BD9-81ED-4DB2-BD59-A6C34878D82A}">
                    <a16:rowId xmlns:a16="http://schemas.microsoft.com/office/drawing/2014/main" val="1144018381"/>
                  </a:ext>
                </a:extLst>
              </a:tr>
              <a:tr h="274320">
                <a:tc>
                  <a:txBody>
                    <a:bodyPr/>
                    <a:lstStyle/>
                    <a:p>
                      <a:r>
                        <a:rPr lang="en-US" sz="1200"/>
                        <a:t>1</a:t>
                      </a:r>
                    </a:p>
                  </a:txBody>
                  <a:tcPr/>
                </a:tc>
                <a:tc>
                  <a:txBody>
                    <a:bodyPr/>
                    <a:lstStyle/>
                    <a:p>
                      <a:r>
                        <a:rPr lang="en-US" sz="1200"/>
                        <a:t>0</a:t>
                      </a:r>
                    </a:p>
                  </a:txBody>
                  <a:tcPr/>
                </a:tc>
                <a:tc>
                  <a:txBody>
                    <a:bodyPr/>
                    <a:lstStyle/>
                    <a:p>
                      <a:r>
                        <a:rPr lang="en-US" sz="1200"/>
                        <a:t>0</a:t>
                      </a:r>
                    </a:p>
                  </a:txBody>
                  <a:tcPr/>
                </a:tc>
                <a:tc>
                  <a:txBody>
                    <a:bodyPr/>
                    <a:lstStyle/>
                    <a:p>
                      <a:r>
                        <a:rPr lang="en-US" sz="1200"/>
                        <a:t>Never</a:t>
                      </a:r>
                    </a:p>
                  </a:txBody>
                  <a:tcPr/>
                </a:tc>
                <a:tc>
                  <a:txBody>
                    <a:bodyPr/>
                    <a:lstStyle/>
                    <a:p>
                      <a:pPr algn="ctr"/>
                      <a:r>
                        <a:rPr lang="en-US" sz="1200"/>
                        <a:t>85</a:t>
                      </a:r>
                    </a:p>
                  </a:txBody>
                  <a:tcPr>
                    <a:solidFill>
                      <a:schemeClr val="accent6">
                        <a:lumMod val="60000"/>
                        <a:lumOff val="40000"/>
                      </a:schemeClr>
                    </a:solidFill>
                  </a:tcPr>
                </a:tc>
                <a:tc>
                  <a:txBody>
                    <a:bodyPr/>
                    <a:lstStyle/>
                    <a:p>
                      <a:r>
                        <a:rPr lang="en-US" sz="1200"/>
                        <a:t>NOP</a:t>
                      </a:r>
                    </a:p>
                  </a:txBody>
                  <a:tcPr>
                    <a:solidFill>
                      <a:schemeClr val="accent6">
                        <a:lumMod val="60000"/>
                        <a:lumOff val="40000"/>
                      </a:schemeClr>
                    </a:solidFill>
                  </a:tcPr>
                </a:tc>
                <a:extLst>
                  <a:ext uri="{0D108BD9-81ED-4DB2-BD59-A6C34878D82A}">
                    <a16:rowId xmlns:a16="http://schemas.microsoft.com/office/drawing/2014/main" val="1247815021"/>
                  </a:ext>
                </a:extLst>
              </a:tr>
              <a:tr h="274320">
                <a:tc>
                  <a:txBody>
                    <a:bodyPr/>
                    <a:lstStyle/>
                    <a:p>
                      <a:r>
                        <a:rPr lang="en-US" sz="1200"/>
                        <a:t>1</a:t>
                      </a:r>
                    </a:p>
                  </a:txBody>
                  <a:tcPr/>
                </a:tc>
                <a:tc>
                  <a:txBody>
                    <a:bodyPr/>
                    <a:lstStyle/>
                    <a:p>
                      <a:r>
                        <a:rPr lang="en-US" sz="1200"/>
                        <a:t>0</a:t>
                      </a:r>
                    </a:p>
                  </a:txBody>
                  <a:tcPr/>
                </a:tc>
                <a:tc>
                  <a:txBody>
                    <a:bodyPr/>
                    <a:lstStyle/>
                    <a:p>
                      <a:r>
                        <a:rPr lang="en-US" sz="1200"/>
                        <a:t>1</a:t>
                      </a:r>
                    </a:p>
                  </a:txBody>
                  <a:tcPr/>
                </a:tc>
                <a:tc>
                  <a:txBody>
                    <a:bodyPr/>
                    <a:lstStyle/>
                    <a:p>
                      <a:r>
                        <a:rPr lang="en-US" sz="1200"/>
                        <a:t>!N</a:t>
                      </a:r>
                    </a:p>
                  </a:txBody>
                  <a:tcPr/>
                </a:tc>
                <a:tc>
                  <a:txBody>
                    <a:bodyPr/>
                    <a:lstStyle/>
                    <a:p>
                      <a:pPr algn="ctr"/>
                      <a:r>
                        <a:rPr lang="en-US" sz="1200"/>
                        <a:t>A5</a:t>
                      </a:r>
                    </a:p>
                  </a:txBody>
                  <a:tcPr>
                    <a:solidFill>
                      <a:schemeClr val="accent6">
                        <a:lumMod val="60000"/>
                        <a:lumOff val="40000"/>
                      </a:schemeClr>
                    </a:solidFill>
                  </a:tcPr>
                </a:tc>
                <a:tc>
                  <a:txBody>
                    <a:bodyPr/>
                    <a:lstStyle/>
                    <a:p>
                      <a:r>
                        <a:rPr lang="en-US" sz="1200"/>
                        <a:t>BPL – Branch on Plus</a:t>
                      </a:r>
                    </a:p>
                  </a:txBody>
                  <a:tcPr>
                    <a:solidFill>
                      <a:schemeClr val="accent6">
                        <a:lumMod val="60000"/>
                        <a:lumOff val="40000"/>
                      </a:schemeClr>
                    </a:solidFill>
                  </a:tcPr>
                </a:tc>
                <a:extLst>
                  <a:ext uri="{0D108BD9-81ED-4DB2-BD59-A6C34878D82A}">
                    <a16:rowId xmlns:a16="http://schemas.microsoft.com/office/drawing/2014/main" val="516787940"/>
                  </a:ext>
                </a:extLst>
              </a:tr>
              <a:tr h="274320">
                <a:tc>
                  <a:txBody>
                    <a:bodyPr/>
                    <a:lstStyle/>
                    <a:p>
                      <a:r>
                        <a:rPr lang="en-US" sz="1200"/>
                        <a:t>1</a:t>
                      </a:r>
                    </a:p>
                  </a:txBody>
                  <a:tcPr/>
                </a:tc>
                <a:tc>
                  <a:txBody>
                    <a:bodyPr/>
                    <a:lstStyle/>
                    <a:p>
                      <a:r>
                        <a:rPr lang="en-US" sz="1200"/>
                        <a:t>1</a:t>
                      </a:r>
                    </a:p>
                  </a:txBody>
                  <a:tcPr/>
                </a:tc>
                <a:tc>
                  <a:txBody>
                    <a:bodyPr/>
                    <a:lstStyle/>
                    <a:p>
                      <a:r>
                        <a:rPr lang="en-US" sz="1200"/>
                        <a:t>0</a:t>
                      </a:r>
                    </a:p>
                  </a:txBody>
                  <a:tcPr/>
                </a:tc>
                <a:tc>
                  <a:txBody>
                    <a:bodyPr/>
                    <a:lstStyle/>
                    <a:p>
                      <a:r>
                        <a:rPr lang="en-US" sz="1200"/>
                        <a:t>!C</a:t>
                      </a:r>
                    </a:p>
                  </a:txBody>
                  <a:tcPr/>
                </a:tc>
                <a:tc>
                  <a:txBody>
                    <a:bodyPr/>
                    <a:lstStyle/>
                    <a:p>
                      <a:pPr algn="ctr"/>
                      <a:r>
                        <a:rPr lang="en-US" sz="1200"/>
                        <a:t>C5</a:t>
                      </a:r>
                    </a:p>
                  </a:txBody>
                  <a:tcPr>
                    <a:solidFill>
                      <a:schemeClr val="accent6">
                        <a:lumMod val="60000"/>
                        <a:lumOff val="40000"/>
                      </a:schemeClr>
                    </a:solidFill>
                  </a:tcPr>
                </a:tc>
                <a:tc>
                  <a:txBody>
                    <a:bodyPr/>
                    <a:lstStyle/>
                    <a:p>
                      <a:r>
                        <a:rPr lang="en-US" sz="1200"/>
                        <a:t>BCC – Branch Carry Clear</a:t>
                      </a:r>
                    </a:p>
                  </a:txBody>
                  <a:tcPr>
                    <a:solidFill>
                      <a:schemeClr val="accent6">
                        <a:lumMod val="60000"/>
                        <a:lumOff val="40000"/>
                      </a:schemeClr>
                    </a:solidFill>
                  </a:tcPr>
                </a:tc>
                <a:extLst>
                  <a:ext uri="{0D108BD9-81ED-4DB2-BD59-A6C34878D82A}">
                    <a16:rowId xmlns:a16="http://schemas.microsoft.com/office/drawing/2014/main" val="3876475581"/>
                  </a:ext>
                </a:extLst>
              </a:tr>
              <a:tr h="274320">
                <a:tc>
                  <a:txBody>
                    <a:bodyPr/>
                    <a:lstStyle/>
                    <a:p>
                      <a:r>
                        <a:rPr lang="en-US" sz="1200"/>
                        <a:t>1</a:t>
                      </a:r>
                    </a:p>
                  </a:txBody>
                  <a:tcPr/>
                </a:tc>
                <a:tc>
                  <a:txBody>
                    <a:bodyPr/>
                    <a:lstStyle/>
                    <a:p>
                      <a:r>
                        <a:rPr lang="en-US" sz="1200"/>
                        <a:t>1</a:t>
                      </a:r>
                    </a:p>
                  </a:txBody>
                  <a:tcPr/>
                </a:tc>
                <a:tc>
                  <a:txBody>
                    <a:bodyPr/>
                    <a:lstStyle/>
                    <a:p>
                      <a:r>
                        <a:rPr lang="en-US" sz="1200"/>
                        <a:t>1</a:t>
                      </a:r>
                    </a:p>
                  </a:txBody>
                  <a:tcPr/>
                </a:tc>
                <a:tc>
                  <a:txBody>
                    <a:bodyPr/>
                    <a:lstStyle/>
                    <a:p>
                      <a:r>
                        <a:rPr lang="en-US" sz="1200"/>
                        <a:t>!Z</a:t>
                      </a:r>
                    </a:p>
                  </a:txBody>
                  <a:tcPr/>
                </a:tc>
                <a:tc>
                  <a:txBody>
                    <a:bodyPr/>
                    <a:lstStyle/>
                    <a:p>
                      <a:pPr algn="ctr"/>
                      <a:r>
                        <a:rPr lang="en-US" sz="1200"/>
                        <a:t>E5</a:t>
                      </a:r>
                    </a:p>
                  </a:txBody>
                  <a:tcPr>
                    <a:solidFill>
                      <a:schemeClr val="accent6">
                        <a:lumMod val="60000"/>
                        <a:lumOff val="40000"/>
                      </a:schemeClr>
                    </a:solidFill>
                  </a:tcPr>
                </a:tc>
                <a:tc>
                  <a:txBody>
                    <a:bodyPr/>
                    <a:lstStyle/>
                    <a:p>
                      <a:r>
                        <a:rPr lang="en-US" sz="1200"/>
                        <a:t>BNE</a:t>
                      </a:r>
                    </a:p>
                  </a:txBody>
                  <a:tcPr>
                    <a:solidFill>
                      <a:schemeClr val="accent6">
                        <a:lumMod val="60000"/>
                        <a:lumOff val="40000"/>
                      </a:schemeClr>
                    </a:solidFill>
                  </a:tcPr>
                </a:tc>
                <a:extLst>
                  <a:ext uri="{0D108BD9-81ED-4DB2-BD59-A6C34878D82A}">
                    <a16:rowId xmlns:a16="http://schemas.microsoft.com/office/drawing/2014/main" val="2778710779"/>
                  </a:ext>
                </a:extLst>
              </a:tr>
            </a:tbl>
          </a:graphicData>
        </a:graphic>
      </p:graphicFrame>
      <p:pic>
        <p:nvPicPr>
          <p:cNvPr id="40" name="Picture 39" descr="Shape&#10;&#10;Description automatically generated with medium confidence">
            <a:extLst>
              <a:ext uri="{FF2B5EF4-FFF2-40B4-BE49-F238E27FC236}">
                <a16:creationId xmlns:a16="http://schemas.microsoft.com/office/drawing/2014/main" id="{C5FA49AF-00B1-79CE-DFCF-659D8F182ABD}"/>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10289" r="54774"/>
          <a:stretch/>
        </p:blipFill>
        <p:spPr>
          <a:xfrm rot="10800000">
            <a:off x="2106710" y="2923544"/>
            <a:ext cx="934549" cy="668753"/>
          </a:xfrm>
          <a:prstGeom prst="rect">
            <a:avLst/>
          </a:prstGeom>
        </p:spPr>
      </p:pic>
      <p:sp>
        <p:nvSpPr>
          <p:cNvPr id="41" name="TextBox 40">
            <a:hlinkClick r:id="rId2" action="ppaction://hlinksldjump"/>
            <a:extLst>
              <a:ext uri="{FF2B5EF4-FFF2-40B4-BE49-F238E27FC236}">
                <a16:creationId xmlns:a16="http://schemas.microsoft.com/office/drawing/2014/main" id="{3A8A1125-8BBF-88B2-3B12-147570F32060}"/>
              </a:ext>
            </a:extLst>
          </p:cNvPr>
          <p:cNvSpPr txBox="1"/>
          <p:nvPr/>
        </p:nvSpPr>
        <p:spPr>
          <a:xfrm>
            <a:off x="697083" y="3117301"/>
            <a:ext cx="931665" cy="369332"/>
          </a:xfrm>
          <a:prstGeom prst="rect">
            <a:avLst/>
          </a:prstGeom>
          <a:noFill/>
          <a:ln>
            <a:solidFill>
              <a:schemeClr val="accent1"/>
            </a:solidFill>
          </a:ln>
        </p:spPr>
        <p:txBody>
          <a:bodyPr wrap="none" rtlCol="0">
            <a:spAutoFit/>
          </a:bodyPr>
          <a:lstStyle/>
          <a:p>
            <a:r>
              <a:rPr lang="en-US"/>
              <a:t>Load PC</a:t>
            </a:r>
          </a:p>
        </p:txBody>
      </p:sp>
      <p:cxnSp>
        <p:nvCxnSpPr>
          <p:cNvPr id="43" name="Connector: Elbow 42">
            <a:extLst>
              <a:ext uri="{FF2B5EF4-FFF2-40B4-BE49-F238E27FC236}">
                <a16:creationId xmlns:a16="http://schemas.microsoft.com/office/drawing/2014/main" id="{4557EA64-4F37-7FCE-D5D3-6944631520AA}"/>
              </a:ext>
            </a:extLst>
          </p:cNvPr>
          <p:cNvCxnSpPr>
            <a:stCxn id="41" idx="3"/>
            <a:endCxn id="40" idx="3"/>
          </p:cNvCxnSpPr>
          <p:nvPr/>
        </p:nvCxnSpPr>
        <p:spPr>
          <a:xfrm flipV="1">
            <a:off x="1628748" y="3257920"/>
            <a:ext cx="477962" cy="44047"/>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F05B297B-5DF9-1606-5B4B-6B151E3CDD74}"/>
              </a:ext>
            </a:extLst>
          </p:cNvPr>
          <p:cNvCxnSpPr>
            <a:cxnSpLocks/>
            <a:stCxn id="30" idx="3"/>
          </p:cNvCxnSpPr>
          <p:nvPr/>
        </p:nvCxnSpPr>
        <p:spPr>
          <a:xfrm flipH="1">
            <a:off x="3041260" y="2435067"/>
            <a:ext cx="825109" cy="692597"/>
          </a:xfrm>
          <a:prstGeom prst="bentConnector3">
            <a:avLst>
              <a:gd name="adj1" fmla="val -27705"/>
            </a:avLst>
          </a:prstGeom>
        </p:spPr>
        <p:style>
          <a:lnRef idx="1">
            <a:schemeClr val="accent1"/>
          </a:lnRef>
          <a:fillRef idx="0">
            <a:schemeClr val="accent1"/>
          </a:fillRef>
          <a:effectRef idx="0">
            <a:schemeClr val="accent1"/>
          </a:effectRef>
          <a:fontRef idx="minor">
            <a:schemeClr val="tx1"/>
          </a:fontRef>
        </p:style>
      </p:cxnSp>
      <p:sp>
        <p:nvSpPr>
          <p:cNvPr id="30" name="Rectangle 29">
            <a:hlinkClick r:id="rId8" action="ppaction://hlinksldjump"/>
            <a:extLst>
              <a:ext uri="{FF2B5EF4-FFF2-40B4-BE49-F238E27FC236}">
                <a16:creationId xmlns:a16="http://schemas.microsoft.com/office/drawing/2014/main" id="{CCA07D93-4E00-A212-7F46-9F7812A40FD0}"/>
              </a:ext>
            </a:extLst>
          </p:cNvPr>
          <p:cNvSpPr/>
          <p:nvPr/>
        </p:nvSpPr>
        <p:spPr>
          <a:xfrm>
            <a:off x="2403328" y="2343627"/>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8: PC Load</a:t>
            </a:r>
          </a:p>
        </p:txBody>
      </p:sp>
      <p:sp>
        <p:nvSpPr>
          <p:cNvPr id="31" name="Arrow: Right 30">
            <a:hlinkClick r:id="rId2" action="ppaction://hlinksldjump"/>
            <a:extLst>
              <a:ext uri="{FF2B5EF4-FFF2-40B4-BE49-F238E27FC236}">
                <a16:creationId xmlns:a16="http://schemas.microsoft.com/office/drawing/2014/main" id="{38A6B86E-F84D-2AE7-B899-5B04785389ED}"/>
              </a:ext>
            </a:extLst>
          </p:cNvPr>
          <p:cNvSpPr/>
          <p:nvPr/>
        </p:nvSpPr>
        <p:spPr>
          <a:xfrm rot="5400000">
            <a:off x="4997871" y="1476531"/>
            <a:ext cx="731520" cy="731520"/>
          </a:xfrm>
          <a:prstGeom prst="rightArrow">
            <a:avLst/>
          </a:prstGeom>
        </p:spPr>
        <p:style>
          <a:lnRef idx="1">
            <a:schemeClr val="accent5"/>
          </a:lnRef>
          <a:fillRef idx="2">
            <a:schemeClr val="accent5"/>
          </a:fillRef>
          <a:effectRef idx="1">
            <a:schemeClr val="accent5"/>
          </a:effectRef>
          <a:fontRef idx="minor">
            <a:schemeClr val="dk1"/>
          </a:fontRef>
        </p:style>
        <p:txBody>
          <a:bodyPr wrap="none" lIns="0" tIns="0" rIns="0" bIns="0" rtlCol="0" anchor="ctr"/>
          <a:lstStyle/>
          <a:p>
            <a:pPr algn="ctr"/>
            <a:r>
              <a:rPr lang="en-US" sz="1200"/>
              <a:t>OpCode</a:t>
            </a:r>
          </a:p>
          <a:p>
            <a:pPr algn="ctr"/>
            <a:r>
              <a:rPr lang="en-US" sz="1200"/>
              <a:t>[7:5]</a:t>
            </a:r>
          </a:p>
        </p:txBody>
      </p:sp>
    </p:spTree>
    <p:extLst>
      <p:ext uri="{BB962C8B-B14F-4D97-AF65-F5344CB8AC3E}">
        <p14:creationId xmlns:p14="http://schemas.microsoft.com/office/powerpoint/2010/main" val="3442540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4F32E-4E0E-4074-BD84-B5CA9D9D5EF5}"/>
              </a:ext>
            </a:extLst>
          </p:cNvPr>
          <p:cNvSpPr>
            <a:spLocks noGrp="1"/>
          </p:cNvSpPr>
          <p:nvPr>
            <p:ph type="ctrTitle"/>
          </p:nvPr>
        </p:nvSpPr>
        <p:spPr>
          <a:prstGeom prst="rect">
            <a:avLst/>
          </a:prstGeom>
          <a:solidFill>
            <a:schemeClr val="accent6">
              <a:lumMod val="20000"/>
              <a:lumOff val="80000"/>
            </a:schemeClr>
          </a:solidFill>
        </p:spPr>
        <p:txBody>
          <a:bodyPr/>
          <a:lstStyle/>
          <a:p>
            <a:r>
              <a:rPr lang="en-US"/>
              <a:t>ALU </a:t>
            </a:r>
            <a:r>
              <a:rPr lang="en-US" err="1"/>
              <a:t>OpCodes</a:t>
            </a:r>
            <a:r>
              <a:rPr lang="en-US"/>
              <a:t> 2,3,7</a:t>
            </a:r>
          </a:p>
        </p:txBody>
      </p:sp>
      <p:sp>
        <p:nvSpPr>
          <p:cNvPr id="3" name="Subtitle 2">
            <a:extLst>
              <a:ext uri="{FF2B5EF4-FFF2-40B4-BE49-F238E27FC236}">
                <a16:creationId xmlns:a16="http://schemas.microsoft.com/office/drawing/2014/main" id="{A450D4A6-22F8-4A01-9F67-DAD78824A19B}"/>
              </a:ext>
            </a:extLst>
          </p:cNvPr>
          <p:cNvSpPr>
            <a:spLocks noGrp="1"/>
          </p:cNvSpPr>
          <p:nvPr>
            <p:ph type="subTitle" idx="4294967295"/>
          </p:nvPr>
        </p:nvSpPr>
        <p:spPr>
          <a:xfrm>
            <a:off x="0" y="1181101"/>
            <a:ext cx="9144000" cy="901700"/>
          </a:xfrm>
          <a:prstGeom prst="rect">
            <a:avLst/>
          </a:prstGeom>
        </p:spPr>
        <p:txBody>
          <a:bodyPr/>
          <a:lstStyle/>
          <a:p>
            <a:pPr algn="l"/>
            <a:r>
              <a:rPr lang="en-US" sz="2000"/>
              <a:t>ALU opcode(010), SF(0 / 1) – A XOR B / !B</a:t>
            </a:r>
          </a:p>
          <a:p>
            <a:pPr algn="l"/>
            <a:r>
              <a:rPr lang="en-US" sz="2000"/>
              <a:t>No change to the source SF for ADD/SUB/ADC/SBC/!B</a:t>
            </a:r>
          </a:p>
          <a:p>
            <a:pPr marL="0" indent="0">
              <a:buNone/>
            </a:pPr>
            <a:endParaRPr lang="en-US" sz="2000"/>
          </a:p>
        </p:txBody>
      </p:sp>
      <p:sp>
        <p:nvSpPr>
          <p:cNvPr id="4" name="Trapezoid 3">
            <a:extLst>
              <a:ext uri="{FF2B5EF4-FFF2-40B4-BE49-F238E27FC236}">
                <a16:creationId xmlns:a16="http://schemas.microsoft.com/office/drawing/2014/main" id="{7CC0352E-32EA-4403-9027-25A687992806}"/>
              </a:ext>
            </a:extLst>
          </p:cNvPr>
          <p:cNvSpPr/>
          <p:nvPr/>
        </p:nvSpPr>
        <p:spPr>
          <a:xfrm rot="5400000">
            <a:off x="4612945" y="4218297"/>
            <a:ext cx="1137313" cy="436728"/>
          </a:xfrm>
          <a:prstGeom prst="trapezoid">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x8</a:t>
            </a:r>
          </a:p>
        </p:txBody>
      </p:sp>
      <p:sp>
        <p:nvSpPr>
          <p:cNvPr id="5" name="TextBox 4">
            <a:extLst>
              <a:ext uri="{FF2B5EF4-FFF2-40B4-BE49-F238E27FC236}">
                <a16:creationId xmlns:a16="http://schemas.microsoft.com/office/drawing/2014/main" id="{87DEF291-5B32-4602-9E11-1210D6DED3AF}"/>
              </a:ext>
            </a:extLst>
          </p:cNvPr>
          <p:cNvSpPr txBox="1"/>
          <p:nvPr/>
        </p:nvSpPr>
        <p:spPr>
          <a:xfrm>
            <a:off x="2739700" y="2575369"/>
            <a:ext cx="388248" cy="307777"/>
          </a:xfrm>
          <a:prstGeom prst="rect">
            <a:avLst/>
          </a:prstGeom>
          <a:noFill/>
          <a:ln>
            <a:solidFill>
              <a:schemeClr val="tx2"/>
            </a:solidFill>
          </a:ln>
        </p:spPr>
        <p:txBody>
          <a:bodyPr wrap="none" rtlCol="0">
            <a:spAutoFit/>
          </a:bodyPr>
          <a:lstStyle/>
          <a:p>
            <a:r>
              <a:rPr lang="en-US" sz="1400"/>
              <a:t>SF </a:t>
            </a:r>
          </a:p>
        </p:txBody>
      </p:sp>
      <p:cxnSp>
        <p:nvCxnSpPr>
          <p:cNvPr id="7" name="Connector: Elbow 6">
            <a:extLst>
              <a:ext uri="{FF2B5EF4-FFF2-40B4-BE49-F238E27FC236}">
                <a16:creationId xmlns:a16="http://schemas.microsoft.com/office/drawing/2014/main" id="{EEA55D6E-4AE3-4219-91D5-E37754E43008}"/>
              </a:ext>
            </a:extLst>
          </p:cNvPr>
          <p:cNvCxnSpPr>
            <a:cxnSpLocks/>
            <a:endCxn id="4" idx="1"/>
          </p:cNvCxnSpPr>
          <p:nvPr/>
        </p:nvCxnSpPr>
        <p:spPr>
          <a:xfrm>
            <a:off x="4561801" y="2972190"/>
            <a:ext cx="619801" cy="950407"/>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EA914CD-FA5E-4265-8DA8-4C4929259DE9}"/>
              </a:ext>
            </a:extLst>
          </p:cNvPr>
          <p:cNvSpPr txBox="1"/>
          <p:nvPr/>
        </p:nvSpPr>
        <p:spPr>
          <a:xfrm>
            <a:off x="2304435" y="4007177"/>
            <a:ext cx="396262" cy="369332"/>
          </a:xfrm>
          <a:prstGeom prst="rect">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txBody>
          <a:bodyPr wrap="none" rtlCol="0">
            <a:spAutoFit/>
          </a:bodyPr>
          <a:lstStyle/>
          <a:p>
            <a:r>
              <a:rPr lang="en-US"/>
              <a:t>SF</a:t>
            </a:r>
          </a:p>
        </p:txBody>
      </p:sp>
      <p:cxnSp>
        <p:nvCxnSpPr>
          <p:cNvPr id="10" name="Straight Connector 9">
            <a:extLst>
              <a:ext uri="{FF2B5EF4-FFF2-40B4-BE49-F238E27FC236}">
                <a16:creationId xmlns:a16="http://schemas.microsoft.com/office/drawing/2014/main" id="{722C0FF7-2BDC-494B-92C3-31E95AA2509F}"/>
              </a:ext>
            </a:extLst>
          </p:cNvPr>
          <p:cNvCxnSpPr>
            <a:cxnSpLocks/>
            <a:stCxn id="8" idx="3"/>
          </p:cNvCxnSpPr>
          <p:nvPr/>
        </p:nvCxnSpPr>
        <p:spPr>
          <a:xfrm>
            <a:off x="2700697" y="4191843"/>
            <a:ext cx="2262540" cy="1"/>
          </a:xfrm>
          <a:prstGeom prst="line">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145C8B6-8DE8-4DAF-A9C1-BE227B5FB6D7}"/>
              </a:ext>
            </a:extLst>
          </p:cNvPr>
          <p:cNvSpPr txBox="1"/>
          <p:nvPr/>
        </p:nvSpPr>
        <p:spPr>
          <a:xfrm>
            <a:off x="2659246" y="3673648"/>
            <a:ext cx="2286203" cy="369332"/>
          </a:xfrm>
          <a:prstGeom prst="rect">
            <a:avLst/>
          </a:prstGeom>
          <a:noFill/>
        </p:spPr>
        <p:txBody>
          <a:bodyPr wrap="none" rtlCol="0">
            <a:spAutoFit/>
          </a:bodyPr>
          <a:lstStyle/>
          <a:p>
            <a:r>
              <a:rPr lang="en-US"/>
              <a:t>ADD/SUB/ADC/SBC/!B</a:t>
            </a:r>
          </a:p>
        </p:txBody>
      </p:sp>
      <p:cxnSp>
        <p:nvCxnSpPr>
          <p:cNvPr id="12" name="Straight Connector 11">
            <a:extLst>
              <a:ext uri="{FF2B5EF4-FFF2-40B4-BE49-F238E27FC236}">
                <a16:creationId xmlns:a16="http://schemas.microsoft.com/office/drawing/2014/main" id="{05ABD36F-CD81-485F-BD82-667169D17B59}"/>
              </a:ext>
            </a:extLst>
          </p:cNvPr>
          <p:cNvCxnSpPr>
            <a:cxnSpLocks/>
            <a:stCxn id="43" idx="3"/>
            <a:endCxn id="13" idx="1"/>
          </p:cNvCxnSpPr>
          <p:nvPr/>
        </p:nvCxnSpPr>
        <p:spPr>
          <a:xfrm>
            <a:off x="6614866" y="4433179"/>
            <a:ext cx="1074540" cy="3482"/>
          </a:xfrm>
          <a:prstGeom prst="line">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F67C1AC-AF45-4780-BB40-A6A2A587D6CD}"/>
              </a:ext>
            </a:extLst>
          </p:cNvPr>
          <p:cNvSpPr txBox="1"/>
          <p:nvPr/>
        </p:nvSpPr>
        <p:spPr>
          <a:xfrm>
            <a:off x="7689406" y="4251995"/>
            <a:ext cx="817853" cy="369332"/>
          </a:xfrm>
          <a:prstGeom prst="rect">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txBody>
          <a:bodyPr wrap="none" rtlCol="0">
            <a:spAutoFit/>
          </a:bodyPr>
          <a:lstStyle/>
          <a:p>
            <a:r>
              <a:rPr lang="en-US"/>
              <a:t>B or !B</a:t>
            </a:r>
          </a:p>
        </p:txBody>
      </p:sp>
      <p:sp>
        <p:nvSpPr>
          <p:cNvPr id="15" name="TextBox 14">
            <a:extLst>
              <a:ext uri="{FF2B5EF4-FFF2-40B4-BE49-F238E27FC236}">
                <a16:creationId xmlns:a16="http://schemas.microsoft.com/office/drawing/2014/main" id="{32CA9493-09C1-485B-B47D-AEF06F6BD4EC}"/>
              </a:ext>
            </a:extLst>
          </p:cNvPr>
          <p:cNvSpPr txBox="1"/>
          <p:nvPr/>
        </p:nvSpPr>
        <p:spPr>
          <a:xfrm>
            <a:off x="2382982" y="4515137"/>
            <a:ext cx="317716" cy="369332"/>
          </a:xfrm>
          <a:prstGeom prst="rect">
            <a:avLst/>
          </a:prstGeom>
          <a:noFill/>
          <a:ln>
            <a:solidFill>
              <a:schemeClr val="tx2"/>
            </a:solidFill>
          </a:ln>
        </p:spPr>
        <p:txBody>
          <a:bodyPr wrap="none" rtlCol="0">
            <a:spAutoFit/>
          </a:bodyPr>
          <a:lstStyle/>
          <a:p>
            <a:r>
              <a:rPr lang="en-US"/>
              <a:t>A</a:t>
            </a:r>
          </a:p>
        </p:txBody>
      </p:sp>
      <p:cxnSp>
        <p:nvCxnSpPr>
          <p:cNvPr id="17" name="Straight Connector 16">
            <a:extLst>
              <a:ext uri="{FF2B5EF4-FFF2-40B4-BE49-F238E27FC236}">
                <a16:creationId xmlns:a16="http://schemas.microsoft.com/office/drawing/2014/main" id="{50CA7CB5-F919-4470-A0F5-0F8E76A116FC}"/>
              </a:ext>
            </a:extLst>
          </p:cNvPr>
          <p:cNvCxnSpPr>
            <a:cxnSpLocks/>
            <a:stCxn id="15" idx="3"/>
          </p:cNvCxnSpPr>
          <p:nvPr/>
        </p:nvCxnSpPr>
        <p:spPr>
          <a:xfrm>
            <a:off x="2700698" y="4699803"/>
            <a:ext cx="2262539" cy="3"/>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2F0F52E-03D3-4A26-A27D-DF079F36A804}"/>
              </a:ext>
            </a:extLst>
          </p:cNvPr>
          <p:cNvCxnSpPr/>
          <p:nvPr/>
        </p:nvCxnSpPr>
        <p:spPr>
          <a:xfrm flipH="1">
            <a:off x="3234519" y="4547657"/>
            <a:ext cx="200168" cy="304904"/>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4C8E5D1-343F-47A9-B521-174B48BAB1C7}"/>
              </a:ext>
            </a:extLst>
          </p:cNvPr>
          <p:cNvSpPr txBox="1"/>
          <p:nvPr/>
        </p:nvSpPr>
        <p:spPr>
          <a:xfrm>
            <a:off x="3212612" y="4730533"/>
            <a:ext cx="301686" cy="369332"/>
          </a:xfrm>
          <a:prstGeom prst="rect">
            <a:avLst/>
          </a:prstGeom>
          <a:noFill/>
        </p:spPr>
        <p:txBody>
          <a:bodyPr wrap="none" rtlCol="0">
            <a:spAutoFit/>
          </a:bodyPr>
          <a:lstStyle/>
          <a:p>
            <a:r>
              <a:rPr lang="en-US"/>
              <a:t>8</a:t>
            </a:r>
          </a:p>
        </p:txBody>
      </p:sp>
      <p:cxnSp>
        <p:nvCxnSpPr>
          <p:cNvPr id="18" name="Straight Connector 17">
            <a:extLst>
              <a:ext uri="{FF2B5EF4-FFF2-40B4-BE49-F238E27FC236}">
                <a16:creationId xmlns:a16="http://schemas.microsoft.com/office/drawing/2014/main" id="{34B90B0A-2CD8-4E4B-804E-26FBA1AEF00B}"/>
              </a:ext>
            </a:extLst>
          </p:cNvPr>
          <p:cNvCxnSpPr/>
          <p:nvPr/>
        </p:nvCxnSpPr>
        <p:spPr>
          <a:xfrm flipH="1">
            <a:off x="6494517" y="4286435"/>
            <a:ext cx="200168" cy="304904"/>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772750D8-9883-4926-B567-BC48B3710EF4}"/>
              </a:ext>
            </a:extLst>
          </p:cNvPr>
          <p:cNvSpPr txBox="1"/>
          <p:nvPr/>
        </p:nvSpPr>
        <p:spPr>
          <a:xfrm>
            <a:off x="6411049" y="4113865"/>
            <a:ext cx="387812" cy="369332"/>
          </a:xfrm>
          <a:prstGeom prst="rect">
            <a:avLst/>
          </a:prstGeom>
          <a:noFill/>
          <a:ln w="12700">
            <a:noFill/>
          </a:ln>
        </p:spPr>
        <p:txBody>
          <a:bodyPr wrap="square" rtlCol="0">
            <a:spAutoFit/>
          </a:bodyPr>
          <a:lstStyle/>
          <a:p>
            <a:r>
              <a:rPr lang="en-US"/>
              <a:t>8</a:t>
            </a:r>
          </a:p>
        </p:txBody>
      </p:sp>
      <p:sp>
        <p:nvSpPr>
          <p:cNvPr id="22" name="TextBox 21">
            <a:extLst>
              <a:ext uri="{FF2B5EF4-FFF2-40B4-BE49-F238E27FC236}">
                <a16:creationId xmlns:a16="http://schemas.microsoft.com/office/drawing/2014/main" id="{BA289661-D561-4CFA-A791-490157609FBE}"/>
              </a:ext>
            </a:extLst>
          </p:cNvPr>
          <p:cNvSpPr txBox="1"/>
          <p:nvPr/>
        </p:nvSpPr>
        <p:spPr>
          <a:xfrm>
            <a:off x="5598776" y="3453083"/>
            <a:ext cx="309700" cy="369332"/>
          </a:xfrm>
          <a:prstGeom prst="rect">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txBody>
          <a:bodyPr wrap="none" rtlCol="0">
            <a:spAutoFit/>
          </a:bodyPr>
          <a:lstStyle/>
          <a:p>
            <a:r>
              <a:rPr lang="en-US"/>
              <a:t>B</a:t>
            </a:r>
          </a:p>
        </p:txBody>
      </p:sp>
      <p:cxnSp>
        <p:nvCxnSpPr>
          <p:cNvPr id="23" name="Straight Connector 22">
            <a:extLst>
              <a:ext uri="{FF2B5EF4-FFF2-40B4-BE49-F238E27FC236}">
                <a16:creationId xmlns:a16="http://schemas.microsoft.com/office/drawing/2014/main" id="{AB352352-8CC1-45AF-AD79-C7217AA4DBE8}"/>
              </a:ext>
            </a:extLst>
          </p:cNvPr>
          <p:cNvCxnSpPr>
            <a:cxnSpLocks/>
            <a:endCxn id="22" idx="2"/>
          </p:cNvCxnSpPr>
          <p:nvPr/>
        </p:nvCxnSpPr>
        <p:spPr>
          <a:xfrm flipH="1" flipV="1">
            <a:off x="5753626" y="3822415"/>
            <a:ext cx="1" cy="529297"/>
          </a:xfrm>
          <a:prstGeom prst="line">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5746861B-2B36-4610-8D0D-CA8130449E9A}"/>
              </a:ext>
            </a:extLst>
          </p:cNvPr>
          <p:cNvCxnSpPr>
            <a:cxnSpLocks/>
            <a:stCxn id="34" idx="2"/>
          </p:cNvCxnSpPr>
          <p:nvPr/>
        </p:nvCxnSpPr>
        <p:spPr>
          <a:xfrm flipH="1">
            <a:off x="6694686" y="5070545"/>
            <a:ext cx="38785" cy="364559"/>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6695819E-1699-4221-BF84-7CC8E8E9B55E}"/>
              </a:ext>
            </a:extLst>
          </p:cNvPr>
          <p:cNvSpPr txBox="1"/>
          <p:nvPr/>
        </p:nvSpPr>
        <p:spPr>
          <a:xfrm>
            <a:off x="5321770" y="5435103"/>
            <a:ext cx="2260555" cy="369332"/>
          </a:xfrm>
          <a:prstGeom prst="rect">
            <a:avLst/>
          </a:prstGeom>
          <a:noFill/>
          <a:ln w="12700">
            <a:solidFill>
              <a:srgbClr val="00B050"/>
            </a:solidFill>
          </a:ln>
        </p:spPr>
        <p:txBody>
          <a:bodyPr wrap="none" rtlCol="0">
            <a:spAutoFit/>
          </a:bodyPr>
          <a:lstStyle/>
          <a:p>
            <a:r>
              <a:rPr lang="en-US"/>
              <a:t>Op Code  ‘010’ output</a:t>
            </a:r>
          </a:p>
        </p:txBody>
      </p:sp>
      <p:sp>
        <p:nvSpPr>
          <p:cNvPr id="31" name="Rectangle: Rounded Corners 30">
            <a:extLst>
              <a:ext uri="{FF2B5EF4-FFF2-40B4-BE49-F238E27FC236}">
                <a16:creationId xmlns:a16="http://schemas.microsoft.com/office/drawing/2014/main" id="{6188AAA6-A2A9-4BAD-BF8F-08791CDA83D2}"/>
              </a:ext>
            </a:extLst>
          </p:cNvPr>
          <p:cNvSpPr/>
          <p:nvPr/>
        </p:nvSpPr>
        <p:spPr>
          <a:xfrm>
            <a:off x="9133983" y="3378960"/>
            <a:ext cx="1291988" cy="1555845"/>
          </a:xfrm>
          <a:prstGeom prst="roundRect">
            <a:avLst/>
          </a:prstGeom>
          <a:ln w="19050">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t>Adder</a:t>
            </a:r>
          </a:p>
        </p:txBody>
      </p:sp>
      <p:sp>
        <p:nvSpPr>
          <p:cNvPr id="32" name="TextBox 31">
            <a:extLst>
              <a:ext uri="{FF2B5EF4-FFF2-40B4-BE49-F238E27FC236}">
                <a16:creationId xmlns:a16="http://schemas.microsoft.com/office/drawing/2014/main" id="{0808524D-0108-444C-82EC-727CE5B66372}"/>
              </a:ext>
            </a:extLst>
          </p:cNvPr>
          <p:cNvSpPr txBox="1"/>
          <p:nvPr/>
        </p:nvSpPr>
        <p:spPr>
          <a:xfrm>
            <a:off x="8191514" y="3770197"/>
            <a:ext cx="317716" cy="369332"/>
          </a:xfrm>
          <a:prstGeom prst="rect">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txBody>
          <a:bodyPr wrap="square" rtlCol="0">
            <a:spAutoFit/>
          </a:bodyPr>
          <a:lstStyle/>
          <a:p>
            <a:r>
              <a:rPr lang="en-US"/>
              <a:t>A</a:t>
            </a:r>
          </a:p>
        </p:txBody>
      </p:sp>
      <p:cxnSp>
        <p:nvCxnSpPr>
          <p:cNvPr id="33" name="Straight Connector 32">
            <a:extLst>
              <a:ext uri="{FF2B5EF4-FFF2-40B4-BE49-F238E27FC236}">
                <a16:creationId xmlns:a16="http://schemas.microsoft.com/office/drawing/2014/main" id="{E534D5EF-DA5E-437B-950E-0DA5D8EB42B7}"/>
              </a:ext>
            </a:extLst>
          </p:cNvPr>
          <p:cNvCxnSpPr>
            <a:cxnSpLocks/>
            <a:stCxn id="32" idx="3"/>
          </p:cNvCxnSpPr>
          <p:nvPr/>
        </p:nvCxnSpPr>
        <p:spPr>
          <a:xfrm>
            <a:off x="8509230" y="3954863"/>
            <a:ext cx="634770" cy="3"/>
          </a:xfrm>
          <a:prstGeom prst="line">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E2A0E3F-5C6F-413E-B571-C573725EA7CA}"/>
              </a:ext>
            </a:extLst>
          </p:cNvPr>
          <p:cNvCxnSpPr>
            <a:cxnSpLocks/>
            <a:endCxn id="13" idx="3"/>
          </p:cNvCxnSpPr>
          <p:nvPr/>
        </p:nvCxnSpPr>
        <p:spPr>
          <a:xfrm flipH="1">
            <a:off x="8507259" y="4419509"/>
            <a:ext cx="626724" cy="17152"/>
          </a:xfrm>
          <a:prstGeom prst="line">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cxnSp>
      <p:sp>
        <p:nvSpPr>
          <p:cNvPr id="37" name="TextBox 36">
            <a:hlinkClick r:id="rId2" action="ppaction://hlinksldjump"/>
            <a:extLst>
              <a:ext uri="{FF2B5EF4-FFF2-40B4-BE49-F238E27FC236}">
                <a16:creationId xmlns:a16="http://schemas.microsoft.com/office/drawing/2014/main" id="{8C70B29B-A1AA-419A-A1E5-9C3574A02724}"/>
              </a:ext>
            </a:extLst>
          </p:cNvPr>
          <p:cNvSpPr txBox="1"/>
          <p:nvPr/>
        </p:nvSpPr>
        <p:spPr>
          <a:xfrm>
            <a:off x="8877871" y="5369261"/>
            <a:ext cx="1804212" cy="369332"/>
          </a:xfrm>
          <a:prstGeom prst="rect">
            <a:avLst/>
          </a:prstGeom>
          <a:noFill/>
          <a:ln w="19050">
            <a:solidFill>
              <a:srgbClr val="00B050"/>
            </a:solidFill>
          </a:ln>
        </p:spPr>
        <p:txBody>
          <a:bodyPr wrap="none" rtlCol="0">
            <a:spAutoFit/>
          </a:bodyPr>
          <a:lstStyle/>
          <a:p>
            <a:r>
              <a:rPr lang="en-US"/>
              <a:t>Carry-in to Adder</a:t>
            </a:r>
          </a:p>
        </p:txBody>
      </p:sp>
      <p:sp>
        <p:nvSpPr>
          <p:cNvPr id="38" name="TextBox 37">
            <a:extLst>
              <a:ext uri="{FF2B5EF4-FFF2-40B4-BE49-F238E27FC236}">
                <a16:creationId xmlns:a16="http://schemas.microsoft.com/office/drawing/2014/main" id="{93AEE484-5793-4871-BA0F-8885BAC963B2}"/>
              </a:ext>
            </a:extLst>
          </p:cNvPr>
          <p:cNvSpPr txBox="1"/>
          <p:nvPr/>
        </p:nvSpPr>
        <p:spPr>
          <a:xfrm>
            <a:off x="10781794" y="3833718"/>
            <a:ext cx="1334020" cy="646331"/>
          </a:xfrm>
          <a:prstGeom prst="rect">
            <a:avLst/>
          </a:prstGeom>
          <a:noFill/>
          <a:ln w="19050">
            <a:solidFill>
              <a:srgbClr val="00B050"/>
            </a:solidFill>
          </a:ln>
        </p:spPr>
        <p:txBody>
          <a:bodyPr wrap="none" rtlCol="0">
            <a:spAutoFit/>
          </a:bodyPr>
          <a:lstStyle/>
          <a:p>
            <a:r>
              <a:rPr lang="en-US"/>
              <a:t>Op Codes </a:t>
            </a:r>
          </a:p>
          <a:p>
            <a:r>
              <a:rPr lang="en-US"/>
              <a:t> ‘011’ , ‘111’</a:t>
            </a:r>
          </a:p>
        </p:txBody>
      </p:sp>
      <p:cxnSp>
        <p:nvCxnSpPr>
          <p:cNvPr id="40" name="Straight Arrow Connector 39">
            <a:extLst>
              <a:ext uri="{FF2B5EF4-FFF2-40B4-BE49-F238E27FC236}">
                <a16:creationId xmlns:a16="http://schemas.microsoft.com/office/drawing/2014/main" id="{11D9A533-B2E1-4E99-839B-C0B22633A8D6}"/>
              </a:ext>
            </a:extLst>
          </p:cNvPr>
          <p:cNvCxnSpPr>
            <a:cxnSpLocks/>
            <a:stCxn id="31" idx="3"/>
            <a:endCxn id="38" idx="1"/>
          </p:cNvCxnSpPr>
          <p:nvPr/>
        </p:nvCxnSpPr>
        <p:spPr>
          <a:xfrm>
            <a:off x="10425971" y="4156883"/>
            <a:ext cx="355823" cy="1"/>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FBDE018C-E352-43C9-B3D4-882DDE98A43F}"/>
              </a:ext>
            </a:extLst>
          </p:cNvPr>
          <p:cNvCxnSpPr>
            <a:cxnSpLocks/>
            <a:stCxn id="37" idx="0"/>
            <a:endCxn id="31" idx="2"/>
          </p:cNvCxnSpPr>
          <p:nvPr/>
        </p:nvCxnSpPr>
        <p:spPr>
          <a:xfrm flipV="1">
            <a:off x="9779977" y="4934805"/>
            <a:ext cx="0" cy="434456"/>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856E40C5-F41C-42FE-9C38-922CD5E56280}"/>
              </a:ext>
            </a:extLst>
          </p:cNvPr>
          <p:cNvSpPr txBox="1"/>
          <p:nvPr/>
        </p:nvSpPr>
        <p:spPr>
          <a:xfrm>
            <a:off x="4572000" y="2686313"/>
            <a:ext cx="3178884" cy="307777"/>
          </a:xfrm>
          <a:prstGeom prst="rect">
            <a:avLst/>
          </a:prstGeom>
          <a:noFill/>
          <a:ln>
            <a:noFill/>
          </a:ln>
        </p:spPr>
        <p:txBody>
          <a:bodyPr wrap="none" rtlCol="0">
            <a:spAutoFit/>
          </a:bodyPr>
          <a:lstStyle/>
          <a:p>
            <a:r>
              <a:rPr lang="en-US" sz="1400"/>
              <a:t>{Op =XX0, SF = 0} </a:t>
            </a:r>
            <a:r>
              <a:rPr lang="en-US" sz="1400">
                <a:sym typeface="Wingdings" panose="05000000000000000000" pitchFamily="2" charset="2"/>
              </a:rPr>
              <a:t> A XOR B; Else B or !B</a:t>
            </a:r>
            <a:endParaRPr lang="en-US" sz="1400"/>
          </a:p>
        </p:txBody>
      </p:sp>
      <p:sp>
        <p:nvSpPr>
          <p:cNvPr id="61" name="TextBox 60">
            <a:extLst>
              <a:ext uri="{FF2B5EF4-FFF2-40B4-BE49-F238E27FC236}">
                <a16:creationId xmlns:a16="http://schemas.microsoft.com/office/drawing/2014/main" id="{B7382AFC-4149-4C92-A81A-D9366F7771BB}"/>
              </a:ext>
            </a:extLst>
          </p:cNvPr>
          <p:cNvSpPr txBox="1"/>
          <p:nvPr/>
        </p:nvSpPr>
        <p:spPr>
          <a:xfrm>
            <a:off x="2739700" y="3007340"/>
            <a:ext cx="979114" cy="307777"/>
          </a:xfrm>
          <a:prstGeom prst="rect">
            <a:avLst/>
          </a:prstGeom>
          <a:noFill/>
          <a:ln>
            <a:solidFill>
              <a:schemeClr val="tx2"/>
            </a:solidFill>
          </a:ln>
        </p:spPr>
        <p:txBody>
          <a:bodyPr wrap="none" rtlCol="0">
            <a:spAutoFit/>
          </a:bodyPr>
          <a:lstStyle/>
          <a:p>
            <a:r>
              <a:rPr lang="en-US" sz="1400" err="1"/>
              <a:t>ALU_Op</a:t>
            </a:r>
            <a:r>
              <a:rPr lang="en-US" sz="1400"/>
              <a:t>[0]</a:t>
            </a:r>
          </a:p>
        </p:txBody>
      </p:sp>
      <p:pic>
        <p:nvPicPr>
          <p:cNvPr id="16" name="Picture 15" descr="A picture containing silhouette, clipart&#10;&#10;Description automatically generated">
            <a:extLst>
              <a:ext uri="{FF2B5EF4-FFF2-40B4-BE49-F238E27FC236}">
                <a16:creationId xmlns:a16="http://schemas.microsoft.com/office/drawing/2014/main" id="{BC8103A4-2A0A-46DB-A593-2BF4D6F56B85}"/>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rot="5400000">
            <a:off x="4028495" y="2594502"/>
            <a:ext cx="504959" cy="776860"/>
          </a:xfrm>
          <a:prstGeom prst="rect">
            <a:avLst/>
          </a:prstGeom>
        </p:spPr>
      </p:pic>
      <p:cxnSp>
        <p:nvCxnSpPr>
          <p:cNvPr id="30" name="Connector: Elbow 29">
            <a:extLst>
              <a:ext uri="{FF2B5EF4-FFF2-40B4-BE49-F238E27FC236}">
                <a16:creationId xmlns:a16="http://schemas.microsoft.com/office/drawing/2014/main" id="{0286F69D-F21E-4D60-9AA3-BD66E0D2087D}"/>
              </a:ext>
            </a:extLst>
          </p:cNvPr>
          <p:cNvCxnSpPr>
            <a:stCxn id="61" idx="3"/>
          </p:cNvCxnSpPr>
          <p:nvPr/>
        </p:nvCxnSpPr>
        <p:spPr>
          <a:xfrm flipV="1">
            <a:off x="3718814" y="3039478"/>
            <a:ext cx="295769" cy="12175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E1CFBA63-C9CE-4503-BFDD-894CEE698A4A}"/>
              </a:ext>
            </a:extLst>
          </p:cNvPr>
          <p:cNvCxnSpPr>
            <a:cxnSpLocks/>
            <a:stCxn id="5" idx="3"/>
          </p:cNvCxnSpPr>
          <p:nvPr/>
        </p:nvCxnSpPr>
        <p:spPr>
          <a:xfrm>
            <a:off x="3127948" y="2729258"/>
            <a:ext cx="875832" cy="161169"/>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3011F510-2AB5-4A50-8007-E6624EBC443B}"/>
              </a:ext>
            </a:extLst>
          </p:cNvPr>
          <p:cNvSpPr txBox="1"/>
          <p:nvPr/>
        </p:nvSpPr>
        <p:spPr>
          <a:xfrm>
            <a:off x="4923671" y="4008726"/>
            <a:ext cx="256802" cy="261610"/>
          </a:xfrm>
          <a:prstGeom prst="rect">
            <a:avLst/>
          </a:prstGeom>
          <a:noFill/>
        </p:spPr>
        <p:txBody>
          <a:bodyPr wrap="none" rtlCol="0">
            <a:spAutoFit/>
          </a:bodyPr>
          <a:lstStyle/>
          <a:p>
            <a:r>
              <a:rPr lang="en-US" sz="1100"/>
              <a:t>0</a:t>
            </a:r>
          </a:p>
        </p:txBody>
      </p:sp>
      <p:sp>
        <p:nvSpPr>
          <p:cNvPr id="49" name="TextBox 48">
            <a:extLst>
              <a:ext uri="{FF2B5EF4-FFF2-40B4-BE49-F238E27FC236}">
                <a16:creationId xmlns:a16="http://schemas.microsoft.com/office/drawing/2014/main" id="{6FCB5AA3-D0ED-4262-BF5A-46CE81C5C3CB}"/>
              </a:ext>
            </a:extLst>
          </p:cNvPr>
          <p:cNvSpPr txBox="1"/>
          <p:nvPr/>
        </p:nvSpPr>
        <p:spPr>
          <a:xfrm>
            <a:off x="4927509" y="4534315"/>
            <a:ext cx="256802" cy="261610"/>
          </a:xfrm>
          <a:prstGeom prst="rect">
            <a:avLst/>
          </a:prstGeom>
          <a:noFill/>
        </p:spPr>
        <p:txBody>
          <a:bodyPr wrap="none" rtlCol="0">
            <a:spAutoFit/>
          </a:bodyPr>
          <a:lstStyle/>
          <a:p>
            <a:r>
              <a:rPr lang="en-US" sz="1100"/>
              <a:t>1</a:t>
            </a:r>
          </a:p>
        </p:txBody>
      </p:sp>
      <p:pic>
        <p:nvPicPr>
          <p:cNvPr id="43" name="Picture 42" descr="A close up of the moon&#10;&#10;Description automatically generated with medium confidence">
            <a:extLst>
              <a:ext uri="{FF2B5EF4-FFF2-40B4-BE49-F238E27FC236}">
                <a16:creationId xmlns:a16="http://schemas.microsoft.com/office/drawing/2014/main" id="{41E8C965-7DF5-41F0-8632-31D5278F52AC}"/>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13972" r="27394"/>
          <a:stretch/>
        </p:blipFill>
        <p:spPr>
          <a:xfrm>
            <a:off x="5753627" y="4168529"/>
            <a:ext cx="861239" cy="529299"/>
          </a:xfrm>
          <a:prstGeom prst="rect">
            <a:avLst/>
          </a:prstGeom>
        </p:spPr>
      </p:pic>
      <p:sp>
        <p:nvSpPr>
          <p:cNvPr id="54" name="TextBox 53">
            <a:extLst>
              <a:ext uri="{FF2B5EF4-FFF2-40B4-BE49-F238E27FC236}">
                <a16:creationId xmlns:a16="http://schemas.microsoft.com/office/drawing/2014/main" id="{7AE057DB-982F-4F80-8754-E508C592BEE7}"/>
              </a:ext>
            </a:extLst>
          </p:cNvPr>
          <p:cNvSpPr txBox="1"/>
          <p:nvPr/>
        </p:nvSpPr>
        <p:spPr>
          <a:xfrm>
            <a:off x="6041967" y="4271226"/>
            <a:ext cx="401072" cy="369332"/>
          </a:xfrm>
          <a:prstGeom prst="rect">
            <a:avLst/>
          </a:prstGeom>
          <a:noFill/>
          <a:ln w="12700">
            <a:noFill/>
          </a:ln>
        </p:spPr>
        <p:txBody>
          <a:bodyPr wrap="square" rtlCol="0">
            <a:spAutoFit/>
          </a:bodyPr>
          <a:lstStyle/>
          <a:p>
            <a:r>
              <a:rPr lang="en-US"/>
              <a:t>x8</a:t>
            </a:r>
          </a:p>
        </p:txBody>
      </p:sp>
      <p:cxnSp>
        <p:nvCxnSpPr>
          <p:cNvPr id="50" name="Connector: Elbow 49">
            <a:extLst>
              <a:ext uri="{FF2B5EF4-FFF2-40B4-BE49-F238E27FC236}">
                <a16:creationId xmlns:a16="http://schemas.microsoft.com/office/drawing/2014/main" id="{C90E94C7-8EA6-455B-9A4F-A7AB2538B79A}"/>
              </a:ext>
            </a:extLst>
          </p:cNvPr>
          <p:cNvCxnSpPr>
            <a:cxnSpLocks/>
            <a:stCxn id="4" idx="0"/>
          </p:cNvCxnSpPr>
          <p:nvPr/>
        </p:nvCxnSpPr>
        <p:spPr>
          <a:xfrm>
            <a:off x="5399965" y="4436663"/>
            <a:ext cx="363083" cy="123029"/>
          </a:xfrm>
          <a:prstGeom prst="bentConnector3">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cxnSp>
      <p:pic>
        <p:nvPicPr>
          <p:cNvPr id="21" name="Picture 20">
            <a:hlinkClick r:id="rId7" action="ppaction://hlinksldjump"/>
            <a:extLst>
              <a:ext uri="{FF2B5EF4-FFF2-40B4-BE49-F238E27FC236}">
                <a16:creationId xmlns:a16="http://schemas.microsoft.com/office/drawing/2014/main" id="{BEBE75F0-C337-8774-9D6B-3C9AD1D388A5}"/>
              </a:ext>
            </a:extLst>
          </p:cNvPr>
          <p:cNvPicPr>
            <a:picLocks noChangeAspect="1"/>
          </p:cNvPicPr>
          <p:nvPr/>
        </p:nvPicPr>
        <p:blipFill>
          <a:blip r:embed="rId8"/>
          <a:stretch>
            <a:fillRect/>
          </a:stretch>
        </p:blipFill>
        <p:spPr>
          <a:xfrm>
            <a:off x="11038384" y="6427540"/>
            <a:ext cx="1076851" cy="222744"/>
          </a:xfrm>
          <a:prstGeom prst="rect">
            <a:avLst/>
          </a:prstGeom>
        </p:spPr>
      </p:pic>
      <p:sp>
        <p:nvSpPr>
          <p:cNvPr id="24" name="Slide Number Placeholder 4">
            <a:extLst>
              <a:ext uri="{FF2B5EF4-FFF2-40B4-BE49-F238E27FC236}">
                <a16:creationId xmlns:a16="http://schemas.microsoft.com/office/drawing/2014/main" id="{C09F1FAC-6C35-5C21-27A2-403E310A1B9C}"/>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106</a:t>
            </a:fld>
            <a:endParaRPr lang="en-US" b="1">
              <a:solidFill>
                <a:schemeClr val="bg1"/>
              </a:solidFill>
            </a:endParaRPr>
          </a:p>
        </p:txBody>
      </p:sp>
      <p:graphicFrame>
        <p:nvGraphicFramePr>
          <p:cNvPr id="25" name="Table 4">
            <a:extLst>
              <a:ext uri="{FF2B5EF4-FFF2-40B4-BE49-F238E27FC236}">
                <a16:creationId xmlns:a16="http://schemas.microsoft.com/office/drawing/2014/main" id="{109EEA80-3811-5D2A-17CC-45E7F9788228}"/>
              </a:ext>
            </a:extLst>
          </p:cNvPr>
          <p:cNvGraphicFramePr>
            <a:graphicFrameLocks noGrp="1"/>
          </p:cNvGraphicFramePr>
          <p:nvPr>
            <p:extLst>
              <p:ext uri="{D42A27DB-BD31-4B8C-83A1-F6EECF244321}">
                <p14:modId xmlns:p14="http://schemas.microsoft.com/office/powerpoint/2010/main" val="468615980"/>
              </p:ext>
            </p:extLst>
          </p:nvPr>
        </p:nvGraphicFramePr>
        <p:xfrm>
          <a:off x="5642015" y="34437"/>
          <a:ext cx="6106641" cy="1250628"/>
        </p:xfrm>
        <a:graphic>
          <a:graphicData uri="http://schemas.openxmlformats.org/drawingml/2006/table">
            <a:tbl>
              <a:tblPr firstRow="1" bandRow="1">
                <a:tableStyleId>{5C22544A-7EE6-4342-B048-85BDC9FD1C3A}</a:tableStyleId>
              </a:tblPr>
              <a:tblGrid>
                <a:gridCol w="878888">
                  <a:extLst>
                    <a:ext uri="{9D8B030D-6E8A-4147-A177-3AD203B41FA5}">
                      <a16:colId xmlns:a16="http://schemas.microsoft.com/office/drawing/2014/main" val="321351132"/>
                    </a:ext>
                  </a:extLst>
                </a:gridCol>
                <a:gridCol w="1145809">
                  <a:extLst>
                    <a:ext uri="{9D8B030D-6E8A-4147-A177-3AD203B41FA5}">
                      <a16:colId xmlns:a16="http://schemas.microsoft.com/office/drawing/2014/main" val="947167074"/>
                    </a:ext>
                  </a:extLst>
                </a:gridCol>
                <a:gridCol w="735663">
                  <a:extLst>
                    <a:ext uri="{9D8B030D-6E8A-4147-A177-3AD203B41FA5}">
                      <a16:colId xmlns:a16="http://schemas.microsoft.com/office/drawing/2014/main" val="1277270301"/>
                    </a:ext>
                  </a:extLst>
                </a:gridCol>
                <a:gridCol w="1367157">
                  <a:extLst>
                    <a:ext uri="{9D8B030D-6E8A-4147-A177-3AD203B41FA5}">
                      <a16:colId xmlns:a16="http://schemas.microsoft.com/office/drawing/2014/main" val="3038520054"/>
                    </a:ext>
                  </a:extLst>
                </a:gridCol>
                <a:gridCol w="781233">
                  <a:extLst>
                    <a:ext uri="{9D8B030D-6E8A-4147-A177-3AD203B41FA5}">
                      <a16:colId xmlns:a16="http://schemas.microsoft.com/office/drawing/2014/main" val="3406501913"/>
                    </a:ext>
                  </a:extLst>
                </a:gridCol>
                <a:gridCol w="1197891">
                  <a:extLst>
                    <a:ext uri="{9D8B030D-6E8A-4147-A177-3AD203B41FA5}">
                      <a16:colId xmlns:a16="http://schemas.microsoft.com/office/drawing/2014/main" val="3358223032"/>
                    </a:ext>
                  </a:extLst>
                </a:gridCol>
              </a:tblGrid>
              <a:tr h="312657">
                <a:tc>
                  <a:txBody>
                    <a:bodyPr/>
                    <a:lstStyle/>
                    <a:p>
                      <a:pPr algn="ctr"/>
                      <a:r>
                        <a:rPr lang="en-US" sz="1200"/>
                        <a:t>Op Select</a:t>
                      </a:r>
                    </a:p>
                  </a:txBody>
                  <a:tcPr/>
                </a:tc>
                <a:tc gridSpan="2">
                  <a:txBody>
                    <a:bodyPr/>
                    <a:lstStyle/>
                    <a:p>
                      <a:pPr algn="ctr"/>
                      <a:r>
                        <a:rPr lang="en-US" sz="1200"/>
                        <a:t>Special </a:t>
                      </a:r>
                      <a:r>
                        <a:rPr lang="en-US" sz="1200" err="1"/>
                        <a:t>Func</a:t>
                      </a:r>
                      <a:r>
                        <a:rPr lang="en-US" sz="1200"/>
                        <a:t>. = 0</a:t>
                      </a:r>
                    </a:p>
                  </a:txBody>
                  <a:tcPr/>
                </a:tc>
                <a:tc hMerge="1">
                  <a:txBody>
                    <a:bodyPr/>
                    <a:lstStyle/>
                    <a:p>
                      <a:endParaRPr lang="en-US"/>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Special </a:t>
                      </a:r>
                      <a:r>
                        <a:rPr lang="en-US" sz="1200" err="1"/>
                        <a:t>Func</a:t>
                      </a:r>
                      <a:r>
                        <a:rPr lang="en-US" sz="1200"/>
                        <a:t>. = 1</a:t>
                      </a:r>
                    </a:p>
                  </a:txBody>
                  <a:tcPr/>
                </a:tc>
                <a:tc hMerge="1">
                  <a:txBody>
                    <a:bodyPr/>
                    <a:lstStyle/>
                    <a:p>
                      <a:endParaRPr lang="en-US"/>
                    </a:p>
                  </a:txBody>
                  <a:tcPr/>
                </a:tc>
                <a:tc>
                  <a:txBody>
                    <a:bodyPr/>
                    <a:lstStyle/>
                    <a:p>
                      <a:pPr algn="ctr"/>
                      <a:r>
                        <a:rPr lang="en-US" sz="1200"/>
                        <a:t>Flag in</a:t>
                      </a:r>
                    </a:p>
                  </a:txBody>
                  <a:tcPr/>
                </a:tc>
                <a:extLst>
                  <a:ext uri="{0D108BD9-81ED-4DB2-BD59-A6C34878D82A}">
                    <a16:rowId xmlns:a16="http://schemas.microsoft.com/office/drawing/2014/main" val="1172704005"/>
                  </a:ext>
                </a:extLst>
              </a:tr>
              <a:tr h="312657">
                <a:tc>
                  <a:txBody>
                    <a:bodyPr/>
                    <a:lstStyle/>
                    <a:p>
                      <a:pPr algn="ctr"/>
                      <a:r>
                        <a:rPr lang="en-US" sz="1200"/>
                        <a:t>010 - 2</a:t>
                      </a:r>
                    </a:p>
                  </a:txBody>
                  <a:tcPr/>
                </a:tc>
                <a:tc>
                  <a:txBody>
                    <a:bodyPr/>
                    <a:lstStyle/>
                    <a:p>
                      <a:pPr algn="ctr"/>
                      <a:r>
                        <a:rPr lang="en-US" sz="1200" b="0">
                          <a:solidFill>
                            <a:schemeClr val="tx1"/>
                          </a:solidFill>
                        </a:rPr>
                        <a:t>A XOR B</a:t>
                      </a:r>
                    </a:p>
                  </a:txBody>
                  <a:tcPr>
                    <a:lnR w="12700" cap="flat" cmpd="sng" algn="ctr">
                      <a:solidFill>
                        <a:schemeClr val="bg1"/>
                      </a:solidFill>
                      <a:prstDash val="solid"/>
                      <a:round/>
                      <a:headEnd type="none" w="med" len="med"/>
                      <a:tailEnd type="none" w="med" len="med"/>
                    </a:lnR>
                  </a:tcPr>
                </a:tc>
                <a:tc>
                  <a:txBody>
                    <a:bodyPr/>
                    <a:lstStyle/>
                    <a:p>
                      <a:pPr algn="l"/>
                      <a:r>
                        <a:rPr lang="en-US" sz="1200" b="0">
                          <a:solidFill>
                            <a:schemeClr val="tx1"/>
                          </a:solidFill>
                        </a:rPr>
                        <a:t>XOR:  4</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200"/>
                        <a:t>!B</a:t>
                      </a:r>
                    </a:p>
                  </a:txBody>
                  <a:tcPr>
                    <a:lnR w="12700" cap="flat" cmpd="sng" algn="ctr">
                      <a:solidFill>
                        <a:schemeClr val="bg1"/>
                      </a:solidFill>
                      <a:prstDash val="solid"/>
                      <a:round/>
                      <a:headEnd type="none" w="med" len="med"/>
                      <a:tailEnd type="none" w="med" len="med"/>
                    </a:lnR>
                  </a:tcPr>
                </a:tc>
                <a:tc>
                  <a:txBody>
                    <a:bodyPr/>
                    <a:lstStyle/>
                    <a:p>
                      <a:pPr algn="l"/>
                      <a:r>
                        <a:rPr lang="en-US" sz="1200"/>
                        <a:t>NOT:  5</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200"/>
                        <a:t>-</a:t>
                      </a:r>
                    </a:p>
                  </a:txBody>
                  <a:tcPr/>
                </a:tc>
                <a:extLst>
                  <a:ext uri="{0D108BD9-81ED-4DB2-BD59-A6C34878D82A}">
                    <a16:rowId xmlns:a16="http://schemas.microsoft.com/office/drawing/2014/main" val="1360638868"/>
                  </a:ext>
                </a:extLst>
              </a:tr>
              <a:tr h="312657">
                <a:tc>
                  <a:txBody>
                    <a:bodyPr/>
                    <a:lstStyle/>
                    <a:p>
                      <a:pPr algn="ctr"/>
                      <a:r>
                        <a:rPr lang="en-US" sz="1200"/>
                        <a:t>011 - 3</a:t>
                      </a:r>
                    </a:p>
                  </a:txBody>
                  <a:tcPr/>
                </a:tc>
                <a:tc>
                  <a:txBody>
                    <a:bodyPr/>
                    <a:lstStyle/>
                    <a:p>
                      <a:pPr algn="ctr"/>
                      <a:r>
                        <a:rPr lang="en-US" sz="1200"/>
                        <a:t>A + B</a:t>
                      </a:r>
                    </a:p>
                  </a:txBody>
                  <a:tcPr>
                    <a:lnR w="12700" cap="flat" cmpd="sng" algn="ctr">
                      <a:solidFill>
                        <a:schemeClr val="bg1"/>
                      </a:solidFill>
                      <a:prstDash val="solid"/>
                      <a:round/>
                      <a:headEnd type="none" w="med" len="med"/>
                      <a:tailEnd type="none" w="med" len="med"/>
                    </a:lnR>
                  </a:tcPr>
                </a:tc>
                <a:tc>
                  <a:txBody>
                    <a:bodyPr/>
                    <a:lstStyle/>
                    <a:p>
                      <a:pPr algn="l"/>
                      <a:r>
                        <a:rPr lang="en-US" sz="1200"/>
                        <a:t>ADD:  6</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200"/>
                        <a:t>A – B</a:t>
                      </a:r>
                    </a:p>
                  </a:txBody>
                  <a:tcPr>
                    <a:lnR w="12700" cap="flat" cmpd="sng" algn="ctr">
                      <a:solidFill>
                        <a:schemeClr val="bg1"/>
                      </a:solidFill>
                      <a:prstDash val="solid"/>
                      <a:round/>
                      <a:headEnd type="none" w="med" len="med"/>
                      <a:tailEnd type="none" w="med" len="med"/>
                    </a:lnR>
                  </a:tcPr>
                </a:tc>
                <a:tc>
                  <a:txBody>
                    <a:bodyPr/>
                    <a:lstStyle/>
                    <a:p>
                      <a:pPr algn="l"/>
                      <a:r>
                        <a:rPr lang="en-US" sz="1200"/>
                        <a:t>SUB:  7</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200"/>
                        <a:t>- </a:t>
                      </a:r>
                    </a:p>
                  </a:txBody>
                  <a:tcPr/>
                </a:tc>
                <a:extLst>
                  <a:ext uri="{0D108BD9-81ED-4DB2-BD59-A6C34878D82A}">
                    <a16:rowId xmlns:a16="http://schemas.microsoft.com/office/drawing/2014/main" val="4155580310"/>
                  </a:ext>
                </a:extLst>
              </a:tr>
              <a:tr h="312657">
                <a:tc>
                  <a:txBody>
                    <a:bodyPr/>
                    <a:lstStyle/>
                    <a:p>
                      <a:pPr algn="ctr"/>
                      <a:r>
                        <a:rPr lang="en-US" sz="1200">
                          <a:solidFill>
                            <a:schemeClr val="tx1"/>
                          </a:solidFill>
                        </a:rPr>
                        <a:t>111- 7</a:t>
                      </a:r>
                    </a:p>
                  </a:txBody>
                  <a:tcPr/>
                </a:tc>
                <a:tc>
                  <a:txBody>
                    <a:bodyPr/>
                    <a:lstStyle/>
                    <a:p>
                      <a:pPr algn="ctr"/>
                      <a:r>
                        <a:rPr lang="en-US" sz="1200">
                          <a:solidFill>
                            <a:schemeClr val="tx1"/>
                          </a:solidFill>
                        </a:rPr>
                        <a:t>A + B + </a:t>
                      </a:r>
                      <a:r>
                        <a:rPr lang="en-US" sz="1200" err="1">
                          <a:solidFill>
                            <a:schemeClr val="tx1"/>
                          </a:solidFill>
                        </a:rPr>
                        <a:t>Cin</a:t>
                      </a:r>
                      <a:endParaRPr lang="en-US" sz="1200">
                        <a:solidFill>
                          <a:schemeClr val="tx1"/>
                        </a:solidFill>
                      </a:endParaRPr>
                    </a:p>
                  </a:txBody>
                  <a:tcPr>
                    <a:lnR w="12700" cap="flat" cmpd="sng" algn="ctr">
                      <a:solidFill>
                        <a:schemeClr val="bg1"/>
                      </a:solidFill>
                      <a:prstDash val="solid"/>
                      <a:round/>
                      <a:headEnd type="none" w="med" len="med"/>
                      <a:tailEnd type="none" w="med" len="med"/>
                    </a:lnR>
                  </a:tcPr>
                </a:tc>
                <a:tc>
                  <a:txBody>
                    <a:bodyPr/>
                    <a:lstStyle/>
                    <a:p>
                      <a:pPr algn="l"/>
                      <a:r>
                        <a:rPr lang="en-US" sz="1200">
                          <a:solidFill>
                            <a:schemeClr val="tx1"/>
                          </a:solidFill>
                        </a:rPr>
                        <a:t>ADC:  E </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200">
                          <a:solidFill>
                            <a:schemeClr val="tx1"/>
                          </a:solidFill>
                        </a:rPr>
                        <a:t>A – B + </a:t>
                      </a:r>
                      <a:r>
                        <a:rPr lang="en-US" sz="1200" err="1">
                          <a:solidFill>
                            <a:schemeClr val="tx1"/>
                          </a:solidFill>
                        </a:rPr>
                        <a:t>Cin</a:t>
                      </a:r>
                      <a:endParaRPr lang="en-US" sz="1200">
                        <a:solidFill>
                          <a:schemeClr val="tx1"/>
                        </a:solidFill>
                      </a:endParaRPr>
                    </a:p>
                  </a:txBody>
                  <a:tcPr>
                    <a:lnR w="12700" cap="flat" cmpd="sng" algn="ctr">
                      <a:solidFill>
                        <a:schemeClr val="bg1"/>
                      </a:solidFill>
                      <a:prstDash val="solid"/>
                      <a:round/>
                      <a:headEnd type="none" w="med" len="med"/>
                      <a:tailEnd type="none" w="med" len="med"/>
                    </a:lnR>
                  </a:tcPr>
                </a:tc>
                <a:tc>
                  <a:txBody>
                    <a:bodyPr/>
                    <a:lstStyle/>
                    <a:p>
                      <a:pPr algn="l"/>
                      <a:r>
                        <a:rPr lang="en-US" sz="1200">
                          <a:solidFill>
                            <a:schemeClr val="tx1"/>
                          </a:solidFill>
                        </a:rPr>
                        <a:t>SBC:  F</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200" err="1">
                          <a:solidFill>
                            <a:schemeClr val="tx1"/>
                          </a:solidFill>
                        </a:rPr>
                        <a:t>Cin</a:t>
                      </a:r>
                      <a:endParaRPr lang="en-US" sz="1200">
                        <a:solidFill>
                          <a:schemeClr val="tx1"/>
                        </a:solidFill>
                      </a:endParaRPr>
                    </a:p>
                  </a:txBody>
                  <a:tcPr/>
                </a:tc>
                <a:extLst>
                  <a:ext uri="{0D108BD9-81ED-4DB2-BD59-A6C34878D82A}">
                    <a16:rowId xmlns:a16="http://schemas.microsoft.com/office/drawing/2014/main" val="3768586301"/>
                  </a:ext>
                </a:extLst>
              </a:tr>
            </a:tbl>
          </a:graphicData>
        </a:graphic>
      </p:graphicFrame>
      <p:sp>
        <p:nvSpPr>
          <p:cNvPr id="34" name="TextBox 33">
            <a:extLst>
              <a:ext uri="{FF2B5EF4-FFF2-40B4-BE49-F238E27FC236}">
                <a16:creationId xmlns:a16="http://schemas.microsoft.com/office/drawing/2014/main" id="{27C1D059-2471-B892-4EDC-FB1D43B35318}"/>
              </a:ext>
            </a:extLst>
          </p:cNvPr>
          <p:cNvSpPr txBox="1"/>
          <p:nvPr/>
        </p:nvSpPr>
        <p:spPr>
          <a:xfrm>
            <a:off x="6097014" y="4762768"/>
            <a:ext cx="1272913" cy="307777"/>
          </a:xfrm>
          <a:prstGeom prst="rect">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txBody>
          <a:bodyPr wrap="none" rtlCol="0">
            <a:spAutoFit/>
          </a:bodyPr>
          <a:lstStyle/>
          <a:p>
            <a:r>
              <a:rPr lang="en-US" sz="1400"/>
              <a:t>!B or (A XOR B)</a:t>
            </a:r>
          </a:p>
        </p:txBody>
      </p:sp>
      <p:cxnSp>
        <p:nvCxnSpPr>
          <p:cNvPr id="44" name="Straight Arrow Connector 43">
            <a:extLst>
              <a:ext uri="{FF2B5EF4-FFF2-40B4-BE49-F238E27FC236}">
                <a16:creationId xmlns:a16="http://schemas.microsoft.com/office/drawing/2014/main" id="{360B2A36-2181-CD03-B027-4CADE717218C}"/>
              </a:ext>
            </a:extLst>
          </p:cNvPr>
          <p:cNvCxnSpPr>
            <a:cxnSpLocks/>
            <a:endCxn id="34" idx="0"/>
          </p:cNvCxnSpPr>
          <p:nvPr/>
        </p:nvCxnSpPr>
        <p:spPr>
          <a:xfrm>
            <a:off x="6706218" y="4419508"/>
            <a:ext cx="27253" cy="34326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7425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4F32E-4E0E-4074-BD84-B5CA9D9D5EF5}"/>
              </a:ext>
            </a:extLst>
          </p:cNvPr>
          <p:cNvSpPr>
            <a:spLocks noGrp="1"/>
          </p:cNvSpPr>
          <p:nvPr>
            <p:ph type="ctrTitle"/>
          </p:nvPr>
        </p:nvSpPr>
        <p:spPr>
          <a:prstGeom prst="rect">
            <a:avLst/>
          </a:prstGeom>
        </p:spPr>
        <p:txBody>
          <a:bodyPr/>
          <a:lstStyle/>
          <a:p>
            <a:r>
              <a:rPr lang="en-US"/>
              <a:t>ALU: ADD Carry/SUB Carry</a:t>
            </a:r>
          </a:p>
        </p:txBody>
      </p:sp>
      <p:sp>
        <p:nvSpPr>
          <p:cNvPr id="3" name="Subtitle 2">
            <a:extLst>
              <a:ext uri="{FF2B5EF4-FFF2-40B4-BE49-F238E27FC236}">
                <a16:creationId xmlns:a16="http://schemas.microsoft.com/office/drawing/2014/main" id="{A450D4A6-22F8-4A01-9F67-DAD78824A19B}"/>
              </a:ext>
            </a:extLst>
          </p:cNvPr>
          <p:cNvSpPr>
            <a:spLocks noGrp="1"/>
          </p:cNvSpPr>
          <p:nvPr>
            <p:ph type="subTitle" idx="4294967295"/>
          </p:nvPr>
        </p:nvSpPr>
        <p:spPr>
          <a:xfrm>
            <a:off x="0" y="1181101"/>
            <a:ext cx="9722840" cy="1655763"/>
          </a:xfrm>
          <a:prstGeom prst="rect">
            <a:avLst/>
          </a:prstGeom>
        </p:spPr>
        <p:txBody>
          <a:bodyPr/>
          <a:lstStyle/>
          <a:p>
            <a:pPr algn="l"/>
            <a:r>
              <a:rPr lang="en-US" sz="2000"/>
              <a:t>Note the difference between the ALU function opcodes for ADD / SUB and ADC / SBC:</a:t>
            </a:r>
          </a:p>
          <a:p>
            <a:pPr lvl="1"/>
            <a:r>
              <a:rPr lang="en-US" sz="1600"/>
              <a:t>ALU opcode(011), SF(0 / 1) – ADD/SUB</a:t>
            </a:r>
          </a:p>
          <a:p>
            <a:pPr lvl="1"/>
            <a:r>
              <a:rPr lang="en-US" sz="1600"/>
              <a:t>ALU opcode(111), SF(0 / 1) – ADC/SBC</a:t>
            </a:r>
          </a:p>
          <a:p>
            <a:pPr algn="l"/>
            <a:r>
              <a:rPr lang="en-US" sz="2000"/>
              <a:t>Note: The 6502 ISA only supports ADC/SBC (along with Set Carry and Reset Carry)</a:t>
            </a:r>
          </a:p>
        </p:txBody>
      </p:sp>
      <p:sp>
        <p:nvSpPr>
          <p:cNvPr id="4" name="Trapezoid 3">
            <a:extLst>
              <a:ext uri="{FF2B5EF4-FFF2-40B4-BE49-F238E27FC236}">
                <a16:creationId xmlns:a16="http://schemas.microsoft.com/office/drawing/2014/main" id="{7CC0352E-32EA-4403-9027-25A687992806}"/>
              </a:ext>
            </a:extLst>
          </p:cNvPr>
          <p:cNvSpPr/>
          <p:nvPr/>
        </p:nvSpPr>
        <p:spPr>
          <a:xfrm rot="5400000">
            <a:off x="6053817" y="4218297"/>
            <a:ext cx="1137313" cy="436728"/>
          </a:xfrm>
          <a:prstGeom prst="trapezoid">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157</a:t>
            </a:r>
          </a:p>
        </p:txBody>
      </p:sp>
      <p:sp>
        <p:nvSpPr>
          <p:cNvPr id="5" name="TextBox 4">
            <a:extLst>
              <a:ext uri="{FF2B5EF4-FFF2-40B4-BE49-F238E27FC236}">
                <a16:creationId xmlns:a16="http://schemas.microsoft.com/office/drawing/2014/main" id="{87DEF291-5B32-4602-9E11-1210D6DED3AF}"/>
              </a:ext>
            </a:extLst>
          </p:cNvPr>
          <p:cNvSpPr txBox="1"/>
          <p:nvPr/>
        </p:nvSpPr>
        <p:spPr>
          <a:xfrm>
            <a:off x="3651810" y="3330056"/>
            <a:ext cx="979114" cy="307777"/>
          </a:xfrm>
          <a:prstGeom prst="rect">
            <a:avLst/>
          </a:prstGeom>
          <a:noFill/>
          <a:ln>
            <a:solidFill>
              <a:schemeClr val="tx2"/>
            </a:solidFill>
          </a:ln>
        </p:spPr>
        <p:txBody>
          <a:bodyPr wrap="none" rtlCol="0">
            <a:spAutoFit/>
          </a:bodyPr>
          <a:lstStyle/>
          <a:p>
            <a:r>
              <a:rPr lang="en-US" sz="1400" err="1"/>
              <a:t>ALU_Op</a:t>
            </a:r>
            <a:r>
              <a:rPr lang="en-US" sz="1400"/>
              <a:t>[2]</a:t>
            </a:r>
          </a:p>
        </p:txBody>
      </p:sp>
      <p:cxnSp>
        <p:nvCxnSpPr>
          <p:cNvPr id="7" name="Connector: Elbow 6">
            <a:extLst>
              <a:ext uri="{FF2B5EF4-FFF2-40B4-BE49-F238E27FC236}">
                <a16:creationId xmlns:a16="http://schemas.microsoft.com/office/drawing/2014/main" id="{EEA55D6E-4AE3-4219-91D5-E37754E43008}"/>
              </a:ext>
            </a:extLst>
          </p:cNvPr>
          <p:cNvCxnSpPr>
            <a:stCxn id="5" idx="3"/>
            <a:endCxn id="4" idx="1"/>
          </p:cNvCxnSpPr>
          <p:nvPr/>
        </p:nvCxnSpPr>
        <p:spPr>
          <a:xfrm>
            <a:off x="4630924" y="3483945"/>
            <a:ext cx="1991550" cy="438651"/>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EA914CD-FA5E-4265-8DA8-4C4929259DE9}"/>
              </a:ext>
            </a:extLst>
          </p:cNvPr>
          <p:cNvSpPr txBox="1"/>
          <p:nvPr/>
        </p:nvSpPr>
        <p:spPr>
          <a:xfrm>
            <a:off x="3954574" y="4007177"/>
            <a:ext cx="396262" cy="369332"/>
          </a:xfrm>
          <a:prstGeom prst="rect">
            <a:avLst/>
          </a:prstGeom>
          <a:noFill/>
          <a:ln w="12700">
            <a:solidFill>
              <a:srgbClr val="00B050"/>
            </a:solidFill>
          </a:ln>
        </p:spPr>
        <p:txBody>
          <a:bodyPr wrap="none" rtlCol="0">
            <a:spAutoFit/>
          </a:bodyPr>
          <a:lstStyle>
            <a:defPPr>
              <a:defRPr lang="en-US"/>
            </a:defPPr>
          </a:lstStyle>
          <a:p>
            <a:r>
              <a:rPr lang="en-US"/>
              <a:t>SF</a:t>
            </a:r>
          </a:p>
        </p:txBody>
      </p:sp>
      <p:cxnSp>
        <p:nvCxnSpPr>
          <p:cNvPr id="10" name="Straight Connector 9">
            <a:extLst>
              <a:ext uri="{FF2B5EF4-FFF2-40B4-BE49-F238E27FC236}">
                <a16:creationId xmlns:a16="http://schemas.microsoft.com/office/drawing/2014/main" id="{722C0FF7-2BDC-494B-92C3-31E95AA2509F}"/>
              </a:ext>
            </a:extLst>
          </p:cNvPr>
          <p:cNvCxnSpPr>
            <a:cxnSpLocks/>
          </p:cNvCxnSpPr>
          <p:nvPr/>
        </p:nvCxnSpPr>
        <p:spPr>
          <a:xfrm flipV="1">
            <a:off x="4350837" y="4195971"/>
            <a:ext cx="2048961" cy="0"/>
          </a:xfrm>
          <a:prstGeom prst="line">
            <a:avLst/>
          </a:prstGeom>
          <a:noFill/>
          <a:ln w="12700">
            <a:solidFill>
              <a:srgbClr val="00B050"/>
            </a:solidFill>
          </a:ln>
        </p:spPr>
      </p:cxnSp>
      <p:sp>
        <p:nvSpPr>
          <p:cNvPr id="11" name="TextBox 10">
            <a:extLst>
              <a:ext uri="{FF2B5EF4-FFF2-40B4-BE49-F238E27FC236}">
                <a16:creationId xmlns:a16="http://schemas.microsoft.com/office/drawing/2014/main" id="{5145C8B6-8DE8-4DAF-A9C1-BE227B5FB6D7}"/>
              </a:ext>
            </a:extLst>
          </p:cNvPr>
          <p:cNvSpPr txBox="1"/>
          <p:nvPr/>
        </p:nvSpPr>
        <p:spPr>
          <a:xfrm>
            <a:off x="5069816" y="3874617"/>
            <a:ext cx="1071127" cy="369332"/>
          </a:xfrm>
          <a:prstGeom prst="rect">
            <a:avLst/>
          </a:prstGeom>
          <a:noFill/>
        </p:spPr>
        <p:txBody>
          <a:bodyPr wrap="none" rtlCol="0">
            <a:spAutoFit/>
          </a:bodyPr>
          <a:lstStyle/>
          <a:p>
            <a:r>
              <a:rPr lang="en-US"/>
              <a:t>ADD/SUB</a:t>
            </a:r>
          </a:p>
        </p:txBody>
      </p:sp>
      <p:cxnSp>
        <p:nvCxnSpPr>
          <p:cNvPr id="12" name="Straight Connector 11">
            <a:extLst>
              <a:ext uri="{FF2B5EF4-FFF2-40B4-BE49-F238E27FC236}">
                <a16:creationId xmlns:a16="http://schemas.microsoft.com/office/drawing/2014/main" id="{05ABD36F-CD81-485F-BD82-667169D17B59}"/>
              </a:ext>
            </a:extLst>
          </p:cNvPr>
          <p:cNvCxnSpPr>
            <a:cxnSpLocks/>
            <a:stCxn id="4" idx="0"/>
            <a:endCxn id="13" idx="1"/>
          </p:cNvCxnSpPr>
          <p:nvPr/>
        </p:nvCxnSpPr>
        <p:spPr>
          <a:xfrm flipV="1">
            <a:off x="6840838" y="4436661"/>
            <a:ext cx="557277" cy="1"/>
          </a:xfrm>
          <a:prstGeom prst="line">
            <a:avLst/>
          </a:prstGeom>
          <a:noFill/>
          <a:ln w="12700">
            <a:solidFill>
              <a:srgbClr val="00B050"/>
            </a:solidFill>
          </a:ln>
        </p:spPr>
      </p:cxnSp>
      <p:sp>
        <p:nvSpPr>
          <p:cNvPr id="13" name="TextBox 12">
            <a:hlinkClick r:id="rId2" action="ppaction://hlinksldjump"/>
            <a:extLst>
              <a:ext uri="{FF2B5EF4-FFF2-40B4-BE49-F238E27FC236}">
                <a16:creationId xmlns:a16="http://schemas.microsoft.com/office/drawing/2014/main" id="{CF67C1AC-AF45-4780-BB40-A6A2A587D6CD}"/>
              </a:ext>
            </a:extLst>
          </p:cNvPr>
          <p:cNvSpPr txBox="1"/>
          <p:nvPr/>
        </p:nvSpPr>
        <p:spPr>
          <a:xfrm>
            <a:off x="7398115" y="4251995"/>
            <a:ext cx="1804212" cy="369332"/>
          </a:xfrm>
          <a:prstGeom prst="rect">
            <a:avLst/>
          </a:prstGeom>
          <a:noFill/>
          <a:ln w="12700">
            <a:solidFill>
              <a:srgbClr val="00B050"/>
            </a:solidFill>
          </a:ln>
        </p:spPr>
        <p:txBody>
          <a:bodyPr wrap="none" rtlCol="0">
            <a:spAutoFit/>
          </a:bodyPr>
          <a:lstStyle/>
          <a:p>
            <a:r>
              <a:rPr lang="en-US"/>
              <a:t>Carry-in to Adder</a:t>
            </a:r>
          </a:p>
        </p:txBody>
      </p:sp>
      <p:sp>
        <p:nvSpPr>
          <p:cNvPr id="15" name="TextBox 14">
            <a:extLst>
              <a:ext uri="{FF2B5EF4-FFF2-40B4-BE49-F238E27FC236}">
                <a16:creationId xmlns:a16="http://schemas.microsoft.com/office/drawing/2014/main" id="{32CA9493-09C1-485B-B47D-AEF06F6BD4EC}"/>
              </a:ext>
            </a:extLst>
          </p:cNvPr>
          <p:cNvSpPr txBox="1"/>
          <p:nvPr/>
        </p:nvSpPr>
        <p:spPr>
          <a:xfrm>
            <a:off x="849746" y="4567512"/>
            <a:ext cx="3944017" cy="276999"/>
          </a:xfrm>
          <a:prstGeom prst="rect">
            <a:avLst/>
          </a:prstGeom>
          <a:noFill/>
          <a:ln>
            <a:solidFill>
              <a:schemeClr val="tx2"/>
            </a:solidFill>
          </a:ln>
        </p:spPr>
        <p:txBody>
          <a:bodyPr wrap="square" rtlCol="0">
            <a:spAutoFit/>
          </a:bodyPr>
          <a:lstStyle/>
          <a:p>
            <a:r>
              <a:rPr lang="en-US" sz="1200"/>
              <a:t>Carry-in from last Op (from carry bit in flags register)</a:t>
            </a:r>
          </a:p>
        </p:txBody>
      </p:sp>
      <p:cxnSp>
        <p:nvCxnSpPr>
          <p:cNvPr id="17" name="Straight Connector 16">
            <a:extLst>
              <a:ext uri="{FF2B5EF4-FFF2-40B4-BE49-F238E27FC236}">
                <a16:creationId xmlns:a16="http://schemas.microsoft.com/office/drawing/2014/main" id="{50CA7CB5-F919-4470-A0F5-0F8E76A116FC}"/>
              </a:ext>
            </a:extLst>
          </p:cNvPr>
          <p:cNvCxnSpPr>
            <a:cxnSpLocks/>
            <a:stCxn id="15" idx="3"/>
          </p:cNvCxnSpPr>
          <p:nvPr/>
        </p:nvCxnSpPr>
        <p:spPr>
          <a:xfrm flipV="1">
            <a:off x="4793763" y="4698317"/>
            <a:ext cx="1606034" cy="7695"/>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DCC921A-B7EB-4295-B511-CBB06E49B76F}"/>
              </a:ext>
            </a:extLst>
          </p:cNvPr>
          <p:cNvSpPr txBox="1"/>
          <p:nvPr/>
        </p:nvSpPr>
        <p:spPr>
          <a:xfrm>
            <a:off x="5072090" y="4395509"/>
            <a:ext cx="1027845" cy="369332"/>
          </a:xfrm>
          <a:prstGeom prst="rect">
            <a:avLst/>
          </a:prstGeom>
          <a:noFill/>
        </p:spPr>
        <p:txBody>
          <a:bodyPr wrap="none" rtlCol="0">
            <a:spAutoFit/>
          </a:bodyPr>
          <a:lstStyle/>
          <a:p>
            <a:r>
              <a:rPr lang="en-US"/>
              <a:t>ADC/SBC</a:t>
            </a:r>
          </a:p>
        </p:txBody>
      </p:sp>
      <p:sp>
        <p:nvSpPr>
          <p:cNvPr id="21" name="TextBox 20">
            <a:extLst>
              <a:ext uri="{FF2B5EF4-FFF2-40B4-BE49-F238E27FC236}">
                <a16:creationId xmlns:a16="http://schemas.microsoft.com/office/drawing/2014/main" id="{F5C57A44-C7A6-4392-AC60-D41ED74FB224}"/>
              </a:ext>
            </a:extLst>
          </p:cNvPr>
          <p:cNvSpPr txBox="1"/>
          <p:nvPr/>
        </p:nvSpPr>
        <p:spPr>
          <a:xfrm>
            <a:off x="6166659" y="3882663"/>
            <a:ext cx="301686" cy="369332"/>
          </a:xfrm>
          <a:prstGeom prst="rect">
            <a:avLst/>
          </a:prstGeom>
          <a:noFill/>
        </p:spPr>
        <p:txBody>
          <a:bodyPr wrap="none" rtlCol="0">
            <a:spAutoFit/>
          </a:bodyPr>
          <a:lstStyle/>
          <a:p>
            <a:r>
              <a:rPr lang="en-US"/>
              <a:t>0</a:t>
            </a:r>
          </a:p>
        </p:txBody>
      </p:sp>
      <p:sp>
        <p:nvSpPr>
          <p:cNvPr id="22" name="TextBox 21">
            <a:extLst>
              <a:ext uri="{FF2B5EF4-FFF2-40B4-BE49-F238E27FC236}">
                <a16:creationId xmlns:a16="http://schemas.microsoft.com/office/drawing/2014/main" id="{CC590561-ED9A-458B-A482-7ACEC3A262F8}"/>
              </a:ext>
            </a:extLst>
          </p:cNvPr>
          <p:cNvSpPr txBox="1"/>
          <p:nvPr/>
        </p:nvSpPr>
        <p:spPr>
          <a:xfrm>
            <a:off x="6154685" y="4362529"/>
            <a:ext cx="301686" cy="369332"/>
          </a:xfrm>
          <a:prstGeom prst="rect">
            <a:avLst/>
          </a:prstGeom>
          <a:noFill/>
        </p:spPr>
        <p:txBody>
          <a:bodyPr wrap="none" rtlCol="0">
            <a:spAutoFit/>
          </a:bodyPr>
          <a:lstStyle/>
          <a:p>
            <a:r>
              <a:rPr lang="en-US"/>
              <a:t>1</a:t>
            </a:r>
          </a:p>
        </p:txBody>
      </p:sp>
      <p:pic>
        <p:nvPicPr>
          <p:cNvPr id="6" name="Picture 5">
            <a:hlinkClick r:id="rId3" action="ppaction://hlinksldjump"/>
            <a:extLst>
              <a:ext uri="{FF2B5EF4-FFF2-40B4-BE49-F238E27FC236}">
                <a16:creationId xmlns:a16="http://schemas.microsoft.com/office/drawing/2014/main" id="{CBC7497A-1E15-E5C6-19D5-2A80923578E4}"/>
              </a:ext>
            </a:extLst>
          </p:cNvPr>
          <p:cNvPicPr>
            <a:picLocks noChangeAspect="1"/>
          </p:cNvPicPr>
          <p:nvPr/>
        </p:nvPicPr>
        <p:blipFill>
          <a:blip r:embed="rId4"/>
          <a:stretch>
            <a:fillRect/>
          </a:stretch>
        </p:blipFill>
        <p:spPr>
          <a:xfrm>
            <a:off x="11038384" y="6427540"/>
            <a:ext cx="1076851" cy="222744"/>
          </a:xfrm>
          <a:prstGeom prst="rect">
            <a:avLst/>
          </a:prstGeom>
        </p:spPr>
      </p:pic>
      <p:sp>
        <p:nvSpPr>
          <p:cNvPr id="14" name="Slide Number Placeholder 4">
            <a:extLst>
              <a:ext uri="{FF2B5EF4-FFF2-40B4-BE49-F238E27FC236}">
                <a16:creationId xmlns:a16="http://schemas.microsoft.com/office/drawing/2014/main" id="{9A3952A2-2DF4-2386-64D0-4D5FC44A787D}"/>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107</a:t>
            </a:fld>
            <a:endParaRPr lang="en-US" b="1">
              <a:solidFill>
                <a:schemeClr val="bg1"/>
              </a:solidFill>
            </a:endParaRPr>
          </a:p>
        </p:txBody>
      </p:sp>
    </p:spTree>
    <p:extLst>
      <p:ext uri="{BB962C8B-B14F-4D97-AF65-F5344CB8AC3E}">
        <p14:creationId xmlns:p14="http://schemas.microsoft.com/office/powerpoint/2010/main" val="686519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 name="Picture 56" descr="Diagram&#10;&#10;Description automatically generated with low confidence">
            <a:extLst>
              <a:ext uri="{FF2B5EF4-FFF2-40B4-BE49-F238E27FC236}">
                <a16:creationId xmlns:a16="http://schemas.microsoft.com/office/drawing/2014/main" id="{12E78568-8857-CE34-781B-3DA989D75A5D}"/>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r="58979" b="28024"/>
          <a:stretch/>
        </p:blipFill>
        <p:spPr>
          <a:xfrm>
            <a:off x="3153884" y="5193446"/>
            <a:ext cx="563747" cy="386751"/>
          </a:xfrm>
          <a:prstGeom prst="rect">
            <a:avLst/>
          </a:prstGeom>
          <a:solidFill>
            <a:schemeClr val="bg1"/>
          </a:solidFill>
        </p:spPr>
      </p:pic>
      <p:sp>
        <p:nvSpPr>
          <p:cNvPr id="106" name="Rectangle 105">
            <a:extLst>
              <a:ext uri="{FF2B5EF4-FFF2-40B4-BE49-F238E27FC236}">
                <a16:creationId xmlns:a16="http://schemas.microsoft.com/office/drawing/2014/main" id="{6CA3F9AB-473D-4843-A447-4D0724F39502}"/>
              </a:ext>
            </a:extLst>
          </p:cNvPr>
          <p:cNvSpPr/>
          <p:nvPr/>
        </p:nvSpPr>
        <p:spPr>
          <a:xfrm>
            <a:off x="8522254" y="3981843"/>
            <a:ext cx="139804" cy="2805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Picture 52">
            <a:extLst>
              <a:ext uri="{FF2B5EF4-FFF2-40B4-BE49-F238E27FC236}">
                <a16:creationId xmlns:a16="http://schemas.microsoft.com/office/drawing/2014/main" id="{9E4FFC7B-2818-49AF-601C-FFCA92B8AF31}"/>
              </a:ext>
            </a:extLst>
          </p:cNvPr>
          <p:cNvPicPr>
            <a:picLocks noChangeAspect="1"/>
          </p:cNvPicPr>
          <p:nvPr/>
        </p:nvPicPr>
        <p:blipFill>
          <a:blip r:embed="rId5"/>
          <a:stretch>
            <a:fillRect/>
          </a:stretch>
        </p:blipFill>
        <p:spPr>
          <a:xfrm>
            <a:off x="8243784" y="3823026"/>
            <a:ext cx="2361877" cy="1697599"/>
          </a:xfrm>
          <a:prstGeom prst="rect">
            <a:avLst/>
          </a:prstGeom>
        </p:spPr>
      </p:pic>
      <p:sp>
        <p:nvSpPr>
          <p:cNvPr id="90" name="Rectangle 89">
            <a:extLst>
              <a:ext uri="{FF2B5EF4-FFF2-40B4-BE49-F238E27FC236}">
                <a16:creationId xmlns:a16="http://schemas.microsoft.com/office/drawing/2014/main" id="{163C2A2D-055A-464A-865B-600933103B3B}"/>
              </a:ext>
            </a:extLst>
          </p:cNvPr>
          <p:cNvSpPr/>
          <p:nvPr/>
        </p:nvSpPr>
        <p:spPr>
          <a:xfrm>
            <a:off x="4134821" y="4278626"/>
            <a:ext cx="263979" cy="1926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9BE396E5-0BAD-297C-B1A0-7FBBA301D6C3}"/>
              </a:ext>
            </a:extLst>
          </p:cNvPr>
          <p:cNvSpPr>
            <a:spLocks noGrp="1"/>
          </p:cNvSpPr>
          <p:nvPr>
            <p:ph type="ctrTitle"/>
          </p:nvPr>
        </p:nvSpPr>
        <p:spPr/>
        <p:txBody>
          <a:bodyPr/>
          <a:lstStyle/>
          <a:p>
            <a:r>
              <a:rPr lang="en-US"/>
              <a:t>SRAM (v1.0)</a:t>
            </a:r>
          </a:p>
        </p:txBody>
      </p:sp>
      <p:cxnSp>
        <p:nvCxnSpPr>
          <p:cNvPr id="29" name="Connector: Elbow 28">
            <a:extLst>
              <a:ext uri="{FF2B5EF4-FFF2-40B4-BE49-F238E27FC236}">
                <a16:creationId xmlns:a16="http://schemas.microsoft.com/office/drawing/2014/main" id="{129977F3-12C1-4E86-9B33-54867C51DDAF}"/>
              </a:ext>
            </a:extLst>
          </p:cNvPr>
          <p:cNvCxnSpPr>
            <a:cxnSpLocks/>
          </p:cNvCxnSpPr>
          <p:nvPr/>
        </p:nvCxnSpPr>
        <p:spPr>
          <a:xfrm>
            <a:off x="1896568" y="2843219"/>
            <a:ext cx="2427413" cy="57559"/>
          </a:xfrm>
          <a:prstGeom prst="bentConnector3">
            <a:avLst>
              <a:gd name="adj1" fmla="val 50000"/>
            </a:avLst>
          </a:prstGeom>
        </p:spPr>
        <p:style>
          <a:lnRef idx="3">
            <a:schemeClr val="accent1"/>
          </a:lnRef>
          <a:fillRef idx="0">
            <a:schemeClr val="accent1"/>
          </a:fillRef>
          <a:effectRef idx="2">
            <a:schemeClr val="accent1"/>
          </a:effectRef>
          <a:fontRef idx="minor">
            <a:schemeClr val="tx1"/>
          </a:fontRef>
        </p:style>
      </p:cxnSp>
      <p:sp>
        <p:nvSpPr>
          <p:cNvPr id="1040" name="Rectangle 1039">
            <a:extLst>
              <a:ext uri="{FF2B5EF4-FFF2-40B4-BE49-F238E27FC236}">
                <a16:creationId xmlns:a16="http://schemas.microsoft.com/office/drawing/2014/main" id="{3036A34F-87E3-4CAD-910D-E76DFED40169}"/>
              </a:ext>
            </a:extLst>
          </p:cNvPr>
          <p:cNvSpPr/>
          <p:nvPr/>
        </p:nvSpPr>
        <p:spPr>
          <a:xfrm>
            <a:off x="11650779" y="616917"/>
            <a:ext cx="282975" cy="5624169"/>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t>Data </a:t>
            </a:r>
          </a:p>
          <a:p>
            <a:pPr algn="ctr"/>
            <a:endParaRPr lang="en-US"/>
          </a:p>
          <a:p>
            <a:pPr algn="ctr"/>
            <a:r>
              <a:rPr lang="en-US"/>
              <a:t>  Bus </a:t>
            </a:r>
          </a:p>
        </p:txBody>
      </p:sp>
      <p:sp>
        <p:nvSpPr>
          <p:cNvPr id="1041" name="Arrow: Right 1040">
            <a:extLst>
              <a:ext uri="{FF2B5EF4-FFF2-40B4-BE49-F238E27FC236}">
                <a16:creationId xmlns:a16="http://schemas.microsoft.com/office/drawing/2014/main" id="{03BC82A9-0CCA-495F-9129-5488E23B9914}"/>
              </a:ext>
            </a:extLst>
          </p:cNvPr>
          <p:cNvSpPr/>
          <p:nvPr/>
        </p:nvSpPr>
        <p:spPr>
          <a:xfrm rot="5400000">
            <a:off x="5557003" y="3450203"/>
            <a:ext cx="730120"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nvGrpSpPr>
          <p:cNvPr id="33" name="Group 32">
            <a:extLst>
              <a:ext uri="{FF2B5EF4-FFF2-40B4-BE49-F238E27FC236}">
                <a16:creationId xmlns:a16="http://schemas.microsoft.com/office/drawing/2014/main" id="{7D714B78-7FD0-4189-BB34-07277365EFDF}"/>
              </a:ext>
            </a:extLst>
          </p:cNvPr>
          <p:cNvGrpSpPr/>
          <p:nvPr/>
        </p:nvGrpSpPr>
        <p:grpSpPr>
          <a:xfrm>
            <a:off x="4153295" y="3815263"/>
            <a:ext cx="3504723" cy="1325059"/>
            <a:chOff x="6995145" y="1644272"/>
            <a:chExt cx="4445078" cy="1663589"/>
          </a:xfrm>
        </p:grpSpPr>
        <p:pic>
          <p:nvPicPr>
            <p:cNvPr id="34" name="Picture 33">
              <a:extLst>
                <a:ext uri="{FF2B5EF4-FFF2-40B4-BE49-F238E27FC236}">
                  <a16:creationId xmlns:a16="http://schemas.microsoft.com/office/drawing/2014/main" id="{7256496B-56A3-4945-8BD4-9B59C9754888}"/>
                </a:ext>
              </a:extLst>
            </p:cNvPr>
            <p:cNvPicPr>
              <a:picLocks noChangeAspect="1"/>
            </p:cNvPicPr>
            <p:nvPr/>
          </p:nvPicPr>
          <p:blipFill>
            <a:blip r:embed="rId6"/>
            <a:stretch>
              <a:fillRect/>
            </a:stretch>
          </p:blipFill>
          <p:spPr>
            <a:xfrm>
              <a:off x="6995145" y="2117968"/>
              <a:ext cx="4445078" cy="1189893"/>
            </a:xfrm>
            <a:prstGeom prst="rect">
              <a:avLst/>
            </a:prstGeom>
            <a:ln>
              <a:solidFill>
                <a:schemeClr val="accent1">
                  <a:lumMod val="75000"/>
                </a:schemeClr>
              </a:solidFill>
            </a:ln>
          </p:spPr>
        </p:pic>
        <p:sp>
          <p:nvSpPr>
            <p:cNvPr id="35" name="TextBox 34">
              <a:extLst>
                <a:ext uri="{FF2B5EF4-FFF2-40B4-BE49-F238E27FC236}">
                  <a16:creationId xmlns:a16="http://schemas.microsoft.com/office/drawing/2014/main" id="{47F5E05F-6C74-49DA-BC3E-E4F34FF49762}"/>
                </a:ext>
              </a:extLst>
            </p:cNvPr>
            <p:cNvSpPr txBox="1"/>
            <p:nvPr/>
          </p:nvSpPr>
          <p:spPr>
            <a:xfrm>
              <a:off x="6995145" y="1644272"/>
              <a:ext cx="1346222" cy="463690"/>
            </a:xfrm>
            <a:prstGeom prst="rect">
              <a:avLst/>
            </a:prstGeom>
            <a:noFill/>
            <a:ln>
              <a:solidFill>
                <a:schemeClr val="accent1">
                  <a:lumMod val="75000"/>
                </a:schemeClr>
              </a:solidFill>
            </a:ln>
          </p:spPr>
          <p:txBody>
            <a:bodyPr wrap="square" rtlCol="0">
              <a:spAutoFit/>
            </a:bodyPr>
            <a:lstStyle/>
            <a:p>
              <a:r>
                <a:rPr lang="en-US"/>
                <a:t>374 </a:t>
              </a:r>
              <a:r>
                <a:rPr lang="en-US" err="1"/>
                <a:t>Addr</a:t>
              </a:r>
              <a:endParaRPr lang="en-US"/>
            </a:p>
          </p:txBody>
        </p:sp>
      </p:grpSp>
      <p:sp>
        <p:nvSpPr>
          <p:cNvPr id="13" name="Rectangle 12">
            <a:extLst>
              <a:ext uri="{FF2B5EF4-FFF2-40B4-BE49-F238E27FC236}">
                <a16:creationId xmlns:a16="http://schemas.microsoft.com/office/drawing/2014/main" id="{E65CCB4C-F297-416E-B26F-5F0C6127487A}"/>
              </a:ext>
            </a:extLst>
          </p:cNvPr>
          <p:cNvSpPr/>
          <p:nvPr/>
        </p:nvSpPr>
        <p:spPr>
          <a:xfrm>
            <a:off x="5828146" y="3269671"/>
            <a:ext cx="5822633" cy="193964"/>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39" name="Connector: Elbow 38">
            <a:extLst>
              <a:ext uri="{FF2B5EF4-FFF2-40B4-BE49-F238E27FC236}">
                <a16:creationId xmlns:a16="http://schemas.microsoft.com/office/drawing/2014/main" id="{DBFBD2C3-B7CD-4D91-AFD5-FFD3010E1E04}"/>
              </a:ext>
            </a:extLst>
          </p:cNvPr>
          <p:cNvCxnSpPr>
            <a:cxnSpLocks/>
            <a:stCxn id="55" idx="3"/>
          </p:cNvCxnSpPr>
          <p:nvPr/>
        </p:nvCxnSpPr>
        <p:spPr>
          <a:xfrm flipV="1">
            <a:off x="1651635" y="4933841"/>
            <a:ext cx="2560147" cy="452327"/>
          </a:xfrm>
          <a:prstGeom prst="bentConnector3">
            <a:avLst/>
          </a:prstGeom>
        </p:spPr>
        <p:style>
          <a:lnRef idx="3">
            <a:schemeClr val="accent1"/>
          </a:lnRef>
          <a:fillRef idx="0">
            <a:schemeClr val="accent1"/>
          </a:fillRef>
          <a:effectRef idx="2">
            <a:schemeClr val="accent1"/>
          </a:effectRef>
          <a:fontRef idx="minor">
            <a:schemeClr val="tx1"/>
          </a:fontRef>
        </p:style>
      </p:cxnSp>
      <p:sp>
        <p:nvSpPr>
          <p:cNvPr id="16" name="Arrow: Left-Right 15">
            <a:extLst>
              <a:ext uri="{FF2B5EF4-FFF2-40B4-BE49-F238E27FC236}">
                <a16:creationId xmlns:a16="http://schemas.microsoft.com/office/drawing/2014/main" id="{47BEA703-448D-4E43-ABA5-04151F81CF6A}"/>
              </a:ext>
            </a:extLst>
          </p:cNvPr>
          <p:cNvSpPr/>
          <p:nvPr/>
        </p:nvSpPr>
        <p:spPr>
          <a:xfrm>
            <a:off x="10543469" y="4467006"/>
            <a:ext cx="1107311" cy="346929"/>
          </a:xfrm>
          <a:prstGeom prst="lef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a:t>I/O[0:7]</a:t>
            </a:r>
          </a:p>
        </p:txBody>
      </p:sp>
      <p:sp>
        <p:nvSpPr>
          <p:cNvPr id="41" name="Arrow: Right 40">
            <a:extLst>
              <a:ext uri="{FF2B5EF4-FFF2-40B4-BE49-F238E27FC236}">
                <a16:creationId xmlns:a16="http://schemas.microsoft.com/office/drawing/2014/main" id="{670A894D-9CC8-4574-A070-3F6539D1684B}"/>
              </a:ext>
            </a:extLst>
          </p:cNvPr>
          <p:cNvSpPr/>
          <p:nvPr/>
        </p:nvSpPr>
        <p:spPr>
          <a:xfrm rot="16200000">
            <a:off x="8769392" y="5492530"/>
            <a:ext cx="730120"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42" name="Rectangle 41">
            <a:extLst>
              <a:ext uri="{FF2B5EF4-FFF2-40B4-BE49-F238E27FC236}">
                <a16:creationId xmlns:a16="http://schemas.microsoft.com/office/drawing/2014/main" id="{8FB53C3D-78EF-4339-81F5-BF0078D0D5D5}"/>
              </a:ext>
            </a:extLst>
          </p:cNvPr>
          <p:cNvSpPr/>
          <p:nvPr/>
        </p:nvSpPr>
        <p:spPr>
          <a:xfrm>
            <a:off x="5931355" y="5869251"/>
            <a:ext cx="3291840" cy="193964"/>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a:t>Q[1:8] </a:t>
            </a:r>
            <a:r>
              <a:rPr lang="en-US" sz="1400">
                <a:sym typeface="Wingdings" panose="05000000000000000000" pitchFamily="2" charset="2"/>
              </a:rPr>
              <a:t> A[0:7]</a:t>
            </a:r>
            <a:endParaRPr lang="en-US" sz="1400"/>
          </a:p>
        </p:txBody>
      </p:sp>
      <p:sp>
        <p:nvSpPr>
          <p:cNvPr id="43" name="Rectangle 42">
            <a:extLst>
              <a:ext uri="{FF2B5EF4-FFF2-40B4-BE49-F238E27FC236}">
                <a16:creationId xmlns:a16="http://schemas.microsoft.com/office/drawing/2014/main" id="{F9A4CBE4-6B5B-4DF7-903A-4AA23DB9573A}"/>
              </a:ext>
            </a:extLst>
          </p:cNvPr>
          <p:cNvSpPr/>
          <p:nvPr/>
        </p:nvSpPr>
        <p:spPr>
          <a:xfrm rot="5400000">
            <a:off x="5666012" y="5600135"/>
            <a:ext cx="731520" cy="193964"/>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45" name="Connector: Elbow 44">
            <a:extLst>
              <a:ext uri="{FF2B5EF4-FFF2-40B4-BE49-F238E27FC236}">
                <a16:creationId xmlns:a16="http://schemas.microsoft.com/office/drawing/2014/main" id="{16BEE181-B480-478B-8F3D-AD2231F43B97}"/>
              </a:ext>
            </a:extLst>
          </p:cNvPr>
          <p:cNvCxnSpPr>
            <a:cxnSpLocks/>
          </p:cNvCxnSpPr>
          <p:nvPr/>
        </p:nvCxnSpPr>
        <p:spPr>
          <a:xfrm flipV="1">
            <a:off x="1896569" y="2347453"/>
            <a:ext cx="2479057" cy="2635"/>
          </a:xfrm>
          <a:prstGeom prst="bentConnector3">
            <a:avLst>
              <a:gd name="adj1" fmla="val 50000"/>
            </a:avLst>
          </a:prstGeom>
        </p:spPr>
        <p:style>
          <a:lnRef idx="3">
            <a:schemeClr val="accent1"/>
          </a:lnRef>
          <a:fillRef idx="0">
            <a:schemeClr val="accent1"/>
          </a:fillRef>
          <a:effectRef idx="2">
            <a:schemeClr val="accent1"/>
          </a:effectRef>
          <a:fontRef idx="minor">
            <a:schemeClr val="tx1"/>
          </a:fontRef>
        </p:style>
      </p:cxnSp>
      <p:sp>
        <p:nvSpPr>
          <p:cNvPr id="52" name="TextBox 51">
            <a:extLst>
              <a:ext uri="{FF2B5EF4-FFF2-40B4-BE49-F238E27FC236}">
                <a16:creationId xmlns:a16="http://schemas.microsoft.com/office/drawing/2014/main" id="{99F290C2-C8B7-40C5-A0EF-51BA9B2A43C6}"/>
              </a:ext>
            </a:extLst>
          </p:cNvPr>
          <p:cNvSpPr txBox="1"/>
          <p:nvPr/>
        </p:nvSpPr>
        <p:spPr>
          <a:xfrm>
            <a:off x="1580359" y="1682022"/>
            <a:ext cx="489236" cy="261610"/>
          </a:xfrm>
          <a:prstGeom prst="rect">
            <a:avLst/>
          </a:prstGeom>
          <a:noFill/>
          <a:ln>
            <a:solidFill>
              <a:schemeClr val="accent1">
                <a:lumMod val="75000"/>
              </a:schemeClr>
            </a:solidFill>
          </a:ln>
        </p:spPr>
        <p:txBody>
          <a:bodyPr wrap="none" rtlCol="0">
            <a:spAutoFit/>
          </a:bodyPr>
          <a:lstStyle/>
          <a:p>
            <a:r>
              <a:rPr lang="en-US" sz="1100"/>
              <a:t>Clock</a:t>
            </a:r>
          </a:p>
        </p:txBody>
      </p:sp>
      <p:cxnSp>
        <p:nvCxnSpPr>
          <p:cNvPr id="61" name="Connector: Elbow 60">
            <a:extLst>
              <a:ext uri="{FF2B5EF4-FFF2-40B4-BE49-F238E27FC236}">
                <a16:creationId xmlns:a16="http://schemas.microsoft.com/office/drawing/2014/main" id="{DEE59C2D-2835-4266-AED4-024A4C327EF2}"/>
              </a:ext>
            </a:extLst>
          </p:cNvPr>
          <p:cNvCxnSpPr>
            <a:cxnSpLocks/>
            <a:stCxn id="101" idx="3"/>
          </p:cNvCxnSpPr>
          <p:nvPr/>
        </p:nvCxnSpPr>
        <p:spPr>
          <a:xfrm>
            <a:off x="3446233" y="2062159"/>
            <a:ext cx="1054215" cy="553784"/>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pic>
        <p:nvPicPr>
          <p:cNvPr id="87" name="Picture 86" descr="Diagram&#10;&#10;Description automatically generated with low confidence">
            <a:extLst>
              <a:ext uri="{FF2B5EF4-FFF2-40B4-BE49-F238E27FC236}">
                <a16:creationId xmlns:a16="http://schemas.microsoft.com/office/drawing/2014/main" id="{B3DB05E3-F95D-4C94-A16C-A17A41377AC3}"/>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r="58979" b="28024"/>
          <a:stretch/>
        </p:blipFill>
        <p:spPr>
          <a:xfrm>
            <a:off x="8217944" y="1144002"/>
            <a:ext cx="563747" cy="386751"/>
          </a:xfrm>
          <a:prstGeom prst="rect">
            <a:avLst/>
          </a:prstGeom>
        </p:spPr>
      </p:pic>
      <p:cxnSp>
        <p:nvCxnSpPr>
          <p:cNvPr id="91" name="Connector: Elbow 90">
            <a:extLst>
              <a:ext uri="{FF2B5EF4-FFF2-40B4-BE49-F238E27FC236}">
                <a16:creationId xmlns:a16="http://schemas.microsoft.com/office/drawing/2014/main" id="{206F37D2-C77E-4C40-BC3B-FAAD066C274F}"/>
              </a:ext>
            </a:extLst>
          </p:cNvPr>
          <p:cNvCxnSpPr>
            <a:cxnSpLocks/>
            <a:endCxn id="87" idx="1"/>
          </p:cNvCxnSpPr>
          <p:nvPr/>
        </p:nvCxnSpPr>
        <p:spPr>
          <a:xfrm>
            <a:off x="1896568" y="1333054"/>
            <a:ext cx="6321376" cy="4324"/>
          </a:xfrm>
          <a:prstGeom prst="bentConnector3">
            <a:avLst>
              <a:gd name="adj1" fmla="val 50000"/>
            </a:avLst>
          </a:prstGeom>
        </p:spPr>
        <p:style>
          <a:lnRef idx="3">
            <a:schemeClr val="accent1"/>
          </a:lnRef>
          <a:fillRef idx="0">
            <a:schemeClr val="accent1"/>
          </a:fillRef>
          <a:effectRef idx="2">
            <a:schemeClr val="accent1"/>
          </a:effectRef>
          <a:fontRef idx="minor">
            <a:schemeClr val="tx1"/>
          </a:fontRef>
        </p:style>
      </p:cxnSp>
      <p:cxnSp>
        <p:nvCxnSpPr>
          <p:cNvPr id="89" name="Connector: Elbow 88">
            <a:extLst>
              <a:ext uri="{FF2B5EF4-FFF2-40B4-BE49-F238E27FC236}">
                <a16:creationId xmlns:a16="http://schemas.microsoft.com/office/drawing/2014/main" id="{07095E3F-5859-4F3C-A8B5-66E088445F5E}"/>
              </a:ext>
            </a:extLst>
          </p:cNvPr>
          <p:cNvCxnSpPr>
            <a:cxnSpLocks/>
            <a:stCxn id="113" idx="3"/>
            <a:endCxn id="90" idx="1"/>
          </p:cNvCxnSpPr>
          <p:nvPr/>
        </p:nvCxnSpPr>
        <p:spPr>
          <a:xfrm flipH="1">
            <a:off x="4134823" y="2758434"/>
            <a:ext cx="828092" cy="1616511"/>
          </a:xfrm>
          <a:prstGeom prst="bentConnector5">
            <a:avLst>
              <a:gd name="adj1" fmla="val -27606"/>
              <a:gd name="adj2" fmla="val 54128"/>
              <a:gd name="adj3" fmla="val 127606"/>
            </a:avLst>
          </a:prstGeom>
        </p:spPr>
        <p:style>
          <a:lnRef idx="3">
            <a:schemeClr val="accent1"/>
          </a:lnRef>
          <a:fillRef idx="0">
            <a:schemeClr val="accent1"/>
          </a:fillRef>
          <a:effectRef idx="2">
            <a:schemeClr val="accent1"/>
          </a:effectRef>
          <a:fontRef idx="minor">
            <a:schemeClr val="tx1"/>
          </a:fontRef>
        </p:style>
      </p:cxnSp>
      <p:cxnSp>
        <p:nvCxnSpPr>
          <p:cNvPr id="104" name="Connector: Elbow 103">
            <a:extLst>
              <a:ext uri="{FF2B5EF4-FFF2-40B4-BE49-F238E27FC236}">
                <a16:creationId xmlns:a16="http://schemas.microsoft.com/office/drawing/2014/main" id="{ED08D662-9E2C-4C48-8DF5-34B2F93B7214}"/>
              </a:ext>
            </a:extLst>
          </p:cNvPr>
          <p:cNvCxnSpPr>
            <a:cxnSpLocks/>
            <a:stCxn id="125" idx="3"/>
            <a:endCxn id="166" idx="1"/>
          </p:cNvCxnSpPr>
          <p:nvPr/>
        </p:nvCxnSpPr>
        <p:spPr>
          <a:xfrm flipV="1">
            <a:off x="4969605" y="2208230"/>
            <a:ext cx="2316803" cy="1127"/>
          </a:xfrm>
          <a:prstGeom prst="bentConnector3">
            <a:avLst>
              <a:gd name="adj1" fmla="val 50000"/>
            </a:avLst>
          </a:prstGeom>
        </p:spPr>
        <p:style>
          <a:lnRef idx="3">
            <a:schemeClr val="accent1"/>
          </a:lnRef>
          <a:fillRef idx="0">
            <a:schemeClr val="accent1"/>
          </a:fillRef>
          <a:effectRef idx="2">
            <a:schemeClr val="accent1"/>
          </a:effectRef>
          <a:fontRef idx="minor">
            <a:schemeClr val="tx1"/>
          </a:fontRef>
        </p:style>
      </p:cxnSp>
      <p:cxnSp>
        <p:nvCxnSpPr>
          <p:cNvPr id="110" name="Connector: Elbow 109">
            <a:extLst>
              <a:ext uri="{FF2B5EF4-FFF2-40B4-BE49-F238E27FC236}">
                <a16:creationId xmlns:a16="http://schemas.microsoft.com/office/drawing/2014/main" id="{FB0F4F5E-9752-4378-B44B-2AF2DF94A47B}"/>
              </a:ext>
            </a:extLst>
          </p:cNvPr>
          <p:cNvCxnSpPr>
            <a:cxnSpLocks/>
            <a:stCxn id="166" idx="3"/>
            <a:endCxn id="106" idx="0"/>
          </p:cNvCxnSpPr>
          <p:nvPr/>
        </p:nvCxnSpPr>
        <p:spPr>
          <a:xfrm>
            <a:off x="7850153" y="2208229"/>
            <a:ext cx="742003" cy="1773615"/>
          </a:xfrm>
          <a:prstGeom prst="bentConnector2">
            <a:avLst/>
          </a:prstGeom>
        </p:spPr>
        <p:style>
          <a:lnRef idx="3">
            <a:schemeClr val="accent1"/>
          </a:lnRef>
          <a:fillRef idx="0">
            <a:schemeClr val="accent1"/>
          </a:fillRef>
          <a:effectRef idx="2">
            <a:schemeClr val="accent1"/>
          </a:effectRef>
          <a:fontRef idx="minor">
            <a:schemeClr val="tx1"/>
          </a:fontRef>
        </p:style>
      </p:cxnSp>
      <p:pic>
        <p:nvPicPr>
          <p:cNvPr id="113" name="Picture 112" descr="Diagram&#10;&#10;Description automatically generated with low confidence">
            <a:extLst>
              <a:ext uri="{FF2B5EF4-FFF2-40B4-BE49-F238E27FC236}">
                <a16:creationId xmlns:a16="http://schemas.microsoft.com/office/drawing/2014/main" id="{6FF7CD34-B730-4FC5-B971-D8C548294E45}"/>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50000" t="19257" r="4045" b="-1180"/>
          <a:stretch/>
        </p:blipFill>
        <p:spPr>
          <a:xfrm>
            <a:off x="4303629" y="2528667"/>
            <a:ext cx="659287" cy="459531"/>
          </a:xfrm>
          <a:prstGeom prst="rect">
            <a:avLst/>
          </a:prstGeom>
        </p:spPr>
      </p:pic>
      <p:pic>
        <p:nvPicPr>
          <p:cNvPr id="125" name="Picture 124" descr="Diagram&#10;&#10;Description automatically generated with low confidence">
            <a:extLst>
              <a:ext uri="{FF2B5EF4-FFF2-40B4-BE49-F238E27FC236}">
                <a16:creationId xmlns:a16="http://schemas.microsoft.com/office/drawing/2014/main" id="{55D8554E-A37E-4C5F-BE70-796A9F4B48AD}"/>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50000" t="19257" r="4045" b="-1180"/>
          <a:stretch/>
        </p:blipFill>
        <p:spPr>
          <a:xfrm>
            <a:off x="4310318" y="1979589"/>
            <a:ext cx="659287" cy="459531"/>
          </a:xfrm>
          <a:prstGeom prst="rect">
            <a:avLst/>
          </a:prstGeom>
        </p:spPr>
      </p:pic>
      <p:cxnSp>
        <p:nvCxnSpPr>
          <p:cNvPr id="1037" name="Connector: Elbow 1036">
            <a:extLst>
              <a:ext uri="{FF2B5EF4-FFF2-40B4-BE49-F238E27FC236}">
                <a16:creationId xmlns:a16="http://schemas.microsoft.com/office/drawing/2014/main" id="{C906E48C-B4FD-41A1-8D59-689D945A3CDF}"/>
              </a:ext>
            </a:extLst>
          </p:cNvPr>
          <p:cNvCxnSpPr>
            <a:cxnSpLocks/>
            <a:stCxn id="46" idx="3"/>
          </p:cNvCxnSpPr>
          <p:nvPr/>
        </p:nvCxnSpPr>
        <p:spPr>
          <a:xfrm>
            <a:off x="2069596" y="1835351"/>
            <a:ext cx="2240722" cy="22856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pic>
        <p:nvPicPr>
          <p:cNvPr id="101" name="Picture 100" descr="Diagram&#10;&#10;Description automatically generated with low confidence">
            <a:extLst>
              <a:ext uri="{FF2B5EF4-FFF2-40B4-BE49-F238E27FC236}">
                <a16:creationId xmlns:a16="http://schemas.microsoft.com/office/drawing/2014/main" id="{219BBF6E-37C2-464B-9959-334FD3CC501A}"/>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r="58979" b="28024"/>
          <a:stretch/>
        </p:blipFill>
        <p:spPr>
          <a:xfrm>
            <a:off x="2882485" y="1868783"/>
            <a:ext cx="563747" cy="386751"/>
          </a:xfrm>
          <a:prstGeom prst="rect">
            <a:avLst/>
          </a:prstGeom>
          <a:solidFill>
            <a:schemeClr val="bg1"/>
          </a:solidFill>
        </p:spPr>
      </p:pic>
      <p:sp>
        <p:nvSpPr>
          <p:cNvPr id="147" name="Oval 146">
            <a:extLst>
              <a:ext uri="{FF2B5EF4-FFF2-40B4-BE49-F238E27FC236}">
                <a16:creationId xmlns:a16="http://schemas.microsoft.com/office/drawing/2014/main" id="{393A2400-6B06-4EAC-BB38-70DC1F1924B8}"/>
              </a:ext>
            </a:extLst>
          </p:cNvPr>
          <p:cNvSpPr/>
          <p:nvPr/>
        </p:nvSpPr>
        <p:spPr>
          <a:xfrm>
            <a:off x="1399462" y="4640086"/>
            <a:ext cx="80156" cy="425017"/>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graphicFrame>
        <p:nvGraphicFramePr>
          <p:cNvPr id="150" name="Table 110">
            <a:extLst>
              <a:ext uri="{FF2B5EF4-FFF2-40B4-BE49-F238E27FC236}">
                <a16:creationId xmlns:a16="http://schemas.microsoft.com/office/drawing/2014/main" id="{8C931008-E723-41E8-95E0-270FA5E6C1E8}"/>
              </a:ext>
            </a:extLst>
          </p:cNvPr>
          <p:cNvGraphicFramePr>
            <a:graphicFrameLocks noGrp="1"/>
          </p:cNvGraphicFramePr>
          <p:nvPr>
            <p:extLst>
              <p:ext uri="{D42A27DB-BD31-4B8C-83A1-F6EECF244321}">
                <p14:modId xmlns:p14="http://schemas.microsoft.com/office/powerpoint/2010/main" val="3862210916"/>
              </p:ext>
            </p:extLst>
          </p:nvPr>
        </p:nvGraphicFramePr>
        <p:xfrm>
          <a:off x="739639" y="4080440"/>
          <a:ext cx="1378332" cy="247176"/>
        </p:xfrm>
        <a:graphic>
          <a:graphicData uri="http://schemas.openxmlformats.org/drawingml/2006/table">
            <a:tbl>
              <a:tblPr bandRow="1">
                <a:tableStyleId>{5C22544A-7EE6-4342-B048-85BDC9FD1C3A}</a:tableStyleId>
              </a:tblPr>
              <a:tblGrid>
                <a:gridCol w="344583">
                  <a:extLst>
                    <a:ext uri="{9D8B030D-6E8A-4147-A177-3AD203B41FA5}">
                      <a16:colId xmlns:a16="http://schemas.microsoft.com/office/drawing/2014/main" val="866373483"/>
                    </a:ext>
                  </a:extLst>
                </a:gridCol>
                <a:gridCol w="344583">
                  <a:extLst>
                    <a:ext uri="{9D8B030D-6E8A-4147-A177-3AD203B41FA5}">
                      <a16:colId xmlns:a16="http://schemas.microsoft.com/office/drawing/2014/main" val="2024381536"/>
                    </a:ext>
                  </a:extLst>
                </a:gridCol>
                <a:gridCol w="344583">
                  <a:extLst>
                    <a:ext uri="{9D8B030D-6E8A-4147-A177-3AD203B41FA5}">
                      <a16:colId xmlns:a16="http://schemas.microsoft.com/office/drawing/2014/main" val="158804817"/>
                    </a:ext>
                  </a:extLst>
                </a:gridCol>
                <a:gridCol w="344583">
                  <a:extLst>
                    <a:ext uri="{9D8B030D-6E8A-4147-A177-3AD203B41FA5}">
                      <a16:colId xmlns:a16="http://schemas.microsoft.com/office/drawing/2014/main" val="1655900654"/>
                    </a:ext>
                  </a:extLst>
                </a:gridCol>
              </a:tblGrid>
              <a:tr h="247176">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91770497"/>
                  </a:ext>
                </a:extLst>
              </a:tr>
            </a:tbl>
          </a:graphicData>
        </a:graphic>
      </p:graphicFrame>
      <p:graphicFrame>
        <p:nvGraphicFramePr>
          <p:cNvPr id="151" name="Table 110">
            <a:extLst>
              <a:ext uri="{FF2B5EF4-FFF2-40B4-BE49-F238E27FC236}">
                <a16:creationId xmlns:a16="http://schemas.microsoft.com/office/drawing/2014/main" id="{E38ACCC2-F299-46E3-8DCD-DB30CD53AB6A}"/>
              </a:ext>
            </a:extLst>
          </p:cNvPr>
          <p:cNvGraphicFramePr>
            <a:graphicFrameLocks noGrp="1"/>
          </p:cNvGraphicFramePr>
          <p:nvPr>
            <p:extLst>
              <p:ext uri="{D42A27DB-BD31-4B8C-83A1-F6EECF244321}">
                <p14:modId xmlns:p14="http://schemas.microsoft.com/office/powerpoint/2010/main" val="3213004933"/>
              </p:ext>
            </p:extLst>
          </p:nvPr>
        </p:nvGraphicFramePr>
        <p:xfrm>
          <a:off x="876223" y="4399599"/>
          <a:ext cx="1378332" cy="247176"/>
        </p:xfrm>
        <a:graphic>
          <a:graphicData uri="http://schemas.openxmlformats.org/drawingml/2006/table">
            <a:tbl>
              <a:tblPr bandRow="1">
                <a:tableStyleId>{5C22544A-7EE6-4342-B048-85BDC9FD1C3A}</a:tableStyleId>
              </a:tblPr>
              <a:tblGrid>
                <a:gridCol w="344583">
                  <a:extLst>
                    <a:ext uri="{9D8B030D-6E8A-4147-A177-3AD203B41FA5}">
                      <a16:colId xmlns:a16="http://schemas.microsoft.com/office/drawing/2014/main" val="866373483"/>
                    </a:ext>
                  </a:extLst>
                </a:gridCol>
                <a:gridCol w="344583">
                  <a:extLst>
                    <a:ext uri="{9D8B030D-6E8A-4147-A177-3AD203B41FA5}">
                      <a16:colId xmlns:a16="http://schemas.microsoft.com/office/drawing/2014/main" val="2024381536"/>
                    </a:ext>
                  </a:extLst>
                </a:gridCol>
                <a:gridCol w="344583">
                  <a:extLst>
                    <a:ext uri="{9D8B030D-6E8A-4147-A177-3AD203B41FA5}">
                      <a16:colId xmlns:a16="http://schemas.microsoft.com/office/drawing/2014/main" val="158804817"/>
                    </a:ext>
                  </a:extLst>
                </a:gridCol>
                <a:gridCol w="344583">
                  <a:extLst>
                    <a:ext uri="{9D8B030D-6E8A-4147-A177-3AD203B41FA5}">
                      <a16:colId xmlns:a16="http://schemas.microsoft.com/office/drawing/2014/main" val="1655900654"/>
                    </a:ext>
                  </a:extLst>
                </a:gridCol>
              </a:tblGrid>
              <a:tr h="247176">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1770497"/>
                  </a:ext>
                </a:extLst>
              </a:tr>
            </a:tbl>
          </a:graphicData>
        </a:graphic>
      </p:graphicFrame>
      <p:sp>
        <p:nvSpPr>
          <p:cNvPr id="152" name="TextBox 151">
            <a:extLst>
              <a:ext uri="{FF2B5EF4-FFF2-40B4-BE49-F238E27FC236}">
                <a16:creationId xmlns:a16="http://schemas.microsoft.com/office/drawing/2014/main" id="{13450B07-1690-4C24-A8DA-D301A55E263B}"/>
              </a:ext>
            </a:extLst>
          </p:cNvPr>
          <p:cNvSpPr txBox="1"/>
          <p:nvPr/>
        </p:nvSpPr>
        <p:spPr>
          <a:xfrm>
            <a:off x="415636" y="4061969"/>
            <a:ext cx="381836" cy="246221"/>
          </a:xfrm>
          <a:prstGeom prst="rect">
            <a:avLst/>
          </a:prstGeom>
          <a:noFill/>
        </p:spPr>
        <p:txBody>
          <a:bodyPr wrap="none" rtlCol="0">
            <a:spAutoFit/>
          </a:bodyPr>
          <a:lstStyle/>
          <a:p>
            <a:r>
              <a:rPr lang="en-US" sz="1000"/>
              <a:t>!Clk</a:t>
            </a:r>
          </a:p>
        </p:txBody>
      </p:sp>
      <p:sp>
        <p:nvSpPr>
          <p:cNvPr id="153" name="TextBox 152">
            <a:extLst>
              <a:ext uri="{FF2B5EF4-FFF2-40B4-BE49-F238E27FC236}">
                <a16:creationId xmlns:a16="http://schemas.microsoft.com/office/drawing/2014/main" id="{6AE97E37-BACA-4161-B24E-EDE22DD81C29}"/>
              </a:ext>
            </a:extLst>
          </p:cNvPr>
          <p:cNvSpPr txBox="1"/>
          <p:nvPr/>
        </p:nvSpPr>
        <p:spPr>
          <a:xfrm>
            <a:off x="258620" y="4363605"/>
            <a:ext cx="572593" cy="246221"/>
          </a:xfrm>
          <a:prstGeom prst="rect">
            <a:avLst/>
          </a:prstGeom>
          <a:noFill/>
        </p:spPr>
        <p:txBody>
          <a:bodyPr wrap="none" rtlCol="0">
            <a:spAutoFit/>
          </a:bodyPr>
          <a:lstStyle/>
          <a:p>
            <a:r>
              <a:rPr lang="en-US" sz="1000"/>
              <a:t>Control</a:t>
            </a:r>
          </a:p>
        </p:txBody>
      </p:sp>
      <p:sp>
        <p:nvSpPr>
          <p:cNvPr id="156" name="TextBox 155">
            <a:extLst>
              <a:ext uri="{FF2B5EF4-FFF2-40B4-BE49-F238E27FC236}">
                <a16:creationId xmlns:a16="http://schemas.microsoft.com/office/drawing/2014/main" id="{5FE0A1B6-C95C-4F84-8009-9D01EF99978B}"/>
              </a:ext>
            </a:extLst>
          </p:cNvPr>
          <p:cNvSpPr txBox="1"/>
          <p:nvPr/>
        </p:nvSpPr>
        <p:spPr>
          <a:xfrm>
            <a:off x="475676" y="4728441"/>
            <a:ext cx="420308" cy="246221"/>
          </a:xfrm>
          <a:prstGeom prst="rect">
            <a:avLst/>
          </a:prstGeom>
          <a:noFill/>
        </p:spPr>
        <p:txBody>
          <a:bodyPr wrap="none" rtlCol="0">
            <a:spAutoFit/>
          </a:bodyPr>
          <a:lstStyle/>
          <a:p>
            <a:r>
              <a:rPr lang="en-US" sz="1000"/>
              <a:t>AND</a:t>
            </a:r>
          </a:p>
        </p:txBody>
      </p:sp>
      <p:graphicFrame>
        <p:nvGraphicFramePr>
          <p:cNvPr id="158" name="Table 110">
            <a:extLst>
              <a:ext uri="{FF2B5EF4-FFF2-40B4-BE49-F238E27FC236}">
                <a16:creationId xmlns:a16="http://schemas.microsoft.com/office/drawing/2014/main" id="{B2C243E6-2AC5-413F-A4E7-1C8E8188053A}"/>
              </a:ext>
            </a:extLst>
          </p:cNvPr>
          <p:cNvGraphicFramePr>
            <a:graphicFrameLocks noGrp="1"/>
          </p:cNvGraphicFramePr>
          <p:nvPr>
            <p:extLst>
              <p:ext uri="{D42A27DB-BD31-4B8C-83A1-F6EECF244321}">
                <p14:modId xmlns:p14="http://schemas.microsoft.com/office/powerpoint/2010/main" val="96164427"/>
              </p:ext>
            </p:extLst>
          </p:nvPr>
        </p:nvGraphicFramePr>
        <p:xfrm>
          <a:off x="735025" y="3687889"/>
          <a:ext cx="1378332" cy="247176"/>
        </p:xfrm>
        <a:graphic>
          <a:graphicData uri="http://schemas.openxmlformats.org/drawingml/2006/table">
            <a:tbl>
              <a:tblPr bandRow="1">
                <a:tableStyleId>{5C22544A-7EE6-4342-B048-85BDC9FD1C3A}</a:tableStyleId>
              </a:tblPr>
              <a:tblGrid>
                <a:gridCol w="344583">
                  <a:extLst>
                    <a:ext uri="{9D8B030D-6E8A-4147-A177-3AD203B41FA5}">
                      <a16:colId xmlns:a16="http://schemas.microsoft.com/office/drawing/2014/main" val="866373483"/>
                    </a:ext>
                  </a:extLst>
                </a:gridCol>
                <a:gridCol w="344583">
                  <a:extLst>
                    <a:ext uri="{9D8B030D-6E8A-4147-A177-3AD203B41FA5}">
                      <a16:colId xmlns:a16="http://schemas.microsoft.com/office/drawing/2014/main" val="2024381536"/>
                    </a:ext>
                  </a:extLst>
                </a:gridCol>
                <a:gridCol w="344583">
                  <a:extLst>
                    <a:ext uri="{9D8B030D-6E8A-4147-A177-3AD203B41FA5}">
                      <a16:colId xmlns:a16="http://schemas.microsoft.com/office/drawing/2014/main" val="158804817"/>
                    </a:ext>
                  </a:extLst>
                </a:gridCol>
                <a:gridCol w="344583">
                  <a:extLst>
                    <a:ext uri="{9D8B030D-6E8A-4147-A177-3AD203B41FA5}">
                      <a16:colId xmlns:a16="http://schemas.microsoft.com/office/drawing/2014/main" val="1655900654"/>
                    </a:ext>
                  </a:extLst>
                </a:gridCol>
              </a:tblGrid>
              <a:tr h="247176">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891770497"/>
                  </a:ext>
                </a:extLst>
              </a:tr>
            </a:tbl>
          </a:graphicData>
        </a:graphic>
      </p:graphicFrame>
      <p:sp>
        <p:nvSpPr>
          <p:cNvPr id="160" name="TextBox 159">
            <a:extLst>
              <a:ext uri="{FF2B5EF4-FFF2-40B4-BE49-F238E27FC236}">
                <a16:creationId xmlns:a16="http://schemas.microsoft.com/office/drawing/2014/main" id="{AA3BED15-7952-464B-87AD-6F376583B5E2}"/>
              </a:ext>
            </a:extLst>
          </p:cNvPr>
          <p:cNvSpPr txBox="1"/>
          <p:nvPr/>
        </p:nvSpPr>
        <p:spPr>
          <a:xfrm>
            <a:off x="411021" y="3687890"/>
            <a:ext cx="340158" cy="246221"/>
          </a:xfrm>
          <a:prstGeom prst="rect">
            <a:avLst/>
          </a:prstGeom>
          <a:noFill/>
        </p:spPr>
        <p:txBody>
          <a:bodyPr wrap="none" rtlCol="0">
            <a:spAutoFit/>
          </a:bodyPr>
          <a:lstStyle/>
          <a:p>
            <a:r>
              <a:rPr lang="en-US" sz="1000"/>
              <a:t>Clk</a:t>
            </a:r>
          </a:p>
        </p:txBody>
      </p:sp>
      <p:graphicFrame>
        <p:nvGraphicFramePr>
          <p:cNvPr id="164" name="Table 110">
            <a:extLst>
              <a:ext uri="{FF2B5EF4-FFF2-40B4-BE49-F238E27FC236}">
                <a16:creationId xmlns:a16="http://schemas.microsoft.com/office/drawing/2014/main" id="{E4085745-FEFD-41A5-BF9C-59B2D4C7CE6A}"/>
              </a:ext>
            </a:extLst>
          </p:cNvPr>
          <p:cNvGraphicFramePr>
            <a:graphicFrameLocks noGrp="1"/>
          </p:cNvGraphicFramePr>
          <p:nvPr>
            <p:extLst>
              <p:ext uri="{D42A27DB-BD31-4B8C-83A1-F6EECF244321}">
                <p14:modId xmlns:p14="http://schemas.microsoft.com/office/powerpoint/2010/main" val="2268288405"/>
              </p:ext>
            </p:extLst>
          </p:nvPr>
        </p:nvGraphicFramePr>
        <p:xfrm>
          <a:off x="751537" y="4709019"/>
          <a:ext cx="1378332" cy="247176"/>
        </p:xfrm>
        <a:graphic>
          <a:graphicData uri="http://schemas.openxmlformats.org/drawingml/2006/table">
            <a:tbl>
              <a:tblPr bandRow="1">
                <a:tableStyleId>{5C22544A-7EE6-4342-B048-85BDC9FD1C3A}</a:tableStyleId>
              </a:tblPr>
              <a:tblGrid>
                <a:gridCol w="344583">
                  <a:extLst>
                    <a:ext uri="{9D8B030D-6E8A-4147-A177-3AD203B41FA5}">
                      <a16:colId xmlns:a16="http://schemas.microsoft.com/office/drawing/2014/main" val="866373483"/>
                    </a:ext>
                  </a:extLst>
                </a:gridCol>
                <a:gridCol w="344583">
                  <a:extLst>
                    <a:ext uri="{9D8B030D-6E8A-4147-A177-3AD203B41FA5}">
                      <a16:colId xmlns:a16="http://schemas.microsoft.com/office/drawing/2014/main" val="2024381536"/>
                    </a:ext>
                  </a:extLst>
                </a:gridCol>
                <a:gridCol w="304971">
                  <a:extLst>
                    <a:ext uri="{9D8B030D-6E8A-4147-A177-3AD203B41FA5}">
                      <a16:colId xmlns:a16="http://schemas.microsoft.com/office/drawing/2014/main" val="158804817"/>
                    </a:ext>
                  </a:extLst>
                </a:gridCol>
                <a:gridCol w="384195">
                  <a:extLst>
                    <a:ext uri="{9D8B030D-6E8A-4147-A177-3AD203B41FA5}">
                      <a16:colId xmlns:a16="http://schemas.microsoft.com/office/drawing/2014/main" val="1655900654"/>
                    </a:ext>
                  </a:extLst>
                </a:gridCol>
              </a:tblGrid>
              <a:tr h="247176">
                <a:tc>
                  <a:txBody>
                    <a:bodyPr/>
                    <a:lstStyle/>
                    <a:p>
                      <a:endParaRPr lang="en-US" sz="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8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US" sz="8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1770497"/>
                  </a:ext>
                </a:extLst>
              </a:tr>
            </a:tbl>
          </a:graphicData>
        </a:graphic>
      </p:graphicFrame>
      <p:cxnSp>
        <p:nvCxnSpPr>
          <p:cNvPr id="1028" name="Connector: Elbow 1027">
            <a:extLst>
              <a:ext uri="{FF2B5EF4-FFF2-40B4-BE49-F238E27FC236}">
                <a16:creationId xmlns:a16="http://schemas.microsoft.com/office/drawing/2014/main" id="{8AF48667-5FF4-4706-9E1C-108D1BE755EE}"/>
              </a:ext>
            </a:extLst>
          </p:cNvPr>
          <p:cNvCxnSpPr>
            <a:cxnSpLocks/>
          </p:cNvCxnSpPr>
          <p:nvPr/>
        </p:nvCxnSpPr>
        <p:spPr>
          <a:xfrm>
            <a:off x="8771963" y="1337377"/>
            <a:ext cx="570436" cy="2662552"/>
          </a:xfrm>
          <a:prstGeom prst="bentConnector2">
            <a:avLst/>
          </a:prstGeom>
        </p:spPr>
        <p:style>
          <a:lnRef idx="3">
            <a:schemeClr val="accent1"/>
          </a:lnRef>
          <a:fillRef idx="0">
            <a:schemeClr val="accent1"/>
          </a:fillRef>
          <a:effectRef idx="2">
            <a:schemeClr val="accent1"/>
          </a:effectRef>
          <a:fontRef idx="minor">
            <a:schemeClr val="tx1"/>
          </a:fontRef>
        </p:style>
      </p:cxnSp>
      <p:pic>
        <p:nvPicPr>
          <p:cNvPr id="166" name="Picture 165" descr="Diagram&#10;&#10;Description automatically generated with low confidence">
            <a:extLst>
              <a:ext uri="{FF2B5EF4-FFF2-40B4-BE49-F238E27FC236}">
                <a16:creationId xmlns:a16="http://schemas.microsoft.com/office/drawing/2014/main" id="{DFC2F0D4-7827-43C3-B3C3-27737C6B1B5C}"/>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r="58979" b="28024"/>
          <a:stretch/>
        </p:blipFill>
        <p:spPr>
          <a:xfrm>
            <a:off x="7286407" y="2014854"/>
            <a:ext cx="563747" cy="386751"/>
          </a:xfrm>
          <a:prstGeom prst="rect">
            <a:avLst/>
          </a:prstGeom>
        </p:spPr>
      </p:pic>
      <p:sp>
        <p:nvSpPr>
          <p:cNvPr id="46" name="TextBox 45">
            <a:hlinkClick r:id="rId7" action="ppaction://hlinksldjump"/>
            <a:extLst>
              <a:ext uri="{FF2B5EF4-FFF2-40B4-BE49-F238E27FC236}">
                <a16:creationId xmlns:a16="http://schemas.microsoft.com/office/drawing/2014/main" id="{88F82D75-77E2-1831-A972-12C4E77BFEA9}"/>
              </a:ext>
            </a:extLst>
          </p:cNvPr>
          <p:cNvSpPr txBox="1"/>
          <p:nvPr/>
        </p:nvSpPr>
        <p:spPr>
          <a:xfrm>
            <a:off x="1203653" y="1681462"/>
            <a:ext cx="865943" cy="307777"/>
          </a:xfrm>
          <a:prstGeom prst="rect">
            <a:avLst/>
          </a:prstGeom>
          <a:solidFill>
            <a:schemeClr val="bg1"/>
          </a:solidFill>
          <a:ln>
            <a:solidFill>
              <a:schemeClr val="accent1"/>
            </a:solidFill>
          </a:ln>
        </p:spPr>
        <p:txBody>
          <a:bodyPr wrap="none" rtlCol="0">
            <a:spAutoFit/>
          </a:bodyPr>
          <a:lstStyle/>
          <a:p>
            <a:r>
              <a:rPr lang="en-US" sz="1400"/>
              <a:t>Main CLK</a:t>
            </a:r>
          </a:p>
        </p:txBody>
      </p:sp>
      <p:sp>
        <p:nvSpPr>
          <p:cNvPr id="48" name="Rectangle 47">
            <a:hlinkClick r:id="rId7" action="ppaction://hlinksldjump"/>
            <a:extLst>
              <a:ext uri="{FF2B5EF4-FFF2-40B4-BE49-F238E27FC236}">
                <a16:creationId xmlns:a16="http://schemas.microsoft.com/office/drawing/2014/main" id="{BFD8F7A4-32B5-17F5-B995-7E8E323C70EE}"/>
              </a:ext>
            </a:extLst>
          </p:cNvPr>
          <p:cNvSpPr/>
          <p:nvPr/>
        </p:nvSpPr>
        <p:spPr>
          <a:xfrm>
            <a:off x="606555" y="272984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12: </a:t>
            </a:r>
            <a:r>
              <a:rPr lang="en-US" sz="1200" err="1"/>
              <a:t>Ld</a:t>
            </a:r>
            <a:r>
              <a:rPr lang="en-US" sz="1200"/>
              <a:t> Data </a:t>
            </a:r>
            <a:r>
              <a:rPr lang="en-US" sz="1200" err="1"/>
              <a:t>Addr</a:t>
            </a:r>
            <a:endParaRPr lang="en-US" sz="1200"/>
          </a:p>
        </p:txBody>
      </p:sp>
      <p:sp>
        <p:nvSpPr>
          <p:cNvPr id="49" name="Rectangle 48">
            <a:hlinkClick r:id="rId7" action="ppaction://hlinksldjump"/>
            <a:extLst>
              <a:ext uri="{FF2B5EF4-FFF2-40B4-BE49-F238E27FC236}">
                <a16:creationId xmlns:a16="http://schemas.microsoft.com/office/drawing/2014/main" id="{2838B378-77BA-207A-5AC6-24C82662F479}"/>
              </a:ext>
            </a:extLst>
          </p:cNvPr>
          <p:cNvSpPr/>
          <p:nvPr/>
        </p:nvSpPr>
        <p:spPr>
          <a:xfrm>
            <a:off x="606555" y="2272755"/>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11: RAM Store</a:t>
            </a:r>
          </a:p>
        </p:txBody>
      </p:sp>
      <p:sp>
        <p:nvSpPr>
          <p:cNvPr id="50" name="Rectangle 49">
            <a:hlinkClick r:id="rId7" action="ppaction://hlinksldjump"/>
            <a:extLst>
              <a:ext uri="{FF2B5EF4-FFF2-40B4-BE49-F238E27FC236}">
                <a16:creationId xmlns:a16="http://schemas.microsoft.com/office/drawing/2014/main" id="{F078CEBB-65D1-D38E-BF22-E71D15AFD6D2}"/>
              </a:ext>
            </a:extLst>
          </p:cNvPr>
          <p:cNvSpPr/>
          <p:nvPr/>
        </p:nvSpPr>
        <p:spPr>
          <a:xfrm>
            <a:off x="606555" y="1195095"/>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10: RAM Load</a:t>
            </a:r>
          </a:p>
        </p:txBody>
      </p:sp>
      <p:sp>
        <p:nvSpPr>
          <p:cNvPr id="2" name="TextBox 1">
            <a:extLst>
              <a:ext uri="{FF2B5EF4-FFF2-40B4-BE49-F238E27FC236}">
                <a16:creationId xmlns:a16="http://schemas.microsoft.com/office/drawing/2014/main" id="{7D66B736-BA21-A3E7-3B68-EA5C25E6CB68}"/>
              </a:ext>
            </a:extLst>
          </p:cNvPr>
          <p:cNvSpPr txBox="1"/>
          <p:nvPr/>
        </p:nvSpPr>
        <p:spPr>
          <a:xfrm>
            <a:off x="9009304" y="4537393"/>
            <a:ext cx="745717" cy="369332"/>
          </a:xfrm>
          <a:prstGeom prst="rect">
            <a:avLst/>
          </a:prstGeom>
          <a:noFill/>
        </p:spPr>
        <p:txBody>
          <a:bodyPr wrap="none" rtlCol="0">
            <a:spAutoFit/>
          </a:bodyPr>
          <a:lstStyle/>
          <a:p>
            <a:r>
              <a:rPr lang="en-US"/>
              <a:t>SRAM</a:t>
            </a:r>
          </a:p>
        </p:txBody>
      </p:sp>
      <p:sp>
        <p:nvSpPr>
          <p:cNvPr id="4" name="Rectangle 3">
            <a:extLst>
              <a:ext uri="{FF2B5EF4-FFF2-40B4-BE49-F238E27FC236}">
                <a16:creationId xmlns:a16="http://schemas.microsoft.com/office/drawing/2014/main" id="{6C99CBF6-E5CA-9BF1-67AD-3A762A96B38A}"/>
              </a:ext>
            </a:extLst>
          </p:cNvPr>
          <p:cNvSpPr/>
          <p:nvPr/>
        </p:nvSpPr>
        <p:spPr>
          <a:xfrm>
            <a:off x="2143199" y="5677196"/>
            <a:ext cx="1673128" cy="5405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169: Up Down Counter</a:t>
            </a:r>
          </a:p>
        </p:txBody>
      </p:sp>
      <p:sp>
        <p:nvSpPr>
          <p:cNvPr id="54" name="Rectangle 53">
            <a:hlinkClick r:id="rId7" action="ppaction://hlinksldjump"/>
            <a:extLst>
              <a:ext uri="{FF2B5EF4-FFF2-40B4-BE49-F238E27FC236}">
                <a16:creationId xmlns:a16="http://schemas.microsoft.com/office/drawing/2014/main" id="{937B51B3-D276-C502-FD50-11FDDE5EA8D0}"/>
              </a:ext>
            </a:extLst>
          </p:cNvPr>
          <p:cNvSpPr/>
          <p:nvPr/>
        </p:nvSpPr>
        <p:spPr>
          <a:xfrm>
            <a:off x="214115" y="6234289"/>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15: SP Count</a:t>
            </a:r>
          </a:p>
        </p:txBody>
      </p:sp>
      <p:sp>
        <p:nvSpPr>
          <p:cNvPr id="55" name="Rectangle 54">
            <a:hlinkClick r:id="rId7" action="ppaction://hlinksldjump"/>
            <a:extLst>
              <a:ext uri="{FF2B5EF4-FFF2-40B4-BE49-F238E27FC236}">
                <a16:creationId xmlns:a16="http://schemas.microsoft.com/office/drawing/2014/main" id="{E1966C82-9690-8F0F-6013-271CE9BA84A2}"/>
              </a:ext>
            </a:extLst>
          </p:cNvPr>
          <p:cNvSpPr/>
          <p:nvPr/>
        </p:nvSpPr>
        <p:spPr>
          <a:xfrm>
            <a:off x="188595" y="5294727"/>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14: SP </a:t>
            </a:r>
            <a:r>
              <a:rPr lang="en-US" sz="1200" err="1"/>
              <a:t>Addr</a:t>
            </a:r>
            <a:endParaRPr lang="en-US" sz="1200"/>
          </a:p>
        </p:txBody>
      </p:sp>
      <p:sp>
        <p:nvSpPr>
          <p:cNvPr id="56" name="Rectangle 55">
            <a:hlinkClick r:id="rId7" action="ppaction://hlinksldjump"/>
            <a:extLst>
              <a:ext uri="{FF2B5EF4-FFF2-40B4-BE49-F238E27FC236}">
                <a16:creationId xmlns:a16="http://schemas.microsoft.com/office/drawing/2014/main" id="{CADE5DE7-4F52-174E-EBC3-46541AC65568}"/>
              </a:ext>
            </a:extLst>
          </p:cNvPr>
          <p:cNvSpPr/>
          <p:nvPr/>
        </p:nvSpPr>
        <p:spPr>
          <a:xfrm>
            <a:off x="206023" y="6489612"/>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200"/>
              <a:t>µC 16: SP Up/Down</a:t>
            </a:r>
          </a:p>
        </p:txBody>
      </p:sp>
      <p:cxnSp>
        <p:nvCxnSpPr>
          <p:cNvPr id="6" name="Connector: Elbow 5">
            <a:extLst>
              <a:ext uri="{FF2B5EF4-FFF2-40B4-BE49-F238E27FC236}">
                <a16:creationId xmlns:a16="http://schemas.microsoft.com/office/drawing/2014/main" id="{656800BF-5AAF-38BB-47E9-ECDB72C7CCDA}"/>
              </a:ext>
            </a:extLst>
          </p:cNvPr>
          <p:cNvCxnSpPr>
            <a:cxnSpLocks/>
            <a:stCxn id="56" idx="3"/>
            <a:endCxn id="4" idx="2"/>
          </p:cNvCxnSpPr>
          <p:nvPr/>
        </p:nvCxnSpPr>
        <p:spPr>
          <a:xfrm flipV="1">
            <a:off x="1669064" y="6217769"/>
            <a:ext cx="1310699" cy="363284"/>
          </a:xfrm>
          <a:prstGeom prst="bentConnector2">
            <a:avLst/>
          </a:prstGeom>
        </p:spPr>
        <p:style>
          <a:lnRef idx="3">
            <a:schemeClr val="accent1"/>
          </a:lnRef>
          <a:fillRef idx="0">
            <a:schemeClr val="accent1"/>
          </a:fillRef>
          <a:effectRef idx="2">
            <a:schemeClr val="accent1"/>
          </a:effectRef>
          <a:fontRef idx="minor">
            <a:schemeClr val="tx1"/>
          </a:fontRef>
        </p:style>
      </p:cxnSp>
      <p:sp>
        <p:nvSpPr>
          <p:cNvPr id="8" name="TextBox 7">
            <a:extLst>
              <a:ext uri="{FF2B5EF4-FFF2-40B4-BE49-F238E27FC236}">
                <a16:creationId xmlns:a16="http://schemas.microsoft.com/office/drawing/2014/main" id="{8B7B4BE8-C405-27C1-939E-3825D791AF1E}"/>
              </a:ext>
            </a:extLst>
          </p:cNvPr>
          <p:cNvSpPr txBox="1"/>
          <p:nvPr/>
        </p:nvSpPr>
        <p:spPr>
          <a:xfrm>
            <a:off x="3376539" y="4713051"/>
            <a:ext cx="570734" cy="276999"/>
          </a:xfrm>
          <a:prstGeom prst="rect">
            <a:avLst/>
          </a:prstGeom>
          <a:noFill/>
        </p:spPr>
        <p:txBody>
          <a:bodyPr wrap="none" rtlCol="0">
            <a:spAutoFit/>
          </a:bodyPr>
          <a:lstStyle/>
          <a:p>
            <a:r>
              <a:rPr lang="en-US" sz="1200"/>
              <a:t>3state</a:t>
            </a:r>
          </a:p>
        </p:txBody>
      </p:sp>
      <p:cxnSp>
        <p:nvCxnSpPr>
          <p:cNvPr id="15" name="Connector: Elbow 14">
            <a:extLst>
              <a:ext uri="{FF2B5EF4-FFF2-40B4-BE49-F238E27FC236}">
                <a16:creationId xmlns:a16="http://schemas.microsoft.com/office/drawing/2014/main" id="{351BC13F-35E5-D786-C4FB-D20F2A82AB79}"/>
              </a:ext>
            </a:extLst>
          </p:cNvPr>
          <p:cNvCxnSpPr>
            <a:cxnSpLocks/>
            <a:stCxn id="57" idx="3"/>
            <a:endCxn id="71" idx="0"/>
          </p:cNvCxnSpPr>
          <p:nvPr/>
        </p:nvCxnSpPr>
        <p:spPr>
          <a:xfrm>
            <a:off x="3717629" y="5386821"/>
            <a:ext cx="1103331" cy="295983"/>
          </a:xfrm>
          <a:prstGeom prst="bentConnector2">
            <a:avLst/>
          </a:prstGeom>
        </p:spPr>
        <p:style>
          <a:lnRef idx="3">
            <a:schemeClr val="accent1"/>
          </a:lnRef>
          <a:fillRef idx="0">
            <a:schemeClr val="accent1"/>
          </a:fillRef>
          <a:effectRef idx="2">
            <a:schemeClr val="accent1"/>
          </a:effectRef>
          <a:fontRef idx="minor">
            <a:schemeClr val="tx1"/>
          </a:fontRef>
        </p:style>
      </p:cxnSp>
      <p:sp>
        <p:nvSpPr>
          <p:cNvPr id="63" name="TextBox 62">
            <a:extLst>
              <a:ext uri="{FF2B5EF4-FFF2-40B4-BE49-F238E27FC236}">
                <a16:creationId xmlns:a16="http://schemas.microsoft.com/office/drawing/2014/main" id="{B6D4C02E-9BD1-6D9C-A3DF-D3CE70734F60}"/>
              </a:ext>
            </a:extLst>
          </p:cNvPr>
          <p:cNvSpPr txBox="1"/>
          <p:nvPr/>
        </p:nvSpPr>
        <p:spPr>
          <a:xfrm>
            <a:off x="4312335" y="5339107"/>
            <a:ext cx="570734" cy="276999"/>
          </a:xfrm>
          <a:prstGeom prst="rect">
            <a:avLst/>
          </a:prstGeom>
          <a:noFill/>
        </p:spPr>
        <p:txBody>
          <a:bodyPr wrap="none" rtlCol="0">
            <a:spAutoFit/>
          </a:bodyPr>
          <a:lstStyle/>
          <a:p>
            <a:r>
              <a:rPr lang="en-US" sz="1200"/>
              <a:t>3state</a:t>
            </a:r>
          </a:p>
        </p:txBody>
      </p:sp>
      <p:sp>
        <p:nvSpPr>
          <p:cNvPr id="64" name="TextBox 63">
            <a:extLst>
              <a:ext uri="{FF2B5EF4-FFF2-40B4-BE49-F238E27FC236}">
                <a16:creationId xmlns:a16="http://schemas.microsoft.com/office/drawing/2014/main" id="{526D4A2B-AD50-1A1B-D68C-708D17F554C4}"/>
              </a:ext>
            </a:extLst>
          </p:cNvPr>
          <p:cNvSpPr txBox="1"/>
          <p:nvPr/>
        </p:nvSpPr>
        <p:spPr>
          <a:xfrm>
            <a:off x="1285982" y="5885379"/>
            <a:ext cx="276417" cy="161711"/>
          </a:xfrm>
          <a:prstGeom prst="rect">
            <a:avLst/>
          </a:prstGeom>
          <a:solidFill>
            <a:srgbClr val="FFC000"/>
          </a:solidFill>
        </p:spPr>
        <p:txBody>
          <a:bodyPr wrap="square" lIns="0" tIns="0" rIns="0" bIns="0" rtlCol="0" anchor="ctr">
            <a:spAutoFit/>
          </a:bodyPr>
          <a:lstStyle/>
          <a:p>
            <a:pPr algn="ctr"/>
            <a:r>
              <a:rPr lang="en-US" sz="1051"/>
              <a:t>MR</a:t>
            </a:r>
          </a:p>
        </p:txBody>
      </p:sp>
      <p:cxnSp>
        <p:nvCxnSpPr>
          <p:cNvPr id="18" name="Connector: Elbow 17">
            <a:extLst>
              <a:ext uri="{FF2B5EF4-FFF2-40B4-BE49-F238E27FC236}">
                <a16:creationId xmlns:a16="http://schemas.microsoft.com/office/drawing/2014/main" id="{4A681C30-ECB3-E5E2-960B-0E2DC73684AF}"/>
              </a:ext>
            </a:extLst>
          </p:cNvPr>
          <p:cNvCxnSpPr>
            <a:cxnSpLocks/>
            <a:stCxn id="64" idx="3"/>
            <a:endCxn id="4" idx="1"/>
          </p:cNvCxnSpPr>
          <p:nvPr/>
        </p:nvCxnSpPr>
        <p:spPr>
          <a:xfrm flipV="1">
            <a:off x="1562399" y="5947483"/>
            <a:ext cx="580800" cy="18752"/>
          </a:xfrm>
          <a:prstGeom prst="bentConnector3">
            <a:avLst/>
          </a:prstGeom>
        </p:spPr>
        <p:style>
          <a:lnRef idx="3">
            <a:schemeClr val="accent1"/>
          </a:lnRef>
          <a:fillRef idx="0">
            <a:schemeClr val="accent1"/>
          </a:fillRef>
          <a:effectRef idx="2">
            <a:schemeClr val="accent1"/>
          </a:effectRef>
          <a:fontRef idx="minor">
            <a:schemeClr val="tx1"/>
          </a:fontRef>
        </p:style>
      </p:cxnSp>
      <p:sp>
        <p:nvSpPr>
          <p:cNvPr id="67" name="TextBox 66">
            <a:extLst>
              <a:ext uri="{FF2B5EF4-FFF2-40B4-BE49-F238E27FC236}">
                <a16:creationId xmlns:a16="http://schemas.microsoft.com/office/drawing/2014/main" id="{294E4708-B74D-1E94-9409-4D07C1136582}"/>
              </a:ext>
            </a:extLst>
          </p:cNvPr>
          <p:cNvSpPr txBox="1"/>
          <p:nvPr/>
        </p:nvSpPr>
        <p:spPr>
          <a:xfrm>
            <a:off x="1578226" y="5702651"/>
            <a:ext cx="598241" cy="276999"/>
          </a:xfrm>
          <a:prstGeom prst="rect">
            <a:avLst/>
          </a:prstGeom>
          <a:noFill/>
        </p:spPr>
        <p:txBody>
          <a:bodyPr wrap="none" rtlCol="0">
            <a:spAutoFit/>
          </a:bodyPr>
          <a:lstStyle/>
          <a:p>
            <a:r>
              <a:rPr lang="en-US" sz="1200"/>
              <a:t>Load 0</a:t>
            </a:r>
          </a:p>
        </p:txBody>
      </p:sp>
      <p:sp>
        <p:nvSpPr>
          <p:cNvPr id="68" name="TextBox 67">
            <a:extLst>
              <a:ext uri="{FF2B5EF4-FFF2-40B4-BE49-F238E27FC236}">
                <a16:creationId xmlns:a16="http://schemas.microsoft.com/office/drawing/2014/main" id="{A6B21DB3-C7F9-8961-2646-151C406C51CA}"/>
              </a:ext>
            </a:extLst>
          </p:cNvPr>
          <p:cNvSpPr txBox="1"/>
          <p:nvPr/>
        </p:nvSpPr>
        <p:spPr>
          <a:xfrm>
            <a:off x="1852799" y="6533599"/>
            <a:ext cx="790024" cy="276999"/>
          </a:xfrm>
          <a:prstGeom prst="rect">
            <a:avLst/>
          </a:prstGeom>
          <a:noFill/>
        </p:spPr>
        <p:txBody>
          <a:bodyPr wrap="none" rtlCol="0">
            <a:spAutoFit/>
          </a:bodyPr>
          <a:lstStyle/>
          <a:p>
            <a:r>
              <a:rPr lang="en-US" sz="1200"/>
              <a:t>Up/Down</a:t>
            </a:r>
          </a:p>
        </p:txBody>
      </p:sp>
      <p:sp>
        <p:nvSpPr>
          <p:cNvPr id="71" name="Rectangle 70">
            <a:extLst>
              <a:ext uri="{FF2B5EF4-FFF2-40B4-BE49-F238E27FC236}">
                <a16:creationId xmlns:a16="http://schemas.microsoft.com/office/drawing/2014/main" id="{8AC9AE17-B660-758A-1A54-4ADD6379AC38}"/>
              </a:ext>
            </a:extLst>
          </p:cNvPr>
          <p:cNvSpPr/>
          <p:nvPr/>
        </p:nvSpPr>
        <p:spPr>
          <a:xfrm>
            <a:off x="4162298" y="5682803"/>
            <a:ext cx="1317327" cy="5245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245: 3-state</a:t>
            </a:r>
          </a:p>
        </p:txBody>
      </p:sp>
      <p:sp>
        <p:nvSpPr>
          <p:cNvPr id="72" name="Arrow: Right 71">
            <a:extLst>
              <a:ext uri="{FF2B5EF4-FFF2-40B4-BE49-F238E27FC236}">
                <a16:creationId xmlns:a16="http://schemas.microsoft.com/office/drawing/2014/main" id="{CFC39A3D-7F2B-DCAC-BC41-28BE3C6B2C5F}"/>
              </a:ext>
            </a:extLst>
          </p:cNvPr>
          <p:cNvSpPr/>
          <p:nvPr/>
        </p:nvSpPr>
        <p:spPr>
          <a:xfrm>
            <a:off x="3816326" y="5812203"/>
            <a:ext cx="366359"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73" name="Arrow: Right 72">
            <a:extLst>
              <a:ext uri="{FF2B5EF4-FFF2-40B4-BE49-F238E27FC236}">
                <a16:creationId xmlns:a16="http://schemas.microsoft.com/office/drawing/2014/main" id="{D9A714B9-C469-52CF-416E-8652B5D683D8}"/>
              </a:ext>
            </a:extLst>
          </p:cNvPr>
          <p:cNvSpPr/>
          <p:nvPr/>
        </p:nvSpPr>
        <p:spPr>
          <a:xfrm>
            <a:off x="5497850" y="5781567"/>
            <a:ext cx="540407"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75" name="Connector: Elbow 74">
            <a:extLst>
              <a:ext uri="{FF2B5EF4-FFF2-40B4-BE49-F238E27FC236}">
                <a16:creationId xmlns:a16="http://schemas.microsoft.com/office/drawing/2014/main" id="{FBF21372-ACB3-E312-26F3-8C27A935B350}"/>
              </a:ext>
            </a:extLst>
          </p:cNvPr>
          <p:cNvCxnSpPr>
            <a:cxnSpLocks/>
            <a:stCxn id="55" idx="3"/>
            <a:endCxn id="57" idx="1"/>
          </p:cNvCxnSpPr>
          <p:nvPr/>
        </p:nvCxnSpPr>
        <p:spPr>
          <a:xfrm>
            <a:off x="1651637" y="5386166"/>
            <a:ext cx="1502249" cy="655"/>
          </a:xfrm>
          <a:prstGeom prst="bentConnector3">
            <a:avLst/>
          </a:prstGeom>
        </p:spPr>
        <p:style>
          <a:lnRef idx="3">
            <a:schemeClr val="accent1"/>
          </a:lnRef>
          <a:fillRef idx="0">
            <a:schemeClr val="accent1"/>
          </a:fillRef>
          <a:effectRef idx="2">
            <a:schemeClr val="accent1"/>
          </a:effectRef>
          <a:fontRef idx="minor">
            <a:schemeClr val="tx1"/>
          </a:fontRef>
        </p:style>
      </p:cxnSp>
      <p:cxnSp>
        <p:nvCxnSpPr>
          <p:cNvPr id="27" name="Connector: Elbow 26">
            <a:extLst>
              <a:ext uri="{FF2B5EF4-FFF2-40B4-BE49-F238E27FC236}">
                <a16:creationId xmlns:a16="http://schemas.microsoft.com/office/drawing/2014/main" id="{3BA80336-202F-821B-A28F-40DC93D554BB}"/>
              </a:ext>
            </a:extLst>
          </p:cNvPr>
          <p:cNvCxnSpPr>
            <a:cxnSpLocks/>
            <a:stCxn id="54" idx="3"/>
          </p:cNvCxnSpPr>
          <p:nvPr/>
        </p:nvCxnSpPr>
        <p:spPr>
          <a:xfrm flipV="1">
            <a:off x="1677155" y="6204351"/>
            <a:ext cx="1097269" cy="121379"/>
          </a:xfrm>
          <a:prstGeom prst="bentConnector3">
            <a:avLst/>
          </a:prstGeom>
        </p:spPr>
        <p:style>
          <a:lnRef idx="3">
            <a:schemeClr val="accent1"/>
          </a:lnRef>
          <a:fillRef idx="0">
            <a:schemeClr val="accent1"/>
          </a:fillRef>
          <a:effectRef idx="2">
            <a:schemeClr val="accent1"/>
          </a:effectRef>
          <a:fontRef idx="minor">
            <a:schemeClr val="tx1"/>
          </a:fontRef>
        </p:style>
      </p:cxnSp>
      <p:sp>
        <p:nvSpPr>
          <p:cNvPr id="83" name="TextBox 82">
            <a:extLst>
              <a:ext uri="{FF2B5EF4-FFF2-40B4-BE49-F238E27FC236}">
                <a16:creationId xmlns:a16="http://schemas.microsoft.com/office/drawing/2014/main" id="{6ED5FAC1-8CC5-A0E7-DE6F-D4F4F32389EA}"/>
              </a:ext>
            </a:extLst>
          </p:cNvPr>
          <p:cNvSpPr txBox="1"/>
          <p:nvPr/>
        </p:nvSpPr>
        <p:spPr>
          <a:xfrm>
            <a:off x="1896568" y="6249891"/>
            <a:ext cx="558358" cy="276999"/>
          </a:xfrm>
          <a:prstGeom prst="rect">
            <a:avLst/>
          </a:prstGeom>
          <a:noFill/>
        </p:spPr>
        <p:txBody>
          <a:bodyPr wrap="none" rtlCol="0">
            <a:spAutoFit/>
          </a:bodyPr>
          <a:lstStyle/>
          <a:p>
            <a:r>
              <a:rPr lang="en-US" sz="1200"/>
              <a:t>Count</a:t>
            </a:r>
          </a:p>
        </p:txBody>
      </p:sp>
      <p:cxnSp>
        <p:nvCxnSpPr>
          <p:cNvPr id="36" name="Connector: Elbow 35">
            <a:extLst>
              <a:ext uri="{FF2B5EF4-FFF2-40B4-BE49-F238E27FC236}">
                <a16:creationId xmlns:a16="http://schemas.microsoft.com/office/drawing/2014/main" id="{7A36F514-F352-0D36-4FBA-C9626346CE23}"/>
              </a:ext>
            </a:extLst>
          </p:cNvPr>
          <p:cNvCxnSpPr>
            <a:cxnSpLocks/>
          </p:cNvCxnSpPr>
          <p:nvPr/>
        </p:nvCxnSpPr>
        <p:spPr>
          <a:xfrm rot="10800000">
            <a:off x="2931709" y="5193446"/>
            <a:ext cx="6892595" cy="206793"/>
          </a:xfrm>
          <a:prstGeom prst="bentConnector3">
            <a:avLst>
              <a:gd name="adj1" fmla="val 28062"/>
            </a:avLst>
          </a:prstGeom>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19DED4E7-9A87-65B0-A778-2F78256580DD}"/>
              </a:ext>
            </a:extLst>
          </p:cNvPr>
          <p:cNvSpPr txBox="1"/>
          <p:nvPr/>
        </p:nvSpPr>
        <p:spPr>
          <a:xfrm>
            <a:off x="7684350" y="5382103"/>
            <a:ext cx="968855" cy="276999"/>
          </a:xfrm>
          <a:prstGeom prst="rect">
            <a:avLst/>
          </a:prstGeom>
          <a:noFill/>
        </p:spPr>
        <p:txBody>
          <a:bodyPr wrap="none" rtlCol="0">
            <a:spAutoFit/>
          </a:bodyPr>
          <a:lstStyle/>
          <a:p>
            <a:r>
              <a:rPr lang="en-US" sz="1200"/>
              <a:t>Change MSB</a:t>
            </a:r>
          </a:p>
        </p:txBody>
      </p:sp>
      <p:pic>
        <p:nvPicPr>
          <p:cNvPr id="7" name="Picture 6">
            <a:hlinkClick r:id="rId8" action="ppaction://hlinksldjump"/>
            <a:extLst>
              <a:ext uri="{FF2B5EF4-FFF2-40B4-BE49-F238E27FC236}">
                <a16:creationId xmlns:a16="http://schemas.microsoft.com/office/drawing/2014/main" id="{CE0A0B2E-B32C-3E12-8443-DEC701D2042F}"/>
              </a:ext>
            </a:extLst>
          </p:cNvPr>
          <p:cNvPicPr>
            <a:picLocks noChangeAspect="1"/>
          </p:cNvPicPr>
          <p:nvPr/>
        </p:nvPicPr>
        <p:blipFill>
          <a:blip r:embed="rId9"/>
          <a:stretch>
            <a:fillRect/>
          </a:stretch>
        </p:blipFill>
        <p:spPr>
          <a:xfrm>
            <a:off x="11038384" y="6427540"/>
            <a:ext cx="1076851" cy="222744"/>
          </a:xfrm>
          <a:prstGeom prst="rect">
            <a:avLst/>
          </a:prstGeom>
        </p:spPr>
      </p:pic>
      <p:sp>
        <p:nvSpPr>
          <p:cNvPr id="10" name="Slide Number Placeholder 4">
            <a:extLst>
              <a:ext uri="{FF2B5EF4-FFF2-40B4-BE49-F238E27FC236}">
                <a16:creationId xmlns:a16="http://schemas.microsoft.com/office/drawing/2014/main" id="{55BC07DB-924C-0058-602E-334FEC8F3C87}"/>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108</a:t>
            </a:fld>
            <a:endParaRPr lang="en-US" b="1">
              <a:solidFill>
                <a:schemeClr val="bg1"/>
              </a:solidFill>
            </a:endParaRPr>
          </a:p>
        </p:txBody>
      </p:sp>
    </p:spTree>
    <p:extLst>
      <p:ext uri="{BB962C8B-B14F-4D97-AF65-F5344CB8AC3E}">
        <p14:creationId xmlns:p14="http://schemas.microsoft.com/office/powerpoint/2010/main" val="159192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Arrow: Right 56">
            <a:hlinkClick r:id="rId2" action="ppaction://hlinksldjump"/>
            <a:extLst>
              <a:ext uri="{FF2B5EF4-FFF2-40B4-BE49-F238E27FC236}">
                <a16:creationId xmlns:a16="http://schemas.microsoft.com/office/drawing/2014/main" id="{B75AB655-92F0-80AB-EECF-4DFFCAC7B535}"/>
              </a:ext>
            </a:extLst>
          </p:cNvPr>
          <p:cNvSpPr/>
          <p:nvPr/>
        </p:nvSpPr>
        <p:spPr>
          <a:xfrm>
            <a:off x="7248293" y="481803"/>
            <a:ext cx="3938611"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r>
              <a:rPr lang="en-US" sz="1600" err="1"/>
              <a:t>Disp</a:t>
            </a:r>
            <a:r>
              <a:rPr lang="en-US" sz="1600"/>
              <a:t> Char</a:t>
            </a:r>
          </a:p>
        </p:txBody>
      </p:sp>
      <p:sp>
        <p:nvSpPr>
          <p:cNvPr id="30" name="Rectangle 29">
            <a:extLst>
              <a:ext uri="{FF2B5EF4-FFF2-40B4-BE49-F238E27FC236}">
                <a16:creationId xmlns:a16="http://schemas.microsoft.com/office/drawing/2014/main" id="{35B6590C-98C5-1E5A-C2D4-C3F2904DE12F}"/>
              </a:ext>
            </a:extLst>
          </p:cNvPr>
          <p:cNvSpPr/>
          <p:nvPr/>
        </p:nvSpPr>
        <p:spPr>
          <a:xfrm>
            <a:off x="8969314" y="4660973"/>
            <a:ext cx="199685" cy="1653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D73906AC-F7EF-73D5-F109-C10D2236AE6F}"/>
              </a:ext>
            </a:extLst>
          </p:cNvPr>
          <p:cNvSpPr/>
          <p:nvPr/>
        </p:nvSpPr>
        <p:spPr>
          <a:xfrm>
            <a:off x="9228307" y="4862099"/>
            <a:ext cx="199685" cy="1653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4" name="Picture 10" descr="Arduino NANO Pinout">
            <a:extLst>
              <a:ext uri="{FF2B5EF4-FFF2-40B4-BE49-F238E27FC236}">
                <a16:creationId xmlns:a16="http://schemas.microsoft.com/office/drawing/2014/main" id="{1B46F445-FF45-73BB-C899-122E3D2FBB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5507377" y="2394987"/>
            <a:ext cx="6106943" cy="305347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7AB2AA9-4460-4A2E-712F-8D3DA7CC0CED}"/>
              </a:ext>
            </a:extLst>
          </p:cNvPr>
          <p:cNvSpPr>
            <a:spLocks noGrp="1"/>
          </p:cNvSpPr>
          <p:nvPr>
            <p:ph type="ctrTitle"/>
          </p:nvPr>
        </p:nvSpPr>
        <p:spPr>
          <a:xfrm>
            <a:off x="914400" y="457200"/>
            <a:ext cx="3840480" cy="457200"/>
          </a:xfrm>
          <a:prstGeom prst="rect">
            <a:avLst/>
          </a:prstGeom>
          <a:solidFill>
            <a:schemeClr val="accent6">
              <a:lumMod val="20000"/>
              <a:lumOff val="80000"/>
            </a:schemeClr>
          </a:solidFill>
        </p:spPr>
        <p:txBody>
          <a:bodyPr/>
          <a:lstStyle/>
          <a:p>
            <a:r>
              <a:rPr lang="en-US" sz="2400"/>
              <a:t>Display</a:t>
            </a:r>
          </a:p>
        </p:txBody>
      </p:sp>
      <p:pic>
        <p:nvPicPr>
          <p:cNvPr id="1028" name="Picture 4">
            <a:extLst>
              <a:ext uri="{FF2B5EF4-FFF2-40B4-BE49-F238E27FC236}">
                <a16:creationId xmlns:a16="http://schemas.microsoft.com/office/drawing/2014/main" id="{F9C64FB4-C73A-F866-A815-8438A66775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899328" y="2968602"/>
            <a:ext cx="4132558" cy="260833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Connector 6">
            <a:extLst>
              <a:ext uri="{FF2B5EF4-FFF2-40B4-BE49-F238E27FC236}">
                <a16:creationId xmlns:a16="http://schemas.microsoft.com/office/drawing/2014/main" id="{3B5141ED-22B1-CB9A-38A6-B71EB12AB09E}"/>
              </a:ext>
            </a:extLst>
          </p:cNvPr>
          <p:cNvCxnSpPr/>
          <p:nvPr/>
        </p:nvCxnSpPr>
        <p:spPr>
          <a:xfrm flipH="1">
            <a:off x="2305456" y="2120631"/>
            <a:ext cx="564205" cy="563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453D80B-BA77-08A9-BB0A-46F2F532C32F}"/>
              </a:ext>
            </a:extLst>
          </p:cNvPr>
          <p:cNvCxnSpPr/>
          <p:nvPr/>
        </p:nvCxnSpPr>
        <p:spPr>
          <a:xfrm flipH="1" flipV="1">
            <a:off x="2302933" y="4233333"/>
            <a:ext cx="475339" cy="86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9078899-3ED8-72F2-BACA-4E1E6E2C08A1}"/>
              </a:ext>
            </a:extLst>
          </p:cNvPr>
          <p:cNvCxnSpPr/>
          <p:nvPr/>
        </p:nvCxnSpPr>
        <p:spPr>
          <a:xfrm flipH="1">
            <a:off x="2305457" y="2345267"/>
            <a:ext cx="472817" cy="4491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1DF7777-1E61-98F8-BD10-EEC6186FD96C}"/>
              </a:ext>
            </a:extLst>
          </p:cNvPr>
          <p:cNvCxnSpPr>
            <a:cxnSpLocks/>
          </p:cNvCxnSpPr>
          <p:nvPr/>
        </p:nvCxnSpPr>
        <p:spPr>
          <a:xfrm flipV="1">
            <a:off x="2302934" y="2540000"/>
            <a:ext cx="472817" cy="381000"/>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224298B8-098C-536A-2884-1D2C455243F0}"/>
              </a:ext>
            </a:extLst>
          </p:cNvPr>
          <p:cNvPicPr>
            <a:picLocks noChangeAspect="1"/>
          </p:cNvPicPr>
          <p:nvPr/>
        </p:nvPicPr>
        <p:blipFill>
          <a:blip r:embed="rId5"/>
          <a:stretch>
            <a:fillRect/>
          </a:stretch>
        </p:blipFill>
        <p:spPr>
          <a:xfrm>
            <a:off x="2778273" y="2010526"/>
            <a:ext cx="2319023" cy="3183743"/>
          </a:xfrm>
          <a:prstGeom prst="rect">
            <a:avLst/>
          </a:prstGeom>
        </p:spPr>
      </p:pic>
      <p:cxnSp>
        <p:nvCxnSpPr>
          <p:cNvPr id="20" name="Straight Connector 19">
            <a:extLst>
              <a:ext uri="{FF2B5EF4-FFF2-40B4-BE49-F238E27FC236}">
                <a16:creationId xmlns:a16="http://schemas.microsoft.com/office/drawing/2014/main" id="{85023DD4-EB70-9F0E-A22F-C76FEEBE7BB2}"/>
              </a:ext>
            </a:extLst>
          </p:cNvPr>
          <p:cNvCxnSpPr/>
          <p:nvPr/>
        </p:nvCxnSpPr>
        <p:spPr>
          <a:xfrm>
            <a:off x="9426101" y="749811"/>
            <a:ext cx="0" cy="398053"/>
          </a:xfrm>
          <a:prstGeom prst="line">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A6A9531-A09C-79E5-7162-E7FA5EFCFF7D}"/>
              </a:ext>
            </a:extLst>
          </p:cNvPr>
          <p:cNvCxnSpPr/>
          <p:nvPr/>
        </p:nvCxnSpPr>
        <p:spPr>
          <a:xfrm>
            <a:off x="9189392" y="746566"/>
            <a:ext cx="0" cy="398053"/>
          </a:xfrm>
          <a:prstGeom prst="line">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86FF1E0-3B25-B4A5-DD68-D97A12D9305F}"/>
              </a:ext>
            </a:extLst>
          </p:cNvPr>
          <p:cNvCxnSpPr/>
          <p:nvPr/>
        </p:nvCxnSpPr>
        <p:spPr>
          <a:xfrm>
            <a:off x="8985112" y="756292"/>
            <a:ext cx="0" cy="398053"/>
          </a:xfrm>
          <a:prstGeom prst="line">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CE09D4F-3166-7295-9E1D-3F9BEC500539}"/>
              </a:ext>
            </a:extLst>
          </p:cNvPr>
          <p:cNvCxnSpPr/>
          <p:nvPr/>
        </p:nvCxnSpPr>
        <p:spPr>
          <a:xfrm>
            <a:off x="8780833" y="756294"/>
            <a:ext cx="0" cy="398053"/>
          </a:xfrm>
          <a:prstGeom prst="line">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3D156D2-E21B-6775-C1F4-72AA40A4F411}"/>
              </a:ext>
            </a:extLst>
          </p:cNvPr>
          <p:cNvCxnSpPr/>
          <p:nvPr/>
        </p:nvCxnSpPr>
        <p:spPr>
          <a:xfrm>
            <a:off x="8547371" y="756292"/>
            <a:ext cx="0" cy="398053"/>
          </a:xfrm>
          <a:prstGeom prst="line">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DB5B445-03F9-1FAB-19FE-23CB96924ED5}"/>
              </a:ext>
            </a:extLst>
          </p:cNvPr>
          <p:cNvCxnSpPr/>
          <p:nvPr/>
        </p:nvCxnSpPr>
        <p:spPr>
          <a:xfrm>
            <a:off x="8333360" y="756291"/>
            <a:ext cx="0" cy="398053"/>
          </a:xfrm>
          <a:prstGeom prst="line">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CA2B016B-C308-B344-F746-CA9F60F64A40}"/>
              </a:ext>
            </a:extLst>
          </p:cNvPr>
          <p:cNvSpPr txBox="1"/>
          <p:nvPr/>
        </p:nvSpPr>
        <p:spPr>
          <a:xfrm>
            <a:off x="8237744" y="513514"/>
            <a:ext cx="1334020" cy="307777"/>
          </a:xfrm>
          <a:prstGeom prst="rect">
            <a:avLst/>
          </a:prstGeom>
          <a:noFill/>
        </p:spPr>
        <p:txBody>
          <a:bodyPr wrap="none" rtlCol="0">
            <a:spAutoFit/>
          </a:bodyPr>
          <a:lstStyle/>
          <a:p>
            <a:r>
              <a:rPr lang="en-US" sz="1400"/>
              <a:t>5   4   3   2   1   0</a:t>
            </a:r>
          </a:p>
        </p:txBody>
      </p:sp>
      <p:cxnSp>
        <p:nvCxnSpPr>
          <p:cNvPr id="24" name="Connector: Elbow 23">
            <a:extLst>
              <a:ext uri="{FF2B5EF4-FFF2-40B4-BE49-F238E27FC236}">
                <a16:creationId xmlns:a16="http://schemas.microsoft.com/office/drawing/2014/main" id="{B887CD88-CEAE-432C-1ED2-04377ED93248}"/>
              </a:ext>
            </a:extLst>
          </p:cNvPr>
          <p:cNvCxnSpPr>
            <a:cxnSpLocks/>
            <a:endCxn id="30" idx="3"/>
          </p:cNvCxnSpPr>
          <p:nvPr/>
        </p:nvCxnSpPr>
        <p:spPr>
          <a:xfrm rot="5400000">
            <a:off x="7786323" y="2047407"/>
            <a:ext cx="4078928" cy="131357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9023019B-72AC-0395-F890-4B2969552C08}"/>
              </a:ext>
            </a:extLst>
          </p:cNvPr>
          <p:cNvCxnSpPr>
            <a:cxnSpLocks/>
            <a:endCxn id="38" idx="3"/>
          </p:cNvCxnSpPr>
          <p:nvPr/>
        </p:nvCxnSpPr>
        <p:spPr>
          <a:xfrm rot="5400000">
            <a:off x="7923423" y="2162045"/>
            <a:ext cx="4287308" cy="127817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12410751-83A1-BF90-C010-4E1485B9D8B9}"/>
              </a:ext>
            </a:extLst>
          </p:cNvPr>
          <p:cNvSpPr txBox="1"/>
          <p:nvPr/>
        </p:nvSpPr>
        <p:spPr>
          <a:xfrm>
            <a:off x="10355135" y="500544"/>
            <a:ext cx="487634" cy="307777"/>
          </a:xfrm>
          <a:prstGeom prst="rect">
            <a:avLst/>
          </a:prstGeom>
          <a:noFill/>
        </p:spPr>
        <p:txBody>
          <a:bodyPr wrap="none" rtlCol="0">
            <a:spAutoFit/>
          </a:bodyPr>
          <a:lstStyle/>
          <a:p>
            <a:r>
              <a:rPr lang="en-US" sz="1400"/>
              <a:t>6   7</a:t>
            </a:r>
          </a:p>
        </p:txBody>
      </p:sp>
      <p:grpSp>
        <p:nvGrpSpPr>
          <p:cNvPr id="1031" name="Group 1030">
            <a:extLst>
              <a:ext uri="{FF2B5EF4-FFF2-40B4-BE49-F238E27FC236}">
                <a16:creationId xmlns:a16="http://schemas.microsoft.com/office/drawing/2014/main" id="{ED7AE5F5-C5FA-A740-8B80-055B285CC8F0}"/>
              </a:ext>
            </a:extLst>
          </p:cNvPr>
          <p:cNvGrpSpPr/>
          <p:nvPr/>
        </p:nvGrpSpPr>
        <p:grpSpPr>
          <a:xfrm>
            <a:off x="5087567" y="3162062"/>
            <a:ext cx="629931" cy="1659423"/>
            <a:chOff x="5087566" y="3162061"/>
            <a:chExt cx="629931" cy="1659422"/>
          </a:xfrm>
        </p:grpSpPr>
        <p:grpSp>
          <p:nvGrpSpPr>
            <p:cNvPr id="1027" name="Group 1026">
              <a:extLst>
                <a:ext uri="{FF2B5EF4-FFF2-40B4-BE49-F238E27FC236}">
                  <a16:creationId xmlns:a16="http://schemas.microsoft.com/office/drawing/2014/main" id="{FAFCE004-5505-144A-AD1D-E5CAE3A595A1}"/>
                </a:ext>
              </a:extLst>
            </p:cNvPr>
            <p:cNvGrpSpPr/>
            <p:nvPr/>
          </p:nvGrpSpPr>
          <p:grpSpPr>
            <a:xfrm rot="10800000">
              <a:off x="5251603" y="3162061"/>
              <a:ext cx="465894" cy="1659422"/>
              <a:chOff x="5868759" y="3798062"/>
              <a:chExt cx="465894" cy="1659422"/>
            </a:xfrm>
          </p:grpSpPr>
          <p:pic>
            <p:nvPicPr>
              <p:cNvPr id="42" name="Picture 10" descr="Arduino NANO Pinout">
                <a:extLst>
                  <a:ext uri="{FF2B5EF4-FFF2-40B4-BE49-F238E27FC236}">
                    <a16:creationId xmlns:a16="http://schemas.microsoft.com/office/drawing/2014/main" id="{0749BAD4-C0C7-397B-D7FE-765EC076F18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9585" t="32384" r="22785" b="27512"/>
              <a:stretch/>
            </p:blipFill>
            <p:spPr bwMode="auto">
              <a:xfrm>
                <a:off x="5868759" y="3798062"/>
                <a:ext cx="465894" cy="1224546"/>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10" descr="Arduino NANO Pinout">
                <a:extLst>
                  <a:ext uri="{FF2B5EF4-FFF2-40B4-BE49-F238E27FC236}">
                    <a16:creationId xmlns:a16="http://schemas.microsoft.com/office/drawing/2014/main" id="{3EBA5ACB-D2F7-E894-3012-F77AF2D8536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9585" t="85758" r="22785"/>
              <a:stretch/>
            </p:blipFill>
            <p:spPr bwMode="auto">
              <a:xfrm>
                <a:off x="5868759" y="5022609"/>
                <a:ext cx="465894" cy="434875"/>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030" name="Straight Arrow Connector 1029">
              <a:extLst>
                <a:ext uri="{FF2B5EF4-FFF2-40B4-BE49-F238E27FC236}">
                  <a16:creationId xmlns:a16="http://schemas.microsoft.com/office/drawing/2014/main" id="{627DC777-6B0C-677F-92DA-B7EB9D62C065}"/>
                </a:ext>
              </a:extLst>
            </p:cNvPr>
            <p:cNvCxnSpPr>
              <a:cxnSpLocks/>
            </p:cNvCxnSpPr>
            <p:nvPr/>
          </p:nvCxnSpPr>
          <p:spPr>
            <a:xfrm flipH="1">
              <a:off x="5087566" y="3297677"/>
              <a:ext cx="204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9F1040E1-126F-A9F5-C413-D1D7667ADC67}"/>
                </a:ext>
              </a:extLst>
            </p:cNvPr>
            <p:cNvCxnSpPr>
              <a:cxnSpLocks/>
            </p:cNvCxnSpPr>
            <p:nvPr/>
          </p:nvCxnSpPr>
          <p:spPr>
            <a:xfrm flipH="1">
              <a:off x="5087566" y="3497325"/>
              <a:ext cx="204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29D9EE3E-B958-C49C-03CE-F684B0CAEF01}"/>
                </a:ext>
              </a:extLst>
            </p:cNvPr>
            <p:cNvCxnSpPr>
              <a:cxnSpLocks/>
            </p:cNvCxnSpPr>
            <p:nvPr/>
          </p:nvCxnSpPr>
          <p:spPr>
            <a:xfrm flipH="1">
              <a:off x="5087566" y="3696973"/>
              <a:ext cx="204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3225E524-99F7-4FD5-0DD8-0DFCA35C946E}"/>
                </a:ext>
              </a:extLst>
            </p:cNvPr>
            <p:cNvCxnSpPr>
              <a:cxnSpLocks/>
            </p:cNvCxnSpPr>
            <p:nvPr/>
          </p:nvCxnSpPr>
          <p:spPr>
            <a:xfrm flipH="1">
              <a:off x="5087566" y="3896621"/>
              <a:ext cx="204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C384946A-D663-0911-3AAA-7565A1838456}"/>
                </a:ext>
              </a:extLst>
            </p:cNvPr>
            <p:cNvCxnSpPr>
              <a:cxnSpLocks/>
            </p:cNvCxnSpPr>
            <p:nvPr/>
          </p:nvCxnSpPr>
          <p:spPr>
            <a:xfrm flipH="1">
              <a:off x="5087566" y="4096269"/>
              <a:ext cx="204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EB84A6A5-68D1-5237-1D4A-A3879288AD03}"/>
                </a:ext>
              </a:extLst>
            </p:cNvPr>
            <p:cNvCxnSpPr>
              <a:cxnSpLocks/>
            </p:cNvCxnSpPr>
            <p:nvPr/>
          </p:nvCxnSpPr>
          <p:spPr>
            <a:xfrm flipH="1">
              <a:off x="5087566" y="4295917"/>
              <a:ext cx="204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5E1A62D7-8E42-A2EC-48BD-DD055D7AA648}"/>
                </a:ext>
              </a:extLst>
            </p:cNvPr>
            <p:cNvCxnSpPr>
              <a:cxnSpLocks/>
            </p:cNvCxnSpPr>
            <p:nvPr/>
          </p:nvCxnSpPr>
          <p:spPr>
            <a:xfrm flipH="1">
              <a:off x="5087566" y="4495565"/>
              <a:ext cx="204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1EB8B4E-978E-E298-47A3-3048B111393A}"/>
                </a:ext>
              </a:extLst>
            </p:cNvPr>
            <p:cNvCxnSpPr>
              <a:cxnSpLocks/>
            </p:cNvCxnSpPr>
            <p:nvPr/>
          </p:nvCxnSpPr>
          <p:spPr>
            <a:xfrm flipH="1">
              <a:off x="5087566" y="4695214"/>
              <a:ext cx="2042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pic>
        <p:nvPicPr>
          <p:cNvPr id="1035" name="Picture 1034">
            <a:extLst>
              <a:ext uri="{FF2B5EF4-FFF2-40B4-BE49-F238E27FC236}">
                <a16:creationId xmlns:a16="http://schemas.microsoft.com/office/drawing/2014/main" id="{028C68CA-A346-8F63-85B6-5238C25D4E5C}"/>
              </a:ext>
            </a:extLst>
          </p:cNvPr>
          <p:cNvPicPr>
            <a:picLocks noChangeAspect="1"/>
          </p:cNvPicPr>
          <p:nvPr/>
        </p:nvPicPr>
        <p:blipFill>
          <a:blip r:embed="rId6"/>
          <a:stretch>
            <a:fillRect/>
          </a:stretch>
        </p:blipFill>
        <p:spPr>
          <a:xfrm>
            <a:off x="5383102" y="2635941"/>
            <a:ext cx="447737" cy="476316"/>
          </a:xfrm>
          <a:prstGeom prst="rect">
            <a:avLst/>
          </a:prstGeom>
        </p:spPr>
      </p:pic>
      <p:cxnSp>
        <p:nvCxnSpPr>
          <p:cNvPr id="1037" name="Connector: Elbow 1036">
            <a:extLst>
              <a:ext uri="{FF2B5EF4-FFF2-40B4-BE49-F238E27FC236}">
                <a16:creationId xmlns:a16="http://schemas.microsoft.com/office/drawing/2014/main" id="{8BFAD60F-3758-C6C7-7683-25C5A8508BEC}"/>
              </a:ext>
            </a:extLst>
          </p:cNvPr>
          <p:cNvCxnSpPr>
            <a:cxnSpLocks/>
          </p:cNvCxnSpPr>
          <p:nvPr/>
        </p:nvCxnSpPr>
        <p:spPr>
          <a:xfrm rot="10800000">
            <a:off x="5070924" y="2730502"/>
            <a:ext cx="333529" cy="3123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Connector: Elbow 59">
            <a:extLst>
              <a:ext uri="{FF2B5EF4-FFF2-40B4-BE49-F238E27FC236}">
                <a16:creationId xmlns:a16="http://schemas.microsoft.com/office/drawing/2014/main" id="{C849B9E1-49B8-F678-22E9-B1A0FA2CAE4F}"/>
              </a:ext>
            </a:extLst>
          </p:cNvPr>
          <p:cNvCxnSpPr>
            <a:cxnSpLocks/>
          </p:cNvCxnSpPr>
          <p:nvPr/>
        </p:nvCxnSpPr>
        <p:spPr>
          <a:xfrm rot="10800000" flipV="1">
            <a:off x="5042327" y="3023106"/>
            <a:ext cx="362125" cy="12333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3" name="Connector: Elbow 1042">
            <a:extLst>
              <a:ext uri="{FF2B5EF4-FFF2-40B4-BE49-F238E27FC236}">
                <a16:creationId xmlns:a16="http://schemas.microsoft.com/office/drawing/2014/main" id="{865D1746-EB94-E5E3-0D93-3A5F367A4523}"/>
              </a:ext>
            </a:extLst>
          </p:cNvPr>
          <p:cNvCxnSpPr>
            <a:cxnSpLocks/>
            <a:stCxn id="78" idx="3"/>
          </p:cNvCxnSpPr>
          <p:nvPr/>
        </p:nvCxnSpPr>
        <p:spPr>
          <a:xfrm rot="10800000">
            <a:off x="9627678" y="5088747"/>
            <a:ext cx="1128725" cy="10270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5F0F1C0C-073C-EBC4-974C-926E8D5DC148}"/>
              </a:ext>
            </a:extLst>
          </p:cNvPr>
          <p:cNvSpPr txBox="1"/>
          <p:nvPr/>
        </p:nvSpPr>
        <p:spPr>
          <a:xfrm>
            <a:off x="5469157" y="1206961"/>
            <a:ext cx="276417" cy="215444"/>
          </a:xfrm>
          <a:prstGeom prst="rect">
            <a:avLst/>
          </a:prstGeom>
          <a:solidFill>
            <a:srgbClr val="FFC000"/>
          </a:solidFill>
        </p:spPr>
        <p:txBody>
          <a:bodyPr wrap="square" lIns="0" tIns="0" rIns="0" bIns="0" rtlCol="0" anchor="ctr">
            <a:spAutoFit/>
          </a:bodyPr>
          <a:lstStyle/>
          <a:p>
            <a:pPr algn="ctr"/>
            <a:r>
              <a:rPr lang="en-US" sz="1400"/>
              <a:t>MR</a:t>
            </a:r>
          </a:p>
        </p:txBody>
      </p:sp>
      <p:cxnSp>
        <p:nvCxnSpPr>
          <p:cNvPr id="69" name="Connector: Elbow 68">
            <a:extLst>
              <a:ext uri="{FF2B5EF4-FFF2-40B4-BE49-F238E27FC236}">
                <a16:creationId xmlns:a16="http://schemas.microsoft.com/office/drawing/2014/main" id="{88364825-AA3F-9D2F-EABF-8EABD9191DA9}"/>
              </a:ext>
            </a:extLst>
          </p:cNvPr>
          <p:cNvCxnSpPr>
            <a:cxnSpLocks/>
            <a:stCxn id="68" idx="3"/>
          </p:cNvCxnSpPr>
          <p:nvPr/>
        </p:nvCxnSpPr>
        <p:spPr>
          <a:xfrm>
            <a:off x="5745574" y="1314683"/>
            <a:ext cx="1812818" cy="132125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Connector: Elbow 70">
            <a:extLst>
              <a:ext uri="{FF2B5EF4-FFF2-40B4-BE49-F238E27FC236}">
                <a16:creationId xmlns:a16="http://schemas.microsoft.com/office/drawing/2014/main" id="{2996E15F-6502-337B-5C0A-F2C19E12EAAD}"/>
              </a:ext>
            </a:extLst>
          </p:cNvPr>
          <p:cNvCxnSpPr>
            <a:cxnSpLocks/>
            <a:stCxn id="73" idx="0"/>
          </p:cNvCxnSpPr>
          <p:nvPr/>
        </p:nvCxnSpPr>
        <p:spPr>
          <a:xfrm rot="5400000" flipH="1" flipV="1">
            <a:off x="6397856" y="4368393"/>
            <a:ext cx="964897" cy="221686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73" name="TextBox 72">
            <a:hlinkClick r:id="rId2" action="ppaction://hlinksldjump"/>
            <a:extLst>
              <a:ext uri="{FF2B5EF4-FFF2-40B4-BE49-F238E27FC236}">
                <a16:creationId xmlns:a16="http://schemas.microsoft.com/office/drawing/2014/main" id="{0EEDF95F-0DFC-47AF-CEC9-77BFEC264395}"/>
              </a:ext>
            </a:extLst>
          </p:cNvPr>
          <p:cNvSpPr txBox="1"/>
          <p:nvPr/>
        </p:nvSpPr>
        <p:spPr>
          <a:xfrm>
            <a:off x="5221945" y="5959273"/>
            <a:ext cx="1099853" cy="307777"/>
          </a:xfrm>
          <a:prstGeom prst="rect">
            <a:avLst/>
          </a:prstGeom>
          <a:noFill/>
          <a:ln w="12700">
            <a:solidFill>
              <a:srgbClr val="00B050"/>
            </a:solidFill>
          </a:ln>
        </p:spPr>
        <p:txBody>
          <a:bodyPr wrap="none" rtlCol="0">
            <a:spAutoFit/>
          </a:bodyPr>
          <a:lstStyle/>
          <a:p>
            <a:r>
              <a:rPr lang="en-US" sz="1400"/>
              <a:t>Display Load</a:t>
            </a:r>
          </a:p>
        </p:txBody>
      </p:sp>
      <p:sp>
        <p:nvSpPr>
          <p:cNvPr id="78" name="Arrow: Right 77">
            <a:hlinkClick r:id="rId7" action="ppaction://hlinksldjump"/>
            <a:extLst>
              <a:ext uri="{FF2B5EF4-FFF2-40B4-BE49-F238E27FC236}">
                <a16:creationId xmlns:a16="http://schemas.microsoft.com/office/drawing/2014/main" id="{DF305B7A-8A74-D1DF-5489-EA678A665B17}"/>
              </a:ext>
            </a:extLst>
          </p:cNvPr>
          <p:cNvSpPr/>
          <p:nvPr/>
        </p:nvSpPr>
        <p:spPr>
          <a:xfrm flipH="1">
            <a:off x="10756402" y="4994374"/>
            <a:ext cx="1053793" cy="394164"/>
          </a:xfrm>
          <a:prstGeom prst="rightArrow">
            <a:avLst/>
          </a:prstGeom>
          <a:solidFill>
            <a:schemeClr val="accent5">
              <a:lumMod val="75000"/>
            </a:schemeClr>
          </a:solidFill>
        </p:spPr>
        <p:style>
          <a:lnRef idx="1">
            <a:schemeClr val="accent5"/>
          </a:lnRef>
          <a:fillRef idx="2">
            <a:schemeClr val="accent5"/>
          </a:fillRef>
          <a:effectRef idx="1">
            <a:schemeClr val="accent5"/>
          </a:effectRef>
          <a:fontRef idx="minor">
            <a:schemeClr val="dk1"/>
          </a:fontRef>
        </p:style>
        <p:txBody>
          <a:bodyPr wrap="none" lIns="0" tIns="0" rIns="0" bIns="0" rtlCol="0" anchor="ctr"/>
          <a:lstStyle/>
          <a:p>
            <a:pPr algn="ctr"/>
            <a:r>
              <a:rPr lang="en-US" sz="1200">
                <a:solidFill>
                  <a:schemeClr val="bg1"/>
                </a:solidFill>
              </a:rPr>
              <a:t>OpCode [5] A/I</a:t>
            </a:r>
          </a:p>
        </p:txBody>
      </p:sp>
      <p:sp>
        <p:nvSpPr>
          <p:cNvPr id="4" name="TextBox 3">
            <a:extLst>
              <a:ext uri="{FF2B5EF4-FFF2-40B4-BE49-F238E27FC236}">
                <a16:creationId xmlns:a16="http://schemas.microsoft.com/office/drawing/2014/main" id="{EF455111-B784-B9C0-9788-4672481E5E5C}"/>
              </a:ext>
            </a:extLst>
          </p:cNvPr>
          <p:cNvSpPr txBox="1"/>
          <p:nvPr/>
        </p:nvSpPr>
        <p:spPr>
          <a:xfrm>
            <a:off x="6452077" y="4750471"/>
            <a:ext cx="476412" cy="276999"/>
          </a:xfrm>
          <a:prstGeom prst="rect">
            <a:avLst/>
          </a:prstGeom>
          <a:noFill/>
        </p:spPr>
        <p:txBody>
          <a:bodyPr wrap="none" rtlCol="0">
            <a:spAutoFit/>
          </a:bodyPr>
          <a:lstStyle/>
          <a:p>
            <a:r>
              <a:rPr lang="en-US" sz="1200"/>
              <a:t>INT0</a:t>
            </a:r>
          </a:p>
        </p:txBody>
      </p:sp>
      <p:pic>
        <p:nvPicPr>
          <p:cNvPr id="10" name="Picture 9">
            <a:extLst>
              <a:ext uri="{FF2B5EF4-FFF2-40B4-BE49-F238E27FC236}">
                <a16:creationId xmlns:a16="http://schemas.microsoft.com/office/drawing/2014/main" id="{2AAE9BAB-F1AF-1964-6C5A-D6C60B273AD2}"/>
              </a:ext>
            </a:extLst>
          </p:cNvPr>
          <p:cNvPicPr>
            <a:picLocks noChangeAspect="1"/>
          </p:cNvPicPr>
          <p:nvPr/>
        </p:nvPicPr>
        <p:blipFill>
          <a:blip r:embed="rId8"/>
          <a:stretch>
            <a:fillRect/>
          </a:stretch>
        </p:blipFill>
        <p:spPr>
          <a:xfrm rot="16200000">
            <a:off x="5504784" y="3509173"/>
            <a:ext cx="180045" cy="414103"/>
          </a:xfrm>
          <a:prstGeom prst="rect">
            <a:avLst/>
          </a:prstGeom>
        </p:spPr>
      </p:pic>
      <p:pic>
        <p:nvPicPr>
          <p:cNvPr id="3" name="Picture 2">
            <a:hlinkClick r:id="rId9" action="ppaction://hlinksldjump"/>
            <a:extLst>
              <a:ext uri="{FF2B5EF4-FFF2-40B4-BE49-F238E27FC236}">
                <a16:creationId xmlns:a16="http://schemas.microsoft.com/office/drawing/2014/main" id="{960D98DD-258F-BD04-F955-D6B85A6A90BA}"/>
              </a:ext>
            </a:extLst>
          </p:cNvPr>
          <p:cNvPicPr>
            <a:picLocks noChangeAspect="1"/>
          </p:cNvPicPr>
          <p:nvPr/>
        </p:nvPicPr>
        <p:blipFill>
          <a:blip r:embed="rId10"/>
          <a:stretch>
            <a:fillRect/>
          </a:stretch>
        </p:blipFill>
        <p:spPr>
          <a:xfrm>
            <a:off x="11038384" y="6427540"/>
            <a:ext cx="1076851" cy="222744"/>
          </a:xfrm>
          <a:prstGeom prst="rect">
            <a:avLst/>
          </a:prstGeom>
        </p:spPr>
      </p:pic>
    </p:spTree>
    <p:extLst>
      <p:ext uri="{BB962C8B-B14F-4D97-AF65-F5344CB8AC3E}">
        <p14:creationId xmlns:p14="http://schemas.microsoft.com/office/powerpoint/2010/main" val="1309987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DE12C-0A14-399D-01E0-A0E6EB694463}"/>
              </a:ext>
            </a:extLst>
          </p:cNvPr>
          <p:cNvSpPr>
            <a:spLocks noGrp="1"/>
          </p:cNvSpPr>
          <p:nvPr>
            <p:ph type="ctrTitle"/>
          </p:nvPr>
        </p:nvSpPr>
        <p:spPr>
          <a:xfrm>
            <a:off x="914400" y="457200"/>
            <a:ext cx="3840480" cy="457200"/>
          </a:xfrm>
          <a:prstGeom prst="rect">
            <a:avLst/>
          </a:prstGeom>
          <a:solidFill>
            <a:schemeClr val="accent6">
              <a:lumMod val="20000"/>
              <a:lumOff val="80000"/>
            </a:schemeClr>
          </a:solidFill>
        </p:spPr>
        <p:txBody>
          <a:bodyPr/>
          <a:lstStyle/>
          <a:p>
            <a:r>
              <a:rPr lang="en-US" sz="2400"/>
              <a:t>Display Load</a:t>
            </a:r>
          </a:p>
        </p:txBody>
      </p:sp>
      <p:sp>
        <p:nvSpPr>
          <p:cNvPr id="4" name="TextBox 3">
            <a:hlinkClick r:id="rId3" action="ppaction://hlinksldjump"/>
            <a:extLst>
              <a:ext uri="{FF2B5EF4-FFF2-40B4-BE49-F238E27FC236}">
                <a16:creationId xmlns:a16="http://schemas.microsoft.com/office/drawing/2014/main" id="{F22EFD1E-98D5-FA19-F8DC-9C5985FD3923}"/>
              </a:ext>
            </a:extLst>
          </p:cNvPr>
          <p:cNvSpPr txBox="1"/>
          <p:nvPr/>
        </p:nvSpPr>
        <p:spPr>
          <a:xfrm>
            <a:off x="9564371" y="4046710"/>
            <a:ext cx="1099853" cy="307777"/>
          </a:xfrm>
          <a:prstGeom prst="rect">
            <a:avLst/>
          </a:prstGeom>
          <a:noFill/>
          <a:ln w="12700">
            <a:solidFill>
              <a:srgbClr val="00B050"/>
            </a:solidFill>
          </a:ln>
        </p:spPr>
        <p:txBody>
          <a:bodyPr wrap="none" rtlCol="0">
            <a:spAutoFit/>
          </a:bodyPr>
          <a:lstStyle/>
          <a:p>
            <a:r>
              <a:rPr lang="en-US" sz="1400"/>
              <a:t>Display Load</a:t>
            </a:r>
          </a:p>
        </p:txBody>
      </p:sp>
      <p:sp>
        <p:nvSpPr>
          <p:cNvPr id="5" name="Rectangle 4">
            <a:hlinkClick r:id="rId4" action="ppaction://hlinksldjump"/>
            <a:extLst>
              <a:ext uri="{FF2B5EF4-FFF2-40B4-BE49-F238E27FC236}">
                <a16:creationId xmlns:a16="http://schemas.microsoft.com/office/drawing/2014/main" id="{BDD7669F-B26F-880C-699F-EEC262237AFF}"/>
              </a:ext>
            </a:extLst>
          </p:cNvPr>
          <p:cNvSpPr/>
          <p:nvPr/>
        </p:nvSpPr>
        <p:spPr>
          <a:xfrm>
            <a:off x="2351512" y="268310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400"/>
              <a:t>µC 6: Out Reg H</a:t>
            </a:r>
          </a:p>
        </p:txBody>
      </p:sp>
      <p:sp>
        <p:nvSpPr>
          <p:cNvPr id="6" name="Rectangle 5">
            <a:hlinkClick r:id="rId4" action="ppaction://hlinksldjump"/>
            <a:extLst>
              <a:ext uri="{FF2B5EF4-FFF2-40B4-BE49-F238E27FC236}">
                <a16:creationId xmlns:a16="http://schemas.microsoft.com/office/drawing/2014/main" id="{E62F9634-F983-BDA1-7487-FD2330D8D7E1}"/>
              </a:ext>
            </a:extLst>
          </p:cNvPr>
          <p:cNvSpPr/>
          <p:nvPr/>
        </p:nvSpPr>
        <p:spPr>
          <a:xfrm>
            <a:off x="2351512" y="3464301"/>
            <a:ext cx="1463040" cy="182880"/>
          </a:xfrm>
          <a:prstGeom prst="rect">
            <a:avLst/>
          </a:prstGeom>
        </p:spPr>
        <p:style>
          <a:lnRef idx="2">
            <a:schemeClr val="accent5"/>
          </a:lnRef>
          <a:fillRef idx="1">
            <a:schemeClr val="lt1"/>
          </a:fillRef>
          <a:effectRef idx="0">
            <a:schemeClr val="accent5"/>
          </a:effectRef>
          <a:fontRef idx="minor">
            <a:schemeClr val="dk1"/>
          </a:fontRef>
        </p:style>
        <p:txBody>
          <a:bodyPr wrap="none" rtlCol="0" anchor="ctr"/>
          <a:lstStyle/>
          <a:p>
            <a:pPr algn="ctr"/>
            <a:r>
              <a:rPr lang="en-US" sz="1400"/>
              <a:t>µC 3: Reg Out Select</a:t>
            </a:r>
          </a:p>
        </p:txBody>
      </p:sp>
      <p:grpSp>
        <p:nvGrpSpPr>
          <p:cNvPr id="7" name="Group 6">
            <a:extLst>
              <a:ext uri="{FF2B5EF4-FFF2-40B4-BE49-F238E27FC236}">
                <a16:creationId xmlns:a16="http://schemas.microsoft.com/office/drawing/2014/main" id="{2E72ACD0-C038-DB63-1B00-AA043228E6D6}"/>
              </a:ext>
            </a:extLst>
          </p:cNvPr>
          <p:cNvGrpSpPr/>
          <p:nvPr/>
        </p:nvGrpSpPr>
        <p:grpSpPr>
          <a:xfrm>
            <a:off x="2523815" y="4245493"/>
            <a:ext cx="1067229" cy="307777"/>
            <a:chOff x="1992327" y="3559447"/>
            <a:chExt cx="1067229" cy="307778"/>
          </a:xfrm>
        </p:grpSpPr>
        <p:sp>
          <p:nvSpPr>
            <p:cNvPr id="8" name="TextBox 7">
              <a:hlinkClick r:id="rId5" action="ppaction://hlinksldjump"/>
              <a:extLst>
                <a:ext uri="{FF2B5EF4-FFF2-40B4-BE49-F238E27FC236}">
                  <a16:creationId xmlns:a16="http://schemas.microsoft.com/office/drawing/2014/main" id="{11DB4CC6-2ACD-9E03-BBE0-A35966F898C9}"/>
                </a:ext>
              </a:extLst>
            </p:cNvPr>
            <p:cNvSpPr txBox="1"/>
            <p:nvPr/>
          </p:nvSpPr>
          <p:spPr>
            <a:xfrm>
              <a:off x="1992327" y="3559447"/>
              <a:ext cx="1045479" cy="307778"/>
            </a:xfrm>
            <a:prstGeom prst="rect">
              <a:avLst/>
            </a:prstGeom>
            <a:noFill/>
            <a:ln>
              <a:solidFill>
                <a:schemeClr val="accent1"/>
              </a:solidFill>
            </a:ln>
          </p:spPr>
          <p:txBody>
            <a:bodyPr wrap="none" rtlCol="0">
              <a:spAutoFit/>
            </a:bodyPr>
            <a:lstStyle/>
            <a:p>
              <a:r>
                <a:rPr lang="en-US" sz="1400"/>
                <a:t>OpCode_08</a:t>
              </a:r>
            </a:p>
          </p:txBody>
        </p:sp>
        <p:cxnSp>
          <p:nvCxnSpPr>
            <p:cNvPr id="9" name="Straight Connector 8">
              <a:extLst>
                <a:ext uri="{FF2B5EF4-FFF2-40B4-BE49-F238E27FC236}">
                  <a16:creationId xmlns:a16="http://schemas.microsoft.com/office/drawing/2014/main" id="{C0241BB4-24DE-FC20-F900-7215B5C72AF2}"/>
                </a:ext>
              </a:extLst>
            </p:cNvPr>
            <p:cNvCxnSpPr>
              <a:cxnSpLocks/>
            </p:cNvCxnSpPr>
            <p:nvPr/>
          </p:nvCxnSpPr>
          <p:spPr>
            <a:xfrm>
              <a:off x="2080151" y="3626824"/>
              <a:ext cx="979405"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55558F1D-B9D7-C7AD-95BB-4D03EA561C2A}"/>
              </a:ext>
            </a:extLst>
          </p:cNvPr>
          <p:cNvGrpSpPr/>
          <p:nvPr/>
        </p:nvGrpSpPr>
        <p:grpSpPr>
          <a:xfrm>
            <a:off x="2498167" y="5213143"/>
            <a:ext cx="1067229" cy="307777"/>
            <a:chOff x="1992327" y="3559447"/>
            <a:chExt cx="1067229" cy="307778"/>
          </a:xfrm>
        </p:grpSpPr>
        <p:sp>
          <p:nvSpPr>
            <p:cNvPr id="11" name="TextBox 10">
              <a:hlinkClick r:id="rId5" action="ppaction://hlinksldjump"/>
              <a:extLst>
                <a:ext uri="{FF2B5EF4-FFF2-40B4-BE49-F238E27FC236}">
                  <a16:creationId xmlns:a16="http://schemas.microsoft.com/office/drawing/2014/main" id="{EFD24160-56F3-0DC8-D994-D762AA0A96D1}"/>
                </a:ext>
              </a:extLst>
            </p:cNvPr>
            <p:cNvSpPr txBox="1"/>
            <p:nvPr/>
          </p:nvSpPr>
          <p:spPr>
            <a:xfrm>
              <a:off x="1992327" y="3559447"/>
              <a:ext cx="1064715" cy="307778"/>
            </a:xfrm>
            <a:prstGeom prst="rect">
              <a:avLst/>
            </a:prstGeom>
            <a:noFill/>
            <a:ln>
              <a:solidFill>
                <a:schemeClr val="accent1"/>
              </a:solidFill>
            </a:ln>
          </p:spPr>
          <p:txBody>
            <a:bodyPr wrap="none" rtlCol="0">
              <a:spAutoFit/>
            </a:bodyPr>
            <a:lstStyle/>
            <a:p>
              <a:r>
                <a:rPr lang="en-US" sz="1400"/>
                <a:t>OpCode_0D</a:t>
              </a:r>
            </a:p>
          </p:txBody>
        </p:sp>
        <p:cxnSp>
          <p:nvCxnSpPr>
            <p:cNvPr id="12" name="Straight Connector 11">
              <a:extLst>
                <a:ext uri="{FF2B5EF4-FFF2-40B4-BE49-F238E27FC236}">
                  <a16:creationId xmlns:a16="http://schemas.microsoft.com/office/drawing/2014/main" id="{4E5F9BC0-3B78-EA18-4E02-6A3D13D57483}"/>
                </a:ext>
              </a:extLst>
            </p:cNvPr>
            <p:cNvCxnSpPr>
              <a:cxnSpLocks/>
            </p:cNvCxnSpPr>
            <p:nvPr/>
          </p:nvCxnSpPr>
          <p:spPr>
            <a:xfrm>
              <a:off x="2080151" y="3626824"/>
              <a:ext cx="979405"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3" name="Picture 12" descr="Diagram&#10;&#10;Description automatically generated with low confidence">
            <a:extLst>
              <a:ext uri="{FF2B5EF4-FFF2-40B4-BE49-F238E27FC236}">
                <a16:creationId xmlns:a16="http://schemas.microsoft.com/office/drawing/2014/main" id="{D5F38EF1-C7E0-D66C-1D8C-8FBAA37CBDCE}"/>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50000" t="19257" r="4045" b="-1180"/>
          <a:stretch/>
        </p:blipFill>
        <p:spPr>
          <a:xfrm>
            <a:off x="4877562" y="4753621"/>
            <a:ext cx="659287" cy="459531"/>
          </a:xfrm>
          <a:prstGeom prst="rect">
            <a:avLst/>
          </a:prstGeom>
        </p:spPr>
      </p:pic>
      <p:cxnSp>
        <p:nvCxnSpPr>
          <p:cNvPr id="15" name="Connector: Elbow 14">
            <a:extLst>
              <a:ext uri="{FF2B5EF4-FFF2-40B4-BE49-F238E27FC236}">
                <a16:creationId xmlns:a16="http://schemas.microsoft.com/office/drawing/2014/main" id="{CDC03B04-84A1-5546-4AF0-5F5DDA380307}"/>
              </a:ext>
            </a:extLst>
          </p:cNvPr>
          <p:cNvCxnSpPr>
            <a:stCxn id="8" idx="3"/>
          </p:cNvCxnSpPr>
          <p:nvPr/>
        </p:nvCxnSpPr>
        <p:spPr>
          <a:xfrm>
            <a:off x="3569294" y="4399382"/>
            <a:ext cx="1362629" cy="435266"/>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2F1E715D-431E-ADA8-D6C9-ADD6106EABB2}"/>
              </a:ext>
            </a:extLst>
          </p:cNvPr>
          <p:cNvCxnSpPr>
            <a:stCxn id="11" idx="3"/>
          </p:cNvCxnSpPr>
          <p:nvPr/>
        </p:nvCxnSpPr>
        <p:spPr>
          <a:xfrm flipV="1">
            <a:off x="3562882" y="5126478"/>
            <a:ext cx="1417681" cy="240554"/>
          </a:xfrm>
          <a:prstGeom prst="bentConnector3">
            <a:avLst/>
          </a:prstGeom>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4ACA9861-A523-80C5-E204-363939E43A77}"/>
              </a:ext>
            </a:extLst>
          </p:cNvPr>
          <p:cNvPicPr>
            <a:picLocks noChangeAspect="1"/>
          </p:cNvPicPr>
          <p:nvPr/>
        </p:nvPicPr>
        <p:blipFill rotWithShape="1">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rcRect l="65790" t="23028" r="7330" b="48750"/>
          <a:stretch/>
        </p:blipFill>
        <p:spPr>
          <a:xfrm>
            <a:off x="4877561" y="2865981"/>
            <a:ext cx="778849" cy="604563"/>
          </a:xfrm>
          <a:prstGeom prst="rect">
            <a:avLst/>
          </a:prstGeom>
        </p:spPr>
      </p:pic>
      <p:cxnSp>
        <p:nvCxnSpPr>
          <p:cNvPr id="20" name="Connector: Elbow 19">
            <a:extLst>
              <a:ext uri="{FF2B5EF4-FFF2-40B4-BE49-F238E27FC236}">
                <a16:creationId xmlns:a16="http://schemas.microsoft.com/office/drawing/2014/main" id="{1EA2228E-FFF4-5071-CA57-CB86B5FD2CB5}"/>
              </a:ext>
            </a:extLst>
          </p:cNvPr>
          <p:cNvCxnSpPr>
            <a:stCxn id="5" idx="3"/>
          </p:cNvCxnSpPr>
          <p:nvPr/>
        </p:nvCxnSpPr>
        <p:spPr>
          <a:xfrm>
            <a:off x="3814552" y="2774542"/>
            <a:ext cx="1166011" cy="260489"/>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7B5F64C9-4CC9-1598-D110-15A6902C1940}"/>
              </a:ext>
            </a:extLst>
          </p:cNvPr>
          <p:cNvCxnSpPr>
            <a:stCxn id="6" idx="3"/>
          </p:cNvCxnSpPr>
          <p:nvPr/>
        </p:nvCxnSpPr>
        <p:spPr>
          <a:xfrm flipV="1">
            <a:off x="3814552" y="3238837"/>
            <a:ext cx="1166011" cy="316905"/>
          </a:xfrm>
          <a:prstGeom prst="bentConnector3">
            <a:avLst/>
          </a:prstGeom>
        </p:spPr>
        <p:style>
          <a:lnRef idx="1">
            <a:schemeClr val="accent1"/>
          </a:lnRef>
          <a:fillRef idx="0">
            <a:schemeClr val="accent1"/>
          </a:fillRef>
          <a:effectRef idx="0">
            <a:schemeClr val="accent1"/>
          </a:effectRef>
          <a:fontRef idx="minor">
            <a:schemeClr val="tx1"/>
          </a:fontRef>
        </p:style>
      </p:cxnSp>
      <p:pic>
        <p:nvPicPr>
          <p:cNvPr id="23" name="Picture 22" descr="Diagram&#10;&#10;Description automatically generated with low confidence">
            <a:extLst>
              <a:ext uri="{FF2B5EF4-FFF2-40B4-BE49-F238E27FC236}">
                <a16:creationId xmlns:a16="http://schemas.microsoft.com/office/drawing/2014/main" id="{858A272D-FB32-8CEE-E78D-DD1F8C41CE2A}"/>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t="-3588" r="58979" b="29396"/>
          <a:stretch/>
        </p:blipFill>
        <p:spPr>
          <a:xfrm>
            <a:off x="5642656" y="2937749"/>
            <a:ext cx="612149" cy="432883"/>
          </a:xfrm>
          <a:prstGeom prst="rect">
            <a:avLst/>
          </a:prstGeom>
          <a:solidFill>
            <a:schemeClr val="bg1"/>
          </a:solidFill>
        </p:spPr>
      </p:pic>
      <p:pic>
        <p:nvPicPr>
          <p:cNvPr id="24" name="Picture 23">
            <a:extLst>
              <a:ext uri="{FF2B5EF4-FFF2-40B4-BE49-F238E27FC236}">
                <a16:creationId xmlns:a16="http://schemas.microsoft.com/office/drawing/2014/main" id="{788CBFD7-D065-2E4F-A5D2-36ECB440D165}"/>
              </a:ext>
            </a:extLst>
          </p:cNvPr>
          <p:cNvPicPr>
            <a:picLocks noChangeAspect="1"/>
          </p:cNvPicPr>
          <p:nvPr/>
        </p:nvPicPr>
        <p:blipFill rotWithShape="1">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rcRect l="65790" t="23028" r="7330" b="48750"/>
          <a:stretch/>
        </p:blipFill>
        <p:spPr>
          <a:xfrm>
            <a:off x="6625297" y="3794827"/>
            <a:ext cx="778849" cy="604563"/>
          </a:xfrm>
          <a:prstGeom prst="rect">
            <a:avLst/>
          </a:prstGeom>
        </p:spPr>
      </p:pic>
      <p:cxnSp>
        <p:nvCxnSpPr>
          <p:cNvPr id="26" name="Connector: Elbow 25">
            <a:extLst>
              <a:ext uri="{FF2B5EF4-FFF2-40B4-BE49-F238E27FC236}">
                <a16:creationId xmlns:a16="http://schemas.microsoft.com/office/drawing/2014/main" id="{9C101E29-5ACF-96C4-2ED2-6256786DC277}"/>
              </a:ext>
            </a:extLst>
          </p:cNvPr>
          <p:cNvCxnSpPr>
            <a:stCxn id="23" idx="3"/>
          </p:cNvCxnSpPr>
          <p:nvPr/>
        </p:nvCxnSpPr>
        <p:spPr>
          <a:xfrm>
            <a:off x="6254805" y="3154191"/>
            <a:ext cx="369732" cy="824423"/>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3E36522D-D716-0E62-4CCA-1DF4A1FA809E}"/>
              </a:ext>
            </a:extLst>
          </p:cNvPr>
          <p:cNvCxnSpPr>
            <a:cxnSpLocks/>
            <a:stCxn id="13" idx="3"/>
          </p:cNvCxnSpPr>
          <p:nvPr/>
        </p:nvCxnSpPr>
        <p:spPr>
          <a:xfrm flipV="1">
            <a:off x="5536847" y="4207563"/>
            <a:ext cx="1118308" cy="775824"/>
          </a:xfrm>
          <a:prstGeom prst="bentConnector3">
            <a:avLst/>
          </a:prstGeom>
        </p:spPr>
        <p:style>
          <a:lnRef idx="1">
            <a:schemeClr val="accent1"/>
          </a:lnRef>
          <a:fillRef idx="0">
            <a:schemeClr val="accent1"/>
          </a:fillRef>
          <a:effectRef idx="0">
            <a:schemeClr val="accent1"/>
          </a:effectRef>
          <a:fontRef idx="minor">
            <a:schemeClr val="tx1"/>
          </a:fontRef>
        </p:style>
      </p:cxnSp>
      <p:pic>
        <p:nvPicPr>
          <p:cNvPr id="30" name="Picture 29">
            <a:extLst>
              <a:ext uri="{FF2B5EF4-FFF2-40B4-BE49-F238E27FC236}">
                <a16:creationId xmlns:a16="http://schemas.microsoft.com/office/drawing/2014/main" id="{9250A8EF-9ED2-76CD-742E-6DC818CC9DDE}"/>
              </a:ext>
            </a:extLst>
          </p:cNvPr>
          <p:cNvPicPr>
            <a:picLocks noChangeAspect="1"/>
          </p:cNvPicPr>
          <p:nvPr/>
        </p:nvPicPr>
        <p:blipFill rotWithShape="1">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rcRect l="65790" t="23028" r="7330" b="48750"/>
          <a:stretch/>
        </p:blipFill>
        <p:spPr>
          <a:xfrm>
            <a:off x="7399425" y="3894039"/>
            <a:ext cx="778849" cy="604563"/>
          </a:xfrm>
          <a:prstGeom prst="rect">
            <a:avLst/>
          </a:prstGeom>
        </p:spPr>
      </p:pic>
      <p:sp>
        <p:nvSpPr>
          <p:cNvPr id="31" name="TextBox 30">
            <a:hlinkClick r:id="rId4" action="ppaction://hlinksldjump"/>
            <a:extLst>
              <a:ext uri="{FF2B5EF4-FFF2-40B4-BE49-F238E27FC236}">
                <a16:creationId xmlns:a16="http://schemas.microsoft.com/office/drawing/2014/main" id="{5B43C43B-B00A-67E7-52D7-6248BE345CAE}"/>
              </a:ext>
            </a:extLst>
          </p:cNvPr>
          <p:cNvSpPr txBox="1"/>
          <p:nvPr/>
        </p:nvSpPr>
        <p:spPr>
          <a:xfrm>
            <a:off x="5378162" y="5525906"/>
            <a:ext cx="865943" cy="307777"/>
          </a:xfrm>
          <a:prstGeom prst="rect">
            <a:avLst/>
          </a:prstGeom>
          <a:solidFill>
            <a:schemeClr val="bg1"/>
          </a:solidFill>
          <a:ln>
            <a:solidFill>
              <a:schemeClr val="accent1"/>
            </a:solidFill>
          </a:ln>
        </p:spPr>
        <p:txBody>
          <a:bodyPr wrap="none" rtlCol="0">
            <a:spAutoFit/>
          </a:bodyPr>
          <a:lstStyle/>
          <a:p>
            <a:r>
              <a:rPr lang="en-US" sz="1400"/>
              <a:t>Main CLK</a:t>
            </a:r>
          </a:p>
        </p:txBody>
      </p:sp>
      <p:cxnSp>
        <p:nvCxnSpPr>
          <p:cNvPr id="33" name="Connector: Elbow 32">
            <a:extLst>
              <a:ext uri="{FF2B5EF4-FFF2-40B4-BE49-F238E27FC236}">
                <a16:creationId xmlns:a16="http://schemas.microsoft.com/office/drawing/2014/main" id="{97CB9F11-4482-81BF-F74D-6389857AFBC9}"/>
              </a:ext>
            </a:extLst>
          </p:cNvPr>
          <p:cNvCxnSpPr>
            <a:stCxn id="31" idx="3"/>
          </p:cNvCxnSpPr>
          <p:nvPr/>
        </p:nvCxnSpPr>
        <p:spPr>
          <a:xfrm flipV="1">
            <a:off x="6244105" y="4278066"/>
            <a:ext cx="1155319" cy="1401729"/>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EF2C32D-C896-DC7E-6A8E-2CC116D78B74}"/>
              </a:ext>
            </a:extLst>
          </p:cNvPr>
          <p:cNvCxnSpPr>
            <a:stCxn id="30" idx="3"/>
            <a:endCxn id="4" idx="1"/>
          </p:cNvCxnSpPr>
          <p:nvPr/>
        </p:nvCxnSpPr>
        <p:spPr>
          <a:xfrm>
            <a:off x="8178274" y="4196321"/>
            <a:ext cx="1386097" cy="4278"/>
          </a:xfrm>
          <a:prstGeom prst="line">
            <a:avLst/>
          </a:prstGeom>
        </p:spPr>
        <p:style>
          <a:lnRef idx="1">
            <a:schemeClr val="accent1"/>
          </a:lnRef>
          <a:fillRef idx="0">
            <a:schemeClr val="accent1"/>
          </a:fillRef>
          <a:effectRef idx="0">
            <a:schemeClr val="accent1"/>
          </a:effectRef>
          <a:fontRef idx="minor">
            <a:schemeClr val="tx1"/>
          </a:fontRef>
        </p:style>
      </p:cxnSp>
      <p:pic>
        <p:nvPicPr>
          <p:cNvPr id="27" name="Picture 26" descr="Diagram&#10;&#10;Description automatically generated with low confidence">
            <a:extLst>
              <a:ext uri="{FF2B5EF4-FFF2-40B4-BE49-F238E27FC236}">
                <a16:creationId xmlns:a16="http://schemas.microsoft.com/office/drawing/2014/main" id="{E204A98F-CB3E-4077-091A-2767A8C409E6}"/>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t="-3588" r="58979" b="29396"/>
          <a:stretch/>
        </p:blipFill>
        <p:spPr>
          <a:xfrm>
            <a:off x="8109203" y="3966507"/>
            <a:ext cx="612149" cy="432883"/>
          </a:xfrm>
          <a:prstGeom prst="rect">
            <a:avLst/>
          </a:prstGeom>
          <a:solidFill>
            <a:schemeClr val="bg1"/>
          </a:solidFill>
        </p:spPr>
      </p:pic>
      <p:grpSp>
        <p:nvGrpSpPr>
          <p:cNvPr id="29" name="Group 28">
            <a:extLst>
              <a:ext uri="{FF2B5EF4-FFF2-40B4-BE49-F238E27FC236}">
                <a16:creationId xmlns:a16="http://schemas.microsoft.com/office/drawing/2014/main" id="{680E78DB-02F0-3F8B-EEF2-6F30AC069042}"/>
              </a:ext>
            </a:extLst>
          </p:cNvPr>
          <p:cNvGrpSpPr/>
          <p:nvPr/>
        </p:nvGrpSpPr>
        <p:grpSpPr>
          <a:xfrm rot="16200000">
            <a:off x="7549790" y="1445382"/>
            <a:ext cx="3010195" cy="981899"/>
            <a:chOff x="6995144" y="1610024"/>
            <a:chExt cx="4445079" cy="1697837"/>
          </a:xfrm>
        </p:grpSpPr>
        <p:pic>
          <p:nvPicPr>
            <p:cNvPr id="32" name="Picture 31">
              <a:extLst>
                <a:ext uri="{FF2B5EF4-FFF2-40B4-BE49-F238E27FC236}">
                  <a16:creationId xmlns:a16="http://schemas.microsoft.com/office/drawing/2014/main" id="{842D6E98-AB25-2169-D100-0FB903E90BC1}"/>
                </a:ext>
              </a:extLst>
            </p:cNvPr>
            <p:cNvPicPr>
              <a:picLocks noChangeAspect="1"/>
            </p:cNvPicPr>
            <p:nvPr/>
          </p:nvPicPr>
          <p:blipFill>
            <a:blip r:embed="rId10"/>
            <a:stretch>
              <a:fillRect/>
            </a:stretch>
          </p:blipFill>
          <p:spPr>
            <a:xfrm>
              <a:off x="6995145" y="2117968"/>
              <a:ext cx="4445078" cy="1189893"/>
            </a:xfrm>
            <a:prstGeom prst="rect">
              <a:avLst/>
            </a:prstGeom>
            <a:ln>
              <a:solidFill>
                <a:schemeClr val="accent1">
                  <a:lumMod val="75000"/>
                </a:schemeClr>
              </a:solidFill>
            </a:ln>
          </p:spPr>
        </p:pic>
        <p:sp>
          <p:nvSpPr>
            <p:cNvPr id="34" name="TextBox 33">
              <a:extLst>
                <a:ext uri="{FF2B5EF4-FFF2-40B4-BE49-F238E27FC236}">
                  <a16:creationId xmlns:a16="http://schemas.microsoft.com/office/drawing/2014/main" id="{5D13AFA2-0AE7-A65C-5BD4-FF98F4CA490E}"/>
                </a:ext>
              </a:extLst>
            </p:cNvPr>
            <p:cNvSpPr txBox="1"/>
            <p:nvPr/>
          </p:nvSpPr>
          <p:spPr>
            <a:xfrm>
              <a:off x="6995144" y="1610024"/>
              <a:ext cx="1346222" cy="532188"/>
            </a:xfrm>
            <a:prstGeom prst="rect">
              <a:avLst/>
            </a:prstGeom>
            <a:noFill/>
            <a:ln>
              <a:solidFill>
                <a:schemeClr val="accent1">
                  <a:lumMod val="75000"/>
                </a:schemeClr>
              </a:solidFill>
            </a:ln>
          </p:spPr>
          <p:txBody>
            <a:bodyPr wrap="square" rtlCol="0">
              <a:spAutoFit/>
            </a:bodyPr>
            <a:lstStyle/>
            <a:p>
              <a:r>
                <a:rPr lang="en-US" sz="1400"/>
                <a:t>273 Char</a:t>
              </a:r>
            </a:p>
          </p:txBody>
        </p:sp>
      </p:grpSp>
      <p:cxnSp>
        <p:nvCxnSpPr>
          <p:cNvPr id="14" name="Connector: Elbow 13">
            <a:extLst>
              <a:ext uri="{FF2B5EF4-FFF2-40B4-BE49-F238E27FC236}">
                <a16:creationId xmlns:a16="http://schemas.microsoft.com/office/drawing/2014/main" id="{5486AC26-9AA6-8D41-E699-3862506FB1A3}"/>
              </a:ext>
            </a:extLst>
          </p:cNvPr>
          <p:cNvCxnSpPr>
            <a:stCxn id="27" idx="3"/>
          </p:cNvCxnSpPr>
          <p:nvPr/>
        </p:nvCxnSpPr>
        <p:spPr>
          <a:xfrm flipV="1">
            <a:off x="8721351" y="3035030"/>
            <a:ext cx="253151" cy="1147919"/>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9E32876E-618C-3F91-07DB-7BDF0E39C045}"/>
              </a:ext>
            </a:extLst>
          </p:cNvPr>
          <p:cNvSpPr/>
          <p:nvPr/>
        </p:nvSpPr>
        <p:spPr>
          <a:xfrm>
            <a:off x="7746602" y="385280"/>
            <a:ext cx="282975" cy="3102105"/>
          </a:xfrm>
          <a:prstGeom prst="rect">
            <a:avLst/>
          </a:prstGeom>
        </p:spPr>
        <p:style>
          <a:lnRef idx="1">
            <a:schemeClr val="accent6"/>
          </a:lnRef>
          <a:fillRef idx="2">
            <a:schemeClr val="accent6"/>
          </a:fillRef>
          <a:effectRef idx="1">
            <a:schemeClr val="accent6"/>
          </a:effectRef>
          <a:fontRef idx="minor">
            <a:schemeClr val="dk1"/>
          </a:fontRef>
        </p:style>
        <p:txBody>
          <a:bodyPr vert="vert" rtlCol="0" anchor="ctr"/>
          <a:lstStyle/>
          <a:p>
            <a:r>
              <a:rPr lang="en-US"/>
              <a:t>Data  Bus </a:t>
            </a:r>
          </a:p>
        </p:txBody>
      </p:sp>
      <p:cxnSp>
        <p:nvCxnSpPr>
          <p:cNvPr id="19" name="Straight Connector 18">
            <a:extLst>
              <a:ext uri="{FF2B5EF4-FFF2-40B4-BE49-F238E27FC236}">
                <a16:creationId xmlns:a16="http://schemas.microsoft.com/office/drawing/2014/main" id="{2C1A1E74-F95E-A97C-4E30-F5BCAFA0E6B1}"/>
              </a:ext>
            </a:extLst>
          </p:cNvPr>
          <p:cNvCxnSpPr>
            <a:cxnSpLocks/>
          </p:cNvCxnSpPr>
          <p:nvPr/>
        </p:nvCxnSpPr>
        <p:spPr>
          <a:xfrm flipV="1">
            <a:off x="8028879" y="811803"/>
            <a:ext cx="8190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4B97B3B-DAF5-4E39-285F-E491EE56DD1A}"/>
              </a:ext>
            </a:extLst>
          </p:cNvPr>
          <p:cNvCxnSpPr>
            <a:cxnSpLocks/>
          </p:cNvCxnSpPr>
          <p:nvPr/>
        </p:nvCxnSpPr>
        <p:spPr>
          <a:xfrm flipV="1">
            <a:off x="8028879" y="1096743"/>
            <a:ext cx="8190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563EB1D-0B4D-A72E-CF9E-F5C72F31A337}"/>
              </a:ext>
            </a:extLst>
          </p:cNvPr>
          <p:cNvCxnSpPr>
            <a:cxnSpLocks/>
          </p:cNvCxnSpPr>
          <p:nvPr/>
        </p:nvCxnSpPr>
        <p:spPr>
          <a:xfrm flipV="1">
            <a:off x="8028879" y="1381681"/>
            <a:ext cx="8190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2075A1A-AF9E-1D15-56A7-4D7530ECF686}"/>
              </a:ext>
            </a:extLst>
          </p:cNvPr>
          <p:cNvCxnSpPr>
            <a:cxnSpLocks/>
          </p:cNvCxnSpPr>
          <p:nvPr/>
        </p:nvCxnSpPr>
        <p:spPr>
          <a:xfrm flipV="1">
            <a:off x="8028879" y="1666620"/>
            <a:ext cx="8190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88D4391-B53B-0EC7-B33D-B6CF656D0A67}"/>
              </a:ext>
            </a:extLst>
          </p:cNvPr>
          <p:cNvCxnSpPr>
            <a:cxnSpLocks/>
          </p:cNvCxnSpPr>
          <p:nvPr/>
        </p:nvCxnSpPr>
        <p:spPr>
          <a:xfrm flipV="1">
            <a:off x="8028879" y="1951559"/>
            <a:ext cx="8190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58E4B31-E03E-1641-DE6F-A736EA469017}"/>
              </a:ext>
            </a:extLst>
          </p:cNvPr>
          <p:cNvCxnSpPr>
            <a:cxnSpLocks/>
          </p:cNvCxnSpPr>
          <p:nvPr/>
        </p:nvCxnSpPr>
        <p:spPr>
          <a:xfrm flipV="1">
            <a:off x="8028879" y="2236499"/>
            <a:ext cx="8190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264C044-F477-8989-1448-6722323C58CF}"/>
              </a:ext>
            </a:extLst>
          </p:cNvPr>
          <p:cNvCxnSpPr>
            <a:cxnSpLocks/>
          </p:cNvCxnSpPr>
          <p:nvPr/>
        </p:nvCxnSpPr>
        <p:spPr>
          <a:xfrm flipV="1">
            <a:off x="8028879" y="2521437"/>
            <a:ext cx="8190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39001AB-EBB5-2E58-710A-83CCD09A4940}"/>
              </a:ext>
            </a:extLst>
          </p:cNvPr>
          <p:cNvCxnSpPr>
            <a:cxnSpLocks/>
          </p:cNvCxnSpPr>
          <p:nvPr/>
        </p:nvCxnSpPr>
        <p:spPr>
          <a:xfrm flipV="1">
            <a:off x="8028879" y="2806379"/>
            <a:ext cx="819048" cy="0"/>
          </a:xfrm>
          <a:prstGeom prst="line">
            <a:avLst/>
          </a:prstGeom>
        </p:spPr>
        <p:style>
          <a:lnRef idx="1">
            <a:schemeClr val="accent1"/>
          </a:lnRef>
          <a:fillRef idx="0">
            <a:schemeClr val="accent1"/>
          </a:fillRef>
          <a:effectRef idx="0">
            <a:schemeClr val="accent1"/>
          </a:effectRef>
          <a:fontRef idx="minor">
            <a:schemeClr val="tx1"/>
          </a:fontRef>
        </p:style>
      </p:cxnSp>
      <p:sp>
        <p:nvSpPr>
          <p:cNvPr id="44" name="Arrow: Right 43">
            <a:hlinkClick r:id="rId3" action="ppaction://hlinksldjump"/>
            <a:extLst>
              <a:ext uri="{FF2B5EF4-FFF2-40B4-BE49-F238E27FC236}">
                <a16:creationId xmlns:a16="http://schemas.microsoft.com/office/drawing/2014/main" id="{15A087CA-8BBF-F07B-5140-B51C9282BAF2}"/>
              </a:ext>
            </a:extLst>
          </p:cNvPr>
          <p:cNvSpPr/>
          <p:nvPr/>
        </p:nvSpPr>
        <p:spPr>
          <a:xfrm>
            <a:off x="9555601" y="1650563"/>
            <a:ext cx="1372595" cy="369332"/>
          </a:xfrm>
          <a:prstGeom prst="rightArrow">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err="1"/>
              <a:t>Disp</a:t>
            </a:r>
            <a:r>
              <a:rPr lang="en-US"/>
              <a:t> Char</a:t>
            </a:r>
          </a:p>
        </p:txBody>
      </p:sp>
      <p:pic>
        <p:nvPicPr>
          <p:cNvPr id="3" name="Picture 2">
            <a:hlinkClick r:id="rId11" action="ppaction://hlinksldjump"/>
            <a:extLst>
              <a:ext uri="{FF2B5EF4-FFF2-40B4-BE49-F238E27FC236}">
                <a16:creationId xmlns:a16="http://schemas.microsoft.com/office/drawing/2014/main" id="{F7BD2123-4357-84FC-C8FB-0B9DAF9322FF}"/>
              </a:ext>
            </a:extLst>
          </p:cNvPr>
          <p:cNvPicPr>
            <a:picLocks noChangeAspect="1"/>
          </p:cNvPicPr>
          <p:nvPr/>
        </p:nvPicPr>
        <p:blipFill>
          <a:blip r:embed="rId12"/>
          <a:stretch>
            <a:fillRect/>
          </a:stretch>
        </p:blipFill>
        <p:spPr>
          <a:xfrm>
            <a:off x="11038384" y="6427540"/>
            <a:ext cx="1076851" cy="222744"/>
          </a:xfrm>
          <a:prstGeom prst="rect">
            <a:avLst/>
          </a:prstGeom>
        </p:spPr>
      </p:pic>
    </p:spTree>
    <p:extLst>
      <p:ext uri="{BB962C8B-B14F-4D97-AF65-F5344CB8AC3E}">
        <p14:creationId xmlns:p14="http://schemas.microsoft.com/office/powerpoint/2010/main" val="2129991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9D606-E048-4299-802F-1E3F7A1C1E08}"/>
              </a:ext>
            </a:extLst>
          </p:cNvPr>
          <p:cNvSpPr>
            <a:spLocks noGrp="1"/>
          </p:cNvSpPr>
          <p:nvPr>
            <p:ph type="ctrTitle"/>
          </p:nvPr>
        </p:nvSpPr>
        <p:spPr>
          <a:xfrm>
            <a:off x="1524000" y="1122363"/>
            <a:ext cx="9144000" cy="2387600"/>
          </a:xfrm>
          <a:prstGeom prst="rect">
            <a:avLst/>
          </a:prstGeom>
        </p:spPr>
        <p:txBody>
          <a:bodyPr/>
          <a:lstStyle/>
          <a:p>
            <a:r>
              <a:rPr lang="en-US"/>
              <a:t>Op Code </a:t>
            </a:r>
            <a:br>
              <a:rPr lang="en-US"/>
            </a:br>
            <a:r>
              <a:rPr lang="en-US"/>
              <a:t>&amp;</a:t>
            </a:r>
            <a:br>
              <a:rPr lang="en-US"/>
            </a:br>
            <a:r>
              <a:rPr lang="en-US"/>
              <a:t>Micro Instruction</a:t>
            </a:r>
          </a:p>
        </p:txBody>
      </p:sp>
      <p:sp>
        <p:nvSpPr>
          <p:cNvPr id="3" name="Subtitle 2">
            <a:extLst>
              <a:ext uri="{FF2B5EF4-FFF2-40B4-BE49-F238E27FC236}">
                <a16:creationId xmlns:a16="http://schemas.microsoft.com/office/drawing/2014/main" id="{D4A0AAA9-402F-4A4E-A096-F3C7B76875CE}"/>
              </a:ext>
            </a:extLst>
          </p:cNvPr>
          <p:cNvSpPr>
            <a:spLocks noGrp="1"/>
          </p:cNvSpPr>
          <p:nvPr>
            <p:ph type="subTitle" idx="4294967295"/>
          </p:nvPr>
        </p:nvSpPr>
        <p:spPr>
          <a:xfrm>
            <a:off x="1524000" y="3602037"/>
            <a:ext cx="9144000" cy="1655763"/>
          </a:xfrm>
          <a:prstGeom prst="rect">
            <a:avLst/>
          </a:prstGeom>
        </p:spPr>
        <p:txBody>
          <a:bodyPr/>
          <a:lstStyle/>
          <a:p>
            <a:endParaRPr lang="en-US"/>
          </a:p>
        </p:txBody>
      </p:sp>
      <p:pic>
        <p:nvPicPr>
          <p:cNvPr id="4" name="Picture 3">
            <a:hlinkClick r:id="rId2" action="ppaction://hlinksldjump"/>
            <a:extLst>
              <a:ext uri="{FF2B5EF4-FFF2-40B4-BE49-F238E27FC236}">
                <a16:creationId xmlns:a16="http://schemas.microsoft.com/office/drawing/2014/main" id="{EAC02E40-6C5C-19B4-2CD6-0A07B2067523}"/>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6" name="Slide Number Placeholder 4">
            <a:extLst>
              <a:ext uri="{FF2B5EF4-FFF2-40B4-BE49-F238E27FC236}">
                <a16:creationId xmlns:a16="http://schemas.microsoft.com/office/drawing/2014/main" id="{9E7963BD-ECE4-4287-6C26-70139CD6B6F9}"/>
              </a:ext>
            </a:extLst>
          </p:cNvPr>
          <p:cNvSpPr txBox="1">
            <a:spLocks/>
          </p:cNvSpPr>
          <p:nvPr/>
        </p:nvSpPr>
        <p:spPr>
          <a:xfrm>
            <a:off x="9513451" y="65184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111</a:t>
            </a:fld>
            <a:endParaRPr lang="en-US" b="1">
              <a:solidFill>
                <a:schemeClr val="bg1"/>
              </a:solidFill>
            </a:endParaRPr>
          </a:p>
        </p:txBody>
      </p:sp>
      <p:sp>
        <p:nvSpPr>
          <p:cNvPr id="8" name="Slide Number Placeholder 4">
            <a:extLst>
              <a:ext uri="{FF2B5EF4-FFF2-40B4-BE49-F238E27FC236}">
                <a16:creationId xmlns:a16="http://schemas.microsoft.com/office/drawing/2014/main" id="{987AB956-DC25-57BD-B117-9D23C49E03EE}"/>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111</a:t>
            </a:fld>
            <a:endParaRPr lang="en-US" b="1">
              <a:solidFill>
                <a:schemeClr val="bg1"/>
              </a:solidFill>
            </a:endParaRPr>
          </a:p>
        </p:txBody>
      </p:sp>
    </p:spTree>
    <p:extLst>
      <p:ext uri="{BB962C8B-B14F-4D97-AF65-F5344CB8AC3E}">
        <p14:creationId xmlns:p14="http://schemas.microsoft.com/office/powerpoint/2010/main" val="410480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EEBC776-52AD-0427-040B-415B24E8CB9B}"/>
              </a:ext>
            </a:extLst>
          </p:cNvPr>
          <p:cNvSpPr>
            <a:spLocks noGrp="1"/>
          </p:cNvSpPr>
          <p:nvPr>
            <p:ph type="ctrTitle"/>
          </p:nvPr>
        </p:nvSpPr>
        <p:spPr>
          <a:xfrm>
            <a:off x="914400" y="182880"/>
            <a:ext cx="3840480" cy="457200"/>
          </a:xfrm>
        </p:spPr>
        <p:txBody>
          <a:bodyPr/>
          <a:lstStyle/>
          <a:p>
            <a:r>
              <a:rPr lang="en-US"/>
              <a:t>Assembler Syntax</a:t>
            </a:r>
          </a:p>
        </p:txBody>
      </p:sp>
      <p:sp>
        <p:nvSpPr>
          <p:cNvPr id="4" name="TextBox 3">
            <a:extLst>
              <a:ext uri="{FF2B5EF4-FFF2-40B4-BE49-F238E27FC236}">
                <a16:creationId xmlns:a16="http://schemas.microsoft.com/office/drawing/2014/main" id="{F0C50E2D-0873-4905-A50C-F1D722C76812}"/>
              </a:ext>
            </a:extLst>
          </p:cNvPr>
          <p:cNvSpPr txBox="1"/>
          <p:nvPr/>
        </p:nvSpPr>
        <p:spPr>
          <a:xfrm>
            <a:off x="537633" y="728133"/>
            <a:ext cx="6807200" cy="923330"/>
          </a:xfrm>
          <a:prstGeom prst="rect">
            <a:avLst/>
          </a:prstGeom>
          <a:noFill/>
        </p:spPr>
        <p:txBody>
          <a:bodyPr wrap="square" rtlCol="0">
            <a:spAutoFit/>
          </a:bodyPr>
          <a:lstStyle/>
          <a:p>
            <a:r>
              <a:rPr lang="en-US"/>
              <a:t>An assembly file is composed of lines with the following form:</a:t>
            </a:r>
          </a:p>
          <a:p>
            <a:endParaRPr lang="en-US"/>
          </a:p>
          <a:p>
            <a:r>
              <a:rPr lang="en-US"/>
              <a:t>[INSTR] [PARAM 1] [, PARAM 2] [, PARAM 3]	// Comment</a:t>
            </a:r>
          </a:p>
        </p:txBody>
      </p:sp>
      <p:graphicFrame>
        <p:nvGraphicFramePr>
          <p:cNvPr id="5" name="Table 6">
            <a:extLst>
              <a:ext uri="{FF2B5EF4-FFF2-40B4-BE49-F238E27FC236}">
                <a16:creationId xmlns:a16="http://schemas.microsoft.com/office/drawing/2014/main" id="{C136C2E9-F74E-47BB-970B-A5A6942469D5}"/>
              </a:ext>
            </a:extLst>
          </p:cNvPr>
          <p:cNvGraphicFramePr>
            <a:graphicFrameLocks noGrp="1"/>
          </p:cNvGraphicFramePr>
          <p:nvPr>
            <p:extLst>
              <p:ext uri="{D42A27DB-BD31-4B8C-83A1-F6EECF244321}">
                <p14:modId xmlns:p14="http://schemas.microsoft.com/office/powerpoint/2010/main" val="2832094360"/>
              </p:ext>
            </p:extLst>
          </p:nvPr>
        </p:nvGraphicFramePr>
        <p:xfrm>
          <a:off x="419102" y="1837267"/>
          <a:ext cx="3185775" cy="1838960"/>
        </p:xfrm>
        <a:graphic>
          <a:graphicData uri="http://schemas.openxmlformats.org/drawingml/2006/table">
            <a:tbl>
              <a:tblPr firstRow="1" bandRow="1">
                <a:tableStyleId>{5C22544A-7EE6-4342-B048-85BDC9FD1C3A}</a:tableStyleId>
              </a:tblPr>
              <a:tblGrid>
                <a:gridCol w="908241">
                  <a:extLst>
                    <a:ext uri="{9D8B030D-6E8A-4147-A177-3AD203B41FA5}">
                      <a16:colId xmlns:a16="http://schemas.microsoft.com/office/drawing/2014/main" val="625620309"/>
                    </a:ext>
                  </a:extLst>
                </a:gridCol>
                <a:gridCol w="1138767">
                  <a:extLst>
                    <a:ext uri="{9D8B030D-6E8A-4147-A177-3AD203B41FA5}">
                      <a16:colId xmlns:a16="http://schemas.microsoft.com/office/drawing/2014/main" val="960611325"/>
                    </a:ext>
                  </a:extLst>
                </a:gridCol>
                <a:gridCol w="1138767">
                  <a:extLst>
                    <a:ext uri="{9D8B030D-6E8A-4147-A177-3AD203B41FA5}">
                      <a16:colId xmlns:a16="http://schemas.microsoft.com/office/drawing/2014/main" val="413703390"/>
                    </a:ext>
                  </a:extLst>
                </a:gridCol>
              </a:tblGrid>
              <a:tr h="457200">
                <a:tc>
                  <a:txBody>
                    <a:bodyPr/>
                    <a:lstStyle/>
                    <a:p>
                      <a:r>
                        <a:rPr lang="en-US" sz="1200"/>
                        <a:t>Misc. Instruction</a:t>
                      </a:r>
                    </a:p>
                  </a:txBody>
                  <a:tcPr/>
                </a:tc>
                <a:tc>
                  <a:txBody>
                    <a:bodyPr/>
                    <a:lstStyle/>
                    <a:p>
                      <a:r>
                        <a:rPr lang="en-US" sz="1200"/>
                        <a:t>Meaning</a:t>
                      </a:r>
                    </a:p>
                  </a:txBody>
                  <a:tcPr/>
                </a:tc>
                <a:tc>
                  <a:txBody>
                    <a:bodyPr/>
                    <a:lstStyle/>
                    <a:p>
                      <a:r>
                        <a:rPr lang="en-US" sz="1200"/>
                        <a:t>Format</a:t>
                      </a:r>
                    </a:p>
                  </a:txBody>
                  <a:tcPr/>
                </a:tc>
                <a:extLst>
                  <a:ext uri="{0D108BD9-81ED-4DB2-BD59-A6C34878D82A}">
                    <a16:rowId xmlns:a16="http://schemas.microsoft.com/office/drawing/2014/main" val="1973912427"/>
                  </a:ext>
                </a:extLst>
              </a:tr>
              <a:tr h="370840">
                <a:tc>
                  <a:txBody>
                    <a:bodyPr/>
                    <a:lstStyle/>
                    <a:p>
                      <a:r>
                        <a:rPr lang="en-US" sz="1200"/>
                        <a:t>NOP</a:t>
                      </a:r>
                    </a:p>
                  </a:txBody>
                  <a:tcPr/>
                </a:tc>
                <a:tc>
                  <a:txBody>
                    <a:bodyPr/>
                    <a:lstStyle/>
                    <a:p>
                      <a:r>
                        <a:rPr lang="en-US" sz="1200"/>
                        <a:t>No operation</a:t>
                      </a:r>
                    </a:p>
                  </a:txBody>
                  <a:tcPr/>
                </a:tc>
                <a:tc>
                  <a:txBody>
                    <a:bodyPr/>
                    <a:lstStyle/>
                    <a:p>
                      <a:r>
                        <a:rPr lang="en-US" sz="1200"/>
                        <a:t>NOP</a:t>
                      </a:r>
                    </a:p>
                  </a:txBody>
                  <a:tcPr/>
                </a:tc>
                <a:extLst>
                  <a:ext uri="{0D108BD9-81ED-4DB2-BD59-A6C34878D82A}">
                    <a16:rowId xmlns:a16="http://schemas.microsoft.com/office/drawing/2014/main" val="379718552"/>
                  </a:ext>
                </a:extLst>
              </a:tr>
              <a:tr h="370840">
                <a:tc>
                  <a:txBody>
                    <a:bodyPr/>
                    <a:lstStyle/>
                    <a:p>
                      <a:r>
                        <a:rPr lang="en-US" sz="1200"/>
                        <a:t>BRK</a:t>
                      </a:r>
                    </a:p>
                  </a:txBody>
                  <a:tcPr/>
                </a:tc>
                <a:tc>
                  <a:txBody>
                    <a:bodyPr/>
                    <a:lstStyle/>
                    <a:p>
                      <a:r>
                        <a:rPr lang="en-US" sz="1200"/>
                        <a:t>Stop</a:t>
                      </a:r>
                    </a:p>
                  </a:txBody>
                  <a:tcPr/>
                </a:tc>
                <a:tc>
                  <a:txBody>
                    <a:bodyPr/>
                    <a:lstStyle/>
                    <a:p>
                      <a:r>
                        <a:rPr lang="en-US" sz="1200"/>
                        <a:t>BRK</a:t>
                      </a:r>
                    </a:p>
                  </a:txBody>
                  <a:tcPr/>
                </a:tc>
                <a:extLst>
                  <a:ext uri="{0D108BD9-81ED-4DB2-BD59-A6C34878D82A}">
                    <a16:rowId xmlns:a16="http://schemas.microsoft.com/office/drawing/2014/main" val="3059979439"/>
                  </a:ext>
                </a:extLst>
              </a:tr>
              <a:tr h="640080">
                <a:tc>
                  <a:txBody>
                    <a:bodyPr/>
                    <a:lstStyle/>
                    <a:p>
                      <a:r>
                        <a:rPr lang="en-US" sz="1200"/>
                        <a:t>OUT</a:t>
                      </a:r>
                    </a:p>
                  </a:txBody>
                  <a:tcPr/>
                </a:tc>
                <a:tc>
                  <a:txBody>
                    <a:bodyPr/>
                    <a:lstStyle/>
                    <a:p>
                      <a:r>
                        <a:rPr lang="en-US" sz="1200"/>
                        <a:t>Print 8-bit value to output</a:t>
                      </a:r>
                    </a:p>
                  </a:txBody>
                  <a:tcPr/>
                </a:tc>
                <a:tc>
                  <a:txBody>
                    <a:bodyPr/>
                    <a:lstStyle/>
                    <a:p>
                      <a:r>
                        <a:rPr lang="en-US" sz="1200"/>
                        <a:t>OUT Rs, #imm</a:t>
                      </a:r>
                    </a:p>
                  </a:txBody>
                  <a:tcPr/>
                </a:tc>
                <a:extLst>
                  <a:ext uri="{0D108BD9-81ED-4DB2-BD59-A6C34878D82A}">
                    <a16:rowId xmlns:a16="http://schemas.microsoft.com/office/drawing/2014/main" val="4126047312"/>
                  </a:ext>
                </a:extLst>
              </a:tr>
            </a:tbl>
          </a:graphicData>
        </a:graphic>
      </p:graphicFrame>
      <p:graphicFrame>
        <p:nvGraphicFramePr>
          <p:cNvPr id="7" name="Table 6">
            <a:extLst>
              <a:ext uri="{FF2B5EF4-FFF2-40B4-BE49-F238E27FC236}">
                <a16:creationId xmlns:a16="http://schemas.microsoft.com/office/drawing/2014/main" id="{F7971EBC-658E-46D2-9D26-2BE904C7B670}"/>
              </a:ext>
            </a:extLst>
          </p:cNvPr>
          <p:cNvGraphicFramePr>
            <a:graphicFrameLocks noGrp="1"/>
          </p:cNvGraphicFramePr>
          <p:nvPr>
            <p:extLst>
              <p:ext uri="{D42A27DB-BD31-4B8C-83A1-F6EECF244321}">
                <p14:modId xmlns:p14="http://schemas.microsoft.com/office/powerpoint/2010/main" val="3834865010"/>
              </p:ext>
            </p:extLst>
          </p:nvPr>
        </p:nvGraphicFramePr>
        <p:xfrm>
          <a:off x="3661832" y="1837267"/>
          <a:ext cx="4347637" cy="4424680"/>
        </p:xfrm>
        <a:graphic>
          <a:graphicData uri="http://schemas.openxmlformats.org/drawingml/2006/table">
            <a:tbl>
              <a:tblPr firstRow="1" bandRow="1">
                <a:tableStyleId>{5C22544A-7EE6-4342-B048-85BDC9FD1C3A}</a:tableStyleId>
              </a:tblPr>
              <a:tblGrid>
                <a:gridCol w="1239479">
                  <a:extLst>
                    <a:ext uri="{9D8B030D-6E8A-4147-A177-3AD203B41FA5}">
                      <a16:colId xmlns:a16="http://schemas.microsoft.com/office/drawing/2014/main" val="625620309"/>
                    </a:ext>
                  </a:extLst>
                </a:gridCol>
                <a:gridCol w="1554079">
                  <a:extLst>
                    <a:ext uri="{9D8B030D-6E8A-4147-A177-3AD203B41FA5}">
                      <a16:colId xmlns:a16="http://schemas.microsoft.com/office/drawing/2014/main" val="960611325"/>
                    </a:ext>
                  </a:extLst>
                </a:gridCol>
                <a:gridCol w="1554079">
                  <a:extLst>
                    <a:ext uri="{9D8B030D-6E8A-4147-A177-3AD203B41FA5}">
                      <a16:colId xmlns:a16="http://schemas.microsoft.com/office/drawing/2014/main" val="413703390"/>
                    </a:ext>
                  </a:extLst>
                </a:gridCol>
              </a:tblGrid>
              <a:tr h="370840">
                <a:tc>
                  <a:txBody>
                    <a:bodyPr/>
                    <a:lstStyle/>
                    <a:p>
                      <a:r>
                        <a:rPr lang="en-US" sz="1200"/>
                        <a:t>ALU Instruction</a:t>
                      </a:r>
                    </a:p>
                  </a:txBody>
                  <a:tcPr/>
                </a:tc>
                <a:tc>
                  <a:txBody>
                    <a:bodyPr/>
                    <a:lstStyle/>
                    <a:p>
                      <a:r>
                        <a:rPr lang="en-US" sz="1200"/>
                        <a:t>Meaning</a:t>
                      </a:r>
                    </a:p>
                  </a:txBody>
                  <a:tcPr/>
                </a:tc>
                <a:tc>
                  <a:txBody>
                    <a:bodyPr/>
                    <a:lstStyle/>
                    <a:p>
                      <a:r>
                        <a:rPr lang="en-US" sz="1200"/>
                        <a:t>Format</a:t>
                      </a:r>
                    </a:p>
                  </a:txBody>
                  <a:tcPr/>
                </a:tc>
                <a:extLst>
                  <a:ext uri="{0D108BD9-81ED-4DB2-BD59-A6C34878D82A}">
                    <a16:rowId xmlns:a16="http://schemas.microsoft.com/office/drawing/2014/main" val="1973912427"/>
                  </a:ext>
                </a:extLst>
              </a:tr>
              <a:tr h="370840">
                <a:tc>
                  <a:txBody>
                    <a:bodyPr/>
                    <a:lstStyle/>
                    <a:p>
                      <a:r>
                        <a:rPr lang="en-US" sz="1200"/>
                        <a:t>OR</a:t>
                      </a:r>
                    </a:p>
                  </a:txBody>
                  <a:tcPr/>
                </a:tc>
                <a:tc>
                  <a:txBody>
                    <a:bodyPr/>
                    <a:lstStyle/>
                    <a:p>
                      <a:r>
                        <a:rPr lang="en-US" sz="1200"/>
                        <a:t>Bitwise OR</a:t>
                      </a:r>
                    </a:p>
                  </a:txBody>
                  <a:tcPr/>
                </a:tc>
                <a:tc>
                  <a:txBody>
                    <a:bodyPr/>
                    <a:lstStyle/>
                    <a:p>
                      <a:r>
                        <a:rPr lang="en-US" sz="1200"/>
                        <a:t>OR Rd, Rs1, Rs2</a:t>
                      </a:r>
                    </a:p>
                  </a:txBody>
                  <a:tcPr/>
                </a:tc>
                <a:extLst>
                  <a:ext uri="{0D108BD9-81ED-4DB2-BD59-A6C34878D82A}">
                    <a16:rowId xmlns:a16="http://schemas.microsoft.com/office/drawing/2014/main" val="2092616423"/>
                  </a:ext>
                </a:extLst>
              </a:tr>
              <a:tr h="370840">
                <a:tc>
                  <a:txBody>
                    <a:bodyPr/>
                    <a:lstStyle/>
                    <a:p>
                      <a:r>
                        <a:rPr lang="en-US" sz="1200"/>
                        <a:t>AND</a:t>
                      </a:r>
                    </a:p>
                  </a:txBody>
                  <a:tcPr/>
                </a:tc>
                <a:tc>
                  <a:txBody>
                    <a:bodyPr/>
                    <a:lstStyle/>
                    <a:p>
                      <a:r>
                        <a:rPr lang="en-US" sz="1200"/>
                        <a:t>Bitwise AND</a:t>
                      </a:r>
                    </a:p>
                  </a:txBody>
                  <a:tcPr/>
                </a:tc>
                <a:tc>
                  <a:txBody>
                    <a:bodyPr/>
                    <a:lstStyle/>
                    <a:p>
                      <a:r>
                        <a:rPr lang="en-US" sz="1200"/>
                        <a:t>AND Rd, Rs1, Rs2</a:t>
                      </a:r>
                    </a:p>
                  </a:txBody>
                  <a:tcPr/>
                </a:tc>
                <a:extLst>
                  <a:ext uri="{0D108BD9-81ED-4DB2-BD59-A6C34878D82A}">
                    <a16:rowId xmlns:a16="http://schemas.microsoft.com/office/drawing/2014/main" val="1898053879"/>
                  </a:ext>
                </a:extLst>
              </a:tr>
              <a:tr h="370840">
                <a:tc>
                  <a:txBody>
                    <a:bodyPr/>
                    <a:lstStyle/>
                    <a:p>
                      <a:r>
                        <a:rPr lang="en-US" sz="1200"/>
                        <a:t>XOR</a:t>
                      </a:r>
                    </a:p>
                  </a:txBody>
                  <a:tcPr/>
                </a:tc>
                <a:tc>
                  <a:txBody>
                    <a:bodyPr/>
                    <a:lstStyle/>
                    <a:p>
                      <a:r>
                        <a:rPr lang="en-US" sz="1200"/>
                        <a:t>Bitwise XOR</a:t>
                      </a:r>
                    </a:p>
                  </a:txBody>
                  <a:tcPr/>
                </a:tc>
                <a:tc>
                  <a:txBody>
                    <a:bodyPr/>
                    <a:lstStyle/>
                    <a:p>
                      <a:r>
                        <a:rPr lang="en-US" sz="1200"/>
                        <a:t>XOR Rd, Rs1, Rs2</a:t>
                      </a:r>
                    </a:p>
                  </a:txBody>
                  <a:tcPr/>
                </a:tc>
                <a:extLst>
                  <a:ext uri="{0D108BD9-81ED-4DB2-BD59-A6C34878D82A}">
                    <a16:rowId xmlns:a16="http://schemas.microsoft.com/office/drawing/2014/main" val="1919875612"/>
                  </a:ext>
                </a:extLst>
              </a:tr>
              <a:tr h="370840">
                <a:tc>
                  <a:txBody>
                    <a:bodyPr/>
                    <a:lstStyle/>
                    <a:p>
                      <a:r>
                        <a:rPr lang="en-US" sz="1200"/>
                        <a:t>NOT</a:t>
                      </a:r>
                    </a:p>
                  </a:txBody>
                  <a:tcPr/>
                </a:tc>
                <a:tc>
                  <a:txBody>
                    <a:bodyPr/>
                    <a:lstStyle/>
                    <a:p>
                      <a:r>
                        <a:rPr lang="en-US" sz="1200"/>
                        <a:t>Bitwise NOT</a:t>
                      </a:r>
                    </a:p>
                  </a:txBody>
                  <a:tcPr/>
                </a:tc>
                <a:tc>
                  <a:txBody>
                    <a:bodyPr/>
                    <a:lstStyle/>
                    <a:p>
                      <a:r>
                        <a:rPr lang="en-US" sz="1200"/>
                        <a:t>NOT Rd, Rs1</a:t>
                      </a:r>
                    </a:p>
                  </a:txBody>
                  <a:tcPr/>
                </a:tc>
                <a:extLst>
                  <a:ext uri="{0D108BD9-81ED-4DB2-BD59-A6C34878D82A}">
                    <a16:rowId xmlns:a16="http://schemas.microsoft.com/office/drawing/2014/main" val="4194439758"/>
                  </a:ext>
                </a:extLst>
              </a:tr>
              <a:tr h="370840">
                <a:tc>
                  <a:txBody>
                    <a:bodyPr/>
                    <a:lstStyle/>
                    <a:p>
                      <a:r>
                        <a:rPr lang="en-US" sz="1200"/>
                        <a:t>ADD</a:t>
                      </a:r>
                    </a:p>
                  </a:txBody>
                  <a:tcPr/>
                </a:tc>
                <a:tc>
                  <a:txBody>
                    <a:bodyPr/>
                    <a:lstStyle/>
                    <a:p>
                      <a:r>
                        <a:rPr lang="en-US" sz="1200"/>
                        <a:t>Addition</a:t>
                      </a:r>
                    </a:p>
                  </a:txBody>
                  <a:tcPr/>
                </a:tc>
                <a:tc>
                  <a:txBody>
                    <a:bodyPr/>
                    <a:lstStyle/>
                    <a:p>
                      <a:r>
                        <a:rPr lang="en-US" sz="1200"/>
                        <a:t>ADD Rd, Rs1, Rs2</a:t>
                      </a:r>
                    </a:p>
                  </a:txBody>
                  <a:tcPr/>
                </a:tc>
                <a:extLst>
                  <a:ext uri="{0D108BD9-81ED-4DB2-BD59-A6C34878D82A}">
                    <a16:rowId xmlns:a16="http://schemas.microsoft.com/office/drawing/2014/main" val="4026081081"/>
                  </a:ext>
                </a:extLst>
              </a:tr>
              <a:tr h="457200">
                <a:tc>
                  <a:txBody>
                    <a:bodyPr/>
                    <a:lstStyle/>
                    <a:p>
                      <a:r>
                        <a:rPr lang="en-US" sz="1200"/>
                        <a:t>SUB</a:t>
                      </a:r>
                    </a:p>
                  </a:txBody>
                  <a:tcPr/>
                </a:tc>
                <a:tc>
                  <a:txBody>
                    <a:bodyPr/>
                    <a:lstStyle/>
                    <a:p>
                      <a:r>
                        <a:rPr lang="en-US" sz="1200"/>
                        <a:t>2’s Complement subtraction</a:t>
                      </a:r>
                    </a:p>
                  </a:txBody>
                  <a:tcPr/>
                </a:tc>
                <a:tc>
                  <a:txBody>
                    <a:bodyPr/>
                    <a:lstStyle/>
                    <a:p>
                      <a:r>
                        <a:rPr lang="en-US" sz="1200"/>
                        <a:t>SUB Rd1, Rs1, Rs2 (Rd1 = Rs1 – Rs2)</a:t>
                      </a:r>
                    </a:p>
                  </a:txBody>
                  <a:tcPr/>
                </a:tc>
                <a:extLst>
                  <a:ext uri="{0D108BD9-81ED-4DB2-BD59-A6C34878D82A}">
                    <a16:rowId xmlns:a16="http://schemas.microsoft.com/office/drawing/2014/main" val="3738222034"/>
                  </a:ext>
                </a:extLst>
              </a:tr>
              <a:tr h="457200">
                <a:tc>
                  <a:txBody>
                    <a:bodyPr/>
                    <a:lstStyle/>
                    <a:p>
                      <a:r>
                        <a:rPr lang="en-US" sz="1200"/>
                        <a:t>LSL</a:t>
                      </a:r>
                    </a:p>
                  </a:txBody>
                  <a:tcPr/>
                </a:tc>
                <a:tc>
                  <a:txBody>
                    <a:bodyPr/>
                    <a:lstStyle/>
                    <a:p>
                      <a:r>
                        <a:rPr lang="en-US" sz="1200"/>
                        <a:t>Bitwise logical shift left by 1 bit</a:t>
                      </a:r>
                    </a:p>
                  </a:txBody>
                  <a:tcPr/>
                </a:tc>
                <a:tc>
                  <a:txBody>
                    <a:bodyPr/>
                    <a:lstStyle/>
                    <a:p>
                      <a:r>
                        <a:rPr lang="en-US" sz="1200"/>
                        <a:t>LSL Rd, Rs1</a:t>
                      </a:r>
                    </a:p>
                  </a:txBody>
                  <a:tcPr/>
                </a:tc>
                <a:extLst>
                  <a:ext uri="{0D108BD9-81ED-4DB2-BD59-A6C34878D82A}">
                    <a16:rowId xmlns:a16="http://schemas.microsoft.com/office/drawing/2014/main" val="2595991083"/>
                  </a:ext>
                </a:extLst>
              </a:tr>
              <a:tr h="457200">
                <a:tc>
                  <a:txBody>
                    <a:bodyPr/>
                    <a:lstStyle/>
                    <a:p>
                      <a:r>
                        <a:rPr lang="en-US" sz="1200"/>
                        <a:t>ASR</a:t>
                      </a:r>
                    </a:p>
                  </a:txBody>
                  <a:tcPr/>
                </a:tc>
                <a:tc>
                  <a:txBody>
                    <a:bodyPr/>
                    <a:lstStyle/>
                    <a:p>
                      <a:r>
                        <a:rPr lang="en-US" sz="1200"/>
                        <a:t>Arithmetic shift right by 1 bit</a:t>
                      </a:r>
                    </a:p>
                  </a:txBody>
                  <a:tcPr/>
                </a:tc>
                <a:tc>
                  <a:txBody>
                    <a:bodyPr/>
                    <a:lstStyle/>
                    <a:p>
                      <a:r>
                        <a:rPr lang="en-US" sz="1200"/>
                        <a:t>ASR Rd, Rs1</a:t>
                      </a:r>
                    </a:p>
                  </a:txBody>
                  <a:tcPr/>
                </a:tc>
                <a:extLst>
                  <a:ext uri="{0D108BD9-81ED-4DB2-BD59-A6C34878D82A}">
                    <a16:rowId xmlns:a16="http://schemas.microsoft.com/office/drawing/2014/main" val="2504141737"/>
                  </a:ext>
                </a:extLst>
              </a:tr>
              <a:tr h="370840">
                <a:tc>
                  <a:txBody>
                    <a:bodyPr/>
                    <a:lstStyle/>
                    <a:p>
                      <a:r>
                        <a:rPr lang="en-US" sz="1200"/>
                        <a:t>ADC</a:t>
                      </a:r>
                    </a:p>
                  </a:txBody>
                  <a:tcPr/>
                </a:tc>
                <a:tc>
                  <a:txBody>
                    <a:bodyPr/>
                    <a:lstStyle/>
                    <a:p>
                      <a:r>
                        <a:rPr lang="en-US" sz="1200"/>
                        <a:t>Add with carry</a:t>
                      </a:r>
                    </a:p>
                  </a:txBody>
                  <a:tcPr/>
                </a:tc>
                <a:tc>
                  <a:txBody>
                    <a:bodyPr/>
                    <a:lstStyle/>
                    <a:p>
                      <a:r>
                        <a:rPr lang="en-US" sz="1200"/>
                        <a:t>ADC Rd, Rs1, Rs2</a:t>
                      </a:r>
                    </a:p>
                  </a:txBody>
                  <a:tcPr/>
                </a:tc>
                <a:extLst>
                  <a:ext uri="{0D108BD9-81ED-4DB2-BD59-A6C34878D82A}">
                    <a16:rowId xmlns:a16="http://schemas.microsoft.com/office/drawing/2014/main" val="4277143747"/>
                  </a:ext>
                </a:extLst>
              </a:tr>
              <a:tr h="457200">
                <a:tc>
                  <a:txBody>
                    <a:bodyPr/>
                    <a:lstStyle/>
                    <a:p>
                      <a:r>
                        <a:rPr lang="en-US" sz="1200"/>
                        <a:t>SUC</a:t>
                      </a:r>
                    </a:p>
                  </a:txBody>
                  <a:tcPr/>
                </a:tc>
                <a:tc>
                  <a:txBody>
                    <a:bodyPr/>
                    <a:lstStyle/>
                    <a:p>
                      <a:r>
                        <a:rPr lang="en-US" sz="1200"/>
                        <a:t>Subtract with borrow (using carry flag)</a:t>
                      </a:r>
                    </a:p>
                  </a:txBody>
                  <a:tcPr/>
                </a:tc>
                <a:tc>
                  <a:txBody>
                    <a:bodyPr/>
                    <a:lstStyle/>
                    <a:p>
                      <a:r>
                        <a:rPr lang="en-US" sz="1200"/>
                        <a:t>SUC Rd, Rs1, Rs2</a:t>
                      </a:r>
                    </a:p>
                    <a:p>
                      <a:r>
                        <a:rPr lang="en-US" sz="1200"/>
                        <a:t>(Rd1 = Rs1 – Rs2)</a:t>
                      </a:r>
                    </a:p>
                  </a:txBody>
                  <a:tcPr/>
                </a:tc>
                <a:extLst>
                  <a:ext uri="{0D108BD9-81ED-4DB2-BD59-A6C34878D82A}">
                    <a16:rowId xmlns:a16="http://schemas.microsoft.com/office/drawing/2014/main" val="3493691278"/>
                  </a:ext>
                </a:extLst>
              </a:tr>
            </a:tbl>
          </a:graphicData>
        </a:graphic>
      </p:graphicFrame>
      <p:graphicFrame>
        <p:nvGraphicFramePr>
          <p:cNvPr id="8" name="Table 6">
            <a:extLst>
              <a:ext uri="{FF2B5EF4-FFF2-40B4-BE49-F238E27FC236}">
                <a16:creationId xmlns:a16="http://schemas.microsoft.com/office/drawing/2014/main" id="{EC70AE30-38E9-4B9A-BABE-ADAF51C96A2F}"/>
              </a:ext>
            </a:extLst>
          </p:cNvPr>
          <p:cNvGraphicFramePr>
            <a:graphicFrameLocks noGrp="1"/>
          </p:cNvGraphicFramePr>
          <p:nvPr>
            <p:extLst>
              <p:ext uri="{D42A27DB-BD31-4B8C-83A1-F6EECF244321}">
                <p14:modId xmlns:p14="http://schemas.microsoft.com/office/powerpoint/2010/main" val="537765903"/>
              </p:ext>
            </p:extLst>
          </p:nvPr>
        </p:nvGraphicFramePr>
        <p:xfrm>
          <a:off x="416793" y="4392043"/>
          <a:ext cx="3185775" cy="1920240"/>
        </p:xfrm>
        <a:graphic>
          <a:graphicData uri="http://schemas.openxmlformats.org/drawingml/2006/table">
            <a:tbl>
              <a:tblPr firstRow="1" bandRow="1">
                <a:tableStyleId>{5C22544A-7EE6-4342-B048-85BDC9FD1C3A}</a:tableStyleId>
              </a:tblPr>
              <a:tblGrid>
                <a:gridCol w="1061925">
                  <a:extLst>
                    <a:ext uri="{9D8B030D-6E8A-4147-A177-3AD203B41FA5}">
                      <a16:colId xmlns:a16="http://schemas.microsoft.com/office/drawing/2014/main" val="625620309"/>
                    </a:ext>
                  </a:extLst>
                </a:gridCol>
                <a:gridCol w="1061925">
                  <a:extLst>
                    <a:ext uri="{9D8B030D-6E8A-4147-A177-3AD203B41FA5}">
                      <a16:colId xmlns:a16="http://schemas.microsoft.com/office/drawing/2014/main" val="960611325"/>
                    </a:ext>
                  </a:extLst>
                </a:gridCol>
                <a:gridCol w="1061925">
                  <a:extLst>
                    <a:ext uri="{9D8B030D-6E8A-4147-A177-3AD203B41FA5}">
                      <a16:colId xmlns:a16="http://schemas.microsoft.com/office/drawing/2014/main" val="413703390"/>
                    </a:ext>
                  </a:extLst>
                </a:gridCol>
              </a:tblGrid>
              <a:tr h="457200">
                <a:tc>
                  <a:txBody>
                    <a:bodyPr/>
                    <a:lstStyle/>
                    <a:p>
                      <a:r>
                        <a:rPr lang="en-US" sz="1200"/>
                        <a:t>Register Instruction</a:t>
                      </a:r>
                    </a:p>
                  </a:txBody>
                  <a:tcPr/>
                </a:tc>
                <a:tc>
                  <a:txBody>
                    <a:bodyPr/>
                    <a:lstStyle/>
                    <a:p>
                      <a:r>
                        <a:rPr lang="en-US" sz="1200"/>
                        <a:t>Meaning</a:t>
                      </a:r>
                    </a:p>
                  </a:txBody>
                  <a:tcPr/>
                </a:tc>
                <a:tc>
                  <a:txBody>
                    <a:bodyPr/>
                    <a:lstStyle/>
                    <a:p>
                      <a:r>
                        <a:rPr lang="en-US" sz="1200"/>
                        <a:t>Format</a:t>
                      </a:r>
                    </a:p>
                  </a:txBody>
                  <a:tcPr/>
                </a:tc>
                <a:extLst>
                  <a:ext uri="{0D108BD9-81ED-4DB2-BD59-A6C34878D82A}">
                    <a16:rowId xmlns:a16="http://schemas.microsoft.com/office/drawing/2014/main" val="1973912427"/>
                  </a:ext>
                </a:extLst>
              </a:tr>
              <a:tr h="640080">
                <a:tc>
                  <a:txBody>
                    <a:bodyPr/>
                    <a:lstStyle/>
                    <a:p>
                      <a:r>
                        <a:rPr lang="en-US" sz="1200"/>
                        <a:t>LDR</a:t>
                      </a:r>
                    </a:p>
                  </a:txBody>
                  <a:tcPr/>
                </a:tc>
                <a:tc>
                  <a:txBody>
                    <a:bodyPr/>
                    <a:lstStyle/>
                    <a:p>
                      <a:r>
                        <a:rPr lang="en-US" sz="1200"/>
                        <a:t>Load register with 8-bit immediate</a:t>
                      </a:r>
                    </a:p>
                  </a:txBody>
                  <a:tcPr/>
                </a:tc>
                <a:tc>
                  <a:txBody>
                    <a:bodyPr/>
                    <a:lstStyle/>
                    <a:p>
                      <a:r>
                        <a:rPr lang="en-US" sz="1200"/>
                        <a:t>LDR Rd, #imm</a:t>
                      </a:r>
                    </a:p>
                  </a:txBody>
                  <a:tcPr/>
                </a:tc>
                <a:extLst>
                  <a:ext uri="{0D108BD9-81ED-4DB2-BD59-A6C34878D82A}">
                    <a16:rowId xmlns:a16="http://schemas.microsoft.com/office/drawing/2014/main" val="1638586219"/>
                  </a:ext>
                </a:extLst>
              </a:tr>
              <a:tr h="822960">
                <a:tc>
                  <a:txBody>
                    <a:bodyPr/>
                    <a:lstStyle/>
                    <a:p>
                      <a:r>
                        <a:rPr lang="en-US" sz="1200"/>
                        <a:t>MOV</a:t>
                      </a:r>
                    </a:p>
                  </a:txBody>
                  <a:tcPr/>
                </a:tc>
                <a:tc>
                  <a:txBody>
                    <a:bodyPr/>
                    <a:lstStyle/>
                    <a:p>
                      <a:r>
                        <a:rPr lang="en-US" sz="1200"/>
                        <a:t>Copy register value to another register</a:t>
                      </a:r>
                    </a:p>
                  </a:txBody>
                  <a:tcPr/>
                </a:tc>
                <a:tc>
                  <a:txBody>
                    <a:bodyPr/>
                    <a:lstStyle/>
                    <a:p>
                      <a:r>
                        <a:rPr lang="en-US" sz="1200"/>
                        <a:t>MOV Rd, Rs</a:t>
                      </a:r>
                    </a:p>
                  </a:txBody>
                  <a:tcPr/>
                </a:tc>
                <a:extLst>
                  <a:ext uri="{0D108BD9-81ED-4DB2-BD59-A6C34878D82A}">
                    <a16:rowId xmlns:a16="http://schemas.microsoft.com/office/drawing/2014/main" val="1386115918"/>
                  </a:ext>
                </a:extLst>
              </a:tr>
            </a:tbl>
          </a:graphicData>
        </a:graphic>
      </p:graphicFrame>
      <p:graphicFrame>
        <p:nvGraphicFramePr>
          <p:cNvPr id="9" name="Table 6">
            <a:extLst>
              <a:ext uri="{FF2B5EF4-FFF2-40B4-BE49-F238E27FC236}">
                <a16:creationId xmlns:a16="http://schemas.microsoft.com/office/drawing/2014/main" id="{E5B2BCA0-6B41-4EBE-B80F-4A82A29842E9}"/>
              </a:ext>
            </a:extLst>
          </p:cNvPr>
          <p:cNvGraphicFramePr>
            <a:graphicFrameLocks noGrp="1"/>
          </p:cNvGraphicFramePr>
          <p:nvPr>
            <p:extLst>
              <p:ext uri="{D42A27DB-BD31-4B8C-83A1-F6EECF244321}">
                <p14:modId xmlns:p14="http://schemas.microsoft.com/office/powerpoint/2010/main" val="4047961055"/>
              </p:ext>
            </p:extLst>
          </p:nvPr>
        </p:nvGraphicFramePr>
        <p:xfrm>
          <a:off x="8127999" y="1837267"/>
          <a:ext cx="3956583" cy="3764280"/>
        </p:xfrm>
        <a:graphic>
          <a:graphicData uri="http://schemas.openxmlformats.org/drawingml/2006/table">
            <a:tbl>
              <a:tblPr firstRow="1" bandRow="1">
                <a:tableStyleId>{5C22544A-7EE6-4342-B048-85BDC9FD1C3A}</a:tableStyleId>
              </a:tblPr>
              <a:tblGrid>
                <a:gridCol w="1382713">
                  <a:extLst>
                    <a:ext uri="{9D8B030D-6E8A-4147-A177-3AD203B41FA5}">
                      <a16:colId xmlns:a16="http://schemas.microsoft.com/office/drawing/2014/main" val="625620309"/>
                    </a:ext>
                  </a:extLst>
                </a:gridCol>
                <a:gridCol w="1286935">
                  <a:extLst>
                    <a:ext uri="{9D8B030D-6E8A-4147-A177-3AD203B41FA5}">
                      <a16:colId xmlns:a16="http://schemas.microsoft.com/office/drawing/2014/main" val="960611325"/>
                    </a:ext>
                  </a:extLst>
                </a:gridCol>
                <a:gridCol w="1286935">
                  <a:extLst>
                    <a:ext uri="{9D8B030D-6E8A-4147-A177-3AD203B41FA5}">
                      <a16:colId xmlns:a16="http://schemas.microsoft.com/office/drawing/2014/main" val="413703390"/>
                    </a:ext>
                  </a:extLst>
                </a:gridCol>
              </a:tblGrid>
              <a:tr h="370840">
                <a:tc>
                  <a:txBody>
                    <a:bodyPr/>
                    <a:lstStyle/>
                    <a:p>
                      <a:r>
                        <a:rPr lang="en-US" sz="1200"/>
                        <a:t>Branch Instruction</a:t>
                      </a:r>
                    </a:p>
                  </a:txBody>
                  <a:tcPr/>
                </a:tc>
                <a:tc>
                  <a:txBody>
                    <a:bodyPr/>
                    <a:lstStyle/>
                    <a:p>
                      <a:r>
                        <a:rPr lang="en-US" sz="1200"/>
                        <a:t>Meaning</a:t>
                      </a:r>
                    </a:p>
                  </a:txBody>
                  <a:tcPr/>
                </a:tc>
                <a:tc>
                  <a:txBody>
                    <a:bodyPr/>
                    <a:lstStyle/>
                    <a:p>
                      <a:r>
                        <a:rPr lang="en-US" sz="1200"/>
                        <a:t>Format</a:t>
                      </a:r>
                    </a:p>
                  </a:txBody>
                  <a:tcPr/>
                </a:tc>
                <a:extLst>
                  <a:ext uri="{0D108BD9-81ED-4DB2-BD59-A6C34878D82A}">
                    <a16:rowId xmlns:a16="http://schemas.microsoft.com/office/drawing/2014/main" val="1973912427"/>
                  </a:ext>
                </a:extLst>
              </a:tr>
              <a:tr h="822960">
                <a:tc>
                  <a:txBody>
                    <a:bodyPr/>
                    <a:lstStyle/>
                    <a:p>
                      <a:r>
                        <a:rPr lang="en-US" sz="1200"/>
                        <a:t>JMP</a:t>
                      </a:r>
                    </a:p>
                  </a:txBody>
                  <a:tcPr/>
                </a:tc>
                <a:tc>
                  <a:txBody>
                    <a:bodyPr/>
                    <a:lstStyle/>
                    <a:p>
                      <a:r>
                        <a:rPr lang="en-US" sz="1200"/>
                        <a:t>Unconditional branch</a:t>
                      </a:r>
                    </a:p>
                  </a:txBody>
                  <a:tcPr/>
                </a:tc>
                <a:tc>
                  <a:txBody>
                    <a:bodyPr/>
                    <a:lstStyle/>
                    <a:p>
                      <a:r>
                        <a:rPr lang="en-US" sz="1200"/>
                        <a:t>A + I: JMP #imm</a:t>
                      </a:r>
                    </a:p>
                    <a:p>
                      <a:r>
                        <a:rPr lang="en-US" sz="1200"/>
                        <a:t>A + R:</a:t>
                      </a:r>
                    </a:p>
                    <a:p>
                      <a:r>
                        <a:rPr lang="en-US" sz="1200"/>
                        <a:t>R + I:</a:t>
                      </a:r>
                    </a:p>
                    <a:p>
                      <a:r>
                        <a:rPr lang="en-US" sz="1200"/>
                        <a:t>R + R:</a:t>
                      </a:r>
                    </a:p>
                  </a:txBody>
                  <a:tcPr/>
                </a:tc>
                <a:extLst>
                  <a:ext uri="{0D108BD9-81ED-4DB2-BD59-A6C34878D82A}">
                    <a16:rowId xmlns:a16="http://schemas.microsoft.com/office/drawing/2014/main" val="1638586219"/>
                  </a:ext>
                </a:extLst>
              </a:tr>
              <a:tr h="457200">
                <a:tc>
                  <a:txBody>
                    <a:bodyPr/>
                    <a:lstStyle/>
                    <a:p>
                      <a:r>
                        <a:rPr lang="en-US" sz="1200"/>
                        <a:t>BIN</a:t>
                      </a:r>
                    </a:p>
                  </a:txBody>
                  <a:tcPr/>
                </a:tc>
                <a:tc>
                  <a:txBody>
                    <a:bodyPr/>
                    <a:lstStyle/>
                    <a:p>
                      <a:r>
                        <a:rPr lang="en-US" sz="1200"/>
                        <a:t>Branch If Negative</a:t>
                      </a:r>
                    </a:p>
                  </a:txBody>
                  <a:tcPr/>
                </a:tc>
                <a:tc>
                  <a:txBody>
                    <a:bodyPr/>
                    <a:lstStyle/>
                    <a:p>
                      <a:r>
                        <a:rPr lang="en-US" sz="1200"/>
                        <a:t>A + I: BIN #imm</a:t>
                      </a:r>
                    </a:p>
                  </a:txBody>
                  <a:tcPr/>
                </a:tc>
                <a:extLst>
                  <a:ext uri="{0D108BD9-81ED-4DB2-BD59-A6C34878D82A}">
                    <a16:rowId xmlns:a16="http://schemas.microsoft.com/office/drawing/2014/main" val="1386115918"/>
                  </a:ext>
                </a:extLst>
              </a:tr>
              <a:tr h="370840">
                <a:tc>
                  <a:txBody>
                    <a:bodyPr/>
                    <a:lstStyle/>
                    <a:p>
                      <a:r>
                        <a:rPr lang="en-US" sz="1200"/>
                        <a:t>BIC</a:t>
                      </a:r>
                    </a:p>
                  </a:txBody>
                  <a:tcPr/>
                </a:tc>
                <a:tc>
                  <a:txBody>
                    <a:bodyPr/>
                    <a:lstStyle/>
                    <a:p>
                      <a:r>
                        <a:rPr lang="en-US" sz="1200"/>
                        <a:t>Branch if Carry</a:t>
                      </a:r>
                    </a:p>
                  </a:txBody>
                  <a:tcPr/>
                </a:tc>
                <a:tc>
                  <a:txBody>
                    <a:bodyPr/>
                    <a:lstStyle/>
                    <a:p>
                      <a:r>
                        <a:rPr lang="en-US" sz="1200"/>
                        <a:t>A + I: BIC #imm</a:t>
                      </a:r>
                    </a:p>
                  </a:txBody>
                  <a:tcPr/>
                </a:tc>
                <a:extLst>
                  <a:ext uri="{0D108BD9-81ED-4DB2-BD59-A6C34878D82A}">
                    <a16:rowId xmlns:a16="http://schemas.microsoft.com/office/drawing/2014/main" val="2998133301"/>
                  </a:ext>
                </a:extLst>
              </a:tr>
              <a:tr h="370840">
                <a:tc>
                  <a:txBody>
                    <a:bodyPr/>
                    <a:lstStyle/>
                    <a:p>
                      <a:r>
                        <a:rPr lang="en-US" sz="1200"/>
                        <a:t>BIZ</a:t>
                      </a:r>
                    </a:p>
                  </a:txBody>
                  <a:tcPr/>
                </a:tc>
                <a:tc>
                  <a:txBody>
                    <a:bodyPr/>
                    <a:lstStyle/>
                    <a:p>
                      <a:r>
                        <a:rPr lang="en-US" sz="1200"/>
                        <a:t>Branch if Zero</a:t>
                      </a:r>
                    </a:p>
                  </a:txBody>
                  <a:tcPr/>
                </a:tc>
                <a:tc>
                  <a:txBody>
                    <a:bodyPr/>
                    <a:lstStyle/>
                    <a:p>
                      <a:r>
                        <a:rPr lang="en-US" sz="1200"/>
                        <a:t>A + I: BIZ #imm</a:t>
                      </a:r>
                    </a:p>
                  </a:txBody>
                  <a:tcPr/>
                </a:tc>
                <a:extLst>
                  <a:ext uri="{0D108BD9-81ED-4DB2-BD59-A6C34878D82A}">
                    <a16:rowId xmlns:a16="http://schemas.microsoft.com/office/drawing/2014/main" val="2789821379"/>
                  </a:ext>
                </a:extLst>
              </a:tr>
              <a:tr h="457200">
                <a:tc>
                  <a:txBody>
                    <a:bodyPr/>
                    <a:lstStyle/>
                    <a:p>
                      <a:r>
                        <a:rPr lang="en-US" sz="1200"/>
                        <a:t>BNN</a:t>
                      </a:r>
                    </a:p>
                  </a:txBody>
                  <a:tcPr/>
                </a:tc>
                <a:tc>
                  <a:txBody>
                    <a:bodyPr/>
                    <a:lstStyle/>
                    <a:p>
                      <a:r>
                        <a:rPr lang="en-US" sz="1200"/>
                        <a:t>Branch if not Negative</a:t>
                      </a:r>
                    </a:p>
                  </a:txBody>
                  <a:tcPr/>
                </a:tc>
                <a:tc>
                  <a:txBody>
                    <a:bodyPr/>
                    <a:lstStyle/>
                    <a:p>
                      <a:r>
                        <a:rPr lang="en-US" sz="1200"/>
                        <a:t>A + I: BNN #imm</a:t>
                      </a:r>
                    </a:p>
                  </a:txBody>
                  <a:tcPr/>
                </a:tc>
                <a:extLst>
                  <a:ext uri="{0D108BD9-81ED-4DB2-BD59-A6C34878D82A}">
                    <a16:rowId xmlns:a16="http://schemas.microsoft.com/office/drawing/2014/main" val="217881532"/>
                  </a:ext>
                </a:extLst>
              </a:tr>
              <a:tr h="457200">
                <a:tc>
                  <a:txBody>
                    <a:bodyPr/>
                    <a:lstStyle/>
                    <a:p>
                      <a:r>
                        <a:rPr lang="en-US" sz="1200"/>
                        <a:t>BNC</a:t>
                      </a:r>
                    </a:p>
                  </a:txBody>
                  <a:tcPr/>
                </a:tc>
                <a:tc>
                  <a:txBody>
                    <a:bodyPr/>
                    <a:lstStyle/>
                    <a:p>
                      <a:r>
                        <a:rPr lang="en-US" sz="1200"/>
                        <a:t>Branch if not Carry</a:t>
                      </a:r>
                    </a:p>
                  </a:txBody>
                  <a:tcPr/>
                </a:tc>
                <a:tc>
                  <a:txBody>
                    <a:bodyPr/>
                    <a:lstStyle/>
                    <a:p>
                      <a:r>
                        <a:rPr lang="en-US" sz="1200"/>
                        <a:t>A + I: BNC #imm</a:t>
                      </a:r>
                    </a:p>
                  </a:txBody>
                  <a:tcPr/>
                </a:tc>
                <a:extLst>
                  <a:ext uri="{0D108BD9-81ED-4DB2-BD59-A6C34878D82A}">
                    <a16:rowId xmlns:a16="http://schemas.microsoft.com/office/drawing/2014/main" val="33832389"/>
                  </a:ext>
                </a:extLst>
              </a:tr>
              <a:tr h="457200">
                <a:tc>
                  <a:txBody>
                    <a:bodyPr/>
                    <a:lstStyle/>
                    <a:p>
                      <a:r>
                        <a:rPr lang="en-US" sz="1200"/>
                        <a:t>BNZ</a:t>
                      </a:r>
                    </a:p>
                  </a:txBody>
                  <a:tcPr/>
                </a:tc>
                <a:tc>
                  <a:txBody>
                    <a:bodyPr/>
                    <a:lstStyle/>
                    <a:p>
                      <a:r>
                        <a:rPr lang="en-US" sz="1200"/>
                        <a:t>Branch if not Zero</a:t>
                      </a:r>
                    </a:p>
                  </a:txBody>
                  <a:tcPr/>
                </a:tc>
                <a:tc>
                  <a:txBody>
                    <a:bodyPr/>
                    <a:lstStyle/>
                    <a:p>
                      <a:r>
                        <a:rPr lang="en-US" sz="1200"/>
                        <a:t>A + I: BNZ #imm</a:t>
                      </a:r>
                    </a:p>
                  </a:txBody>
                  <a:tcPr/>
                </a:tc>
                <a:extLst>
                  <a:ext uri="{0D108BD9-81ED-4DB2-BD59-A6C34878D82A}">
                    <a16:rowId xmlns:a16="http://schemas.microsoft.com/office/drawing/2014/main" val="4047438269"/>
                  </a:ext>
                </a:extLst>
              </a:tr>
            </a:tbl>
          </a:graphicData>
        </a:graphic>
      </p:graphicFrame>
      <p:pic>
        <p:nvPicPr>
          <p:cNvPr id="2" name="Picture 1">
            <a:hlinkClick r:id="rId2" action="ppaction://hlinksldjump"/>
            <a:extLst>
              <a:ext uri="{FF2B5EF4-FFF2-40B4-BE49-F238E27FC236}">
                <a16:creationId xmlns:a16="http://schemas.microsoft.com/office/drawing/2014/main" id="{016477C6-01AE-1991-27C8-7518D6913EB6}"/>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1" name="Slide Number Placeholder 4">
            <a:extLst>
              <a:ext uri="{FF2B5EF4-FFF2-40B4-BE49-F238E27FC236}">
                <a16:creationId xmlns:a16="http://schemas.microsoft.com/office/drawing/2014/main" id="{7398D326-EAF3-F6F0-4AFC-4A93C12861B5}"/>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112</a:t>
            </a:fld>
            <a:endParaRPr lang="en-US" b="1">
              <a:solidFill>
                <a:schemeClr val="bg1"/>
              </a:solidFill>
            </a:endParaRPr>
          </a:p>
        </p:txBody>
      </p:sp>
    </p:spTree>
    <p:extLst>
      <p:ext uri="{BB962C8B-B14F-4D97-AF65-F5344CB8AC3E}">
        <p14:creationId xmlns:p14="http://schemas.microsoft.com/office/powerpoint/2010/main" val="3862480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16637F1-6939-43EB-8F3F-E63975EDBEDE}"/>
              </a:ext>
            </a:extLst>
          </p:cNvPr>
          <p:cNvSpPr>
            <a:spLocks noGrp="1"/>
          </p:cNvSpPr>
          <p:nvPr>
            <p:ph type="ctrTitle"/>
          </p:nvPr>
        </p:nvSpPr>
        <p:spPr/>
        <p:txBody>
          <a:bodyPr/>
          <a:lstStyle/>
          <a:p>
            <a:r>
              <a:rPr lang="en-US"/>
              <a:t>Instruction set families</a:t>
            </a:r>
          </a:p>
        </p:txBody>
      </p:sp>
      <p:graphicFrame>
        <p:nvGraphicFramePr>
          <p:cNvPr id="4" name="Table 4">
            <a:extLst>
              <a:ext uri="{FF2B5EF4-FFF2-40B4-BE49-F238E27FC236}">
                <a16:creationId xmlns:a16="http://schemas.microsoft.com/office/drawing/2014/main" id="{FE0D1F1E-1E2A-4C6B-A616-6F3A7DB68C5F}"/>
              </a:ext>
            </a:extLst>
          </p:cNvPr>
          <p:cNvGraphicFramePr>
            <a:graphicFrameLocks noGrp="1"/>
          </p:cNvGraphicFramePr>
          <p:nvPr>
            <p:extLst>
              <p:ext uri="{D42A27DB-BD31-4B8C-83A1-F6EECF244321}">
                <p14:modId xmlns:p14="http://schemas.microsoft.com/office/powerpoint/2010/main" val="4069417583"/>
              </p:ext>
            </p:extLst>
          </p:nvPr>
        </p:nvGraphicFramePr>
        <p:xfrm>
          <a:off x="601784" y="1516836"/>
          <a:ext cx="9276861" cy="741680"/>
        </p:xfrm>
        <a:graphic>
          <a:graphicData uri="http://schemas.openxmlformats.org/drawingml/2006/table">
            <a:tbl>
              <a:tblPr firstRow="1" bandRow="1">
                <a:tableStyleId>{5C22544A-7EE6-4342-B048-85BDC9FD1C3A}</a:tableStyleId>
              </a:tblPr>
              <a:tblGrid>
                <a:gridCol w="1312985">
                  <a:extLst>
                    <a:ext uri="{9D8B030D-6E8A-4147-A177-3AD203B41FA5}">
                      <a16:colId xmlns:a16="http://schemas.microsoft.com/office/drawing/2014/main" val="1810408170"/>
                    </a:ext>
                  </a:extLst>
                </a:gridCol>
                <a:gridCol w="2089399">
                  <a:extLst>
                    <a:ext uri="{9D8B030D-6E8A-4147-A177-3AD203B41FA5}">
                      <a16:colId xmlns:a16="http://schemas.microsoft.com/office/drawing/2014/main" val="1217920130"/>
                    </a:ext>
                  </a:extLst>
                </a:gridCol>
                <a:gridCol w="824031">
                  <a:extLst>
                    <a:ext uri="{9D8B030D-6E8A-4147-A177-3AD203B41FA5}">
                      <a16:colId xmlns:a16="http://schemas.microsoft.com/office/drawing/2014/main" val="1475888205"/>
                    </a:ext>
                  </a:extLst>
                </a:gridCol>
                <a:gridCol w="1262612">
                  <a:extLst>
                    <a:ext uri="{9D8B030D-6E8A-4147-A177-3AD203B41FA5}">
                      <a16:colId xmlns:a16="http://schemas.microsoft.com/office/drawing/2014/main" val="1355185516"/>
                    </a:ext>
                  </a:extLst>
                </a:gridCol>
                <a:gridCol w="1584927">
                  <a:extLst>
                    <a:ext uri="{9D8B030D-6E8A-4147-A177-3AD203B41FA5}">
                      <a16:colId xmlns:a16="http://schemas.microsoft.com/office/drawing/2014/main" val="2050007723"/>
                    </a:ext>
                  </a:extLst>
                </a:gridCol>
                <a:gridCol w="1149517">
                  <a:extLst>
                    <a:ext uri="{9D8B030D-6E8A-4147-A177-3AD203B41FA5}">
                      <a16:colId xmlns:a16="http://schemas.microsoft.com/office/drawing/2014/main" val="3099546510"/>
                    </a:ext>
                  </a:extLst>
                </a:gridCol>
                <a:gridCol w="1053392">
                  <a:extLst>
                    <a:ext uri="{9D8B030D-6E8A-4147-A177-3AD203B41FA5}">
                      <a16:colId xmlns:a16="http://schemas.microsoft.com/office/drawing/2014/main" val="1677154990"/>
                    </a:ext>
                  </a:extLst>
                </a:gridCol>
              </a:tblGrid>
              <a:tr h="370840">
                <a:tc>
                  <a:txBody>
                    <a:bodyPr/>
                    <a:lstStyle/>
                    <a:p>
                      <a:pPr algn="ctr"/>
                      <a:r>
                        <a:rPr lang="en-US" sz="1300"/>
                        <a:t>Type</a:t>
                      </a:r>
                    </a:p>
                  </a:txBody>
                  <a:tcPr/>
                </a:tc>
                <a:tc>
                  <a:txBody>
                    <a:bodyPr/>
                    <a:lstStyle/>
                    <a:p>
                      <a:pPr algn="ctr"/>
                      <a:r>
                        <a:rPr lang="en-US" sz="1300"/>
                        <a:t>0 1 2 3 4</a:t>
                      </a:r>
                    </a:p>
                  </a:txBody>
                  <a:tcPr/>
                </a:tc>
                <a:tc>
                  <a:txBody>
                    <a:bodyPr/>
                    <a:lstStyle/>
                    <a:p>
                      <a:pPr algn="ctr"/>
                      <a:r>
                        <a:rPr lang="en-US" sz="1300"/>
                        <a:t>5</a:t>
                      </a:r>
                    </a:p>
                  </a:txBody>
                  <a:tcPr/>
                </a:tc>
                <a:tc>
                  <a:txBody>
                    <a:bodyPr/>
                    <a:lstStyle/>
                    <a:p>
                      <a:pPr algn="ctr"/>
                      <a:r>
                        <a:rPr lang="en-US" sz="1300"/>
                        <a:t>6 7</a:t>
                      </a:r>
                    </a:p>
                  </a:txBody>
                  <a:tcPr/>
                </a:tc>
                <a:tc>
                  <a:txBody>
                    <a:bodyPr/>
                    <a:lstStyle/>
                    <a:p>
                      <a:pPr algn="ctr"/>
                      <a:r>
                        <a:rPr lang="en-US" sz="1300"/>
                        <a:t>8 9 10 11</a:t>
                      </a:r>
                    </a:p>
                  </a:txBody>
                  <a:tcPr/>
                </a:tc>
                <a:tc>
                  <a:txBody>
                    <a:bodyPr/>
                    <a:lstStyle/>
                    <a:p>
                      <a:pPr algn="ctr"/>
                      <a:r>
                        <a:rPr lang="en-US" sz="1300"/>
                        <a:t>12 13</a:t>
                      </a:r>
                    </a:p>
                  </a:txBody>
                  <a:tcPr/>
                </a:tc>
                <a:tc>
                  <a:txBody>
                    <a:bodyPr/>
                    <a:lstStyle/>
                    <a:p>
                      <a:pPr algn="ctr"/>
                      <a:r>
                        <a:rPr lang="en-US" sz="1300"/>
                        <a:t>14 15</a:t>
                      </a:r>
                    </a:p>
                  </a:txBody>
                  <a:tcPr/>
                </a:tc>
                <a:extLst>
                  <a:ext uri="{0D108BD9-81ED-4DB2-BD59-A6C34878D82A}">
                    <a16:rowId xmlns:a16="http://schemas.microsoft.com/office/drawing/2014/main" val="2319756336"/>
                  </a:ext>
                </a:extLst>
              </a:tr>
              <a:tr h="370840">
                <a:tc>
                  <a:txBody>
                    <a:bodyPr/>
                    <a:lstStyle/>
                    <a:p>
                      <a:pPr algn="ctr"/>
                      <a:r>
                        <a:rPr lang="en-US" sz="1300"/>
                        <a:t>ALU</a:t>
                      </a:r>
                    </a:p>
                  </a:txBody>
                  <a:tcPr/>
                </a:tc>
                <a:tc>
                  <a:txBody>
                    <a:bodyPr/>
                    <a:lstStyle/>
                    <a:p>
                      <a:pPr algn="ctr"/>
                      <a:r>
                        <a:rPr lang="en-US" sz="1300"/>
                        <a:t>OpCode</a:t>
                      </a:r>
                    </a:p>
                  </a:txBody>
                  <a:tcPr/>
                </a:tc>
                <a:tc>
                  <a:txBody>
                    <a:bodyPr/>
                    <a:lstStyle/>
                    <a:p>
                      <a:pPr algn="ctr"/>
                      <a:r>
                        <a:rPr lang="en-US" sz="1300"/>
                        <a:t>X</a:t>
                      </a:r>
                    </a:p>
                  </a:txBody>
                  <a:tcPr/>
                </a:tc>
                <a:tc>
                  <a:txBody>
                    <a:bodyPr/>
                    <a:lstStyle/>
                    <a:p>
                      <a:pPr algn="ctr"/>
                      <a:r>
                        <a:rPr lang="en-US" sz="1300"/>
                        <a:t>Rd</a:t>
                      </a:r>
                    </a:p>
                  </a:txBody>
                  <a:tcPr/>
                </a:tc>
                <a:tc>
                  <a:txBody>
                    <a:bodyPr/>
                    <a:lstStyle/>
                    <a:p>
                      <a:pPr algn="ctr"/>
                      <a:r>
                        <a:rPr lang="en-US" sz="1300"/>
                        <a:t>Function</a:t>
                      </a:r>
                    </a:p>
                  </a:txBody>
                  <a:tcPr/>
                </a:tc>
                <a:tc>
                  <a:txBody>
                    <a:bodyPr/>
                    <a:lstStyle/>
                    <a:p>
                      <a:pPr algn="ctr"/>
                      <a:r>
                        <a:rPr lang="en-US" sz="1300"/>
                        <a:t>Rs1</a:t>
                      </a:r>
                    </a:p>
                  </a:txBody>
                  <a:tcPr/>
                </a:tc>
                <a:tc>
                  <a:txBody>
                    <a:bodyPr/>
                    <a:lstStyle/>
                    <a:p>
                      <a:pPr algn="ctr"/>
                      <a:r>
                        <a:rPr lang="en-US" sz="1300"/>
                        <a:t>Rs2</a:t>
                      </a:r>
                    </a:p>
                  </a:txBody>
                  <a:tcPr/>
                </a:tc>
                <a:extLst>
                  <a:ext uri="{0D108BD9-81ED-4DB2-BD59-A6C34878D82A}">
                    <a16:rowId xmlns:a16="http://schemas.microsoft.com/office/drawing/2014/main" val="2570910443"/>
                  </a:ext>
                </a:extLst>
              </a:tr>
            </a:tbl>
          </a:graphicData>
        </a:graphic>
      </p:graphicFrame>
      <p:sp>
        <p:nvSpPr>
          <p:cNvPr id="5" name="TextBox 4">
            <a:extLst>
              <a:ext uri="{FF2B5EF4-FFF2-40B4-BE49-F238E27FC236}">
                <a16:creationId xmlns:a16="http://schemas.microsoft.com/office/drawing/2014/main" id="{A0310BAF-9F6F-4F14-856D-523CEF3D2FAB}"/>
              </a:ext>
            </a:extLst>
          </p:cNvPr>
          <p:cNvSpPr txBox="1"/>
          <p:nvPr/>
        </p:nvSpPr>
        <p:spPr>
          <a:xfrm>
            <a:off x="1774094" y="1147504"/>
            <a:ext cx="8364790" cy="369332"/>
          </a:xfrm>
          <a:prstGeom prst="rect">
            <a:avLst/>
          </a:prstGeom>
          <a:noFill/>
        </p:spPr>
        <p:txBody>
          <a:bodyPr wrap="none" rtlCol="0">
            <a:spAutoFit/>
          </a:bodyPr>
          <a:lstStyle/>
          <a:p>
            <a:r>
              <a:rPr lang="en-US"/>
              <a:t>0                                                                                                                                                    15</a:t>
            </a:r>
          </a:p>
        </p:txBody>
      </p:sp>
      <p:graphicFrame>
        <p:nvGraphicFramePr>
          <p:cNvPr id="6" name="Table 4">
            <a:extLst>
              <a:ext uri="{FF2B5EF4-FFF2-40B4-BE49-F238E27FC236}">
                <a16:creationId xmlns:a16="http://schemas.microsoft.com/office/drawing/2014/main" id="{4CE369E1-5CC7-4F78-A3D4-AC1406317C1B}"/>
              </a:ext>
            </a:extLst>
          </p:cNvPr>
          <p:cNvGraphicFramePr>
            <a:graphicFrameLocks noGrp="1"/>
          </p:cNvGraphicFramePr>
          <p:nvPr>
            <p:extLst>
              <p:ext uri="{D42A27DB-BD31-4B8C-83A1-F6EECF244321}">
                <p14:modId xmlns:p14="http://schemas.microsoft.com/office/powerpoint/2010/main" val="1953250542"/>
              </p:ext>
            </p:extLst>
          </p:nvPr>
        </p:nvGraphicFramePr>
        <p:xfrm>
          <a:off x="601784" y="2513297"/>
          <a:ext cx="9276861" cy="741680"/>
        </p:xfrm>
        <a:graphic>
          <a:graphicData uri="http://schemas.openxmlformats.org/drawingml/2006/table">
            <a:tbl>
              <a:tblPr firstRow="1" bandRow="1">
                <a:tableStyleId>{5C22544A-7EE6-4342-B048-85BDC9FD1C3A}</a:tableStyleId>
              </a:tblPr>
              <a:tblGrid>
                <a:gridCol w="1312985">
                  <a:extLst>
                    <a:ext uri="{9D8B030D-6E8A-4147-A177-3AD203B41FA5}">
                      <a16:colId xmlns:a16="http://schemas.microsoft.com/office/drawing/2014/main" val="1810408170"/>
                    </a:ext>
                  </a:extLst>
                </a:gridCol>
                <a:gridCol w="2089399">
                  <a:extLst>
                    <a:ext uri="{9D8B030D-6E8A-4147-A177-3AD203B41FA5}">
                      <a16:colId xmlns:a16="http://schemas.microsoft.com/office/drawing/2014/main" val="1217920130"/>
                    </a:ext>
                  </a:extLst>
                </a:gridCol>
                <a:gridCol w="824031">
                  <a:extLst>
                    <a:ext uri="{9D8B030D-6E8A-4147-A177-3AD203B41FA5}">
                      <a16:colId xmlns:a16="http://schemas.microsoft.com/office/drawing/2014/main" val="1475888205"/>
                    </a:ext>
                  </a:extLst>
                </a:gridCol>
                <a:gridCol w="1262612">
                  <a:extLst>
                    <a:ext uri="{9D8B030D-6E8A-4147-A177-3AD203B41FA5}">
                      <a16:colId xmlns:a16="http://schemas.microsoft.com/office/drawing/2014/main" val="1355185516"/>
                    </a:ext>
                  </a:extLst>
                </a:gridCol>
                <a:gridCol w="1584927">
                  <a:extLst>
                    <a:ext uri="{9D8B030D-6E8A-4147-A177-3AD203B41FA5}">
                      <a16:colId xmlns:a16="http://schemas.microsoft.com/office/drawing/2014/main" val="2050007723"/>
                    </a:ext>
                  </a:extLst>
                </a:gridCol>
                <a:gridCol w="1149517">
                  <a:extLst>
                    <a:ext uri="{9D8B030D-6E8A-4147-A177-3AD203B41FA5}">
                      <a16:colId xmlns:a16="http://schemas.microsoft.com/office/drawing/2014/main" val="3099546510"/>
                    </a:ext>
                  </a:extLst>
                </a:gridCol>
                <a:gridCol w="1053392">
                  <a:extLst>
                    <a:ext uri="{9D8B030D-6E8A-4147-A177-3AD203B41FA5}">
                      <a16:colId xmlns:a16="http://schemas.microsoft.com/office/drawing/2014/main" val="1677154990"/>
                    </a:ext>
                  </a:extLst>
                </a:gridCol>
              </a:tblGrid>
              <a:tr h="370840">
                <a:tc>
                  <a:txBody>
                    <a:bodyPr/>
                    <a:lstStyle/>
                    <a:p>
                      <a:pPr algn="ctr"/>
                      <a:r>
                        <a:rPr lang="en-US" sz="1300"/>
                        <a:t>Type</a:t>
                      </a:r>
                    </a:p>
                  </a:txBody>
                  <a:tcPr/>
                </a:tc>
                <a:tc>
                  <a:txBody>
                    <a:bodyPr/>
                    <a:lstStyle/>
                    <a:p>
                      <a:pPr algn="ctr"/>
                      <a:r>
                        <a:rPr lang="en-US" sz="1300"/>
                        <a:t>0 1 2 3 4</a:t>
                      </a:r>
                    </a:p>
                  </a:txBody>
                  <a:tcPr/>
                </a:tc>
                <a:tc>
                  <a:txBody>
                    <a:bodyPr/>
                    <a:lstStyle/>
                    <a:p>
                      <a:pPr algn="ctr"/>
                      <a:r>
                        <a:rPr lang="en-US" sz="1300"/>
                        <a:t>5</a:t>
                      </a:r>
                    </a:p>
                  </a:txBody>
                  <a:tcPr/>
                </a:tc>
                <a:tc>
                  <a:txBody>
                    <a:bodyPr/>
                    <a:lstStyle/>
                    <a:p>
                      <a:pPr algn="ctr"/>
                      <a:r>
                        <a:rPr lang="en-US" sz="1300"/>
                        <a:t>6 7</a:t>
                      </a:r>
                    </a:p>
                  </a:txBody>
                  <a:tcPr/>
                </a:tc>
                <a:tc>
                  <a:txBody>
                    <a:bodyPr/>
                    <a:lstStyle/>
                    <a:p>
                      <a:pPr algn="ctr"/>
                      <a:r>
                        <a:rPr lang="en-US" sz="1300"/>
                        <a:t>8 9 10 11</a:t>
                      </a:r>
                    </a:p>
                  </a:txBody>
                  <a:tcPr/>
                </a:tc>
                <a:tc>
                  <a:txBody>
                    <a:bodyPr/>
                    <a:lstStyle/>
                    <a:p>
                      <a:pPr algn="ctr"/>
                      <a:r>
                        <a:rPr lang="en-US" sz="1300"/>
                        <a:t>12 13</a:t>
                      </a:r>
                    </a:p>
                  </a:txBody>
                  <a:tcPr/>
                </a:tc>
                <a:tc>
                  <a:txBody>
                    <a:bodyPr/>
                    <a:lstStyle/>
                    <a:p>
                      <a:pPr algn="ctr"/>
                      <a:r>
                        <a:rPr lang="en-US" sz="1300"/>
                        <a:t>14 15</a:t>
                      </a:r>
                    </a:p>
                  </a:txBody>
                  <a:tcPr/>
                </a:tc>
                <a:extLst>
                  <a:ext uri="{0D108BD9-81ED-4DB2-BD59-A6C34878D82A}">
                    <a16:rowId xmlns:a16="http://schemas.microsoft.com/office/drawing/2014/main" val="2319756336"/>
                  </a:ext>
                </a:extLst>
              </a:tr>
              <a:tr h="370840">
                <a:tc>
                  <a:txBody>
                    <a:bodyPr/>
                    <a:lstStyle/>
                    <a:p>
                      <a:pPr algn="ctr"/>
                      <a:r>
                        <a:rPr lang="en-US" sz="1300"/>
                        <a:t>Load </a:t>
                      </a:r>
                      <a:r>
                        <a:rPr lang="en-US" sz="1300" err="1"/>
                        <a:t>Imm</a:t>
                      </a:r>
                      <a:endParaRPr lang="en-US" sz="1300"/>
                    </a:p>
                  </a:txBody>
                  <a:tcPr/>
                </a:tc>
                <a:tc>
                  <a:txBody>
                    <a:bodyPr/>
                    <a:lstStyle/>
                    <a:p>
                      <a:pPr algn="ctr"/>
                      <a:r>
                        <a:rPr lang="en-US" sz="1300"/>
                        <a:t>OpCode</a:t>
                      </a:r>
                    </a:p>
                  </a:txBody>
                  <a:tcPr/>
                </a:tc>
                <a:tc>
                  <a:txBody>
                    <a:bodyPr/>
                    <a:lstStyle/>
                    <a:p>
                      <a:pPr algn="ctr"/>
                      <a:r>
                        <a:rPr lang="en-US" sz="1300"/>
                        <a:t>X</a:t>
                      </a:r>
                    </a:p>
                  </a:txBody>
                  <a:tcPr/>
                </a:tc>
                <a:tc>
                  <a:txBody>
                    <a:bodyPr/>
                    <a:lstStyle/>
                    <a:p>
                      <a:pPr algn="ctr"/>
                      <a:r>
                        <a:rPr lang="en-US" sz="1300"/>
                        <a:t>Rd</a:t>
                      </a:r>
                    </a:p>
                  </a:txBody>
                  <a:tcPr/>
                </a:tc>
                <a:tc gridSpan="3">
                  <a:txBody>
                    <a:bodyPr/>
                    <a:lstStyle/>
                    <a:p>
                      <a:pPr algn="ctr"/>
                      <a:r>
                        <a:rPr lang="en-US" sz="1300"/>
                        <a:t>Immediate (8-bit)</a:t>
                      </a:r>
                    </a:p>
                  </a:txBody>
                  <a:tcPr/>
                </a:tc>
                <a:tc hMerge="1">
                  <a:txBody>
                    <a:bodyPr/>
                    <a:lstStyle/>
                    <a:p>
                      <a:pPr algn="ctr"/>
                      <a:r>
                        <a:rPr lang="en-US"/>
                        <a:t>Rs1</a:t>
                      </a:r>
                    </a:p>
                  </a:txBody>
                  <a:tcPr/>
                </a:tc>
                <a:tc hMerge="1">
                  <a:txBody>
                    <a:bodyPr/>
                    <a:lstStyle/>
                    <a:p>
                      <a:pPr algn="ctr"/>
                      <a:r>
                        <a:rPr lang="en-US"/>
                        <a:t>Rs2</a:t>
                      </a:r>
                    </a:p>
                  </a:txBody>
                  <a:tcPr/>
                </a:tc>
                <a:extLst>
                  <a:ext uri="{0D108BD9-81ED-4DB2-BD59-A6C34878D82A}">
                    <a16:rowId xmlns:a16="http://schemas.microsoft.com/office/drawing/2014/main" val="2570910443"/>
                  </a:ext>
                </a:extLst>
              </a:tr>
            </a:tbl>
          </a:graphicData>
        </a:graphic>
      </p:graphicFrame>
      <p:graphicFrame>
        <p:nvGraphicFramePr>
          <p:cNvPr id="8" name="Table 4">
            <a:extLst>
              <a:ext uri="{FF2B5EF4-FFF2-40B4-BE49-F238E27FC236}">
                <a16:creationId xmlns:a16="http://schemas.microsoft.com/office/drawing/2014/main" id="{1FC15CAA-5908-4F9F-9EF5-6DA62DED6491}"/>
              </a:ext>
            </a:extLst>
          </p:cNvPr>
          <p:cNvGraphicFramePr>
            <a:graphicFrameLocks noGrp="1"/>
          </p:cNvGraphicFramePr>
          <p:nvPr>
            <p:extLst>
              <p:ext uri="{D42A27DB-BD31-4B8C-83A1-F6EECF244321}">
                <p14:modId xmlns:p14="http://schemas.microsoft.com/office/powerpoint/2010/main" val="3854043586"/>
              </p:ext>
            </p:extLst>
          </p:nvPr>
        </p:nvGraphicFramePr>
        <p:xfrm>
          <a:off x="601783" y="3598204"/>
          <a:ext cx="9276861" cy="741680"/>
        </p:xfrm>
        <a:graphic>
          <a:graphicData uri="http://schemas.openxmlformats.org/drawingml/2006/table">
            <a:tbl>
              <a:tblPr firstRow="1" bandRow="1">
                <a:tableStyleId>{5C22544A-7EE6-4342-B048-85BDC9FD1C3A}</a:tableStyleId>
              </a:tblPr>
              <a:tblGrid>
                <a:gridCol w="1312985">
                  <a:extLst>
                    <a:ext uri="{9D8B030D-6E8A-4147-A177-3AD203B41FA5}">
                      <a16:colId xmlns:a16="http://schemas.microsoft.com/office/drawing/2014/main" val="1810408170"/>
                    </a:ext>
                  </a:extLst>
                </a:gridCol>
                <a:gridCol w="2089399">
                  <a:extLst>
                    <a:ext uri="{9D8B030D-6E8A-4147-A177-3AD203B41FA5}">
                      <a16:colId xmlns:a16="http://schemas.microsoft.com/office/drawing/2014/main" val="1217920130"/>
                    </a:ext>
                  </a:extLst>
                </a:gridCol>
                <a:gridCol w="824031">
                  <a:extLst>
                    <a:ext uri="{9D8B030D-6E8A-4147-A177-3AD203B41FA5}">
                      <a16:colId xmlns:a16="http://schemas.microsoft.com/office/drawing/2014/main" val="1475888205"/>
                    </a:ext>
                  </a:extLst>
                </a:gridCol>
                <a:gridCol w="1262612">
                  <a:extLst>
                    <a:ext uri="{9D8B030D-6E8A-4147-A177-3AD203B41FA5}">
                      <a16:colId xmlns:a16="http://schemas.microsoft.com/office/drawing/2014/main" val="1355185516"/>
                    </a:ext>
                  </a:extLst>
                </a:gridCol>
                <a:gridCol w="1584927">
                  <a:extLst>
                    <a:ext uri="{9D8B030D-6E8A-4147-A177-3AD203B41FA5}">
                      <a16:colId xmlns:a16="http://schemas.microsoft.com/office/drawing/2014/main" val="2050007723"/>
                    </a:ext>
                  </a:extLst>
                </a:gridCol>
                <a:gridCol w="1149517">
                  <a:extLst>
                    <a:ext uri="{9D8B030D-6E8A-4147-A177-3AD203B41FA5}">
                      <a16:colId xmlns:a16="http://schemas.microsoft.com/office/drawing/2014/main" val="3099546510"/>
                    </a:ext>
                  </a:extLst>
                </a:gridCol>
                <a:gridCol w="1053392">
                  <a:extLst>
                    <a:ext uri="{9D8B030D-6E8A-4147-A177-3AD203B41FA5}">
                      <a16:colId xmlns:a16="http://schemas.microsoft.com/office/drawing/2014/main" val="1677154990"/>
                    </a:ext>
                  </a:extLst>
                </a:gridCol>
              </a:tblGrid>
              <a:tr h="370840">
                <a:tc>
                  <a:txBody>
                    <a:bodyPr/>
                    <a:lstStyle/>
                    <a:p>
                      <a:pPr algn="ctr"/>
                      <a:r>
                        <a:rPr lang="en-US" sz="1300"/>
                        <a:t>Type</a:t>
                      </a:r>
                    </a:p>
                  </a:txBody>
                  <a:tcPr/>
                </a:tc>
                <a:tc>
                  <a:txBody>
                    <a:bodyPr/>
                    <a:lstStyle/>
                    <a:p>
                      <a:pPr algn="ctr"/>
                      <a:r>
                        <a:rPr lang="en-US" sz="1300"/>
                        <a:t>0 1 2 3 4</a:t>
                      </a:r>
                    </a:p>
                  </a:txBody>
                  <a:tcPr/>
                </a:tc>
                <a:tc>
                  <a:txBody>
                    <a:bodyPr/>
                    <a:lstStyle/>
                    <a:p>
                      <a:pPr algn="ctr"/>
                      <a:r>
                        <a:rPr lang="en-US" sz="1300"/>
                        <a:t>5</a:t>
                      </a:r>
                    </a:p>
                  </a:txBody>
                  <a:tcPr/>
                </a:tc>
                <a:tc>
                  <a:txBody>
                    <a:bodyPr/>
                    <a:lstStyle/>
                    <a:p>
                      <a:pPr algn="ctr"/>
                      <a:r>
                        <a:rPr lang="en-US" sz="1300"/>
                        <a:t>6 7</a:t>
                      </a:r>
                    </a:p>
                  </a:txBody>
                  <a:tcPr/>
                </a:tc>
                <a:tc>
                  <a:txBody>
                    <a:bodyPr/>
                    <a:lstStyle/>
                    <a:p>
                      <a:pPr algn="ctr"/>
                      <a:r>
                        <a:rPr lang="en-US" sz="1300"/>
                        <a:t>8 9 10 11</a:t>
                      </a:r>
                    </a:p>
                  </a:txBody>
                  <a:tcPr/>
                </a:tc>
                <a:tc>
                  <a:txBody>
                    <a:bodyPr/>
                    <a:lstStyle/>
                    <a:p>
                      <a:pPr algn="ctr"/>
                      <a:r>
                        <a:rPr lang="en-US" sz="1300"/>
                        <a:t>12 13</a:t>
                      </a:r>
                    </a:p>
                  </a:txBody>
                  <a:tcPr/>
                </a:tc>
                <a:tc>
                  <a:txBody>
                    <a:bodyPr/>
                    <a:lstStyle/>
                    <a:p>
                      <a:pPr algn="ctr"/>
                      <a:r>
                        <a:rPr lang="en-US" sz="1300"/>
                        <a:t>14 15</a:t>
                      </a:r>
                    </a:p>
                  </a:txBody>
                  <a:tcPr/>
                </a:tc>
                <a:extLst>
                  <a:ext uri="{0D108BD9-81ED-4DB2-BD59-A6C34878D82A}">
                    <a16:rowId xmlns:a16="http://schemas.microsoft.com/office/drawing/2014/main" val="2319756336"/>
                  </a:ext>
                </a:extLst>
              </a:tr>
              <a:tr h="370840">
                <a:tc>
                  <a:txBody>
                    <a:bodyPr/>
                    <a:lstStyle/>
                    <a:p>
                      <a:pPr algn="ctr"/>
                      <a:r>
                        <a:rPr lang="en-US" sz="1300"/>
                        <a:t>Load Reg</a:t>
                      </a:r>
                    </a:p>
                  </a:txBody>
                  <a:tcPr/>
                </a:tc>
                <a:tc>
                  <a:txBody>
                    <a:bodyPr/>
                    <a:lstStyle/>
                    <a:p>
                      <a:pPr algn="ctr"/>
                      <a:r>
                        <a:rPr lang="en-US" sz="1300"/>
                        <a:t>OpCode</a:t>
                      </a:r>
                    </a:p>
                  </a:txBody>
                  <a:tcPr/>
                </a:tc>
                <a:tc>
                  <a:txBody>
                    <a:bodyPr/>
                    <a:lstStyle/>
                    <a:p>
                      <a:pPr algn="ctr"/>
                      <a:r>
                        <a:rPr lang="en-US" sz="1300"/>
                        <a:t>X</a:t>
                      </a:r>
                    </a:p>
                  </a:txBody>
                  <a:tcPr/>
                </a:tc>
                <a:tc>
                  <a:txBody>
                    <a:bodyPr/>
                    <a:lstStyle/>
                    <a:p>
                      <a:pPr algn="ctr"/>
                      <a:r>
                        <a:rPr lang="en-US" sz="1300"/>
                        <a:t>Rd</a:t>
                      </a:r>
                    </a:p>
                  </a:txBody>
                  <a:tcPr/>
                </a:tc>
                <a:tc>
                  <a:txBody>
                    <a:bodyPr/>
                    <a:lstStyle/>
                    <a:p>
                      <a:pPr algn="ctr"/>
                      <a:r>
                        <a:rPr lang="en-US" sz="1300"/>
                        <a:t>XXXX</a:t>
                      </a:r>
                    </a:p>
                  </a:txBody>
                  <a:tcPr/>
                </a:tc>
                <a:tc>
                  <a:txBody>
                    <a:bodyPr/>
                    <a:lstStyle/>
                    <a:p>
                      <a:pPr algn="ctr"/>
                      <a:r>
                        <a:rPr lang="en-US" sz="1300"/>
                        <a:t>Rs1</a:t>
                      </a:r>
                    </a:p>
                  </a:txBody>
                  <a:tcPr/>
                </a:tc>
                <a:tc>
                  <a:txBody>
                    <a:bodyPr/>
                    <a:lstStyle/>
                    <a:p>
                      <a:pPr algn="ctr"/>
                      <a:r>
                        <a:rPr lang="en-US" sz="1300"/>
                        <a:t>XX</a:t>
                      </a:r>
                    </a:p>
                  </a:txBody>
                  <a:tcPr/>
                </a:tc>
                <a:extLst>
                  <a:ext uri="{0D108BD9-81ED-4DB2-BD59-A6C34878D82A}">
                    <a16:rowId xmlns:a16="http://schemas.microsoft.com/office/drawing/2014/main" val="2570910443"/>
                  </a:ext>
                </a:extLst>
              </a:tr>
            </a:tbl>
          </a:graphicData>
        </a:graphic>
      </p:graphicFrame>
      <p:pic>
        <p:nvPicPr>
          <p:cNvPr id="2" name="Picture 1">
            <a:hlinkClick r:id="rId2" action="ppaction://hlinksldjump"/>
            <a:extLst>
              <a:ext uri="{FF2B5EF4-FFF2-40B4-BE49-F238E27FC236}">
                <a16:creationId xmlns:a16="http://schemas.microsoft.com/office/drawing/2014/main" id="{D943B7D4-05F4-7834-16FB-9618248FA5DD}"/>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0" name="Slide Number Placeholder 4">
            <a:extLst>
              <a:ext uri="{FF2B5EF4-FFF2-40B4-BE49-F238E27FC236}">
                <a16:creationId xmlns:a16="http://schemas.microsoft.com/office/drawing/2014/main" id="{5D25FB9D-C45D-F182-6CC6-63555E5650DB}"/>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113</a:t>
            </a:fld>
            <a:endParaRPr lang="en-US" b="1">
              <a:solidFill>
                <a:schemeClr val="bg1"/>
              </a:solidFill>
            </a:endParaRPr>
          </a:p>
        </p:txBody>
      </p:sp>
    </p:spTree>
    <p:extLst>
      <p:ext uri="{BB962C8B-B14F-4D97-AF65-F5344CB8AC3E}">
        <p14:creationId xmlns:p14="http://schemas.microsoft.com/office/powerpoint/2010/main" val="2382693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1096DC7C-89BE-BA4B-8B51-D5934B84585A}"/>
              </a:ext>
            </a:extLst>
          </p:cNvPr>
          <p:cNvSpPr>
            <a:spLocks noGrp="1"/>
          </p:cNvSpPr>
          <p:nvPr>
            <p:ph type="ctrTitle"/>
          </p:nvPr>
        </p:nvSpPr>
        <p:spPr>
          <a:xfrm>
            <a:off x="914400" y="182880"/>
            <a:ext cx="3840480" cy="457200"/>
          </a:xfrm>
        </p:spPr>
        <p:txBody>
          <a:bodyPr/>
          <a:lstStyle/>
          <a:p>
            <a:r>
              <a:rPr lang="en-US"/>
              <a:t>Instruction set</a:t>
            </a:r>
          </a:p>
        </p:txBody>
      </p:sp>
      <p:graphicFrame>
        <p:nvGraphicFramePr>
          <p:cNvPr id="6" name="Table 6">
            <a:extLst>
              <a:ext uri="{FF2B5EF4-FFF2-40B4-BE49-F238E27FC236}">
                <a16:creationId xmlns:a16="http://schemas.microsoft.com/office/drawing/2014/main" id="{B69B0FE0-152E-4AE3-86E0-8D1D6A8843E4}"/>
              </a:ext>
            </a:extLst>
          </p:cNvPr>
          <p:cNvGraphicFramePr>
            <a:graphicFrameLocks noGrp="1"/>
          </p:cNvGraphicFramePr>
          <p:nvPr>
            <p:extLst>
              <p:ext uri="{D42A27DB-BD31-4B8C-83A1-F6EECF244321}">
                <p14:modId xmlns:p14="http://schemas.microsoft.com/office/powerpoint/2010/main" val="963722328"/>
              </p:ext>
            </p:extLst>
          </p:nvPr>
        </p:nvGraphicFramePr>
        <p:xfrm>
          <a:off x="570525" y="790005"/>
          <a:ext cx="8128001" cy="4854644"/>
        </p:xfrm>
        <a:graphic>
          <a:graphicData uri="http://schemas.openxmlformats.org/drawingml/2006/table">
            <a:tbl>
              <a:tblPr firstRow="1" bandRow="1">
                <a:tableStyleId>{5C22544A-7EE6-4342-B048-85BDC9FD1C3A}</a:tableStyleId>
              </a:tblPr>
              <a:tblGrid>
                <a:gridCol w="668171">
                  <a:extLst>
                    <a:ext uri="{9D8B030D-6E8A-4147-A177-3AD203B41FA5}">
                      <a16:colId xmlns:a16="http://schemas.microsoft.com/office/drawing/2014/main" val="2453504952"/>
                    </a:ext>
                  </a:extLst>
                </a:gridCol>
                <a:gridCol w="3729915">
                  <a:extLst>
                    <a:ext uri="{9D8B030D-6E8A-4147-A177-3AD203B41FA5}">
                      <a16:colId xmlns:a16="http://schemas.microsoft.com/office/drawing/2014/main" val="4034550085"/>
                    </a:ext>
                  </a:extLst>
                </a:gridCol>
                <a:gridCol w="3729915">
                  <a:extLst>
                    <a:ext uri="{9D8B030D-6E8A-4147-A177-3AD203B41FA5}">
                      <a16:colId xmlns:a16="http://schemas.microsoft.com/office/drawing/2014/main" val="2366930874"/>
                    </a:ext>
                  </a:extLst>
                </a:gridCol>
              </a:tblGrid>
              <a:tr h="457200">
                <a:tc>
                  <a:txBody>
                    <a:bodyPr/>
                    <a:lstStyle/>
                    <a:p>
                      <a:r>
                        <a:rPr lang="en-US" sz="1200"/>
                        <a:t>Op code</a:t>
                      </a:r>
                    </a:p>
                  </a:txBody>
                  <a:tcPr/>
                </a:tc>
                <a:tc>
                  <a:txBody>
                    <a:bodyPr/>
                    <a:lstStyle/>
                    <a:p>
                      <a:r>
                        <a:rPr lang="en-US" sz="1200"/>
                        <a:t>Instruction</a:t>
                      </a:r>
                    </a:p>
                  </a:txBody>
                  <a:tcPr>
                    <a:lnB w="12700" cap="flat" cmpd="sng" algn="ctr">
                      <a:solidFill>
                        <a:schemeClr val="accent1">
                          <a:lumMod val="75000"/>
                        </a:schemeClr>
                      </a:solidFill>
                      <a:prstDash val="solid"/>
                      <a:round/>
                      <a:headEnd type="none" w="med" len="med"/>
                      <a:tailEnd type="none" w="med" len="med"/>
                    </a:lnB>
                  </a:tcPr>
                </a:tc>
                <a:tc>
                  <a:txBody>
                    <a:bodyPr/>
                    <a:lstStyle/>
                    <a:p>
                      <a:r>
                        <a:rPr lang="en-US" sz="1200"/>
                        <a:t>Details</a:t>
                      </a:r>
                    </a:p>
                  </a:txBody>
                  <a:tcPr>
                    <a:lnB w="12700" cap="flat" cmpd="sng" algn="ctr">
                      <a:solidFill>
                        <a:schemeClr val="accent1">
                          <a:lumMod val="75000"/>
                        </a:schemeClr>
                      </a:solidFill>
                      <a:prstDash val="solid"/>
                      <a:round/>
                      <a:headEnd type="none" w="med" len="med"/>
                      <a:tailEnd type="none" w="med" len="med"/>
                    </a:lnB>
                  </a:tcPr>
                </a:tc>
                <a:extLst>
                  <a:ext uri="{0D108BD9-81ED-4DB2-BD59-A6C34878D82A}">
                    <a16:rowId xmlns:a16="http://schemas.microsoft.com/office/drawing/2014/main" val="3598191119"/>
                  </a:ext>
                </a:extLst>
              </a:tr>
              <a:tr h="274320">
                <a:tc>
                  <a:txBody>
                    <a:bodyPr/>
                    <a:lstStyle/>
                    <a:p>
                      <a:r>
                        <a:rPr lang="en-US" sz="1200"/>
                        <a:t>0000</a:t>
                      </a:r>
                    </a:p>
                  </a:txBody>
                  <a:tcPr>
                    <a:lnR w="12700" cap="flat" cmpd="sng" algn="ctr">
                      <a:solidFill>
                        <a:schemeClr val="accent1">
                          <a:lumMod val="75000"/>
                        </a:schemeClr>
                      </a:solidFill>
                      <a:prstDash val="solid"/>
                      <a:round/>
                      <a:headEnd type="none" w="med" len="med"/>
                      <a:tailEnd type="none" w="med" len="med"/>
                    </a:lnR>
                  </a:tcPr>
                </a:tc>
                <a:tc>
                  <a:txBody>
                    <a:bodyPr/>
                    <a:lstStyle/>
                    <a:p>
                      <a:r>
                        <a:rPr lang="en-US" sz="1200"/>
                        <a:t>NOP</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rgbClr val="FFFFCC"/>
                    </a:solidFill>
                  </a:tcPr>
                </a:tc>
                <a:tc>
                  <a:txBody>
                    <a:bodyPr/>
                    <a:lstStyle/>
                    <a:p>
                      <a:r>
                        <a:rPr lang="en-US" sz="1200"/>
                        <a:t>No operation</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rgbClr val="FFFFCC"/>
                    </a:solidFill>
                  </a:tcPr>
                </a:tc>
                <a:extLst>
                  <a:ext uri="{0D108BD9-81ED-4DB2-BD59-A6C34878D82A}">
                    <a16:rowId xmlns:a16="http://schemas.microsoft.com/office/drawing/2014/main" val="723224024"/>
                  </a:ext>
                </a:extLst>
              </a:tr>
              <a:tr h="274320">
                <a:tc>
                  <a:txBody>
                    <a:bodyPr/>
                    <a:lstStyle/>
                    <a:p>
                      <a:r>
                        <a:rPr lang="en-US" sz="1200"/>
                        <a:t>0001</a:t>
                      </a:r>
                    </a:p>
                  </a:txBody>
                  <a:tcPr>
                    <a:lnR w="12700" cap="flat" cmpd="sng" algn="ctr">
                      <a:solidFill>
                        <a:schemeClr val="accent1">
                          <a:lumMod val="75000"/>
                        </a:schemeClr>
                      </a:solidFill>
                      <a:prstDash val="solid"/>
                      <a:round/>
                      <a:headEnd type="none" w="med" len="med"/>
                      <a:tailEnd type="none" w="med" len="med"/>
                    </a:lnR>
                  </a:tcPr>
                </a:tc>
                <a:tc>
                  <a:txBody>
                    <a:bodyPr/>
                    <a:lstStyle/>
                    <a:p>
                      <a:r>
                        <a:rPr lang="en-US" sz="1200"/>
                        <a:t>BRK</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rgbClr val="FFFFCC"/>
                    </a:solidFill>
                  </a:tcPr>
                </a:tc>
                <a:tc>
                  <a:txBody>
                    <a:bodyPr/>
                    <a:lstStyle/>
                    <a:p>
                      <a:r>
                        <a:rPr lang="en-US" sz="1200"/>
                        <a:t>Break</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rgbClr val="FFFFCC"/>
                    </a:solidFill>
                  </a:tcPr>
                </a:tc>
                <a:extLst>
                  <a:ext uri="{0D108BD9-81ED-4DB2-BD59-A6C34878D82A}">
                    <a16:rowId xmlns:a16="http://schemas.microsoft.com/office/drawing/2014/main" val="805155652"/>
                  </a:ext>
                </a:extLst>
              </a:tr>
              <a:tr h="274320">
                <a:tc>
                  <a:txBody>
                    <a:bodyPr/>
                    <a:lstStyle/>
                    <a:p>
                      <a:r>
                        <a:rPr lang="en-US" sz="1200"/>
                        <a:t>0010</a:t>
                      </a:r>
                    </a:p>
                  </a:txBody>
                  <a:tcPr>
                    <a:lnR w="12700" cap="flat" cmpd="sng" algn="ctr">
                      <a:solidFill>
                        <a:schemeClr val="accent1">
                          <a:lumMod val="75000"/>
                        </a:schemeClr>
                      </a:solidFill>
                      <a:prstDash val="solid"/>
                      <a:round/>
                      <a:headEnd type="none" w="med" len="med"/>
                      <a:tailEnd type="none" w="med" len="med"/>
                    </a:lnR>
                  </a:tcPr>
                </a:tc>
                <a:tc>
                  <a:txBody>
                    <a:bodyPr/>
                    <a:lstStyle/>
                    <a:p>
                      <a:r>
                        <a:rPr lang="en-US" sz="1200"/>
                        <a:t>ALU (Format ALU Rd, Rs1, Rs2)</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rgbClr val="FFFFCC"/>
                    </a:solidFill>
                  </a:tcPr>
                </a:tc>
                <a:tc>
                  <a:txBody>
                    <a:bodyPr/>
                    <a:lstStyle/>
                    <a:p>
                      <a:r>
                        <a:rPr lang="en-US" sz="1200"/>
                        <a:t>ALU instruction</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rgbClr val="FFFFCC"/>
                    </a:solidFill>
                  </a:tcPr>
                </a:tc>
                <a:extLst>
                  <a:ext uri="{0D108BD9-81ED-4DB2-BD59-A6C34878D82A}">
                    <a16:rowId xmlns:a16="http://schemas.microsoft.com/office/drawing/2014/main" val="922400386"/>
                  </a:ext>
                </a:extLst>
              </a:tr>
              <a:tr h="274320">
                <a:tc>
                  <a:txBody>
                    <a:bodyPr/>
                    <a:lstStyle/>
                    <a:p>
                      <a:r>
                        <a:rPr lang="en-US" sz="1200"/>
                        <a:t>0011</a:t>
                      </a:r>
                    </a:p>
                  </a:txBody>
                  <a:tcPr>
                    <a:lnR w="12700" cap="flat" cmpd="sng" algn="ctr">
                      <a:solidFill>
                        <a:schemeClr val="accent1">
                          <a:lumMod val="75000"/>
                        </a:schemeClr>
                      </a:solidFill>
                      <a:prstDash val="solid"/>
                      <a:round/>
                      <a:headEnd type="none" w="med" len="med"/>
                      <a:tailEnd type="none" w="med" len="med"/>
                    </a:lnR>
                  </a:tcPr>
                </a:tc>
                <a:tc>
                  <a:txBody>
                    <a:bodyPr/>
                    <a:lstStyle/>
                    <a:p>
                      <a:r>
                        <a:rPr lang="en-US" sz="1200"/>
                        <a:t>LDR</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rgbClr val="FFFFCC"/>
                    </a:solidFill>
                  </a:tcPr>
                </a:tc>
                <a:tc>
                  <a:txBody>
                    <a:bodyPr/>
                    <a:lstStyle/>
                    <a:p>
                      <a:r>
                        <a:rPr lang="en-US" sz="1200"/>
                        <a:t>Load Register   (immediate, </a:t>
                      </a:r>
                      <a:r>
                        <a:rPr lang="en-US" sz="1200" strike="sngStrike"/>
                        <a:t>other register</a:t>
                      </a:r>
                      <a:r>
                        <a:rPr lang="en-US" sz="1200"/>
                        <a:t>) ?</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rgbClr val="FFFFCC"/>
                    </a:solidFill>
                  </a:tcPr>
                </a:tc>
                <a:extLst>
                  <a:ext uri="{0D108BD9-81ED-4DB2-BD59-A6C34878D82A}">
                    <a16:rowId xmlns:a16="http://schemas.microsoft.com/office/drawing/2014/main" val="1936262272"/>
                  </a:ext>
                </a:extLst>
              </a:tr>
              <a:tr h="274320">
                <a:tc>
                  <a:txBody>
                    <a:bodyPr/>
                    <a:lstStyle/>
                    <a:p>
                      <a:r>
                        <a:rPr lang="en-US" sz="1200"/>
                        <a:t>0100</a:t>
                      </a:r>
                    </a:p>
                  </a:txBody>
                  <a:tcPr>
                    <a:lnR w="12700" cap="flat" cmpd="sng" algn="ctr">
                      <a:solidFill>
                        <a:schemeClr val="accent1">
                          <a:lumMod val="75000"/>
                        </a:schemeClr>
                      </a:solidFill>
                      <a:prstDash val="solid"/>
                      <a:round/>
                      <a:headEnd type="none" w="med" len="med"/>
                      <a:tailEnd type="none" w="med" len="med"/>
                    </a:lnR>
                  </a:tcPr>
                </a:tc>
                <a:tc>
                  <a:txBody>
                    <a:bodyPr/>
                    <a:lstStyle/>
                    <a:p>
                      <a:r>
                        <a:rPr lang="en-US" sz="1200"/>
                        <a:t>MOV</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rgbClr val="FFFFCC"/>
                    </a:solidFill>
                  </a:tcPr>
                </a:tc>
                <a:tc>
                  <a:txBody>
                    <a:bodyPr/>
                    <a:lstStyle/>
                    <a:p>
                      <a:r>
                        <a:rPr lang="en-US" sz="1200"/>
                        <a:t>Copy Register (MOV instruction in ARM)</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rgbClr val="FFFFCC"/>
                    </a:solidFill>
                  </a:tcPr>
                </a:tc>
                <a:extLst>
                  <a:ext uri="{0D108BD9-81ED-4DB2-BD59-A6C34878D82A}">
                    <a16:rowId xmlns:a16="http://schemas.microsoft.com/office/drawing/2014/main" val="109230928"/>
                  </a:ext>
                </a:extLst>
              </a:tr>
              <a:tr h="274320">
                <a:tc>
                  <a:txBody>
                    <a:bodyPr/>
                    <a:lstStyle/>
                    <a:p>
                      <a:r>
                        <a:rPr lang="en-US" sz="1200"/>
                        <a:t>0101</a:t>
                      </a:r>
                    </a:p>
                  </a:txBody>
                  <a:tcPr>
                    <a:lnR w="12700" cap="flat" cmpd="sng" algn="ctr">
                      <a:solidFill>
                        <a:schemeClr val="accent1">
                          <a:lumMod val="75000"/>
                        </a:schemeClr>
                      </a:solidFill>
                      <a:prstDash val="solid"/>
                      <a:round/>
                      <a:headEnd type="none" w="med" len="med"/>
                      <a:tailEnd type="none" w="med" len="med"/>
                    </a:lnR>
                  </a:tcPr>
                </a:tc>
                <a:tc>
                  <a:txBody>
                    <a:bodyPr/>
                    <a:lstStyle/>
                    <a:p>
                      <a:pPr lvl="0">
                        <a:buNone/>
                      </a:pPr>
                      <a:r>
                        <a:rPr lang="en-US" sz="1200"/>
                        <a:t>Branch Absolute</a:t>
                      </a:r>
                      <a:endParaRPr lang="en-US" sz="13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rgbClr val="FFFFCC"/>
                    </a:solidFill>
                  </a:tcPr>
                </a:tc>
                <a:tc>
                  <a:txBody>
                    <a:bodyPr/>
                    <a:lstStyle/>
                    <a:p>
                      <a:pPr lvl="0">
                        <a:buNone/>
                      </a:pPr>
                      <a:r>
                        <a:rPr lang="en-US" sz="1200" kern="1200">
                          <a:solidFill>
                            <a:schemeClr val="dk1"/>
                          </a:solidFill>
                          <a:latin typeface="+mn-lt"/>
                          <a:ea typeface="+mn-ea"/>
                          <a:cs typeface="+mn-cs"/>
                        </a:rPr>
                        <a:t>Jump to an address (8bit)</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rgbClr val="FFFFCC"/>
                    </a:solidFill>
                  </a:tcPr>
                </a:tc>
                <a:extLst>
                  <a:ext uri="{0D108BD9-81ED-4DB2-BD59-A6C34878D82A}">
                    <a16:rowId xmlns:a16="http://schemas.microsoft.com/office/drawing/2014/main" val="647306687"/>
                  </a:ext>
                </a:extLst>
              </a:tr>
              <a:tr h="274320">
                <a:tc>
                  <a:txBody>
                    <a:bodyPr/>
                    <a:lstStyle/>
                    <a:p>
                      <a:r>
                        <a:rPr lang="en-US" sz="1200"/>
                        <a:t>0110</a:t>
                      </a:r>
                    </a:p>
                  </a:txBody>
                  <a:tcPr>
                    <a:lnR w="12700" cap="flat" cmpd="sng" algn="ctr">
                      <a:solidFill>
                        <a:schemeClr val="accent1">
                          <a:lumMod val="75000"/>
                        </a:schemeClr>
                      </a:solidFill>
                      <a:prstDash val="solid"/>
                      <a:round/>
                      <a:headEnd type="none" w="med" len="med"/>
                      <a:tailEnd type="none" w="med" len="med"/>
                    </a:lnR>
                  </a:tcPr>
                </a:tc>
                <a:tc>
                  <a:txBody>
                    <a:bodyPr/>
                    <a:lstStyle/>
                    <a:p>
                      <a:r>
                        <a:rPr lang="en-US" sz="1200"/>
                        <a:t>ALU Immediate (Format: ALU Rd, Rd, </a:t>
                      </a:r>
                      <a:r>
                        <a:rPr lang="en-US" sz="1200" err="1"/>
                        <a:t>imm</a:t>
                      </a:r>
                      <a:r>
                        <a:rPr lang="en-US" sz="1200"/>
                        <a:t>)</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rgbClr val="FFFFCC"/>
                    </a:solidFill>
                  </a:tcPr>
                </a:tc>
                <a:tc>
                  <a:txBody>
                    <a:bodyPr/>
                    <a:lstStyle/>
                    <a:p>
                      <a:r>
                        <a:rPr lang="en-US" sz="1200"/>
                        <a:t>ALU instruction with value from immediate</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rgbClr val="FFFFCC"/>
                    </a:solidFill>
                  </a:tcPr>
                </a:tc>
                <a:extLst>
                  <a:ext uri="{0D108BD9-81ED-4DB2-BD59-A6C34878D82A}">
                    <a16:rowId xmlns:a16="http://schemas.microsoft.com/office/drawing/2014/main" val="749180966"/>
                  </a:ext>
                </a:extLst>
              </a:tr>
              <a:tr h="274320">
                <a:tc>
                  <a:txBody>
                    <a:bodyPr/>
                    <a:lstStyle/>
                    <a:p>
                      <a:r>
                        <a:rPr lang="en-US" sz="1200"/>
                        <a:t>0111</a:t>
                      </a:r>
                    </a:p>
                  </a:txBody>
                  <a:tcPr>
                    <a:lnR w="12700" cap="flat" cmpd="sng" algn="ctr">
                      <a:solidFill>
                        <a:schemeClr val="accent1">
                          <a:lumMod val="75000"/>
                        </a:schemeClr>
                      </a:solidFill>
                      <a:prstDash val="solid"/>
                      <a:round/>
                      <a:headEnd type="none" w="med" len="med"/>
                      <a:tailEnd type="none" w="med" len="med"/>
                    </a:lnR>
                  </a:tcPr>
                </a:tc>
                <a:tc>
                  <a:txBody>
                    <a:bodyPr/>
                    <a:lstStyle/>
                    <a:p>
                      <a:r>
                        <a:rPr lang="en-US" sz="1200"/>
                        <a:t>BRANCH Relative</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rgbClr val="FFFFCC"/>
                    </a:solidFill>
                  </a:tcPr>
                </a:tc>
                <a:tc>
                  <a:txBody>
                    <a:bodyPr/>
                    <a:lstStyle/>
                    <a:p>
                      <a:r>
                        <a:rPr lang="en-US" sz="1200"/>
                        <a:t>Relative Branch (+127  to -128)</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solidFill>
                      <a:srgbClr val="FFFFCC"/>
                    </a:solidFill>
                  </a:tcPr>
                </a:tc>
                <a:extLst>
                  <a:ext uri="{0D108BD9-81ED-4DB2-BD59-A6C34878D82A}">
                    <a16:rowId xmlns:a16="http://schemas.microsoft.com/office/drawing/2014/main" val="2385156511"/>
                  </a:ext>
                </a:extLst>
              </a:tr>
              <a:tr h="274320">
                <a:tc>
                  <a:txBody>
                    <a:bodyPr/>
                    <a:lstStyle/>
                    <a:p>
                      <a:r>
                        <a:rPr lang="en-US" sz="1200"/>
                        <a:t>1000</a:t>
                      </a:r>
                    </a:p>
                  </a:txBody>
                  <a:tcPr>
                    <a:lnR w="12700" cap="flat" cmpd="sng" algn="ctr">
                      <a:solidFill>
                        <a:schemeClr val="accent1">
                          <a:lumMod val="75000"/>
                        </a:schemeClr>
                      </a:solidFill>
                      <a:prstDash val="solid"/>
                      <a:round/>
                      <a:headEnd type="none" w="med" len="med"/>
                      <a:tailEnd type="none" w="med" len="med"/>
                    </a:lnR>
                  </a:tcPr>
                </a:tc>
                <a:tc>
                  <a:txBody>
                    <a:bodyPr/>
                    <a:lstStyle/>
                    <a:p>
                      <a:pPr lvl="0">
                        <a:buNone/>
                      </a:pPr>
                      <a:r>
                        <a:rPr lang="en-US" sz="1200"/>
                        <a:t>OUT reg</a:t>
                      </a:r>
                      <a:endParaRPr lang="en-US" sz="13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FFFFCC"/>
                    </a:solidFill>
                  </a:tcPr>
                </a:tc>
                <a:tc>
                  <a:txBody>
                    <a:bodyPr/>
                    <a:lstStyle/>
                    <a:p>
                      <a:pPr lvl="0">
                        <a:buNone/>
                      </a:pPr>
                      <a:r>
                        <a:rPr lang="en-US" sz="1200"/>
                        <a:t>Send a register as a character or integer to the display</a:t>
                      </a:r>
                      <a:endParaRPr lang="en-US" sz="13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FFFFCC"/>
                    </a:solidFill>
                  </a:tcPr>
                </a:tc>
                <a:extLst>
                  <a:ext uri="{0D108BD9-81ED-4DB2-BD59-A6C34878D82A}">
                    <a16:rowId xmlns:a16="http://schemas.microsoft.com/office/drawing/2014/main" val="3966176449"/>
                  </a:ext>
                </a:extLst>
              </a:tr>
              <a:tr h="282644">
                <a:tc>
                  <a:txBody>
                    <a:bodyPr/>
                    <a:lstStyle/>
                    <a:p>
                      <a:r>
                        <a:rPr lang="en-US" sz="1200"/>
                        <a:t>1001</a:t>
                      </a:r>
                    </a:p>
                  </a:txBody>
                  <a:tcPr>
                    <a:lnR w="12700" cap="flat" cmpd="sng" algn="ctr">
                      <a:solidFill>
                        <a:srgbClr val="002060"/>
                      </a:solidFill>
                      <a:prstDash val="solid"/>
                      <a:round/>
                      <a:headEnd type="none" w="med" len="med"/>
                      <a:tailEnd type="none" w="med" len="med"/>
                    </a:lnR>
                  </a:tcPr>
                </a:tc>
                <a:tc>
                  <a:txBody>
                    <a:bodyPr/>
                    <a:lstStyle/>
                    <a:p>
                      <a:r>
                        <a:rPr lang="en-US" sz="1200"/>
                        <a:t>LMA</a:t>
                      </a: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FFFFCC"/>
                    </a:solidFill>
                  </a:tcPr>
                </a:tc>
                <a:tc>
                  <a:txBody>
                    <a:bodyPr/>
                    <a:lstStyle/>
                    <a:p>
                      <a:r>
                        <a:rPr lang="en-US" sz="1200"/>
                        <a:t> Load register from address</a:t>
                      </a: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FFFFCC"/>
                    </a:solidFill>
                  </a:tcPr>
                </a:tc>
                <a:extLst>
                  <a:ext uri="{0D108BD9-81ED-4DB2-BD59-A6C34878D82A}">
                    <a16:rowId xmlns:a16="http://schemas.microsoft.com/office/drawing/2014/main" val="2412318366"/>
                  </a:ext>
                </a:extLst>
              </a:tr>
              <a:tr h="274320">
                <a:tc>
                  <a:txBody>
                    <a:bodyPr/>
                    <a:lstStyle/>
                    <a:p>
                      <a:r>
                        <a:rPr lang="en-US" sz="1200"/>
                        <a:t>1010</a:t>
                      </a:r>
                    </a:p>
                  </a:txBody>
                  <a:tcPr>
                    <a:lnR w="12700" cap="flat" cmpd="sng" algn="ctr">
                      <a:solidFill>
                        <a:srgbClr val="002060"/>
                      </a:solidFill>
                      <a:prstDash val="solid"/>
                      <a:round/>
                      <a:headEnd type="none" w="med" len="med"/>
                      <a:tailEnd type="none" w="med" len="med"/>
                    </a:lnR>
                  </a:tcPr>
                </a:tc>
                <a:tc>
                  <a:txBody>
                    <a:bodyPr/>
                    <a:lstStyle/>
                    <a:p>
                      <a:pPr lvl="0">
                        <a:buNone/>
                      </a:pPr>
                      <a:r>
                        <a:rPr lang="en-US" sz="1200"/>
                        <a:t>SMA</a:t>
                      </a: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FFFFCC"/>
                    </a:solidFill>
                  </a:tcPr>
                </a:tc>
                <a:tc>
                  <a:txBody>
                    <a:bodyPr/>
                    <a:lstStyle/>
                    <a:p>
                      <a:pPr lvl="0">
                        <a:buNone/>
                      </a:pPr>
                      <a:r>
                        <a:rPr lang="en-US" sz="1200"/>
                        <a:t>Store register to address</a:t>
                      </a: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FFFFCC"/>
                    </a:solidFill>
                  </a:tcPr>
                </a:tc>
                <a:extLst>
                  <a:ext uri="{0D108BD9-81ED-4DB2-BD59-A6C34878D82A}">
                    <a16:rowId xmlns:a16="http://schemas.microsoft.com/office/drawing/2014/main" val="2915956243"/>
                  </a:ext>
                </a:extLst>
              </a:tr>
              <a:tr h="274320">
                <a:tc>
                  <a:txBody>
                    <a:bodyPr/>
                    <a:lstStyle/>
                    <a:p>
                      <a:r>
                        <a:rPr lang="en-US" sz="1200"/>
                        <a:t>1011</a:t>
                      </a:r>
                    </a:p>
                  </a:txBody>
                  <a:tcPr>
                    <a:lnR w="12700" cap="flat" cmpd="sng" algn="ctr">
                      <a:solidFill>
                        <a:srgbClr val="002060"/>
                      </a:solidFill>
                      <a:prstDash val="solid"/>
                      <a:round/>
                      <a:headEnd type="none" w="med" len="med"/>
                      <a:tailEnd type="none" w="med" len="med"/>
                    </a:lnR>
                  </a:tcPr>
                </a:tc>
                <a:tc>
                  <a:txBody>
                    <a:bodyPr/>
                    <a:lstStyle/>
                    <a:p>
                      <a:r>
                        <a:rPr lang="en-US" sz="1200"/>
                        <a:t>LMR</a:t>
                      </a: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FFFFCC"/>
                    </a:solidFill>
                  </a:tcPr>
                </a:tc>
                <a:tc>
                  <a:txBody>
                    <a:bodyPr/>
                    <a:lstStyle/>
                    <a:p>
                      <a:r>
                        <a:rPr lang="en-US" sz="1200"/>
                        <a:t>Load register from address in another register</a:t>
                      </a: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FFFFCC"/>
                    </a:solidFill>
                  </a:tcPr>
                </a:tc>
                <a:extLst>
                  <a:ext uri="{0D108BD9-81ED-4DB2-BD59-A6C34878D82A}">
                    <a16:rowId xmlns:a16="http://schemas.microsoft.com/office/drawing/2014/main" val="2096940021"/>
                  </a:ext>
                </a:extLst>
              </a:tr>
              <a:tr h="274320">
                <a:tc>
                  <a:txBody>
                    <a:bodyPr/>
                    <a:lstStyle/>
                    <a:p>
                      <a:r>
                        <a:rPr lang="en-US" sz="1200"/>
                        <a:t>1100</a:t>
                      </a:r>
                    </a:p>
                  </a:txBody>
                  <a:tcPr>
                    <a:lnR w="12700" cap="flat" cmpd="sng" algn="ctr">
                      <a:solidFill>
                        <a:srgbClr val="002060"/>
                      </a:solidFill>
                      <a:prstDash val="solid"/>
                      <a:round/>
                      <a:headEnd type="none" w="med" len="med"/>
                      <a:tailEnd type="none" w="med" len="med"/>
                    </a:lnR>
                  </a:tcPr>
                </a:tc>
                <a:tc>
                  <a:txBody>
                    <a:bodyPr/>
                    <a:lstStyle/>
                    <a:p>
                      <a:pPr lvl="0">
                        <a:buNone/>
                      </a:pPr>
                      <a:r>
                        <a:rPr lang="en-US" sz="1200"/>
                        <a:t>SMR</a:t>
                      </a: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FFFFCC"/>
                    </a:solidFill>
                  </a:tcPr>
                </a:tc>
                <a:tc>
                  <a:txBody>
                    <a:bodyPr/>
                    <a:lstStyle/>
                    <a:p>
                      <a:pPr lvl="0">
                        <a:buNone/>
                      </a:pPr>
                      <a:r>
                        <a:rPr lang="en-US" sz="1200"/>
                        <a:t>Store register into an address in another register</a:t>
                      </a: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FFFFCC"/>
                    </a:solidFill>
                  </a:tcPr>
                </a:tc>
                <a:extLst>
                  <a:ext uri="{0D108BD9-81ED-4DB2-BD59-A6C34878D82A}">
                    <a16:rowId xmlns:a16="http://schemas.microsoft.com/office/drawing/2014/main" val="506420400"/>
                  </a:ext>
                </a:extLst>
              </a:tr>
              <a:tr h="274320">
                <a:tc>
                  <a:txBody>
                    <a:bodyPr/>
                    <a:lstStyle/>
                    <a:p>
                      <a:r>
                        <a:rPr lang="en-US" sz="1200"/>
                        <a:t>1101</a:t>
                      </a:r>
                    </a:p>
                  </a:txBody>
                  <a:tcPr/>
                </a:tc>
                <a:tc>
                  <a:txBody>
                    <a:bodyPr/>
                    <a:lstStyle/>
                    <a:p>
                      <a:r>
                        <a:rPr lang="en-US" sz="1200"/>
                        <a:t>GSB</a:t>
                      </a:r>
                    </a:p>
                  </a:txBody>
                  <a:tcPr>
                    <a:lnT w="12700" cap="flat" cmpd="sng" algn="ctr">
                      <a:solidFill>
                        <a:srgbClr val="002060"/>
                      </a:solidFill>
                      <a:prstDash val="solid"/>
                      <a:round/>
                      <a:headEnd type="none" w="med" len="med"/>
                      <a:tailEnd type="none" w="med" len="med"/>
                    </a:lnT>
                    <a:solidFill>
                      <a:srgbClr val="9999FF"/>
                    </a:solidFill>
                  </a:tcPr>
                </a:tc>
                <a:tc>
                  <a:txBody>
                    <a:bodyPr/>
                    <a:lstStyle/>
                    <a:p>
                      <a:r>
                        <a:rPr lang="en-US" sz="1200"/>
                        <a:t>Jump, store current PC in stack</a:t>
                      </a:r>
                    </a:p>
                  </a:txBody>
                  <a:tcPr>
                    <a:lnT w="12700" cap="flat" cmpd="sng" algn="ctr">
                      <a:solidFill>
                        <a:srgbClr val="002060"/>
                      </a:solidFill>
                      <a:prstDash val="solid"/>
                      <a:round/>
                      <a:headEnd type="none" w="med" len="med"/>
                      <a:tailEnd type="none" w="med" len="med"/>
                    </a:lnT>
                    <a:solidFill>
                      <a:srgbClr val="9999FF"/>
                    </a:solidFill>
                  </a:tcPr>
                </a:tc>
                <a:extLst>
                  <a:ext uri="{0D108BD9-81ED-4DB2-BD59-A6C34878D82A}">
                    <a16:rowId xmlns:a16="http://schemas.microsoft.com/office/drawing/2014/main" val="203302657"/>
                  </a:ext>
                </a:extLst>
              </a:tr>
              <a:tr h="274320">
                <a:tc>
                  <a:txBody>
                    <a:bodyPr/>
                    <a:lstStyle/>
                    <a:p>
                      <a:r>
                        <a:rPr lang="en-US" sz="1200"/>
                        <a:t>1110</a:t>
                      </a:r>
                    </a:p>
                  </a:txBody>
                  <a:tcPr/>
                </a:tc>
                <a:tc>
                  <a:txBody>
                    <a:bodyPr/>
                    <a:lstStyle/>
                    <a:p>
                      <a:r>
                        <a:rPr lang="en-US" sz="1200"/>
                        <a:t>RTN</a:t>
                      </a:r>
                    </a:p>
                  </a:txBody>
                  <a:tcPr>
                    <a:solidFill>
                      <a:srgbClr val="9999FF"/>
                    </a:solidFill>
                  </a:tcPr>
                </a:tc>
                <a:tc>
                  <a:txBody>
                    <a:bodyPr/>
                    <a:lstStyle/>
                    <a:p>
                      <a:r>
                        <a:rPr lang="en-US" sz="1200"/>
                        <a:t>Load PC from stack</a:t>
                      </a:r>
                    </a:p>
                  </a:txBody>
                  <a:tcPr>
                    <a:solidFill>
                      <a:srgbClr val="9999FF"/>
                    </a:solidFill>
                  </a:tcPr>
                </a:tc>
                <a:extLst>
                  <a:ext uri="{0D108BD9-81ED-4DB2-BD59-A6C34878D82A}">
                    <a16:rowId xmlns:a16="http://schemas.microsoft.com/office/drawing/2014/main" val="3345109218"/>
                  </a:ext>
                </a:extLst>
              </a:tr>
              <a:tr h="274320">
                <a:tc>
                  <a:txBody>
                    <a:bodyPr/>
                    <a:lstStyle/>
                    <a:p>
                      <a:r>
                        <a:rPr lang="en-US" sz="1200"/>
                        <a:t>1111</a:t>
                      </a:r>
                    </a:p>
                  </a:txBody>
                  <a:tcPr/>
                </a:tc>
                <a:tc>
                  <a:txBody>
                    <a:bodyPr/>
                    <a:lstStyle/>
                    <a:p>
                      <a:r>
                        <a:rPr lang="en-US" sz="1200"/>
                        <a:t>OUT Immediate</a:t>
                      </a:r>
                    </a:p>
                  </a:txBody>
                  <a:tcPr>
                    <a:solidFill>
                      <a:srgbClr val="9999FF"/>
                    </a:solidFill>
                  </a:tcPr>
                </a:tc>
                <a:tc>
                  <a:txBody>
                    <a:bodyPr/>
                    <a:lstStyle/>
                    <a:p>
                      <a:r>
                        <a:rPr lang="en-US" sz="1200"/>
                        <a:t>Send Reg H as a character or integer to display </a:t>
                      </a:r>
                    </a:p>
                  </a:txBody>
                  <a:tcPr>
                    <a:solidFill>
                      <a:srgbClr val="9999FF"/>
                    </a:solidFill>
                  </a:tcPr>
                </a:tc>
                <a:extLst>
                  <a:ext uri="{0D108BD9-81ED-4DB2-BD59-A6C34878D82A}">
                    <a16:rowId xmlns:a16="http://schemas.microsoft.com/office/drawing/2014/main" val="1041925619"/>
                  </a:ext>
                </a:extLst>
              </a:tr>
            </a:tbl>
          </a:graphicData>
        </a:graphic>
      </p:graphicFrame>
      <p:graphicFrame>
        <p:nvGraphicFramePr>
          <p:cNvPr id="2" name="Table 6">
            <a:extLst>
              <a:ext uri="{FF2B5EF4-FFF2-40B4-BE49-F238E27FC236}">
                <a16:creationId xmlns:a16="http://schemas.microsoft.com/office/drawing/2014/main" id="{E3026912-513B-4F02-93D0-080596564A87}"/>
              </a:ext>
            </a:extLst>
          </p:cNvPr>
          <p:cNvGraphicFramePr>
            <a:graphicFrameLocks noGrp="1"/>
          </p:cNvGraphicFramePr>
          <p:nvPr>
            <p:extLst>
              <p:ext uri="{D42A27DB-BD31-4B8C-83A1-F6EECF244321}">
                <p14:modId xmlns:p14="http://schemas.microsoft.com/office/powerpoint/2010/main" val="2873553101"/>
              </p:ext>
            </p:extLst>
          </p:nvPr>
        </p:nvGraphicFramePr>
        <p:xfrm>
          <a:off x="9503509" y="370804"/>
          <a:ext cx="2188310" cy="3144520"/>
        </p:xfrm>
        <a:graphic>
          <a:graphicData uri="http://schemas.openxmlformats.org/drawingml/2006/table">
            <a:tbl>
              <a:tblPr firstRow="1" bandRow="1">
                <a:tableStyleId>{5C22544A-7EE6-4342-B048-85BDC9FD1C3A}</a:tableStyleId>
              </a:tblPr>
              <a:tblGrid>
                <a:gridCol w="1094155">
                  <a:extLst>
                    <a:ext uri="{9D8B030D-6E8A-4147-A177-3AD203B41FA5}">
                      <a16:colId xmlns:a16="http://schemas.microsoft.com/office/drawing/2014/main" val="2963748656"/>
                    </a:ext>
                  </a:extLst>
                </a:gridCol>
                <a:gridCol w="1094155">
                  <a:extLst>
                    <a:ext uri="{9D8B030D-6E8A-4147-A177-3AD203B41FA5}">
                      <a16:colId xmlns:a16="http://schemas.microsoft.com/office/drawing/2014/main" val="1990798846"/>
                    </a:ext>
                  </a:extLst>
                </a:gridCol>
              </a:tblGrid>
              <a:tr h="370840">
                <a:tc>
                  <a:txBody>
                    <a:bodyPr/>
                    <a:lstStyle/>
                    <a:p>
                      <a:r>
                        <a:rPr lang="en-US" sz="1500" dirty="0">
                          <a:solidFill>
                            <a:schemeClr val="tx1"/>
                          </a:solidFill>
                        </a:rPr>
                        <a:t>Phase 0</a:t>
                      </a:r>
                    </a:p>
                  </a:txBody>
                  <a:tcPr>
                    <a:solidFill>
                      <a:schemeClr val="accent4">
                        <a:lumMod val="40000"/>
                        <a:lumOff val="60000"/>
                      </a:schemeClr>
                    </a:solidFill>
                  </a:tcPr>
                </a:tc>
                <a:tc>
                  <a:txBody>
                    <a:bodyPr/>
                    <a:lstStyle/>
                    <a:p>
                      <a:r>
                        <a:rPr lang="en-US" sz="1500">
                          <a:solidFill>
                            <a:schemeClr val="tx1"/>
                          </a:solidFill>
                        </a:rPr>
                        <a:t>NOP, BRK </a:t>
                      </a:r>
                    </a:p>
                  </a:txBody>
                  <a:tcPr>
                    <a:solidFill>
                      <a:schemeClr val="accent4">
                        <a:lumMod val="40000"/>
                        <a:lumOff val="60000"/>
                      </a:schemeClr>
                    </a:solidFill>
                  </a:tcPr>
                </a:tc>
                <a:extLst>
                  <a:ext uri="{0D108BD9-81ED-4DB2-BD59-A6C34878D82A}">
                    <a16:rowId xmlns:a16="http://schemas.microsoft.com/office/drawing/2014/main" val="3824782478"/>
                  </a:ext>
                </a:extLst>
              </a:tr>
              <a:tr h="370840">
                <a:tc>
                  <a:txBody>
                    <a:bodyPr/>
                    <a:lstStyle/>
                    <a:p>
                      <a:r>
                        <a:rPr lang="en-US" sz="1500">
                          <a:solidFill>
                            <a:schemeClr val="tx1"/>
                          </a:solidFill>
                        </a:rPr>
                        <a:t>Phase 1</a:t>
                      </a:r>
                    </a:p>
                  </a:txBody>
                  <a:tcPr>
                    <a:solidFill>
                      <a:schemeClr val="accent5">
                        <a:lumMod val="40000"/>
                        <a:lumOff val="60000"/>
                      </a:schemeClr>
                    </a:solidFill>
                  </a:tcPr>
                </a:tc>
                <a:tc>
                  <a:txBody>
                    <a:bodyPr/>
                    <a:lstStyle/>
                    <a:p>
                      <a:r>
                        <a:rPr lang="en-US" sz="1500">
                          <a:solidFill>
                            <a:schemeClr val="tx1"/>
                          </a:solidFill>
                        </a:rPr>
                        <a:t>Fib, </a:t>
                      </a:r>
                      <a:r>
                        <a:rPr lang="en-US" sz="1500" err="1">
                          <a:solidFill>
                            <a:schemeClr val="tx1"/>
                          </a:solidFill>
                        </a:rPr>
                        <a:t>Mult</a:t>
                      </a:r>
                      <a:endParaRPr lang="en-US" sz="1500">
                        <a:solidFill>
                          <a:schemeClr val="tx1"/>
                        </a:solidFill>
                      </a:endParaRPr>
                    </a:p>
                  </a:txBody>
                  <a:tcPr>
                    <a:solidFill>
                      <a:schemeClr val="accent5">
                        <a:lumMod val="40000"/>
                        <a:lumOff val="60000"/>
                      </a:schemeClr>
                    </a:solidFill>
                  </a:tcPr>
                </a:tc>
                <a:extLst>
                  <a:ext uri="{0D108BD9-81ED-4DB2-BD59-A6C34878D82A}">
                    <a16:rowId xmlns:a16="http://schemas.microsoft.com/office/drawing/2014/main" val="1420108281"/>
                  </a:ext>
                </a:extLst>
              </a:tr>
              <a:tr h="370840">
                <a:tc>
                  <a:txBody>
                    <a:bodyPr/>
                    <a:lstStyle/>
                    <a:p>
                      <a:r>
                        <a:rPr lang="en-US" sz="1500"/>
                        <a:t>Phase 2</a:t>
                      </a:r>
                    </a:p>
                  </a:txBody>
                  <a:tcPr>
                    <a:solidFill>
                      <a:schemeClr val="accent6">
                        <a:lumMod val="60000"/>
                        <a:lumOff val="40000"/>
                      </a:schemeClr>
                    </a:solidFill>
                  </a:tcPr>
                </a:tc>
                <a:tc>
                  <a:txBody>
                    <a:bodyPr/>
                    <a:lstStyle/>
                    <a:p>
                      <a:r>
                        <a:rPr lang="en-US" sz="1500" dirty="0"/>
                        <a:t>Self Test</a:t>
                      </a:r>
                    </a:p>
                  </a:txBody>
                  <a:tcPr>
                    <a:solidFill>
                      <a:schemeClr val="accent6">
                        <a:lumMod val="60000"/>
                        <a:lumOff val="40000"/>
                      </a:schemeClr>
                    </a:solidFill>
                  </a:tcPr>
                </a:tc>
                <a:extLst>
                  <a:ext uri="{0D108BD9-81ED-4DB2-BD59-A6C34878D82A}">
                    <a16:rowId xmlns:a16="http://schemas.microsoft.com/office/drawing/2014/main" val="2956181670"/>
                  </a:ext>
                </a:extLst>
              </a:tr>
              <a:tr h="5384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a:t>Phase 3</a:t>
                      </a:r>
                    </a:p>
                  </a:txBody>
                  <a:tcPr>
                    <a:solidFill>
                      <a:srgbClr val="9999FF"/>
                    </a:solidFill>
                  </a:tcPr>
                </a:tc>
                <a:tc>
                  <a:txBody>
                    <a:bodyPr/>
                    <a:lstStyle/>
                    <a:p>
                      <a:r>
                        <a:rPr lang="en-US" sz="1500"/>
                        <a:t>Display, </a:t>
                      </a:r>
                    </a:p>
                    <a:p>
                      <a:r>
                        <a:rPr lang="en-US" sz="1500"/>
                        <a:t>8 Queen</a:t>
                      </a:r>
                    </a:p>
                  </a:txBody>
                  <a:tcPr>
                    <a:solidFill>
                      <a:srgbClr val="9999FF"/>
                    </a:solidFill>
                  </a:tcPr>
                </a:tc>
                <a:extLst>
                  <a:ext uri="{0D108BD9-81ED-4DB2-BD59-A6C34878D82A}">
                    <a16:rowId xmlns:a16="http://schemas.microsoft.com/office/drawing/2014/main" val="3246625026"/>
                  </a:ext>
                </a:extLst>
              </a:tr>
              <a:tr h="370840">
                <a:tc>
                  <a:txBody>
                    <a:bodyPr/>
                    <a:lstStyle/>
                    <a:p>
                      <a:endParaRPr lang="en-US" sz="1500"/>
                    </a:p>
                  </a:txBody>
                  <a:tcPr/>
                </a:tc>
                <a:tc>
                  <a:txBody>
                    <a:bodyPr/>
                    <a:lstStyle/>
                    <a:p>
                      <a:endParaRPr lang="en-US" sz="1500"/>
                    </a:p>
                  </a:txBody>
                  <a:tcPr/>
                </a:tc>
                <a:extLst>
                  <a:ext uri="{0D108BD9-81ED-4DB2-BD59-A6C34878D82A}">
                    <a16:rowId xmlns:a16="http://schemas.microsoft.com/office/drawing/2014/main" val="276225573"/>
                  </a:ext>
                </a:extLst>
              </a:tr>
              <a:tr h="370840">
                <a:tc>
                  <a:txBody>
                    <a:bodyPr/>
                    <a:lstStyle/>
                    <a:p>
                      <a:endParaRPr lang="en-US" sz="1500"/>
                    </a:p>
                  </a:txBody>
                  <a:tcPr/>
                </a:tc>
                <a:tc>
                  <a:txBody>
                    <a:bodyPr/>
                    <a:lstStyle/>
                    <a:p>
                      <a:endParaRPr lang="en-US" sz="1500"/>
                    </a:p>
                  </a:txBody>
                  <a:tcPr/>
                </a:tc>
                <a:extLst>
                  <a:ext uri="{0D108BD9-81ED-4DB2-BD59-A6C34878D82A}">
                    <a16:rowId xmlns:a16="http://schemas.microsoft.com/office/drawing/2014/main" val="3939574483"/>
                  </a:ext>
                </a:extLst>
              </a:tr>
              <a:tr h="370840">
                <a:tc>
                  <a:txBody>
                    <a:bodyPr/>
                    <a:lstStyle/>
                    <a:p>
                      <a:r>
                        <a:rPr lang="en-US" sz="1500"/>
                        <a:t>Completed</a:t>
                      </a:r>
                    </a:p>
                  </a:txBody>
                  <a:tcPr>
                    <a:solidFill>
                      <a:srgbClr val="FFFFCC"/>
                    </a:solidFill>
                  </a:tcPr>
                </a:tc>
                <a:tc>
                  <a:txBody>
                    <a:bodyPr/>
                    <a:lstStyle/>
                    <a:p>
                      <a:endParaRPr lang="en-US" sz="1500"/>
                    </a:p>
                  </a:txBody>
                  <a:tcPr>
                    <a:solidFill>
                      <a:srgbClr val="FFFFCC"/>
                    </a:solidFill>
                  </a:tcPr>
                </a:tc>
                <a:extLst>
                  <a:ext uri="{0D108BD9-81ED-4DB2-BD59-A6C34878D82A}">
                    <a16:rowId xmlns:a16="http://schemas.microsoft.com/office/drawing/2014/main" val="4117074726"/>
                  </a:ext>
                </a:extLst>
              </a:tr>
              <a:tr h="370840">
                <a:tc>
                  <a:txBody>
                    <a:bodyPr/>
                    <a:lstStyle/>
                    <a:p>
                      <a:endParaRPr lang="en-US" sz="1500"/>
                    </a:p>
                  </a:txBody>
                  <a:tcPr/>
                </a:tc>
                <a:tc>
                  <a:txBody>
                    <a:bodyPr/>
                    <a:lstStyle/>
                    <a:p>
                      <a:endParaRPr lang="en-US" sz="1500"/>
                    </a:p>
                  </a:txBody>
                  <a:tcPr/>
                </a:tc>
                <a:extLst>
                  <a:ext uri="{0D108BD9-81ED-4DB2-BD59-A6C34878D82A}">
                    <a16:rowId xmlns:a16="http://schemas.microsoft.com/office/drawing/2014/main" val="3014389022"/>
                  </a:ext>
                </a:extLst>
              </a:tr>
            </a:tbl>
          </a:graphicData>
        </a:graphic>
      </p:graphicFrame>
      <p:pic>
        <p:nvPicPr>
          <p:cNvPr id="4" name="Picture 3">
            <a:hlinkClick r:id="rId2" action="ppaction://hlinksldjump"/>
            <a:extLst>
              <a:ext uri="{FF2B5EF4-FFF2-40B4-BE49-F238E27FC236}">
                <a16:creationId xmlns:a16="http://schemas.microsoft.com/office/drawing/2014/main" id="{57C8AE23-1CF5-1999-1381-36F358D97CF5}"/>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E57FC4AF-3C3E-B932-84C6-EBC689A61D2A}"/>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114</a:t>
            </a:fld>
            <a:endParaRPr lang="en-US" b="1">
              <a:solidFill>
                <a:schemeClr val="bg1"/>
              </a:solidFill>
            </a:endParaRPr>
          </a:p>
        </p:txBody>
      </p:sp>
    </p:spTree>
    <p:extLst>
      <p:ext uri="{BB962C8B-B14F-4D97-AF65-F5344CB8AC3E}">
        <p14:creationId xmlns:p14="http://schemas.microsoft.com/office/powerpoint/2010/main" val="61985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C6458AE-9906-FD29-9849-60445EF4114B}"/>
              </a:ext>
            </a:extLst>
          </p:cNvPr>
          <p:cNvSpPr>
            <a:spLocks noGrp="1"/>
          </p:cNvSpPr>
          <p:nvPr>
            <p:ph type="ctrTitle"/>
          </p:nvPr>
        </p:nvSpPr>
        <p:spPr>
          <a:xfrm>
            <a:off x="914399" y="182880"/>
            <a:ext cx="9144000" cy="457200"/>
          </a:xfrm>
        </p:spPr>
        <p:txBody>
          <a:bodyPr/>
          <a:lstStyle/>
          <a:p>
            <a:r>
              <a:rPr lang="en-US"/>
              <a:t>Micro-Instructions Control: NOP Instruction (00000)</a:t>
            </a:r>
          </a:p>
        </p:txBody>
      </p:sp>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extLst>
              <p:ext uri="{D42A27DB-BD31-4B8C-83A1-F6EECF244321}">
                <p14:modId xmlns:p14="http://schemas.microsoft.com/office/powerpoint/2010/main" val="1891763719"/>
              </p:ext>
            </p:extLst>
          </p:nvPr>
        </p:nvGraphicFramePr>
        <p:xfrm>
          <a:off x="4716584" y="742463"/>
          <a:ext cx="5638801" cy="3332480"/>
        </p:xfrm>
        <a:graphic>
          <a:graphicData uri="http://schemas.openxmlformats.org/drawingml/2006/table">
            <a:tbl>
              <a:tblPr firstRow="1" bandRow="1">
                <a:tableStyleId>{5C22544A-7EE6-4342-B048-85BDC9FD1C3A}</a:tableStyleId>
              </a:tblPr>
              <a:tblGrid>
                <a:gridCol w="1035541">
                  <a:extLst>
                    <a:ext uri="{9D8B030D-6E8A-4147-A177-3AD203B41FA5}">
                      <a16:colId xmlns:a16="http://schemas.microsoft.com/office/drawing/2014/main" val="1217920130"/>
                    </a:ext>
                  </a:extLst>
                </a:gridCol>
                <a:gridCol w="2115136">
                  <a:extLst>
                    <a:ext uri="{9D8B030D-6E8A-4147-A177-3AD203B41FA5}">
                      <a16:colId xmlns:a16="http://schemas.microsoft.com/office/drawing/2014/main" val="1475888205"/>
                    </a:ext>
                  </a:extLst>
                </a:gridCol>
                <a:gridCol w="2488124">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370840">
                <a:tc>
                  <a:txBody>
                    <a:bodyPr/>
                    <a:lstStyle/>
                    <a:p>
                      <a:pPr algn="ctr"/>
                      <a:r>
                        <a:rPr lang="en-US" sz="1300"/>
                        <a:t>0</a:t>
                      </a:r>
                    </a:p>
                  </a:txBody>
                  <a:tcPr/>
                </a:tc>
                <a:tc>
                  <a:txBody>
                    <a:bodyPr/>
                    <a:lstStyle/>
                    <a:p>
                      <a:pPr algn="l"/>
                      <a:r>
                        <a:rPr lang="en-US" sz="1300"/>
                        <a:t>00000000 = 0x00</a:t>
                      </a:r>
                    </a:p>
                  </a:txBody>
                  <a:tcPr/>
                </a:tc>
                <a:tc>
                  <a:txBody>
                    <a:bodyPr/>
                    <a:lstStyle/>
                    <a:p>
                      <a:pPr algn="l"/>
                      <a:endParaRPr lang="en-US" sz="1300"/>
                    </a:p>
                  </a:txBody>
                  <a:tcPr/>
                </a:tc>
                <a:extLst>
                  <a:ext uri="{0D108BD9-81ED-4DB2-BD59-A6C34878D82A}">
                    <a16:rowId xmlns:a16="http://schemas.microsoft.com/office/drawing/2014/main" val="2570910443"/>
                  </a:ext>
                </a:extLst>
              </a:tr>
              <a:tr h="370840">
                <a:tc>
                  <a:txBody>
                    <a:bodyPr/>
                    <a:lstStyle/>
                    <a:p>
                      <a:pPr algn="ctr"/>
                      <a:r>
                        <a:rPr lang="en-US" sz="1300"/>
                        <a:t>1</a:t>
                      </a:r>
                    </a:p>
                  </a:txBody>
                  <a:tcPr/>
                </a:tc>
                <a:tc>
                  <a:txBody>
                    <a:bodyPr/>
                    <a:lstStyle/>
                    <a:p>
                      <a:pPr algn="l"/>
                      <a:r>
                        <a:rPr lang="en-US" sz="1300"/>
                        <a:t>10000000 = 0x80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Increment PC</a:t>
                      </a:r>
                    </a:p>
                  </a:txBody>
                  <a:tcPr/>
                </a:tc>
                <a:extLst>
                  <a:ext uri="{0D108BD9-81ED-4DB2-BD59-A6C34878D82A}">
                    <a16:rowId xmlns:a16="http://schemas.microsoft.com/office/drawing/2014/main" val="631651838"/>
                  </a:ext>
                </a:extLst>
              </a:tr>
              <a:tr h="370840">
                <a:tc>
                  <a:txBody>
                    <a:bodyPr/>
                    <a:lstStyle/>
                    <a:p>
                      <a:pPr algn="ctr"/>
                      <a:r>
                        <a:rPr lang="en-US" sz="1300"/>
                        <a:t>2</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1592812184"/>
                  </a:ext>
                </a:extLst>
              </a:tr>
              <a:tr h="370840">
                <a:tc>
                  <a:txBody>
                    <a:bodyPr/>
                    <a:lstStyle/>
                    <a:p>
                      <a:pPr algn="ctr"/>
                      <a:r>
                        <a:rPr lang="en-US" sz="1300"/>
                        <a:t>3</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225793510"/>
                  </a:ext>
                </a:extLst>
              </a:tr>
              <a:tr h="370840">
                <a:tc>
                  <a:txBody>
                    <a:bodyPr/>
                    <a:lstStyle/>
                    <a:p>
                      <a:pPr algn="ctr"/>
                      <a:r>
                        <a:rPr lang="en-US" sz="1300"/>
                        <a:t>4</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1046366285"/>
                  </a:ext>
                </a:extLst>
              </a:tr>
              <a:tr h="370840">
                <a:tc>
                  <a:txBody>
                    <a:bodyPr/>
                    <a:lstStyle/>
                    <a:p>
                      <a:pPr algn="ctr"/>
                      <a:r>
                        <a:rPr lang="en-US" sz="1300"/>
                        <a:t>5</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615342211"/>
                  </a:ext>
                </a:extLst>
              </a:tr>
              <a:tr h="370840">
                <a:tc>
                  <a:txBody>
                    <a:bodyPr/>
                    <a:lstStyle/>
                    <a:p>
                      <a:pPr algn="ctr"/>
                      <a:r>
                        <a:rPr lang="en-US" sz="1300"/>
                        <a:t>6</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055856817"/>
                  </a:ext>
                </a:extLst>
              </a:tr>
              <a:tr h="370840">
                <a:tc>
                  <a:txBody>
                    <a:bodyPr/>
                    <a:lstStyle/>
                    <a:p>
                      <a:pPr algn="ctr"/>
                      <a:r>
                        <a:rPr lang="en-US" sz="1300"/>
                        <a:t>7</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3502991894"/>
                  </a:ext>
                </a:extLst>
              </a:tr>
            </a:tbl>
          </a:graphicData>
        </a:graphic>
      </p:graphicFrame>
      <p:sp>
        <p:nvSpPr>
          <p:cNvPr id="2" name="TextBox 1">
            <a:extLst>
              <a:ext uri="{FF2B5EF4-FFF2-40B4-BE49-F238E27FC236}">
                <a16:creationId xmlns:a16="http://schemas.microsoft.com/office/drawing/2014/main" id="{48F637CF-0E5A-4EBF-9591-501118BCC79A}"/>
              </a:ext>
            </a:extLst>
          </p:cNvPr>
          <p:cNvSpPr txBox="1"/>
          <p:nvPr/>
        </p:nvSpPr>
        <p:spPr>
          <a:xfrm>
            <a:off x="11305310" y="1"/>
            <a:ext cx="931665" cy="1862048"/>
          </a:xfrm>
          <a:prstGeom prst="rect">
            <a:avLst/>
          </a:prstGeom>
          <a:noFill/>
        </p:spPr>
        <p:txBody>
          <a:bodyPr wrap="none" rtlCol="0">
            <a:spAutoFit/>
          </a:bodyPr>
          <a:lstStyle/>
          <a:p>
            <a:r>
              <a:rPr lang="en-US" sz="11500">
                <a:solidFill>
                  <a:schemeClr val="accent1">
                    <a:lumMod val="60000"/>
                    <a:lumOff val="40000"/>
                  </a:schemeClr>
                </a:solidFill>
              </a:rPr>
              <a:t>0</a:t>
            </a:r>
          </a:p>
        </p:txBody>
      </p:sp>
      <p:sp>
        <p:nvSpPr>
          <p:cNvPr id="6" name="TextBox 5">
            <a:extLst>
              <a:ext uri="{FF2B5EF4-FFF2-40B4-BE49-F238E27FC236}">
                <a16:creationId xmlns:a16="http://schemas.microsoft.com/office/drawing/2014/main" id="{3B26FF26-B6A0-14B5-14B4-795A966BECF5}"/>
              </a:ext>
            </a:extLst>
          </p:cNvPr>
          <p:cNvSpPr txBox="1"/>
          <p:nvPr/>
        </p:nvSpPr>
        <p:spPr>
          <a:xfrm>
            <a:off x="6615406" y="4734113"/>
            <a:ext cx="973343" cy="523220"/>
          </a:xfrm>
          <a:prstGeom prst="rect">
            <a:avLst/>
          </a:prstGeom>
          <a:noFill/>
        </p:spPr>
        <p:txBody>
          <a:bodyPr wrap="none" rtlCol="0">
            <a:spAutoFit/>
          </a:bodyPr>
          <a:lstStyle/>
          <a:p>
            <a:r>
              <a:rPr lang="en-US" sz="2800">
                <a:solidFill>
                  <a:srgbClr val="00B050"/>
                </a:solidFill>
                <a:latin typeface="Consolas" panose="020B0609020204030204" pitchFamily="49" charset="0"/>
              </a:rPr>
              <a:t> NOP</a:t>
            </a:r>
          </a:p>
        </p:txBody>
      </p:sp>
      <p:pic>
        <p:nvPicPr>
          <p:cNvPr id="7" name="Picture 6">
            <a:hlinkClick r:id="rId3" action="ppaction://hlinksldjump"/>
            <a:extLst>
              <a:ext uri="{FF2B5EF4-FFF2-40B4-BE49-F238E27FC236}">
                <a16:creationId xmlns:a16="http://schemas.microsoft.com/office/drawing/2014/main" id="{EEEEB51C-0ECC-B02F-A1C3-94186E40D074}"/>
              </a:ext>
            </a:extLst>
          </p:cNvPr>
          <p:cNvPicPr>
            <a:picLocks noChangeAspect="1"/>
          </p:cNvPicPr>
          <p:nvPr/>
        </p:nvPicPr>
        <p:blipFill>
          <a:blip r:embed="rId4"/>
          <a:stretch>
            <a:fillRect/>
          </a:stretch>
        </p:blipFill>
        <p:spPr>
          <a:xfrm>
            <a:off x="11038384" y="6427540"/>
            <a:ext cx="1076851" cy="222744"/>
          </a:xfrm>
          <a:prstGeom prst="rect">
            <a:avLst/>
          </a:prstGeom>
        </p:spPr>
      </p:pic>
      <p:sp>
        <p:nvSpPr>
          <p:cNvPr id="11" name="Slide Number Placeholder 4">
            <a:extLst>
              <a:ext uri="{FF2B5EF4-FFF2-40B4-BE49-F238E27FC236}">
                <a16:creationId xmlns:a16="http://schemas.microsoft.com/office/drawing/2014/main" id="{3875D4F6-05C9-1523-312A-3EC3F927E185}"/>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115</a:t>
            </a:fld>
            <a:endParaRPr lang="en-US" b="1">
              <a:solidFill>
                <a:schemeClr val="bg1"/>
              </a:solidFill>
            </a:endParaRPr>
          </a:p>
        </p:txBody>
      </p:sp>
      <p:graphicFrame>
        <p:nvGraphicFramePr>
          <p:cNvPr id="12" name="Table 4">
            <a:extLst>
              <a:ext uri="{FF2B5EF4-FFF2-40B4-BE49-F238E27FC236}">
                <a16:creationId xmlns:a16="http://schemas.microsoft.com/office/drawing/2014/main" id="{BBD976FF-39BE-AA85-CF61-42823FB70AEF}"/>
              </a:ext>
            </a:extLst>
          </p:cNvPr>
          <p:cNvGraphicFramePr>
            <a:graphicFrameLocks noGrp="1"/>
          </p:cNvGraphicFramePr>
          <p:nvPr>
            <p:extLst>
              <p:ext uri="{D42A27DB-BD31-4B8C-83A1-F6EECF244321}">
                <p14:modId xmlns:p14="http://schemas.microsoft.com/office/powerpoint/2010/main" val="940534924"/>
              </p:ext>
            </p:extLst>
          </p:nvPr>
        </p:nvGraphicFramePr>
        <p:xfrm>
          <a:off x="193268" y="742463"/>
          <a:ext cx="4329725" cy="436342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3771103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hlinkClick r:id="rId2" action="ppaction://hlinksldjump"/>
            <a:extLst>
              <a:ext uri="{FF2B5EF4-FFF2-40B4-BE49-F238E27FC236}">
                <a16:creationId xmlns:a16="http://schemas.microsoft.com/office/drawing/2014/main" id="{D73BE4A3-2BE3-C505-811C-BBA403BDC445}"/>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1" name="Title 10">
            <a:extLst>
              <a:ext uri="{FF2B5EF4-FFF2-40B4-BE49-F238E27FC236}">
                <a16:creationId xmlns:a16="http://schemas.microsoft.com/office/drawing/2014/main" id="{E9688787-3757-26CB-8723-B98529A3F51E}"/>
              </a:ext>
            </a:extLst>
          </p:cNvPr>
          <p:cNvSpPr>
            <a:spLocks noGrp="1"/>
          </p:cNvSpPr>
          <p:nvPr>
            <p:ph type="ctrTitle"/>
          </p:nvPr>
        </p:nvSpPr>
        <p:spPr>
          <a:xfrm>
            <a:off x="914399" y="182880"/>
            <a:ext cx="9144000" cy="457200"/>
          </a:xfrm>
        </p:spPr>
        <p:txBody>
          <a:bodyPr/>
          <a:lstStyle/>
          <a:p>
            <a:r>
              <a:rPr lang="en-US"/>
              <a:t>Micro-Instructions Control: BREAK (00001)</a:t>
            </a:r>
          </a:p>
        </p:txBody>
      </p:sp>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extLst>
              <p:ext uri="{D42A27DB-BD31-4B8C-83A1-F6EECF244321}">
                <p14:modId xmlns:p14="http://schemas.microsoft.com/office/powerpoint/2010/main" val="4806033"/>
              </p:ext>
            </p:extLst>
          </p:nvPr>
        </p:nvGraphicFramePr>
        <p:xfrm>
          <a:off x="4716584" y="742463"/>
          <a:ext cx="5638801" cy="3332480"/>
        </p:xfrm>
        <a:graphic>
          <a:graphicData uri="http://schemas.openxmlformats.org/drawingml/2006/table">
            <a:tbl>
              <a:tblPr firstRow="1" bandRow="1">
                <a:tableStyleId>{5C22544A-7EE6-4342-B048-85BDC9FD1C3A}</a:tableStyleId>
              </a:tblPr>
              <a:tblGrid>
                <a:gridCol w="855787">
                  <a:extLst>
                    <a:ext uri="{9D8B030D-6E8A-4147-A177-3AD203B41FA5}">
                      <a16:colId xmlns:a16="http://schemas.microsoft.com/office/drawing/2014/main" val="1217920130"/>
                    </a:ext>
                  </a:extLst>
                </a:gridCol>
                <a:gridCol w="2294891">
                  <a:extLst>
                    <a:ext uri="{9D8B030D-6E8A-4147-A177-3AD203B41FA5}">
                      <a16:colId xmlns:a16="http://schemas.microsoft.com/office/drawing/2014/main" val="1475888205"/>
                    </a:ext>
                  </a:extLst>
                </a:gridCol>
                <a:gridCol w="2488124">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370840">
                <a:tc>
                  <a:txBody>
                    <a:bodyPr/>
                    <a:lstStyle/>
                    <a:p>
                      <a:pPr algn="ctr"/>
                      <a:r>
                        <a:rPr lang="en-US" sz="1300"/>
                        <a:t>0</a:t>
                      </a:r>
                    </a:p>
                  </a:txBody>
                  <a:tcPr/>
                </a:tc>
                <a:tc>
                  <a:txBody>
                    <a:bodyPr/>
                    <a:lstStyle/>
                    <a:p>
                      <a:pPr algn="l"/>
                      <a:r>
                        <a:rPr lang="en-US" sz="1300"/>
                        <a:t>00000000 = 0x00</a:t>
                      </a:r>
                    </a:p>
                  </a:txBody>
                  <a:tcPr/>
                </a:tc>
                <a:tc>
                  <a:txBody>
                    <a:bodyPr/>
                    <a:lstStyle/>
                    <a:p>
                      <a:pPr algn="l"/>
                      <a:r>
                        <a:rPr lang="en-US" sz="1300"/>
                        <a:t>Do nothing</a:t>
                      </a:r>
                    </a:p>
                  </a:txBody>
                  <a:tcPr/>
                </a:tc>
                <a:extLst>
                  <a:ext uri="{0D108BD9-81ED-4DB2-BD59-A6C34878D82A}">
                    <a16:rowId xmlns:a16="http://schemas.microsoft.com/office/drawing/2014/main" val="2570910443"/>
                  </a:ext>
                </a:extLst>
              </a:tr>
              <a:tr h="370840">
                <a:tc>
                  <a:txBody>
                    <a:bodyPr/>
                    <a:lstStyle/>
                    <a:p>
                      <a:pPr algn="ctr"/>
                      <a:r>
                        <a:rPr lang="en-US" sz="1300"/>
                        <a:t>1</a:t>
                      </a:r>
                    </a:p>
                  </a:txBody>
                  <a:tcPr/>
                </a:tc>
                <a:tc>
                  <a:txBody>
                    <a:bodyPr/>
                    <a:lstStyle/>
                    <a:p>
                      <a:pPr algn="l"/>
                      <a:r>
                        <a:rPr lang="en-US" sz="1300"/>
                        <a:t>10000000 = 0x80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Increment PC</a:t>
                      </a:r>
                    </a:p>
                  </a:txBody>
                  <a:tcPr/>
                </a:tc>
                <a:extLst>
                  <a:ext uri="{0D108BD9-81ED-4DB2-BD59-A6C34878D82A}">
                    <a16:rowId xmlns:a16="http://schemas.microsoft.com/office/drawing/2014/main" val="631651838"/>
                  </a:ext>
                </a:extLst>
              </a:tr>
              <a:tr h="370840">
                <a:tc>
                  <a:txBody>
                    <a:bodyPr/>
                    <a:lstStyle/>
                    <a:p>
                      <a:pPr algn="ctr"/>
                      <a:r>
                        <a:rPr lang="en-US" sz="13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300"/>
                    </a:p>
                  </a:txBody>
                  <a:tcPr/>
                </a:tc>
                <a:tc>
                  <a:txBody>
                    <a:bodyPr/>
                    <a:lstStyle/>
                    <a:p>
                      <a:pPr algn="l"/>
                      <a:endParaRPr lang="en-US" sz="1300"/>
                    </a:p>
                  </a:txBody>
                  <a:tcPr/>
                </a:tc>
                <a:extLst>
                  <a:ext uri="{0D108BD9-81ED-4DB2-BD59-A6C34878D82A}">
                    <a16:rowId xmlns:a16="http://schemas.microsoft.com/office/drawing/2014/main" val="1592812184"/>
                  </a:ext>
                </a:extLst>
              </a:tr>
              <a:tr h="370840">
                <a:tc>
                  <a:txBody>
                    <a:bodyPr/>
                    <a:lstStyle/>
                    <a:p>
                      <a:pPr algn="ctr"/>
                      <a:r>
                        <a:rPr lang="en-US" sz="1300"/>
                        <a:t>3</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225793510"/>
                  </a:ext>
                </a:extLst>
              </a:tr>
              <a:tr h="370840">
                <a:tc>
                  <a:txBody>
                    <a:bodyPr/>
                    <a:lstStyle/>
                    <a:p>
                      <a:pPr algn="ctr"/>
                      <a:r>
                        <a:rPr lang="en-US" sz="1300"/>
                        <a:t>4</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1046366285"/>
                  </a:ext>
                </a:extLst>
              </a:tr>
              <a:tr h="370840">
                <a:tc>
                  <a:txBody>
                    <a:bodyPr/>
                    <a:lstStyle/>
                    <a:p>
                      <a:pPr algn="ctr"/>
                      <a:r>
                        <a:rPr lang="en-US" sz="1300"/>
                        <a:t>5</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615342211"/>
                  </a:ext>
                </a:extLst>
              </a:tr>
              <a:tr h="370840">
                <a:tc>
                  <a:txBody>
                    <a:bodyPr/>
                    <a:lstStyle/>
                    <a:p>
                      <a:pPr algn="ctr"/>
                      <a:r>
                        <a:rPr lang="en-US" sz="1300"/>
                        <a:t>6</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055856817"/>
                  </a:ext>
                </a:extLst>
              </a:tr>
              <a:tr h="370840">
                <a:tc>
                  <a:txBody>
                    <a:bodyPr/>
                    <a:lstStyle/>
                    <a:p>
                      <a:pPr algn="ctr"/>
                      <a:r>
                        <a:rPr lang="en-US" sz="1300"/>
                        <a:t>7</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3502991894"/>
                  </a:ext>
                </a:extLst>
              </a:tr>
            </a:tbl>
          </a:graphicData>
        </a:graphic>
      </p:graphicFrame>
      <p:sp>
        <p:nvSpPr>
          <p:cNvPr id="6" name="TextBox 5">
            <a:extLst>
              <a:ext uri="{FF2B5EF4-FFF2-40B4-BE49-F238E27FC236}">
                <a16:creationId xmlns:a16="http://schemas.microsoft.com/office/drawing/2014/main" id="{2A1F57DA-E52C-456E-AE9D-98D24B4386CA}"/>
              </a:ext>
            </a:extLst>
          </p:cNvPr>
          <p:cNvSpPr txBox="1"/>
          <p:nvPr/>
        </p:nvSpPr>
        <p:spPr>
          <a:xfrm>
            <a:off x="11305310" y="1"/>
            <a:ext cx="931665" cy="1862048"/>
          </a:xfrm>
          <a:prstGeom prst="rect">
            <a:avLst/>
          </a:prstGeom>
          <a:noFill/>
        </p:spPr>
        <p:txBody>
          <a:bodyPr wrap="none" rtlCol="0">
            <a:spAutoFit/>
          </a:bodyPr>
          <a:lstStyle/>
          <a:p>
            <a:r>
              <a:rPr lang="en-US" sz="11500">
                <a:solidFill>
                  <a:schemeClr val="accent1">
                    <a:lumMod val="60000"/>
                    <a:lumOff val="40000"/>
                  </a:schemeClr>
                </a:solidFill>
              </a:rPr>
              <a:t>1</a:t>
            </a:r>
          </a:p>
        </p:txBody>
      </p:sp>
      <p:sp>
        <p:nvSpPr>
          <p:cNvPr id="7" name="TextBox 6">
            <a:extLst>
              <a:ext uri="{FF2B5EF4-FFF2-40B4-BE49-F238E27FC236}">
                <a16:creationId xmlns:a16="http://schemas.microsoft.com/office/drawing/2014/main" id="{759C7ACD-6C1D-AB6C-C89B-502D964366F9}"/>
              </a:ext>
            </a:extLst>
          </p:cNvPr>
          <p:cNvSpPr txBox="1"/>
          <p:nvPr/>
        </p:nvSpPr>
        <p:spPr>
          <a:xfrm>
            <a:off x="6615406" y="4734113"/>
            <a:ext cx="973343" cy="523220"/>
          </a:xfrm>
          <a:prstGeom prst="rect">
            <a:avLst/>
          </a:prstGeom>
          <a:noFill/>
        </p:spPr>
        <p:txBody>
          <a:bodyPr wrap="none" rtlCol="0">
            <a:spAutoFit/>
          </a:bodyPr>
          <a:lstStyle/>
          <a:p>
            <a:r>
              <a:rPr lang="en-US" sz="2800">
                <a:solidFill>
                  <a:srgbClr val="00B050"/>
                </a:solidFill>
                <a:latin typeface="Consolas" panose="020B0609020204030204" pitchFamily="49" charset="0"/>
              </a:rPr>
              <a:t> BRK</a:t>
            </a:r>
          </a:p>
        </p:txBody>
      </p:sp>
      <p:sp>
        <p:nvSpPr>
          <p:cNvPr id="10" name="Slide Number Placeholder 4">
            <a:extLst>
              <a:ext uri="{FF2B5EF4-FFF2-40B4-BE49-F238E27FC236}">
                <a16:creationId xmlns:a16="http://schemas.microsoft.com/office/drawing/2014/main" id="{3F1C3DDA-DB50-7AA9-51DC-C32B2259925F}"/>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116</a:t>
            </a:fld>
            <a:endParaRPr lang="en-US" b="1">
              <a:solidFill>
                <a:schemeClr val="bg1"/>
              </a:solidFill>
            </a:endParaRPr>
          </a:p>
        </p:txBody>
      </p:sp>
      <p:graphicFrame>
        <p:nvGraphicFramePr>
          <p:cNvPr id="12" name="Table 4">
            <a:extLst>
              <a:ext uri="{FF2B5EF4-FFF2-40B4-BE49-F238E27FC236}">
                <a16:creationId xmlns:a16="http://schemas.microsoft.com/office/drawing/2014/main" id="{1489D408-0D81-9726-13DB-12A4DF633430}"/>
              </a:ext>
            </a:extLst>
          </p:cNvPr>
          <p:cNvGraphicFramePr>
            <a:graphicFrameLocks noGrp="1"/>
          </p:cNvGraphicFramePr>
          <p:nvPr>
            <p:extLst>
              <p:ext uri="{D42A27DB-BD31-4B8C-83A1-F6EECF244321}">
                <p14:modId xmlns:p14="http://schemas.microsoft.com/office/powerpoint/2010/main" val="940534924"/>
              </p:ext>
            </p:extLst>
          </p:nvPr>
        </p:nvGraphicFramePr>
        <p:xfrm>
          <a:off x="193268" y="742463"/>
          <a:ext cx="4329725" cy="436342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
        <p:nvSpPr>
          <p:cNvPr id="4" name="TextBox 3">
            <a:extLst>
              <a:ext uri="{FF2B5EF4-FFF2-40B4-BE49-F238E27FC236}">
                <a16:creationId xmlns:a16="http://schemas.microsoft.com/office/drawing/2014/main" id="{1B58BBFE-7673-F8E9-CD44-E620BF232E77}"/>
              </a:ext>
            </a:extLst>
          </p:cNvPr>
          <p:cNvSpPr txBox="1"/>
          <p:nvPr/>
        </p:nvSpPr>
        <p:spPr>
          <a:xfrm>
            <a:off x="4716583" y="4177324"/>
            <a:ext cx="6769653" cy="600164"/>
          </a:xfrm>
          <a:prstGeom prst="rect">
            <a:avLst/>
          </a:prstGeom>
          <a:solidFill>
            <a:srgbClr val="FFFFCC"/>
          </a:solidFill>
        </p:spPr>
        <p:txBody>
          <a:bodyPr wrap="square" rtlCol="0">
            <a:spAutoFit/>
          </a:bodyPr>
          <a:lstStyle/>
          <a:p>
            <a:r>
              <a:rPr lang="en-US" sz="1100"/>
              <a:t>Note: BRK has the same microcode as NOP, but the opcode decoder halts the clock when the opcode 00001 is detected. Stepping through it manually (via Single-Step / Run button press) resumes the clock. Hence, BRK acts as a hardware breakpoint.</a:t>
            </a:r>
          </a:p>
        </p:txBody>
      </p:sp>
    </p:spTree>
    <p:extLst>
      <p:ext uri="{BB962C8B-B14F-4D97-AF65-F5344CB8AC3E}">
        <p14:creationId xmlns:p14="http://schemas.microsoft.com/office/powerpoint/2010/main" val="2771695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4E45F-5D15-41F3-8F2A-2C4AB5F6E279}"/>
              </a:ext>
            </a:extLst>
          </p:cNvPr>
          <p:cNvSpPr>
            <a:spLocks noGrp="1"/>
          </p:cNvSpPr>
          <p:nvPr>
            <p:ph type="ctrTitle"/>
          </p:nvPr>
        </p:nvSpPr>
        <p:spPr>
          <a:prstGeom prst="rect">
            <a:avLst/>
          </a:prstGeom>
        </p:spPr>
        <p:txBody>
          <a:bodyPr/>
          <a:lstStyle/>
          <a:p>
            <a:r>
              <a:rPr lang="en-US"/>
              <a:t>ALU with changes</a:t>
            </a:r>
          </a:p>
        </p:txBody>
      </p:sp>
      <p:graphicFrame>
        <p:nvGraphicFramePr>
          <p:cNvPr id="4" name="Table 4">
            <a:extLst>
              <a:ext uri="{FF2B5EF4-FFF2-40B4-BE49-F238E27FC236}">
                <a16:creationId xmlns:a16="http://schemas.microsoft.com/office/drawing/2014/main" id="{61054D4F-50EB-4216-9E26-903E352CCA4A}"/>
              </a:ext>
            </a:extLst>
          </p:cNvPr>
          <p:cNvGraphicFramePr>
            <a:graphicFrameLocks noGrp="1"/>
          </p:cNvGraphicFramePr>
          <p:nvPr>
            <p:extLst>
              <p:ext uri="{D42A27DB-BD31-4B8C-83A1-F6EECF244321}">
                <p14:modId xmlns:p14="http://schemas.microsoft.com/office/powerpoint/2010/main" val="2420101990"/>
              </p:ext>
            </p:extLst>
          </p:nvPr>
        </p:nvGraphicFramePr>
        <p:xfrm>
          <a:off x="622581" y="1228633"/>
          <a:ext cx="10088736" cy="3108960"/>
        </p:xfrm>
        <a:graphic>
          <a:graphicData uri="http://schemas.openxmlformats.org/drawingml/2006/table">
            <a:tbl>
              <a:tblPr firstRow="1" bandRow="1">
                <a:tableStyleId>{5C22544A-7EE6-4342-B048-85BDC9FD1C3A}</a:tableStyleId>
              </a:tblPr>
              <a:tblGrid>
                <a:gridCol w="1170087">
                  <a:extLst>
                    <a:ext uri="{9D8B030D-6E8A-4147-A177-3AD203B41FA5}">
                      <a16:colId xmlns:a16="http://schemas.microsoft.com/office/drawing/2014/main" val="321351132"/>
                    </a:ext>
                  </a:extLst>
                </a:gridCol>
                <a:gridCol w="1525444">
                  <a:extLst>
                    <a:ext uri="{9D8B030D-6E8A-4147-A177-3AD203B41FA5}">
                      <a16:colId xmlns:a16="http://schemas.microsoft.com/office/drawing/2014/main" val="947167074"/>
                    </a:ext>
                  </a:extLst>
                </a:gridCol>
                <a:gridCol w="979405">
                  <a:extLst>
                    <a:ext uri="{9D8B030D-6E8A-4147-A177-3AD203B41FA5}">
                      <a16:colId xmlns:a16="http://schemas.microsoft.com/office/drawing/2014/main" val="1277270301"/>
                    </a:ext>
                  </a:extLst>
                </a:gridCol>
                <a:gridCol w="1820133">
                  <a:extLst>
                    <a:ext uri="{9D8B030D-6E8A-4147-A177-3AD203B41FA5}">
                      <a16:colId xmlns:a16="http://schemas.microsoft.com/office/drawing/2014/main" val="3038520054"/>
                    </a:ext>
                  </a:extLst>
                </a:gridCol>
                <a:gridCol w="1040075">
                  <a:extLst>
                    <a:ext uri="{9D8B030D-6E8A-4147-A177-3AD203B41FA5}">
                      <a16:colId xmlns:a16="http://schemas.microsoft.com/office/drawing/2014/main" val="3406501913"/>
                    </a:ext>
                  </a:extLst>
                </a:gridCol>
                <a:gridCol w="1594783">
                  <a:extLst>
                    <a:ext uri="{9D8B030D-6E8A-4147-A177-3AD203B41FA5}">
                      <a16:colId xmlns:a16="http://schemas.microsoft.com/office/drawing/2014/main" val="3358223032"/>
                    </a:ext>
                  </a:extLst>
                </a:gridCol>
                <a:gridCol w="1958809">
                  <a:extLst>
                    <a:ext uri="{9D8B030D-6E8A-4147-A177-3AD203B41FA5}">
                      <a16:colId xmlns:a16="http://schemas.microsoft.com/office/drawing/2014/main" val="2745844693"/>
                    </a:ext>
                  </a:extLst>
                </a:gridCol>
              </a:tblGrid>
              <a:tr h="314960">
                <a:tc>
                  <a:txBody>
                    <a:bodyPr/>
                    <a:lstStyle/>
                    <a:p>
                      <a:pPr algn="ctr"/>
                      <a:r>
                        <a:rPr lang="en-US" sz="1500"/>
                        <a:t>Op Select</a:t>
                      </a:r>
                    </a:p>
                  </a:txBody>
                  <a:tcPr/>
                </a:tc>
                <a:tc gridSpan="2">
                  <a:txBody>
                    <a:bodyPr/>
                    <a:lstStyle/>
                    <a:p>
                      <a:pPr algn="ctr"/>
                      <a:r>
                        <a:rPr lang="en-US" sz="1500"/>
                        <a:t>Special </a:t>
                      </a:r>
                      <a:r>
                        <a:rPr lang="en-US" sz="1500" err="1"/>
                        <a:t>Func</a:t>
                      </a:r>
                      <a:r>
                        <a:rPr lang="en-US" sz="1500"/>
                        <a:t>. = 0</a:t>
                      </a:r>
                    </a:p>
                  </a:txBody>
                  <a:tcPr/>
                </a:tc>
                <a:tc hMerge="1">
                  <a:txBody>
                    <a:bodyPr/>
                    <a:lstStyle/>
                    <a:p>
                      <a:endParaRPr lang="en-US"/>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a:t>Special </a:t>
                      </a:r>
                      <a:r>
                        <a:rPr lang="en-US" sz="1500" err="1"/>
                        <a:t>Func</a:t>
                      </a:r>
                      <a:r>
                        <a:rPr lang="en-US" sz="1500"/>
                        <a:t>. = 1</a:t>
                      </a:r>
                    </a:p>
                  </a:txBody>
                  <a:tcPr/>
                </a:tc>
                <a:tc hMerge="1">
                  <a:txBody>
                    <a:bodyPr/>
                    <a:lstStyle/>
                    <a:p>
                      <a:endParaRPr lang="en-US"/>
                    </a:p>
                  </a:txBody>
                  <a:tcPr/>
                </a:tc>
                <a:tc>
                  <a:txBody>
                    <a:bodyPr/>
                    <a:lstStyle/>
                    <a:p>
                      <a:pPr algn="ctr"/>
                      <a:r>
                        <a:rPr lang="en-US" sz="1500"/>
                        <a:t>Flag in</a:t>
                      </a:r>
                    </a:p>
                  </a:txBody>
                  <a:tcPr/>
                </a:tc>
                <a:tc>
                  <a:txBody>
                    <a:bodyPr/>
                    <a:lstStyle/>
                    <a:p>
                      <a:pPr algn="ctr"/>
                      <a:r>
                        <a:rPr lang="en-US" sz="1500"/>
                        <a:t>Flags Out</a:t>
                      </a:r>
                    </a:p>
                  </a:txBody>
                  <a:tcPr/>
                </a:tc>
                <a:extLst>
                  <a:ext uri="{0D108BD9-81ED-4DB2-BD59-A6C34878D82A}">
                    <a16:rowId xmlns:a16="http://schemas.microsoft.com/office/drawing/2014/main" val="1172704005"/>
                  </a:ext>
                </a:extLst>
              </a:tr>
              <a:tr h="314960">
                <a:tc>
                  <a:txBody>
                    <a:bodyPr/>
                    <a:lstStyle/>
                    <a:p>
                      <a:pPr algn="ctr"/>
                      <a:r>
                        <a:rPr lang="en-US" sz="1500"/>
                        <a:t>0</a:t>
                      </a:r>
                    </a:p>
                  </a:txBody>
                  <a:tcPr/>
                </a:tc>
                <a:tc>
                  <a:txBody>
                    <a:bodyPr/>
                    <a:lstStyle/>
                    <a:p>
                      <a:pPr algn="ctr"/>
                      <a:r>
                        <a:rPr lang="en-US" sz="1500"/>
                        <a:t>A OR B</a:t>
                      </a:r>
                    </a:p>
                  </a:txBody>
                  <a:tcPr>
                    <a:lnR w="12700" cap="flat" cmpd="sng" algn="ctr">
                      <a:solidFill>
                        <a:schemeClr val="bg1"/>
                      </a:solidFill>
                      <a:prstDash val="solid"/>
                      <a:round/>
                      <a:headEnd type="none" w="med" len="med"/>
                      <a:tailEnd type="none" w="med" len="med"/>
                    </a:lnR>
                  </a:tcPr>
                </a:tc>
                <a:tc>
                  <a:txBody>
                    <a:bodyPr/>
                    <a:lstStyle/>
                    <a:p>
                      <a:pPr algn="l"/>
                      <a:r>
                        <a:rPr lang="en-US" sz="1500"/>
                        <a:t>OR:     0</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a:solidFill>
                            <a:srgbClr val="FF0000"/>
                          </a:solidFill>
                        </a:rPr>
                        <a:t>A OR B</a:t>
                      </a:r>
                    </a:p>
                  </a:txBody>
                  <a:tcPr>
                    <a:lnR w="12700" cap="flat" cmpd="sng" algn="ctr">
                      <a:solidFill>
                        <a:schemeClr val="bg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a:solidFill>
                          <a:srgbClr val="FF0000"/>
                        </a:solidFill>
                      </a:endParaRP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a:t>-</a:t>
                      </a:r>
                    </a:p>
                  </a:txBody>
                  <a:tcPr/>
                </a:tc>
                <a:tc>
                  <a:txBody>
                    <a:bodyPr/>
                    <a:lstStyle/>
                    <a:p>
                      <a:pPr algn="ctr"/>
                      <a:r>
                        <a:rPr lang="en-US" sz="1500"/>
                        <a:t>Z, N</a:t>
                      </a:r>
                    </a:p>
                  </a:txBody>
                  <a:tcPr/>
                </a:tc>
                <a:extLst>
                  <a:ext uri="{0D108BD9-81ED-4DB2-BD59-A6C34878D82A}">
                    <a16:rowId xmlns:a16="http://schemas.microsoft.com/office/drawing/2014/main" val="3310631083"/>
                  </a:ext>
                </a:extLst>
              </a:tr>
              <a:tr h="314960">
                <a:tc>
                  <a:txBody>
                    <a:bodyPr/>
                    <a:lstStyle/>
                    <a:p>
                      <a:pPr algn="ctr"/>
                      <a:r>
                        <a:rPr lang="en-US" sz="1500"/>
                        <a:t>1</a:t>
                      </a:r>
                    </a:p>
                  </a:txBody>
                  <a:tcPr/>
                </a:tc>
                <a:tc>
                  <a:txBody>
                    <a:bodyPr/>
                    <a:lstStyle/>
                    <a:p>
                      <a:pPr algn="ctr"/>
                      <a:r>
                        <a:rPr lang="en-US" sz="1500">
                          <a:solidFill>
                            <a:schemeClr val="tx1"/>
                          </a:solidFill>
                        </a:rPr>
                        <a:t>A AND B</a:t>
                      </a:r>
                    </a:p>
                  </a:txBody>
                  <a:tcPr>
                    <a:lnR w="12700" cap="flat" cmpd="sng" algn="ctr">
                      <a:solidFill>
                        <a:schemeClr val="bg1"/>
                      </a:solidFill>
                      <a:prstDash val="solid"/>
                      <a:round/>
                      <a:headEnd type="none" w="med" len="med"/>
                      <a:tailEnd type="none" w="med" len="med"/>
                    </a:lnR>
                  </a:tcPr>
                </a:tc>
                <a:tc>
                  <a:txBody>
                    <a:bodyPr/>
                    <a:lstStyle/>
                    <a:p>
                      <a:pPr algn="l"/>
                      <a:r>
                        <a:rPr lang="en-US" sz="1500">
                          <a:solidFill>
                            <a:schemeClr val="tx1"/>
                          </a:solidFill>
                        </a:rPr>
                        <a:t>AND:  2</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a:solidFill>
                            <a:srgbClr val="FF0000"/>
                          </a:solidFill>
                        </a:rPr>
                        <a:t>A AND B</a:t>
                      </a:r>
                    </a:p>
                  </a:txBody>
                  <a:tcPr>
                    <a:lnR w="12700" cap="flat" cmpd="sng" algn="ctr">
                      <a:solidFill>
                        <a:schemeClr val="bg1"/>
                      </a:solidFill>
                      <a:prstDash val="solid"/>
                      <a:round/>
                      <a:headEnd type="none" w="med" len="med"/>
                      <a:tailEnd type="none" w="med" len="med"/>
                    </a:lnR>
                  </a:tcPr>
                </a:tc>
                <a:tc>
                  <a:txBody>
                    <a:bodyPr/>
                    <a:lstStyle/>
                    <a:p>
                      <a:pPr algn="l"/>
                      <a:endParaRPr lang="en-US" sz="1500">
                        <a:solidFill>
                          <a:schemeClr val="tx1"/>
                        </a:solidFill>
                      </a:endParaRP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a:t>-</a:t>
                      </a:r>
                    </a:p>
                  </a:txBody>
                  <a:tcPr/>
                </a:tc>
                <a:tc>
                  <a:txBody>
                    <a:bodyPr/>
                    <a:lstStyle/>
                    <a:p>
                      <a:pPr algn="ctr"/>
                      <a:r>
                        <a:rPr lang="en-US" sz="1500"/>
                        <a:t> </a:t>
                      </a:r>
                    </a:p>
                  </a:txBody>
                  <a:tcPr/>
                </a:tc>
                <a:extLst>
                  <a:ext uri="{0D108BD9-81ED-4DB2-BD59-A6C34878D82A}">
                    <a16:rowId xmlns:a16="http://schemas.microsoft.com/office/drawing/2014/main" val="3738173850"/>
                  </a:ext>
                </a:extLst>
              </a:tr>
              <a:tr h="314960">
                <a:tc>
                  <a:txBody>
                    <a:bodyPr/>
                    <a:lstStyle/>
                    <a:p>
                      <a:pPr algn="ctr"/>
                      <a:r>
                        <a:rPr lang="en-US" sz="1500"/>
                        <a:t>2</a:t>
                      </a:r>
                    </a:p>
                  </a:txBody>
                  <a:tcPr/>
                </a:tc>
                <a:tc>
                  <a:txBody>
                    <a:bodyPr/>
                    <a:lstStyle/>
                    <a:p>
                      <a:pPr algn="ctr"/>
                      <a:r>
                        <a:rPr lang="en-US" sz="1500" b="0">
                          <a:solidFill>
                            <a:schemeClr val="tx1"/>
                          </a:solidFill>
                        </a:rPr>
                        <a:t>A XOR B</a:t>
                      </a:r>
                    </a:p>
                  </a:txBody>
                  <a:tcPr>
                    <a:lnR w="12700" cap="flat" cmpd="sng" algn="ctr">
                      <a:solidFill>
                        <a:schemeClr val="bg1"/>
                      </a:solidFill>
                      <a:prstDash val="solid"/>
                      <a:round/>
                      <a:headEnd type="none" w="med" len="med"/>
                      <a:tailEnd type="none" w="med" len="med"/>
                    </a:lnR>
                  </a:tcPr>
                </a:tc>
                <a:tc>
                  <a:txBody>
                    <a:bodyPr/>
                    <a:lstStyle/>
                    <a:p>
                      <a:pPr algn="l"/>
                      <a:r>
                        <a:rPr lang="en-US" sz="1500" b="0">
                          <a:solidFill>
                            <a:schemeClr val="tx1"/>
                          </a:solidFill>
                        </a:rPr>
                        <a:t>XOR:  4</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a:t>~B</a:t>
                      </a:r>
                    </a:p>
                  </a:txBody>
                  <a:tcPr>
                    <a:lnR w="12700" cap="flat" cmpd="sng" algn="ctr">
                      <a:solidFill>
                        <a:schemeClr val="bg1"/>
                      </a:solidFill>
                      <a:prstDash val="solid"/>
                      <a:round/>
                      <a:headEnd type="none" w="med" len="med"/>
                      <a:tailEnd type="none" w="med" len="med"/>
                    </a:lnR>
                  </a:tcPr>
                </a:tc>
                <a:tc>
                  <a:txBody>
                    <a:bodyPr/>
                    <a:lstStyle/>
                    <a:p>
                      <a:pPr algn="l"/>
                      <a:r>
                        <a:rPr lang="en-US" sz="1500"/>
                        <a:t>NOT:  5</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a:t>-</a:t>
                      </a:r>
                    </a:p>
                  </a:txBody>
                  <a:tcPr/>
                </a:tc>
                <a:tc>
                  <a:txBody>
                    <a:bodyPr/>
                    <a:lstStyle/>
                    <a:p>
                      <a:pPr algn="ctr"/>
                      <a:r>
                        <a:rPr lang="en-US" sz="1500"/>
                        <a:t>Z, N</a:t>
                      </a:r>
                    </a:p>
                  </a:txBody>
                  <a:tcPr/>
                </a:tc>
                <a:extLst>
                  <a:ext uri="{0D108BD9-81ED-4DB2-BD59-A6C34878D82A}">
                    <a16:rowId xmlns:a16="http://schemas.microsoft.com/office/drawing/2014/main" val="1360638868"/>
                  </a:ext>
                </a:extLst>
              </a:tr>
              <a:tr h="314960">
                <a:tc>
                  <a:txBody>
                    <a:bodyPr/>
                    <a:lstStyle/>
                    <a:p>
                      <a:pPr algn="ctr"/>
                      <a:r>
                        <a:rPr lang="en-US" sz="1500"/>
                        <a:t>3</a:t>
                      </a:r>
                    </a:p>
                  </a:txBody>
                  <a:tcPr/>
                </a:tc>
                <a:tc>
                  <a:txBody>
                    <a:bodyPr/>
                    <a:lstStyle/>
                    <a:p>
                      <a:pPr algn="ctr"/>
                      <a:r>
                        <a:rPr lang="en-US" sz="1500"/>
                        <a:t>A + B</a:t>
                      </a:r>
                    </a:p>
                  </a:txBody>
                  <a:tcPr>
                    <a:lnR w="12700" cap="flat" cmpd="sng" algn="ctr">
                      <a:solidFill>
                        <a:schemeClr val="bg1"/>
                      </a:solidFill>
                      <a:prstDash val="solid"/>
                      <a:round/>
                      <a:headEnd type="none" w="med" len="med"/>
                      <a:tailEnd type="none" w="med" len="med"/>
                    </a:lnR>
                  </a:tcPr>
                </a:tc>
                <a:tc>
                  <a:txBody>
                    <a:bodyPr/>
                    <a:lstStyle/>
                    <a:p>
                      <a:pPr algn="l"/>
                      <a:r>
                        <a:rPr lang="en-US" sz="1500"/>
                        <a:t>ADD:  6</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a:t>A – B</a:t>
                      </a:r>
                    </a:p>
                  </a:txBody>
                  <a:tcPr>
                    <a:lnR w="12700" cap="flat" cmpd="sng" algn="ctr">
                      <a:solidFill>
                        <a:schemeClr val="bg1"/>
                      </a:solidFill>
                      <a:prstDash val="solid"/>
                      <a:round/>
                      <a:headEnd type="none" w="med" len="med"/>
                      <a:tailEnd type="none" w="med" len="med"/>
                    </a:lnR>
                  </a:tcPr>
                </a:tc>
                <a:tc>
                  <a:txBody>
                    <a:bodyPr/>
                    <a:lstStyle/>
                    <a:p>
                      <a:pPr algn="l"/>
                      <a:r>
                        <a:rPr lang="en-US" sz="1500"/>
                        <a:t>SUB:  7</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a:t>- </a:t>
                      </a:r>
                    </a:p>
                  </a:txBody>
                  <a:tcPr/>
                </a:tc>
                <a:tc>
                  <a:txBody>
                    <a:bodyPr/>
                    <a:lstStyle/>
                    <a:p>
                      <a:pPr algn="ctr"/>
                      <a:r>
                        <a:rPr lang="en-US" sz="1500"/>
                        <a:t>Z, N, Co</a:t>
                      </a:r>
                    </a:p>
                  </a:txBody>
                  <a:tcPr/>
                </a:tc>
                <a:extLst>
                  <a:ext uri="{0D108BD9-81ED-4DB2-BD59-A6C34878D82A}">
                    <a16:rowId xmlns:a16="http://schemas.microsoft.com/office/drawing/2014/main" val="4155580310"/>
                  </a:ext>
                </a:extLst>
              </a:tr>
              <a:tr h="539655">
                <a:tc>
                  <a:txBody>
                    <a:bodyPr/>
                    <a:lstStyle/>
                    <a:p>
                      <a:pPr algn="ctr"/>
                      <a:r>
                        <a:rPr lang="en-US" sz="1500"/>
                        <a:t>4</a:t>
                      </a:r>
                    </a:p>
                  </a:txBody>
                  <a:tcPr/>
                </a:tc>
                <a:tc>
                  <a:txBody>
                    <a:bodyPr/>
                    <a:lstStyle/>
                    <a:p>
                      <a:pPr algn="ctr"/>
                      <a:r>
                        <a:rPr lang="en-US" sz="1500"/>
                        <a:t>Shift Left A </a:t>
                      </a:r>
                    </a:p>
                    <a:p>
                      <a:pPr algn="ctr"/>
                      <a:r>
                        <a:rPr lang="en-US" sz="1500"/>
                        <a:t>A[0]=0</a:t>
                      </a:r>
                    </a:p>
                  </a:txBody>
                  <a:tcPr>
                    <a:lnR w="12700" cap="flat" cmpd="sng" algn="ctr">
                      <a:solidFill>
                        <a:schemeClr val="bg1"/>
                      </a:solidFill>
                      <a:prstDash val="solid"/>
                      <a:round/>
                      <a:headEnd type="none" w="med" len="med"/>
                      <a:tailEnd type="none" w="med" len="med"/>
                    </a:lnR>
                  </a:tcPr>
                </a:tc>
                <a:tc>
                  <a:txBody>
                    <a:bodyPr/>
                    <a:lstStyle/>
                    <a:p>
                      <a:pPr algn="l"/>
                      <a:r>
                        <a:rPr lang="en-US" sz="1500"/>
                        <a:t>ASL:   8</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a:t>Rotate left A</a:t>
                      </a:r>
                    </a:p>
                    <a:p>
                      <a:pPr algn="ctr"/>
                      <a:r>
                        <a:rPr lang="en-US" sz="1500"/>
                        <a:t>A[0]=</a:t>
                      </a:r>
                      <a:r>
                        <a:rPr lang="en-US" sz="1500" err="1"/>
                        <a:t>Cin</a:t>
                      </a:r>
                      <a:r>
                        <a:rPr lang="en-US" sz="1500"/>
                        <a:t> </a:t>
                      </a:r>
                    </a:p>
                  </a:txBody>
                  <a:tcPr>
                    <a:lnR w="12700" cap="flat" cmpd="sng" algn="ctr">
                      <a:solidFill>
                        <a:schemeClr val="bg1"/>
                      </a:solidFill>
                      <a:prstDash val="solid"/>
                      <a:round/>
                      <a:headEnd type="none" w="med" len="med"/>
                      <a:tailEnd type="none" w="med" len="med"/>
                    </a:lnR>
                  </a:tcPr>
                </a:tc>
                <a:tc>
                  <a:txBody>
                    <a:bodyPr/>
                    <a:lstStyle/>
                    <a:p>
                      <a:pPr algn="l"/>
                      <a:r>
                        <a:rPr lang="en-US" sz="1500"/>
                        <a:t>ROL:  9</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err="1"/>
                        <a:t>Cin</a:t>
                      </a:r>
                      <a:r>
                        <a:rPr lang="en-US" sz="1500"/>
                        <a:t> (Rotate)</a:t>
                      </a:r>
                    </a:p>
                  </a:txBody>
                  <a:tcPr/>
                </a:tc>
                <a:tc>
                  <a:txBody>
                    <a:bodyPr/>
                    <a:lstStyle/>
                    <a:p>
                      <a:pPr algn="ctr"/>
                      <a:r>
                        <a:rPr lang="en-US" sz="1500"/>
                        <a:t>Z, N=A[6], Co=A[7]</a:t>
                      </a:r>
                    </a:p>
                  </a:txBody>
                  <a:tcPr/>
                </a:tc>
                <a:extLst>
                  <a:ext uri="{0D108BD9-81ED-4DB2-BD59-A6C34878D82A}">
                    <a16:rowId xmlns:a16="http://schemas.microsoft.com/office/drawing/2014/main" val="2712813175"/>
                  </a:ext>
                </a:extLst>
              </a:tr>
              <a:tr h="314960">
                <a:tc>
                  <a:txBody>
                    <a:bodyPr/>
                    <a:lstStyle/>
                    <a:p>
                      <a:pPr algn="ctr"/>
                      <a:r>
                        <a:rPr lang="en-US" sz="1500"/>
                        <a:t>5</a:t>
                      </a:r>
                    </a:p>
                  </a:txBody>
                  <a:tcPr/>
                </a:tc>
                <a:tc>
                  <a:txBody>
                    <a:bodyPr/>
                    <a:lstStyle/>
                    <a:p>
                      <a:pPr algn="ctr"/>
                      <a:r>
                        <a:rPr lang="en-US" sz="1500"/>
                        <a:t>Shift Right A</a:t>
                      </a:r>
                    </a:p>
                  </a:txBody>
                  <a:tcPr>
                    <a:lnR w="12700" cap="flat" cmpd="sng" algn="ctr">
                      <a:solidFill>
                        <a:schemeClr val="bg1"/>
                      </a:solidFill>
                      <a:prstDash val="solid"/>
                      <a:round/>
                      <a:headEnd type="none" w="med" len="med"/>
                      <a:tailEnd type="none" w="med" len="med"/>
                    </a:lnR>
                  </a:tcPr>
                </a:tc>
                <a:tc>
                  <a:txBody>
                    <a:bodyPr/>
                    <a:lstStyle/>
                    <a:p>
                      <a:pPr algn="l"/>
                      <a:r>
                        <a:rPr lang="en-US" sz="1500"/>
                        <a:t>LSR:   A</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a:t>Arithmetic S.R. A</a:t>
                      </a:r>
                    </a:p>
                  </a:txBody>
                  <a:tcPr>
                    <a:lnR w="12700" cap="flat" cmpd="sng" algn="ctr">
                      <a:solidFill>
                        <a:schemeClr val="bg1"/>
                      </a:solidFill>
                      <a:prstDash val="solid"/>
                      <a:round/>
                      <a:headEnd type="none" w="med" len="med"/>
                      <a:tailEnd type="none" w="med" len="med"/>
                    </a:lnR>
                  </a:tcPr>
                </a:tc>
                <a:tc>
                  <a:txBody>
                    <a:bodyPr/>
                    <a:lstStyle/>
                    <a:p>
                      <a:pPr algn="l"/>
                      <a:r>
                        <a:rPr lang="en-US" sz="1500"/>
                        <a:t>ASR:  B</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a:t>Z, N, Co=A[0]</a:t>
                      </a:r>
                    </a:p>
                  </a:txBody>
                  <a:tcPr/>
                </a:tc>
                <a:extLst>
                  <a:ext uri="{0D108BD9-81ED-4DB2-BD59-A6C34878D82A}">
                    <a16:rowId xmlns:a16="http://schemas.microsoft.com/office/drawing/2014/main" val="442150718"/>
                  </a:ext>
                </a:extLst>
              </a:tr>
              <a:tr h="314960">
                <a:tc>
                  <a:txBody>
                    <a:bodyPr/>
                    <a:lstStyle/>
                    <a:p>
                      <a:pPr algn="ctr"/>
                      <a:r>
                        <a:rPr lang="en-US" sz="1500"/>
                        <a:t>6</a:t>
                      </a:r>
                    </a:p>
                  </a:txBody>
                  <a:tcPr/>
                </a:tc>
                <a:tc>
                  <a:txBody>
                    <a:bodyPr/>
                    <a:lstStyle/>
                    <a:p>
                      <a:pPr algn="ctr"/>
                      <a:r>
                        <a:rPr lang="en-US" sz="1500">
                          <a:solidFill>
                            <a:srgbClr val="FF0000"/>
                          </a:solidFill>
                        </a:rPr>
                        <a:t>Rotate Right</a:t>
                      </a:r>
                    </a:p>
                  </a:txBody>
                  <a:tcPr>
                    <a:lnR w="12700" cap="flat" cmpd="sng" algn="ctr">
                      <a:solidFill>
                        <a:schemeClr val="bg1"/>
                      </a:solidFill>
                      <a:prstDash val="solid"/>
                      <a:round/>
                      <a:headEnd type="none" w="med" len="med"/>
                      <a:tailEnd type="none" w="med" len="med"/>
                    </a:lnR>
                  </a:tcPr>
                </a:tc>
                <a:tc>
                  <a:txBody>
                    <a:bodyPr/>
                    <a:lstStyle/>
                    <a:p>
                      <a:pPr algn="l"/>
                      <a:r>
                        <a:rPr lang="en-US" sz="1500">
                          <a:solidFill>
                            <a:srgbClr val="FF0000"/>
                          </a:solidFill>
                        </a:rPr>
                        <a:t>ROR: C</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err="1"/>
                        <a:t>Cin</a:t>
                      </a:r>
                      <a:r>
                        <a:rPr lang="en-US" sz="1500"/>
                        <a:t> -&gt; A-&gt; </a:t>
                      </a:r>
                      <a:r>
                        <a:rPr lang="en-US" sz="1500" err="1"/>
                        <a:t>Cout</a:t>
                      </a:r>
                      <a:endParaRPr lang="en-US" sz="1500"/>
                    </a:p>
                  </a:txBody>
                  <a:tcPr>
                    <a:lnR w="12700" cap="flat" cmpd="sng" algn="ctr">
                      <a:solidFill>
                        <a:schemeClr val="bg1"/>
                      </a:solidFill>
                      <a:prstDash val="solid"/>
                      <a:round/>
                      <a:headEnd type="none" w="med" len="med"/>
                      <a:tailEnd type="none" w="med" len="med"/>
                    </a:lnR>
                  </a:tcPr>
                </a:tc>
                <a:tc>
                  <a:txBody>
                    <a:bodyPr/>
                    <a:lstStyle/>
                    <a:p>
                      <a:pPr algn="l"/>
                      <a:endParaRPr lang="en-US" sz="1500"/>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err="1"/>
                        <a:t>Cin</a:t>
                      </a:r>
                      <a:endParaRPr lang="en-US" sz="15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a:t>Z, N, Co=A[0]</a:t>
                      </a:r>
                    </a:p>
                  </a:txBody>
                  <a:tcPr/>
                </a:tc>
                <a:extLst>
                  <a:ext uri="{0D108BD9-81ED-4DB2-BD59-A6C34878D82A}">
                    <a16:rowId xmlns:a16="http://schemas.microsoft.com/office/drawing/2014/main" val="615310716"/>
                  </a:ext>
                </a:extLst>
              </a:tr>
              <a:tr h="314960">
                <a:tc>
                  <a:txBody>
                    <a:bodyPr/>
                    <a:lstStyle/>
                    <a:p>
                      <a:pPr algn="ctr"/>
                      <a:r>
                        <a:rPr lang="en-US" sz="1500">
                          <a:solidFill>
                            <a:schemeClr val="tx1"/>
                          </a:solidFill>
                        </a:rPr>
                        <a:t>7</a:t>
                      </a:r>
                    </a:p>
                  </a:txBody>
                  <a:tcPr/>
                </a:tc>
                <a:tc>
                  <a:txBody>
                    <a:bodyPr/>
                    <a:lstStyle/>
                    <a:p>
                      <a:pPr algn="ctr"/>
                      <a:r>
                        <a:rPr lang="en-US" sz="1500">
                          <a:solidFill>
                            <a:schemeClr val="tx1"/>
                          </a:solidFill>
                        </a:rPr>
                        <a:t>A + B + </a:t>
                      </a:r>
                      <a:r>
                        <a:rPr lang="en-US" sz="1500" err="1">
                          <a:solidFill>
                            <a:schemeClr val="tx1"/>
                          </a:solidFill>
                        </a:rPr>
                        <a:t>Cin</a:t>
                      </a:r>
                      <a:endParaRPr lang="en-US" sz="1500">
                        <a:solidFill>
                          <a:schemeClr val="tx1"/>
                        </a:solidFill>
                      </a:endParaRPr>
                    </a:p>
                  </a:txBody>
                  <a:tcPr>
                    <a:lnR w="12700" cap="flat" cmpd="sng" algn="ctr">
                      <a:solidFill>
                        <a:schemeClr val="bg1"/>
                      </a:solidFill>
                      <a:prstDash val="solid"/>
                      <a:round/>
                      <a:headEnd type="none" w="med" len="med"/>
                      <a:tailEnd type="none" w="med" len="med"/>
                    </a:lnR>
                  </a:tcPr>
                </a:tc>
                <a:tc>
                  <a:txBody>
                    <a:bodyPr/>
                    <a:lstStyle/>
                    <a:p>
                      <a:pPr algn="l"/>
                      <a:r>
                        <a:rPr lang="en-US" sz="1500">
                          <a:solidFill>
                            <a:schemeClr val="tx1"/>
                          </a:solidFill>
                        </a:rPr>
                        <a:t>ADC:  E </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a:solidFill>
                            <a:schemeClr val="tx1"/>
                          </a:solidFill>
                        </a:rPr>
                        <a:t>A – B + </a:t>
                      </a:r>
                      <a:r>
                        <a:rPr lang="en-US" sz="1500" err="1">
                          <a:solidFill>
                            <a:schemeClr val="tx1"/>
                          </a:solidFill>
                        </a:rPr>
                        <a:t>Cin</a:t>
                      </a:r>
                      <a:endParaRPr lang="en-US" sz="1500">
                        <a:solidFill>
                          <a:schemeClr val="tx1"/>
                        </a:solidFill>
                      </a:endParaRPr>
                    </a:p>
                  </a:txBody>
                  <a:tcPr>
                    <a:lnR w="12700" cap="flat" cmpd="sng" algn="ctr">
                      <a:solidFill>
                        <a:schemeClr val="bg1"/>
                      </a:solidFill>
                      <a:prstDash val="solid"/>
                      <a:round/>
                      <a:headEnd type="none" w="med" len="med"/>
                      <a:tailEnd type="none" w="med" len="med"/>
                    </a:lnR>
                  </a:tcPr>
                </a:tc>
                <a:tc>
                  <a:txBody>
                    <a:bodyPr/>
                    <a:lstStyle/>
                    <a:p>
                      <a:pPr algn="l"/>
                      <a:r>
                        <a:rPr lang="en-US" sz="1500">
                          <a:solidFill>
                            <a:schemeClr val="tx1"/>
                          </a:solidFill>
                        </a:rPr>
                        <a:t>SBC:  F</a:t>
                      </a:r>
                    </a:p>
                  </a:txBody>
                  <a:tcPr>
                    <a:lnL w="12700" cap="flat" cmpd="sng" algn="ctr">
                      <a:solidFill>
                        <a:schemeClr val="bg1"/>
                      </a:solidFill>
                      <a:prstDash val="solid"/>
                      <a:round/>
                      <a:headEnd type="none" w="med" len="med"/>
                      <a:tailEnd type="none" w="med" len="med"/>
                    </a:lnL>
                    <a:solidFill>
                      <a:schemeClr val="accent6">
                        <a:lumMod val="60000"/>
                        <a:lumOff val="40000"/>
                      </a:schemeClr>
                    </a:solidFill>
                  </a:tcPr>
                </a:tc>
                <a:tc>
                  <a:txBody>
                    <a:bodyPr/>
                    <a:lstStyle/>
                    <a:p>
                      <a:pPr algn="ctr"/>
                      <a:r>
                        <a:rPr lang="en-US" sz="1500" err="1">
                          <a:solidFill>
                            <a:schemeClr val="tx1"/>
                          </a:solidFill>
                        </a:rPr>
                        <a:t>Cin</a:t>
                      </a:r>
                      <a:endParaRPr lang="en-US" sz="150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a:t>Z, N, Co</a:t>
                      </a:r>
                    </a:p>
                  </a:txBody>
                  <a:tcPr/>
                </a:tc>
                <a:extLst>
                  <a:ext uri="{0D108BD9-81ED-4DB2-BD59-A6C34878D82A}">
                    <a16:rowId xmlns:a16="http://schemas.microsoft.com/office/drawing/2014/main" val="3768586301"/>
                  </a:ext>
                </a:extLst>
              </a:tr>
            </a:tbl>
          </a:graphicData>
        </a:graphic>
      </p:graphicFrame>
      <p:sp>
        <p:nvSpPr>
          <p:cNvPr id="5" name="TextBox 4">
            <a:extLst>
              <a:ext uri="{FF2B5EF4-FFF2-40B4-BE49-F238E27FC236}">
                <a16:creationId xmlns:a16="http://schemas.microsoft.com/office/drawing/2014/main" id="{1A7CDFEC-6ABA-41B5-9530-4B1D17CB748E}"/>
              </a:ext>
            </a:extLst>
          </p:cNvPr>
          <p:cNvSpPr txBox="1"/>
          <p:nvPr/>
        </p:nvSpPr>
        <p:spPr>
          <a:xfrm>
            <a:off x="2556853" y="5226382"/>
            <a:ext cx="4106958" cy="646331"/>
          </a:xfrm>
          <a:prstGeom prst="rect">
            <a:avLst/>
          </a:prstGeom>
          <a:noFill/>
        </p:spPr>
        <p:txBody>
          <a:bodyPr wrap="none" rtlCol="0">
            <a:spAutoFit/>
          </a:bodyPr>
          <a:lstStyle/>
          <a:p>
            <a:r>
              <a:rPr lang="en-US"/>
              <a:t>Proposals for the additional operations</a:t>
            </a:r>
          </a:p>
          <a:p>
            <a:pPr marL="285744" indent="-285744">
              <a:buFont typeface="Arial" panose="020B0604020202020204" pitchFamily="34" charset="0"/>
              <a:buChar char="•"/>
            </a:pPr>
            <a:r>
              <a:rPr lang="en-US"/>
              <a:t>How to chain Shift Right of two bytes? </a:t>
            </a:r>
          </a:p>
        </p:txBody>
      </p:sp>
      <p:graphicFrame>
        <p:nvGraphicFramePr>
          <p:cNvPr id="3" name="Table 5">
            <a:extLst>
              <a:ext uri="{FF2B5EF4-FFF2-40B4-BE49-F238E27FC236}">
                <a16:creationId xmlns:a16="http://schemas.microsoft.com/office/drawing/2014/main" id="{445C3134-7AEA-45C0-B554-9C3721A651EE}"/>
              </a:ext>
            </a:extLst>
          </p:cNvPr>
          <p:cNvGraphicFramePr>
            <a:graphicFrameLocks noGrp="1"/>
          </p:cNvGraphicFramePr>
          <p:nvPr>
            <p:extLst>
              <p:ext uri="{D42A27DB-BD31-4B8C-83A1-F6EECF244321}">
                <p14:modId xmlns:p14="http://schemas.microsoft.com/office/powerpoint/2010/main" val="1227710345"/>
              </p:ext>
            </p:extLst>
          </p:nvPr>
        </p:nvGraphicFramePr>
        <p:xfrm>
          <a:off x="622579" y="4522163"/>
          <a:ext cx="10608860" cy="1645920"/>
        </p:xfrm>
        <a:graphic>
          <a:graphicData uri="http://schemas.openxmlformats.org/drawingml/2006/table">
            <a:tbl>
              <a:tblPr firstRow="1" bandRow="1">
                <a:tableStyleId>{93296810-A885-4BE3-A3E7-6D5BEEA58F35}</a:tableStyleId>
              </a:tblPr>
              <a:tblGrid>
                <a:gridCol w="2861481">
                  <a:extLst>
                    <a:ext uri="{9D8B030D-6E8A-4147-A177-3AD203B41FA5}">
                      <a16:colId xmlns:a16="http://schemas.microsoft.com/office/drawing/2014/main" val="3201275542"/>
                    </a:ext>
                  </a:extLst>
                </a:gridCol>
                <a:gridCol w="1901588">
                  <a:extLst>
                    <a:ext uri="{9D8B030D-6E8A-4147-A177-3AD203B41FA5}">
                      <a16:colId xmlns:a16="http://schemas.microsoft.com/office/drawing/2014/main" val="3097542783"/>
                    </a:ext>
                  </a:extLst>
                </a:gridCol>
                <a:gridCol w="3939699">
                  <a:extLst>
                    <a:ext uri="{9D8B030D-6E8A-4147-A177-3AD203B41FA5}">
                      <a16:colId xmlns:a16="http://schemas.microsoft.com/office/drawing/2014/main" val="2076965464"/>
                    </a:ext>
                  </a:extLst>
                </a:gridCol>
                <a:gridCol w="1906092">
                  <a:extLst>
                    <a:ext uri="{9D8B030D-6E8A-4147-A177-3AD203B41FA5}">
                      <a16:colId xmlns:a16="http://schemas.microsoft.com/office/drawing/2014/main" val="616535788"/>
                    </a:ext>
                  </a:extLst>
                </a:gridCol>
              </a:tblGrid>
              <a:tr h="314960">
                <a:tc>
                  <a:txBody>
                    <a:bodyPr/>
                    <a:lstStyle/>
                    <a:p>
                      <a:r>
                        <a:rPr lang="en-US" sz="1500" dirty="0"/>
                        <a:t>Proposal</a:t>
                      </a:r>
                    </a:p>
                  </a:txBody>
                  <a:tcPr/>
                </a:tc>
                <a:tc>
                  <a:txBody>
                    <a:bodyPr/>
                    <a:lstStyle/>
                    <a:p>
                      <a:r>
                        <a:rPr lang="en-US" sz="1500"/>
                        <a:t># of IC slots </a:t>
                      </a:r>
                    </a:p>
                  </a:txBody>
                  <a:tcPr/>
                </a:tc>
                <a:tc>
                  <a:txBody>
                    <a:bodyPr/>
                    <a:lstStyle/>
                    <a:p>
                      <a:r>
                        <a:rPr lang="en-US" sz="1500"/>
                        <a:t>Description</a:t>
                      </a:r>
                    </a:p>
                  </a:txBody>
                  <a:tcPr/>
                </a:tc>
                <a:tc>
                  <a:txBody>
                    <a:bodyPr/>
                    <a:lstStyle/>
                    <a:p>
                      <a:r>
                        <a:rPr lang="en-US" sz="1500"/>
                        <a:t>Op Code </a:t>
                      </a:r>
                    </a:p>
                  </a:txBody>
                  <a:tcPr/>
                </a:tc>
                <a:extLst>
                  <a:ext uri="{0D108BD9-81ED-4DB2-BD59-A6C34878D82A}">
                    <a16:rowId xmlns:a16="http://schemas.microsoft.com/office/drawing/2014/main" val="381336539"/>
                  </a:ext>
                </a:extLst>
              </a:tr>
              <a:tr h="538480">
                <a:tc>
                  <a:txBody>
                    <a:bodyPr/>
                    <a:lstStyle/>
                    <a:p>
                      <a:r>
                        <a:rPr lang="en-US" sz="1500"/>
                        <a:t>OR and ADD share Op Code</a:t>
                      </a:r>
                    </a:p>
                    <a:p>
                      <a:r>
                        <a:rPr lang="en-US" sz="1500"/>
                        <a:t>(low priority)</a:t>
                      </a:r>
                    </a:p>
                  </a:txBody>
                  <a:tcPr/>
                </a:tc>
                <a:tc>
                  <a:txBody>
                    <a:bodyPr/>
                    <a:lstStyle/>
                    <a:p>
                      <a:r>
                        <a:rPr lang="en-US" sz="1500" dirty="0"/>
                        <a:t>2x 74LS157</a:t>
                      </a:r>
                    </a:p>
                  </a:txBody>
                  <a:tcPr/>
                </a:tc>
                <a:tc>
                  <a:txBody>
                    <a:bodyPr/>
                    <a:lstStyle/>
                    <a:p>
                      <a:r>
                        <a:rPr lang="en-US" sz="1500"/>
                        <a:t>Special Function select OR </a:t>
                      </a:r>
                      <a:r>
                        <a:rPr lang="en-US" sz="1500" err="1"/>
                        <a:t>or</a:t>
                      </a:r>
                      <a:r>
                        <a:rPr lang="en-US" sz="1500"/>
                        <a:t> AND</a:t>
                      </a:r>
                    </a:p>
                  </a:txBody>
                  <a:tcPr/>
                </a:tc>
                <a:tc>
                  <a:txBody>
                    <a:bodyPr/>
                    <a:lstStyle/>
                    <a:p>
                      <a:r>
                        <a:rPr lang="en-US" sz="1500"/>
                        <a:t>Release op code</a:t>
                      </a:r>
                    </a:p>
                  </a:txBody>
                  <a:tcPr/>
                </a:tc>
                <a:extLst>
                  <a:ext uri="{0D108BD9-81ED-4DB2-BD59-A6C34878D82A}">
                    <a16:rowId xmlns:a16="http://schemas.microsoft.com/office/drawing/2014/main" val="4225376749"/>
                  </a:ext>
                </a:extLst>
              </a:tr>
              <a:tr h="762000">
                <a:tc>
                  <a:txBody>
                    <a:bodyPr/>
                    <a:lstStyle/>
                    <a:p>
                      <a:r>
                        <a:rPr lang="en-US" sz="1500" strike="noStrike" baseline="0"/>
                        <a:t>Move A, B Regs</a:t>
                      </a:r>
                    </a:p>
                    <a:p>
                      <a:r>
                        <a:rPr lang="en-US" sz="1500" strike="noStrike" baseline="0"/>
                        <a:t>(require replacement of 74LS251 with 74HC251)</a:t>
                      </a:r>
                    </a:p>
                  </a:txBody>
                  <a:tcPr/>
                </a:tc>
                <a:tc>
                  <a:txBody>
                    <a:bodyPr/>
                    <a:lstStyle/>
                    <a:p>
                      <a:r>
                        <a:rPr lang="en-US" sz="1500" strike="noStrike" baseline="0"/>
                        <a:t>4x 74LS161</a:t>
                      </a:r>
                    </a:p>
                    <a:p>
                      <a:r>
                        <a:rPr lang="en-US" sz="1500" strike="noStrike" baseline="0"/>
                        <a:t>1x 74LS00 NAND</a:t>
                      </a:r>
                    </a:p>
                  </a:txBody>
                  <a:tcPr/>
                </a:tc>
                <a:tc>
                  <a:txBody>
                    <a:bodyPr/>
                    <a:lstStyle/>
                    <a:p>
                      <a:r>
                        <a:rPr lang="en-US" sz="1500" strike="noStrike" baseline="0"/>
                        <a:t>Reduce interface to one data bus instead of A, B, C </a:t>
                      </a:r>
                    </a:p>
                    <a:p>
                      <a:r>
                        <a:rPr lang="en-US" sz="1500" strike="noStrike" baseline="0"/>
                        <a:t>(NAND for clock gate/invert)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strike="noStrike" baseline="0"/>
                        <a:t>No change</a:t>
                      </a:r>
                    </a:p>
                    <a:p>
                      <a:endParaRPr lang="en-US" sz="1500" strike="noStrike" baseline="0"/>
                    </a:p>
                  </a:txBody>
                  <a:tcPr/>
                </a:tc>
                <a:extLst>
                  <a:ext uri="{0D108BD9-81ED-4DB2-BD59-A6C34878D82A}">
                    <a16:rowId xmlns:a16="http://schemas.microsoft.com/office/drawing/2014/main" val="3294974406"/>
                  </a:ext>
                </a:extLst>
              </a:tr>
            </a:tbl>
          </a:graphicData>
        </a:graphic>
      </p:graphicFrame>
      <p:pic>
        <p:nvPicPr>
          <p:cNvPr id="6" name="Picture 5">
            <a:hlinkClick r:id="rId2" action="ppaction://hlinksldjump"/>
            <a:extLst>
              <a:ext uri="{FF2B5EF4-FFF2-40B4-BE49-F238E27FC236}">
                <a16:creationId xmlns:a16="http://schemas.microsoft.com/office/drawing/2014/main" id="{DFAB5B13-DA84-52A3-2000-ABD7D6D265B3}"/>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8" name="Slide Number Placeholder 4">
            <a:extLst>
              <a:ext uri="{FF2B5EF4-FFF2-40B4-BE49-F238E27FC236}">
                <a16:creationId xmlns:a16="http://schemas.microsoft.com/office/drawing/2014/main" id="{52608AC7-0C89-98F9-3539-F7027AF8ACF8}"/>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117</a:t>
            </a:fld>
            <a:endParaRPr lang="en-US" b="1">
              <a:solidFill>
                <a:schemeClr val="bg1"/>
              </a:solidFill>
            </a:endParaRPr>
          </a:p>
        </p:txBody>
      </p:sp>
    </p:spTree>
    <p:extLst>
      <p:ext uri="{BB962C8B-B14F-4D97-AF65-F5344CB8AC3E}">
        <p14:creationId xmlns:p14="http://schemas.microsoft.com/office/powerpoint/2010/main" val="2147341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2DB929C3-F448-C925-B6CD-21ECBEE34860}"/>
              </a:ext>
            </a:extLst>
          </p:cNvPr>
          <p:cNvSpPr>
            <a:spLocks noGrp="1"/>
          </p:cNvSpPr>
          <p:nvPr>
            <p:ph type="ctrTitle"/>
          </p:nvPr>
        </p:nvSpPr>
        <p:spPr>
          <a:xfrm>
            <a:off x="914400" y="182880"/>
            <a:ext cx="9144000" cy="457200"/>
          </a:xfrm>
        </p:spPr>
        <p:txBody>
          <a:bodyPr/>
          <a:lstStyle/>
          <a:p>
            <a:r>
              <a:rPr lang="en-US"/>
              <a:t>Micro-Instructions Control: ALU (00010)</a:t>
            </a:r>
          </a:p>
        </p:txBody>
      </p:sp>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extLst>
              <p:ext uri="{D42A27DB-BD31-4B8C-83A1-F6EECF244321}">
                <p14:modId xmlns:p14="http://schemas.microsoft.com/office/powerpoint/2010/main" val="1196029028"/>
              </p:ext>
            </p:extLst>
          </p:nvPr>
        </p:nvGraphicFramePr>
        <p:xfrm>
          <a:off x="4716584" y="742463"/>
          <a:ext cx="5638801" cy="3332480"/>
        </p:xfrm>
        <a:graphic>
          <a:graphicData uri="http://schemas.openxmlformats.org/drawingml/2006/table">
            <a:tbl>
              <a:tblPr firstRow="1" bandRow="1">
                <a:tableStyleId>{5C22544A-7EE6-4342-B048-85BDC9FD1C3A}</a:tableStyleId>
              </a:tblPr>
              <a:tblGrid>
                <a:gridCol w="855787">
                  <a:extLst>
                    <a:ext uri="{9D8B030D-6E8A-4147-A177-3AD203B41FA5}">
                      <a16:colId xmlns:a16="http://schemas.microsoft.com/office/drawing/2014/main" val="1217920130"/>
                    </a:ext>
                  </a:extLst>
                </a:gridCol>
                <a:gridCol w="2294891">
                  <a:extLst>
                    <a:ext uri="{9D8B030D-6E8A-4147-A177-3AD203B41FA5}">
                      <a16:colId xmlns:a16="http://schemas.microsoft.com/office/drawing/2014/main" val="1475888205"/>
                    </a:ext>
                  </a:extLst>
                </a:gridCol>
                <a:gridCol w="2488124">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370840">
                <a:tc>
                  <a:txBody>
                    <a:bodyPr/>
                    <a:lstStyle/>
                    <a:p>
                      <a:pPr algn="ctr"/>
                      <a:r>
                        <a:rPr lang="en-US" sz="1300"/>
                        <a:t>0</a:t>
                      </a:r>
                    </a:p>
                  </a:txBody>
                  <a:tcPr/>
                </a:tc>
                <a:tc>
                  <a:txBody>
                    <a:bodyPr/>
                    <a:lstStyle/>
                    <a:p>
                      <a:pPr algn="l"/>
                      <a:r>
                        <a:rPr lang="en-US" sz="1300"/>
                        <a:t>00010010 = 0x12</a:t>
                      </a:r>
                    </a:p>
                  </a:txBody>
                  <a:tcPr/>
                </a:tc>
                <a:tc>
                  <a:txBody>
                    <a:bodyPr/>
                    <a:lstStyle/>
                    <a:p>
                      <a:pPr algn="l"/>
                      <a:r>
                        <a:rPr lang="en-US" sz="1300"/>
                        <a:t>Load Rs1 to reg A</a:t>
                      </a:r>
                    </a:p>
                  </a:txBody>
                  <a:tcPr/>
                </a:tc>
                <a:extLst>
                  <a:ext uri="{0D108BD9-81ED-4DB2-BD59-A6C34878D82A}">
                    <a16:rowId xmlns:a16="http://schemas.microsoft.com/office/drawing/2014/main" val="2570910443"/>
                  </a:ext>
                </a:extLst>
              </a:tr>
              <a:tr h="370840">
                <a:tc>
                  <a:txBody>
                    <a:bodyPr/>
                    <a:lstStyle/>
                    <a:p>
                      <a:pPr algn="ctr"/>
                      <a:r>
                        <a:rPr lang="en-US" sz="13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00011001 = 0x19</a:t>
                      </a:r>
                    </a:p>
                  </a:txBody>
                  <a:tcPr/>
                </a:tc>
                <a:tc>
                  <a:txBody>
                    <a:bodyPr/>
                    <a:lstStyle/>
                    <a:p>
                      <a:pPr algn="l"/>
                      <a:r>
                        <a:rPr lang="en-US" sz="1300"/>
                        <a:t>Load Rs2 to reg B</a:t>
                      </a:r>
                    </a:p>
                  </a:txBody>
                  <a:tcPr/>
                </a:tc>
                <a:extLst>
                  <a:ext uri="{0D108BD9-81ED-4DB2-BD59-A6C34878D82A}">
                    <a16:rowId xmlns:a16="http://schemas.microsoft.com/office/drawing/2014/main" val="631651838"/>
                  </a:ext>
                </a:extLst>
              </a:tr>
              <a:tr h="370840">
                <a:tc>
                  <a:txBody>
                    <a:bodyPr/>
                    <a:lstStyle/>
                    <a:p>
                      <a:pPr algn="ctr"/>
                      <a:r>
                        <a:rPr lang="en-US" sz="13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00100100 = 0x24</a:t>
                      </a:r>
                    </a:p>
                  </a:txBody>
                  <a:tcPr/>
                </a:tc>
                <a:tc>
                  <a:txBody>
                    <a:bodyPr/>
                    <a:lstStyle/>
                    <a:p>
                      <a:pPr algn="l"/>
                      <a:r>
                        <a:rPr lang="en-US" sz="1300"/>
                        <a:t>Output and Read to Rd</a:t>
                      </a:r>
                    </a:p>
                  </a:txBody>
                  <a:tcPr/>
                </a:tc>
                <a:extLst>
                  <a:ext uri="{0D108BD9-81ED-4DB2-BD59-A6C34878D82A}">
                    <a16:rowId xmlns:a16="http://schemas.microsoft.com/office/drawing/2014/main" val="1592812184"/>
                  </a:ext>
                </a:extLst>
              </a:tr>
              <a:tr h="370840">
                <a:tc>
                  <a:txBody>
                    <a:bodyPr/>
                    <a:lstStyle/>
                    <a:p>
                      <a:pPr algn="ctr"/>
                      <a:r>
                        <a:rPr lang="en-US" sz="1300"/>
                        <a:t>3</a:t>
                      </a:r>
                    </a:p>
                  </a:txBody>
                  <a:tcPr/>
                </a:tc>
                <a:tc>
                  <a:txBody>
                    <a:bodyPr/>
                    <a:lstStyle/>
                    <a:p>
                      <a:pPr algn="l"/>
                      <a:r>
                        <a:rPr lang="en-US" sz="1300"/>
                        <a:t>10000000 = 0x80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Increment PC</a:t>
                      </a:r>
                    </a:p>
                  </a:txBody>
                  <a:tcPr/>
                </a:tc>
                <a:extLst>
                  <a:ext uri="{0D108BD9-81ED-4DB2-BD59-A6C34878D82A}">
                    <a16:rowId xmlns:a16="http://schemas.microsoft.com/office/drawing/2014/main" val="2225793510"/>
                  </a:ext>
                </a:extLst>
              </a:tr>
              <a:tr h="370840">
                <a:tc>
                  <a:txBody>
                    <a:bodyPr/>
                    <a:lstStyle/>
                    <a:p>
                      <a:pPr algn="ctr"/>
                      <a:r>
                        <a:rPr lang="en-US" sz="1300"/>
                        <a:t>4</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1046366285"/>
                  </a:ext>
                </a:extLst>
              </a:tr>
              <a:tr h="370840">
                <a:tc>
                  <a:txBody>
                    <a:bodyPr/>
                    <a:lstStyle/>
                    <a:p>
                      <a:pPr algn="ctr"/>
                      <a:r>
                        <a:rPr lang="en-US" sz="1300"/>
                        <a:t>5</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615342211"/>
                  </a:ext>
                </a:extLst>
              </a:tr>
              <a:tr h="370840">
                <a:tc>
                  <a:txBody>
                    <a:bodyPr/>
                    <a:lstStyle/>
                    <a:p>
                      <a:pPr algn="ctr"/>
                      <a:r>
                        <a:rPr lang="en-US" sz="1300"/>
                        <a:t>6</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055856817"/>
                  </a:ext>
                </a:extLst>
              </a:tr>
              <a:tr h="370840">
                <a:tc>
                  <a:txBody>
                    <a:bodyPr/>
                    <a:lstStyle/>
                    <a:p>
                      <a:pPr algn="ctr"/>
                      <a:r>
                        <a:rPr lang="en-US" sz="1300"/>
                        <a:t>7</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3502991894"/>
                  </a:ext>
                </a:extLst>
              </a:tr>
            </a:tbl>
          </a:graphicData>
        </a:graphic>
      </p:graphicFrame>
      <p:graphicFrame>
        <p:nvGraphicFramePr>
          <p:cNvPr id="6" name="Table 4">
            <a:extLst>
              <a:ext uri="{FF2B5EF4-FFF2-40B4-BE49-F238E27FC236}">
                <a16:creationId xmlns:a16="http://schemas.microsoft.com/office/drawing/2014/main" id="{0DFA9C31-EF12-4E73-95D6-4A8DD48CB5A3}"/>
              </a:ext>
            </a:extLst>
          </p:cNvPr>
          <p:cNvGraphicFramePr>
            <a:graphicFrameLocks noGrp="1"/>
          </p:cNvGraphicFramePr>
          <p:nvPr>
            <p:extLst>
              <p:ext uri="{D42A27DB-BD31-4B8C-83A1-F6EECF244321}">
                <p14:modId xmlns:p14="http://schemas.microsoft.com/office/powerpoint/2010/main" val="1168265522"/>
              </p:ext>
            </p:extLst>
          </p:nvPr>
        </p:nvGraphicFramePr>
        <p:xfrm>
          <a:off x="179752" y="5619913"/>
          <a:ext cx="9276861" cy="736600"/>
        </p:xfrm>
        <a:graphic>
          <a:graphicData uri="http://schemas.openxmlformats.org/drawingml/2006/table">
            <a:tbl>
              <a:tblPr firstRow="1" bandRow="1">
                <a:tableStyleId>{5C22544A-7EE6-4342-B048-85BDC9FD1C3A}</a:tableStyleId>
              </a:tblPr>
              <a:tblGrid>
                <a:gridCol w="1312985">
                  <a:extLst>
                    <a:ext uri="{9D8B030D-6E8A-4147-A177-3AD203B41FA5}">
                      <a16:colId xmlns:a16="http://schemas.microsoft.com/office/drawing/2014/main" val="1810408170"/>
                    </a:ext>
                  </a:extLst>
                </a:gridCol>
                <a:gridCol w="2089399">
                  <a:extLst>
                    <a:ext uri="{9D8B030D-6E8A-4147-A177-3AD203B41FA5}">
                      <a16:colId xmlns:a16="http://schemas.microsoft.com/office/drawing/2014/main" val="1217920130"/>
                    </a:ext>
                  </a:extLst>
                </a:gridCol>
                <a:gridCol w="824031">
                  <a:extLst>
                    <a:ext uri="{9D8B030D-6E8A-4147-A177-3AD203B41FA5}">
                      <a16:colId xmlns:a16="http://schemas.microsoft.com/office/drawing/2014/main" val="1475888205"/>
                    </a:ext>
                  </a:extLst>
                </a:gridCol>
                <a:gridCol w="1262612">
                  <a:extLst>
                    <a:ext uri="{9D8B030D-6E8A-4147-A177-3AD203B41FA5}">
                      <a16:colId xmlns:a16="http://schemas.microsoft.com/office/drawing/2014/main" val="1355185516"/>
                    </a:ext>
                  </a:extLst>
                </a:gridCol>
                <a:gridCol w="1584927">
                  <a:extLst>
                    <a:ext uri="{9D8B030D-6E8A-4147-A177-3AD203B41FA5}">
                      <a16:colId xmlns:a16="http://schemas.microsoft.com/office/drawing/2014/main" val="2050007723"/>
                    </a:ext>
                  </a:extLst>
                </a:gridCol>
                <a:gridCol w="1149517">
                  <a:extLst>
                    <a:ext uri="{9D8B030D-6E8A-4147-A177-3AD203B41FA5}">
                      <a16:colId xmlns:a16="http://schemas.microsoft.com/office/drawing/2014/main" val="3099546510"/>
                    </a:ext>
                  </a:extLst>
                </a:gridCol>
                <a:gridCol w="1053392">
                  <a:extLst>
                    <a:ext uri="{9D8B030D-6E8A-4147-A177-3AD203B41FA5}">
                      <a16:colId xmlns:a16="http://schemas.microsoft.com/office/drawing/2014/main" val="1677154990"/>
                    </a:ext>
                  </a:extLst>
                </a:gridCol>
              </a:tblGrid>
              <a:tr h="370840">
                <a:tc>
                  <a:txBody>
                    <a:bodyPr/>
                    <a:lstStyle/>
                    <a:p>
                      <a:r>
                        <a:rPr lang="en-US" sz="1300"/>
                        <a:t>Type</a:t>
                      </a:r>
                    </a:p>
                  </a:txBody>
                  <a:tcPr/>
                </a:tc>
                <a:tc>
                  <a:txBody>
                    <a:bodyPr/>
                    <a:lstStyle/>
                    <a:p>
                      <a:r>
                        <a:rPr lang="en-US" sz="1300"/>
                        <a:t>15 14 13 12 </a:t>
                      </a:r>
                    </a:p>
                  </a:txBody>
                  <a:tcPr/>
                </a:tc>
                <a:tc>
                  <a:txBody>
                    <a:bodyPr/>
                    <a:lstStyle/>
                    <a:p>
                      <a:r>
                        <a:rPr lang="en-US" sz="1300"/>
                        <a:t>11 10</a:t>
                      </a:r>
                    </a:p>
                  </a:txBody>
                  <a:tcPr/>
                </a:tc>
                <a:tc>
                  <a:txBody>
                    <a:bodyPr/>
                    <a:lstStyle/>
                    <a:p>
                      <a:r>
                        <a:rPr lang="en-US" sz="1300"/>
                        <a:t>9 8</a:t>
                      </a:r>
                    </a:p>
                  </a:txBody>
                  <a:tcPr/>
                </a:tc>
                <a:tc>
                  <a:txBody>
                    <a:bodyPr/>
                    <a:lstStyle/>
                    <a:p>
                      <a:r>
                        <a:rPr lang="en-US" sz="1300"/>
                        <a:t>7 6 5 4</a:t>
                      </a:r>
                    </a:p>
                  </a:txBody>
                  <a:tcPr/>
                </a:tc>
                <a:tc>
                  <a:txBody>
                    <a:bodyPr/>
                    <a:lstStyle/>
                    <a:p>
                      <a:r>
                        <a:rPr lang="en-US" sz="1300"/>
                        <a:t>3 2</a:t>
                      </a:r>
                    </a:p>
                  </a:txBody>
                  <a:tcPr/>
                </a:tc>
                <a:tc>
                  <a:txBody>
                    <a:bodyPr/>
                    <a:lstStyle/>
                    <a:p>
                      <a:r>
                        <a:rPr lang="en-US" sz="1300"/>
                        <a:t>1 0</a:t>
                      </a:r>
                    </a:p>
                  </a:txBody>
                  <a:tcPr/>
                </a:tc>
                <a:extLst>
                  <a:ext uri="{0D108BD9-81ED-4DB2-BD59-A6C34878D82A}">
                    <a16:rowId xmlns:a16="http://schemas.microsoft.com/office/drawing/2014/main" val="2319756336"/>
                  </a:ext>
                </a:extLst>
              </a:tr>
              <a:tr h="297180">
                <a:tc>
                  <a:txBody>
                    <a:bodyPr/>
                    <a:lstStyle/>
                    <a:p>
                      <a:pPr algn="ctr"/>
                      <a:r>
                        <a:rPr lang="en-US" sz="1300"/>
                        <a:t>ALU</a:t>
                      </a:r>
                    </a:p>
                  </a:txBody>
                  <a:tcPr/>
                </a:tc>
                <a:tc>
                  <a:txBody>
                    <a:bodyPr/>
                    <a:lstStyle/>
                    <a:p>
                      <a:pPr algn="ctr"/>
                      <a:r>
                        <a:rPr lang="en-US" sz="1300"/>
                        <a:t>OpCode</a:t>
                      </a:r>
                    </a:p>
                  </a:txBody>
                  <a:tcPr/>
                </a:tc>
                <a:tc>
                  <a:txBody>
                    <a:bodyPr/>
                    <a:lstStyle/>
                    <a:p>
                      <a:pPr algn="ctr"/>
                      <a:r>
                        <a:rPr lang="en-US" sz="1300"/>
                        <a:t>XX</a:t>
                      </a:r>
                    </a:p>
                  </a:txBody>
                  <a:tcPr/>
                </a:tc>
                <a:tc>
                  <a:txBody>
                    <a:bodyPr/>
                    <a:lstStyle/>
                    <a:p>
                      <a:pPr algn="ctr"/>
                      <a:r>
                        <a:rPr lang="en-US" sz="1300"/>
                        <a:t>Rd</a:t>
                      </a:r>
                    </a:p>
                  </a:txBody>
                  <a:tcPr/>
                </a:tc>
                <a:tc>
                  <a:txBody>
                    <a:bodyPr/>
                    <a:lstStyle/>
                    <a:p>
                      <a:pPr algn="ctr"/>
                      <a:r>
                        <a:rPr lang="en-US" sz="1300"/>
                        <a:t>Function</a:t>
                      </a:r>
                    </a:p>
                  </a:txBody>
                  <a:tcPr/>
                </a:tc>
                <a:tc>
                  <a:txBody>
                    <a:bodyPr/>
                    <a:lstStyle/>
                    <a:p>
                      <a:pPr algn="ctr"/>
                      <a:r>
                        <a:rPr lang="en-US" sz="1300"/>
                        <a:t>Rs1</a:t>
                      </a:r>
                    </a:p>
                  </a:txBody>
                  <a:tcPr/>
                </a:tc>
                <a:tc>
                  <a:txBody>
                    <a:bodyPr/>
                    <a:lstStyle/>
                    <a:p>
                      <a:pPr algn="ctr"/>
                      <a:r>
                        <a:rPr lang="en-US" sz="1300"/>
                        <a:t>Rs2</a:t>
                      </a:r>
                    </a:p>
                  </a:txBody>
                  <a:tcPr/>
                </a:tc>
                <a:extLst>
                  <a:ext uri="{0D108BD9-81ED-4DB2-BD59-A6C34878D82A}">
                    <a16:rowId xmlns:a16="http://schemas.microsoft.com/office/drawing/2014/main" val="2570910443"/>
                  </a:ext>
                </a:extLst>
              </a:tr>
            </a:tbl>
          </a:graphicData>
        </a:graphic>
      </p:graphicFrame>
      <p:graphicFrame>
        <p:nvGraphicFramePr>
          <p:cNvPr id="8" name="Table 4">
            <a:extLst>
              <a:ext uri="{FF2B5EF4-FFF2-40B4-BE49-F238E27FC236}">
                <a16:creationId xmlns:a16="http://schemas.microsoft.com/office/drawing/2014/main" id="{438A22CA-2606-4EC2-9E31-AA955DF6E237}"/>
              </a:ext>
            </a:extLst>
          </p:cNvPr>
          <p:cNvGraphicFramePr>
            <a:graphicFrameLocks noGrp="1"/>
          </p:cNvGraphicFramePr>
          <p:nvPr>
            <p:extLst>
              <p:ext uri="{D42A27DB-BD31-4B8C-83A1-F6EECF244321}">
                <p14:modId xmlns:p14="http://schemas.microsoft.com/office/powerpoint/2010/main" val="2971317167"/>
              </p:ext>
            </p:extLst>
          </p:nvPr>
        </p:nvGraphicFramePr>
        <p:xfrm>
          <a:off x="179753" y="5619913"/>
          <a:ext cx="9276863" cy="736600"/>
        </p:xfrm>
        <a:graphic>
          <a:graphicData uri="http://schemas.openxmlformats.org/drawingml/2006/table">
            <a:tbl>
              <a:tblPr firstRow="1" bandRow="1">
                <a:tableStyleId>{5C22544A-7EE6-4342-B048-85BDC9FD1C3A}</a:tableStyleId>
              </a:tblPr>
              <a:tblGrid>
                <a:gridCol w="1071627">
                  <a:extLst>
                    <a:ext uri="{9D8B030D-6E8A-4147-A177-3AD203B41FA5}">
                      <a16:colId xmlns:a16="http://schemas.microsoft.com/office/drawing/2014/main" val="1810408170"/>
                    </a:ext>
                  </a:extLst>
                </a:gridCol>
                <a:gridCol w="804069">
                  <a:extLst>
                    <a:ext uri="{9D8B030D-6E8A-4147-A177-3AD203B41FA5}">
                      <a16:colId xmlns:a16="http://schemas.microsoft.com/office/drawing/2014/main" val="950391025"/>
                    </a:ext>
                  </a:extLst>
                </a:gridCol>
                <a:gridCol w="1055077">
                  <a:extLst>
                    <a:ext uri="{9D8B030D-6E8A-4147-A177-3AD203B41FA5}">
                      <a16:colId xmlns:a16="http://schemas.microsoft.com/office/drawing/2014/main" val="1217920130"/>
                    </a:ext>
                  </a:extLst>
                </a:gridCol>
                <a:gridCol w="2595403">
                  <a:extLst>
                    <a:ext uri="{9D8B030D-6E8A-4147-A177-3AD203B41FA5}">
                      <a16:colId xmlns:a16="http://schemas.microsoft.com/office/drawing/2014/main" val="1475888205"/>
                    </a:ext>
                  </a:extLst>
                </a:gridCol>
                <a:gridCol w="765213">
                  <a:extLst>
                    <a:ext uri="{9D8B030D-6E8A-4147-A177-3AD203B41FA5}">
                      <a16:colId xmlns:a16="http://schemas.microsoft.com/office/drawing/2014/main" val="1355185516"/>
                    </a:ext>
                  </a:extLst>
                </a:gridCol>
                <a:gridCol w="820616">
                  <a:extLst>
                    <a:ext uri="{9D8B030D-6E8A-4147-A177-3AD203B41FA5}">
                      <a16:colId xmlns:a16="http://schemas.microsoft.com/office/drawing/2014/main" val="2050007723"/>
                    </a:ext>
                  </a:extLst>
                </a:gridCol>
                <a:gridCol w="2164859">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5 4</a:t>
                      </a:r>
                    </a:p>
                  </a:txBody>
                  <a:tcPr/>
                </a:tc>
                <a:tc>
                  <a:txBody>
                    <a:bodyPr/>
                    <a:lstStyle/>
                    <a:p>
                      <a:pPr algn="ctr"/>
                      <a:r>
                        <a:rPr lang="en-US" sz="1300"/>
                        <a:t>3 2 1 0</a:t>
                      </a:r>
                    </a:p>
                  </a:txBody>
                  <a:tcPr/>
                </a:tc>
                <a:extLst>
                  <a:ext uri="{0D108BD9-81ED-4DB2-BD59-A6C34878D82A}">
                    <a16:rowId xmlns:a16="http://schemas.microsoft.com/office/drawing/2014/main" val="2319756336"/>
                  </a:ext>
                </a:extLst>
              </a:tr>
              <a:tr h="297180">
                <a:tc>
                  <a:txBody>
                    <a:bodyPr/>
                    <a:lstStyle/>
                    <a:p>
                      <a:pPr algn="ctr"/>
                      <a:r>
                        <a:rPr lang="en-US" sz="1300"/>
                        <a:t>ALU</a:t>
                      </a:r>
                    </a:p>
                  </a:txBody>
                  <a:tcPr>
                    <a:solidFill>
                      <a:schemeClr val="accent6"/>
                    </a:solidFill>
                  </a:tcPr>
                </a:tc>
                <a:tc>
                  <a:txBody>
                    <a:bodyPr/>
                    <a:lstStyle/>
                    <a:p>
                      <a:pPr algn="ctr"/>
                      <a:r>
                        <a:rPr lang="en-US" sz="1300"/>
                        <a:t>Rs2</a:t>
                      </a:r>
                    </a:p>
                  </a:txBody>
                  <a:tcPr/>
                </a:tc>
                <a:tc>
                  <a:txBody>
                    <a:bodyPr/>
                    <a:lstStyle/>
                    <a:p>
                      <a:pPr algn="ctr"/>
                      <a:r>
                        <a:rPr lang="en-US" sz="1300"/>
                        <a:t>Rs1</a:t>
                      </a:r>
                    </a:p>
                  </a:txBody>
                  <a:tcPr/>
                </a:tc>
                <a:tc>
                  <a:txBody>
                    <a:bodyPr/>
                    <a:lstStyle/>
                    <a:p>
                      <a:pPr algn="ctr"/>
                      <a:r>
                        <a:rPr lang="en-US" sz="1300"/>
                        <a:t>S2 S1 S0 SF (Function </a:t>
                      </a:r>
                      <a:r>
                        <a:rPr lang="en-US" sz="1300" err="1"/>
                        <a:t>sel</a:t>
                      </a:r>
                      <a:r>
                        <a:rPr lang="en-US" sz="1300"/>
                        <a:t>)</a:t>
                      </a:r>
                    </a:p>
                  </a:txBody>
                  <a:tcPr/>
                </a:tc>
                <a:tc>
                  <a:txBody>
                    <a:bodyPr/>
                    <a:lstStyle/>
                    <a:p>
                      <a:pPr algn="ctr"/>
                      <a:r>
                        <a:rPr lang="en-US" sz="1300"/>
                        <a:t>Rd</a:t>
                      </a:r>
                    </a:p>
                  </a:txBody>
                  <a:tcPr/>
                </a:tc>
                <a:tc>
                  <a:txBody>
                    <a:bodyPr/>
                    <a:lstStyle/>
                    <a:p>
                      <a:pPr algn="ctr"/>
                      <a:r>
                        <a:rPr lang="en-US" sz="1300"/>
                        <a:t>XX</a:t>
                      </a:r>
                    </a:p>
                  </a:txBody>
                  <a:tcPr/>
                </a:tc>
                <a:tc>
                  <a:txBody>
                    <a:bodyPr/>
                    <a:lstStyle/>
                    <a:p>
                      <a:pPr algn="ctr"/>
                      <a:r>
                        <a:rPr lang="en-US" sz="1300"/>
                        <a:t>OpCode</a:t>
                      </a:r>
                    </a:p>
                  </a:txBody>
                  <a:tcPr/>
                </a:tc>
                <a:extLst>
                  <a:ext uri="{0D108BD9-81ED-4DB2-BD59-A6C34878D82A}">
                    <a16:rowId xmlns:a16="http://schemas.microsoft.com/office/drawing/2014/main" val="2570910443"/>
                  </a:ext>
                </a:extLst>
              </a:tr>
            </a:tbl>
          </a:graphicData>
        </a:graphic>
      </p:graphicFrame>
      <p:sp>
        <p:nvSpPr>
          <p:cNvPr id="9" name="TextBox 8">
            <a:extLst>
              <a:ext uri="{FF2B5EF4-FFF2-40B4-BE49-F238E27FC236}">
                <a16:creationId xmlns:a16="http://schemas.microsoft.com/office/drawing/2014/main" id="{79AD7FA0-2C5B-4CB6-9E76-7EEB152DF7E8}"/>
              </a:ext>
            </a:extLst>
          </p:cNvPr>
          <p:cNvSpPr txBox="1"/>
          <p:nvPr/>
        </p:nvSpPr>
        <p:spPr>
          <a:xfrm>
            <a:off x="11305310" y="1"/>
            <a:ext cx="931665" cy="1862048"/>
          </a:xfrm>
          <a:prstGeom prst="rect">
            <a:avLst/>
          </a:prstGeom>
          <a:noFill/>
        </p:spPr>
        <p:txBody>
          <a:bodyPr wrap="none" rtlCol="0">
            <a:spAutoFit/>
          </a:bodyPr>
          <a:lstStyle/>
          <a:p>
            <a:r>
              <a:rPr lang="en-US" sz="11500">
                <a:solidFill>
                  <a:schemeClr val="accent1">
                    <a:lumMod val="60000"/>
                    <a:lumOff val="40000"/>
                  </a:schemeClr>
                </a:solidFill>
              </a:rPr>
              <a:t>2</a:t>
            </a:r>
          </a:p>
        </p:txBody>
      </p:sp>
      <p:sp>
        <p:nvSpPr>
          <p:cNvPr id="10" name="TextBox 9">
            <a:extLst>
              <a:ext uri="{FF2B5EF4-FFF2-40B4-BE49-F238E27FC236}">
                <a16:creationId xmlns:a16="http://schemas.microsoft.com/office/drawing/2014/main" id="{F662345A-68AE-69A8-FFFE-5EB648CC51A4}"/>
              </a:ext>
            </a:extLst>
          </p:cNvPr>
          <p:cNvSpPr txBox="1"/>
          <p:nvPr/>
        </p:nvSpPr>
        <p:spPr>
          <a:xfrm>
            <a:off x="6615405" y="4734113"/>
            <a:ext cx="3536546" cy="523220"/>
          </a:xfrm>
          <a:prstGeom prst="rect">
            <a:avLst/>
          </a:prstGeom>
          <a:noFill/>
        </p:spPr>
        <p:txBody>
          <a:bodyPr wrap="none" rtlCol="0">
            <a:spAutoFit/>
          </a:bodyPr>
          <a:lstStyle/>
          <a:p>
            <a:r>
              <a:rPr lang="en-US" sz="2800">
                <a:solidFill>
                  <a:srgbClr val="00B050"/>
                </a:solidFill>
                <a:latin typeface="Consolas" panose="020B0609020204030204" pitchFamily="49" charset="0"/>
              </a:rPr>
              <a:t> ADD Rd, Rs1, Rs2</a:t>
            </a:r>
          </a:p>
        </p:txBody>
      </p:sp>
      <p:pic>
        <p:nvPicPr>
          <p:cNvPr id="11" name="Picture 10">
            <a:hlinkClick r:id="rId2" action="ppaction://hlinksldjump"/>
            <a:extLst>
              <a:ext uri="{FF2B5EF4-FFF2-40B4-BE49-F238E27FC236}">
                <a16:creationId xmlns:a16="http://schemas.microsoft.com/office/drawing/2014/main" id="{A82DEF28-189A-04B5-C8D6-F31EDB371425}"/>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4" name="Slide Number Placeholder 4">
            <a:extLst>
              <a:ext uri="{FF2B5EF4-FFF2-40B4-BE49-F238E27FC236}">
                <a16:creationId xmlns:a16="http://schemas.microsoft.com/office/drawing/2014/main" id="{EA9AB06C-1B1F-650D-E2EC-E027C3269283}"/>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118</a:t>
            </a:fld>
            <a:endParaRPr lang="en-US" b="1">
              <a:solidFill>
                <a:schemeClr val="bg1"/>
              </a:solidFill>
            </a:endParaRPr>
          </a:p>
        </p:txBody>
      </p:sp>
      <p:graphicFrame>
        <p:nvGraphicFramePr>
          <p:cNvPr id="16" name="Table 4">
            <a:extLst>
              <a:ext uri="{FF2B5EF4-FFF2-40B4-BE49-F238E27FC236}">
                <a16:creationId xmlns:a16="http://schemas.microsoft.com/office/drawing/2014/main" id="{B73DBC1E-B29D-A54C-93E8-D8F356FFA073}"/>
              </a:ext>
            </a:extLst>
          </p:cNvPr>
          <p:cNvGraphicFramePr>
            <a:graphicFrameLocks noGrp="1"/>
          </p:cNvGraphicFramePr>
          <p:nvPr>
            <p:extLst>
              <p:ext uri="{D42A27DB-BD31-4B8C-83A1-F6EECF244321}">
                <p14:modId xmlns:p14="http://schemas.microsoft.com/office/powerpoint/2010/main" val="940534924"/>
              </p:ext>
            </p:extLst>
          </p:nvPr>
        </p:nvGraphicFramePr>
        <p:xfrm>
          <a:off x="193268" y="742463"/>
          <a:ext cx="4329725" cy="436342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3793141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FF8AD04E-5027-EE89-6850-D890422911A1}"/>
              </a:ext>
            </a:extLst>
          </p:cNvPr>
          <p:cNvSpPr>
            <a:spLocks noGrp="1"/>
          </p:cNvSpPr>
          <p:nvPr>
            <p:ph type="ctrTitle"/>
          </p:nvPr>
        </p:nvSpPr>
        <p:spPr>
          <a:xfrm>
            <a:off x="914400" y="182880"/>
            <a:ext cx="9144000" cy="457200"/>
          </a:xfrm>
        </p:spPr>
        <p:txBody>
          <a:bodyPr/>
          <a:lstStyle/>
          <a:p>
            <a:r>
              <a:rPr lang="en-US"/>
              <a:t>Micro-Instructions Control: Load Immediate to Reg (00011)</a:t>
            </a:r>
          </a:p>
        </p:txBody>
      </p:sp>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extLst>
              <p:ext uri="{D42A27DB-BD31-4B8C-83A1-F6EECF244321}">
                <p14:modId xmlns:p14="http://schemas.microsoft.com/office/powerpoint/2010/main" val="4018091454"/>
              </p:ext>
            </p:extLst>
          </p:nvPr>
        </p:nvGraphicFramePr>
        <p:xfrm>
          <a:off x="4716584" y="742463"/>
          <a:ext cx="5638801" cy="3601720"/>
        </p:xfrm>
        <a:graphic>
          <a:graphicData uri="http://schemas.openxmlformats.org/drawingml/2006/table">
            <a:tbl>
              <a:tblPr firstRow="1" bandRow="1">
                <a:tableStyleId>{5C22544A-7EE6-4342-B048-85BDC9FD1C3A}</a:tableStyleId>
              </a:tblPr>
              <a:tblGrid>
                <a:gridCol w="855787">
                  <a:extLst>
                    <a:ext uri="{9D8B030D-6E8A-4147-A177-3AD203B41FA5}">
                      <a16:colId xmlns:a16="http://schemas.microsoft.com/office/drawing/2014/main" val="1217920130"/>
                    </a:ext>
                  </a:extLst>
                </a:gridCol>
                <a:gridCol w="2294891">
                  <a:extLst>
                    <a:ext uri="{9D8B030D-6E8A-4147-A177-3AD203B41FA5}">
                      <a16:colId xmlns:a16="http://schemas.microsoft.com/office/drawing/2014/main" val="1475888205"/>
                    </a:ext>
                  </a:extLst>
                </a:gridCol>
                <a:gridCol w="2488124">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370840">
                <a:tc>
                  <a:txBody>
                    <a:bodyPr/>
                    <a:lstStyle/>
                    <a:p>
                      <a:pPr algn="ctr"/>
                      <a:r>
                        <a:rPr lang="en-US" sz="1300"/>
                        <a:t>0</a:t>
                      </a:r>
                    </a:p>
                  </a:txBody>
                  <a:tcPr/>
                </a:tc>
                <a:tc>
                  <a:txBody>
                    <a:bodyPr/>
                    <a:lstStyle/>
                    <a:p>
                      <a:pPr algn="l"/>
                      <a:r>
                        <a:rPr lang="en-US" sz="1300"/>
                        <a:t>01100000 = 0x60</a:t>
                      </a:r>
                    </a:p>
                  </a:txBody>
                  <a:tcPr/>
                </a:tc>
                <a:tc>
                  <a:txBody>
                    <a:bodyPr/>
                    <a:lstStyle/>
                    <a:p>
                      <a:pPr algn="l"/>
                      <a:r>
                        <a:rPr lang="en-US" sz="1300"/>
                        <a:t>Write </a:t>
                      </a:r>
                      <a:r>
                        <a:rPr lang="en-US" sz="1300" err="1"/>
                        <a:t>imm</a:t>
                      </a:r>
                      <a:r>
                        <a:rPr lang="en-US" sz="1300"/>
                        <a:t> to bus and Rd read</a:t>
                      </a:r>
                    </a:p>
                  </a:txBody>
                  <a:tcPr/>
                </a:tc>
                <a:extLst>
                  <a:ext uri="{0D108BD9-81ED-4DB2-BD59-A6C34878D82A}">
                    <a16:rowId xmlns:a16="http://schemas.microsoft.com/office/drawing/2014/main" val="2570910443"/>
                  </a:ext>
                </a:extLst>
              </a:tr>
              <a:tr h="370840">
                <a:tc>
                  <a:txBody>
                    <a:bodyPr/>
                    <a:lstStyle/>
                    <a:p>
                      <a:pPr algn="ctr"/>
                      <a:r>
                        <a:rPr lang="en-US" sz="13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10000000 = 0x80</a:t>
                      </a:r>
                    </a:p>
                  </a:txBody>
                  <a:tcPr/>
                </a:tc>
                <a:tc>
                  <a:txBody>
                    <a:bodyPr/>
                    <a:lstStyle/>
                    <a:p>
                      <a:pPr algn="l"/>
                      <a:r>
                        <a:rPr lang="en-US" sz="1300"/>
                        <a:t>Increment PC</a:t>
                      </a:r>
                    </a:p>
                  </a:txBody>
                  <a:tcPr/>
                </a:tc>
                <a:extLst>
                  <a:ext uri="{0D108BD9-81ED-4DB2-BD59-A6C34878D82A}">
                    <a16:rowId xmlns:a16="http://schemas.microsoft.com/office/drawing/2014/main" val="631651838"/>
                  </a:ext>
                </a:extLst>
              </a:tr>
              <a:tr h="370840">
                <a:tc>
                  <a:txBody>
                    <a:bodyPr/>
                    <a:lstStyle/>
                    <a:p>
                      <a:pPr algn="ctr"/>
                      <a:r>
                        <a:rPr lang="en-US" sz="13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300"/>
                    </a:p>
                  </a:txBody>
                  <a:tcPr/>
                </a:tc>
                <a:tc>
                  <a:txBody>
                    <a:bodyPr/>
                    <a:lstStyle/>
                    <a:p>
                      <a:pPr algn="l"/>
                      <a:endParaRPr lang="en-US" sz="1300"/>
                    </a:p>
                  </a:txBody>
                  <a:tcPr/>
                </a:tc>
                <a:extLst>
                  <a:ext uri="{0D108BD9-81ED-4DB2-BD59-A6C34878D82A}">
                    <a16:rowId xmlns:a16="http://schemas.microsoft.com/office/drawing/2014/main" val="1592812184"/>
                  </a:ext>
                </a:extLst>
              </a:tr>
              <a:tr h="370840">
                <a:tc>
                  <a:txBody>
                    <a:bodyPr/>
                    <a:lstStyle/>
                    <a:p>
                      <a:pPr algn="ctr"/>
                      <a:r>
                        <a:rPr lang="en-US" sz="1300"/>
                        <a:t>3</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225793510"/>
                  </a:ext>
                </a:extLst>
              </a:tr>
              <a:tr h="370840">
                <a:tc>
                  <a:txBody>
                    <a:bodyPr/>
                    <a:lstStyle/>
                    <a:p>
                      <a:pPr algn="ctr"/>
                      <a:r>
                        <a:rPr lang="en-US" sz="1300"/>
                        <a:t>4</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1046366285"/>
                  </a:ext>
                </a:extLst>
              </a:tr>
              <a:tr h="370840">
                <a:tc>
                  <a:txBody>
                    <a:bodyPr/>
                    <a:lstStyle/>
                    <a:p>
                      <a:pPr algn="ctr"/>
                      <a:r>
                        <a:rPr lang="en-US" sz="1300"/>
                        <a:t>5</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615342211"/>
                  </a:ext>
                </a:extLst>
              </a:tr>
              <a:tr h="370840">
                <a:tc>
                  <a:txBody>
                    <a:bodyPr/>
                    <a:lstStyle/>
                    <a:p>
                      <a:pPr algn="ctr"/>
                      <a:r>
                        <a:rPr lang="en-US" sz="1300"/>
                        <a:t>6</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055856817"/>
                  </a:ext>
                </a:extLst>
              </a:tr>
              <a:tr h="370840">
                <a:tc>
                  <a:txBody>
                    <a:bodyPr/>
                    <a:lstStyle/>
                    <a:p>
                      <a:pPr algn="ctr"/>
                      <a:r>
                        <a:rPr lang="en-US" sz="1300"/>
                        <a:t>7</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3502991894"/>
                  </a:ext>
                </a:extLst>
              </a:tr>
            </a:tbl>
          </a:graphicData>
        </a:graphic>
      </p:graphicFrame>
      <p:graphicFrame>
        <p:nvGraphicFramePr>
          <p:cNvPr id="9" name="Table 4">
            <a:extLst>
              <a:ext uri="{FF2B5EF4-FFF2-40B4-BE49-F238E27FC236}">
                <a16:creationId xmlns:a16="http://schemas.microsoft.com/office/drawing/2014/main" id="{1BAF7365-2907-4BEC-B953-8F2B4C7D9F19}"/>
              </a:ext>
            </a:extLst>
          </p:cNvPr>
          <p:cNvGraphicFramePr>
            <a:graphicFrameLocks noGrp="1"/>
          </p:cNvGraphicFramePr>
          <p:nvPr>
            <p:extLst>
              <p:ext uri="{D42A27DB-BD31-4B8C-83A1-F6EECF244321}">
                <p14:modId xmlns:p14="http://schemas.microsoft.com/office/powerpoint/2010/main" val="3240364684"/>
              </p:ext>
            </p:extLst>
          </p:nvPr>
        </p:nvGraphicFramePr>
        <p:xfrm>
          <a:off x="179752" y="5619913"/>
          <a:ext cx="9276861" cy="741680"/>
        </p:xfrm>
        <a:graphic>
          <a:graphicData uri="http://schemas.openxmlformats.org/drawingml/2006/table">
            <a:tbl>
              <a:tblPr firstRow="1" bandRow="1">
                <a:tableStyleId>{5C22544A-7EE6-4342-B048-85BDC9FD1C3A}</a:tableStyleId>
              </a:tblPr>
              <a:tblGrid>
                <a:gridCol w="1312985">
                  <a:extLst>
                    <a:ext uri="{9D8B030D-6E8A-4147-A177-3AD203B41FA5}">
                      <a16:colId xmlns:a16="http://schemas.microsoft.com/office/drawing/2014/main" val="1810408170"/>
                    </a:ext>
                  </a:extLst>
                </a:gridCol>
                <a:gridCol w="2089399">
                  <a:extLst>
                    <a:ext uri="{9D8B030D-6E8A-4147-A177-3AD203B41FA5}">
                      <a16:colId xmlns:a16="http://schemas.microsoft.com/office/drawing/2014/main" val="1217920130"/>
                    </a:ext>
                  </a:extLst>
                </a:gridCol>
                <a:gridCol w="824031">
                  <a:extLst>
                    <a:ext uri="{9D8B030D-6E8A-4147-A177-3AD203B41FA5}">
                      <a16:colId xmlns:a16="http://schemas.microsoft.com/office/drawing/2014/main" val="1475888205"/>
                    </a:ext>
                  </a:extLst>
                </a:gridCol>
                <a:gridCol w="1262612">
                  <a:extLst>
                    <a:ext uri="{9D8B030D-6E8A-4147-A177-3AD203B41FA5}">
                      <a16:colId xmlns:a16="http://schemas.microsoft.com/office/drawing/2014/main" val="1355185516"/>
                    </a:ext>
                  </a:extLst>
                </a:gridCol>
                <a:gridCol w="1584927">
                  <a:extLst>
                    <a:ext uri="{9D8B030D-6E8A-4147-A177-3AD203B41FA5}">
                      <a16:colId xmlns:a16="http://schemas.microsoft.com/office/drawing/2014/main" val="2050007723"/>
                    </a:ext>
                  </a:extLst>
                </a:gridCol>
                <a:gridCol w="1149517">
                  <a:extLst>
                    <a:ext uri="{9D8B030D-6E8A-4147-A177-3AD203B41FA5}">
                      <a16:colId xmlns:a16="http://schemas.microsoft.com/office/drawing/2014/main" val="3099546510"/>
                    </a:ext>
                  </a:extLst>
                </a:gridCol>
                <a:gridCol w="1053392">
                  <a:extLst>
                    <a:ext uri="{9D8B030D-6E8A-4147-A177-3AD203B41FA5}">
                      <a16:colId xmlns:a16="http://schemas.microsoft.com/office/drawing/2014/main" val="1677154990"/>
                    </a:ext>
                  </a:extLst>
                </a:gridCol>
              </a:tblGrid>
              <a:tr h="370840">
                <a:tc>
                  <a:txBody>
                    <a:bodyPr/>
                    <a:lstStyle/>
                    <a:p>
                      <a:r>
                        <a:rPr lang="en-US" sz="1300"/>
                        <a:t>Type</a:t>
                      </a:r>
                    </a:p>
                  </a:txBody>
                  <a:tcPr/>
                </a:tc>
                <a:tc>
                  <a:txBody>
                    <a:bodyPr/>
                    <a:lstStyle/>
                    <a:p>
                      <a:r>
                        <a:rPr lang="en-US" sz="1300"/>
                        <a:t>15 14 13 12</a:t>
                      </a:r>
                    </a:p>
                  </a:txBody>
                  <a:tcPr/>
                </a:tc>
                <a:tc>
                  <a:txBody>
                    <a:bodyPr/>
                    <a:lstStyle/>
                    <a:p>
                      <a:r>
                        <a:rPr lang="en-US" sz="1300"/>
                        <a:t>11 10</a:t>
                      </a:r>
                    </a:p>
                  </a:txBody>
                  <a:tcPr/>
                </a:tc>
                <a:tc>
                  <a:txBody>
                    <a:bodyPr/>
                    <a:lstStyle/>
                    <a:p>
                      <a:r>
                        <a:rPr lang="en-US" sz="1300"/>
                        <a:t>9 8</a:t>
                      </a:r>
                    </a:p>
                  </a:txBody>
                  <a:tcPr/>
                </a:tc>
                <a:tc>
                  <a:txBody>
                    <a:bodyPr/>
                    <a:lstStyle/>
                    <a:p>
                      <a:r>
                        <a:rPr lang="en-US" sz="1300"/>
                        <a:t>7 6 5 4</a:t>
                      </a:r>
                    </a:p>
                  </a:txBody>
                  <a:tcPr/>
                </a:tc>
                <a:tc>
                  <a:txBody>
                    <a:bodyPr/>
                    <a:lstStyle/>
                    <a:p>
                      <a:r>
                        <a:rPr lang="en-US" sz="1300"/>
                        <a:t>3 2</a:t>
                      </a:r>
                    </a:p>
                  </a:txBody>
                  <a:tcPr/>
                </a:tc>
                <a:tc>
                  <a:txBody>
                    <a:bodyPr/>
                    <a:lstStyle/>
                    <a:p>
                      <a:r>
                        <a:rPr lang="en-US" sz="1300"/>
                        <a:t>1 0</a:t>
                      </a:r>
                    </a:p>
                  </a:txBody>
                  <a:tcPr/>
                </a:tc>
                <a:extLst>
                  <a:ext uri="{0D108BD9-81ED-4DB2-BD59-A6C34878D82A}">
                    <a16:rowId xmlns:a16="http://schemas.microsoft.com/office/drawing/2014/main" val="2319756336"/>
                  </a:ext>
                </a:extLst>
              </a:tr>
              <a:tr h="370840">
                <a:tc>
                  <a:txBody>
                    <a:bodyPr/>
                    <a:lstStyle/>
                    <a:p>
                      <a:pPr algn="ctr"/>
                      <a:r>
                        <a:rPr lang="en-US" sz="1300"/>
                        <a:t>Load </a:t>
                      </a:r>
                      <a:r>
                        <a:rPr lang="en-US" sz="1300" err="1"/>
                        <a:t>Imm</a:t>
                      </a:r>
                      <a:endParaRPr lang="en-US" sz="1300"/>
                    </a:p>
                  </a:txBody>
                  <a:tcPr/>
                </a:tc>
                <a:tc>
                  <a:txBody>
                    <a:bodyPr/>
                    <a:lstStyle/>
                    <a:p>
                      <a:pPr algn="ctr"/>
                      <a:r>
                        <a:rPr lang="en-US" sz="1300"/>
                        <a:t>OpCode</a:t>
                      </a:r>
                    </a:p>
                  </a:txBody>
                  <a:tcPr/>
                </a:tc>
                <a:tc>
                  <a:txBody>
                    <a:bodyPr/>
                    <a:lstStyle/>
                    <a:p>
                      <a:pPr algn="ctr"/>
                      <a:r>
                        <a:rPr lang="en-US" sz="1300"/>
                        <a:t>XX</a:t>
                      </a:r>
                    </a:p>
                  </a:txBody>
                  <a:tcPr/>
                </a:tc>
                <a:tc>
                  <a:txBody>
                    <a:bodyPr/>
                    <a:lstStyle/>
                    <a:p>
                      <a:pPr algn="ctr"/>
                      <a:r>
                        <a:rPr lang="en-US" sz="1300"/>
                        <a:t>Rd</a:t>
                      </a:r>
                    </a:p>
                  </a:txBody>
                  <a:tcPr/>
                </a:tc>
                <a:tc gridSpan="3">
                  <a:txBody>
                    <a:bodyPr/>
                    <a:lstStyle/>
                    <a:p>
                      <a:pPr algn="ctr"/>
                      <a:r>
                        <a:rPr lang="en-US" sz="1300"/>
                        <a:t>Immediate (8-bit)</a:t>
                      </a:r>
                    </a:p>
                  </a:txBody>
                  <a:tcPr/>
                </a:tc>
                <a:tc hMerge="1">
                  <a:txBody>
                    <a:bodyPr/>
                    <a:lstStyle/>
                    <a:p>
                      <a:pPr algn="ctr"/>
                      <a:r>
                        <a:rPr lang="en-US"/>
                        <a:t>Rs1</a:t>
                      </a:r>
                    </a:p>
                  </a:txBody>
                  <a:tcPr/>
                </a:tc>
                <a:tc hMerge="1">
                  <a:txBody>
                    <a:bodyPr/>
                    <a:lstStyle/>
                    <a:p>
                      <a:pPr algn="ctr"/>
                      <a:r>
                        <a:rPr lang="en-US"/>
                        <a:t>Rs2</a:t>
                      </a:r>
                    </a:p>
                  </a:txBody>
                  <a:tcPr/>
                </a:tc>
                <a:extLst>
                  <a:ext uri="{0D108BD9-81ED-4DB2-BD59-A6C34878D82A}">
                    <a16:rowId xmlns:a16="http://schemas.microsoft.com/office/drawing/2014/main" val="2570910443"/>
                  </a:ext>
                </a:extLst>
              </a:tr>
            </a:tbl>
          </a:graphicData>
        </a:graphic>
      </p:graphicFrame>
      <p:graphicFrame>
        <p:nvGraphicFramePr>
          <p:cNvPr id="10" name="Table 4">
            <a:extLst>
              <a:ext uri="{FF2B5EF4-FFF2-40B4-BE49-F238E27FC236}">
                <a16:creationId xmlns:a16="http://schemas.microsoft.com/office/drawing/2014/main" id="{71D6BFD9-4AC8-476E-8033-8B7BF5CFF156}"/>
              </a:ext>
            </a:extLst>
          </p:cNvPr>
          <p:cNvGraphicFramePr>
            <a:graphicFrameLocks noGrp="1"/>
          </p:cNvGraphicFramePr>
          <p:nvPr>
            <p:extLst>
              <p:ext uri="{D42A27DB-BD31-4B8C-83A1-F6EECF244321}">
                <p14:modId xmlns:p14="http://schemas.microsoft.com/office/powerpoint/2010/main" val="3179134235"/>
              </p:ext>
            </p:extLst>
          </p:nvPr>
        </p:nvGraphicFramePr>
        <p:xfrm>
          <a:off x="179753" y="5619913"/>
          <a:ext cx="9276863" cy="731520"/>
        </p:xfrm>
        <a:graphic>
          <a:graphicData uri="http://schemas.openxmlformats.org/drawingml/2006/table">
            <a:tbl>
              <a:tblPr firstRow="1" bandRow="1">
                <a:tableStyleId>{5C22544A-7EE6-4342-B048-85BDC9FD1C3A}</a:tableStyleId>
              </a:tblPr>
              <a:tblGrid>
                <a:gridCol w="1297355">
                  <a:extLst>
                    <a:ext uri="{9D8B030D-6E8A-4147-A177-3AD203B41FA5}">
                      <a16:colId xmlns:a16="http://schemas.microsoft.com/office/drawing/2014/main" val="1810408170"/>
                    </a:ext>
                  </a:extLst>
                </a:gridCol>
                <a:gridCol w="797171">
                  <a:extLst>
                    <a:ext uri="{9D8B030D-6E8A-4147-A177-3AD203B41FA5}">
                      <a16:colId xmlns:a16="http://schemas.microsoft.com/office/drawing/2014/main" val="950391025"/>
                    </a:ext>
                  </a:extLst>
                </a:gridCol>
                <a:gridCol w="836247">
                  <a:extLst>
                    <a:ext uri="{9D8B030D-6E8A-4147-A177-3AD203B41FA5}">
                      <a16:colId xmlns:a16="http://schemas.microsoft.com/office/drawing/2014/main" val="1217920130"/>
                    </a:ext>
                  </a:extLst>
                </a:gridCol>
                <a:gridCol w="2595403">
                  <a:extLst>
                    <a:ext uri="{9D8B030D-6E8A-4147-A177-3AD203B41FA5}">
                      <a16:colId xmlns:a16="http://schemas.microsoft.com/office/drawing/2014/main" val="1475888205"/>
                    </a:ext>
                  </a:extLst>
                </a:gridCol>
                <a:gridCol w="765213">
                  <a:extLst>
                    <a:ext uri="{9D8B030D-6E8A-4147-A177-3AD203B41FA5}">
                      <a16:colId xmlns:a16="http://schemas.microsoft.com/office/drawing/2014/main" val="1355185516"/>
                    </a:ext>
                  </a:extLst>
                </a:gridCol>
                <a:gridCol w="820616">
                  <a:extLst>
                    <a:ext uri="{9D8B030D-6E8A-4147-A177-3AD203B41FA5}">
                      <a16:colId xmlns:a16="http://schemas.microsoft.com/office/drawing/2014/main" val="2050007723"/>
                    </a:ext>
                  </a:extLst>
                </a:gridCol>
                <a:gridCol w="2164859">
                  <a:extLst>
                    <a:ext uri="{9D8B030D-6E8A-4147-A177-3AD203B41FA5}">
                      <a16:colId xmlns:a16="http://schemas.microsoft.com/office/drawing/2014/main" val="3099546510"/>
                    </a:ext>
                  </a:extLst>
                </a:gridCol>
              </a:tblGrid>
              <a:tr h="29718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Load </a:t>
                      </a:r>
                      <a:r>
                        <a:rPr lang="en-US" sz="1300" err="1"/>
                        <a:t>Imm</a:t>
                      </a:r>
                      <a:endParaRPr lang="en-US" sz="1300"/>
                    </a:p>
                  </a:txBody>
                  <a:tcPr>
                    <a:solidFill>
                      <a:schemeClr val="accent6"/>
                    </a:solidFill>
                  </a:tcPr>
                </a:tc>
                <a:tc gridSpan="3">
                  <a:txBody>
                    <a:bodyPr/>
                    <a:lstStyle/>
                    <a:p>
                      <a:pPr algn="ctr"/>
                      <a:r>
                        <a:rPr lang="en-US" sz="1300"/>
                        <a:t>Immediate (8-bit)</a:t>
                      </a:r>
                    </a:p>
                  </a:txBody>
                  <a:tcPr/>
                </a:tc>
                <a:tc hMerge="1">
                  <a:txBody>
                    <a:bodyPr/>
                    <a:lstStyle/>
                    <a:p>
                      <a:pPr algn="ctr"/>
                      <a:endParaRPr lang="en-US"/>
                    </a:p>
                  </a:txBody>
                  <a:tcPr/>
                </a:tc>
                <a:tc hMerge="1">
                  <a:txBody>
                    <a:bodyPr/>
                    <a:lstStyle/>
                    <a:p>
                      <a:pPr algn="ctr"/>
                      <a:r>
                        <a:rPr lang="en-US"/>
                        <a:t>Immediate (8-bit)</a:t>
                      </a:r>
                    </a:p>
                  </a:txBody>
                  <a:tcPr/>
                </a:tc>
                <a:tc>
                  <a:txBody>
                    <a:bodyPr/>
                    <a:lstStyle/>
                    <a:p>
                      <a:pPr algn="ctr"/>
                      <a:r>
                        <a:rPr lang="en-US" sz="1300"/>
                        <a:t>Rd</a:t>
                      </a:r>
                    </a:p>
                  </a:txBody>
                  <a:tcPr/>
                </a:tc>
                <a:tc>
                  <a:txBody>
                    <a:bodyPr/>
                    <a:lstStyle/>
                    <a:p>
                      <a:pPr algn="ctr"/>
                      <a:r>
                        <a:rPr lang="en-US" sz="1300"/>
                        <a:t>X</a:t>
                      </a:r>
                    </a:p>
                  </a:txBody>
                  <a:tcPr/>
                </a:tc>
                <a:tc>
                  <a:txBody>
                    <a:bodyPr/>
                    <a:lstStyle/>
                    <a:p>
                      <a:pPr algn="ctr"/>
                      <a:r>
                        <a:rPr lang="en-US" sz="1300"/>
                        <a:t>OpCode</a:t>
                      </a:r>
                    </a:p>
                  </a:txBody>
                  <a:tcPr/>
                </a:tc>
                <a:extLst>
                  <a:ext uri="{0D108BD9-81ED-4DB2-BD59-A6C34878D82A}">
                    <a16:rowId xmlns:a16="http://schemas.microsoft.com/office/drawing/2014/main" val="2570910443"/>
                  </a:ext>
                </a:extLst>
              </a:tr>
            </a:tbl>
          </a:graphicData>
        </a:graphic>
      </p:graphicFrame>
      <p:sp>
        <p:nvSpPr>
          <p:cNvPr id="11" name="TextBox 10">
            <a:extLst>
              <a:ext uri="{FF2B5EF4-FFF2-40B4-BE49-F238E27FC236}">
                <a16:creationId xmlns:a16="http://schemas.microsoft.com/office/drawing/2014/main" id="{03D9FC21-D928-4956-BED9-F78EDAAD22AC}"/>
              </a:ext>
            </a:extLst>
          </p:cNvPr>
          <p:cNvSpPr txBox="1"/>
          <p:nvPr/>
        </p:nvSpPr>
        <p:spPr>
          <a:xfrm>
            <a:off x="11305310" y="1"/>
            <a:ext cx="931665" cy="1862048"/>
          </a:xfrm>
          <a:prstGeom prst="rect">
            <a:avLst/>
          </a:prstGeom>
          <a:noFill/>
        </p:spPr>
        <p:txBody>
          <a:bodyPr wrap="none" rtlCol="0">
            <a:spAutoFit/>
          </a:bodyPr>
          <a:lstStyle/>
          <a:p>
            <a:r>
              <a:rPr lang="en-US" sz="11500">
                <a:solidFill>
                  <a:schemeClr val="accent1">
                    <a:lumMod val="60000"/>
                    <a:lumOff val="40000"/>
                  </a:schemeClr>
                </a:solidFill>
              </a:rPr>
              <a:t>3</a:t>
            </a:r>
          </a:p>
        </p:txBody>
      </p:sp>
      <p:sp>
        <p:nvSpPr>
          <p:cNvPr id="12" name="TextBox 11">
            <a:extLst>
              <a:ext uri="{FF2B5EF4-FFF2-40B4-BE49-F238E27FC236}">
                <a16:creationId xmlns:a16="http://schemas.microsoft.com/office/drawing/2014/main" id="{3A6FA834-590C-81A3-1CD6-7C9383585B3D}"/>
              </a:ext>
            </a:extLst>
          </p:cNvPr>
          <p:cNvSpPr txBox="1"/>
          <p:nvPr/>
        </p:nvSpPr>
        <p:spPr>
          <a:xfrm>
            <a:off x="6615405" y="4734113"/>
            <a:ext cx="2945037" cy="523220"/>
          </a:xfrm>
          <a:prstGeom prst="rect">
            <a:avLst/>
          </a:prstGeom>
          <a:noFill/>
        </p:spPr>
        <p:txBody>
          <a:bodyPr wrap="none" rtlCol="0">
            <a:spAutoFit/>
          </a:bodyPr>
          <a:lstStyle/>
          <a:p>
            <a:r>
              <a:rPr lang="en-US" sz="2800">
                <a:solidFill>
                  <a:srgbClr val="00B050"/>
                </a:solidFill>
                <a:latin typeface="Consolas" panose="020B0609020204030204" pitchFamily="49" charset="0"/>
              </a:rPr>
              <a:t> LDR Rd, #0x00</a:t>
            </a:r>
          </a:p>
        </p:txBody>
      </p:sp>
      <p:pic>
        <p:nvPicPr>
          <p:cNvPr id="2" name="Picture 1">
            <a:hlinkClick r:id="rId2" action="ppaction://hlinksldjump"/>
            <a:extLst>
              <a:ext uri="{FF2B5EF4-FFF2-40B4-BE49-F238E27FC236}">
                <a16:creationId xmlns:a16="http://schemas.microsoft.com/office/drawing/2014/main" id="{A64C9A7E-2992-5833-B906-B4238394BCB9}"/>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5" name="Slide Number Placeholder 4">
            <a:extLst>
              <a:ext uri="{FF2B5EF4-FFF2-40B4-BE49-F238E27FC236}">
                <a16:creationId xmlns:a16="http://schemas.microsoft.com/office/drawing/2014/main" id="{2726BF04-A43E-C416-E25F-2154FFEE452F}"/>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119</a:t>
            </a:fld>
            <a:endParaRPr lang="en-US" b="1">
              <a:solidFill>
                <a:schemeClr val="bg1"/>
              </a:solidFill>
            </a:endParaRPr>
          </a:p>
        </p:txBody>
      </p:sp>
      <p:graphicFrame>
        <p:nvGraphicFramePr>
          <p:cNvPr id="17" name="Table 4">
            <a:extLst>
              <a:ext uri="{FF2B5EF4-FFF2-40B4-BE49-F238E27FC236}">
                <a16:creationId xmlns:a16="http://schemas.microsoft.com/office/drawing/2014/main" id="{64349418-D6AB-BC6D-B513-99F6B9C75C62}"/>
              </a:ext>
            </a:extLst>
          </p:cNvPr>
          <p:cNvGraphicFramePr>
            <a:graphicFrameLocks noGrp="1"/>
          </p:cNvGraphicFramePr>
          <p:nvPr>
            <p:extLst>
              <p:ext uri="{D42A27DB-BD31-4B8C-83A1-F6EECF244321}">
                <p14:modId xmlns:p14="http://schemas.microsoft.com/office/powerpoint/2010/main" val="940534924"/>
              </p:ext>
            </p:extLst>
          </p:nvPr>
        </p:nvGraphicFramePr>
        <p:xfrm>
          <a:off x="193268" y="742463"/>
          <a:ext cx="4329725" cy="436342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813310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B7DDD94-94F8-32EA-347A-88A3F8A72432}"/>
              </a:ext>
            </a:extLst>
          </p:cNvPr>
          <p:cNvSpPr>
            <a:spLocks noGrp="1"/>
          </p:cNvSpPr>
          <p:nvPr>
            <p:ph type="ctrTitle"/>
          </p:nvPr>
        </p:nvSpPr>
        <p:spPr>
          <a:xfrm>
            <a:off x="914400" y="182880"/>
            <a:ext cx="9144000" cy="457200"/>
          </a:xfrm>
        </p:spPr>
        <p:txBody>
          <a:bodyPr/>
          <a:lstStyle/>
          <a:p>
            <a:r>
              <a:rPr lang="en-US"/>
              <a:t>Micro-Instructions Control: MOV (00100)</a:t>
            </a:r>
          </a:p>
        </p:txBody>
      </p:sp>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extLst>
              <p:ext uri="{D42A27DB-BD31-4B8C-83A1-F6EECF244321}">
                <p14:modId xmlns:p14="http://schemas.microsoft.com/office/powerpoint/2010/main" val="2959867489"/>
              </p:ext>
            </p:extLst>
          </p:nvPr>
        </p:nvGraphicFramePr>
        <p:xfrm>
          <a:off x="4716584" y="742463"/>
          <a:ext cx="5638801" cy="3601720"/>
        </p:xfrm>
        <a:graphic>
          <a:graphicData uri="http://schemas.openxmlformats.org/drawingml/2006/table">
            <a:tbl>
              <a:tblPr firstRow="1" bandRow="1">
                <a:tableStyleId>{5C22544A-7EE6-4342-B048-85BDC9FD1C3A}</a:tableStyleId>
              </a:tblPr>
              <a:tblGrid>
                <a:gridCol w="855787">
                  <a:extLst>
                    <a:ext uri="{9D8B030D-6E8A-4147-A177-3AD203B41FA5}">
                      <a16:colId xmlns:a16="http://schemas.microsoft.com/office/drawing/2014/main" val="1217920130"/>
                    </a:ext>
                  </a:extLst>
                </a:gridCol>
                <a:gridCol w="2294891">
                  <a:extLst>
                    <a:ext uri="{9D8B030D-6E8A-4147-A177-3AD203B41FA5}">
                      <a16:colId xmlns:a16="http://schemas.microsoft.com/office/drawing/2014/main" val="1475888205"/>
                    </a:ext>
                  </a:extLst>
                </a:gridCol>
                <a:gridCol w="2488124">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370840">
                <a:tc>
                  <a:txBody>
                    <a:bodyPr/>
                    <a:lstStyle/>
                    <a:p>
                      <a:pPr algn="ctr"/>
                      <a:r>
                        <a:rPr lang="en-US" sz="1300"/>
                        <a:t>0</a:t>
                      </a:r>
                    </a:p>
                  </a:txBody>
                  <a:tcPr/>
                </a:tc>
                <a:tc>
                  <a:txBody>
                    <a:bodyPr/>
                    <a:lstStyle/>
                    <a:p>
                      <a:pPr algn="l"/>
                      <a:r>
                        <a:rPr lang="en-US" sz="1300"/>
                        <a:t>00110000 = 0x30</a:t>
                      </a:r>
                    </a:p>
                  </a:txBody>
                  <a:tcPr/>
                </a:tc>
                <a:tc>
                  <a:txBody>
                    <a:bodyPr/>
                    <a:lstStyle/>
                    <a:p>
                      <a:pPr algn="l"/>
                      <a:r>
                        <a:rPr lang="en-US" sz="1300"/>
                        <a:t>Write Rs1 to bus and Rd reads</a:t>
                      </a:r>
                    </a:p>
                  </a:txBody>
                  <a:tcPr/>
                </a:tc>
                <a:extLst>
                  <a:ext uri="{0D108BD9-81ED-4DB2-BD59-A6C34878D82A}">
                    <a16:rowId xmlns:a16="http://schemas.microsoft.com/office/drawing/2014/main" val="2570910443"/>
                  </a:ext>
                </a:extLst>
              </a:tr>
              <a:tr h="370840">
                <a:tc>
                  <a:txBody>
                    <a:bodyPr/>
                    <a:lstStyle/>
                    <a:p>
                      <a:pPr algn="ctr"/>
                      <a:r>
                        <a:rPr lang="en-US" sz="13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10000000 = 0x80</a:t>
                      </a:r>
                    </a:p>
                  </a:txBody>
                  <a:tcPr/>
                </a:tc>
                <a:tc>
                  <a:txBody>
                    <a:bodyPr/>
                    <a:lstStyle/>
                    <a:p>
                      <a:pPr algn="l"/>
                      <a:r>
                        <a:rPr lang="en-US" sz="1300"/>
                        <a:t>Increment PC</a:t>
                      </a:r>
                    </a:p>
                  </a:txBody>
                  <a:tcPr/>
                </a:tc>
                <a:extLst>
                  <a:ext uri="{0D108BD9-81ED-4DB2-BD59-A6C34878D82A}">
                    <a16:rowId xmlns:a16="http://schemas.microsoft.com/office/drawing/2014/main" val="631651838"/>
                  </a:ext>
                </a:extLst>
              </a:tr>
              <a:tr h="370840">
                <a:tc>
                  <a:txBody>
                    <a:bodyPr/>
                    <a:lstStyle/>
                    <a:p>
                      <a:pPr algn="ctr"/>
                      <a:r>
                        <a:rPr lang="en-US" sz="13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300"/>
                    </a:p>
                  </a:txBody>
                  <a:tcPr/>
                </a:tc>
                <a:tc>
                  <a:txBody>
                    <a:bodyPr/>
                    <a:lstStyle/>
                    <a:p>
                      <a:pPr algn="l"/>
                      <a:endParaRPr lang="en-US" sz="1300"/>
                    </a:p>
                  </a:txBody>
                  <a:tcPr/>
                </a:tc>
                <a:extLst>
                  <a:ext uri="{0D108BD9-81ED-4DB2-BD59-A6C34878D82A}">
                    <a16:rowId xmlns:a16="http://schemas.microsoft.com/office/drawing/2014/main" val="1592812184"/>
                  </a:ext>
                </a:extLst>
              </a:tr>
              <a:tr h="370840">
                <a:tc>
                  <a:txBody>
                    <a:bodyPr/>
                    <a:lstStyle/>
                    <a:p>
                      <a:pPr algn="ctr"/>
                      <a:r>
                        <a:rPr lang="en-US" sz="1300"/>
                        <a:t>3</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225793510"/>
                  </a:ext>
                </a:extLst>
              </a:tr>
              <a:tr h="370840">
                <a:tc>
                  <a:txBody>
                    <a:bodyPr/>
                    <a:lstStyle/>
                    <a:p>
                      <a:pPr algn="ctr"/>
                      <a:r>
                        <a:rPr lang="en-US" sz="1300"/>
                        <a:t>4</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1046366285"/>
                  </a:ext>
                </a:extLst>
              </a:tr>
              <a:tr h="370840">
                <a:tc>
                  <a:txBody>
                    <a:bodyPr/>
                    <a:lstStyle/>
                    <a:p>
                      <a:pPr algn="ctr"/>
                      <a:r>
                        <a:rPr lang="en-US" sz="1300"/>
                        <a:t>5</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615342211"/>
                  </a:ext>
                </a:extLst>
              </a:tr>
              <a:tr h="370840">
                <a:tc>
                  <a:txBody>
                    <a:bodyPr/>
                    <a:lstStyle/>
                    <a:p>
                      <a:pPr algn="ctr"/>
                      <a:r>
                        <a:rPr lang="en-US" sz="1300"/>
                        <a:t>6</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055856817"/>
                  </a:ext>
                </a:extLst>
              </a:tr>
              <a:tr h="370840">
                <a:tc>
                  <a:txBody>
                    <a:bodyPr/>
                    <a:lstStyle/>
                    <a:p>
                      <a:pPr algn="ctr"/>
                      <a:r>
                        <a:rPr lang="en-US" sz="1300"/>
                        <a:t>7</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3502991894"/>
                  </a:ext>
                </a:extLst>
              </a:tr>
            </a:tbl>
          </a:graphicData>
        </a:graphic>
      </p:graphicFrame>
      <p:graphicFrame>
        <p:nvGraphicFramePr>
          <p:cNvPr id="8" name="Table 4">
            <a:extLst>
              <a:ext uri="{FF2B5EF4-FFF2-40B4-BE49-F238E27FC236}">
                <a16:creationId xmlns:a16="http://schemas.microsoft.com/office/drawing/2014/main" id="{B2AD6081-617D-4B70-9D8B-1ADCBBB7A323}"/>
              </a:ext>
            </a:extLst>
          </p:cNvPr>
          <p:cNvGraphicFramePr>
            <a:graphicFrameLocks noGrp="1"/>
          </p:cNvGraphicFramePr>
          <p:nvPr>
            <p:extLst>
              <p:ext uri="{D42A27DB-BD31-4B8C-83A1-F6EECF244321}">
                <p14:modId xmlns:p14="http://schemas.microsoft.com/office/powerpoint/2010/main" val="3364141991"/>
              </p:ext>
            </p:extLst>
          </p:nvPr>
        </p:nvGraphicFramePr>
        <p:xfrm>
          <a:off x="179752" y="5619913"/>
          <a:ext cx="9276861" cy="741680"/>
        </p:xfrm>
        <a:graphic>
          <a:graphicData uri="http://schemas.openxmlformats.org/drawingml/2006/table">
            <a:tbl>
              <a:tblPr firstRow="1" bandRow="1">
                <a:tableStyleId>{5C22544A-7EE6-4342-B048-85BDC9FD1C3A}</a:tableStyleId>
              </a:tblPr>
              <a:tblGrid>
                <a:gridCol w="1312985">
                  <a:extLst>
                    <a:ext uri="{9D8B030D-6E8A-4147-A177-3AD203B41FA5}">
                      <a16:colId xmlns:a16="http://schemas.microsoft.com/office/drawing/2014/main" val="1810408170"/>
                    </a:ext>
                  </a:extLst>
                </a:gridCol>
                <a:gridCol w="2089399">
                  <a:extLst>
                    <a:ext uri="{9D8B030D-6E8A-4147-A177-3AD203B41FA5}">
                      <a16:colId xmlns:a16="http://schemas.microsoft.com/office/drawing/2014/main" val="1217920130"/>
                    </a:ext>
                  </a:extLst>
                </a:gridCol>
                <a:gridCol w="824031">
                  <a:extLst>
                    <a:ext uri="{9D8B030D-6E8A-4147-A177-3AD203B41FA5}">
                      <a16:colId xmlns:a16="http://schemas.microsoft.com/office/drawing/2014/main" val="1475888205"/>
                    </a:ext>
                  </a:extLst>
                </a:gridCol>
                <a:gridCol w="1262612">
                  <a:extLst>
                    <a:ext uri="{9D8B030D-6E8A-4147-A177-3AD203B41FA5}">
                      <a16:colId xmlns:a16="http://schemas.microsoft.com/office/drawing/2014/main" val="1355185516"/>
                    </a:ext>
                  </a:extLst>
                </a:gridCol>
                <a:gridCol w="1584927">
                  <a:extLst>
                    <a:ext uri="{9D8B030D-6E8A-4147-A177-3AD203B41FA5}">
                      <a16:colId xmlns:a16="http://schemas.microsoft.com/office/drawing/2014/main" val="2050007723"/>
                    </a:ext>
                  </a:extLst>
                </a:gridCol>
                <a:gridCol w="1149517">
                  <a:extLst>
                    <a:ext uri="{9D8B030D-6E8A-4147-A177-3AD203B41FA5}">
                      <a16:colId xmlns:a16="http://schemas.microsoft.com/office/drawing/2014/main" val="3099546510"/>
                    </a:ext>
                  </a:extLst>
                </a:gridCol>
                <a:gridCol w="1053392">
                  <a:extLst>
                    <a:ext uri="{9D8B030D-6E8A-4147-A177-3AD203B41FA5}">
                      <a16:colId xmlns:a16="http://schemas.microsoft.com/office/drawing/2014/main" val="1677154990"/>
                    </a:ext>
                  </a:extLst>
                </a:gridCol>
              </a:tblGrid>
              <a:tr h="370840">
                <a:tc>
                  <a:txBody>
                    <a:bodyPr/>
                    <a:lstStyle/>
                    <a:p>
                      <a:r>
                        <a:rPr lang="en-US" sz="1300"/>
                        <a:t>Type</a:t>
                      </a:r>
                    </a:p>
                  </a:txBody>
                  <a:tcPr/>
                </a:tc>
                <a:tc>
                  <a:txBody>
                    <a:bodyPr/>
                    <a:lstStyle/>
                    <a:p>
                      <a:r>
                        <a:rPr lang="en-US" sz="1300"/>
                        <a:t>15 14 13 12</a:t>
                      </a:r>
                    </a:p>
                  </a:txBody>
                  <a:tcPr/>
                </a:tc>
                <a:tc>
                  <a:txBody>
                    <a:bodyPr/>
                    <a:lstStyle/>
                    <a:p>
                      <a:r>
                        <a:rPr lang="en-US" sz="1300"/>
                        <a:t>11 10</a:t>
                      </a:r>
                    </a:p>
                  </a:txBody>
                  <a:tcPr/>
                </a:tc>
                <a:tc>
                  <a:txBody>
                    <a:bodyPr/>
                    <a:lstStyle/>
                    <a:p>
                      <a:r>
                        <a:rPr lang="en-US" sz="1300"/>
                        <a:t>9 8</a:t>
                      </a:r>
                    </a:p>
                  </a:txBody>
                  <a:tcPr/>
                </a:tc>
                <a:tc>
                  <a:txBody>
                    <a:bodyPr/>
                    <a:lstStyle/>
                    <a:p>
                      <a:r>
                        <a:rPr lang="en-US" sz="1300"/>
                        <a:t>7 6 5 4</a:t>
                      </a:r>
                    </a:p>
                  </a:txBody>
                  <a:tcPr/>
                </a:tc>
                <a:tc>
                  <a:txBody>
                    <a:bodyPr/>
                    <a:lstStyle/>
                    <a:p>
                      <a:r>
                        <a:rPr lang="en-US" sz="1300"/>
                        <a:t>3 2</a:t>
                      </a:r>
                    </a:p>
                  </a:txBody>
                  <a:tcPr/>
                </a:tc>
                <a:tc>
                  <a:txBody>
                    <a:bodyPr/>
                    <a:lstStyle/>
                    <a:p>
                      <a:r>
                        <a:rPr lang="en-US" sz="1300"/>
                        <a:t>1 0</a:t>
                      </a:r>
                    </a:p>
                  </a:txBody>
                  <a:tcPr/>
                </a:tc>
                <a:extLst>
                  <a:ext uri="{0D108BD9-81ED-4DB2-BD59-A6C34878D82A}">
                    <a16:rowId xmlns:a16="http://schemas.microsoft.com/office/drawing/2014/main" val="2319756336"/>
                  </a:ext>
                </a:extLst>
              </a:tr>
              <a:tr h="370840">
                <a:tc>
                  <a:txBody>
                    <a:bodyPr/>
                    <a:lstStyle/>
                    <a:p>
                      <a:pPr algn="ctr"/>
                      <a:r>
                        <a:rPr lang="en-US" sz="1300"/>
                        <a:t>Load Reg</a:t>
                      </a:r>
                    </a:p>
                  </a:txBody>
                  <a:tcPr/>
                </a:tc>
                <a:tc>
                  <a:txBody>
                    <a:bodyPr/>
                    <a:lstStyle/>
                    <a:p>
                      <a:pPr algn="ctr"/>
                      <a:r>
                        <a:rPr lang="en-US" sz="1300"/>
                        <a:t>OpCode</a:t>
                      </a:r>
                    </a:p>
                  </a:txBody>
                  <a:tcPr/>
                </a:tc>
                <a:tc>
                  <a:txBody>
                    <a:bodyPr/>
                    <a:lstStyle/>
                    <a:p>
                      <a:pPr algn="ctr"/>
                      <a:r>
                        <a:rPr lang="en-US" sz="1300"/>
                        <a:t>XX</a:t>
                      </a:r>
                    </a:p>
                  </a:txBody>
                  <a:tcPr/>
                </a:tc>
                <a:tc>
                  <a:txBody>
                    <a:bodyPr/>
                    <a:lstStyle/>
                    <a:p>
                      <a:pPr algn="ctr"/>
                      <a:r>
                        <a:rPr lang="en-US" sz="1300"/>
                        <a:t>Rd</a:t>
                      </a:r>
                    </a:p>
                  </a:txBody>
                  <a:tcPr/>
                </a:tc>
                <a:tc>
                  <a:txBody>
                    <a:bodyPr/>
                    <a:lstStyle/>
                    <a:p>
                      <a:pPr algn="ctr"/>
                      <a:r>
                        <a:rPr lang="en-US" sz="1300"/>
                        <a:t>XXXX</a:t>
                      </a:r>
                    </a:p>
                  </a:txBody>
                  <a:tcPr/>
                </a:tc>
                <a:tc>
                  <a:txBody>
                    <a:bodyPr/>
                    <a:lstStyle/>
                    <a:p>
                      <a:pPr algn="ctr"/>
                      <a:r>
                        <a:rPr lang="en-US" sz="1300"/>
                        <a:t>Rs1</a:t>
                      </a:r>
                    </a:p>
                  </a:txBody>
                  <a:tcPr/>
                </a:tc>
                <a:tc>
                  <a:txBody>
                    <a:bodyPr/>
                    <a:lstStyle/>
                    <a:p>
                      <a:pPr algn="ctr"/>
                      <a:r>
                        <a:rPr lang="en-US" sz="1300"/>
                        <a:t>XX</a:t>
                      </a:r>
                    </a:p>
                  </a:txBody>
                  <a:tcPr/>
                </a:tc>
                <a:extLst>
                  <a:ext uri="{0D108BD9-81ED-4DB2-BD59-A6C34878D82A}">
                    <a16:rowId xmlns:a16="http://schemas.microsoft.com/office/drawing/2014/main" val="2570910443"/>
                  </a:ext>
                </a:extLst>
              </a:tr>
            </a:tbl>
          </a:graphicData>
        </a:graphic>
      </p:graphicFrame>
      <p:graphicFrame>
        <p:nvGraphicFramePr>
          <p:cNvPr id="10" name="Table 4">
            <a:extLst>
              <a:ext uri="{FF2B5EF4-FFF2-40B4-BE49-F238E27FC236}">
                <a16:creationId xmlns:a16="http://schemas.microsoft.com/office/drawing/2014/main" id="{33C88461-5F9C-4D9D-9DAE-914D4CE0634F}"/>
              </a:ext>
            </a:extLst>
          </p:cNvPr>
          <p:cNvGraphicFramePr>
            <a:graphicFrameLocks noGrp="1"/>
          </p:cNvGraphicFramePr>
          <p:nvPr>
            <p:extLst>
              <p:ext uri="{D42A27DB-BD31-4B8C-83A1-F6EECF244321}">
                <p14:modId xmlns:p14="http://schemas.microsoft.com/office/powerpoint/2010/main" val="3665417553"/>
              </p:ext>
            </p:extLst>
          </p:nvPr>
        </p:nvGraphicFramePr>
        <p:xfrm>
          <a:off x="179753" y="5624993"/>
          <a:ext cx="9276863" cy="736600"/>
        </p:xfrm>
        <a:graphic>
          <a:graphicData uri="http://schemas.openxmlformats.org/drawingml/2006/table">
            <a:tbl>
              <a:tblPr firstRow="1" bandRow="1">
                <a:tableStyleId>{5C22544A-7EE6-4342-B048-85BDC9FD1C3A}</a:tableStyleId>
              </a:tblPr>
              <a:tblGrid>
                <a:gridCol w="1071627">
                  <a:extLst>
                    <a:ext uri="{9D8B030D-6E8A-4147-A177-3AD203B41FA5}">
                      <a16:colId xmlns:a16="http://schemas.microsoft.com/office/drawing/2014/main" val="1810408170"/>
                    </a:ext>
                  </a:extLst>
                </a:gridCol>
                <a:gridCol w="804069">
                  <a:extLst>
                    <a:ext uri="{9D8B030D-6E8A-4147-A177-3AD203B41FA5}">
                      <a16:colId xmlns:a16="http://schemas.microsoft.com/office/drawing/2014/main" val="950391025"/>
                    </a:ext>
                  </a:extLst>
                </a:gridCol>
                <a:gridCol w="1055077">
                  <a:extLst>
                    <a:ext uri="{9D8B030D-6E8A-4147-A177-3AD203B41FA5}">
                      <a16:colId xmlns:a16="http://schemas.microsoft.com/office/drawing/2014/main" val="1217920130"/>
                    </a:ext>
                  </a:extLst>
                </a:gridCol>
                <a:gridCol w="2595403">
                  <a:extLst>
                    <a:ext uri="{9D8B030D-6E8A-4147-A177-3AD203B41FA5}">
                      <a16:colId xmlns:a16="http://schemas.microsoft.com/office/drawing/2014/main" val="1475888205"/>
                    </a:ext>
                  </a:extLst>
                </a:gridCol>
                <a:gridCol w="765213">
                  <a:extLst>
                    <a:ext uri="{9D8B030D-6E8A-4147-A177-3AD203B41FA5}">
                      <a16:colId xmlns:a16="http://schemas.microsoft.com/office/drawing/2014/main" val="1355185516"/>
                    </a:ext>
                  </a:extLst>
                </a:gridCol>
                <a:gridCol w="820616">
                  <a:extLst>
                    <a:ext uri="{9D8B030D-6E8A-4147-A177-3AD203B41FA5}">
                      <a16:colId xmlns:a16="http://schemas.microsoft.com/office/drawing/2014/main" val="2050007723"/>
                    </a:ext>
                  </a:extLst>
                </a:gridCol>
                <a:gridCol w="2164859">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Load Reg</a:t>
                      </a:r>
                    </a:p>
                  </a:txBody>
                  <a:tcPr>
                    <a:solidFill>
                      <a:schemeClr val="accent6"/>
                    </a:solidFill>
                  </a:tcPr>
                </a:tc>
                <a:tc>
                  <a:txBody>
                    <a:bodyPr/>
                    <a:lstStyle/>
                    <a:p>
                      <a:pPr algn="ctr"/>
                      <a:r>
                        <a:rPr lang="en-US" sz="1300"/>
                        <a:t>XX</a:t>
                      </a:r>
                    </a:p>
                  </a:txBody>
                  <a:tcPr/>
                </a:tc>
                <a:tc>
                  <a:txBody>
                    <a:bodyPr/>
                    <a:lstStyle/>
                    <a:p>
                      <a:pPr algn="ctr"/>
                      <a:r>
                        <a:rPr lang="en-US" sz="1300"/>
                        <a:t>Rs1</a:t>
                      </a:r>
                    </a:p>
                  </a:txBody>
                  <a:tcPr/>
                </a:tc>
                <a:tc>
                  <a:txBody>
                    <a:bodyPr/>
                    <a:lstStyle/>
                    <a:p>
                      <a:pPr algn="ctr"/>
                      <a:r>
                        <a:rPr lang="en-US" sz="1300"/>
                        <a:t>XXXX</a:t>
                      </a:r>
                    </a:p>
                  </a:txBody>
                  <a:tcPr/>
                </a:tc>
                <a:tc>
                  <a:txBody>
                    <a:bodyPr/>
                    <a:lstStyle/>
                    <a:p>
                      <a:pPr algn="ctr"/>
                      <a:r>
                        <a:rPr lang="en-US" sz="1300"/>
                        <a:t>Rd</a:t>
                      </a:r>
                    </a:p>
                  </a:txBody>
                  <a:tcPr/>
                </a:tc>
                <a:tc>
                  <a:txBody>
                    <a:bodyPr/>
                    <a:lstStyle/>
                    <a:p>
                      <a:pPr algn="ctr"/>
                      <a:r>
                        <a:rPr lang="en-US" sz="1300"/>
                        <a:t>X</a:t>
                      </a:r>
                    </a:p>
                  </a:txBody>
                  <a:tcPr/>
                </a:tc>
                <a:tc>
                  <a:txBody>
                    <a:bodyPr/>
                    <a:lstStyle/>
                    <a:p>
                      <a:pPr algn="ctr"/>
                      <a:r>
                        <a:rPr lang="en-US" sz="1300"/>
                        <a:t>OpCode</a:t>
                      </a:r>
                    </a:p>
                  </a:txBody>
                  <a:tcPr/>
                </a:tc>
                <a:extLst>
                  <a:ext uri="{0D108BD9-81ED-4DB2-BD59-A6C34878D82A}">
                    <a16:rowId xmlns:a16="http://schemas.microsoft.com/office/drawing/2014/main" val="2570910443"/>
                  </a:ext>
                </a:extLst>
              </a:tr>
            </a:tbl>
          </a:graphicData>
        </a:graphic>
      </p:graphicFrame>
      <p:sp>
        <p:nvSpPr>
          <p:cNvPr id="11" name="TextBox 10">
            <a:extLst>
              <a:ext uri="{FF2B5EF4-FFF2-40B4-BE49-F238E27FC236}">
                <a16:creationId xmlns:a16="http://schemas.microsoft.com/office/drawing/2014/main" id="{AD2FAF71-0CB0-4D23-9B44-F2AFACA685F8}"/>
              </a:ext>
            </a:extLst>
          </p:cNvPr>
          <p:cNvSpPr txBox="1"/>
          <p:nvPr/>
        </p:nvSpPr>
        <p:spPr>
          <a:xfrm>
            <a:off x="11305310" y="1"/>
            <a:ext cx="931665" cy="1862048"/>
          </a:xfrm>
          <a:prstGeom prst="rect">
            <a:avLst/>
          </a:prstGeom>
          <a:noFill/>
        </p:spPr>
        <p:txBody>
          <a:bodyPr wrap="none" rtlCol="0">
            <a:spAutoFit/>
          </a:bodyPr>
          <a:lstStyle/>
          <a:p>
            <a:r>
              <a:rPr lang="en-US" sz="11500">
                <a:solidFill>
                  <a:schemeClr val="accent1">
                    <a:lumMod val="60000"/>
                    <a:lumOff val="40000"/>
                  </a:schemeClr>
                </a:solidFill>
              </a:rPr>
              <a:t>4</a:t>
            </a:r>
          </a:p>
        </p:txBody>
      </p:sp>
      <p:sp>
        <p:nvSpPr>
          <p:cNvPr id="12" name="TextBox 11">
            <a:extLst>
              <a:ext uri="{FF2B5EF4-FFF2-40B4-BE49-F238E27FC236}">
                <a16:creationId xmlns:a16="http://schemas.microsoft.com/office/drawing/2014/main" id="{9C5E7998-712A-8C03-4C81-D15223579C4F}"/>
              </a:ext>
            </a:extLst>
          </p:cNvPr>
          <p:cNvSpPr txBox="1"/>
          <p:nvPr/>
        </p:nvSpPr>
        <p:spPr>
          <a:xfrm>
            <a:off x="6615404" y="4734113"/>
            <a:ext cx="2550698" cy="523220"/>
          </a:xfrm>
          <a:prstGeom prst="rect">
            <a:avLst/>
          </a:prstGeom>
          <a:noFill/>
        </p:spPr>
        <p:txBody>
          <a:bodyPr wrap="none" rtlCol="0">
            <a:spAutoFit/>
          </a:bodyPr>
          <a:lstStyle/>
          <a:p>
            <a:r>
              <a:rPr lang="en-US" sz="2800">
                <a:solidFill>
                  <a:srgbClr val="00B050"/>
                </a:solidFill>
                <a:latin typeface="Consolas" panose="020B0609020204030204" pitchFamily="49" charset="0"/>
              </a:rPr>
              <a:t> MOV Rd, Rs1</a:t>
            </a:r>
          </a:p>
        </p:txBody>
      </p:sp>
      <p:pic>
        <p:nvPicPr>
          <p:cNvPr id="2" name="Picture 1">
            <a:hlinkClick r:id="rId2" action="ppaction://hlinksldjump"/>
            <a:extLst>
              <a:ext uri="{FF2B5EF4-FFF2-40B4-BE49-F238E27FC236}">
                <a16:creationId xmlns:a16="http://schemas.microsoft.com/office/drawing/2014/main" id="{B6729B96-C899-B35B-CDE9-D6A165A20893}"/>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7" name="Slide Number Placeholder 4">
            <a:extLst>
              <a:ext uri="{FF2B5EF4-FFF2-40B4-BE49-F238E27FC236}">
                <a16:creationId xmlns:a16="http://schemas.microsoft.com/office/drawing/2014/main" id="{78DEC36A-86AB-FE51-6F31-3902A352711C}"/>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120</a:t>
            </a:fld>
            <a:endParaRPr lang="en-US" b="1">
              <a:solidFill>
                <a:schemeClr val="bg1"/>
              </a:solidFill>
            </a:endParaRPr>
          </a:p>
        </p:txBody>
      </p:sp>
      <p:graphicFrame>
        <p:nvGraphicFramePr>
          <p:cNvPr id="14" name="Table 4">
            <a:extLst>
              <a:ext uri="{FF2B5EF4-FFF2-40B4-BE49-F238E27FC236}">
                <a16:creationId xmlns:a16="http://schemas.microsoft.com/office/drawing/2014/main" id="{61F6211E-C1A3-A1E5-5BAD-5CC61CF2D4E3}"/>
              </a:ext>
            </a:extLst>
          </p:cNvPr>
          <p:cNvGraphicFramePr>
            <a:graphicFrameLocks noGrp="1"/>
          </p:cNvGraphicFramePr>
          <p:nvPr>
            <p:extLst>
              <p:ext uri="{D42A27DB-BD31-4B8C-83A1-F6EECF244321}">
                <p14:modId xmlns:p14="http://schemas.microsoft.com/office/powerpoint/2010/main" val="940534924"/>
              </p:ext>
            </p:extLst>
          </p:nvPr>
        </p:nvGraphicFramePr>
        <p:xfrm>
          <a:off x="193268" y="742463"/>
          <a:ext cx="4329725" cy="436342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3723038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0" name="Table 4">
            <a:extLst>
              <a:ext uri="{FF2B5EF4-FFF2-40B4-BE49-F238E27FC236}">
                <a16:creationId xmlns:a16="http://schemas.microsoft.com/office/drawing/2014/main" id="{71D6BFD9-4AC8-476E-8033-8B7BF5CFF156}"/>
              </a:ext>
            </a:extLst>
          </p:cNvPr>
          <p:cNvGraphicFramePr>
            <a:graphicFrameLocks noGrp="1"/>
          </p:cNvGraphicFramePr>
          <p:nvPr>
            <p:extLst>
              <p:ext uri="{D42A27DB-BD31-4B8C-83A1-F6EECF244321}">
                <p14:modId xmlns:p14="http://schemas.microsoft.com/office/powerpoint/2010/main" val="2248163482"/>
              </p:ext>
            </p:extLst>
          </p:nvPr>
        </p:nvGraphicFramePr>
        <p:xfrm>
          <a:off x="179753" y="5619913"/>
          <a:ext cx="9276863" cy="731520"/>
        </p:xfrm>
        <a:graphic>
          <a:graphicData uri="http://schemas.openxmlformats.org/drawingml/2006/table">
            <a:tbl>
              <a:tblPr firstRow="1" bandRow="1">
                <a:tableStyleId>{5C22544A-7EE6-4342-B048-85BDC9FD1C3A}</a:tableStyleId>
              </a:tblPr>
              <a:tblGrid>
                <a:gridCol w="1186741">
                  <a:extLst>
                    <a:ext uri="{9D8B030D-6E8A-4147-A177-3AD203B41FA5}">
                      <a16:colId xmlns:a16="http://schemas.microsoft.com/office/drawing/2014/main" val="1810408170"/>
                    </a:ext>
                  </a:extLst>
                </a:gridCol>
                <a:gridCol w="1153371">
                  <a:extLst>
                    <a:ext uri="{9D8B030D-6E8A-4147-A177-3AD203B41FA5}">
                      <a16:colId xmlns:a16="http://schemas.microsoft.com/office/drawing/2014/main" val="950391025"/>
                    </a:ext>
                  </a:extLst>
                </a:gridCol>
                <a:gridCol w="1048675">
                  <a:extLst>
                    <a:ext uri="{9D8B030D-6E8A-4147-A177-3AD203B41FA5}">
                      <a16:colId xmlns:a16="http://schemas.microsoft.com/office/drawing/2014/main" val="1217920130"/>
                    </a:ext>
                  </a:extLst>
                </a:gridCol>
                <a:gridCol w="1666220">
                  <a:extLst>
                    <a:ext uri="{9D8B030D-6E8A-4147-A177-3AD203B41FA5}">
                      <a16:colId xmlns:a16="http://schemas.microsoft.com/office/drawing/2014/main" val="1475888205"/>
                    </a:ext>
                  </a:extLst>
                </a:gridCol>
                <a:gridCol w="2241575">
                  <a:extLst>
                    <a:ext uri="{9D8B030D-6E8A-4147-A177-3AD203B41FA5}">
                      <a16:colId xmlns:a16="http://schemas.microsoft.com/office/drawing/2014/main" val="1355185516"/>
                    </a:ext>
                  </a:extLst>
                </a:gridCol>
                <a:gridCol w="1980281">
                  <a:extLst>
                    <a:ext uri="{9D8B030D-6E8A-4147-A177-3AD203B41FA5}">
                      <a16:colId xmlns:a16="http://schemas.microsoft.com/office/drawing/2014/main" val="3099546510"/>
                    </a:ext>
                  </a:extLst>
                </a:gridCol>
              </a:tblGrid>
              <a:tr h="29718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7 6 5 </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Branch</a:t>
                      </a:r>
                    </a:p>
                  </a:txBody>
                  <a:tcPr>
                    <a:solidFill>
                      <a:schemeClr val="accent6"/>
                    </a:solidFill>
                  </a:tcPr>
                </a:tc>
                <a:tc gridSpan="3">
                  <a:txBody>
                    <a:bodyPr/>
                    <a:lstStyle/>
                    <a:p>
                      <a:pPr algn="ctr"/>
                      <a:r>
                        <a:rPr lang="en-US" sz="1300"/>
                        <a:t>Immediate (8-bit)</a:t>
                      </a:r>
                    </a:p>
                  </a:txBody>
                  <a:tcPr/>
                </a:tc>
                <a:tc hMerge="1">
                  <a:txBody>
                    <a:bodyPr/>
                    <a:lstStyle/>
                    <a:p>
                      <a:pPr algn="ctr"/>
                      <a:endParaRPr lang="en-US"/>
                    </a:p>
                  </a:txBody>
                  <a:tcPr/>
                </a:tc>
                <a:tc hMerge="1">
                  <a:txBody>
                    <a:bodyPr/>
                    <a:lstStyle/>
                    <a:p>
                      <a:pPr algn="ctr"/>
                      <a:r>
                        <a:rPr lang="en-US"/>
                        <a:t>Immediate (8-bit)</a:t>
                      </a:r>
                    </a:p>
                  </a:txBody>
                  <a:tcPr/>
                </a:tc>
                <a:tc>
                  <a:txBody>
                    <a:bodyPr/>
                    <a:lstStyle/>
                    <a:p>
                      <a:pPr algn="ctr"/>
                      <a:r>
                        <a:rPr lang="en-US" sz="1300"/>
                        <a:t>C2 C1 C0</a:t>
                      </a:r>
                    </a:p>
                  </a:txBody>
                  <a:tcPr/>
                </a:tc>
                <a:tc>
                  <a:txBody>
                    <a:bodyPr/>
                    <a:lstStyle/>
                    <a:p>
                      <a:pPr algn="ctr"/>
                      <a:r>
                        <a:rPr lang="en-US" sz="1300"/>
                        <a:t>OpCode</a:t>
                      </a:r>
                    </a:p>
                  </a:txBody>
                  <a:tcPr/>
                </a:tc>
                <a:extLst>
                  <a:ext uri="{0D108BD9-81ED-4DB2-BD59-A6C34878D82A}">
                    <a16:rowId xmlns:a16="http://schemas.microsoft.com/office/drawing/2014/main" val="2570910443"/>
                  </a:ext>
                </a:extLst>
              </a:tr>
            </a:tbl>
          </a:graphicData>
        </a:graphic>
      </p:graphicFrame>
      <p:sp>
        <p:nvSpPr>
          <p:cNvPr id="13" name="Title 12">
            <a:extLst>
              <a:ext uri="{FF2B5EF4-FFF2-40B4-BE49-F238E27FC236}">
                <a16:creationId xmlns:a16="http://schemas.microsoft.com/office/drawing/2014/main" id="{113E80B0-6D1B-DA28-8E21-146A2EE5E0CF}"/>
              </a:ext>
            </a:extLst>
          </p:cNvPr>
          <p:cNvSpPr>
            <a:spLocks noGrp="1"/>
          </p:cNvSpPr>
          <p:nvPr>
            <p:ph type="ctrTitle"/>
          </p:nvPr>
        </p:nvSpPr>
        <p:spPr>
          <a:xfrm>
            <a:off x="914400" y="182880"/>
            <a:ext cx="9144000" cy="457200"/>
          </a:xfrm>
        </p:spPr>
        <p:txBody>
          <a:bodyPr/>
          <a:lstStyle/>
          <a:p>
            <a:r>
              <a:rPr lang="en-US"/>
              <a:t>Micro-Instructions Control: Branch / Jump Absolute Immediate (00101)</a:t>
            </a:r>
          </a:p>
        </p:txBody>
      </p:sp>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extLst>
              <p:ext uri="{D42A27DB-BD31-4B8C-83A1-F6EECF244321}">
                <p14:modId xmlns:p14="http://schemas.microsoft.com/office/powerpoint/2010/main" val="3008883242"/>
              </p:ext>
            </p:extLst>
          </p:nvPr>
        </p:nvGraphicFramePr>
        <p:xfrm>
          <a:off x="4716583" y="742463"/>
          <a:ext cx="6514836" cy="3601720"/>
        </p:xfrm>
        <a:graphic>
          <a:graphicData uri="http://schemas.openxmlformats.org/drawingml/2006/table">
            <a:tbl>
              <a:tblPr firstRow="1" bandRow="1">
                <a:tableStyleId>{5C22544A-7EE6-4342-B048-85BDC9FD1C3A}</a:tableStyleId>
              </a:tblPr>
              <a:tblGrid>
                <a:gridCol w="988741">
                  <a:extLst>
                    <a:ext uri="{9D8B030D-6E8A-4147-A177-3AD203B41FA5}">
                      <a16:colId xmlns:a16="http://schemas.microsoft.com/office/drawing/2014/main" val="1217920130"/>
                    </a:ext>
                  </a:extLst>
                </a:gridCol>
                <a:gridCol w="2570459">
                  <a:extLst>
                    <a:ext uri="{9D8B030D-6E8A-4147-A177-3AD203B41FA5}">
                      <a16:colId xmlns:a16="http://schemas.microsoft.com/office/drawing/2014/main" val="1475888205"/>
                    </a:ext>
                  </a:extLst>
                </a:gridCol>
                <a:gridCol w="2955636">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502920">
                <a:tc>
                  <a:txBody>
                    <a:bodyPr/>
                    <a:lstStyle/>
                    <a:p>
                      <a:pPr algn="ctr"/>
                      <a:r>
                        <a:rPr lang="en-US" sz="1300"/>
                        <a:t>0</a:t>
                      </a:r>
                    </a:p>
                  </a:txBody>
                  <a:tcPr/>
                </a:tc>
                <a:tc>
                  <a:txBody>
                    <a:bodyPr/>
                    <a:lstStyle/>
                    <a:p>
                      <a:pPr algn="l"/>
                      <a:r>
                        <a:rPr lang="en-US" sz="1300"/>
                        <a:t>0x1_40 01_0100_0000</a:t>
                      </a:r>
                    </a:p>
                  </a:txBody>
                  <a:tcPr/>
                </a:tc>
                <a:tc>
                  <a:txBody>
                    <a:bodyPr/>
                    <a:lstStyle/>
                    <a:p>
                      <a:pPr algn="l"/>
                      <a:r>
                        <a:rPr lang="en-US" sz="1300"/>
                        <a:t>Write H register to bus and PC (conditionally) reads</a:t>
                      </a:r>
                    </a:p>
                  </a:txBody>
                  <a:tcPr/>
                </a:tc>
                <a:extLst>
                  <a:ext uri="{0D108BD9-81ED-4DB2-BD59-A6C34878D82A}">
                    <a16:rowId xmlns:a16="http://schemas.microsoft.com/office/drawing/2014/main" val="2570910443"/>
                  </a:ext>
                </a:extLst>
              </a:tr>
              <a:tr h="370840">
                <a:tc>
                  <a:txBody>
                    <a:bodyPr/>
                    <a:lstStyle/>
                    <a:p>
                      <a:pPr algn="ctr"/>
                      <a:r>
                        <a:rPr lang="en-US" sz="13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0x0_80 00_1000_0000</a:t>
                      </a:r>
                    </a:p>
                  </a:txBody>
                  <a:tcPr/>
                </a:tc>
                <a:tc>
                  <a:txBody>
                    <a:bodyPr/>
                    <a:lstStyle/>
                    <a:p>
                      <a:pPr algn="l"/>
                      <a:r>
                        <a:rPr lang="en-US" sz="1300"/>
                        <a:t>PC advance</a:t>
                      </a:r>
                    </a:p>
                  </a:txBody>
                  <a:tcPr/>
                </a:tc>
                <a:extLst>
                  <a:ext uri="{0D108BD9-81ED-4DB2-BD59-A6C34878D82A}">
                    <a16:rowId xmlns:a16="http://schemas.microsoft.com/office/drawing/2014/main" val="631651838"/>
                  </a:ext>
                </a:extLst>
              </a:tr>
              <a:tr h="370840">
                <a:tc>
                  <a:txBody>
                    <a:bodyPr/>
                    <a:lstStyle/>
                    <a:p>
                      <a:pPr algn="ctr"/>
                      <a:r>
                        <a:rPr lang="en-US" sz="13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300"/>
                    </a:p>
                  </a:txBody>
                  <a:tcPr/>
                </a:tc>
                <a:tc>
                  <a:txBody>
                    <a:bodyPr/>
                    <a:lstStyle/>
                    <a:p>
                      <a:pPr algn="l"/>
                      <a:endParaRPr lang="en-US" sz="1300"/>
                    </a:p>
                  </a:txBody>
                  <a:tcPr/>
                </a:tc>
                <a:extLst>
                  <a:ext uri="{0D108BD9-81ED-4DB2-BD59-A6C34878D82A}">
                    <a16:rowId xmlns:a16="http://schemas.microsoft.com/office/drawing/2014/main" val="1592812184"/>
                  </a:ext>
                </a:extLst>
              </a:tr>
              <a:tr h="370840">
                <a:tc>
                  <a:txBody>
                    <a:bodyPr/>
                    <a:lstStyle/>
                    <a:p>
                      <a:pPr algn="ctr"/>
                      <a:r>
                        <a:rPr lang="en-US" sz="1300"/>
                        <a:t>3</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225793510"/>
                  </a:ext>
                </a:extLst>
              </a:tr>
              <a:tr h="370840">
                <a:tc>
                  <a:txBody>
                    <a:bodyPr/>
                    <a:lstStyle/>
                    <a:p>
                      <a:pPr algn="ctr"/>
                      <a:r>
                        <a:rPr lang="en-US" sz="1300"/>
                        <a:t>4</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1046366285"/>
                  </a:ext>
                </a:extLst>
              </a:tr>
              <a:tr h="370840">
                <a:tc>
                  <a:txBody>
                    <a:bodyPr/>
                    <a:lstStyle/>
                    <a:p>
                      <a:pPr algn="ctr"/>
                      <a:r>
                        <a:rPr lang="en-US" sz="1300"/>
                        <a:t>5</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615342211"/>
                  </a:ext>
                </a:extLst>
              </a:tr>
              <a:tr h="370840">
                <a:tc>
                  <a:txBody>
                    <a:bodyPr/>
                    <a:lstStyle/>
                    <a:p>
                      <a:pPr algn="ctr"/>
                      <a:r>
                        <a:rPr lang="en-US" sz="1300"/>
                        <a:t>6</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055856817"/>
                  </a:ext>
                </a:extLst>
              </a:tr>
              <a:tr h="370840">
                <a:tc>
                  <a:txBody>
                    <a:bodyPr/>
                    <a:lstStyle/>
                    <a:p>
                      <a:pPr algn="ctr"/>
                      <a:r>
                        <a:rPr lang="en-US" sz="1300"/>
                        <a:t>7</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3502991894"/>
                  </a:ext>
                </a:extLst>
              </a:tr>
            </a:tbl>
          </a:graphicData>
        </a:graphic>
      </p:graphicFrame>
      <p:graphicFrame>
        <p:nvGraphicFramePr>
          <p:cNvPr id="6" name="Table 6">
            <a:extLst>
              <a:ext uri="{FF2B5EF4-FFF2-40B4-BE49-F238E27FC236}">
                <a16:creationId xmlns:a16="http://schemas.microsoft.com/office/drawing/2014/main" id="{94ECF8CC-A699-4671-A4F6-5AAB6684A11C}"/>
              </a:ext>
            </a:extLst>
          </p:cNvPr>
          <p:cNvGraphicFramePr>
            <a:graphicFrameLocks noGrp="1"/>
          </p:cNvGraphicFramePr>
          <p:nvPr>
            <p:extLst>
              <p:ext uri="{D42A27DB-BD31-4B8C-83A1-F6EECF244321}">
                <p14:modId xmlns:p14="http://schemas.microsoft.com/office/powerpoint/2010/main" val="2567651846"/>
              </p:ext>
            </p:extLst>
          </p:nvPr>
        </p:nvGraphicFramePr>
        <p:xfrm>
          <a:off x="5680365" y="2436627"/>
          <a:ext cx="5087483" cy="2834640"/>
        </p:xfrm>
        <a:graphic>
          <a:graphicData uri="http://schemas.openxmlformats.org/drawingml/2006/table">
            <a:tbl>
              <a:tblPr firstRow="1" bandRow="1">
                <a:tableStyleId>{5C22544A-7EE6-4342-B048-85BDC9FD1C3A}</a:tableStyleId>
              </a:tblPr>
              <a:tblGrid>
                <a:gridCol w="573007">
                  <a:extLst>
                    <a:ext uri="{9D8B030D-6E8A-4147-A177-3AD203B41FA5}">
                      <a16:colId xmlns:a16="http://schemas.microsoft.com/office/drawing/2014/main" val="3129483676"/>
                    </a:ext>
                  </a:extLst>
                </a:gridCol>
                <a:gridCol w="359600">
                  <a:extLst>
                    <a:ext uri="{9D8B030D-6E8A-4147-A177-3AD203B41FA5}">
                      <a16:colId xmlns:a16="http://schemas.microsoft.com/office/drawing/2014/main" val="3639428745"/>
                    </a:ext>
                  </a:extLst>
                </a:gridCol>
                <a:gridCol w="525011">
                  <a:extLst>
                    <a:ext uri="{9D8B030D-6E8A-4147-A177-3AD203B41FA5}">
                      <a16:colId xmlns:a16="http://schemas.microsoft.com/office/drawing/2014/main" val="136219337"/>
                    </a:ext>
                  </a:extLst>
                </a:gridCol>
                <a:gridCol w="695087">
                  <a:extLst>
                    <a:ext uri="{9D8B030D-6E8A-4147-A177-3AD203B41FA5}">
                      <a16:colId xmlns:a16="http://schemas.microsoft.com/office/drawing/2014/main" val="4010529361"/>
                    </a:ext>
                  </a:extLst>
                </a:gridCol>
                <a:gridCol w="987739">
                  <a:extLst>
                    <a:ext uri="{9D8B030D-6E8A-4147-A177-3AD203B41FA5}">
                      <a16:colId xmlns:a16="http://schemas.microsoft.com/office/drawing/2014/main" val="3300204691"/>
                    </a:ext>
                  </a:extLst>
                </a:gridCol>
                <a:gridCol w="1947041">
                  <a:extLst>
                    <a:ext uri="{9D8B030D-6E8A-4147-A177-3AD203B41FA5}">
                      <a16:colId xmlns:a16="http://schemas.microsoft.com/office/drawing/2014/main" val="322570224"/>
                    </a:ext>
                  </a:extLst>
                </a:gridCol>
              </a:tblGrid>
              <a:tr h="640080">
                <a:tc>
                  <a:txBody>
                    <a:bodyPr/>
                    <a:lstStyle/>
                    <a:p>
                      <a:r>
                        <a:rPr lang="en-US" sz="1200"/>
                        <a:t>C2</a:t>
                      </a:r>
                    </a:p>
                  </a:txBody>
                  <a:tcPr/>
                </a:tc>
                <a:tc>
                  <a:txBody>
                    <a:bodyPr/>
                    <a:lstStyle/>
                    <a:p>
                      <a:r>
                        <a:rPr lang="en-US" sz="1200"/>
                        <a:t>C1</a:t>
                      </a:r>
                    </a:p>
                  </a:txBody>
                  <a:tcPr/>
                </a:tc>
                <a:tc>
                  <a:txBody>
                    <a:bodyPr/>
                    <a:lstStyle/>
                    <a:p>
                      <a:r>
                        <a:rPr lang="en-US" sz="1200"/>
                        <a:t>C0</a:t>
                      </a:r>
                    </a:p>
                  </a:txBody>
                  <a:tcPr/>
                </a:tc>
                <a:tc>
                  <a:txBody>
                    <a:bodyPr/>
                    <a:lstStyle/>
                    <a:p>
                      <a:r>
                        <a:rPr lang="en-US" sz="1200"/>
                        <a:t>Condition</a:t>
                      </a:r>
                    </a:p>
                  </a:txBody>
                  <a:tcPr/>
                </a:tc>
                <a:tc>
                  <a:txBody>
                    <a:bodyPr/>
                    <a:lstStyle/>
                    <a:p>
                      <a:r>
                        <a:rPr lang="en-US" sz="1200"/>
                        <a:t>Low instruction register</a:t>
                      </a:r>
                    </a:p>
                  </a:txBody>
                  <a:tcPr/>
                </a:tc>
                <a:tc>
                  <a:txBody>
                    <a:bodyPr/>
                    <a:lstStyle/>
                    <a:p>
                      <a:r>
                        <a:rPr lang="en-US" sz="1200"/>
                        <a:t>Assembly</a:t>
                      </a:r>
                    </a:p>
                  </a:txBody>
                  <a:tcPr/>
                </a:tc>
                <a:extLst>
                  <a:ext uri="{0D108BD9-81ED-4DB2-BD59-A6C34878D82A}">
                    <a16:rowId xmlns:a16="http://schemas.microsoft.com/office/drawing/2014/main" val="727245786"/>
                  </a:ext>
                </a:extLst>
              </a:tr>
              <a:tr h="274320">
                <a:tc>
                  <a:txBody>
                    <a:bodyPr/>
                    <a:lstStyle/>
                    <a:p>
                      <a:r>
                        <a:rPr lang="en-US" sz="1200"/>
                        <a:t>0</a:t>
                      </a:r>
                    </a:p>
                  </a:txBody>
                  <a:tcPr/>
                </a:tc>
                <a:tc>
                  <a:txBody>
                    <a:bodyPr/>
                    <a:lstStyle/>
                    <a:p>
                      <a:r>
                        <a:rPr lang="en-US" sz="1200"/>
                        <a:t>0</a:t>
                      </a:r>
                    </a:p>
                  </a:txBody>
                  <a:tcPr/>
                </a:tc>
                <a:tc>
                  <a:txBody>
                    <a:bodyPr/>
                    <a:lstStyle/>
                    <a:p>
                      <a:r>
                        <a:rPr lang="en-US" sz="1200"/>
                        <a:t>0</a:t>
                      </a:r>
                    </a:p>
                  </a:txBody>
                  <a:tcPr/>
                </a:tc>
                <a:tc>
                  <a:txBody>
                    <a:bodyPr/>
                    <a:lstStyle/>
                    <a:p>
                      <a:r>
                        <a:rPr lang="en-US" sz="1200"/>
                        <a:t>JMP</a:t>
                      </a:r>
                    </a:p>
                  </a:txBody>
                  <a:tcPr/>
                </a:tc>
                <a:tc>
                  <a:txBody>
                    <a:bodyPr/>
                    <a:lstStyle/>
                    <a:p>
                      <a:pPr algn="ctr"/>
                      <a:r>
                        <a:rPr lang="en-US" sz="1200"/>
                        <a:t>05</a:t>
                      </a:r>
                    </a:p>
                  </a:txBody>
                  <a:tcPr>
                    <a:solidFill>
                      <a:schemeClr val="accent6">
                        <a:lumMod val="60000"/>
                        <a:lumOff val="40000"/>
                      </a:schemeClr>
                    </a:solidFill>
                  </a:tcPr>
                </a:tc>
                <a:tc>
                  <a:txBody>
                    <a:bodyPr/>
                    <a:lstStyle/>
                    <a:p>
                      <a:r>
                        <a:rPr lang="en-US" sz="1200"/>
                        <a:t>JMP</a:t>
                      </a:r>
                    </a:p>
                  </a:txBody>
                  <a:tcPr>
                    <a:solidFill>
                      <a:schemeClr val="accent6">
                        <a:lumMod val="60000"/>
                        <a:lumOff val="40000"/>
                      </a:schemeClr>
                    </a:solidFill>
                  </a:tcPr>
                </a:tc>
                <a:extLst>
                  <a:ext uri="{0D108BD9-81ED-4DB2-BD59-A6C34878D82A}">
                    <a16:rowId xmlns:a16="http://schemas.microsoft.com/office/drawing/2014/main" val="3427146651"/>
                  </a:ext>
                </a:extLst>
              </a:tr>
              <a:tr h="274320">
                <a:tc>
                  <a:txBody>
                    <a:bodyPr/>
                    <a:lstStyle/>
                    <a:p>
                      <a:r>
                        <a:rPr lang="en-US" sz="1200"/>
                        <a:t>0</a:t>
                      </a:r>
                    </a:p>
                  </a:txBody>
                  <a:tcPr/>
                </a:tc>
                <a:tc>
                  <a:txBody>
                    <a:bodyPr/>
                    <a:lstStyle/>
                    <a:p>
                      <a:r>
                        <a:rPr lang="en-US" sz="1200"/>
                        <a:t>0</a:t>
                      </a:r>
                    </a:p>
                  </a:txBody>
                  <a:tcPr/>
                </a:tc>
                <a:tc>
                  <a:txBody>
                    <a:bodyPr/>
                    <a:lstStyle/>
                    <a:p>
                      <a:r>
                        <a:rPr lang="en-US" sz="1200"/>
                        <a:t>1</a:t>
                      </a:r>
                    </a:p>
                  </a:txBody>
                  <a:tcPr/>
                </a:tc>
                <a:tc>
                  <a:txBody>
                    <a:bodyPr/>
                    <a:lstStyle/>
                    <a:p>
                      <a:r>
                        <a:rPr lang="en-US" sz="1200"/>
                        <a:t>N</a:t>
                      </a:r>
                    </a:p>
                  </a:txBody>
                  <a:tcPr/>
                </a:tc>
                <a:tc>
                  <a:txBody>
                    <a:bodyPr/>
                    <a:lstStyle/>
                    <a:p>
                      <a:pPr algn="ctr"/>
                      <a:r>
                        <a:rPr lang="en-US" sz="1200"/>
                        <a:t>25</a:t>
                      </a:r>
                    </a:p>
                  </a:txBody>
                  <a:tcPr>
                    <a:solidFill>
                      <a:schemeClr val="accent6">
                        <a:lumMod val="60000"/>
                        <a:lumOff val="40000"/>
                      </a:schemeClr>
                    </a:solidFill>
                  </a:tcPr>
                </a:tc>
                <a:tc>
                  <a:txBody>
                    <a:bodyPr/>
                    <a:lstStyle/>
                    <a:p>
                      <a:r>
                        <a:rPr lang="en-US" sz="1200"/>
                        <a:t>BMI – Branch on Minus</a:t>
                      </a:r>
                    </a:p>
                  </a:txBody>
                  <a:tcPr>
                    <a:solidFill>
                      <a:schemeClr val="accent6">
                        <a:lumMod val="60000"/>
                        <a:lumOff val="40000"/>
                      </a:schemeClr>
                    </a:solidFill>
                  </a:tcPr>
                </a:tc>
                <a:extLst>
                  <a:ext uri="{0D108BD9-81ED-4DB2-BD59-A6C34878D82A}">
                    <a16:rowId xmlns:a16="http://schemas.microsoft.com/office/drawing/2014/main" val="1942712580"/>
                  </a:ext>
                </a:extLst>
              </a:tr>
              <a:tr h="274320">
                <a:tc>
                  <a:txBody>
                    <a:bodyPr/>
                    <a:lstStyle/>
                    <a:p>
                      <a:r>
                        <a:rPr lang="en-US" sz="1200"/>
                        <a:t>0</a:t>
                      </a:r>
                    </a:p>
                  </a:txBody>
                  <a:tcPr/>
                </a:tc>
                <a:tc>
                  <a:txBody>
                    <a:bodyPr/>
                    <a:lstStyle/>
                    <a:p>
                      <a:r>
                        <a:rPr lang="en-US" sz="1200"/>
                        <a:t>1</a:t>
                      </a:r>
                    </a:p>
                  </a:txBody>
                  <a:tcPr/>
                </a:tc>
                <a:tc>
                  <a:txBody>
                    <a:bodyPr/>
                    <a:lstStyle/>
                    <a:p>
                      <a:r>
                        <a:rPr lang="en-US" sz="1200"/>
                        <a:t>0</a:t>
                      </a:r>
                    </a:p>
                  </a:txBody>
                  <a:tcPr/>
                </a:tc>
                <a:tc>
                  <a:txBody>
                    <a:bodyPr/>
                    <a:lstStyle/>
                    <a:p>
                      <a:r>
                        <a:rPr lang="en-US" sz="1200"/>
                        <a:t>C</a:t>
                      </a:r>
                    </a:p>
                  </a:txBody>
                  <a:tcPr/>
                </a:tc>
                <a:tc>
                  <a:txBody>
                    <a:bodyPr/>
                    <a:lstStyle/>
                    <a:p>
                      <a:pPr algn="ctr"/>
                      <a:r>
                        <a:rPr lang="en-US" sz="1200"/>
                        <a:t>45</a:t>
                      </a:r>
                    </a:p>
                  </a:txBody>
                  <a:tcPr>
                    <a:solidFill>
                      <a:schemeClr val="accent6">
                        <a:lumMod val="60000"/>
                        <a:lumOff val="40000"/>
                      </a:schemeClr>
                    </a:solidFill>
                  </a:tcPr>
                </a:tc>
                <a:tc>
                  <a:txBody>
                    <a:bodyPr/>
                    <a:lstStyle/>
                    <a:p>
                      <a:r>
                        <a:rPr lang="en-US" sz="1200"/>
                        <a:t>BCS – Branch Carry Set</a:t>
                      </a:r>
                    </a:p>
                  </a:txBody>
                  <a:tcPr>
                    <a:solidFill>
                      <a:schemeClr val="accent6">
                        <a:lumMod val="60000"/>
                        <a:lumOff val="40000"/>
                      </a:schemeClr>
                    </a:solidFill>
                  </a:tcPr>
                </a:tc>
                <a:extLst>
                  <a:ext uri="{0D108BD9-81ED-4DB2-BD59-A6C34878D82A}">
                    <a16:rowId xmlns:a16="http://schemas.microsoft.com/office/drawing/2014/main" val="4217135763"/>
                  </a:ext>
                </a:extLst>
              </a:tr>
              <a:tr h="274320">
                <a:tc>
                  <a:txBody>
                    <a:bodyPr/>
                    <a:lstStyle/>
                    <a:p>
                      <a:r>
                        <a:rPr lang="en-US" sz="1200"/>
                        <a:t>0</a:t>
                      </a:r>
                    </a:p>
                  </a:txBody>
                  <a:tcPr/>
                </a:tc>
                <a:tc>
                  <a:txBody>
                    <a:bodyPr/>
                    <a:lstStyle/>
                    <a:p>
                      <a:r>
                        <a:rPr lang="en-US" sz="1200"/>
                        <a:t>1</a:t>
                      </a:r>
                    </a:p>
                  </a:txBody>
                  <a:tcPr/>
                </a:tc>
                <a:tc>
                  <a:txBody>
                    <a:bodyPr/>
                    <a:lstStyle/>
                    <a:p>
                      <a:r>
                        <a:rPr lang="en-US" sz="1200"/>
                        <a:t>1</a:t>
                      </a:r>
                    </a:p>
                  </a:txBody>
                  <a:tcPr/>
                </a:tc>
                <a:tc>
                  <a:txBody>
                    <a:bodyPr/>
                    <a:lstStyle/>
                    <a:p>
                      <a:r>
                        <a:rPr lang="en-US" sz="1200"/>
                        <a:t>Z</a:t>
                      </a:r>
                    </a:p>
                  </a:txBody>
                  <a:tcPr/>
                </a:tc>
                <a:tc>
                  <a:txBody>
                    <a:bodyPr/>
                    <a:lstStyle/>
                    <a:p>
                      <a:pPr algn="ctr"/>
                      <a:r>
                        <a:rPr lang="en-US" sz="1200"/>
                        <a:t>65</a:t>
                      </a:r>
                    </a:p>
                  </a:txBody>
                  <a:tcPr>
                    <a:solidFill>
                      <a:schemeClr val="accent6">
                        <a:lumMod val="60000"/>
                        <a:lumOff val="40000"/>
                      </a:schemeClr>
                    </a:solidFill>
                  </a:tcPr>
                </a:tc>
                <a:tc>
                  <a:txBody>
                    <a:bodyPr/>
                    <a:lstStyle/>
                    <a:p>
                      <a:r>
                        <a:rPr lang="en-US" sz="1200"/>
                        <a:t>BEQ – Branch Equal</a:t>
                      </a:r>
                    </a:p>
                  </a:txBody>
                  <a:tcPr>
                    <a:solidFill>
                      <a:schemeClr val="accent6">
                        <a:lumMod val="60000"/>
                        <a:lumOff val="40000"/>
                      </a:schemeClr>
                    </a:solidFill>
                  </a:tcPr>
                </a:tc>
                <a:extLst>
                  <a:ext uri="{0D108BD9-81ED-4DB2-BD59-A6C34878D82A}">
                    <a16:rowId xmlns:a16="http://schemas.microsoft.com/office/drawing/2014/main" val="1144018381"/>
                  </a:ext>
                </a:extLst>
              </a:tr>
              <a:tr h="274320">
                <a:tc>
                  <a:txBody>
                    <a:bodyPr/>
                    <a:lstStyle/>
                    <a:p>
                      <a:r>
                        <a:rPr lang="en-US" sz="1200"/>
                        <a:t>1</a:t>
                      </a:r>
                    </a:p>
                  </a:txBody>
                  <a:tcPr/>
                </a:tc>
                <a:tc>
                  <a:txBody>
                    <a:bodyPr/>
                    <a:lstStyle/>
                    <a:p>
                      <a:r>
                        <a:rPr lang="en-US" sz="1200"/>
                        <a:t>0</a:t>
                      </a:r>
                    </a:p>
                  </a:txBody>
                  <a:tcPr/>
                </a:tc>
                <a:tc>
                  <a:txBody>
                    <a:bodyPr/>
                    <a:lstStyle/>
                    <a:p>
                      <a:r>
                        <a:rPr lang="en-US" sz="1200"/>
                        <a:t>0</a:t>
                      </a:r>
                    </a:p>
                  </a:txBody>
                  <a:tcPr/>
                </a:tc>
                <a:tc>
                  <a:txBody>
                    <a:bodyPr/>
                    <a:lstStyle/>
                    <a:p>
                      <a:r>
                        <a:rPr lang="en-US" sz="1200"/>
                        <a:t>Never</a:t>
                      </a:r>
                    </a:p>
                  </a:txBody>
                  <a:tcPr/>
                </a:tc>
                <a:tc>
                  <a:txBody>
                    <a:bodyPr/>
                    <a:lstStyle/>
                    <a:p>
                      <a:pPr algn="ctr"/>
                      <a:r>
                        <a:rPr lang="en-US" sz="1200"/>
                        <a:t>85</a:t>
                      </a:r>
                    </a:p>
                  </a:txBody>
                  <a:tcPr>
                    <a:solidFill>
                      <a:schemeClr val="accent6">
                        <a:lumMod val="60000"/>
                        <a:lumOff val="40000"/>
                      </a:schemeClr>
                    </a:solidFill>
                  </a:tcPr>
                </a:tc>
                <a:tc>
                  <a:txBody>
                    <a:bodyPr/>
                    <a:lstStyle/>
                    <a:p>
                      <a:r>
                        <a:rPr lang="en-US" sz="1200"/>
                        <a:t>NOP</a:t>
                      </a:r>
                    </a:p>
                  </a:txBody>
                  <a:tcPr>
                    <a:solidFill>
                      <a:schemeClr val="accent6">
                        <a:lumMod val="60000"/>
                        <a:lumOff val="40000"/>
                      </a:schemeClr>
                    </a:solidFill>
                  </a:tcPr>
                </a:tc>
                <a:extLst>
                  <a:ext uri="{0D108BD9-81ED-4DB2-BD59-A6C34878D82A}">
                    <a16:rowId xmlns:a16="http://schemas.microsoft.com/office/drawing/2014/main" val="1247815021"/>
                  </a:ext>
                </a:extLst>
              </a:tr>
              <a:tr h="274320">
                <a:tc>
                  <a:txBody>
                    <a:bodyPr/>
                    <a:lstStyle/>
                    <a:p>
                      <a:r>
                        <a:rPr lang="en-US" sz="1200"/>
                        <a:t>1</a:t>
                      </a:r>
                    </a:p>
                  </a:txBody>
                  <a:tcPr/>
                </a:tc>
                <a:tc>
                  <a:txBody>
                    <a:bodyPr/>
                    <a:lstStyle/>
                    <a:p>
                      <a:r>
                        <a:rPr lang="en-US" sz="1200"/>
                        <a:t>0</a:t>
                      </a:r>
                    </a:p>
                  </a:txBody>
                  <a:tcPr/>
                </a:tc>
                <a:tc>
                  <a:txBody>
                    <a:bodyPr/>
                    <a:lstStyle/>
                    <a:p>
                      <a:r>
                        <a:rPr lang="en-US" sz="1200"/>
                        <a:t>1</a:t>
                      </a:r>
                    </a:p>
                  </a:txBody>
                  <a:tcPr/>
                </a:tc>
                <a:tc>
                  <a:txBody>
                    <a:bodyPr/>
                    <a:lstStyle/>
                    <a:p>
                      <a:r>
                        <a:rPr lang="en-US" sz="1200"/>
                        <a:t>!N</a:t>
                      </a:r>
                    </a:p>
                  </a:txBody>
                  <a:tcPr/>
                </a:tc>
                <a:tc>
                  <a:txBody>
                    <a:bodyPr/>
                    <a:lstStyle/>
                    <a:p>
                      <a:pPr algn="ctr"/>
                      <a:r>
                        <a:rPr lang="en-US" sz="1200"/>
                        <a:t>A5</a:t>
                      </a:r>
                    </a:p>
                  </a:txBody>
                  <a:tcPr>
                    <a:solidFill>
                      <a:schemeClr val="accent6">
                        <a:lumMod val="60000"/>
                        <a:lumOff val="40000"/>
                      </a:schemeClr>
                    </a:solidFill>
                  </a:tcPr>
                </a:tc>
                <a:tc>
                  <a:txBody>
                    <a:bodyPr/>
                    <a:lstStyle/>
                    <a:p>
                      <a:r>
                        <a:rPr lang="en-US" sz="1200"/>
                        <a:t>BPL – Branch on Plus</a:t>
                      </a:r>
                    </a:p>
                  </a:txBody>
                  <a:tcPr>
                    <a:solidFill>
                      <a:schemeClr val="accent6">
                        <a:lumMod val="60000"/>
                        <a:lumOff val="40000"/>
                      </a:schemeClr>
                    </a:solidFill>
                  </a:tcPr>
                </a:tc>
                <a:extLst>
                  <a:ext uri="{0D108BD9-81ED-4DB2-BD59-A6C34878D82A}">
                    <a16:rowId xmlns:a16="http://schemas.microsoft.com/office/drawing/2014/main" val="516787940"/>
                  </a:ext>
                </a:extLst>
              </a:tr>
              <a:tr h="274320">
                <a:tc>
                  <a:txBody>
                    <a:bodyPr/>
                    <a:lstStyle/>
                    <a:p>
                      <a:r>
                        <a:rPr lang="en-US" sz="1200"/>
                        <a:t>1</a:t>
                      </a:r>
                    </a:p>
                  </a:txBody>
                  <a:tcPr/>
                </a:tc>
                <a:tc>
                  <a:txBody>
                    <a:bodyPr/>
                    <a:lstStyle/>
                    <a:p>
                      <a:r>
                        <a:rPr lang="en-US" sz="1200"/>
                        <a:t>1</a:t>
                      </a:r>
                    </a:p>
                  </a:txBody>
                  <a:tcPr/>
                </a:tc>
                <a:tc>
                  <a:txBody>
                    <a:bodyPr/>
                    <a:lstStyle/>
                    <a:p>
                      <a:r>
                        <a:rPr lang="en-US" sz="1200"/>
                        <a:t>0</a:t>
                      </a:r>
                    </a:p>
                  </a:txBody>
                  <a:tcPr/>
                </a:tc>
                <a:tc>
                  <a:txBody>
                    <a:bodyPr/>
                    <a:lstStyle/>
                    <a:p>
                      <a:r>
                        <a:rPr lang="en-US" sz="1200"/>
                        <a:t>!C</a:t>
                      </a:r>
                    </a:p>
                  </a:txBody>
                  <a:tcPr/>
                </a:tc>
                <a:tc>
                  <a:txBody>
                    <a:bodyPr/>
                    <a:lstStyle/>
                    <a:p>
                      <a:pPr algn="ctr"/>
                      <a:r>
                        <a:rPr lang="en-US" sz="1200"/>
                        <a:t>C5</a:t>
                      </a:r>
                    </a:p>
                  </a:txBody>
                  <a:tcPr>
                    <a:solidFill>
                      <a:schemeClr val="accent6">
                        <a:lumMod val="60000"/>
                        <a:lumOff val="40000"/>
                      </a:schemeClr>
                    </a:solidFill>
                  </a:tcPr>
                </a:tc>
                <a:tc>
                  <a:txBody>
                    <a:bodyPr/>
                    <a:lstStyle/>
                    <a:p>
                      <a:r>
                        <a:rPr lang="en-US" sz="1200"/>
                        <a:t>BCC – Branch Carry Clear</a:t>
                      </a:r>
                    </a:p>
                  </a:txBody>
                  <a:tcPr>
                    <a:solidFill>
                      <a:schemeClr val="accent6">
                        <a:lumMod val="60000"/>
                        <a:lumOff val="40000"/>
                      </a:schemeClr>
                    </a:solidFill>
                  </a:tcPr>
                </a:tc>
                <a:extLst>
                  <a:ext uri="{0D108BD9-81ED-4DB2-BD59-A6C34878D82A}">
                    <a16:rowId xmlns:a16="http://schemas.microsoft.com/office/drawing/2014/main" val="3876475581"/>
                  </a:ext>
                </a:extLst>
              </a:tr>
              <a:tr h="274320">
                <a:tc>
                  <a:txBody>
                    <a:bodyPr/>
                    <a:lstStyle/>
                    <a:p>
                      <a:r>
                        <a:rPr lang="en-US" sz="1200"/>
                        <a:t>1</a:t>
                      </a:r>
                    </a:p>
                  </a:txBody>
                  <a:tcPr/>
                </a:tc>
                <a:tc>
                  <a:txBody>
                    <a:bodyPr/>
                    <a:lstStyle/>
                    <a:p>
                      <a:r>
                        <a:rPr lang="en-US" sz="1200"/>
                        <a:t>1</a:t>
                      </a:r>
                    </a:p>
                  </a:txBody>
                  <a:tcPr/>
                </a:tc>
                <a:tc>
                  <a:txBody>
                    <a:bodyPr/>
                    <a:lstStyle/>
                    <a:p>
                      <a:r>
                        <a:rPr lang="en-US" sz="1200"/>
                        <a:t>1</a:t>
                      </a:r>
                    </a:p>
                  </a:txBody>
                  <a:tcPr/>
                </a:tc>
                <a:tc>
                  <a:txBody>
                    <a:bodyPr/>
                    <a:lstStyle/>
                    <a:p>
                      <a:r>
                        <a:rPr lang="en-US" sz="1200"/>
                        <a:t>!Z</a:t>
                      </a:r>
                    </a:p>
                  </a:txBody>
                  <a:tcPr/>
                </a:tc>
                <a:tc>
                  <a:txBody>
                    <a:bodyPr/>
                    <a:lstStyle/>
                    <a:p>
                      <a:pPr algn="ctr"/>
                      <a:r>
                        <a:rPr lang="en-US" sz="1200"/>
                        <a:t>E5</a:t>
                      </a:r>
                    </a:p>
                  </a:txBody>
                  <a:tcPr>
                    <a:solidFill>
                      <a:schemeClr val="accent6">
                        <a:lumMod val="60000"/>
                        <a:lumOff val="40000"/>
                      </a:schemeClr>
                    </a:solidFill>
                  </a:tcPr>
                </a:tc>
                <a:tc>
                  <a:txBody>
                    <a:bodyPr/>
                    <a:lstStyle/>
                    <a:p>
                      <a:r>
                        <a:rPr lang="en-US" sz="1200"/>
                        <a:t>BNE</a:t>
                      </a:r>
                    </a:p>
                  </a:txBody>
                  <a:tcPr>
                    <a:solidFill>
                      <a:schemeClr val="accent6">
                        <a:lumMod val="60000"/>
                        <a:lumOff val="40000"/>
                      </a:schemeClr>
                    </a:solidFill>
                  </a:tcPr>
                </a:tc>
                <a:extLst>
                  <a:ext uri="{0D108BD9-81ED-4DB2-BD59-A6C34878D82A}">
                    <a16:rowId xmlns:a16="http://schemas.microsoft.com/office/drawing/2014/main" val="2778710779"/>
                  </a:ext>
                </a:extLst>
              </a:tr>
            </a:tbl>
          </a:graphicData>
        </a:graphic>
      </p:graphicFrame>
      <p:sp>
        <p:nvSpPr>
          <p:cNvPr id="11" name="TextBox 10">
            <a:extLst>
              <a:ext uri="{FF2B5EF4-FFF2-40B4-BE49-F238E27FC236}">
                <a16:creationId xmlns:a16="http://schemas.microsoft.com/office/drawing/2014/main" id="{F18A3303-6AE1-4192-B847-C968E4DE1C58}"/>
              </a:ext>
            </a:extLst>
          </p:cNvPr>
          <p:cNvSpPr txBox="1"/>
          <p:nvPr/>
        </p:nvSpPr>
        <p:spPr>
          <a:xfrm>
            <a:off x="11305310" y="1"/>
            <a:ext cx="931665" cy="1862048"/>
          </a:xfrm>
          <a:prstGeom prst="rect">
            <a:avLst/>
          </a:prstGeom>
          <a:noFill/>
        </p:spPr>
        <p:txBody>
          <a:bodyPr wrap="none" rtlCol="0">
            <a:spAutoFit/>
          </a:bodyPr>
          <a:lstStyle/>
          <a:p>
            <a:r>
              <a:rPr lang="en-US" sz="11500">
                <a:solidFill>
                  <a:schemeClr val="accent1">
                    <a:lumMod val="60000"/>
                    <a:lumOff val="40000"/>
                  </a:schemeClr>
                </a:solidFill>
              </a:rPr>
              <a:t>5</a:t>
            </a:r>
          </a:p>
        </p:txBody>
      </p:sp>
      <p:pic>
        <p:nvPicPr>
          <p:cNvPr id="2" name="Picture 1">
            <a:hlinkClick r:id="rId2" action="ppaction://hlinksldjump"/>
            <a:extLst>
              <a:ext uri="{FF2B5EF4-FFF2-40B4-BE49-F238E27FC236}">
                <a16:creationId xmlns:a16="http://schemas.microsoft.com/office/drawing/2014/main" id="{FD1D1998-893E-816C-E680-D335182C6710}"/>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813AD663-B548-7EA0-9E8D-F633A5846F15}"/>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121</a:t>
            </a:fld>
            <a:endParaRPr lang="en-US" b="1">
              <a:solidFill>
                <a:schemeClr val="bg1"/>
              </a:solidFill>
            </a:endParaRPr>
          </a:p>
        </p:txBody>
      </p:sp>
      <p:graphicFrame>
        <p:nvGraphicFramePr>
          <p:cNvPr id="14" name="Table 4">
            <a:extLst>
              <a:ext uri="{FF2B5EF4-FFF2-40B4-BE49-F238E27FC236}">
                <a16:creationId xmlns:a16="http://schemas.microsoft.com/office/drawing/2014/main" id="{47BD0506-A296-74EB-7A38-F1734A490F7E}"/>
              </a:ext>
            </a:extLst>
          </p:cNvPr>
          <p:cNvGraphicFramePr>
            <a:graphicFrameLocks noGrp="1"/>
          </p:cNvGraphicFramePr>
          <p:nvPr>
            <p:extLst>
              <p:ext uri="{D42A27DB-BD31-4B8C-83A1-F6EECF244321}">
                <p14:modId xmlns:p14="http://schemas.microsoft.com/office/powerpoint/2010/main" val="940534924"/>
              </p:ext>
            </p:extLst>
          </p:nvPr>
        </p:nvGraphicFramePr>
        <p:xfrm>
          <a:off x="193268" y="742463"/>
          <a:ext cx="4329725" cy="436342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322480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B37F6BA-4FCB-CDEB-8542-5BC10E6391A7}"/>
              </a:ext>
            </a:extLst>
          </p:cNvPr>
          <p:cNvSpPr>
            <a:spLocks noGrp="1"/>
          </p:cNvSpPr>
          <p:nvPr>
            <p:ph type="ctrTitle"/>
          </p:nvPr>
        </p:nvSpPr>
        <p:spPr>
          <a:xfrm>
            <a:off x="914400" y="182880"/>
            <a:ext cx="9144000" cy="457200"/>
          </a:xfrm>
        </p:spPr>
        <p:txBody>
          <a:bodyPr/>
          <a:lstStyle/>
          <a:p>
            <a:r>
              <a:rPr lang="en-US"/>
              <a:t>Micro-Instructions Control: ALU immediate (4-bit) (00110)</a:t>
            </a:r>
          </a:p>
        </p:txBody>
      </p:sp>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extLst>
              <p:ext uri="{D42A27DB-BD31-4B8C-83A1-F6EECF244321}">
                <p14:modId xmlns:p14="http://schemas.microsoft.com/office/powerpoint/2010/main" val="2859066101"/>
              </p:ext>
            </p:extLst>
          </p:nvPr>
        </p:nvGraphicFramePr>
        <p:xfrm>
          <a:off x="4716584" y="742463"/>
          <a:ext cx="5638801" cy="3540760"/>
        </p:xfrm>
        <a:graphic>
          <a:graphicData uri="http://schemas.openxmlformats.org/drawingml/2006/table">
            <a:tbl>
              <a:tblPr firstRow="1" bandRow="1">
                <a:tableStyleId>{5C22544A-7EE6-4342-B048-85BDC9FD1C3A}</a:tableStyleId>
              </a:tblPr>
              <a:tblGrid>
                <a:gridCol w="855787">
                  <a:extLst>
                    <a:ext uri="{9D8B030D-6E8A-4147-A177-3AD203B41FA5}">
                      <a16:colId xmlns:a16="http://schemas.microsoft.com/office/drawing/2014/main" val="1217920130"/>
                    </a:ext>
                  </a:extLst>
                </a:gridCol>
                <a:gridCol w="2294891">
                  <a:extLst>
                    <a:ext uri="{9D8B030D-6E8A-4147-A177-3AD203B41FA5}">
                      <a16:colId xmlns:a16="http://schemas.microsoft.com/office/drawing/2014/main" val="1475888205"/>
                    </a:ext>
                  </a:extLst>
                </a:gridCol>
                <a:gridCol w="2488124">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579120">
                <a:tc>
                  <a:txBody>
                    <a:bodyPr/>
                    <a:lstStyle/>
                    <a:p>
                      <a:pPr algn="ctr"/>
                      <a:r>
                        <a:rPr lang="en-US" sz="1600"/>
                        <a:t>0</a:t>
                      </a:r>
                    </a:p>
                  </a:txBody>
                  <a:tcPr/>
                </a:tc>
                <a:tc>
                  <a:txBody>
                    <a:bodyPr/>
                    <a:lstStyle/>
                    <a:p>
                      <a:pPr algn="l"/>
                      <a:r>
                        <a:rPr lang="en-US" sz="1600"/>
                        <a:t>10_0000_0001_0010 = 2012</a:t>
                      </a:r>
                    </a:p>
                  </a:txBody>
                  <a:tcPr/>
                </a:tc>
                <a:tc>
                  <a:txBody>
                    <a:bodyPr/>
                    <a:lstStyle/>
                    <a:p>
                      <a:pPr algn="l"/>
                      <a:r>
                        <a:rPr lang="en-US" sz="1600"/>
                        <a:t>Load Rd to reg A</a:t>
                      </a:r>
                    </a:p>
                  </a:txBody>
                  <a:tcPr/>
                </a:tc>
                <a:extLst>
                  <a:ext uri="{0D108BD9-81ED-4DB2-BD59-A6C34878D82A}">
                    <a16:rowId xmlns:a16="http://schemas.microsoft.com/office/drawing/2014/main" val="2570910443"/>
                  </a:ext>
                </a:extLst>
              </a:tr>
              <a:tr h="370840">
                <a:tc>
                  <a:txBody>
                    <a:bodyPr/>
                    <a:lstStyle/>
                    <a:p>
                      <a:pPr algn="ctr"/>
                      <a:r>
                        <a:rPr lang="en-US" sz="16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0100_0001 = 0x0041</a:t>
                      </a:r>
                    </a:p>
                  </a:txBody>
                  <a:tcPr/>
                </a:tc>
                <a:tc>
                  <a:txBody>
                    <a:bodyPr/>
                    <a:lstStyle/>
                    <a:p>
                      <a:pPr algn="l"/>
                      <a:r>
                        <a:rPr lang="en-US" sz="1600"/>
                        <a:t>Load 4 bit </a:t>
                      </a:r>
                      <a:r>
                        <a:rPr lang="en-US" sz="1600" err="1"/>
                        <a:t>imm</a:t>
                      </a:r>
                      <a:r>
                        <a:rPr lang="en-US" sz="1600"/>
                        <a:t> to reg B</a:t>
                      </a:r>
                    </a:p>
                  </a:txBody>
                  <a:tcPr/>
                </a:tc>
                <a:extLst>
                  <a:ext uri="{0D108BD9-81ED-4DB2-BD59-A6C34878D82A}">
                    <a16:rowId xmlns:a16="http://schemas.microsoft.com/office/drawing/2014/main" val="631651838"/>
                  </a:ext>
                </a:extLst>
              </a:tr>
              <a:tr h="370840">
                <a:tc>
                  <a:txBody>
                    <a:bodyPr/>
                    <a:lstStyle/>
                    <a:p>
                      <a:pPr algn="ctr"/>
                      <a:r>
                        <a:rPr lang="en-US" sz="16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0010_0100 = 0x0024</a:t>
                      </a:r>
                    </a:p>
                  </a:txBody>
                  <a:tcPr/>
                </a:tc>
                <a:tc>
                  <a:txBody>
                    <a:bodyPr/>
                    <a:lstStyle/>
                    <a:p>
                      <a:pPr algn="l"/>
                      <a:r>
                        <a:rPr lang="en-US" sz="1600"/>
                        <a:t>Write ALU output to Rd</a:t>
                      </a:r>
                    </a:p>
                  </a:txBody>
                  <a:tcPr/>
                </a:tc>
                <a:extLst>
                  <a:ext uri="{0D108BD9-81ED-4DB2-BD59-A6C34878D82A}">
                    <a16:rowId xmlns:a16="http://schemas.microsoft.com/office/drawing/2014/main" val="1592812184"/>
                  </a:ext>
                </a:extLst>
              </a:tr>
              <a:tr h="370840">
                <a:tc>
                  <a:txBody>
                    <a:bodyPr/>
                    <a:lstStyle/>
                    <a:p>
                      <a:pPr algn="ctr"/>
                      <a:r>
                        <a:rPr lang="en-US" sz="1600"/>
                        <a:t>3</a:t>
                      </a:r>
                    </a:p>
                  </a:txBody>
                  <a:tcPr/>
                </a:tc>
                <a:tc>
                  <a:txBody>
                    <a:bodyPr/>
                    <a:lstStyle/>
                    <a:p>
                      <a:pPr algn="l"/>
                      <a:r>
                        <a:rPr lang="en-US" sz="1600"/>
                        <a:t>1000_0000 = 0x0080</a:t>
                      </a:r>
                    </a:p>
                  </a:txBody>
                  <a:tcPr/>
                </a:tc>
                <a:tc>
                  <a:txBody>
                    <a:bodyPr/>
                    <a:lstStyle/>
                    <a:p>
                      <a:pPr algn="l"/>
                      <a:r>
                        <a:rPr lang="en-US" sz="1600"/>
                        <a:t>Increment PC</a:t>
                      </a:r>
                    </a:p>
                  </a:txBody>
                  <a:tcPr/>
                </a:tc>
                <a:extLst>
                  <a:ext uri="{0D108BD9-81ED-4DB2-BD59-A6C34878D82A}">
                    <a16:rowId xmlns:a16="http://schemas.microsoft.com/office/drawing/2014/main" val="2225793510"/>
                  </a:ext>
                </a:extLst>
              </a:tr>
              <a:tr h="370840">
                <a:tc>
                  <a:txBody>
                    <a:bodyPr/>
                    <a:lstStyle/>
                    <a:p>
                      <a:pPr algn="ctr"/>
                      <a:r>
                        <a:rPr lang="en-US" sz="1600"/>
                        <a:t>4</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1046366285"/>
                  </a:ext>
                </a:extLst>
              </a:tr>
              <a:tr h="370840">
                <a:tc>
                  <a:txBody>
                    <a:bodyPr/>
                    <a:lstStyle/>
                    <a:p>
                      <a:pPr algn="ctr"/>
                      <a:r>
                        <a:rPr lang="en-US" sz="1600"/>
                        <a:t>5</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2615342211"/>
                  </a:ext>
                </a:extLst>
              </a:tr>
              <a:tr h="370840">
                <a:tc>
                  <a:txBody>
                    <a:bodyPr/>
                    <a:lstStyle/>
                    <a:p>
                      <a:pPr algn="ctr"/>
                      <a:r>
                        <a:rPr lang="en-US" sz="1600"/>
                        <a:t>6</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2055856817"/>
                  </a:ext>
                </a:extLst>
              </a:tr>
              <a:tr h="370840">
                <a:tc>
                  <a:txBody>
                    <a:bodyPr/>
                    <a:lstStyle/>
                    <a:p>
                      <a:pPr algn="ctr"/>
                      <a:r>
                        <a:rPr lang="en-US" sz="1600"/>
                        <a:t>7</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3502991894"/>
                  </a:ext>
                </a:extLst>
              </a:tr>
            </a:tbl>
          </a:graphicData>
        </a:graphic>
      </p:graphicFrame>
      <p:graphicFrame>
        <p:nvGraphicFramePr>
          <p:cNvPr id="6" name="Table 4">
            <a:extLst>
              <a:ext uri="{FF2B5EF4-FFF2-40B4-BE49-F238E27FC236}">
                <a16:creationId xmlns:a16="http://schemas.microsoft.com/office/drawing/2014/main" id="{0DFA9C31-EF12-4E73-95D6-4A8DD48CB5A3}"/>
              </a:ext>
            </a:extLst>
          </p:cNvPr>
          <p:cNvGraphicFramePr>
            <a:graphicFrameLocks noGrp="1"/>
          </p:cNvGraphicFramePr>
          <p:nvPr/>
        </p:nvGraphicFramePr>
        <p:xfrm>
          <a:off x="179752" y="5619913"/>
          <a:ext cx="9276861" cy="736600"/>
        </p:xfrm>
        <a:graphic>
          <a:graphicData uri="http://schemas.openxmlformats.org/drawingml/2006/table">
            <a:tbl>
              <a:tblPr firstRow="1" bandRow="1">
                <a:tableStyleId>{5C22544A-7EE6-4342-B048-85BDC9FD1C3A}</a:tableStyleId>
              </a:tblPr>
              <a:tblGrid>
                <a:gridCol w="1312985">
                  <a:extLst>
                    <a:ext uri="{9D8B030D-6E8A-4147-A177-3AD203B41FA5}">
                      <a16:colId xmlns:a16="http://schemas.microsoft.com/office/drawing/2014/main" val="1810408170"/>
                    </a:ext>
                  </a:extLst>
                </a:gridCol>
                <a:gridCol w="2089399">
                  <a:extLst>
                    <a:ext uri="{9D8B030D-6E8A-4147-A177-3AD203B41FA5}">
                      <a16:colId xmlns:a16="http://schemas.microsoft.com/office/drawing/2014/main" val="1217920130"/>
                    </a:ext>
                  </a:extLst>
                </a:gridCol>
                <a:gridCol w="824031">
                  <a:extLst>
                    <a:ext uri="{9D8B030D-6E8A-4147-A177-3AD203B41FA5}">
                      <a16:colId xmlns:a16="http://schemas.microsoft.com/office/drawing/2014/main" val="1475888205"/>
                    </a:ext>
                  </a:extLst>
                </a:gridCol>
                <a:gridCol w="1262612">
                  <a:extLst>
                    <a:ext uri="{9D8B030D-6E8A-4147-A177-3AD203B41FA5}">
                      <a16:colId xmlns:a16="http://schemas.microsoft.com/office/drawing/2014/main" val="1355185516"/>
                    </a:ext>
                  </a:extLst>
                </a:gridCol>
                <a:gridCol w="1584927">
                  <a:extLst>
                    <a:ext uri="{9D8B030D-6E8A-4147-A177-3AD203B41FA5}">
                      <a16:colId xmlns:a16="http://schemas.microsoft.com/office/drawing/2014/main" val="2050007723"/>
                    </a:ext>
                  </a:extLst>
                </a:gridCol>
                <a:gridCol w="1149517">
                  <a:extLst>
                    <a:ext uri="{9D8B030D-6E8A-4147-A177-3AD203B41FA5}">
                      <a16:colId xmlns:a16="http://schemas.microsoft.com/office/drawing/2014/main" val="3099546510"/>
                    </a:ext>
                  </a:extLst>
                </a:gridCol>
                <a:gridCol w="1053392">
                  <a:extLst>
                    <a:ext uri="{9D8B030D-6E8A-4147-A177-3AD203B41FA5}">
                      <a16:colId xmlns:a16="http://schemas.microsoft.com/office/drawing/2014/main" val="1677154990"/>
                    </a:ext>
                  </a:extLst>
                </a:gridCol>
              </a:tblGrid>
              <a:tr h="370840">
                <a:tc>
                  <a:txBody>
                    <a:bodyPr/>
                    <a:lstStyle/>
                    <a:p>
                      <a:r>
                        <a:rPr lang="en-US" sz="1300"/>
                        <a:t>Type</a:t>
                      </a:r>
                    </a:p>
                  </a:txBody>
                  <a:tcPr/>
                </a:tc>
                <a:tc>
                  <a:txBody>
                    <a:bodyPr/>
                    <a:lstStyle/>
                    <a:p>
                      <a:r>
                        <a:rPr lang="en-US" sz="1300"/>
                        <a:t>15 14 13 12 </a:t>
                      </a:r>
                    </a:p>
                  </a:txBody>
                  <a:tcPr/>
                </a:tc>
                <a:tc>
                  <a:txBody>
                    <a:bodyPr/>
                    <a:lstStyle/>
                    <a:p>
                      <a:r>
                        <a:rPr lang="en-US" sz="1300"/>
                        <a:t>11 10</a:t>
                      </a:r>
                    </a:p>
                  </a:txBody>
                  <a:tcPr/>
                </a:tc>
                <a:tc>
                  <a:txBody>
                    <a:bodyPr/>
                    <a:lstStyle/>
                    <a:p>
                      <a:r>
                        <a:rPr lang="en-US" sz="1300"/>
                        <a:t>9 8</a:t>
                      </a:r>
                    </a:p>
                  </a:txBody>
                  <a:tcPr/>
                </a:tc>
                <a:tc>
                  <a:txBody>
                    <a:bodyPr/>
                    <a:lstStyle/>
                    <a:p>
                      <a:r>
                        <a:rPr lang="en-US" sz="1300"/>
                        <a:t>7 6 5 4</a:t>
                      </a:r>
                    </a:p>
                  </a:txBody>
                  <a:tcPr/>
                </a:tc>
                <a:tc>
                  <a:txBody>
                    <a:bodyPr/>
                    <a:lstStyle/>
                    <a:p>
                      <a:r>
                        <a:rPr lang="en-US" sz="1300"/>
                        <a:t>3 2</a:t>
                      </a:r>
                    </a:p>
                  </a:txBody>
                  <a:tcPr/>
                </a:tc>
                <a:tc>
                  <a:txBody>
                    <a:bodyPr/>
                    <a:lstStyle/>
                    <a:p>
                      <a:r>
                        <a:rPr lang="en-US" sz="1300"/>
                        <a:t>1 0</a:t>
                      </a:r>
                    </a:p>
                  </a:txBody>
                  <a:tcPr/>
                </a:tc>
                <a:extLst>
                  <a:ext uri="{0D108BD9-81ED-4DB2-BD59-A6C34878D82A}">
                    <a16:rowId xmlns:a16="http://schemas.microsoft.com/office/drawing/2014/main" val="2319756336"/>
                  </a:ext>
                </a:extLst>
              </a:tr>
              <a:tr h="297180">
                <a:tc>
                  <a:txBody>
                    <a:bodyPr/>
                    <a:lstStyle/>
                    <a:p>
                      <a:pPr algn="ctr"/>
                      <a:r>
                        <a:rPr lang="en-US" sz="1300"/>
                        <a:t>ALU</a:t>
                      </a:r>
                    </a:p>
                  </a:txBody>
                  <a:tcPr/>
                </a:tc>
                <a:tc>
                  <a:txBody>
                    <a:bodyPr/>
                    <a:lstStyle/>
                    <a:p>
                      <a:pPr algn="ctr"/>
                      <a:r>
                        <a:rPr lang="en-US" sz="1300"/>
                        <a:t>OpCode</a:t>
                      </a:r>
                    </a:p>
                  </a:txBody>
                  <a:tcPr/>
                </a:tc>
                <a:tc>
                  <a:txBody>
                    <a:bodyPr/>
                    <a:lstStyle/>
                    <a:p>
                      <a:pPr algn="ctr"/>
                      <a:r>
                        <a:rPr lang="en-US" sz="1300"/>
                        <a:t>XX</a:t>
                      </a:r>
                    </a:p>
                  </a:txBody>
                  <a:tcPr/>
                </a:tc>
                <a:tc>
                  <a:txBody>
                    <a:bodyPr/>
                    <a:lstStyle/>
                    <a:p>
                      <a:pPr algn="ctr"/>
                      <a:r>
                        <a:rPr lang="en-US" sz="1300"/>
                        <a:t>Rd</a:t>
                      </a:r>
                    </a:p>
                  </a:txBody>
                  <a:tcPr/>
                </a:tc>
                <a:tc>
                  <a:txBody>
                    <a:bodyPr/>
                    <a:lstStyle/>
                    <a:p>
                      <a:pPr algn="ctr"/>
                      <a:r>
                        <a:rPr lang="en-US" sz="1300"/>
                        <a:t>Function</a:t>
                      </a:r>
                    </a:p>
                  </a:txBody>
                  <a:tcPr/>
                </a:tc>
                <a:tc>
                  <a:txBody>
                    <a:bodyPr/>
                    <a:lstStyle/>
                    <a:p>
                      <a:pPr algn="ctr"/>
                      <a:r>
                        <a:rPr lang="en-US" sz="1300"/>
                        <a:t>Rs1</a:t>
                      </a:r>
                    </a:p>
                  </a:txBody>
                  <a:tcPr/>
                </a:tc>
                <a:tc>
                  <a:txBody>
                    <a:bodyPr/>
                    <a:lstStyle/>
                    <a:p>
                      <a:pPr algn="ctr"/>
                      <a:r>
                        <a:rPr lang="en-US" sz="1300"/>
                        <a:t>Rs2</a:t>
                      </a:r>
                    </a:p>
                  </a:txBody>
                  <a:tcPr/>
                </a:tc>
                <a:extLst>
                  <a:ext uri="{0D108BD9-81ED-4DB2-BD59-A6C34878D82A}">
                    <a16:rowId xmlns:a16="http://schemas.microsoft.com/office/drawing/2014/main" val="2570910443"/>
                  </a:ext>
                </a:extLst>
              </a:tr>
            </a:tbl>
          </a:graphicData>
        </a:graphic>
      </p:graphicFrame>
      <p:graphicFrame>
        <p:nvGraphicFramePr>
          <p:cNvPr id="8" name="Table 4">
            <a:extLst>
              <a:ext uri="{FF2B5EF4-FFF2-40B4-BE49-F238E27FC236}">
                <a16:creationId xmlns:a16="http://schemas.microsoft.com/office/drawing/2014/main" id="{438A22CA-2606-4EC2-9E31-AA955DF6E237}"/>
              </a:ext>
            </a:extLst>
          </p:cNvPr>
          <p:cNvGraphicFramePr>
            <a:graphicFrameLocks noGrp="1"/>
          </p:cNvGraphicFramePr>
          <p:nvPr>
            <p:extLst>
              <p:ext uri="{D42A27DB-BD31-4B8C-83A1-F6EECF244321}">
                <p14:modId xmlns:p14="http://schemas.microsoft.com/office/powerpoint/2010/main" val="100097335"/>
              </p:ext>
            </p:extLst>
          </p:nvPr>
        </p:nvGraphicFramePr>
        <p:xfrm>
          <a:off x="179753" y="5619913"/>
          <a:ext cx="9276863" cy="736600"/>
        </p:xfrm>
        <a:graphic>
          <a:graphicData uri="http://schemas.openxmlformats.org/drawingml/2006/table">
            <a:tbl>
              <a:tblPr firstRow="1" bandRow="1">
                <a:tableStyleId>{5C22544A-7EE6-4342-B048-85BDC9FD1C3A}</a:tableStyleId>
              </a:tblPr>
              <a:tblGrid>
                <a:gridCol w="1071627">
                  <a:extLst>
                    <a:ext uri="{9D8B030D-6E8A-4147-A177-3AD203B41FA5}">
                      <a16:colId xmlns:a16="http://schemas.microsoft.com/office/drawing/2014/main" val="1810408170"/>
                    </a:ext>
                  </a:extLst>
                </a:gridCol>
                <a:gridCol w="1859147">
                  <a:extLst>
                    <a:ext uri="{9D8B030D-6E8A-4147-A177-3AD203B41FA5}">
                      <a16:colId xmlns:a16="http://schemas.microsoft.com/office/drawing/2014/main" val="950391025"/>
                    </a:ext>
                  </a:extLst>
                </a:gridCol>
                <a:gridCol w="2595403">
                  <a:extLst>
                    <a:ext uri="{9D8B030D-6E8A-4147-A177-3AD203B41FA5}">
                      <a16:colId xmlns:a16="http://schemas.microsoft.com/office/drawing/2014/main" val="1475888205"/>
                    </a:ext>
                  </a:extLst>
                </a:gridCol>
                <a:gridCol w="765213">
                  <a:extLst>
                    <a:ext uri="{9D8B030D-6E8A-4147-A177-3AD203B41FA5}">
                      <a16:colId xmlns:a16="http://schemas.microsoft.com/office/drawing/2014/main" val="1355185516"/>
                    </a:ext>
                  </a:extLst>
                </a:gridCol>
                <a:gridCol w="820616">
                  <a:extLst>
                    <a:ext uri="{9D8B030D-6E8A-4147-A177-3AD203B41FA5}">
                      <a16:colId xmlns:a16="http://schemas.microsoft.com/office/drawing/2014/main" val="2050007723"/>
                    </a:ext>
                  </a:extLst>
                </a:gridCol>
                <a:gridCol w="2164859">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15 14 13 12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ALU</a:t>
                      </a:r>
                    </a:p>
                  </a:txBody>
                  <a:tcPr>
                    <a:solidFill>
                      <a:schemeClr val="accent6"/>
                    </a:solidFill>
                  </a:tcPr>
                </a:tc>
                <a:tc>
                  <a:txBody>
                    <a:bodyPr/>
                    <a:lstStyle/>
                    <a:p>
                      <a:pPr algn="ctr"/>
                      <a:r>
                        <a:rPr lang="en-US" sz="1300"/>
                        <a:t>4-bit </a:t>
                      </a:r>
                      <a:r>
                        <a:rPr lang="en-US" sz="1300" err="1"/>
                        <a:t>imm</a:t>
                      </a:r>
                      <a:r>
                        <a:rPr lang="en-US" sz="1300"/>
                        <a:t>.</a:t>
                      </a:r>
                    </a:p>
                  </a:txBody>
                  <a:tcPr/>
                </a:tc>
                <a:tc>
                  <a:txBody>
                    <a:bodyPr/>
                    <a:lstStyle/>
                    <a:p>
                      <a:pPr algn="ctr"/>
                      <a:r>
                        <a:rPr lang="en-US" sz="1300"/>
                        <a:t>S2 S1 S0 SF (Function </a:t>
                      </a:r>
                      <a:r>
                        <a:rPr lang="en-US" sz="1300" err="1"/>
                        <a:t>sel</a:t>
                      </a:r>
                      <a:r>
                        <a:rPr lang="en-US" sz="1300"/>
                        <a:t>)</a:t>
                      </a:r>
                    </a:p>
                  </a:txBody>
                  <a:tcPr/>
                </a:tc>
                <a:tc>
                  <a:txBody>
                    <a:bodyPr/>
                    <a:lstStyle/>
                    <a:p>
                      <a:pPr algn="ctr"/>
                      <a:r>
                        <a:rPr lang="en-US" sz="1300"/>
                        <a:t>Rd</a:t>
                      </a:r>
                    </a:p>
                  </a:txBody>
                  <a:tcPr/>
                </a:tc>
                <a:tc>
                  <a:txBody>
                    <a:bodyPr/>
                    <a:lstStyle/>
                    <a:p>
                      <a:pPr algn="ctr"/>
                      <a:r>
                        <a:rPr lang="en-US" sz="1300"/>
                        <a:t>X</a:t>
                      </a:r>
                    </a:p>
                  </a:txBody>
                  <a:tcPr/>
                </a:tc>
                <a:tc>
                  <a:txBody>
                    <a:bodyPr/>
                    <a:lstStyle/>
                    <a:p>
                      <a:pPr algn="ctr"/>
                      <a:r>
                        <a:rPr lang="en-US" sz="1300"/>
                        <a:t>OpCode</a:t>
                      </a:r>
                    </a:p>
                  </a:txBody>
                  <a:tcPr/>
                </a:tc>
                <a:extLst>
                  <a:ext uri="{0D108BD9-81ED-4DB2-BD59-A6C34878D82A}">
                    <a16:rowId xmlns:a16="http://schemas.microsoft.com/office/drawing/2014/main" val="2570910443"/>
                  </a:ext>
                </a:extLst>
              </a:tr>
            </a:tbl>
          </a:graphicData>
        </a:graphic>
      </p:graphicFrame>
      <p:sp>
        <p:nvSpPr>
          <p:cNvPr id="9" name="TextBox 8">
            <a:extLst>
              <a:ext uri="{FF2B5EF4-FFF2-40B4-BE49-F238E27FC236}">
                <a16:creationId xmlns:a16="http://schemas.microsoft.com/office/drawing/2014/main" id="{7BD7F8B8-6C37-4325-9738-1D3018261CF6}"/>
              </a:ext>
            </a:extLst>
          </p:cNvPr>
          <p:cNvSpPr txBox="1"/>
          <p:nvPr/>
        </p:nvSpPr>
        <p:spPr>
          <a:xfrm>
            <a:off x="11305310" y="1"/>
            <a:ext cx="931665" cy="1862048"/>
          </a:xfrm>
          <a:prstGeom prst="rect">
            <a:avLst/>
          </a:prstGeom>
          <a:noFill/>
        </p:spPr>
        <p:txBody>
          <a:bodyPr wrap="none" rtlCol="0">
            <a:spAutoFit/>
          </a:bodyPr>
          <a:lstStyle/>
          <a:p>
            <a:r>
              <a:rPr lang="en-US" sz="11500">
                <a:solidFill>
                  <a:schemeClr val="accent1">
                    <a:lumMod val="60000"/>
                    <a:lumOff val="40000"/>
                  </a:schemeClr>
                </a:solidFill>
              </a:rPr>
              <a:t>6</a:t>
            </a:r>
          </a:p>
        </p:txBody>
      </p:sp>
      <p:sp>
        <p:nvSpPr>
          <p:cNvPr id="12" name="TextBox 11">
            <a:extLst>
              <a:ext uri="{FF2B5EF4-FFF2-40B4-BE49-F238E27FC236}">
                <a16:creationId xmlns:a16="http://schemas.microsoft.com/office/drawing/2014/main" id="{EC92F7E5-2629-1A32-5661-12B67655FB87}"/>
              </a:ext>
            </a:extLst>
          </p:cNvPr>
          <p:cNvSpPr txBox="1"/>
          <p:nvPr/>
        </p:nvSpPr>
        <p:spPr>
          <a:xfrm>
            <a:off x="6615405" y="4734113"/>
            <a:ext cx="2945037" cy="523220"/>
          </a:xfrm>
          <a:prstGeom prst="rect">
            <a:avLst/>
          </a:prstGeom>
          <a:noFill/>
        </p:spPr>
        <p:txBody>
          <a:bodyPr wrap="none" rtlCol="0">
            <a:spAutoFit/>
          </a:bodyPr>
          <a:lstStyle/>
          <a:p>
            <a:r>
              <a:rPr lang="en-US" sz="2800">
                <a:solidFill>
                  <a:srgbClr val="00B050"/>
                </a:solidFill>
                <a:latin typeface="Consolas" panose="020B0609020204030204" pitchFamily="49" charset="0"/>
              </a:rPr>
              <a:t> ADD Rd, #0x00</a:t>
            </a:r>
          </a:p>
        </p:txBody>
      </p:sp>
      <p:pic>
        <p:nvPicPr>
          <p:cNvPr id="2" name="Picture 1">
            <a:hlinkClick r:id="rId2" action="ppaction://hlinksldjump"/>
            <a:extLst>
              <a:ext uri="{FF2B5EF4-FFF2-40B4-BE49-F238E27FC236}">
                <a16:creationId xmlns:a16="http://schemas.microsoft.com/office/drawing/2014/main" id="{67184A42-14CA-AF2B-E3BD-790CBA465399}"/>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0" name="Slide Number Placeholder 4">
            <a:extLst>
              <a:ext uri="{FF2B5EF4-FFF2-40B4-BE49-F238E27FC236}">
                <a16:creationId xmlns:a16="http://schemas.microsoft.com/office/drawing/2014/main" id="{74D80DD4-1E63-5C95-4EF9-9A8AD4C58125}"/>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122</a:t>
            </a:fld>
            <a:endParaRPr lang="en-US" b="1">
              <a:solidFill>
                <a:schemeClr val="bg1"/>
              </a:solidFill>
            </a:endParaRPr>
          </a:p>
        </p:txBody>
      </p:sp>
      <p:graphicFrame>
        <p:nvGraphicFramePr>
          <p:cNvPr id="14" name="Table 4">
            <a:extLst>
              <a:ext uri="{FF2B5EF4-FFF2-40B4-BE49-F238E27FC236}">
                <a16:creationId xmlns:a16="http://schemas.microsoft.com/office/drawing/2014/main" id="{491B51CA-4028-257C-26D0-886DB896CF5F}"/>
              </a:ext>
            </a:extLst>
          </p:cNvPr>
          <p:cNvGraphicFramePr>
            <a:graphicFrameLocks noGrp="1"/>
          </p:cNvGraphicFramePr>
          <p:nvPr>
            <p:extLst>
              <p:ext uri="{D42A27DB-BD31-4B8C-83A1-F6EECF244321}">
                <p14:modId xmlns:p14="http://schemas.microsoft.com/office/powerpoint/2010/main" val="940534924"/>
              </p:ext>
            </p:extLst>
          </p:nvPr>
        </p:nvGraphicFramePr>
        <p:xfrm>
          <a:off x="193268" y="742463"/>
          <a:ext cx="4329725" cy="436342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3352378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FFC7287B-AAD9-5418-44A1-19FEE626F5CD}"/>
              </a:ext>
            </a:extLst>
          </p:cNvPr>
          <p:cNvSpPr>
            <a:spLocks noGrp="1"/>
          </p:cNvSpPr>
          <p:nvPr>
            <p:ph type="ctrTitle"/>
          </p:nvPr>
        </p:nvSpPr>
        <p:spPr>
          <a:xfrm>
            <a:off x="914400" y="182880"/>
            <a:ext cx="9144000" cy="457200"/>
          </a:xfrm>
        </p:spPr>
        <p:txBody>
          <a:bodyPr/>
          <a:lstStyle/>
          <a:p>
            <a:r>
              <a:rPr lang="en-US"/>
              <a:t>Micro-Instructions Control: Branch / Jump Relative Immediate (00111)</a:t>
            </a:r>
          </a:p>
        </p:txBody>
      </p:sp>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extLst>
              <p:ext uri="{D42A27DB-BD31-4B8C-83A1-F6EECF244321}">
                <p14:modId xmlns:p14="http://schemas.microsoft.com/office/powerpoint/2010/main" val="1718718222"/>
              </p:ext>
            </p:extLst>
          </p:nvPr>
        </p:nvGraphicFramePr>
        <p:xfrm>
          <a:off x="4716583" y="742463"/>
          <a:ext cx="6514836" cy="3332480"/>
        </p:xfrm>
        <a:graphic>
          <a:graphicData uri="http://schemas.openxmlformats.org/drawingml/2006/table">
            <a:tbl>
              <a:tblPr firstRow="1" bandRow="1">
                <a:tableStyleId>{5C22544A-7EE6-4342-B048-85BDC9FD1C3A}</a:tableStyleId>
              </a:tblPr>
              <a:tblGrid>
                <a:gridCol w="988741">
                  <a:extLst>
                    <a:ext uri="{9D8B030D-6E8A-4147-A177-3AD203B41FA5}">
                      <a16:colId xmlns:a16="http://schemas.microsoft.com/office/drawing/2014/main" val="1217920130"/>
                    </a:ext>
                  </a:extLst>
                </a:gridCol>
                <a:gridCol w="2570459">
                  <a:extLst>
                    <a:ext uri="{9D8B030D-6E8A-4147-A177-3AD203B41FA5}">
                      <a16:colId xmlns:a16="http://schemas.microsoft.com/office/drawing/2014/main" val="1475888205"/>
                    </a:ext>
                  </a:extLst>
                </a:gridCol>
                <a:gridCol w="2955636">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370840">
                <a:tc>
                  <a:txBody>
                    <a:bodyPr/>
                    <a:lstStyle/>
                    <a:p>
                      <a:pPr algn="ctr"/>
                      <a:r>
                        <a:rPr lang="en-US" sz="1600"/>
                        <a:t>0</a:t>
                      </a:r>
                    </a:p>
                  </a:txBody>
                  <a:tcPr/>
                </a:tc>
                <a:tc>
                  <a:txBody>
                    <a:bodyPr/>
                    <a:lstStyle/>
                    <a:p>
                      <a:pPr algn="l"/>
                      <a:r>
                        <a:rPr lang="en-US" sz="1600"/>
                        <a:t>10_0000_0010 0x2_02</a:t>
                      </a:r>
                    </a:p>
                  </a:txBody>
                  <a:tcPr/>
                </a:tc>
                <a:tc>
                  <a:txBody>
                    <a:bodyPr/>
                    <a:lstStyle/>
                    <a:p>
                      <a:pPr algn="l"/>
                      <a:r>
                        <a:rPr lang="en-US" sz="1600"/>
                        <a:t>Load PC into reg A</a:t>
                      </a:r>
                    </a:p>
                  </a:txBody>
                  <a:tcPr/>
                </a:tc>
                <a:extLst>
                  <a:ext uri="{0D108BD9-81ED-4DB2-BD59-A6C34878D82A}">
                    <a16:rowId xmlns:a16="http://schemas.microsoft.com/office/drawing/2014/main" val="2570910443"/>
                  </a:ext>
                </a:extLst>
              </a:tr>
              <a:tr h="370840">
                <a:tc>
                  <a:txBody>
                    <a:bodyPr/>
                    <a:lstStyle/>
                    <a:p>
                      <a:pPr algn="ctr"/>
                      <a:r>
                        <a:rPr lang="en-US" sz="16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00_0100_0001 0x0_41</a:t>
                      </a:r>
                    </a:p>
                  </a:txBody>
                  <a:tcPr/>
                </a:tc>
                <a:tc>
                  <a:txBody>
                    <a:bodyPr/>
                    <a:lstStyle/>
                    <a:p>
                      <a:pPr algn="l"/>
                      <a:r>
                        <a:rPr lang="en-US" sz="1600"/>
                        <a:t>Load immediate into reg B</a:t>
                      </a:r>
                    </a:p>
                  </a:txBody>
                  <a:tcPr/>
                </a:tc>
                <a:extLst>
                  <a:ext uri="{0D108BD9-81ED-4DB2-BD59-A6C34878D82A}">
                    <a16:rowId xmlns:a16="http://schemas.microsoft.com/office/drawing/2014/main" val="631651838"/>
                  </a:ext>
                </a:extLst>
              </a:tr>
              <a:tr h="370840">
                <a:tc>
                  <a:txBody>
                    <a:bodyPr/>
                    <a:lstStyle/>
                    <a:p>
                      <a:pPr algn="ctr"/>
                      <a:r>
                        <a:rPr lang="en-US" sz="16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01_0000_0100 0x1_04</a:t>
                      </a:r>
                    </a:p>
                  </a:txBody>
                  <a:tcPr/>
                </a:tc>
                <a:tc>
                  <a:txBody>
                    <a:bodyPr/>
                    <a:lstStyle/>
                    <a:p>
                      <a:pPr algn="l"/>
                      <a:r>
                        <a:rPr lang="en-US" sz="1600"/>
                        <a:t>Output</a:t>
                      </a:r>
                      <a:r>
                        <a:rPr lang="en-US" sz="1600" baseline="0"/>
                        <a:t> ALU </a:t>
                      </a:r>
                      <a:r>
                        <a:rPr lang="en-US" sz="1600" baseline="0" err="1"/>
                        <a:t>val</a:t>
                      </a:r>
                      <a:r>
                        <a:rPr lang="en-US" sz="1600" baseline="0"/>
                        <a:t>, load PC</a:t>
                      </a:r>
                      <a:endParaRPr lang="en-US" sz="1600"/>
                    </a:p>
                  </a:txBody>
                  <a:tcPr/>
                </a:tc>
                <a:extLst>
                  <a:ext uri="{0D108BD9-81ED-4DB2-BD59-A6C34878D82A}">
                    <a16:rowId xmlns:a16="http://schemas.microsoft.com/office/drawing/2014/main" val="1592812184"/>
                  </a:ext>
                </a:extLst>
              </a:tr>
              <a:tr h="370840">
                <a:tc>
                  <a:txBody>
                    <a:bodyPr/>
                    <a:lstStyle/>
                    <a:p>
                      <a:pPr algn="ctr"/>
                      <a:r>
                        <a:rPr lang="en-US" sz="1600"/>
                        <a:t>3</a:t>
                      </a:r>
                    </a:p>
                  </a:txBody>
                  <a:tcPr/>
                </a:tc>
                <a:tc>
                  <a:txBody>
                    <a:bodyPr/>
                    <a:lstStyle/>
                    <a:p>
                      <a:pPr algn="l"/>
                      <a:r>
                        <a:rPr lang="en-US" sz="1600"/>
                        <a:t>00_1000_0000 0x0_80</a:t>
                      </a:r>
                    </a:p>
                  </a:txBody>
                  <a:tcPr/>
                </a:tc>
                <a:tc>
                  <a:txBody>
                    <a:bodyPr/>
                    <a:lstStyle/>
                    <a:p>
                      <a:pPr algn="l"/>
                      <a:r>
                        <a:rPr lang="en-US" sz="1600"/>
                        <a:t>Advance PC</a:t>
                      </a:r>
                      <a:endParaRPr lang="en-US" sz="1600" strike="sngStrike"/>
                    </a:p>
                  </a:txBody>
                  <a:tcPr/>
                </a:tc>
                <a:extLst>
                  <a:ext uri="{0D108BD9-81ED-4DB2-BD59-A6C34878D82A}">
                    <a16:rowId xmlns:a16="http://schemas.microsoft.com/office/drawing/2014/main" val="2225793510"/>
                  </a:ext>
                </a:extLst>
              </a:tr>
              <a:tr h="370840">
                <a:tc>
                  <a:txBody>
                    <a:bodyPr/>
                    <a:lstStyle/>
                    <a:p>
                      <a:pPr algn="ctr"/>
                      <a:r>
                        <a:rPr lang="en-US" sz="1600"/>
                        <a:t>4</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1046366285"/>
                  </a:ext>
                </a:extLst>
              </a:tr>
              <a:tr h="370840">
                <a:tc>
                  <a:txBody>
                    <a:bodyPr/>
                    <a:lstStyle/>
                    <a:p>
                      <a:pPr algn="ctr"/>
                      <a:r>
                        <a:rPr lang="en-US" sz="1600"/>
                        <a:t>5</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2615342211"/>
                  </a:ext>
                </a:extLst>
              </a:tr>
              <a:tr h="370840">
                <a:tc>
                  <a:txBody>
                    <a:bodyPr/>
                    <a:lstStyle/>
                    <a:p>
                      <a:pPr algn="ctr"/>
                      <a:r>
                        <a:rPr lang="en-US" sz="1600"/>
                        <a:t>6</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2055856817"/>
                  </a:ext>
                </a:extLst>
              </a:tr>
              <a:tr h="370840">
                <a:tc>
                  <a:txBody>
                    <a:bodyPr/>
                    <a:lstStyle/>
                    <a:p>
                      <a:pPr algn="ctr"/>
                      <a:r>
                        <a:rPr lang="en-US" sz="1600"/>
                        <a:t>7</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3502991894"/>
                  </a:ext>
                </a:extLst>
              </a:tr>
            </a:tbl>
          </a:graphicData>
        </a:graphic>
      </p:graphicFrame>
      <p:graphicFrame>
        <p:nvGraphicFramePr>
          <p:cNvPr id="6" name="Table 6">
            <a:extLst>
              <a:ext uri="{FF2B5EF4-FFF2-40B4-BE49-F238E27FC236}">
                <a16:creationId xmlns:a16="http://schemas.microsoft.com/office/drawing/2014/main" id="{94ECF8CC-A699-4671-A4F6-5AAB6684A11C}"/>
              </a:ext>
            </a:extLst>
          </p:cNvPr>
          <p:cNvGraphicFramePr>
            <a:graphicFrameLocks noGrp="1"/>
          </p:cNvGraphicFramePr>
          <p:nvPr>
            <p:extLst>
              <p:ext uri="{D42A27DB-BD31-4B8C-83A1-F6EECF244321}">
                <p14:modId xmlns:p14="http://schemas.microsoft.com/office/powerpoint/2010/main" val="1150204093"/>
              </p:ext>
            </p:extLst>
          </p:nvPr>
        </p:nvGraphicFramePr>
        <p:xfrm>
          <a:off x="5645697" y="2949767"/>
          <a:ext cx="4733393" cy="2670147"/>
        </p:xfrm>
        <a:graphic>
          <a:graphicData uri="http://schemas.openxmlformats.org/drawingml/2006/table">
            <a:tbl>
              <a:tblPr firstRow="1" bandRow="1">
                <a:tableStyleId>{5C22544A-7EE6-4342-B048-85BDC9FD1C3A}</a:tableStyleId>
              </a:tblPr>
              <a:tblGrid>
                <a:gridCol w="573007">
                  <a:extLst>
                    <a:ext uri="{9D8B030D-6E8A-4147-A177-3AD203B41FA5}">
                      <a16:colId xmlns:a16="http://schemas.microsoft.com/office/drawing/2014/main" val="3129483676"/>
                    </a:ext>
                  </a:extLst>
                </a:gridCol>
                <a:gridCol w="359600">
                  <a:extLst>
                    <a:ext uri="{9D8B030D-6E8A-4147-A177-3AD203B41FA5}">
                      <a16:colId xmlns:a16="http://schemas.microsoft.com/office/drawing/2014/main" val="3639428745"/>
                    </a:ext>
                  </a:extLst>
                </a:gridCol>
                <a:gridCol w="525011">
                  <a:extLst>
                    <a:ext uri="{9D8B030D-6E8A-4147-A177-3AD203B41FA5}">
                      <a16:colId xmlns:a16="http://schemas.microsoft.com/office/drawing/2014/main" val="136219337"/>
                    </a:ext>
                  </a:extLst>
                </a:gridCol>
                <a:gridCol w="695087">
                  <a:extLst>
                    <a:ext uri="{9D8B030D-6E8A-4147-A177-3AD203B41FA5}">
                      <a16:colId xmlns:a16="http://schemas.microsoft.com/office/drawing/2014/main" val="4010529361"/>
                    </a:ext>
                  </a:extLst>
                </a:gridCol>
                <a:gridCol w="695087">
                  <a:extLst>
                    <a:ext uri="{9D8B030D-6E8A-4147-A177-3AD203B41FA5}">
                      <a16:colId xmlns:a16="http://schemas.microsoft.com/office/drawing/2014/main" val="3300204691"/>
                    </a:ext>
                  </a:extLst>
                </a:gridCol>
                <a:gridCol w="1885604">
                  <a:extLst>
                    <a:ext uri="{9D8B030D-6E8A-4147-A177-3AD203B41FA5}">
                      <a16:colId xmlns:a16="http://schemas.microsoft.com/office/drawing/2014/main" val="322570224"/>
                    </a:ext>
                  </a:extLst>
                </a:gridCol>
              </a:tblGrid>
              <a:tr h="475587">
                <a:tc>
                  <a:txBody>
                    <a:bodyPr/>
                    <a:lstStyle/>
                    <a:p>
                      <a:r>
                        <a:rPr lang="en-US" sz="1200"/>
                        <a:t>C2</a:t>
                      </a:r>
                    </a:p>
                  </a:txBody>
                  <a:tcPr/>
                </a:tc>
                <a:tc>
                  <a:txBody>
                    <a:bodyPr/>
                    <a:lstStyle/>
                    <a:p>
                      <a:r>
                        <a:rPr lang="en-US" sz="1200"/>
                        <a:t>C1</a:t>
                      </a:r>
                    </a:p>
                  </a:txBody>
                  <a:tcPr/>
                </a:tc>
                <a:tc>
                  <a:txBody>
                    <a:bodyPr/>
                    <a:lstStyle/>
                    <a:p>
                      <a:r>
                        <a:rPr lang="en-US" sz="1200"/>
                        <a:t>C0</a:t>
                      </a:r>
                    </a:p>
                  </a:txBody>
                  <a:tcPr/>
                </a:tc>
                <a:tc>
                  <a:txBody>
                    <a:bodyPr/>
                    <a:lstStyle/>
                    <a:p>
                      <a:r>
                        <a:rPr lang="en-US" sz="1200"/>
                        <a:t>Condition</a:t>
                      </a:r>
                    </a:p>
                  </a:txBody>
                  <a:tcPr/>
                </a:tc>
                <a:tc>
                  <a:txBody>
                    <a:bodyPr/>
                    <a:lstStyle/>
                    <a:p>
                      <a:r>
                        <a:rPr lang="en-US" sz="1200"/>
                        <a:t>OpCode</a:t>
                      </a:r>
                    </a:p>
                  </a:txBody>
                  <a:tcPr/>
                </a:tc>
                <a:tc>
                  <a:txBody>
                    <a:bodyPr/>
                    <a:lstStyle/>
                    <a:p>
                      <a:r>
                        <a:rPr lang="en-US" sz="1200"/>
                        <a:t>Assembly</a:t>
                      </a:r>
                    </a:p>
                  </a:txBody>
                  <a:tcPr/>
                </a:tc>
                <a:extLst>
                  <a:ext uri="{0D108BD9-81ED-4DB2-BD59-A6C34878D82A}">
                    <a16:rowId xmlns:a16="http://schemas.microsoft.com/office/drawing/2014/main" val="727245786"/>
                  </a:ext>
                </a:extLst>
              </a:tr>
              <a:tr h="274320">
                <a:tc>
                  <a:txBody>
                    <a:bodyPr/>
                    <a:lstStyle/>
                    <a:p>
                      <a:r>
                        <a:rPr lang="en-US" sz="1200"/>
                        <a:t>0</a:t>
                      </a:r>
                    </a:p>
                  </a:txBody>
                  <a:tcPr/>
                </a:tc>
                <a:tc>
                  <a:txBody>
                    <a:bodyPr/>
                    <a:lstStyle/>
                    <a:p>
                      <a:r>
                        <a:rPr lang="en-US" sz="1200"/>
                        <a:t>0</a:t>
                      </a:r>
                    </a:p>
                  </a:txBody>
                  <a:tcPr/>
                </a:tc>
                <a:tc>
                  <a:txBody>
                    <a:bodyPr/>
                    <a:lstStyle/>
                    <a:p>
                      <a:r>
                        <a:rPr lang="en-US" sz="1200"/>
                        <a:t>0</a:t>
                      </a:r>
                    </a:p>
                  </a:txBody>
                  <a:tcPr/>
                </a:tc>
                <a:tc>
                  <a:txBody>
                    <a:bodyPr/>
                    <a:lstStyle/>
                    <a:p>
                      <a:r>
                        <a:rPr lang="en-US" sz="1200"/>
                        <a:t>JMP</a:t>
                      </a:r>
                    </a:p>
                  </a:txBody>
                  <a:tcPr/>
                </a:tc>
                <a:tc>
                  <a:txBody>
                    <a:bodyPr/>
                    <a:lstStyle/>
                    <a:p>
                      <a:pPr algn="ctr"/>
                      <a:r>
                        <a:rPr lang="en-US" sz="1200"/>
                        <a:t>07</a:t>
                      </a:r>
                    </a:p>
                  </a:txBody>
                  <a:tcPr>
                    <a:solidFill>
                      <a:schemeClr val="accent6">
                        <a:lumMod val="60000"/>
                        <a:lumOff val="40000"/>
                      </a:schemeClr>
                    </a:solidFill>
                  </a:tcPr>
                </a:tc>
                <a:tc>
                  <a:txBody>
                    <a:bodyPr/>
                    <a:lstStyle/>
                    <a:p>
                      <a:r>
                        <a:rPr lang="en-US" sz="1200"/>
                        <a:t>JMP</a:t>
                      </a:r>
                    </a:p>
                  </a:txBody>
                  <a:tcPr>
                    <a:solidFill>
                      <a:schemeClr val="accent6">
                        <a:lumMod val="60000"/>
                        <a:lumOff val="40000"/>
                      </a:schemeClr>
                    </a:solidFill>
                  </a:tcPr>
                </a:tc>
                <a:extLst>
                  <a:ext uri="{0D108BD9-81ED-4DB2-BD59-A6C34878D82A}">
                    <a16:rowId xmlns:a16="http://schemas.microsoft.com/office/drawing/2014/main" val="3427146651"/>
                  </a:ext>
                </a:extLst>
              </a:tr>
              <a:tr h="274320">
                <a:tc>
                  <a:txBody>
                    <a:bodyPr/>
                    <a:lstStyle/>
                    <a:p>
                      <a:r>
                        <a:rPr lang="en-US" sz="1200"/>
                        <a:t>0</a:t>
                      </a:r>
                    </a:p>
                  </a:txBody>
                  <a:tcPr/>
                </a:tc>
                <a:tc>
                  <a:txBody>
                    <a:bodyPr/>
                    <a:lstStyle/>
                    <a:p>
                      <a:r>
                        <a:rPr lang="en-US" sz="1200"/>
                        <a:t>0</a:t>
                      </a:r>
                    </a:p>
                  </a:txBody>
                  <a:tcPr/>
                </a:tc>
                <a:tc>
                  <a:txBody>
                    <a:bodyPr/>
                    <a:lstStyle/>
                    <a:p>
                      <a:r>
                        <a:rPr lang="en-US" sz="1200"/>
                        <a:t>1</a:t>
                      </a:r>
                    </a:p>
                  </a:txBody>
                  <a:tcPr/>
                </a:tc>
                <a:tc>
                  <a:txBody>
                    <a:bodyPr/>
                    <a:lstStyle/>
                    <a:p>
                      <a:r>
                        <a:rPr lang="en-US" sz="1200"/>
                        <a:t>N</a:t>
                      </a:r>
                    </a:p>
                  </a:txBody>
                  <a:tcPr/>
                </a:tc>
                <a:tc>
                  <a:txBody>
                    <a:bodyPr/>
                    <a:lstStyle/>
                    <a:p>
                      <a:pPr algn="ctr"/>
                      <a:r>
                        <a:rPr lang="en-US" sz="1200"/>
                        <a:t>27</a:t>
                      </a:r>
                    </a:p>
                  </a:txBody>
                  <a:tcPr>
                    <a:solidFill>
                      <a:schemeClr val="accent6">
                        <a:lumMod val="60000"/>
                        <a:lumOff val="40000"/>
                      </a:schemeClr>
                    </a:solidFill>
                  </a:tcPr>
                </a:tc>
                <a:tc>
                  <a:txBody>
                    <a:bodyPr/>
                    <a:lstStyle/>
                    <a:p>
                      <a:r>
                        <a:rPr lang="en-US" sz="1200"/>
                        <a:t>BMI – Branch on Minus</a:t>
                      </a:r>
                    </a:p>
                  </a:txBody>
                  <a:tcPr>
                    <a:solidFill>
                      <a:schemeClr val="accent6">
                        <a:lumMod val="60000"/>
                        <a:lumOff val="40000"/>
                      </a:schemeClr>
                    </a:solidFill>
                  </a:tcPr>
                </a:tc>
                <a:extLst>
                  <a:ext uri="{0D108BD9-81ED-4DB2-BD59-A6C34878D82A}">
                    <a16:rowId xmlns:a16="http://schemas.microsoft.com/office/drawing/2014/main" val="1942712580"/>
                  </a:ext>
                </a:extLst>
              </a:tr>
              <a:tr h="274320">
                <a:tc>
                  <a:txBody>
                    <a:bodyPr/>
                    <a:lstStyle/>
                    <a:p>
                      <a:r>
                        <a:rPr lang="en-US" sz="1200"/>
                        <a:t>0</a:t>
                      </a:r>
                    </a:p>
                  </a:txBody>
                  <a:tcPr/>
                </a:tc>
                <a:tc>
                  <a:txBody>
                    <a:bodyPr/>
                    <a:lstStyle/>
                    <a:p>
                      <a:r>
                        <a:rPr lang="en-US" sz="1200"/>
                        <a:t>1</a:t>
                      </a:r>
                    </a:p>
                  </a:txBody>
                  <a:tcPr/>
                </a:tc>
                <a:tc>
                  <a:txBody>
                    <a:bodyPr/>
                    <a:lstStyle/>
                    <a:p>
                      <a:r>
                        <a:rPr lang="en-US" sz="1200"/>
                        <a:t>0</a:t>
                      </a:r>
                    </a:p>
                  </a:txBody>
                  <a:tcPr/>
                </a:tc>
                <a:tc>
                  <a:txBody>
                    <a:bodyPr/>
                    <a:lstStyle/>
                    <a:p>
                      <a:r>
                        <a:rPr lang="en-US" sz="1200"/>
                        <a:t>C</a:t>
                      </a:r>
                    </a:p>
                  </a:txBody>
                  <a:tcPr/>
                </a:tc>
                <a:tc>
                  <a:txBody>
                    <a:bodyPr/>
                    <a:lstStyle/>
                    <a:p>
                      <a:pPr algn="ctr"/>
                      <a:r>
                        <a:rPr lang="en-US" sz="1200"/>
                        <a:t>47</a:t>
                      </a:r>
                    </a:p>
                  </a:txBody>
                  <a:tcPr>
                    <a:solidFill>
                      <a:schemeClr val="accent6">
                        <a:lumMod val="60000"/>
                        <a:lumOff val="40000"/>
                      </a:schemeClr>
                    </a:solidFill>
                  </a:tcPr>
                </a:tc>
                <a:tc>
                  <a:txBody>
                    <a:bodyPr/>
                    <a:lstStyle/>
                    <a:p>
                      <a:r>
                        <a:rPr lang="en-US" sz="1200"/>
                        <a:t>BCS – Branch Carry Set</a:t>
                      </a:r>
                    </a:p>
                  </a:txBody>
                  <a:tcPr>
                    <a:solidFill>
                      <a:schemeClr val="accent6">
                        <a:lumMod val="60000"/>
                        <a:lumOff val="40000"/>
                      </a:schemeClr>
                    </a:solidFill>
                  </a:tcPr>
                </a:tc>
                <a:extLst>
                  <a:ext uri="{0D108BD9-81ED-4DB2-BD59-A6C34878D82A}">
                    <a16:rowId xmlns:a16="http://schemas.microsoft.com/office/drawing/2014/main" val="4217135763"/>
                  </a:ext>
                </a:extLst>
              </a:tr>
              <a:tr h="274320">
                <a:tc>
                  <a:txBody>
                    <a:bodyPr/>
                    <a:lstStyle/>
                    <a:p>
                      <a:r>
                        <a:rPr lang="en-US" sz="1200"/>
                        <a:t>0</a:t>
                      </a:r>
                    </a:p>
                  </a:txBody>
                  <a:tcPr/>
                </a:tc>
                <a:tc>
                  <a:txBody>
                    <a:bodyPr/>
                    <a:lstStyle/>
                    <a:p>
                      <a:r>
                        <a:rPr lang="en-US" sz="1200"/>
                        <a:t>1</a:t>
                      </a:r>
                    </a:p>
                  </a:txBody>
                  <a:tcPr/>
                </a:tc>
                <a:tc>
                  <a:txBody>
                    <a:bodyPr/>
                    <a:lstStyle/>
                    <a:p>
                      <a:r>
                        <a:rPr lang="en-US" sz="1200"/>
                        <a:t>1</a:t>
                      </a:r>
                    </a:p>
                  </a:txBody>
                  <a:tcPr/>
                </a:tc>
                <a:tc>
                  <a:txBody>
                    <a:bodyPr/>
                    <a:lstStyle/>
                    <a:p>
                      <a:r>
                        <a:rPr lang="en-US" sz="1200"/>
                        <a:t>Z</a:t>
                      </a:r>
                    </a:p>
                  </a:txBody>
                  <a:tcPr/>
                </a:tc>
                <a:tc>
                  <a:txBody>
                    <a:bodyPr/>
                    <a:lstStyle/>
                    <a:p>
                      <a:pPr algn="ctr"/>
                      <a:r>
                        <a:rPr lang="en-US" sz="1200"/>
                        <a:t>67</a:t>
                      </a:r>
                    </a:p>
                  </a:txBody>
                  <a:tcPr>
                    <a:solidFill>
                      <a:schemeClr val="accent6">
                        <a:lumMod val="60000"/>
                        <a:lumOff val="40000"/>
                      </a:schemeClr>
                    </a:solidFill>
                  </a:tcPr>
                </a:tc>
                <a:tc>
                  <a:txBody>
                    <a:bodyPr/>
                    <a:lstStyle/>
                    <a:p>
                      <a:r>
                        <a:rPr lang="en-US" sz="1200"/>
                        <a:t>BEQ – Branch Equal</a:t>
                      </a:r>
                    </a:p>
                  </a:txBody>
                  <a:tcPr>
                    <a:solidFill>
                      <a:schemeClr val="accent6">
                        <a:lumMod val="60000"/>
                        <a:lumOff val="40000"/>
                      </a:schemeClr>
                    </a:solidFill>
                  </a:tcPr>
                </a:tc>
                <a:extLst>
                  <a:ext uri="{0D108BD9-81ED-4DB2-BD59-A6C34878D82A}">
                    <a16:rowId xmlns:a16="http://schemas.microsoft.com/office/drawing/2014/main" val="1144018381"/>
                  </a:ext>
                </a:extLst>
              </a:tr>
              <a:tr h="274320">
                <a:tc>
                  <a:txBody>
                    <a:bodyPr/>
                    <a:lstStyle/>
                    <a:p>
                      <a:r>
                        <a:rPr lang="en-US" sz="1200"/>
                        <a:t>1</a:t>
                      </a:r>
                    </a:p>
                  </a:txBody>
                  <a:tcPr/>
                </a:tc>
                <a:tc>
                  <a:txBody>
                    <a:bodyPr/>
                    <a:lstStyle/>
                    <a:p>
                      <a:r>
                        <a:rPr lang="en-US" sz="1200"/>
                        <a:t>0</a:t>
                      </a:r>
                    </a:p>
                  </a:txBody>
                  <a:tcPr/>
                </a:tc>
                <a:tc>
                  <a:txBody>
                    <a:bodyPr/>
                    <a:lstStyle/>
                    <a:p>
                      <a:r>
                        <a:rPr lang="en-US" sz="1200"/>
                        <a:t>0</a:t>
                      </a:r>
                    </a:p>
                  </a:txBody>
                  <a:tcPr/>
                </a:tc>
                <a:tc>
                  <a:txBody>
                    <a:bodyPr/>
                    <a:lstStyle/>
                    <a:p>
                      <a:r>
                        <a:rPr lang="en-US" sz="1200"/>
                        <a:t>Never</a:t>
                      </a:r>
                    </a:p>
                  </a:txBody>
                  <a:tcPr/>
                </a:tc>
                <a:tc>
                  <a:txBody>
                    <a:bodyPr/>
                    <a:lstStyle/>
                    <a:p>
                      <a:pPr algn="ctr"/>
                      <a:r>
                        <a:rPr lang="en-US" sz="1200"/>
                        <a:t>87</a:t>
                      </a:r>
                    </a:p>
                  </a:txBody>
                  <a:tcPr>
                    <a:solidFill>
                      <a:schemeClr val="accent6">
                        <a:lumMod val="60000"/>
                        <a:lumOff val="40000"/>
                      </a:schemeClr>
                    </a:solidFill>
                  </a:tcPr>
                </a:tc>
                <a:tc>
                  <a:txBody>
                    <a:bodyPr/>
                    <a:lstStyle/>
                    <a:p>
                      <a:r>
                        <a:rPr lang="en-US" sz="1200"/>
                        <a:t>NOP</a:t>
                      </a:r>
                    </a:p>
                  </a:txBody>
                  <a:tcPr>
                    <a:solidFill>
                      <a:schemeClr val="accent6">
                        <a:lumMod val="60000"/>
                        <a:lumOff val="40000"/>
                      </a:schemeClr>
                    </a:solidFill>
                  </a:tcPr>
                </a:tc>
                <a:extLst>
                  <a:ext uri="{0D108BD9-81ED-4DB2-BD59-A6C34878D82A}">
                    <a16:rowId xmlns:a16="http://schemas.microsoft.com/office/drawing/2014/main" val="1247815021"/>
                  </a:ext>
                </a:extLst>
              </a:tr>
              <a:tr h="274320">
                <a:tc>
                  <a:txBody>
                    <a:bodyPr/>
                    <a:lstStyle/>
                    <a:p>
                      <a:r>
                        <a:rPr lang="en-US" sz="1200"/>
                        <a:t>1</a:t>
                      </a:r>
                    </a:p>
                  </a:txBody>
                  <a:tcPr/>
                </a:tc>
                <a:tc>
                  <a:txBody>
                    <a:bodyPr/>
                    <a:lstStyle/>
                    <a:p>
                      <a:r>
                        <a:rPr lang="en-US" sz="1200"/>
                        <a:t>0</a:t>
                      </a:r>
                    </a:p>
                  </a:txBody>
                  <a:tcPr/>
                </a:tc>
                <a:tc>
                  <a:txBody>
                    <a:bodyPr/>
                    <a:lstStyle/>
                    <a:p>
                      <a:r>
                        <a:rPr lang="en-US" sz="1200"/>
                        <a:t>1</a:t>
                      </a:r>
                    </a:p>
                  </a:txBody>
                  <a:tcPr/>
                </a:tc>
                <a:tc>
                  <a:txBody>
                    <a:bodyPr/>
                    <a:lstStyle/>
                    <a:p>
                      <a:r>
                        <a:rPr lang="en-US" sz="1200"/>
                        <a:t>!N</a:t>
                      </a:r>
                    </a:p>
                  </a:txBody>
                  <a:tcPr/>
                </a:tc>
                <a:tc>
                  <a:txBody>
                    <a:bodyPr/>
                    <a:lstStyle/>
                    <a:p>
                      <a:pPr algn="ctr"/>
                      <a:r>
                        <a:rPr lang="en-US" sz="1200"/>
                        <a:t>A7</a:t>
                      </a:r>
                    </a:p>
                  </a:txBody>
                  <a:tcPr>
                    <a:solidFill>
                      <a:schemeClr val="accent6">
                        <a:lumMod val="60000"/>
                        <a:lumOff val="40000"/>
                      </a:schemeClr>
                    </a:solidFill>
                  </a:tcPr>
                </a:tc>
                <a:tc>
                  <a:txBody>
                    <a:bodyPr/>
                    <a:lstStyle/>
                    <a:p>
                      <a:r>
                        <a:rPr lang="en-US" sz="1200"/>
                        <a:t>BPL – Branch on Plus</a:t>
                      </a:r>
                    </a:p>
                  </a:txBody>
                  <a:tcPr>
                    <a:solidFill>
                      <a:schemeClr val="accent6">
                        <a:lumMod val="60000"/>
                        <a:lumOff val="40000"/>
                      </a:schemeClr>
                    </a:solidFill>
                  </a:tcPr>
                </a:tc>
                <a:extLst>
                  <a:ext uri="{0D108BD9-81ED-4DB2-BD59-A6C34878D82A}">
                    <a16:rowId xmlns:a16="http://schemas.microsoft.com/office/drawing/2014/main" val="516787940"/>
                  </a:ext>
                </a:extLst>
              </a:tr>
              <a:tr h="274320">
                <a:tc>
                  <a:txBody>
                    <a:bodyPr/>
                    <a:lstStyle/>
                    <a:p>
                      <a:r>
                        <a:rPr lang="en-US" sz="1200"/>
                        <a:t>1</a:t>
                      </a:r>
                    </a:p>
                  </a:txBody>
                  <a:tcPr/>
                </a:tc>
                <a:tc>
                  <a:txBody>
                    <a:bodyPr/>
                    <a:lstStyle/>
                    <a:p>
                      <a:r>
                        <a:rPr lang="en-US" sz="1200"/>
                        <a:t>1</a:t>
                      </a:r>
                    </a:p>
                  </a:txBody>
                  <a:tcPr/>
                </a:tc>
                <a:tc>
                  <a:txBody>
                    <a:bodyPr/>
                    <a:lstStyle/>
                    <a:p>
                      <a:r>
                        <a:rPr lang="en-US" sz="1200"/>
                        <a:t>0</a:t>
                      </a:r>
                    </a:p>
                  </a:txBody>
                  <a:tcPr/>
                </a:tc>
                <a:tc>
                  <a:txBody>
                    <a:bodyPr/>
                    <a:lstStyle/>
                    <a:p>
                      <a:r>
                        <a:rPr lang="en-US" sz="1200"/>
                        <a:t>!C</a:t>
                      </a:r>
                    </a:p>
                  </a:txBody>
                  <a:tcPr/>
                </a:tc>
                <a:tc>
                  <a:txBody>
                    <a:bodyPr/>
                    <a:lstStyle/>
                    <a:p>
                      <a:pPr algn="ctr"/>
                      <a:r>
                        <a:rPr lang="en-US" sz="1200"/>
                        <a:t>C7</a:t>
                      </a:r>
                    </a:p>
                  </a:txBody>
                  <a:tcPr>
                    <a:solidFill>
                      <a:schemeClr val="accent6">
                        <a:lumMod val="60000"/>
                        <a:lumOff val="40000"/>
                      </a:schemeClr>
                    </a:solidFill>
                  </a:tcPr>
                </a:tc>
                <a:tc>
                  <a:txBody>
                    <a:bodyPr/>
                    <a:lstStyle/>
                    <a:p>
                      <a:r>
                        <a:rPr lang="en-US" sz="1200"/>
                        <a:t>BCC – Branch Carry Clear</a:t>
                      </a:r>
                    </a:p>
                  </a:txBody>
                  <a:tcPr>
                    <a:solidFill>
                      <a:schemeClr val="accent6">
                        <a:lumMod val="60000"/>
                        <a:lumOff val="40000"/>
                      </a:schemeClr>
                    </a:solidFill>
                  </a:tcPr>
                </a:tc>
                <a:extLst>
                  <a:ext uri="{0D108BD9-81ED-4DB2-BD59-A6C34878D82A}">
                    <a16:rowId xmlns:a16="http://schemas.microsoft.com/office/drawing/2014/main" val="3876475581"/>
                  </a:ext>
                </a:extLst>
              </a:tr>
              <a:tr h="274320">
                <a:tc>
                  <a:txBody>
                    <a:bodyPr/>
                    <a:lstStyle/>
                    <a:p>
                      <a:r>
                        <a:rPr lang="en-US" sz="1200"/>
                        <a:t>1</a:t>
                      </a:r>
                    </a:p>
                  </a:txBody>
                  <a:tcPr/>
                </a:tc>
                <a:tc>
                  <a:txBody>
                    <a:bodyPr/>
                    <a:lstStyle/>
                    <a:p>
                      <a:r>
                        <a:rPr lang="en-US" sz="1200"/>
                        <a:t>1</a:t>
                      </a:r>
                    </a:p>
                  </a:txBody>
                  <a:tcPr/>
                </a:tc>
                <a:tc>
                  <a:txBody>
                    <a:bodyPr/>
                    <a:lstStyle/>
                    <a:p>
                      <a:r>
                        <a:rPr lang="en-US" sz="1200"/>
                        <a:t>1</a:t>
                      </a:r>
                    </a:p>
                  </a:txBody>
                  <a:tcPr/>
                </a:tc>
                <a:tc>
                  <a:txBody>
                    <a:bodyPr/>
                    <a:lstStyle/>
                    <a:p>
                      <a:r>
                        <a:rPr lang="en-US" sz="1200"/>
                        <a:t>!Z</a:t>
                      </a:r>
                    </a:p>
                  </a:txBody>
                  <a:tcPr/>
                </a:tc>
                <a:tc>
                  <a:txBody>
                    <a:bodyPr/>
                    <a:lstStyle/>
                    <a:p>
                      <a:pPr algn="ctr"/>
                      <a:r>
                        <a:rPr lang="en-US" sz="1200"/>
                        <a:t>E7</a:t>
                      </a:r>
                    </a:p>
                  </a:txBody>
                  <a:tcPr>
                    <a:solidFill>
                      <a:schemeClr val="accent6">
                        <a:lumMod val="60000"/>
                        <a:lumOff val="40000"/>
                      </a:schemeClr>
                    </a:solidFill>
                  </a:tcPr>
                </a:tc>
                <a:tc>
                  <a:txBody>
                    <a:bodyPr/>
                    <a:lstStyle/>
                    <a:p>
                      <a:r>
                        <a:rPr lang="en-US" sz="1200"/>
                        <a:t>BNE</a:t>
                      </a:r>
                    </a:p>
                  </a:txBody>
                  <a:tcPr>
                    <a:solidFill>
                      <a:schemeClr val="accent6">
                        <a:lumMod val="60000"/>
                        <a:lumOff val="40000"/>
                      </a:schemeClr>
                    </a:solidFill>
                  </a:tcPr>
                </a:tc>
                <a:extLst>
                  <a:ext uri="{0D108BD9-81ED-4DB2-BD59-A6C34878D82A}">
                    <a16:rowId xmlns:a16="http://schemas.microsoft.com/office/drawing/2014/main" val="2778710779"/>
                  </a:ext>
                </a:extLst>
              </a:tr>
            </a:tbl>
          </a:graphicData>
        </a:graphic>
      </p:graphicFrame>
      <p:sp>
        <p:nvSpPr>
          <p:cNvPr id="11" name="TextBox 10">
            <a:extLst>
              <a:ext uri="{FF2B5EF4-FFF2-40B4-BE49-F238E27FC236}">
                <a16:creationId xmlns:a16="http://schemas.microsoft.com/office/drawing/2014/main" id="{F18A3303-6AE1-4192-B847-C968E4DE1C58}"/>
              </a:ext>
            </a:extLst>
          </p:cNvPr>
          <p:cNvSpPr txBox="1"/>
          <p:nvPr/>
        </p:nvSpPr>
        <p:spPr>
          <a:xfrm>
            <a:off x="11305310" y="1"/>
            <a:ext cx="931665" cy="1862048"/>
          </a:xfrm>
          <a:prstGeom prst="rect">
            <a:avLst/>
          </a:prstGeom>
          <a:noFill/>
        </p:spPr>
        <p:txBody>
          <a:bodyPr wrap="none" rtlCol="0">
            <a:spAutoFit/>
          </a:bodyPr>
          <a:lstStyle/>
          <a:p>
            <a:r>
              <a:rPr lang="en-US" sz="11500">
                <a:solidFill>
                  <a:schemeClr val="accent1">
                    <a:lumMod val="60000"/>
                    <a:lumOff val="40000"/>
                  </a:schemeClr>
                </a:solidFill>
              </a:rPr>
              <a:t>7</a:t>
            </a:r>
          </a:p>
        </p:txBody>
      </p:sp>
      <p:pic>
        <p:nvPicPr>
          <p:cNvPr id="2" name="Picture 1">
            <a:hlinkClick r:id="rId2" action="ppaction://hlinksldjump"/>
            <a:extLst>
              <a:ext uri="{FF2B5EF4-FFF2-40B4-BE49-F238E27FC236}">
                <a16:creationId xmlns:a16="http://schemas.microsoft.com/office/drawing/2014/main" id="{B096B179-9480-A74B-D8D7-A217029B6B45}"/>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818163F4-933F-B66C-DAB2-7734F7E6B639}"/>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123</a:t>
            </a:fld>
            <a:endParaRPr lang="en-US" b="1">
              <a:solidFill>
                <a:schemeClr val="bg1"/>
              </a:solidFill>
            </a:endParaRPr>
          </a:p>
        </p:txBody>
      </p:sp>
      <p:graphicFrame>
        <p:nvGraphicFramePr>
          <p:cNvPr id="14" name="Table 4">
            <a:extLst>
              <a:ext uri="{FF2B5EF4-FFF2-40B4-BE49-F238E27FC236}">
                <a16:creationId xmlns:a16="http://schemas.microsoft.com/office/drawing/2014/main" id="{6FC0D94F-6899-E739-45E1-F61FBCB5152F}"/>
              </a:ext>
            </a:extLst>
          </p:cNvPr>
          <p:cNvGraphicFramePr>
            <a:graphicFrameLocks noGrp="1"/>
          </p:cNvGraphicFramePr>
          <p:nvPr>
            <p:extLst>
              <p:ext uri="{D42A27DB-BD31-4B8C-83A1-F6EECF244321}">
                <p14:modId xmlns:p14="http://schemas.microsoft.com/office/powerpoint/2010/main" val="940534924"/>
              </p:ext>
            </p:extLst>
          </p:nvPr>
        </p:nvGraphicFramePr>
        <p:xfrm>
          <a:off x="193268" y="742463"/>
          <a:ext cx="4329725" cy="436342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graphicFrame>
        <p:nvGraphicFramePr>
          <p:cNvPr id="3" name="Table 4">
            <a:extLst>
              <a:ext uri="{FF2B5EF4-FFF2-40B4-BE49-F238E27FC236}">
                <a16:creationId xmlns:a16="http://schemas.microsoft.com/office/drawing/2014/main" id="{A1FE4E9B-A000-439D-AE95-5C88C554EF29}"/>
              </a:ext>
            </a:extLst>
          </p:cNvPr>
          <p:cNvGraphicFramePr>
            <a:graphicFrameLocks noGrp="1"/>
          </p:cNvGraphicFramePr>
          <p:nvPr>
            <p:extLst>
              <p:ext uri="{D42A27DB-BD31-4B8C-83A1-F6EECF244321}">
                <p14:modId xmlns:p14="http://schemas.microsoft.com/office/powerpoint/2010/main" val="59655026"/>
              </p:ext>
            </p:extLst>
          </p:nvPr>
        </p:nvGraphicFramePr>
        <p:xfrm>
          <a:off x="179753" y="5619913"/>
          <a:ext cx="9276863" cy="731520"/>
        </p:xfrm>
        <a:graphic>
          <a:graphicData uri="http://schemas.openxmlformats.org/drawingml/2006/table">
            <a:tbl>
              <a:tblPr firstRow="1" bandRow="1">
                <a:tableStyleId>{5C22544A-7EE6-4342-B048-85BDC9FD1C3A}</a:tableStyleId>
              </a:tblPr>
              <a:tblGrid>
                <a:gridCol w="1186741">
                  <a:extLst>
                    <a:ext uri="{9D8B030D-6E8A-4147-A177-3AD203B41FA5}">
                      <a16:colId xmlns:a16="http://schemas.microsoft.com/office/drawing/2014/main" val="1810408170"/>
                    </a:ext>
                  </a:extLst>
                </a:gridCol>
                <a:gridCol w="1153371">
                  <a:extLst>
                    <a:ext uri="{9D8B030D-6E8A-4147-A177-3AD203B41FA5}">
                      <a16:colId xmlns:a16="http://schemas.microsoft.com/office/drawing/2014/main" val="950391025"/>
                    </a:ext>
                  </a:extLst>
                </a:gridCol>
                <a:gridCol w="1048675">
                  <a:extLst>
                    <a:ext uri="{9D8B030D-6E8A-4147-A177-3AD203B41FA5}">
                      <a16:colId xmlns:a16="http://schemas.microsoft.com/office/drawing/2014/main" val="1217920130"/>
                    </a:ext>
                  </a:extLst>
                </a:gridCol>
                <a:gridCol w="1666220">
                  <a:extLst>
                    <a:ext uri="{9D8B030D-6E8A-4147-A177-3AD203B41FA5}">
                      <a16:colId xmlns:a16="http://schemas.microsoft.com/office/drawing/2014/main" val="1475888205"/>
                    </a:ext>
                  </a:extLst>
                </a:gridCol>
                <a:gridCol w="2241575">
                  <a:extLst>
                    <a:ext uri="{9D8B030D-6E8A-4147-A177-3AD203B41FA5}">
                      <a16:colId xmlns:a16="http://schemas.microsoft.com/office/drawing/2014/main" val="1355185516"/>
                    </a:ext>
                  </a:extLst>
                </a:gridCol>
                <a:gridCol w="1980281">
                  <a:extLst>
                    <a:ext uri="{9D8B030D-6E8A-4147-A177-3AD203B41FA5}">
                      <a16:colId xmlns:a16="http://schemas.microsoft.com/office/drawing/2014/main" val="3099546510"/>
                    </a:ext>
                  </a:extLst>
                </a:gridCol>
              </a:tblGrid>
              <a:tr h="29718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7 6 5 </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Branch</a:t>
                      </a:r>
                    </a:p>
                  </a:txBody>
                  <a:tcPr>
                    <a:solidFill>
                      <a:schemeClr val="accent6"/>
                    </a:solidFill>
                  </a:tcPr>
                </a:tc>
                <a:tc gridSpan="3">
                  <a:txBody>
                    <a:bodyPr/>
                    <a:lstStyle/>
                    <a:p>
                      <a:pPr algn="ctr"/>
                      <a:r>
                        <a:rPr lang="en-US" sz="1300"/>
                        <a:t>Immediate (8-bit)</a:t>
                      </a:r>
                    </a:p>
                  </a:txBody>
                  <a:tcPr/>
                </a:tc>
                <a:tc hMerge="1">
                  <a:txBody>
                    <a:bodyPr/>
                    <a:lstStyle/>
                    <a:p>
                      <a:pPr algn="ctr"/>
                      <a:endParaRPr lang="en-US"/>
                    </a:p>
                  </a:txBody>
                  <a:tcPr/>
                </a:tc>
                <a:tc hMerge="1">
                  <a:txBody>
                    <a:bodyPr/>
                    <a:lstStyle/>
                    <a:p>
                      <a:pPr algn="ctr"/>
                      <a:r>
                        <a:rPr lang="en-US"/>
                        <a:t>Immediate (8-bit)</a:t>
                      </a:r>
                    </a:p>
                  </a:txBody>
                  <a:tcPr/>
                </a:tc>
                <a:tc>
                  <a:txBody>
                    <a:bodyPr/>
                    <a:lstStyle/>
                    <a:p>
                      <a:pPr algn="ctr"/>
                      <a:r>
                        <a:rPr lang="en-US" sz="1300"/>
                        <a:t>C2 C1 C0</a:t>
                      </a:r>
                    </a:p>
                  </a:txBody>
                  <a:tcPr/>
                </a:tc>
                <a:tc>
                  <a:txBody>
                    <a:bodyPr/>
                    <a:lstStyle/>
                    <a:p>
                      <a:pPr algn="ctr"/>
                      <a:r>
                        <a:rPr lang="en-US" sz="1300"/>
                        <a:t>OpCode</a:t>
                      </a:r>
                    </a:p>
                  </a:txBody>
                  <a:tcPr/>
                </a:tc>
                <a:extLst>
                  <a:ext uri="{0D108BD9-81ED-4DB2-BD59-A6C34878D82A}">
                    <a16:rowId xmlns:a16="http://schemas.microsoft.com/office/drawing/2014/main" val="2570910443"/>
                  </a:ext>
                </a:extLst>
              </a:tr>
            </a:tbl>
          </a:graphicData>
        </a:graphic>
      </p:graphicFrame>
    </p:spTree>
    <p:extLst>
      <p:ext uri="{BB962C8B-B14F-4D97-AF65-F5344CB8AC3E}">
        <p14:creationId xmlns:p14="http://schemas.microsoft.com/office/powerpoint/2010/main" val="393411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extLst>
              <p:ext uri="{D42A27DB-BD31-4B8C-83A1-F6EECF244321}">
                <p14:modId xmlns:p14="http://schemas.microsoft.com/office/powerpoint/2010/main" val="1272001628"/>
              </p:ext>
            </p:extLst>
          </p:nvPr>
        </p:nvGraphicFramePr>
        <p:xfrm>
          <a:off x="4716584" y="742463"/>
          <a:ext cx="5638801" cy="4130040"/>
        </p:xfrm>
        <a:graphic>
          <a:graphicData uri="http://schemas.openxmlformats.org/drawingml/2006/table">
            <a:tbl>
              <a:tblPr firstRow="1" bandRow="1">
                <a:tableStyleId>{5C22544A-7EE6-4342-B048-85BDC9FD1C3A}</a:tableStyleId>
              </a:tblPr>
              <a:tblGrid>
                <a:gridCol w="855787">
                  <a:extLst>
                    <a:ext uri="{9D8B030D-6E8A-4147-A177-3AD203B41FA5}">
                      <a16:colId xmlns:a16="http://schemas.microsoft.com/office/drawing/2014/main" val="1217920130"/>
                    </a:ext>
                  </a:extLst>
                </a:gridCol>
                <a:gridCol w="2294891">
                  <a:extLst>
                    <a:ext uri="{9D8B030D-6E8A-4147-A177-3AD203B41FA5}">
                      <a16:colId xmlns:a16="http://schemas.microsoft.com/office/drawing/2014/main" val="1475888205"/>
                    </a:ext>
                  </a:extLst>
                </a:gridCol>
                <a:gridCol w="2488124">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502920">
                <a:tc>
                  <a:txBody>
                    <a:bodyPr/>
                    <a:lstStyle/>
                    <a:p>
                      <a:pPr algn="ctr"/>
                      <a:r>
                        <a:rPr lang="en-US" sz="1300"/>
                        <a:t>0</a:t>
                      </a:r>
                    </a:p>
                  </a:txBody>
                  <a:tcPr/>
                </a:tc>
                <a:tc>
                  <a:txBody>
                    <a:bodyPr/>
                    <a:lstStyle/>
                    <a:p>
                      <a:pPr lvl="0" algn="l">
                        <a:buNone/>
                      </a:pPr>
                      <a:r>
                        <a:rPr lang="en-US" sz="1300"/>
                        <a:t>0000_0000 = 0x00</a:t>
                      </a:r>
                    </a:p>
                  </a:txBody>
                  <a:tcPr/>
                </a:tc>
                <a:tc>
                  <a:txBody>
                    <a:bodyPr/>
                    <a:lstStyle/>
                    <a:p>
                      <a:pPr lvl="0" algn="l">
                        <a:buNone/>
                      </a:pPr>
                      <a:r>
                        <a:rPr lang="en-US" sz="1300"/>
                        <a:t>Wait for H register to be loaded (need value of Rs1)</a:t>
                      </a:r>
                    </a:p>
                  </a:txBody>
                  <a:tcPr/>
                </a:tc>
                <a:extLst>
                  <a:ext uri="{0D108BD9-81ED-4DB2-BD59-A6C34878D82A}">
                    <a16:rowId xmlns:a16="http://schemas.microsoft.com/office/drawing/2014/main" val="3571661217"/>
                  </a:ext>
                </a:extLst>
              </a:tr>
              <a:tr h="1120140">
                <a:tc>
                  <a:txBody>
                    <a:bodyPr/>
                    <a:lstStyle/>
                    <a:p>
                      <a:pPr algn="ctr"/>
                      <a:r>
                        <a:rPr lang="en-US" sz="1300"/>
                        <a:t>1</a:t>
                      </a:r>
                    </a:p>
                  </a:txBody>
                  <a:tcPr/>
                </a:tc>
                <a:tc>
                  <a:txBody>
                    <a:bodyPr/>
                    <a:lstStyle/>
                    <a:p>
                      <a:pPr lvl="0" algn="l">
                        <a:buNone/>
                      </a:pPr>
                      <a:r>
                        <a:rPr lang="en-US" sz="1300"/>
                        <a:t>0001_0000 = 0x10</a:t>
                      </a:r>
                    </a:p>
                  </a:txBody>
                  <a:tcPr/>
                </a:tc>
                <a:tc>
                  <a:txBody>
                    <a:bodyPr/>
                    <a:lstStyle/>
                    <a:p>
                      <a:pPr lvl="0" algn="l">
                        <a:buNone/>
                      </a:pPr>
                      <a:r>
                        <a:rPr lang="en-US" sz="1300"/>
                        <a:t>Write Rs1 to the bus</a:t>
                      </a:r>
                    </a:p>
                    <a:p>
                      <a:pPr lvl="0" algn="l">
                        <a:buNone/>
                      </a:pPr>
                      <a:r>
                        <a:rPr lang="en-US" sz="1300"/>
                        <a:t>(when opcode 01000 is detected, the value on the bus is read by the OUT register to the display)</a:t>
                      </a:r>
                    </a:p>
                  </a:txBody>
                  <a:tcPr/>
                </a:tc>
                <a:extLst>
                  <a:ext uri="{0D108BD9-81ED-4DB2-BD59-A6C34878D82A}">
                    <a16:rowId xmlns:a16="http://schemas.microsoft.com/office/drawing/2014/main" val="2570910443"/>
                  </a:ext>
                </a:extLst>
              </a:tr>
              <a:tr h="370840">
                <a:tc>
                  <a:txBody>
                    <a:bodyPr/>
                    <a:lstStyle/>
                    <a:p>
                      <a:pPr algn="ctr"/>
                      <a:r>
                        <a:rPr lang="en-US" sz="1300"/>
                        <a:t>2</a:t>
                      </a:r>
                    </a:p>
                  </a:txBody>
                  <a:tcPr/>
                </a:tc>
                <a:tc>
                  <a:txBody>
                    <a:bodyPr/>
                    <a:lstStyle/>
                    <a:p>
                      <a:pPr marL="0" marR="0" lvl="0" indent="0" algn="l" rtl="0">
                        <a:lnSpc>
                          <a:spcPct val="100000"/>
                        </a:lnSpc>
                        <a:spcBef>
                          <a:spcPts val="0"/>
                        </a:spcBef>
                        <a:spcAft>
                          <a:spcPts val="0"/>
                        </a:spcAft>
                        <a:buClrTx/>
                        <a:buSzTx/>
                        <a:buFontTx/>
                        <a:buNone/>
                      </a:pPr>
                      <a:r>
                        <a:rPr lang="en-US" sz="1300"/>
                        <a:t>1000_0000 = 0x80</a:t>
                      </a:r>
                    </a:p>
                  </a:txBody>
                  <a:tcPr/>
                </a:tc>
                <a:tc>
                  <a:txBody>
                    <a:bodyPr/>
                    <a:lstStyle/>
                    <a:p>
                      <a:pPr lvl="0" algn="l">
                        <a:buNone/>
                      </a:pPr>
                      <a:r>
                        <a:rPr lang="en-US" sz="1300"/>
                        <a:t>Advance PC</a:t>
                      </a:r>
                    </a:p>
                  </a:txBody>
                  <a:tcPr/>
                </a:tc>
                <a:extLst>
                  <a:ext uri="{0D108BD9-81ED-4DB2-BD59-A6C34878D82A}">
                    <a16:rowId xmlns:a16="http://schemas.microsoft.com/office/drawing/2014/main" val="631651838"/>
                  </a:ext>
                </a:extLst>
              </a:tr>
              <a:tr h="370840">
                <a:tc>
                  <a:txBody>
                    <a:bodyPr/>
                    <a:lstStyle/>
                    <a:p>
                      <a:pPr algn="ctr"/>
                      <a:r>
                        <a:rPr lang="en-US" sz="1300"/>
                        <a:t>3</a:t>
                      </a:r>
                    </a:p>
                  </a:txBody>
                  <a:tcPr/>
                </a:tc>
                <a:tc>
                  <a:txBody>
                    <a:bodyPr/>
                    <a:lstStyle/>
                    <a:p>
                      <a:pPr marL="0" marR="0" lvl="0" indent="0" algn="l" rtl="0">
                        <a:lnSpc>
                          <a:spcPct val="100000"/>
                        </a:lnSpc>
                        <a:spcBef>
                          <a:spcPts val="0"/>
                        </a:spcBef>
                        <a:spcAft>
                          <a:spcPts val="0"/>
                        </a:spcAft>
                        <a:buClrTx/>
                        <a:buSzTx/>
                        <a:buFontTx/>
                        <a:buNone/>
                      </a:pPr>
                      <a:endParaRPr lang="en-US" sz="1300"/>
                    </a:p>
                  </a:txBody>
                  <a:tcPr/>
                </a:tc>
                <a:tc>
                  <a:txBody>
                    <a:bodyPr/>
                    <a:lstStyle/>
                    <a:p>
                      <a:pPr lvl="0" algn="l">
                        <a:buNone/>
                      </a:pPr>
                      <a:endParaRPr lang="en-US" sz="1300"/>
                    </a:p>
                  </a:txBody>
                  <a:tcPr/>
                </a:tc>
                <a:extLst>
                  <a:ext uri="{0D108BD9-81ED-4DB2-BD59-A6C34878D82A}">
                    <a16:rowId xmlns:a16="http://schemas.microsoft.com/office/drawing/2014/main" val="1592812184"/>
                  </a:ext>
                </a:extLst>
              </a:tr>
              <a:tr h="370840">
                <a:tc>
                  <a:txBody>
                    <a:bodyPr/>
                    <a:lstStyle/>
                    <a:p>
                      <a:pPr algn="ctr"/>
                      <a:r>
                        <a:rPr lang="en-US" sz="1300"/>
                        <a:t>4</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225793510"/>
                  </a:ext>
                </a:extLst>
              </a:tr>
            </a:tbl>
          </a:graphicData>
        </a:graphic>
      </p:graphicFrame>
      <p:graphicFrame>
        <p:nvGraphicFramePr>
          <p:cNvPr id="8" name="Table 4">
            <a:extLst>
              <a:ext uri="{FF2B5EF4-FFF2-40B4-BE49-F238E27FC236}">
                <a16:creationId xmlns:a16="http://schemas.microsoft.com/office/drawing/2014/main" id="{B2AD6081-617D-4B70-9D8B-1ADCBBB7A323}"/>
              </a:ext>
            </a:extLst>
          </p:cNvPr>
          <p:cNvGraphicFramePr>
            <a:graphicFrameLocks noGrp="1"/>
          </p:cNvGraphicFramePr>
          <p:nvPr/>
        </p:nvGraphicFramePr>
        <p:xfrm>
          <a:off x="179752" y="5619913"/>
          <a:ext cx="9276861" cy="741680"/>
        </p:xfrm>
        <a:graphic>
          <a:graphicData uri="http://schemas.openxmlformats.org/drawingml/2006/table">
            <a:tbl>
              <a:tblPr firstRow="1" bandRow="1">
                <a:tableStyleId>{5C22544A-7EE6-4342-B048-85BDC9FD1C3A}</a:tableStyleId>
              </a:tblPr>
              <a:tblGrid>
                <a:gridCol w="1312985">
                  <a:extLst>
                    <a:ext uri="{9D8B030D-6E8A-4147-A177-3AD203B41FA5}">
                      <a16:colId xmlns:a16="http://schemas.microsoft.com/office/drawing/2014/main" val="1810408170"/>
                    </a:ext>
                  </a:extLst>
                </a:gridCol>
                <a:gridCol w="2089399">
                  <a:extLst>
                    <a:ext uri="{9D8B030D-6E8A-4147-A177-3AD203B41FA5}">
                      <a16:colId xmlns:a16="http://schemas.microsoft.com/office/drawing/2014/main" val="1217920130"/>
                    </a:ext>
                  </a:extLst>
                </a:gridCol>
                <a:gridCol w="824031">
                  <a:extLst>
                    <a:ext uri="{9D8B030D-6E8A-4147-A177-3AD203B41FA5}">
                      <a16:colId xmlns:a16="http://schemas.microsoft.com/office/drawing/2014/main" val="1475888205"/>
                    </a:ext>
                  </a:extLst>
                </a:gridCol>
                <a:gridCol w="1262612">
                  <a:extLst>
                    <a:ext uri="{9D8B030D-6E8A-4147-A177-3AD203B41FA5}">
                      <a16:colId xmlns:a16="http://schemas.microsoft.com/office/drawing/2014/main" val="1355185516"/>
                    </a:ext>
                  </a:extLst>
                </a:gridCol>
                <a:gridCol w="1584927">
                  <a:extLst>
                    <a:ext uri="{9D8B030D-6E8A-4147-A177-3AD203B41FA5}">
                      <a16:colId xmlns:a16="http://schemas.microsoft.com/office/drawing/2014/main" val="2050007723"/>
                    </a:ext>
                  </a:extLst>
                </a:gridCol>
                <a:gridCol w="1149517">
                  <a:extLst>
                    <a:ext uri="{9D8B030D-6E8A-4147-A177-3AD203B41FA5}">
                      <a16:colId xmlns:a16="http://schemas.microsoft.com/office/drawing/2014/main" val="3099546510"/>
                    </a:ext>
                  </a:extLst>
                </a:gridCol>
                <a:gridCol w="1053392">
                  <a:extLst>
                    <a:ext uri="{9D8B030D-6E8A-4147-A177-3AD203B41FA5}">
                      <a16:colId xmlns:a16="http://schemas.microsoft.com/office/drawing/2014/main" val="1677154990"/>
                    </a:ext>
                  </a:extLst>
                </a:gridCol>
              </a:tblGrid>
              <a:tr h="370840">
                <a:tc>
                  <a:txBody>
                    <a:bodyPr/>
                    <a:lstStyle/>
                    <a:p>
                      <a:r>
                        <a:rPr lang="en-US" sz="1300"/>
                        <a:t>Type</a:t>
                      </a:r>
                    </a:p>
                  </a:txBody>
                  <a:tcPr/>
                </a:tc>
                <a:tc>
                  <a:txBody>
                    <a:bodyPr/>
                    <a:lstStyle/>
                    <a:p>
                      <a:r>
                        <a:rPr lang="en-US" sz="1300"/>
                        <a:t>15 14 13 12</a:t>
                      </a:r>
                    </a:p>
                  </a:txBody>
                  <a:tcPr/>
                </a:tc>
                <a:tc>
                  <a:txBody>
                    <a:bodyPr/>
                    <a:lstStyle/>
                    <a:p>
                      <a:r>
                        <a:rPr lang="en-US" sz="1300"/>
                        <a:t>11 10</a:t>
                      </a:r>
                    </a:p>
                  </a:txBody>
                  <a:tcPr/>
                </a:tc>
                <a:tc>
                  <a:txBody>
                    <a:bodyPr/>
                    <a:lstStyle/>
                    <a:p>
                      <a:r>
                        <a:rPr lang="en-US" sz="1300"/>
                        <a:t>9 8</a:t>
                      </a:r>
                    </a:p>
                  </a:txBody>
                  <a:tcPr/>
                </a:tc>
                <a:tc>
                  <a:txBody>
                    <a:bodyPr/>
                    <a:lstStyle/>
                    <a:p>
                      <a:r>
                        <a:rPr lang="en-US" sz="1300"/>
                        <a:t>7 6 5 4</a:t>
                      </a:r>
                    </a:p>
                  </a:txBody>
                  <a:tcPr/>
                </a:tc>
                <a:tc>
                  <a:txBody>
                    <a:bodyPr/>
                    <a:lstStyle/>
                    <a:p>
                      <a:r>
                        <a:rPr lang="en-US" sz="1300"/>
                        <a:t>3 2</a:t>
                      </a:r>
                    </a:p>
                  </a:txBody>
                  <a:tcPr/>
                </a:tc>
                <a:tc>
                  <a:txBody>
                    <a:bodyPr/>
                    <a:lstStyle/>
                    <a:p>
                      <a:r>
                        <a:rPr lang="en-US" sz="1300"/>
                        <a:t>1 0</a:t>
                      </a:r>
                    </a:p>
                  </a:txBody>
                  <a:tcPr/>
                </a:tc>
                <a:extLst>
                  <a:ext uri="{0D108BD9-81ED-4DB2-BD59-A6C34878D82A}">
                    <a16:rowId xmlns:a16="http://schemas.microsoft.com/office/drawing/2014/main" val="2319756336"/>
                  </a:ext>
                </a:extLst>
              </a:tr>
              <a:tr h="370840">
                <a:tc>
                  <a:txBody>
                    <a:bodyPr/>
                    <a:lstStyle/>
                    <a:p>
                      <a:pPr algn="ctr"/>
                      <a:r>
                        <a:rPr lang="en-US" sz="1300"/>
                        <a:t>Load Reg</a:t>
                      </a:r>
                    </a:p>
                  </a:txBody>
                  <a:tcPr/>
                </a:tc>
                <a:tc>
                  <a:txBody>
                    <a:bodyPr/>
                    <a:lstStyle/>
                    <a:p>
                      <a:pPr algn="ctr"/>
                      <a:r>
                        <a:rPr lang="en-US" sz="1300"/>
                        <a:t>OpCode</a:t>
                      </a:r>
                    </a:p>
                  </a:txBody>
                  <a:tcPr/>
                </a:tc>
                <a:tc>
                  <a:txBody>
                    <a:bodyPr/>
                    <a:lstStyle/>
                    <a:p>
                      <a:pPr algn="ctr"/>
                      <a:r>
                        <a:rPr lang="en-US" sz="1300"/>
                        <a:t>XX</a:t>
                      </a:r>
                    </a:p>
                  </a:txBody>
                  <a:tcPr/>
                </a:tc>
                <a:tc>
                  <a:txBody>
                    <a:bodyPr/>
                    <a:lstStyle/>
                    <a:p>
                      <a:pPr algn="ctr"/>
                      <a:r>
                        <a:rPr lang="en-US" sz="1300"/>
                        <a:t>Rd</a:t>
                      </a:r>
                    </a:p>
                  </a:txBody>
                  <a:tcPr/>
                </a:tc>
                <a:tc>
                  <a:txBody>
                    <a:bodyPr/>
                    <a:lstStyle/>
                    <a:p>
                      <a:pPr algn="ctr"/>
                      <a:r>
                        <a:rPr lang="en-US" sz="1300"/>
                        <a:t>XXXX</a:t>
                      </a:r>
                    </a:p>
                  </a:txBody>
                  <a:tcPr/>
                </a:tc>
                <a:tc>
                  <a:txBody>
                    <a:bodyPr/>
                    <a:lstStyle/>
                    <a:p>
                      <a:pPr algn="ctr"/>
                      <a:r>
                        <a:rPr lang="en-US" sz="1300"/>
                        <a:t>Rs1</a:t>
                      </a:r>
                    </a:p>
                  </a:txBody>
                  <a:tcPr/>
                </a:tc>
                <a:tc>
                  <a:txBody>
                    <a:bodyPr/>
                    <a:lstStyle/>
                    <a:p>
                      <a:pPr algn="ctr"/>
                      <a:r>
                        <a:rPr lang="en-US" sz="1300"/>
                        <a:t>XX</a:t>
                      </a:r>
                    </a:p>
                  </a:txBody>
                  <a:tcPr/>
                </a:tc>
                <a:extLst>
                  <a:ext uri="{0D108BD9-81ED-4DB2-BD59-A6C34878D82A}">
                    <a16:rowId xmlns:a16="http://schemas.microsoft.com/office/drawing/2014/main" val="2570910443"/>
                  </a:ext>
                </a:extLst>
              </a:tr>
            </a:tbl>
          </a:graphicData>
        </a:graphic>
      </p:graphicFrame>
      <p:graphicFrame>
        <p:nvGraphicFramePr>
          <p:cNvPr id="10" name="Table 4">
            <a:extLst>
              <a:ext uri="{FF2B5EF4-FFF2-40B4-BE49-F238E27FC236}">
                <a16:creationId xmlns:a16="http://schemas.microsoft.com/office/drawing/2014/main" id="{33C88461-5F9C-4D9D-9DAE-914D4CE0634F}"/>
              </a:ext>
            </a:extLst>
          </p:cNvPr>
          <p:cNvGraphicFramePr>
            <a:graphicFrameLocks noGrp="1"/>
          </p:cNvGraphicFramePr>
          <p:nvPr>
            <p:extLst>
              <p:ext uri="{D42A27DB-BD31-4B8C-83A1-F6EECF244321}">
                <p14:modId xmlns:p14="http://schemas.microsoft.com/office/powerpoint/2010/main" val="1655766629"/>
              </p:ext>
            </p:extLst>
          </p:nvPr>
        </p:nvGraphicFramePr>
        <p:xfrm>
          <a:off x="179753" y="5624993"/>
          <a:ext cx="9276863" cy="1010920"/>
        </p:xfrm>
        <a:graphic>
          <a:graphicData uri="http://schemas.openxmlformats.org/drawingml/2006/table">
            <a:tbl>
              <a:tblPr firstRow="1" bandRow="1">
                <a:tableStyleId>{5C22544A-7EE6-4342-B048-85BDC9FD1C3A}</a:tableStyleId>
              </a:tblPr>
              <a:tblGrid>
                <a:gridCol w="1071627">
                  <a:extLst>
                    <a:ext uri="{9D8B030D-6E8A-4147-A177-3AD203B41FA5}">
                      <a16:colId xmlns:a16="http://schemas.microsoft.com/office/drawing/2014/main" val="1810408170"/>
                    </a:ext>
                  </a:extLst>
                </a:gridCol>
                <a:gridCol w="804069">
                  <a:extLst>
                    <a:ext uri="{9D8B030D-6E8A-4147-A177-3AD203B41FA5}">
                      <a16:colId xmlns:a16="http://schemas.microsoft.com/office/drawing/2014/main" val="950391025"/>
                    </a:ext>
                  </a:extLst>
                </a:gridCol>
                <a:gridCol w="1055077">
                  <a:extLst>
                    <a:ext uri="{9D8B030D-6E8A-4147-A177-3AD203B41FA5}">
                      <a16:colId xmlns:a16="http://schemas.microsoft.com/office/drawing/2014/main" val="1217920130"/>
                    </a:ext>
                  </a:extLst>
                </a:gridCol>
                <a:gridCol w="2595403">
                  <a:extLst>
                    <a:ext uri="{9D8B030D-6E8A-4147-A177-3AD203B41FA5}">
                      <a16:colId xmlns:a16="http://schemas.microsoft.com/office/drawing/2014/main" val="1475888205"/>
                    </a:ext>
                  </a:extLst>
                </a:gridCol>
                <a:gridCol w="765213">
                  <a:extLst>
                    <a:ext uri="{9D8B030D-6E8A-4147-A177-3AD203B41FA5}">
                      <a16:colId xmlns:a16="http://schemas.microsoft.com/office/drawing/2014/main" val="1355185516"/>
                    </a:ext>
                  </a:extLst>
                </a:gridCol>
                <a:gridCol w="558040">
                  <a:extLst>
                    <a:ext uri="{9D8B030D-6E8A-4147-A177-3AD203B41FA5}">
                      <a16:colId xmlns:a16="http://schemas.microsoft.com/office/drawing/2014/main" val="2050007723"/>
                    </a:ext>
                  </a:extLst>
                </a:gridCol>
                <a:gridCol w="710719">
                  <a:extLst>
                    <a:ext uri="{9D8B030D-6E8A-4147-A177-3AD203B41FA5}">
                      <a16:colId xmlns:a16="http://schemas.microsoft.com/office/drawing/2014/main" val="2377888243"/>
                    </a:ext>
                  </a:extLst>
                </a:gridCol>
                <a:gridCol w="1716716">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 </a:t>
                      </a:r>
                    </a:p>
                  </a:txBody>
                  <a:tcPr/>
                </a:tc>
                <a:tc>
                  <a:txBody>
                    <a:bodyPr/>
                    <a:lstStyle/>
                    <a:p>
                      <a:pPr algn="ctr"/>
                      <a:r>
                        <a:rPr lang="en-US" sz="1300"/>
                        <a:t>4</a:t>
                      </a:r>
                    </a:p>
                  </a:txBody>
                  <a:tcPr/>
                </a:tc>
                <a:tc>
                  <a:txBody>
                    <a:bodyPr/>
                    <a:lstStyle/>
                    <a:p>
                      <a:pPr algn="ctr"/>
                      <a:r>
                        <a:rPr lang="en-US" sz="1300"/>
                        <a:t>3 2 1 0</a:t>
                      </a:r>
                    </a:p>
                  </a:txBody>
                  <a:tcPr/>
                </a:tc>
                <a:extLst>
                  <a:ext uri="{0D108BD9-81ED-4DB2-BD59-A6C34878D82A}">
                    <a16:rowId xmlns:a16="http://schemas.microsoft.com/office/drawing/2014/main" val="2319756336"/>
                  </a:ext>
                </a:extLst>
              </a:tr>
              <a:tr h="502920">
                <a:tc>
                  <a:txBody>
                    <a:bodyPr/>
                    <a:lstStyle/>
                    <a:p>
                      <a:pPr algn="ctr"/>
                      <a:r>
                        <a:rPr lang="en-US" sz="1300"/>
                        <a:t>Out</a:t>
                      </a:r>
                    </a:p>
                  </a:txBody>
                  <a:tcPr>
                    <a:solidFill>
                      <a:schemeClr val="accent6"/>
                    </a:solidFill>
                  </a:tcPr>
                </a:tc>
                <a:tc>
                  <a:txBody>
                    <a:bodyPr/>
                    <a:lstStyle/>
                    <a:p>
                      <a:pPr algn="ctr"/>
                      <a:r>
                        <a:rPr lang="en-US" sz="1300"/>
                        <a:t>XX</a:t>
                      </a:r>
                    </a:p>
                  </a:txBody>
                  <a:tcPr/>
                </a:tc>
                <a:tc>
                  <a:txBody>
                    <a:bodyPr/>
                    <a:lstStyle/>
                    <a:p>
                      <a:pPr algn="ctr"/>
                      <a:r>
                        <a:rPr lang="en-US" sz="1300"/>
                        <a:t>Rs1</a:t>
                      </a:r>
                    </a:p>
                  </a:txBody>
                  <a:tcPr/>
                </a:tc>
                <a:tc>
                  <a:txBody>
                    <a:bodyPr/>
                    <a:lstStyle/>
                    <a:p>
                      <a:pPr algn="ctr"/>
                      <a:r>
                        <a:rPr lang="en-US" sz="1300"/>
                        <a:t>XXXX</a:t>
                      </a:r>
                    </a:p>
                  </a:txBody>
                  <a:tcPr/>
                </a:tc>
                <a:tc>
                  <a:txBody>
                    <a:bodyPr/>
                    <a:lstStyle/>
                    <a:p>
                      <a:pPr algn="ctr"/>
                      <a:r>
                        <a:rPr lang="en-US" sz="1300"/>
                        <a:t>XX</a:t>
                      </a:r>
                    </a:p>
                  </a:txBody>
                  <a:tcPr/>
                </a:tc>
                <a:tc>
                  <a:txBody>
                    <a:bodyPr/>
                    <a:lstStyle/>
                    <a:p>
                      <a:pPr algn="ctr"/>
                      <a:r>
                        <a:rPr lang="en-US" sz="1300"/>
                        <a:t>I=1</a:t>
                      </a:r>
                    </a:p>
                    <a:p>
                      <a:pPr algn="ctr"/>
                      <a:r>
                        <a:rPr lang="en-US" sz="1300"/>
                        <a:t>A=0</a:t>
                      </a:r>
                    </a:p>
                  </a:txBody>
                  <a:tcPr/>
                </a:tc>
                <a:tc>
                  <a:txBody>
                    <a:bodyPr/>
                    <a:lstStyle/>
                    <a:p>
                      <a:pPr algn="ctr"/>
                      <a:r>
                        <a:rPr lang="en-US" sz="1300"/>
                        <a:t>X</a:t>
                      </a:r>
                    </a:p>
                  </a:txBody>
                  <a:tcPr/>
                </a:tc>
                <a:tc>
                  <a:txBody>
                    <a:bodyPr/>
                    <a:lstStyle/>
                    <a:p>
                      <a:pPr algn="ctr"/>
                      <a:r>
                        <a:rPr lang="en-US" sz="1300"/>
                        <a:t>OpCode</a:t>
                      </a:r>
                    </a:p>
                  </a:txBody>
                  <a:tcPr/>
                </a:tc>
                <a:extLst>
                  <a:ext uri="{0D108BD9-81ED-4DB2-BD59-A6C34878D82A}">
                    <a16:rowId xmlns:a16="http://schemas.microsoft.com/office/drawing/2014/main" val="2570910443"/>
                  </a:ext>
                </a:extLst>
              </a:tr>
            </a:tbl>
          </a:graphicData>
        </a:graphic>
      </p:graphicFrame>
      <p:sp>
        <p:nvSpPr>
          <p:cNvPr id="11" name="TextBox 10">
            <a:extLst>
              <a:ext uri="{FF2B5EF4-FFF2-40B4-BE49-F238E27FC236}">
                <a16:creationId xmlns:a16="http://schemas.microsoft.com/office/drawing/2014/main" id="{441B6E3F-C8F7-4A57-B4B7-8519519F6F28}"/>
              </a:ext>
            </a:extLst>
          </p:cNvPr>
          <p:cNvSpPr txBox="1"/>
          <p:nvPr/>
        </p:nvSpPr>
        <p:spPr>
          <a:xfrm>
            <a:off x="11305310" y="1"/>
            <a:ext cx="931665" cy="1862048"/>
          </a:xfrm>
          <a:prstGeom prst="rect">
            <a:avLst/>
          </a:prstGeom>
          <a:noFill/>
        </p:spPr>
        <p:txBody>
          <a:bodyPr wrap="none" rtlCol="0">
            <a:spAutoFit/>
          </a:bodyPr>
          <a:lstStyle/>
          <a:p>
            <a:r>
              <a:rPr lang="en-US" sz="11500">
                <a:solidFill>
                  <a:schemeClr val="accent1">
                    <a:lumMod val="60000"/>
                    <a:lumOff val="40000"/>
                  </a:schemeClr>
                </a:solidFill>
              </a:rPr>
              <a:t>8</a:t>
            </a:r>
          </a:p>
        </p:txBody>
      </p:sp>
      <p:sp>
        <p:nvSpPr>
          <p:cNvPr id="12" name="TextBox 11">
            <a:extLst>
              <a:ext uri="{FF2B5EF4-FFF2-40B4-BE49-F238E27FC236}">
                <a16:creationId xmlns:a16="http://schemas.microsoft.com/office/drawing/2014/main" id="{320CF342-B9FD-D13A-D350-C97D9065E710}"/>
              </a:ext>
            </a:extLst>
          </p:cNvPr>
          <p:cNvSpPr txBox="1"/>
          <p:nvPr/>
        </p:nvSpPr>
        <p:spPr>
          <a:xfrm>
            <a:off x="6607522" y="4872501"/>
            <a:ext cx="2353529" cy="523220"/>
          </a:xfrm>
          <a:prstGeom prst="rect">
            <a:avLst/>
          </a:prstGeom>
          <a:noFill/>
        </p:spPr>
        <p:txBody>
          <a:bodyPr wrap="none" rtlCol="0">
            <a:spAutoFit/>
          </a:bodyPr>
          <a:lstStyle/>
          <a:p>
            <a:r>
              <a:rPr lang="en-US" sz="2800">
                <a:solidFill>
                  <a:srgbClr val="00B050"/>
                </a:solidFill>
                <a:latin typeface="Consolas" panose="020B0609020204030204" pitchFamily="49" charset="0"/>
              </a:rPr>
              <a:t> OUT Rs1, A</a:t>
            </a:r>
          </a:p>
        </p:txBody>
      </p:sp>
      <p:pic>
        <p:nvPicPr>
          <p:cNvPr id="2" name="Picture 1">
            <a:hlinkClick r:id="rId2" action="ppaction://hlinksldjump"/>
            <a:extLst>
              <a:ext uri="{FF2B5EF4-FFF2-40B4-BE49-F238E27FC236}">
                <a16:creationId xmlns:a16="http://schemas.microsoft.com/office/drawing/2014/main" id="{8BBE2746-6F4E-10FD-08A6-7A8C535AE120}"/>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7" name="Slide Number Placeholder 4">
            <a:extLst>
              <a:ext uri="{FF2B5EF4-FFF2-40B4-BE49-F238E27FC236}">
                <a16:creationId xmlns:a16="http://schemas.microsoft.com/office/drawing/2014/main" id="{E2583D14-19AE-E1A6-BDB6-D2F6EE432F7B}"/>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124</a:t>
            </a:fld>
            <a:endParaRPr lang="en-US" b="1">
              <a:solidFill>
                <a:schemeClr val="bg1"/>
              </a:solidFill>
            </a:endParaRPr>
          </a:p>
        </p:txBody>
      </p:sp>
      <p:sp>
        <p:nvSpPr>
          <p:cNvPr id="13" name="Title 12">
            <a:extLst>
              <a:ext uri="{FF2B5EF4-FFF2-40B4-BE49-F238E27FC236}">
                <a16:creationId xmlns:a16="http://schemas.microsoft.com/office/drawing/2014/main" id="{95649886-AC7F-5307-2CF8-BEA7A20B0F43}"/>
              </a:ext>
            </a:extLst>
          </p:cNvPr>
          <p:cNvSpPr>
            <a:spLocks noGrp="1"/>
          </p:cNvSpPr>
          <p:nvPr>
            <p:ph type="ctrTitle"/>
          </p:nvPr>
        </p:nvSpPr>
        <p:spPr>
          <a:xfrm>
            <a:off x="914400" y="182880"/>
            <a:ext cx="9144000" cy="457200"/>
          </a:xfrm>
        </p:spPr>
        <p:txBody>
          <a:bodyPr/>
          <a:lstStyle/>
          <a:p>
            <a:r>
              <a:rPr lang="en-US"/>
              <a:t>Micro-Instructions Control: OUT (01000) (Display ASCII or Integer)</a:t>
            </a:r>
          </a:p>
        </p:txBody>
      </p:sp>
      <p:graphicFrame>
        <p:nvGraphicFramePr>
          <p:cNvPr id="14" name="Table 4">
            <a:extLst>
              <a:ext uri="{FF2B5EF4-FFF2-40B4-BE49-F238E27FC236}">
                <a16:creationId xmlns:a16="http://schemas.microsoft.com/office/drawing/2014/main" id="{1F7CE152-D38B-2D39-98C9-222C91EAE52A}"/>
              </a:ext>
            </a:extLst>
          </p:cNvPr>
          <p:cNvGraphicFramePr>
            <a:graphicFrameLocks noGrp="1"/>
          </p:cNvGraphicFramePr>
          <p:nvPr>
            <p:extLst>
              <p:ext uri="{D42A27DB-BD31-4B8C-83A1-F6EECF244321}">
                <p14:modId xmlns:p14="http://schemas.microsoft.com/office/powerpoint/2010/main" val="940534924"/>
              </p:ext>
            </p:extLst>
          </p:nvPr>
        </p:nvGraphicFramePr>
        <p:xfrm>
          <a:off x="193268" y="742463"/>
          <a:ext cx="4329725" cy="436342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graphicFrame>
        <p:nvGraphicFramePr>
          <p:cNvPr id="3" name="Table 4">
            <a:extLst>
              <a:ext uri="{FF2B5EF4-FFF2-40B4-BE49-F238E27FC236}">
                <a16:creationId xmlns:a16="http://schemas.microsoft.com/office/drawing/2014/main" id="{C20BE46A-FB5E-C92D-D259-53E80F8F010C}"/>
              </a:ext>
            </a:extLst>
          </p:cNvPr>
          <p:cNvGraphicFramePr>
            <a:graphicFrameLocks noGrp="1"/>
          </p:cNvGraphicFramePr>
          <p:nvPr>
            <p:extLst>
              <p:ext uri="{D42A27DB-BD31-4B8C-83A1-F6EECF244321}">
                <p14:modId xmlns:p14="http://schemas.microsoft.com/office/powerpoint/2010/main" val="3923191601"/>
              </p:ext>
            </p:extLst>
          </p:nvPr>
        </p:nvGraphicFramePr>
        <p:xfrm>
          <a:off x="193269" y="5619913"/>
          <a:ext cx="9263345" cy="1010920"/>
        </p:xfrm>
        <a:graphic>
          <a:graphicData uri="http://schemas.openxmlformats.org/drawingml/2006/table">
            <a:tbl>
              <a:tblPr firstRow="1" bandRow="1">
                <a:tableStyleId>{5C22544A-7EE6-4342-B048-85BDC9FD1C3A}</a:tableStyleId>
              </a:tblPr>
              <a:tblGrid>
                <a:gridCol w="1158847">
                  <a:extLst>
                    <a:ext uri="{9D8B030D-6E8A-4147-A177-3AD203B41FA5}">
                      <a16:colId xmlns:a16="http://schemas.microsoft.com/office/drawing/2014/main" val="1810408170"/>
                    </a:ext>
                  </a:extLst>
                </a:gridCol>
                <a:gridCol w="869513">
                  <a:extLst>
                    <a:ext uri="{9D8B030D-6E8A-4147-A177-3AD203B41FA5}">
                      <a16:colId xmlns:a16="http://schemas.microsoft.com/office/drawing/2014/main" val="950391025"/>
                    </a:ext>
                  </a:extLst>
                </a:gridCol>
                <a:gridCol w="1140951">
                  <a:extLst>
                    <a:ext uri="{9D8B030D-6E8A-4147-A177-3AD203B41FA5}">
                      <a16:colId xmlns:a16="http://schemas.microsoft.com/office/drawing/2014/main" val="1217920130"/>
                    </a:ext>
                  </a:extLst>
                </a:gridCol>
                <a:gridCol w="2806643">
                  <a:extLst>
                    <a:ext uri="{9D8B030D-6E8A-4147-A177-3AD203B41FA5}">
                      <a16:colId xmlns:a16="http://schemas.microsoft.com/office/drawing/2014/main" val="1475888205"/>
                    </a:ext>
                  </a:extLst>
                </a:gridCol>
                <a:gridCol w="827495">
                  <a:extLst>
                    <a:ext uri="{9D8B030D-6E8A-4147-A177-3AD203B41FA5}">
                      <a16:colId xmlns:a16="http://schemas.microsoft.com/office/drawing/2014/main" val="1355185516"/>
                    </a:ext>
                  </a:extLst>
                </a:gridCol>
                <a:gridCol w="603459">
                  <a:extLst>
                    <a:ext uri="{9D8B030D-6E8A-4147-A177-3AD203B41FA5}">
                      <a16:colId xmlns:a16="http://schemas.microsoft.com/office/drawing/2014/main" val="2050007723"/>
                    </a:ext>
                  </a:extLst>
                </a:gridCol>
                <a:gridCol w="1856440">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 </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502920">
                <a:tc>
                  <a:txBody>
                    <a:bodyPr/>
                    <a:lstStyle/>
                    <a:p>
                      <a:pPr algn="ctr"/>
                      <a:r>
                        <a:rPr lang="en-US" sz="1300"/>
                        <a:t>Out</a:t>
                      </a:r>
                    </a:p>
                  </a:txBody>
                  <a:tcPr>
                    <a:solidFill>
                      <a:schemeClr val="accent6"/>
                    </a:solidFill>
                  </a:tcPr>
                </a:tc>
                <a:tc>
                  <a:txBody>
                    <a:bodyPr/>
                    <a:lstStyle/>
                    <a:p>
                      <a:pPr algn="ctr"/>
                      <a:r>
                        <a:rPr lang="en-US" sz="1300"/>
                        <a:t>XX</a:t>
                      </a:r>
                    </a:p>
                  </a:txBody>
                  <a:tcPr/>
                </a:tc>
                <a:tc>
                  <a:txBody>
                    <a:bodyPr/>
                    <a:lstStyle/>
                    <a:p>
                      <a:pPr algn="ctr"/>
                      <a:r>
                        <a:rPr lang="en-US" sz="1300"/>
                        <a:t>Rs1</a:t>
                      </a:r>
                    </a:p>
                  </a:txBody>
                  <a:tcPr/>
                </a:tc>
                <a:tc>
                  <a:txBody>
                    <a:bodyPr/>
                    <a:lstStyle/>
                    <a:p>
                      <a:pPr algn="ctr"/>
                      <a:r>
                        <a:rPr lang="en-US" sz="1300"/>
                        <a:t>XXXX</a:t>
                      </a:r>
                    </a:p>
                  </a:txBody>
                  <a:tcPr/>
                </a:tc>
                <a:tc>
                  <a:txBody>
                    <a:bodyPr/>
                    <a:lstStyle/>
                    <a:p>
                      <a:pPr algn="ctr"/>
                      <a:r>
                        <a:rPr lang="en-US" sz="1300"/>
                        <a:t>XX</a:t>
                      </a:r>
                    </a:p>
                  </a:txBody>
                  <a:tcPr/>
                </a:tc>
                <a:tc>
                  <a:txBody>
                    <a:bodyPr/>
                    <a:lstStyle/>
                    <a:p>
                      <a:pPr algn="ctr"/>
                      <a:r>
                        <a:rPr lang="en-US" sz="1300"/>
                        <a:t>I=1</a:t>
                      </a:r>
                    </a:p>
                    <a:p>
                      <a:pPr algn="ctr"/>
                      <a:r>
                        <a:rPr lang="en-US" sz="1300"/>
                        <a:t>A=0</a:t>
                      </a:r>
                    </a:p>
                  </a:txBody>
                  <a:tcPr/>
                </a:tc>
                <a:tc>
                  <a:txBody>
                    <a:bodyPr/>
                    <a:lstStyle/>
                    <a:p>
                      <a:pPr algn="ctr"/>
                      <a:r>
                        <a:rPr lang="en-US" sz="1300"/>
                        <a:t>OpCode</a:t>
                      </a:r>
                    </a:p>
                  </a:txBody>
                  <a:tcPr/>
                </a:tc>
                <a:extLst>
                  <a:ext uri="{0D108BD9-81ED-4DB2-BD59-A6C34878D82A}">
                    <a16:rowId xmlns:a16="http://schemas.microsoft.com/office/drawing/2014/main" val="2570910443"/>
                  </a:ext>
                </a:extLst>
              </a:tr>
            </a:tbl>
          </a:graphicData>
        </a:graphic>
      </p:graphicFrame>
    </p:spTree>
    <p:extLst>
      <p:ext uri="{BB962C8B-B14F-4D97-AF65-F5344CB8AC3E}">
        <p14:creationId xmlns:p14="http://schemas.microsoft.com/office/powerpoint/2010/main" val="3360646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extLst>
              <p:ext uri="{D42A27DB-BD31-4B8C-83A1-F6EECF244321}">
                <p14:modId xmlns:p14="http://schemas.microsoft.com/office/powerpoint/2010/main" val="506305937"/>
              </p:ext>
            </p:extLst>
          </p:nvPr>
        </p:nvGraphicFramePr>
        <p:xfrm>
          <a:off x="4716583" y="742463"/>
          <a:ext cx="6514836" cy="3718560"/>
        </p:xfrm>
        <a:graphic>
          <a:graphicData uri="http://schemas.openxmlformats.org/drawingml/2006/table">
            <a:tbl>
              <a:tblPr firstRow="1" bandRow="1">
                <a:tableStyleId>{5C22544A-7EE6-4342-B048-85BDC9FD1C3A}</a:tableStyleId>
              </a:tblPr>
              <a:tblGrid>
                <a:gridCol w="988741">
                  <a:extLst>
                    <a:ext uri="{9D8B030D-6E8A-4147-A177-3AD203B41FA5}">
                      <a16:colId xmlns:a16="http://schemas.microsoft.com/office/drawing/2014/main" val="1217920130"/>
                    </a:ext>
                  </a:extLst>
                </a:gridCol>
                <a:gridCol w="2570459">
                  <a:extLst>
                    <a:ext uri="{9D8B030D-6E8A-4147-A177-3AD203B41FA5}">
                      <a16:colId xmlns:a16="http://schemas.microsoft.com/office/drawing/2014/main" val="1475888205"/>
                    </a:ext>
                  </a:extLst>
                </a:gridCol>
                <a:gridCol w="2955636">
                  <a:extLst>
                    <a:ext uri="{9D8B030D-6E8A-4147-A177-3AD203B41FA5}">
                      <a16:colId xmlns:a16="http://schemas.microsoft.com/office/drawing/2014/main" val="2801792198"/>
                    </a:ext>
                  </a:extLst>
                </a:gridCol>
              </a:tblGrid>
              <a:tr h="335280">
                <a:tc>
                  <a:txBody>
                    <a:bodyPr/>
                    <a:lstStyle/>
                    <a:p>
                      <a:r>
                        <a:rPr lang="en-US" sz="1600"/>
                        <a:t>Cycle #</a:t>
                      </a:r>
                    </a:p>
                  </a:txBody>
                  <a:tcPr/>
                </a:tc>
                <a:tc>
                  <a:txBody>
                    <a:bodyPr/>
                    <a:lstStyle/>
                    <a:p>
                      <a:r>
                        <a:rPr lang="en-US" sz="1600"/>
                        <a:t>Instruction</a:t>
                      </a:r>
                    </a:p>
                  </a:txBody>
                  <a:tcPr/>
                </a:tc>
                <a:tc>
                  <a:txBody>
                    <a:bodyPr/>
                    <a:lstStyle/>
                    <a:p>
                      <a:r>
                        <a:rPr lang="en-US" sz="1600"/>
                        <a:t>Explanation</a:t>
                      </a:r>
                    </a:p>
                  </a:txBody>
                  <a:tcPr/>
                </a:tc>
                <a:extLst>
                  <a:ext uri="{0D108BD9-81ED-4DB2-BD59-A6C34878D82A}">
                    <a16:rowId xmlns:a16="http://schemas.microsoft.com/office/drawing/2014/main" val="2319756336"/>
                  </a:ext>
                </a:extLst>
              </a:tr>
              <a:tr h="579120">
                <a:tc>
                  <a:txBody>
                    <a:bodyPr/>
                    <a:lstStyle/>
                    <a:p>
                      <a:pPr algn="ctr"/>
                      <a:r>
                        <a:rPr lang="en-US" sz="1600"/>
                        <a:t>0</a:t>
                      </a:r>
                    </a:p>
                  </a:txBody>
                  <a:tcPr/>
                </a:tc>
                <a:tc>
                  <a:txBody>
                    <a:bodyPr/>
                    <a:lstStyle/>
                    <a:p>
                      <a:pPr algn="l"/>
                      <a:r>
                        <a:rPr lang="en-US" sz="1600"/>
                        <a:t>1_0000_0100_0000 = 1040</a:t>
                      </a:r>
                    </a:p>
                  </a:txBody>
                  <a:tcPr/>
                </a:tc>
                <a:tc>
                  <a:txBody>
                    <a:bodyPr/>
                    <a:lstStyle/>
                    <a:p>
                      <a:pPr algn="l"/>
                      <a:r>
                        <a:rPr lang="en-US" sz="1600"/>
                        <a:t>Load 8-bit address to address register</a:t>
                      </a:r>
                    </a:p>
                  </a:txBody>
                  <a:tcPr/>
                </a:tc>
                <a:extLst>
                  <a:ext uri="{0D108BD9-81ED-4DB2-BD59-A6C34878D82A}">
                    <a16:rowId xmlns:a16="http://schemas.microsoft.com/office/drawing/2014/main" val="2570910443"/>
                  </a:ext>
                </a:extLst>
              </a:tr>
              <a:tr h="579120">
                <a:tc>
                  <a:txBody>
                    <a:bodyPr/>
                    <a:lstStyle/>
                    <a:p>
                      <a:pPr algn="ctr"/>
                      <a:r>
                        <a:rPr lang="en-US" sz="16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0_0100_0010_0000 = 0420</a:t>
                      </a:r>
                    </a:p>
                  </a:txBody>
                  <a:tcPr/>
                </a:tc>
                <a:tc>
                  <a:txBody>
                    <a:bodyPr/>
                    <a:lstStyle/>
                    <a:p>
                      <a:pPr algn="l"/>
                      <a:r>
                        <a:rPr lang="en-US" sz="1600"/>
                        <a:t>Read byte from RAM and store in Rd</a:t>
                      </a:r>
                    </a:p>
                  </a:txBody>
                  <a:tcPr/>
                </a:tc>
                <a:extLst>
                  <a:ext uri="{0D108BD9-81ED-4DB2-BD59-A6C34878D82A}">
                    <a16:rowId xmlns:a16="http://schemas.microsoft.com/office/drawing/2014/main" val="631651838"/>
                  </a:ext>
                </a:extLst>
              </a:tr>
              <a:tr h="370840">
                <a:tc>
                  <a:txBody>
                    <a:bodyPr/>
                    <a:lstStyle/>
                    <a:p>
                      <a:pPr algn="ctr"/>
                      <a:r>
                        <a:rPr lang="en-US" sz="16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0_0000_1000_0000 = 0080</a:t>
                      </a:r>
                    </a:p>
                  </a:txBody>
                  <a:tcPr/>
                </a:tc>
                <a:tc>
                  <a:txBody>
                    <a:bodyPr/>
                    <a:lstStyle/>
                    <a:p>
                      <a:pPr algn="l"/>
                      <a:r>
                        <a:rPr lang="en-US" sz="1600"/>
                        <a:t>Increment PC</a:t>
                      </a:r>
                    </a:p>
                  </a:txBody>
                  <a:tcPr/>
                </a:tc>
                <a:extLst>
                  <a:ext uri="{0D108BD9-81ED-4DB2-BD59-A6C34878D82A}">
                    <a16:rowId xmlns:a16="http://schemas.microsoft.com/office/drawing/2014/main" val="1592812184"/>
                  </a:ext>
                </a:extLst>
              </a:tr>
              <a:tr h="370840">
                <a:tc>
                  <a:txBody>
                    <a:bodyPr/>
                    <a:lstStyle/>
                    <a:p>
                      <a:pPr algn="ctr"/>
                      <a:r>
                        <a:rPr lang="en-US" sz="1600"/>
                        <a:t>3</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2225793510"/>
                  </a:ext>
                </a:extLst>
              </a:tr>
              <a:tr h="370840">
                <a:tc>
                  <a:txBody>
                    <a:bodyPr/>
                    <a:lstStyle/>
                    <a:p>
                      <a:pPr algn="ctr"/>
                      <a:r>
                        <a:rPr lang="en-US" sz="1600"/>
                        <a:t>4</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1046366285"/>
                  </a:ext>
                </a:extLst>
              </a:tr>
              <a:tr h="370840">
                <a:tc>
                  <a:txBody>
                    <a:bodyPr/>
                    <a:lstStyle/>
                    <a:p>
                      <a:pPr algn="ctr"/>
                      <a:r>
                        <a:rPr lang="en-US" sz="1600"/>
                        <a:t>5</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2615342211"/>
                  </a:ext>
                </a:extLst>
              </a:tr>
              <a:tr h="370840">
                <a:tc>
                  <a:txBody>
                    <a:bodyPr/>
                    <a:lstStyle/>
                    <a:p>
                      <a:pPr algn="ctr"/>
                      <a:r>
                        <a:rPr lang="en-US" sz="1600"/>
                        <a:t>6</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2055856817"/>
                  </a:ext>
                </a:extLst>
              </a:tr>
              <a:tr h="370840">
                <a:tc>
                  <a:txBody>
                    <a:bodyPr/>
                    <a:lstStyle/>
                    <a:p>
                      <a:pPr algn="ctr"/>
                      <a:r>
                        <a:rPr lang="en-US" sz="1600"/>
                        <a:t>7</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3502991894"/>
                  </a:ext>
                </a:extLst>
              </a:tr>
            </a:tbl>
          </a:graphicData>
        </a:graphic>
      </p:graphicFrame>
      <p:sp>
        <p:nvSpPr>
          <p:cNvPr id="11" name="TextBox 10">
            <a:extLst>
              <a:ext uri="{FF2B5EF4-FFF2-40B4-BE49-F238E27FC236}">
                <a16:creationId xmlns:a16="http://schemas.microsoft.com/office/drawing/2014/main" id="{F18A3303-6AE1-4192-B847-C968E4DE1C58}"/>
              </a:ext>
            </a:extLst>
          </p:cNvPr>
          <p:cNvSpPr txBox="1"/>
          <p:nvPr/>
        </p:nvSpPr>
        <p:spPr>
          <a:xfrm>
            <a:off x="11305310" y="1"/>
            <a:ext cx="931665" cy="1862048"/>
          </a:xfrm>
          <a:prstGeom prst="rect">
            <a:avLst/>
          </a:prstGeom>
          <a:noFill/>
        </p:spPr>
        <p:txBody>
          <a:bodyPr wrap="none" rtlCol="0">
            <a:spAutoFit/>
          </a:bodyPr>
          <a:lstStyle/>
          <a:p>
            <a:r>
              <a:rPr lang="en-US" sz="11500">
                <a:solidFill>
                  <a:schemeClr val="accent1">
                    <a:lumMod val="60000"/>
                    <a:lumOff val="40000"/>
                  </a:schemeClr>
                </a:solidFill>
              </a:rPr>
              <a:t>9</a:t>
            </a:r>
          </a:p>
        </p:txBody>
      </p:sp>
      <p:graphicFrame>
        <p:nvGraphicFramePr>
          <p:cNvPr id="12" name="Table 4">
            <a:extLst>
              <a:ext uri="{FF2B5EF4-FFF2-40B4-BE49-F238E27FC236}">
                <a16:creationId xmlns:a16="http://schemas.microsoft.com/office/drawing/2014/main" id="{31A55406-8888-4A18-89FC-AB289657FAE4}"/>
              </a:ext>
            </a:extLst>
          </p:cNvPr>
          <p:cNvGraphicFramePr>
            <a:graphicFrameLocks noGrp="1"/>
          </p:cNvGraphicFramePr>
          <p:nvPr>
            <p:extLst>
              <p:ext uri="{D42A27DB-BD31-4B8C-83A1-F6EECF244321}">
                <p14:modId xmlns:p14="http://schemas.microsoft.com/office/powerpoint/2010/main" val="1994356281"/>
              </p:ext>
            </p:extLst>
          </p:nvPr>
        </p:nvGraphicFramePr>
        <p:xfrm>
          <a:off x="179752" y="5624993"/>
          <a:ext cx="10173616" cy="736600"/>
        </p:xfrm>
        <a:graphic>
          <a:graphicData uri="http://schemas.openxmlformats.org/drawingml/2006/table">
            <a:tbl>
              <a:tblPr firstRow="1" bandRow="1">
                <a:tableStyleId>{5C22544A-7EE6-4342-B048-85BDC9FD1C3A}</a:tableStyleId>
              </a:tblPr>
              <a:tblGrid>
                <a:gridCol w="1079707">
                  <a:extLst>
                    <a:ext uri="{9D8B030D-6E8A-4147-A177-3AD203B41FA5}">
                      <a16:colId xmlns:a16="http://schemas.microsoft.com/office/drawing/2014/main" val="1810408170"/>
                    </a:ext>
                  </a:extLst>
                </a:gridCol>
                <a:gridCol w="4488136">
                  <a:extLst>
                    <a:ext uri="{9D8B030D-6E8A-4147-A177-3AD203B41FA5}">
                      <a16:colId xmlns:a16="http://schemas.microsoft.com/office/drawing/2014/main" val="950391025"/>
                    </a:ext>
                  </a:extLst>
                </a:gridCol>
                <a:gridCol w="770983">
                  <a:extLst>
                    <a:ext uri="{9D8B030D-6E8A-4147-A177-3AD203B41FA5}">
                      <a16:colId xmlns:a16="http://schemas.microsoft.com/office/drawing/2014/main" val="1355185516"/>
                    </a:ext>
                  </a:extLst>
                </a:gridCol>
                <a:gridCol w="1653608">
                  <a:extLst>
                    <a:ext uri="{9D8B030D-6E8A-4147-A177-3AD203B41FA5}">
                      <a16:colId xmlns:a16="http://schemas.microsoft.com/office/drawing/2014/main" val="2050007723"/>
                    </a:ext>
                  </a:extLst>
                </a:gridCol>
                <a:gridCol w="2181183">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15 14 13 12 11 10 9 8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Load Reg</a:t>
                      </a:r>
                    </a:p>
                  </a:txBody>
                  <a:tcPr>
                    <a:solidFill>
                      <a:schemeClr val="accent6"/>
                    </a:solidFill>
                  </a:tcPr>
                </a:tc>
                <a:tc>
                  <a:txBody>
                    <a:bodyPr/>
                    <a:lstStyle/>
                    <a:p>
                      <a:pPr algn="ctr"/>
                      <a:r>
                        <a:rPr lang="en-US" sz="1300"/>
                        <a:t>8-bit (LSBs) Address</a:t>
                      </a:r>
                    </a:p>
                  </a:txBody>
                  <a:tcPr/>
                </a:tc>
                <a:tc>
                  <a:txBody>
                    <a:bodyPr/>
                    <a:lstStyle/>
                    <a:p>
                      <a:pPr algn="ctr"/>
                      <a:r>
                        <a:rPr lang="en-US" sz="1300"/>
                        <a:t>Rd</a:t>
                      </a:r>
                    </a:p>
                  </a:txBody>
                  <a:tcPr/>
                </a:tc>
                <a:tc>
                  <a:txBody>
                    <a:bodyPr/>
                    <a:lstStyle/>
                    <a:p>
                      <a:pPr algn="ctr"/>
                      <a:r>
                        <a:rPr lang="en-US" sz="1300"/>
                        <a:t>X</a:t>
                      </a:r>
                    </a:p>
                  </a:txBody>
                  <a:tcPr/>
                </a:tc>
                <a:tc>
                  <a:txBody>
                    <a:bodyPr/>
                    <a:lstStyle/>
                    <a:p>
                      <a:pPr algn="ctr"/>
                      <a:r>
                        <a:rPr lang="en-US" sz="1300"/>
                        <a:t>OpCode</a:t>
                      </a:r>
                    </a:p>
                  </a:txBody>
                  <a:tcPr/>
                </a:tc>
                <a:extLst>
                  <a:ext uri="{0D108BD9-81ED-4DB2-BD59-A6C34878D82A}">
                    <a16:rowId xmlns:a16="http://schemas.microsoft.com/office/drawing/2014/main" val="2570910443"/>
                  </a:ext>
                </a:extLst>
              </a:tr>
            </a:tbl>
          </a:graphicData>
        </a:graphic>
      </p:graphicFrame>
      <p:sp>
        <p:nvSpPr>
          <p:cNvPr id="2" name="TextBox 1">
            <a:extLst>
              <a:ext uri="{FF2B5EF4-FFF2-40B4-BE49-F238E27FC236}">
                <a16:creationId xmlns:a16="http://schemas.microsoft.com/office/drawing/2014/main" id="{091C7705-512A-D5B1-13A4-F95D55811649}"/>
              </a:ext>
            </a:extLst>
          </p:cNvPr>
          <p:cNvSpPr txBox="1"/>
          <p:nvPr/>
        </p:nvSpPr>
        <p:spPr>
          <a:xfrm>
            <a:off x="6615405" y="4734113"/>
            <a:ext cx="2945037" cy="523220"/>
          </a:xfrm>
          <a:prstGeom prst="rect">
            <a:avLst/>
          </a:prstGeom>
          <a:noFill/>
        </p:spPr>
        <p:txBody>
          <a:bodyPr wrap="none" rtlCol="0">
            <a:spAutoFit/>
          </a:bodyPr>
          <a:lstStyle/>
          <a:p>
            <a:r>
              <a:rPr lang="en-US" sz="2800">
                <a:solidFill>
                  <a:srgbClr val="00B050"/>
                </a:solidFill>
                <a:latin typeface="Consolas" panose="020B0609020204030204" pitchFamily="49" charset="0"/>
              </a:rPr>
              <a:t> LMA Rd, #Addr</a:t>
            </a:r>
          </a:p>
        </p:txBody>
      </p:sp>
      <p:pic>
        <p:nvPicPr>
          <p:cNvPr id="6" name="Picture 5">
            <a:hlinkClick r:id="rId2" action="ppaction://hlinksldjump"/>
            <a:extLst>
              <a:ext uri="{FF2B5EF4-FFF2-40B4-BE49-F238E27FC236}">
                <a16:creationId xmlns:a16="http://schemas.microsoft.com/office/drawing/2014/main" id="{C65C7F76-08C9-A783-0A26-86BFCDBB6D5A}"/>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9" name="Slide Number Placeholder 4">
            <a:extLst>
              <a:ext uri="{FF2B5EF4-FFF2-40B4-BE49-F238E27FC236}">
                <a16:creationId xmlns:a16="http://schemas.microsoft.com/office/drawing/2014/main" id="{04625343-D641-8AD9-270B-F2ECB688E69A}"/>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125</a:t>
            </a:fld>
            <a:endParaRPr lang="en-US" b="1">
              <a:solidFill>
                <a:schemeClr val="bg1"/>
              </a:solidFill>
            </a:endParaRPr>
          </a:p>
        </p:txBody>
      </p:sp>
      <p:sp>
        <p:nvSpPr>
          <p:cNvPr id="10" name="Title 9">
            <a:extLst>
              <a:ext uri="{FF2B5EF4-FFF2-40B4-BE49-F238E27FC236}">
                <a16:creationId xmlns:a16="http://schemas.microsoft.com/office/drawing/2014/main" id="{D3354594-F9AC-4523-1FA8-EAC7F18F5C1A}"/>
              </a:ext>
            </a:extLst>
          </p:cNvPr>
          <p:cNvSpPr>
            <a:spLocks noGrp="1"/>
          </p:cNvSpPr>
          <p:nvPr>
            <p:ph type="ctrTitle"/>
          </p:nvPr>
        </p:nvSpPr>
        <p:spPr>
          <a:xfrm>
            <a:off x="914400" y="182880"/>
            <a:ext cx="9144000" cy="457200"/>
          </a:xfrm>
        </p:spPr>
        <p:txBody>
          <a:bodyPr/>
          <a:lstStyle/>
          <a:p>
            <a:r>
              <a:rPr lang="en-US"/>
              <a:t>Micro-Instructions Control: LMA (Load Memory Absolute) (01001)</a:t>
            </a:r>
          </a:p>
        </p:txBody>
      </p:sp>
      <p:graphicFrame>
        <p:nvGraphicFramePr>
          <p:cNvPr id="13" name="Table 4">
            <a:extLst>
              <a:ext uri="{FF2B5EF4-FFF2-40B4-BE49-F238E27FC236}">
                <a16:creationId xmlns:a16="http://schemas.microsoft.com/office/drawing/2014/main" id="{193D3CE1-38D7-191B-0EF4-AD8DC8103AA0}"/>
              </a:ext>
            </a:extLst>
          </p:cNvPr>
          <p:cNvGraphicFramePr>
            <a:graphicFrameLocks noGrp="1"/>
          </p:cNvGraphicFramePr>
          <p:nvPr>
            <p:extLst>
              <p:ext uri="{D42A27DB-BD31-4B8C-83A1-F6EECF244321}">
                <p14:modId xmlns:p14="http://schemas.microsoft.com/office/powerpoint/2010/main" val="940534924"/>
              </p:ext>
            </p:extLst>
          </p:nvPr>
        </p:nvGraphicFramePr>
        <p:xfrm>
          <a:off x="193268" y="742463"/>
          <a:ext cx="4329725" cy="436342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3744779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00CB470-F768-D3E9-221A-C0C2D4A9CF31}"/>
              </a:ext>
            </a:extLst>
          </p:cNvPr>
          <p:cNvSpPr>
            <a:spLocks noGrp="1"/>
          </p:cNvSpPr>
          <p:nvPr>
            <p:ph type="ctrTitle"/>
          </p:nvPr>
        </p:nvSpPr>
        <p:spPr>
          <a:xfrm>
            <a:off x="914400" y="182880"/>
            <a:ext cx="9144000" cy="457200"/>
          </a:xfrm>
        </p:spPr>
        <p:txBody>
          <a:bodyPr/>
          <a:lstStyle/>
          <a:p>
            <a:r>
              <a:rPr lang="en-US"/>
              <a:t>Micro-Instructions Control: SMA (Store Memory Absolute) (01010)</a:t>
            </a:r>
          </a:p>
        </p:txBody>
      </p:sp>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extLst>
              <p:ext uri="{D42A27DB-BD31-4B8C-83A1-F6EECF244321}">
                <p14:modId xmlns:p14="http://schemas.microsoft.com/office/powerpoint/2010/main" val="2155822811"/>
              </p:ext>
            </p:extLst>
          </p:nvPr>
        </p:nvGraphicFramePr>
        <p:xfrm>
          <a:off x="4716583" y="742463"/>
          <a:ext cx="6514836" cy="3510280"/>
        </p:xfrm>
        <a:graphic>
          <a:graphicData uri="http://schemas.openxmlformats.org/drawingml/2006/table">
            <a:tbl>
              <a:tblPr firstRow="1" bandRow="1">
                <a:tableStyleId>{5C22544A-7EE6-4342-B048-85BDC9FD1C3A}</a:tableStyleId>
              </a:tblPr>
              <a:tblGrid>
                <a:gridCol w="988741">
                  <a:extLst>
                    <a:ext uri="{9D8B030D-6E8A-4147-A177-3AD203B41FA5}">
                      <a16:colId xmlns:a16="http://schemas.microsoft.com/office/drawing/2014/main" val="1217920130"/>
                    </a:ext>
                  </a:extLst>
                </a:gridCol>
                <a:gridCol w="2570459">
                  <a:extLst>
                    <a:ext uri="{9D8B030D-6E8A-4147-A177-3AD203B41FA5}">
                      <a16:colId xmlns:a16="http://schemas.microsoft.com/office/drawing/2014/main" val="1475888205"/>
                    </a:ext>
                  </a:extLst>
                </a:gridCol>
                <a:gridCol w="2955636">
                  <a:extLst>
                    <a:ext uri="{9D8B030D-6E8A-4147-A177-3AD203B41FA5}">
                      <a16:colId xmlns:a16="http://schemas.microsoft.com/office/drawing/2014/main" val="2801792198"/>
                    </a:ext>
                  </a:extLst>
                </a:gridCol>
              </a:tblGrid>
              <a:tr h="335280">
                <a:tc>
                  <a:txBody>
                    <a:bodyPr/>
                    <a:lstStyle/>
                    <a:p>
                      <a:r>
                        <a:rPr lang="en-US" sz="1600"/>
                        <a:t>Cycle #</a:t>
                      </a:r>
                    </a:p>
                  </a:txBody>
                  <a:tcPr/>
                </a:tc>
                <a:tc>
                  <a:txBody>
                    <a:bodyPr/>
                    <a:lstStyle/>
                    <a:p>
                      <a:r>
                        <a:rPr lang="en-US" sz="1600"/>
                        <a:t>Instruction</a:t>
                      </a:r>
                    </a:p>
                  </a:txBody>
                  <a:tcPr/>
                </a:tc>
                <a:tc>
                  <a:txBody>
                    <a:bodyPr/>
                    <a:lstStyle/>
                    <a:p>
                      <a:r>
                        <a:rPr lang="en-US" sz="1600"/>
                        <a:t>Explanation</a:t>
                      </a:r>
                    </a:p>
                  </a:txBody>
                  <a:tcPr/>
                </a:tc>
                <a:extLst>
                  <a:ext uri="{0D108BD9-81ED-4DB2-BD59-A6C34878D82A}">
                    <a16:rowId xmlns:a16="http://schemas.microsoft.com/office/drawing/2014/main" val="2319756336"/>
                  </a:ext>
                </a:extLst>
              </a:tr>
              <a:tr h="579120">
                <a:tc>
                  <a:txBody>
                    <a:bodyPr/>
                    <a:lstStyle/>
                    <a:p>
                      <a:pPr algn="ctr"/>
                      <a:r>
                        <a:rPr lang="en-US" sz="1600"/>
                        <a:t>0</a:t>
                      </a:r>
                    </a:p>
                  </a:txBody>
                  <a:tcPr/>
                </a:tc>
                <a:tc>
                  <a:txBody>
                    <a:bodyPr/>
                    <a:lstStyle/>
                    <a:p>
                      <a:pPr algn="l"/>
                      <a:r>
                        <a:rPr lang="en-US" sz="1600"/>
                        <a:t>01_0000_0100_0000 = 1040</a:t>
                      </a:r>
                    </a:p>
                  </a:txBody>
                  <a:tcPr/>
                </a:tc>
                <a:tc>
                  <a:txBody>
                    <a:bodyPr/>
                    <a:lstStyle/>
                    <a:p>
                      <a:pPr algn="l"/>
                      <a:r>
                        <a:rPr lang="en-US" sz="1600"/>
                        <a:t>Load 8-bit address to address register</a:t>
                      </a:r>
                    </a:p>
                  </a:txBody>
                  <a:tcPr/>
                </a:tc>
                <a:extLst>
                  <a:ext uri="{0D108BD9-81ED-4DB2-BD59-A6C34878D82A}">
                    <a16:rowId xmlns:a16="http://schemas.microsoft.com/office/drawing/2014/main" val="2570910443"/>
                  </a:ext>
                </a:extLst>
              </a:tr>
              <a:tr h="370840">
                <a:tc>
                  <a:txBody>
                    <a:bodyPr/>
                    <a:lstStyle/>
                    <a:p>
                      <a:pPr algn="ctr"/>
                      <a:r>
                        <a:rPr lang="en-US" sz="16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10_1000_0001_0000 = 2810</a:t>
                      </a:r>
                    </a:p>
                  </a:txBody>
                  <a:tcPr/>
                </a:tc>
                <a:tc>
                  <a:txBody>
                    <a:bodyPr/>
                    <a:lstStyle/>
                    <a:p>
                      <a:pPr algn="l"/>
                      <a:r>
                        <a:rPr lang="en-US" sz="1600"/>
                        <a:t>Store byte to RAM from Rd</a:t>
                      </a:r>
                    </a:p>
                  </a:txBody>
                  <a:tcPr/>
                </a:tc>
                <a:extLst>
                  <a:ext uri="{0D108BD9-81ED-4DB2-BD59-A6C34878D82A}">
                    <a16:rowId xmlns:a16="http://schemas.microsoft.com/office/drawing/2014/main" val="631651838"/>
                  </a:ext>
                </a:extLst>
              </a:tr>
              <a:tr h="370840">
                <a:tc>
                  <a:txBody>
                    <a:bodyPr/>
                    <a:lstStyle/>
                    <a:p>
                      <a:pPr algn="ctr"/>
                      <a:r>
                        <a:rPr lang="en-US" sz="16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00_0000_1000_0000 = 0080</a:t>
                      </a:r>
                    </a:p>
                  </a:txBody>
                  <a:tcPr/>
                </a:tc>
                <a:tc>
                  <a:txBody>
                    <a:bodyPr/>
                    <a:lstStyle/>
                    <a:p>
                      <a:pPr algn="l"/>
                      <a:r>
                        <a:rPr lang="en-US" sz="1600"/>
                        <a:t>Increment PC</a:t>
                      </a:r>
                    </a:p>
                  </a:txBody>
                  <a:tcPr/>
                </a:tc>
                <a:extLst>
                  <a:ext uri="{0D108BD9-81ED-4DB2-BD59-A6C34878D82A}">
                    <a16:rowId xmlns:a16="http://schemas.microsoft.com/office/drawing/2014/main" val="1592812184"/>
                  </a:ext>
                </a:extLst>
              </a:tr>
              <a:tr h="370840">
                <a:tc>
                  <a:txBody>
                    <a:bodyPr/>
                    <a:lstStyle/>
                    <a:p>
                      <a:pPr algn="ctr"/>
                      <a:r>
                        <a:rPr lang="en-US" sz="1600"/>
                        <a:t>3</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2225793510"/>
                  </a:ext>
                </a:extLst>
              </a:tr>
              <a:tr h="370840">
                <a:tc>
                  <a:txBody>
                    <a:bodyPr/>
                    <a:lstStyle/>
                    <a:p>
                      <a:pPr algn="ctr"/>
                      <a:r>
                        <a:rPr lang="en-US" sz="1600"/>
                        <a:t>4</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1046366285"/>
                  </a:ext>
                </a:extLst>
              </a:tr>
              <a:tr h="370840">
                <a:tc>
                  <a:txBody>
                    <a:bodyPr/>
                    <a:lstStyle/>
                    <a:p>
                      <a:pPr algn="ctr"/>
                      <a:r>
                        <a:rPr lang="en-US" sz="1600"/>
                        <a:t>5</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2615342211"/>
                  </a:ext>
                </a:extLst>
              </a:tr>
              <a:tr h="370840">
                <a:tc>
                  <a:txBody>
                    <a:bodyPr/>
                    <a:lstStyle/>
                    <a:p>
                      <a:pPr algn="ctr"/>
                      <a:r>
                        <a:rPr lang="en-US" sz="1600"/>
                        <a:t>6</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2055856817"/>
                  </a:ext>
                </a:extLst>
              </a:tr>
              <a:tr h="370840">
                <a:tc>
                  <a:txBody>
                    <a:bodyPr/>
                    <a:lstStyle/>
                    <a:p>
                      <a:pPr algn="ctr"/>
                      <a:r>
                        <a:rPr lang="en-US" sz="1600"/>
                        <a:t>7</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3502991894"/>
                  </a:ext>
                </a:extLst>
              </a:tr>
            </a:tbl>
          </a:graphicData>
        </a:graphic>
      </p:graphicFrame>
      <p:sp>
        <p:nvSpPr>
          <p:cNvPr id="11" name="TextBox 10">
            <a:extLst>
              <a:ext uri="{FF2B5EF4-FFF2-40B4-BE49-F238E27FC236}">
                <a16:creationId xmlns:a16="http://schemas.microsoft.com/office/drawing/2014/main" id="{F18A3303-6AE1-4192-B847-C968E4DE1C58}"/>
              </a:ext>
            </a:extLst>
          </p:cNvPr>
          <p:cNvSpPr txBox="1"/>
          <p:nvPr/>
        </p:nvSpPr>
        <p:spPr>
          <a:xfrm>
            <a:off x="11238525" y="1"/>
            <a:ext cx="1037463" cy="1862048"/>
          </a:xfrm>
          <a:prstGeom prst="rect">
            <a:avLst/>
          </a:prstGeom>
          <a:noFill/>
        </p:spPr>
        <p:txBody>
          <a:bodyPr wrap="none" rtlCol="0">
            <a:spAutoFit/>
          </a:bodyPr>
          <a:lstStyle/>
          <a:p>
            <a:r>
              <a:rPr lang="en-US" sz="11500">
                <a:solidFill>
                  <a:schemeClr val="accent1">
                    <a:lumMod val="60000"/>
                    <a:lumOff val="40000"/>
                  </a:schemeClr>
                </a:solidFill>
              </a:rPr>
              <a:t>A</a:t>
            </a:r>
          </a:p>
        </p:txBody>
      </p:sp>
      <p:graphicFrame>
        <p:nvGraphicFramePr>
          <p:cNvPr id="12" name="Table 4">
            <a:extLst>
              <a:ext uri="{FF2B5EF4-FFF2-40B4-BE49-F238E27FC236}">
                <a16:creationId xmlns:a16="http://schemas.microsoft.com/office/drawing/2014/main" id="{31A55406-8888-4A18-89FC-AB289657FAE4}"/>
              </a:ext>
            </a:extLst>
          </p:cNvPr>
          <p:cNvGraphicFramePr>
            <a:graphicFrameLocks noGrp="1"/>
          </p:cNvGraphicFramePr>
          <p:nvPr>
            <p:extLst>
              <p:ext uri="{D42A27DB-BD31-4B8C-83A1-F6EECF244321}">
                <p14:modId xmlns:p14="http://schemas.microsoft.com/office/powerpoint/2010/main" val="1853260814"/>
              </p:ext>
            </p:extLst>
          </p:nvPr>
        </p:nvGraphicFramePr>
        <p:xfrm>
          <a:off x="179752" y="5624993"/>
          <a:ext cx="10173616" cy="736600"/>
        </p:xfrm>
        <a:graphic>
          <a:graphicData uri="http://schemas.openxmlformats.org/drawingml/2006/table">
            <a:tbl>
              <a:tblPr firstRow="1" bandRow="1">
                <a:tableStyleId>{5C22544A-7EE6-4342-B048-85BDC9FD1C3A}</a:tableStyleId>
              </a:tblPr>
              <a:tblGrid>
                <a:gridCol w="1079707">
                  <a:extLst>
                    <a:ext uri="{9D8B030D-6E8A-4147-A177-3AD203B41FA5}">
                      <a16:colId xmlns:a16="http://schemas.microsoft.com/office/drawing/2014/main" val="1810408170"/>
                    </a:ext>
                  </a:extLst>
                </a:gridCol>
                <a:gridCol w="4488136">
                  <a:extLst>
                    <a:ext uri="{9D8B030D-6E8A-4147-A177-3AD203B41FA5}">
                      <a16:colId xmlns:a16="http://schemas.microsoft.com/office/drawing/2014/main" val="950391025"/>
                    </a:ext>
                  </a:extLst>
                </a:gridCol>
                <a:gridCol w="770983">
                  <a:extLst>
                    <a:ext uri="{9D8B030D-6E8A-4147-A177-3AD203B41FA5}">
                      <a16:colId xmlns:a16="http://schemas.microsoft.com/office/drawing/2014/main" val="1355185516"/>
                    </a:ext>
                  </a:extLst>
                </a:gridCol>
                <a:gridCol w="1653608">
                  <a:extLst>
                    <a:ext uri="{9D8B030D-6E8A-4147-A177-3AD203B41FA5}">
                      <a16:colId xmlns:a16="http://schemas.microsoft.com/office/drawing/2014/main" val="2050007723"/>
                    </a:ext>
                  </a:extLst>
                </a:gridCol>
                <a:gridCol w="2181183">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15 14 13 12 11 10 9 8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Load Reg</a:t>
                      </a:r>
                    </a:p>
                  </a:txBody>
                  <a:tcPr>
                    <a:solidFill>
                      <a:schemeClr val="accent6"/>
                    </a:solidFill>
                  </a:tcPr>
                </a:tc>
                <a:tc>
                  <a:txBody>
                    <a:bodyPr/>
                    <a:lstStyle/>
                    <a:p>
                      <a:pPr algn="ctr"/>
                      <a:r>
                        <a:rPr lang="en-US" sz="1300"/>
                        <a:t>8-bit (LSBs) Address</a:t>
                      </a:r>
                    </a:p>
                  </a:txBody>
                  <a:tcPr/>
                </a:tc>
                <a:tc>
                  <a:txBody>
                    <a:bodyPr/>
                    <a:lstStyle/>
                    <a:p>
                      <a:pPr algn="ctr"/>
                      <a:r>
                        <a:rPr lang="en-US" sz="1300"/>
                        <a:t>Rd</a:t>
                      </a:r>
                    </a:p>
                  </a:txBody>
                  <a:tcPr/>
                </a:tc>
                <a:tc>
                  <a:txBody>
                    <a:bodyPr/>
                    <a:lstStyle/>
                    <a:p>
                      <a:pPr algn="ctr"/>
                      <a:r>
                        <a:rPr lang="en-US" sz="1300"/>
                        <a:t>X</a:t>
                      </a:r>
                    </a:p>
                  </a:txBody>
                  <a:tcPr/>
                </a:tc>
                <a:tc>
                  <a:txBody>
                    <a:bodyPr/>
                    <a:lstStyle/>
                    <a:p>
                      <a:pPr algn="ctr"/>
                      <a:r>
                        <a:rPr lang="en-US" sz="1300"/>
                        <a:t>OpCode</a:t>
                      </a:r>
                    </a:p>
                  </a:txBody>
                  <a:tcPr/>
                </a:tc>
                <a:extLst>
                  <a:ext uri="{0D108BD9-81ED-4DB2-BD59-A6C34878D82A}">
                    <a16:rowId xmlns:a16="http://schemas.microsoft.com/office/drawing/2014/main" val="2570910443"/>
                  </a:ext>
                </a:extLst>
              </a:tr>
            </a:tbl>
          </a:graphicData>
        </a:graphic>
      </p:graphicFrame>
      <p:sp>
        <p:nvSpPr>
          <p:cNvPr id="13" name="TextBox 12">
            <a:extLst>
              <a:ext uri="{FF2B5EF4-FFF2-40B4-BE49-F238E27FC236}">
                <a16:creationId xmlns:a16="http://schemas.microsoft.com/office/drawing/2014/main" id="{A0B05335-D813-0960-AB8C-249EBCEA0B8F}"/>
              </a:ext>
            </a:extLst>
          </p:cNvPr>
          <p:cNvSpPr txBox="1"/>
          <p:nvPr/>
        </p:nvSpPr>
        <p:spPr>
          <a:xfrm>
            <a:off x="6615405" y="4734113"/>
            <a:ext cx="2945037" cy="523220"/>
          </a:xfrm>
          <a:prstGeom prst="rect">
            <a:avLst/>
          </a:prstGeom>
          <a:noFill/>
        </p:spPr>
        <p:txBody>
          <a:bodyPr wrap="none" rtlCol="0">
            <a:spAutoFit/>
          </a:bodyPr>
          <a:lstStyle/>
          <a:p>
            <a:r>
              <a:rPr lang="en-US" sz="2800">
                <a:solidFill>
                  <a:srgbClr val="00B050"/>
                </a:solidFill>
                <a:latin typeface="Consolas" panose="020B0609020204030204" pitchFamily="49" charset="0"/>
              </a:rPr>
              <a:t> SMA Rd, #Addr</a:t>
            </a:r>
          </a:p>
        </p:txBody>
      </p:sp>
      <p:pic>
        <p:nvPicPr>
          <p:cNvPr id="2" name="Picture 1">
            <a:hlinkClick r:id="rId2" action="ppaction://hlinksldjump"/>
            <a:extLst>
              <a:ext uri="{FF2B5EF4-FFF2-40B4-BE49-F238E27FC236}">
                <a16:creationId xmlns:a16="http://schemas.microsoft.com/office/drawing/2014/main" id="{2ABBA0B3-A236-6438-0C78-56A73E80FCF4}"/>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3" name="Slide Number Placeholder 4">
            <a:extLst>
              <a:ext uri="{FF2B5EF4-FFF2-40B4-BE49-F238E27FC236}">
                <a16:creationId xmlns:a16="http://schemas.microsoft.com/office/drawing/2014/main" id="{A36E190E-DED1-DA72-4861-25FB126E7F3E}"/>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126</a:t>
            </a:fld>
            <a:endParaRPr lang="en-US" b="1">
              <a:solidFill>
                <a:schemeClr val="bg1"/>
              </a:solidFill>
            </a:endParaRPr>
          </a:p>
        </p:txBody>
      </p:sp>
      <p:graphicFrame>
        <p:nvGraphicFramePr>
          <p:cNvPr id="7" name="Table 4">
            <a:extLst>
              <a:ext uri="{FF2B5EF4-FFF2-40B4-BE49-F238E27FC236}">
                <a16:creationId xmlns:a16="http://schemas.microsoft.com/office/drawing/2014/main" id="{7967B202-62F2-B31B-E50A-F87CEE2E949B}"/>
              </a:ext>
            </a:extLst>
          </p:cNvPr>
          <p:cNvGraphicFramePr>
            <a:graphicFrameLocks noGrp="1"/>
          </p:cNvGraphicFramePr>
          <p:nvPr>
            <p:extLst>
              <p:ext uri="{D42A27DB-BD31-4B8C-83A1-F6EECF244321}">
                <p14:modId xmlns:p14="http://schemas.microsoft.com/office/powerpoint/2010/main" val="940534924"/>
              </p:ext>
            </p:extLst>
          </p:nvPr>
        </p:nvGraphicFramePr>
        <p:xfrm>
          <a:off x="193268" y="742463"/>
          <a:ext cx="4329725" cy="436342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9788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extLst>
              <p:ext uri="{D42A27DB-BD31-4B8C-83A1-F6EECF244321}">
                <p14:modId xmlns:p14="http://schemas.microsoft.com/office/powerpoint/2010/main" val="1784444224"/>
              </p:ext>
            </p:extLst>
          </p:nvPr>
        </p:nvGraphicFramePr>
        <p:xfrm>
          <a:off x="4716583" y="742463"/>
          <a:ext cx="6514836" cy="3302000"/>
        </p:xfrm>
        <a:graphic>
          <a:graphicData uri="http://schemas.openxmlformats.org/drawingml/2006/table">
            <a:tbl>
              <a:tblPr firstRow="1" bandRow="1">
                <a:tableStyleId>{5C22544A-7EE6-4342-B048-85BDC9FD1C3A}</a:tableStyleId>
              </a:tblPr>
              <a:tblGrid>
                <a:gridCol w="988741">
                  <a:extLst>
                    <a:ext uri="{9D8B030D-6E8A-4147-A177-3AD203B41FA5}">
                      <a16:colId xmlns:a16="http://schemas.microsoft.com/office/drawing/2014/main" val="1217920130"/>
                    </a:ext>
                  </a:extLst>
                </a:gridCol>
                <a:gridCol w="2570459">
                  <a:extLst>
                    <a:ext uri="{9D8B030D-6E8A-4147-A177-3AD203B41FA5}">
                      <a16:colId xmlns:a16="http://schemas.microsoft.com/office/drawing/2014/main" val="1475888205"/>
                    </a:ext>
                  </a:extLst>
                </a:gridCol>
                <a:gridCol w="2955636">
                  <a:extLst>
                    <a:ext uri="{9D8B030D-6E8A-4147-A177-3AD203B41FA5}">
                      <a16:colId xmlns:a16="http://schemas.microsoft.com/office/drawing/2014/main" val="2801792198"/>
                    </a:ext>
                  </a:extLst>
                </a:gridCol>
              </a:tblGrid>
              <a:tr h="335280">
                <a:tc>
                  <a:txBody>
                    <a:bodyPr/>
                    <a:lstStyle/>
                    <a:p>
                      <a:r>
                        <a:rPr lang="en-US" sz="1600"/>
                        <a:t>Cycle #</a:t>
                      </a:r>
                    </a:p>
                  </a:txBody>
                  <a:tcPr/>
                </a:tc>
                <a:tc>
                  <a:txBody>
                    <a:bodyPr/>
                    <a:lstStyle/>
                    <a:p>
                      <a:r>
                        <a:rPr lang="en-US" sz="1600"/>
                        <a:t>Instruction</a:t>
                      </a:r>
                    </a:p>
                  </a:txBody>
                  <a:tcPr/>
                </a:tc>
                <a:tc>
                  <a:txBody>
                    <a:bodyPr/>
                    <a:lstStyle/>
                    <a:p>
                      <a:r>
                        <a:rPr lang="en-US" sz="1600"/>
                        <a:t>Explanation</a:t>
                      </a:r>
                    </a:p>
                  </a:txBody>
                  <a:tcPr/>
                </a:tc>
                <a:extLst>
                  <a:ext uri="{0D108BD9-81ED-4DB2-BD59-A6C34878D82A}">
                    <a16:rowId xmlns:a16="http://schemas.microsoft.com/office/drawing/2014/main" val="2319756336"/>
                  </a:ext>
                </a:extLst>
              </a:tr>
              <a:tr h="370840">
                <a:tc>
                  <a:txBody>
                    <a:bodyPr/>
                    <a:lstStyle/>
                    <a:p>
                      <a:pPr algn="ctr"/>
                      <a:r>
                        <a:rPr lang="en-US" sz="1600"/>
                        <a:t>0</a:t>
                      </a:r>
                    </a:p>
                  </a:txBody>
                  <a:tcPr/>
                </a:tc>
                <a:tc>
                  <a:txBody>
                    <a:bodyPr/>
                    <a:lstStyle/>
                    <a:p>
                      <a:pPr algn="l"/>
                      <a:r>
                        <a:rPr lang="en-US" sz="1600"/>
                        <a:t>1_0000_0001_0000 = 1010</a:t>
                      </a:r>
                    </a:p>
                  </a:txBody>
                  <a:tcPr/>
                </a:tc>
                <a:tc>
                  <a:txBody>
                    <a:bodyPr/>
                    <a:lstStyle/>
                    <a:p>
                      <a:pPr algn="l"/>
                      <a:r>
                        <a:rPr lang="en-US" sz="1600"/>
                        <a:t>Load Rs1 to Address Register</a:t>
                      </a:r>
                    </a:p>
                  </a:txBody>
                  <a:tcPr/>
                </a:tc>
                <a:extLst>
                  <a:ext uri="{0D108BD9-81ED-4DB2-BD59-A6C34878D82A}">
                    <a16:rowId xmlns:a16="http://schemas.microsoft.com/office/drawing/2014/main" val="2570910443"/>
                  </a:ext>
                </a:extLst>
              </a:tr>
              <a:tr h="370840">
                <a:tc>
                  <a:txBody>
                    <a:bodyPr/>
                    <a:lstStyle/>
                    <a:p>
                      <a:pPr algn="ctr"/>
                      <a:r>
                        <a:rPr lang="en-US" sz="16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0_0100_0010_0000 = 0420</a:t>
                      </a:r>
                    </a:p>
                  </a:txBody>
                  <a:tcPr/>
                </a:tc>
                <a:tc>
                  <a:txBody>
                    <a:bodyPr/>
                    <a:lstStyle/>
                    <a:p>
                      <a:pPr algn="l"/>
                      <a:r>
                        <a:rPr lang="en-US" sz="1600"/>
                        <a:t>Load value at the address into Rd</a:t>
                      </a:r>
                    </a:p>
                  </a:txBody>
                  <a:tcPr/>
                </a:tc>
                <a:extLst>
                  <a:ext uri="{0D108BD9-81ED-4DB2-BD59-A6C34878D82A}">
                    <a16:rowId xmlns:a16="http://schemas.microsoft.com/office/drawing/2014/main" val="631651838"/>
                  </a:ext>
                </a:extLst>
              </a:tr>
              <a:tr h="370840">
                <a:tc>
                  <a:txBody>
                    <a:bodyPr/>
                    <a:lstStyle/>
                    <a:p>
                      <a:pPr algn="ctr"/>
                      <a:r>
                        <a:rPr lang="en-US" sz="16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0_0000_1000_0000 = 0080</a:t>
                      </a:r>
                    </a:p>
                  </a:txBody>
                  <a:tcPr/>
                </a:tc>
                <a:tc>
                  <a:txBody>
                    <a:bodyPr/>
                    <a:lstStyle/>
                    <a:p>
                      <a:pPr algn="l"/>
                      <a:r>
                        <a:rPr lang="en-US" sz="1600"/>
                        <a:t>Increment PC</a:t>
                      </a:r>
                    </a:p>
                  </a:txBody>
                  <a:tcPr/>
                </a:tc>
                <a:extLst>
                  <a:ext uri="{0D108BD9-81ED-4DB2-BD59-A6C34878D82A}">
                    <a16:rowId xmlns:a16="http://schemas.microsoft.com/office/drawing/2014/main" val="1592812184"/>
                  </a:ext>
                </a:extLst>
              </a:tr>
              <a:tr h="370840">
                <a:tc>
                  <a:txBody>
                    <a:bodyPr/>
                    <a:lstStyle/>
                    <a:p>
                      <a:pPr algn="ctr"/>
                      <a:r>
                        <a:rPr lang="en-US" sz="1600"/>
                        <a:t>3</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2225793510"/>
                  </a:ext>
                </a:extLst>
              </a:tr>
              <a:tr h="370840">
                <a:tc>
                  <a:txBody>
                    <a:bodyPr/>
                    <a:lstStyle/>
                    <a:p>
                      <a:pPr algn="ctr"/>
                      <a:r>
                        <a:rPr lang="en-US" sz="1600"/>
                        <a:t>4</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1046366285"/>
                  </a:ext>
                </a:extLst>
              </a:tr>
              <a:tr h="370840">
                <a:tc>
                  <a:txBody>
                    <a:bodyPr/>
                    <a:lstStyle/>
                    <a:p>
                      <a:pPr algn="ctr"/>
                      <a:r>
                        <a:rPr lang="en-US" sz="1600"/>
                        <a:t>5</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2615342211"/>
                  </a:ext>
                </a:extLst>
              </a:tr>
              <a:tr h="370840">
                <a:tc>
                  <a:txBody>
                    <a:bodyPr/>
                    <a:lstStyle/>
                    <a:p>
                      <a:pPr algn="ctr"/>
                      <a:r>
                        <a:rPr lang="en-US" sz="1600"/>
                        <a:t>6</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2055856817"/>
                  </a:ext>
                </a:extLst>
              </a:tr>
              <a:tr h="370840">
                <a:tc>
                  <a:txBody>
                    <a:bodyPr/>
                    <a:lstStyle/>
                    <a:p>
                      <a:pPr algn="ctr"/>
                      <a:r>
                        <a:rPr lang="en-US" sz="1600"/>
                        <a:t>7</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3502991894"/>
                  </a:ext>
                </a:extLst>
              </a:tr>
            </a:tbl>
          </a:graphicData>
        </a:graphic>
      </p:graphicFrame>
      <p:sp>
        <p:nvSpPr>
          <p:cNvPr id="11" name="TextBox 10">
            <a:extLst>
              <a:ext uri="{FF2B5EF4-FFF2-40B4-BE49-F238E27FC236}">
                <a16:creationId xmlns:a16="http://schemas.microsoft.com/office/drawing/2014/main" id="{F18A3303-6AE1-4192-B847-C968E4DE1C58}"/>
              </a:ext>
            </a:extLst>
          </p:cNvPr>
          <p:cNvSpPr txBox="1"/>
          <p:nvPr/>
        </p:nvSpPr>
        <p:spPr>
          <a:xfrm>
            <a:off x="11305310" y="1"/>
            <a:ext cx="986167" cy="1862048"/>
          </a:xfrm>
          <a:prstGeom prst="rect">
            <a:avLst/>
          </a:prstGeom>
          <a:noFill/>
        </p:spPr>
        <p:txBody>
          <a:bodyPr wrap="none" rtlCol="0">
            <a:spAutoFit/>
          </a:bodyPr>
          <a:lstStyle/>
          <a:p>
            <a:r>
              <a:rPr lang="en-US" sz="11500">
                <a:solidFill>
                  <a:schemeClr val="accent1">
                    <a:lumMod val="60000"/>
                    <a:lumOff val="40000"/>
                  </a:schemeClr>
                </a:solidFill>
              </a:rPr>
              <a:t>B</a:t>
            </a:r>
          </a:p>
        </p:txBody>
      </p:sp>
      <p:graphicFrame>
        <p:nvGraphicFramePr>
          <p:cNvPr id="12" name="Table 4">
            <a:extLst>
              <a:ext uri="{FF2B5EF4-FFF2-40B4-BE49-F238E27FC236}">
                <a16:creationId xmlns:a16="http://schemas.microsoft.com/office/drawing/2014/main" id="{31A55406-8888-4A18-89FC-AB289657FAE4}"/>
              </a:ext>
            </a:extLst>
          </p:cNvPr>
          <p:cNvGraphicFramePr>
            <a:graphicFrameLocks noGrp="1"/>
          </p:cNvGraphicFramePr>
          <p:nvPr>
            <p:extLst>
              <p:ext uri="{D42A27DB-BD31-4B8C-83A1-F6EECF244321}">
                <p14:modId xmlns:p14="http://schemas.microsoft.com/office/powerpoint/2010/main" val="1708521512"/>
              </p:ext>
            </p:extLst>
          </p:nvPr>
        </p:nvGraphicFramePr>
        <p:xfrm>
          <a:off x="179752" y="5624993"/>
          <a:ext cx="10173616" cy="736600"/>
        </p:xfrm>
        <a:graphic>
          <a:graphicData uri="http://schemas.openxmlformats.org/drawingml/2006/table">
            <a:tbl>
              <a:tblPr firstRow="1" bandRow="1">
                <a:tableStyleId>{5C22544A-7EE6-4342-B048-85BDC9FD1C3A}</a:tableStyleId>
              </a:tblPr>
              <a:tblGrid>
                <a:gridCol w="1079707">
                  <a:extLst>
                    <a:ext uri="{9D8B030D-6E8A-4147-A177-3AD203B41FA5}">
                      <a16:colId xmlns:a16="http://schemas.microsoft.com/office/drawing/2014/main" val="1810408170"/>
                    </a:ext>
                  </a:extLst>
                </a:gridCol>
                <a:gridCol w="920323">
                  <a:extLst>
                    <a:ext uri="{9D8B030D-6E8A-4147-A177-3AD203B41FA5}">
                      <a16:colId xmlns:a16="http://schemas.microsoft.com/office/drawing/2014/main" val="950391025"/>
                    </a:ext>
                  </a:extLst>
                </a:gridCol>
                <a:gridCol w="932873">
                  <a:extLst>
                    <a:ext uri="{9D8B030D-6E8A-4147-A177-3AD203B41FA5}">
                      <a16:colId xmlns:a16="http://schemas.microsoft.com/office/drawing/2014/main" val="831694502"/>
                    </a:ext>
                  </a:extLst>
                </a:gridCol>
                <a:gridCol w="2634940">
                  <a:extLst>
                    <a:ext uri="{9D8B030D-6E8A-4147-A177-3AD203B41FA5}">
                      <a16:colId xmlns:a16="http://schemas.microsoft.com/office/drawing/2014/main" val="3449330376"/>
                    </a:ext>
                  </a:extLst>
                </a:gridCol>
                <a:gridCol w="770983">
                  <a:extLst>
                    <a:ext uri="{9D8B030D-6E8A-4147-A177-3AD203B41FA5}">
                      <a16:colId xmlns:a16="http://schemas.microsoft.com/office/drawing/2014/main" val="1355185516"/>
                    </a:ext>
                  </a:extLst>
                </a:gridCol>
                <a:gridCol w="1653608">
                  <a:extLst>
                    <a:ext uri="{9D8B030D-6E8A-4147-A177-3AD203B41FA5}">
                      <a16:colId xmlns:a16="http://schemas.microsoft.com/office/drawing/2014/main" val="2050007723"/>
                    </a:ext>
                  </a:extLst>
                </a:gridCol>
                <a:gridCol w="2181183">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Load Reg</a:t>
                      </a:r>
                    </a:p>
                  </a:txBody>
                  <a:tcPr>
                    <a:solidFill>
                      <a:schemeClr val="accent6"/>
                    </a:solidFill>
                  </a:tcPr>
                </a:tc>
                <a:tc>
                  <a:txBody>
                    <a:bodyPr/>
                    <a:lstStyle/>
                    <a:p>
                      <a:pPr algn="ctr"/>
                      <a:r>
                        <a:rPr lang="en-US" sz="1300"/>
                        <a:t>XX</a:t>
                      </a:r>
                    </a:p>
                  </a:txBody>
                  <a:tcPr/>
                </a:tc>
                <a:tc>
                  <a:txBody>
                    <a:bodyPr/>
                    <a:lstStyle/>
                    <a:p>
                      <a:pPr algn="ctr"/>
                      <a:r>
                        <a:rPr lang="en-US" sz="1300"/>
                        <a:t>Rs1</a:t>
                      </a:r>
                    </a:p>
                  </a:txBody>
                  <a:tcPr/>
                </a:tc>
                <a:tc>
                  <a:txBody>
                    <a:bodyPr/>
                    <a:lstStyle/>
                    <a:p>
                      <a:pPr algn="ctr"/>
                      <a:r>
                        <a:rPr lang="en-US" sz="1300"/>
                        <a:t>XXXX</a:t>
                      </a:r>
                    </a:p>
                  </a:txBody>
                  <a:tcPr/>
                </a:tc>
                <a:tc>
                  <a:txBody>
                    <a:bodyPr/>
                    <a:lstStyle/>
                    <a:p>
                      <a:pPr algn="ctr"/>
                      <a:r>
                        <a:rPr lang="en-US" sz="1300"/>
                        <a:t>Rd</a:t>
                      </a:r>
                    </a:p>
                  </a:txBody>
                  <a:tcPr/>
                </a:tc>
                <a:tc>
                  <a:txBody>
                    <a:bodyPr/>
                    <a:lstStyle/>
                    <a:p>
                      <a:pPr algn="ctr"/>
                      <a:r>
                        <a:rPr lang="en-US" sz="1300"/>
                        <a:t>X</a:t>
                      </a:r>
                    </a:p>
                  </a:txBody>
                  <a:tcPr/>
                </a:tc>
                <a:tc>
                  <a:txBody>
                    <a:bodyPr/>
                    <a:lstStyle/>
                    <a:p>
                      <a:pPr algn="ctr"/>
                      <a:r>
                        <a:rPr lang="en-US" sz="1300"/>
                        <a:t>OpCode</a:t>
                      </a:r>
                    </a:p>
                  </a:txBody>
                  <a:tcPr/>
                </a:tc>
                <a:extLst>
                  <a:ext uri="{0D108BD9-81ED-4DB2-BD59-A6C34878D82A}">
                    <a16:rowId xmlns:a16="http://schemas.microsoft.com/office/drawing/2014/main" val="2570910443"/>
                  </a:ext>
                </a:extLst>
              </a:tr>
            </a:tbl>
          </a:graphicData>
        </a:graphic>
      </p:graphicFrame>
      <p:sp>
        <p:nvSpPr>
          <p:cNvPr id="9" name="TextBox 8">
            <a:extLst>
              <a:ext uri="{FF2B5EF4-FFF2-40B4-BE49-F238E27FC236}">
                <a16:creationId xmlns:a16="http://schemas.microsoft.com/office/drawing/2014/main" id="{5336679A-5813-3B35-C4DB-FA7701EDB66F}"/>
              </a:ext>
            </a:extLst>
          </p:cNvPr>
          <p:cNvSpPr txBox="1"/>
          <p:nvPr/>
        </p:nvSpPr>
        <p:spPr>
          <a:xfrm>
            <a:off x="6615405" y="4734113"/>
            <a:ext cx="2353529" cy="523220"/>
          </a:xfrm>
          <a:prstGeom prst="rect">
            <a:avLst/>
          </a:prstGeom>
          <a:noFill/>
        </p:spPr>
        <p:txBody>
          <a:bodyPr wrap="none" rtlCol="0">
            <a:spAutoFit/>
          </a:bodyPr>
          <a:lstStyle/>
          <a:p>
            <a:r>
              <a:rPr lang="en-US" sz="2800">
                <a:solidFill>
                  <a:srgbClr val="00B050"/>
                </a:solidFill>
                <a:latin typeface="Consolas" panose="020B0609020204030204" pitchFamily="49" charset="0"/>
              </a:rPr>
              <a:t> LMR Rd, Rs</a:t>
            </a:r>
          </a:p>
        </p:txBody>
      </p:sp>
      <p:pic>
        <p:nvPicPr>
          <p:cNvPr id="2" name="Picture 1">
            <a:hlinkClick r:id="rId2" action="ppaction://hlinksldjump"/>
            <a:extLst>
              <a:ext uri="{FF2B5EF4-FFF2-40B4-BE49-F238E27FC236}">
                <a16:creationId xmlns:a16="http://schemas.microsoft.com/office/drawing/2014/main" id="{11E673A1-DBE4-6272-EAF9-9A80B21D4F0E}"/>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7" name="Slide Number Placeholder 4">
            <a:extLst>
              <a:ext uri="{FF2B5EF4-FFF2-40B4-BE49-F238E27FC236}">
                <a16:creationId xmlns:a16="http://schemas.microsoft.com/office/drawing/2014/main" id="{34A4CE8B-46DF-5FBF-4D30-7ECC4688DB84}"/>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127</a:t>
            </a:fld>
            <a:endParaRPr lang="en-US" b="1">
              <a:solidFill>
                <a:schemeClr val="bg1"/>
              </a:solidFill>
            </a:endParaRPr>
          </a:p>
        </p:txBody>
      </p:sp>
      <p:graphicFrame>
        <p:nvGraphicFramePr>
          <p:cNvPr id="10" name="Table 4">
            <a:extLst>
              <a:ext uri="{FF2B5EF4-FFF2-40B4-BE49-F238E27FC236}">
                <a16:creationId xmlns:a16="http://schemas.microsoft.com/office/drawing/2014/main" id="{F116B2DF-83DB-C077-155E-F485525ED128}"/>
              </a:ext>
            </a:extLst>
          </p:cNvPr>
          <p:cNvGraphicFramePr>
            <a:graphicFrameLocks noGrp="1"/>
          </p:cNvGraphicFramePr>
          <p:nvPr>
            <p:extLst>
              <p:ext uri="{D42A27DB-BD31-4B8C-83A1-F6EECF244321}">
                <p14:modId xmlns:p14="http://schemas.microsoft.com/office/powerpoint/2010/main" val="940534924"/>
              </p:ext>
            </p:extLst>
          </p:nvPr>
        </p:nvGraphicFramePr>
        <p:xfrm>
          <a:off x="193268" y="742463"/>
          <a:ext cx="4329725" cy="436342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
        <p:nvSpPr>
          <p:cNvPr id="13" name="Title 12">
            <a:extLst>
              <a:ext uri="{FF2B5EF4-FFF2-40B4-BE49-F238E27FC236}">
                <a16:creationId xmlns:a16="http://schemas.microsoft.com/office/drawing/2014/main" id="{ABF434E0-C865-7E9D-8FF2-ED39C29413E8}"/>
              </a:ext>
            </a:extLst>
          </p:cNvPr>
          <p:cNvSpPr>
            <a:spLocks noGrp="1"/>
          </p:cNvSpPr>
          <p:nvPr>
            <p:ph type="ctrTitle"/>
          </p:nvPr>
        </p:nvSpPr>
        <p:spPr>
          <a:xfrm>
            <a:off x="914400" y="182880"/>
            <a:ext cx="9144000" cy="457200"/>
          </a:xfrm>
        </p:spPr>
        <p:txBody>
          <a:bodyPr/>
          <a:lstStyle/>
          <a:p>
            <a:r>
              <a:rPr lang="en-US"/>
              <a:t>Micro-Instructions Control: LMR (Load Memory Register) (01011)</a:t>
            </a:r>
          </a:p>
        </p:txBody>
      </p:sp>
      <p:sp>
        <p:nvSpPr>
          <p:cNvPr id="3" name="TextBox 2">
            <a:extLst>
              <a:ext uri="{FF2B5EF4-FFF2-40B4-BE49-F238E27FC236}">
                <a16:creationId xmlns:a16="http://schemas.microsoft.com/office/drawing/2014/main" id="{6322E4C7-8D82-4BBC-11DB-B927C762C048}"/>
              </a:ext>
            </a:extLst>
          </p:cNvPr>
          <p:cNvSpPr txBox="1"/>
          <p:nvPr/>
        </p:nvSpPr>
        <p:spPr>
          <a:xfrm>
            <a:off x="9095149" y="4734114"/>
            <a:ext cx="2481659" cy="523220"/>
          </a:xfrm>
          <a:prstGeom prst="rect">
            <a:avLst/>
          </a:prstGeom>
          <a:solidFill>
            <a:srgbClr val="FFFFCC"/>
          </a:solidFill>
        </p:spPr>
        <p:txBody>
          <a:bodyPr wrap="square" rtlCol="0">
            <a:spAutoFit/>
          </a:bodyPr>
          <a:lstStyle/>
          <a:p>
            <a:r>
              <a:rPr lang="en-US" sz="2800"/>
              <a:t>Effect: Rd = *Rs</a:t>
            </a:r>
          </a:p>
        </p:txBody>
      </p:sp>
    </p:spTree>
    <p:extLst>
      <p:ext uri="{BB962C8B-B14F-4D97-AF65-F5344CB8AC3E}">
        <p14:creationId xmlns:p14="http://schemas.microsoft.com/office/powerpoint/2010/main" val="1017377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extLst>
              <p:ext uri="{D42A27DB-BD31-4B8C-83A1-F6EECF244321}">
                <p14:modId xmlns:p14="http://schemas.microsoft.com/office/powerpoint/2010/main" val="457645420"/>
              </p:ext>
            </p:extLst>
          </p:nvPr>
        </p:nvGraphicFramePr>
        <p:xfrm>
          <a:off x="4716583" y="742463"/>
          <a:ext cx="6514836" cy="3302000"/>
        </p:xfrm>
        <a:graphic>
          <a:graphicData uri="http://schemas.openxmlformats.org/drawingml/2006/table">
            <a:tbl>
              <a:tblPr firstRow="1" bandRow="1">
                <a:tableStyleId>{5C22544A-7EE6-4342-B048-85BDC9FD1C3A}</a:tableStyleId>
              </a:tblPr>
              <a:tblGrid>
                <a:gridCol w="988741">
                  <a:extLst>
                    <a:ext uri="{9D8B030D-6E8A-4147-A177-3AD203B41FA5}">
                      <a16:colId xmlns:a16="http://schemas.microsoft.com/office/drawing/2014/main" val="1217920130"/>
                    </a:ext>
                  </a:extLst>
                </a:gridCol>
                <a:gridCol w="2570459">
                  <a:extLst>
                    <a:ext uri="{9D8B030D-6E8A-4147-A177-3AD203B41FA5}">
                      <a16:colId xmlns:a16="http://schemas.microsoft.com/office/drawing/2014/main" val="1475888205"/>
                    </a:ext>
                  </a:extLst>
                </a:gridCol>
                <a:gridCol w="2955636">
                  <a:extLst>
                    <a:ext uri="{9D8B030D-6E8A-4147-A177-3AD203B41FA5}">
                      <a16:colId xmlns:a16="http://schemas.microsoft.com/office/drawing/2014/main" val="2801792198"/>
                    </a:ext>
                  </a:extLst>
                </a:gridCol>
              </a:tblGrid>
              <a:tr h="335280">
                <a:tc>
                  <a:txBody>
                    <a:bodyPr/>
                    <a:lstStyle/>
                    <a:p>
                      <a:r>
                        <a:rPr lang="en-US" sz="1600"/>
                        <a:t>Cycle #</a:t>
                      </a:r>
                    </a:p>
                  </a:txBody>
                  <a:tcPr/>
                </a:tc>
                <a:tc>
                  <a:txBody>
                    <a:bodyPr/>
                    <a:lstStyle/>
                    <a:p>
                      <a:r>
                        <a:rPr lang="en-US" sz="1600"/>
                        <a:t>Instruction</a:t>
                      </a:r>
                    </a:p>
                  </a:txBody>
                  <a:tcPr/>
                </a:tc>
                <a:tc>
                  <a:txBody>
                    <a:bodyPr/>
                    <a:lstStyle/>
                    <a:p>
                      <a:r>
                        <a:rPr lang="en-US" sz="1600"/>
                        <a:t>Explanation</a:t>
                      </a:r>
                    </a:p>
                  </a:txBody>
                  <a:tcPr/>
                </a:tc>
                <a:extLst>
                  <a:ext uri="{0D108BD9-81ED-4DB2-BD59-A6C34878D82A}">
                    <a16:rowId xmlns:a16="http://schemas.microsoft.com/office/drawing/2014/main" val="2319756336"/>
                  </a:ext>
                </a:extLst>
              </a:tr>
              <a:tr h="370840">
                <a:tc>
                  <a:txBody>
                    <a:bodyPr/>
                    <a:lstStyle/>
                    <a:p>
                      <a:pPr algn="ctr"/>
                      <a:r>
                        <a:rPr lang="en-US" sz="1600"/>
                        <a:t>0</a:t>
                      </a:r>
                    </a:p>
                  </a:txBody>
                  <a:tcPr/>
                </a:tc>
                <a:tc>
                  <a:txBody>
                    <a:bodyPr/>
                    <a:lstStyle/>
                    <a:p>
                      <a:pPr algn="l"/>
                      <a:r>
                        <a:rPr lang="en-US" sz="1600"/>
                        <a:t>01_0000_0001_0000 = 1010</a:t>
                      </a:r>
                    </a:p>
                  </a:txBody>
                  <a:tcPr/>
                </a:tc>
                <a:tc>
                  <a:txBody>
                    <a:bodyPr/>
                    <a:lstStyle/>
                    <a:p>
                      <a:pPr algn="l"/>
                      <a:r>
                        <a:rPr lang="en-US" sz="1600"/>
                        <a:t>Load Rs1 to Address Register</a:t>
                      </a:r>
                    </a:p>
                  </a:txBody>
                  <a:tcPr/>
                </a:tc>
                <a:extLst>
                  <a:ext uri="{0D108BD9-81ED-4DB2-BD59-A6C34878D82A}">
                    <a16:rowId xmlns:a16="http://schemas.microsoft.com/office/drawing/2014/main" val="2570910443"/>
                  </a:ext>
                </a:extLst>
              </a:tr>
              <a:tr h="370840">
                <a:tc>
                  <a:txBody>
                    <a:bodyPr/>
                    <a:lstStyle/>
                    <a:p>
                      <a:pPr algn="ctr"/>
                      <a:r>
                        <a:rPr lang="en-US" sz="16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10_1000_0001_0000 = 2810</a:t>
                      </a:r>
                    </a:p>
                  </a:txBody>
                  <a:tcPr/>
                </a:tc>
                <a:tc>
                  <a:txBody>
                    <a:bodyPr/>
                    <a:lstStyle/>
                    <a:p>
                      <a:pPr algn="l"/>
                      <a:r>
                        <a:rPr lang="en-US" sz="1600"/>
                        <a:t>Store value at Rd to RAM</a:t>
                      </a:r>
                    </a:p>
                  </a:txBody>
                  <a:tcPr/>
                </a:tc>
                <a:extLst>
                  <a:ext uri="{0D108BD9-81ED-4DB2-BD59-A6C34878D82A}">
                    <a16:rowId xmlns:a16="http://schemas.microsoft.com/office/drawing/2014/main" val="631651838"/>
                  </a:ext>
                </a:extLst>
              </a:tr>
              <a:tr h="370840">
                <a:tc>
                  <a:txBody>
                    <a:bodyPr/>
                    <a:lstStyle/>
                    <a:p>
                      <a:pPr algn="ctr"/>
                      <a:r>
                        <a:rPr lang="en-US" sz="16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00_0000_1000_0000 = 0080</a:t>
                      </a:r>
                    </a:p>
                  </a:txBody>
                  <a:tcPr/>
                </a:tc>
                <a:tc>
                  <a:txBody>
                    <a:bodyPr/>
                    <a:lstStyle/>
                    <a:p>
                      <a:pPr algn="l"/>
                      <a:r>
                        <a:rPr lang="en-US" sz="1600"/>
                        <a:t>Increment PC</a:t>
                      </a:r>
                    </a:p>
                  </a:txBody>
                  <a:tcPr/>
                </a:tc>
                <a:extLst>
                  <a:ext uri="{0D108BD9-81ED-4DB2-BD59-A6C34878D82A}">
                    <a16:rowId xmlns:a16="http://schemas.microsoft.com/office/drawing/2014/main" val="1592812184"/>
                  </a:ext>
                </a:extLst>
              </a:tr>
              <a:tr h="370840">
                <a:tc>
                  <a:txBody>
                    <a:bodyPr/>
                    <a:lstStyle/>
                    <a:p>
                      <a:pPr algn="ctr"/>
                      <a:r>
                        <a:rPr lang="en-US" sz="1600"/>
                        <a:t>3</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2225793510"/>
                  </a:ext>
                </a:extLst>
              </a:tr>
              <a:tr h="370840">
                <a:tc>
                  <a:txBody>
                    <a:bodyPr/>
                    <a:lstStyle/>
                    <a:p>
                      <a:pPr algn="ctr"/>
                      <a:r>
                        <a:rPr lang="en-US" sz="1600"/>
                        <a:t>4</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1046366285"/>
                  </a:ext>
                </a:extLst>
              </a:tr>
              <a:tr h="370840">
                <a:tc>
                  <a:txBody>
                    <a:bodyPr/>
                    <a:lstStyle/>
                    <a:p>
                      <a:pPr algn="ctr"/>
                      <a:r>
                        <a:rPr lang="en-US" sz="1600"/>
                        <a:t>5</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2615342211"/>
                  </a:ext>
                </a:extLst>
              </a:tr>
              <a:tr h="370840">
                <a:tc>
                  <a:txBody>
                    <a:bodyPr/>
                    <a:lstStyle/>
                    <a:p>
                      <a:pPr algn="ctr"/>
                      <a:r>
                        <a:rPr lang="en-US" sz="1600"/>
                        <a:t>6</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2055856817"/>
                  </a:ext>
                </a:extLst>
              </a:tr>
              <a:tr h="370840">
                <a:tc>
                  <a:txBody>
                    <a:bodyPr/>
                    <a:lstStyle/>
                    <a:p>
                      <a:pPr algn="ctr"/>
                      <a:r>
                        <a:rPr lang="en-US" sz="1600"/>
                        <a:t>7</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3502991894"/>
                  </a:ext>
                </a:extLst>
              </a:tr>
            </a:tbl>
          </a:graphicData>
        </a:graphic>
      </p:graphicFrame>
      <p:sp>
        <p:nvSpPr>
          <p:cNvPr id="11" name="TextBox 10">
            <a:extLst>
              <a:ext uri="{FF2B5EF4-FFF2-40B4-BE49-F238E27FC236}">
                <a16:creationId xmlns:a16="http://schemas.microsoft.com/office/drawing/2014/main" id="{F18A3303-6AE1-4192-B847-C968E4DE1C58}"/>
              </a:ext>
            </a:extLst>
          </p:cNvPr>
          <p:cNvSpPr txBox="1"/>
          <p:nvPr/>
        </p:nvSpPr>
        <p:spPr>
          <a:xfrm>
            <a:off x="11305310" y="1"/>
            <a:ext cx="971741" cy="1862048"/>
          </a:xfrm>
          <a:prstGeom prst="rect">
            <a:avLst/>
          </a:prstGeom>
          <a:noFill/>
        </p:spPr>
        <p:txBody>
          <a:bodyPr wrap="none" rtlCol="0">
            <a:spAutoFit/>
          </a:bodyPr>
          <a:lstStyle/>
          <a:p>
            <a:r>
              <a:rPr lang="en-US" sz="11500">
                <a:solidFill>
                  <a:schemeClr val="accent1">
                    <a:lumMod val="60000"/>
                    <a:lumOff val="40000"/>
                  </a:schemeClr>
                </a:solidFill>
              </a:rPr>
              <a:t>C</a:t>
            </a:r>
          </a:p>
        </p:txBody>
      </p:sp>
      <p:graphicFrame>
        <p:nvGraphicFramePr>
          <p:cNvPr id="12" name="Table 4">
            <a:extLst>
              <a:ext uri="{FF2B5EF4-FFF2-40B4-BE49-F238E27FC236}">
                <a16:creationId xmlns:a16="http://schemas.microsoft.com/office/drawing/2014/main" id="{31A55406-8888-4A18-89FC-AB289657FAE4}"/>
              </a:ext>
            </a:extLst>
          </p:cNvPr>
          <p:cNvGraphicFramePr>
            <a:graphicFrameLocks noGrp="1"/>
          </p:cNvGraphicFramePr>
          <p:nvPr>
            <p:extLst>
              <p:ext uri="{D42A27DB-BD31-4B8C-83A1-F6EECF244321}">
                <p14:modId xmlns:p14="http://schemas.microsoft.com/office/powerpoint/2010/main" val="3342286272"/>
              </p:ext>
            </p:extLst>
          </p:nvPr>
        </p:nvGraphicFramePr>
        <p:xfrm>
          <a:off x="179752" y="5624993"/>
          <a:ext cx="10173616" cy="736600"/>
        </p:xfrm>
        <a:graphic>
          <a:graphicData uri="http://schemas.openxmlformats.org/drawingml/2006/table">
            <a:tbl>
              <a:tblPr firstRow="1" bandRow="1">
                <a:tableStyleId>{5C22544A-7EE6-4342-B048-85BDC9FD1C3A}</a:tableStyleId>
              </a:tblPr>
              <a:tblGrid>
                <a:gridCol w="1079707">
                  <a:extLst>
                    <a:ext uri="{9D8B030D-6E8A-4147-A177-3AD203B41FA5}">
                      <a16:colId xmlns:a16="http://schemas.microsoft.com/office/drawing/2014/main" val="1810408170"/>
                    </a:ext>
                  </a:extLst>
                </a:gridCol>
                <a:gridCol w="920323">
                  <a:extLst>
                    <a:ext uri="{9D8B030D-6E8A-4147-A177-3AD203B41FA5}">
                      <a16:colId xmlns:a16="http://schemas.microsoft.com/office/drawing/2014/main" val="950391025"/>
                    </a:ext>
                  </a:extLst>
                </a:gridCol>
                <a:gridCol w="932873">
                  <a:extLst>
                    <a:ext uri="{9D8B030D-6E8A-4147-A177-3AD203B41FA5}">
                      <a16:colId xmlns:a16="http://schemas.microsoft.com/office/drawing/2014/main" val="831694502"/>
                    </a:ext>
                  </a:extLst>
                </a:gridCol>
                <a:gridCol w="2634940">
                  <a:extLst>
                    <a:ext uri="{9D8B030D-6E8A-4147-A177-3AD203B41FA5}">
                      <a16:colId xmlns:a16="http://schemas.microsoft.com/office/drawing/2014/main" val="3449330376"/>
                    </a:ext>
                  </a:extLst>
                </a:gridCol>
                <a:gridCol w="770983">
                  <a:extLst>
                    <a:ext uri="{9D8B030D-6E8A-4147-A177-3AD203B41FA5}">
                      <a16:colId xmlns:a16="http://schemas.microsoft.com/office/drawing/2014/main" val="1355185516"/>
                    </a:ext>
                  </a:extLst>
                </a:gridCol>
                <a:gridCol w="1653608">
                  <a:extLst>
                    <a:ext uri="{9D8B030D-6E8A-4147-A177-3AD203B41FA5}">
                      <a16:colId xmlns:a16="http://schemas.microsoft.com/office/drawing/2014/main" val="2050007723"/>
                    </a:ext>
                  </a:extLst>
                </a:gridCol>
                <a:gridCol w="2181183">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Load Reg</a:t>
                      </a:r>
                    </a:p>
                  </a:txBody>
                  <a:tcPr>
                    <a:solidFill>
                      <a:schemeClr val="accent6"/>
                    </a:solidFill>
                  </a:tcPr>
                </a:tc>
                <a:tc>
                  <a:txBody>
                    <a:bodyPr/>
                    <a:lstStyle/>
                    <a:p>
                      <a:pPr algn="ctr"/>
                      <a:r>
                        <a:rPr lang="en-US" sz="1300"/>
                        <a:t>XX</a:t>
                      </a:r>
                    </a:p>
                  </a:txBody>
                  <a:tcPr/>
                </a:tc>
                <a:tc>
                  <a:txBody>
                    <a:bodyPr/>
                    <a:lstStyle/>
                    <a:p>
                      <a:pPr algn="ctr"/>
                      <a:r>
                        <a:rPr lang="en-US" sz="1300"/>
                        <a:t>Rs1</a:t>
                      </a:r>
                    </a:p>
                  </a:txBody>
                  <a:tcPr/>
                </a:tc>
                <a:tc>
                  <a:txBody>
                    <a:bodyPr/>
                    <a:lstStyle/>
                    <a:p>
                      <a:pPr algn="ctr"/>
                      <a:r>
                        <a:rPr lang="en-US" sz="1300"/>
                        <a:t>XXXX</a:t>
                      </a:r>
                    </a:p>
                  </a:txBody>
                  <a:tcPr/>
                </a:tc>
                <a:tc>
                  <a:txBody>
                    <a:bodyPr/>
                    <a:lstStyle/>
                    <a:p>
                      <a:pPr algn="ctr"/>
                      <a:r>
                        <a:rPr lang="en-US" sz="1300"/>
                        <a:t>Rd</a:t>
                      </a:r>
                    </a:p>
                  </a:txBody>
                  <a:tcPr/>
                </a:tc>
                <a:tc>
                  <a:txBody>
                    <a:bodyPr/>
                    <a:lstStyle/>
                    <a:p>
                      <a:pPr algn="ctr"/>
                      <a:r>
                        <a:rPr lang="en-US" sz="1300"/>
                        <a:t>X</a:t>
                      </a:r>
                    </a:p>
                  </a:txBody>
                  <a:tcPr/>
                </a:tc>
                <a:tc>
                  <a:txBody>
                    <a:bodyPr/>
                    <a:lstStyle/>
                    <a:p>
                      <a:pPr algn="ctr"/>
                      <a:r>
                        <a:rPr lang="en-US" sz="1300"/>
                        <a:t>OpCode</a:t>
                      </a:r>
                    </a:p>
                  </a:txBody>
                  <a:tcPr/>
                </a:tc>
                <a:extLst>
                  <a:ext uri="{0D108BD9-81ED-4DB2-BD59-A6C34878D82A}">
                    <a16:rowId xmlns:a16="http://schemas.microsoft.com/office/drawing/2014/main" val="2570910443"/>
                  </a:ext>
                </a:extLst>
              </a:tr>
            </a:tbl>
          </a:graphicData>
        </a:graphic>
      </p:graphicFrame>
      <p:sp>
        <p:nvSpPr>
          <p:cNvPr id="10" name="TextBox 9">
            <a:extLst>
              <a:ext uri="{FF2B5EF4-FFF2-40B4-BE49-F238E27FC236}">
                <a16:creationId xmlns:a16="http://schemas.microsoft.com/office/drawing/2014/main" id="{EB1AADA8-3F5D-1E95-C0F5-9407CE2D0472}"/>
              </a:ext>
            </a:extLst>
          </p:cNvPr>
          <p:cNvSpPr txBox="1"/>
          <p:nvPr/>
        </p:nvSpPr>
        <p:spPr>
          <a:xfrm>
            <a:off x="6615404" y="4734113"/>
            <a:ext cx="4522392" cy="523220"/>
          </a:xfrm>
          <a:prstGeom prst="rect">
            <a:avLst/>
          </a:prstGeom>
          <a:noFill/>
        </p:spPr>
        <p:txBody>
          <a:bodyPr wrap="none" rtlCol="0">
            <a:spAutoFit/>
          </a:bodyPr>
          <a:lstStyle/>
          <a:p>
            <a:r>
              <a:rPr lang="en-US" sz="2800">
                <a:solidFill>
                  <a:srgbClr val="00B050"/>
                </a:solidFill>
                <a:latin typeface="Consolas" panose="020B0609020204030204" pitchFamily="49" charset="0"/>
              </a:rPr>
              <a:t> SMR </a:t>
            </a:r>
            <a:r>
              <a:rPr lang="en-US" sz="2800" err="1">
                <a:solidFill>
                  <a:srgbClr val="00B050"/>
                </a:solidFill>
                <a:latin typeface="Consolas" panose="020B0609020204030204" pitchFamily="49" charset="0"/>
              </a:rPr>
              <a:t>Rd_data</a:t>
            </a:r>
            <a:r>
              <a:rPr lang="en-US" sz="2800">
                <a:solidFill>
                  <a:srgbClr val="00B050"/>
                </a:solidFill>
                <a:latin typeface="Consolas" panose="020B0609020204030204" pitchFamily="49" charset="0"/>
              </a:rPr>
              <a:t>, Rs1_</a:t>
            </a:r>
            <a:r>
              <a:rPr lang="en-US" sz="2800" err="1">
                <a:solidFill>
                  <a:srgbClr val="00B050"/>
                </a:solidFill>
                <a:latin typeface="Consolas" panose="020B0609020204030204" pitchFamily="49" charset="0"/>
              </a:rPr>
              <a:t>addr</a:t>
            </a:r>
            <a:endParaRPr lang="en-US" sz="2800">
              <a:solidFill>
                <a:srgbClr val="00B050"/>
              </a:solidFill>
              <a:latin typeface="Consolas" panose="020B0609020204030204" pitchFamily="49" charset="0"/>
            </a:endParaRPr>
          </a:p>
        </p:txBody>
      </p:sp>
      <p:pic>
        <p:nvPicPr>
          <p:cNvPr id="2" name="Picture 1">
            <a:hlinkClick r:id="rId2" action="ppaction://hlinksldjump"/>
            <a:extLst>
              <a:ext uri="{FF2B5EF4-FFF2-40B4-BE49-F238E27FC236}">
                <a16:creationId xmlns:a16="http://schemas.microsoft.com/office/drawing/2014/main" id="{898617EE-D2B9-D6B9-18F0-F694B35A153A}"/>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7" name="Slide Number Placeholder 4">
            <a:extLst>
              <a:ext uri="{FF2B5EF4-FFF2-40B4-BE49-F238E27FC236}">
                <a16:creationId xmlns:a16="http://schemas.microsoft.com/office/drawing/2014/main" id="{2ED8CA7C-AECB-0FFD-A138-60BE8541BB1D}"/>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128</a:t>
            </a:fld>
            <a:endParaRPr lang="en-US" b="1">
              <a:solidFill>
                <a:schemeClr val="bg1"/>
              </a:solidFill>
            </a:endParaRPr>
          </a:p>
        </p:txBody>
      </p:sp>
      <p:graphicFrame>
        <p:nvGraphicFramePr>
          <p:cNvPr id="9" name="Table 4">
            <a:extLst>
              <a:ext uri="{FF2B5EF4-FFF2-40B4-BE49-F238E27FC236}">
                <a16:creationId xmlns:a16="http://schemas.microsoft.com/office/drawing/2014/main" id="{305F730E-82A6-A656-8790-A9B5264B404E}"/>
              </a:ext>
            </a:extLst>
          </p:cNvPr>
          <p:cNvGraphicFramePr>
            <a:graphicFrameLocks noGrp="1"/>
          </p:cNvGraphicFramePr>
          <p:nvPr>
            <p:extLst>
              <p:ext uri="{D42A27DB-BD31-4B8C-83A1-F6EECF244321}">
                <p14:modId xmlns:p14="http://schemas.microsoft.com/office/powerpoint/2010/main" val="940534924"/>
              </p:ext>
            </p:extLst>
          </p:nvPr>
        </p:nvGraphicFramePr>
        <p:xfrm>
          <a:off x="193268" y="742463"/>
          <a:ext cx="4329725" cy="436342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
        <p:nvSpPr>
          <p:cNvPr id="13" name="Title 12">
            <a:extLst>
              <a:ext uri="{FF2B5EF4-FFF2-40B4-BE49-F238E27FC236}">
                <a16:creationId xmlns:a16="http://schemas.microsoft.com/office/drawing/2014/main" id="{ABF288D3-7226-179A-78F5-181C8643AD34}"/>
              </a:ext>
            </a:extLst>
          </p:cNvPr>
          <p:cNvSpPr>
            <a:spLocks noGrp="1"/>
          </p:cNvSpPr>
          <p:nvPr>
            <p:ph type="ctrTitle"/>
          </p:nvPr>
        </p:nvSpPr>
        <p:spPr>
          <a:xfrm>
            <a:off x="914400" y="182880"/>
            <a:ext cx="9144000" cy="457200"/>
          </a:xfrm>
        </p:spPr>
        <p:txBody>
          <a:bodyPr/>
          <a:lstStyle/>
          <a:p>
            <a:r>
              <a:rPr lang="en-US"/>
              <a:t>Micro-Instructions Control: SMR (Store Memory Register) (01100)</a:t>
            </a:r>
          </a:p>
        </p:txBody>
      </p:sp>
    </p:spTree>
    <p:extLst>
      <p:ext uri="{BB962C8B-B14F-4D97-AF65-F5344CB8AC3E}">
        <p14:creationId xmlns:p14="http://schemas.microsoft.com/office/powerpoint/2010/main" val="2509154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extLst>
              <p:ext uri="{D42A27DB-BD31-4B8C-83A1-F6EECF244321}">
                <p14:modId xmlns:p14="http://schemas.microsoft.com/office/powerpoint/2010/main" val="224458877"/>
              </p:ext>
            </p:extLst>
          </p:nvPr>
        </p:nvGraphicFramePr>
        <p:xfrm>
          <a:off x="4716584" y="742463"/>
          <a:ext cx="5638801" cy="2758440"/>
        </p:xfrm>
        <a:graphic>
          <a:graphicData uri="http://schemas.openxmlformats.org/drawingml/2006/table">
            <a:tbl>
              <a:tblPr firstRow="1" bandRow="1">
                <a:tableStyleId>{5C22544A-7EE6-4342-B048-85BDC9FD1C3A}</a:tableStyleId>
              </a:tblPr>
              <a:tblGrid>
                <a:gridCol w="855787">
                  <a:extLst>
                    <a:ext uri="{9D8B030D-6E8A-4147-A177-3AD203B41FA5}">
                      <a16:colId xmlns:a16="http://schemas.microsoft.com/office/drawing/2014/main" val="1217920130"/>
                    </a:ext>
                  </a:extLst>
                </a:gridCol>
                <a:gridCol w="2294891">
                  <a:extLst>
                    <a:ext uri="{9D8B030D-6E8A-4147-A177-3AD203B41FA5}">
                      <a16:colId xmlns:a16="http://schemas.microsoft.com/office/drawing/2014/main" val="1475888205"/>
                    </a:ext>
                  </a:extLst>
                </a:gridCol>
                <a:gridCol w="2488124">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502920">
                <a:tc>
                  <a:txBody>
                    <a:bodyPr/>
                    <a:lstStyle/>
                    <a:p>
                      <a:pPr algn="ctr"/>
                      <a:r>
                        <a:rPr lang="en-US" sz="1300"/>
                        <a:t>0</a:t>
                      </a:r>
                    </a:p>
                  </a:txBody>
                  <a:tcPr/>
                </a:tc>
                <a:tc>
                  <a:txBody>
                    <a:bodyPr/>
                    <a:lstStyle/>
                    <a:p>
                      <a:pPr lvl="0" algn="l">
                        <a:buNone/>
                      </a:pPr>
                      <a:r>
                        <a:rPr lang="en-US" sz="1300"/>
                        <a:t>0000_0000 = 0x00</a:t>
                      </a:r>
                    </a:p>
                  </a:txBody>
                  <a:tcPr/>
                </a:tc>
                <a:tc>
                  <a:txBody>
                    <a:bodyPr/>
                    <a:lstStyle/>
                    <a:p>
                      <a:pPr lvl="0" algn="l">
                        <a:buNone/>
                      </a:pPr>
                      <a:r>
                        <a:rPr lang="en-US" sz="1300"/>
                        <a:t>Wait for H instruction register to be loaded</a:t>
                      </a:r>
                    </a:p>
                  </a:txBody>
                  <a:tcPr/>
                </a:tc>
                <a:extLst>
                  <a:ext uri="{0D108BD9-81ED-4DB2-BD59-A6C34878D82A}">
                    <a16:rowId xmlns:a16="http://schemas.microsoft.com/office/drawing/2014/main" val="728758943"/>
                  </a:ext>
                </a:extLst>
              </a:tr>
              <a:tr h="502920">
                <a:tc>
                  <a:txBody>
                    <a:bodyPr/>
                    <a:lstStyle/>
                    <a:p>
                      <a:pPr algn="ctr"/>
                      <a:r>
                        <a:rPr lang="en-US" sz="1300"/>
                        <a:t>1</a:t>
                      </a:r>
                    </a:p>
                  </a:txBody>
                  <a:tcPr/>
                </a:tc>
                <a:tc>
                  <a:txBody>
                    <a:bodyPr/>
                    <a:lstStyle/>
                    <a:p>
                      <a:pPr lvl="0" algn="l">
                        <a:buNone/>
                      </a:pPr>
                      <a:r>
                        <a:rPr lang="en-US" sz="1300"/>
                        <a:t>0100_0000 = 0x40</a:t>
                      </a:r>
                    </a:p>
                  </a:txBody>
                  <a:tcPr/>
                </a:tc>
                <a:tc>
                  <a:txBody>
                    <a:bodyPr/>
                    <a:lstStyle/>
                    <a:p>
                      <a:pPr lvl="0" algn="l">
                        <a:buNone/>
                      </a:pPr>
                      <a:r>
                        <a:rPr lang="en-US" sz="1300"/>
                        <a:t>Write program register H to the bus</a:t>
                      </a:r>
                    </a:p>
                  </a:txBody>
                  <a:tcPr/>
                </a:tc>
                <a:extLst>
                  <a:ext uri="{0D108BD9-81ED-4DB2-BD59-A6C34878D82A}">
                    <a16:rowId xmlns:a16="http://schemas.microsoft.com/office/drawing/2014/main" val="2570910443"/>
                  </a:ext>
                </a:extLst>
              </a:tr>
              <a:tr h="370840">
                <a:tc>
                  <a:txBody>
                    <a:bodyPr/>
                    <a:lstStyle/>
                    <a:p>
                      <a:pPr algn="ctr"/>
                      <a:r>
                        <a:rPr lang="en-US" sz="1300"/>
                        <a:t>2</a:t>
                      </a:r>
                    </a:p>
                  </a:txBody>
                  <a:tcPr/>
                </a:tc>
                <a:tc>
                  <a:txBody>
                    <a:bodyPr/>
                    <a:lstStyle/>
                    <a:p>
                      <a:pPr marL="0" marR="0" lvl="0" indent="0" algn="l" rtl="0">
                        <a:lnSpc>
                          <a:spcPct val="100000"/>
                        </a:lnSpc>
                        <a:spcBef>
                          <a:spcPts val="0"/>
                        </a:spcBef>
                        <a:spcAft>
                          <a:spcPts val="0"/>
                        </a:spcAft>
                        <a:buClrTx/>
                        <a:buSzTx/>
                        <a:buFontTx/>
                        <a:buNone/>
                      </a:pPr>
                      <a:r>
                        <a:rPr lang="en-US" sz="1300"/>
                        <a:t>1000_0000 = 0x80</a:t>
                      </a:r>
                    </a:p>
                  </a:txBody>
                  <a:tcPr/>
                </a:tc>
                <a:tc>
                  <a:txBody>
                    <a:bodyPr/>
                    <a:lstStyle/>
                    <a:p>
                      <a:pPr lvl="0" algn="l">
                        <a:buNone/>
                      </a:pPr>
                      <a:r>
                        <a:rPr lang="en-US" sz="1300"/>
                        <a:t>Advance PC</a:t>
                      </a:r>
                    </a:p>
                  </a:txBody>
                  <a:tcPr/>
                </a:tc>
                <a:extLst>
                  <a:ext uri="{0D108BD9-81ED-4DB2-BD59-A6C34878D82A}">
                    <a16:rowId xmlns:a16="http://schemas.microsoft.com/office/drawing/2014/main" val="631651838"/>
                  </a:ext>
                </a:extLst>
              </a:tr>
              <a:tr h="370840">
                <a:tc>
                  <a:txBody>
                    <a:bodyPr/>
                    <a:lstStyle/>
                    <a:p>
                      <a:pPr algn="ctr"/>
                      <a:r>
                        <a:rPr lang="en-US" sz="1300"/>
                        <a:t>3</a:t>
                      </a:r>
                    </a:p>
                  </a:txBody>
                  <a:tcPr/>
                </a:tc>
                <a:tc>
                  <a:txBody>
                    <a:bodyPr/>
                    <a:lstStyle/>
                    <a:p>
                      <a:pPr marL="0" marR="0" lvl="0" indent="0" algn="l" rtl="0">
                        <a:lnSpc>
                          <a:spcPct val="100000"/>
                        </a:lnSpc>
                        <a:spcBef>
                          <a:spcPts val="0"/>
                        </a:spcBef>
                        <a:spcAft>
                          <a:spcPts val="0"/>
                        </a:spcAft>
                        <a:buClrTx/>
                        <a:buSzTx/>
                        <a:buFontTx/>
                        <a:buNone/>
                      </a:pPr>
                      <a:endParaRPr lang="en-US" sz="1300"/>
                    </a:p>
                  </a:txBody>
                  <a:tcPr/>
                </a:tc>
                <a:tc>
                  <a:txBody>
                    <a:bodyPr/>
                    <a:lstStyle/>
                    <a:p>
                      <a:pPr lvl="0" algn="l">
                        <a:buNone/>
                      </a:pPr>
                      <a:endParaRPr lang="en-US" sz="1300"/>
                    </a:p>
                  </a:txBody>
                  <a:tcPr/>
                </a:tc>
                <a:extLst>
                  <a:ext uri="{0D108BD9-81ED-4DB2-BD59-A6C34878D82A}">
                    <a16:rowId xmlns:a16="http://schemas.microsoft.com/office/drawing/2014/main" val="1592812184"/>
                  </a:ext>
                </a:extLst>
              </a:tr>
              <a:tr h="370840">
                <a:tc>
                  <a:txBody>
                    <a:bodyPr/>
                    <a:lstStyle/>
                    <a:p>
                      <a:pPr algn="ctr"/>
                      <a:r>
                        <a:rPr lang="en-US" sz="1300"/>
                        <a:t>4</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225793510"/>
                  </a:ext>
                </a:extLst>
              </a:tr>
            </a:tbl>
          </a:graphicData>
        </a:graphic>
      </p:graphicFrame>
      <p:graphicFrame>
        <p:nvGraphicFramePr>
          <p:cNvPr id="8" name="Table 4">
            <a:extLst>
              <a:ext uri="{FF2B5EF4-FFF2-40B4-BE49-F238E27FC236}">
                <a16:creationId xmlns:a16="http://schemas.microsoft.com/office/drawing/2014/main" id="{B2AD6081-617D-4B70-9D8B-1ADCBBB7A323}"/>
              </a:ext>
            </a:extLst>
          </p:cNvPr>
          <p:cNvGraphicFramePr>
            <a:graphicFrameLocks noGrp="1"/>
          </p:cNvGraphicFramePr>
          <p:nvPr/>
        </p:nvGraphicFramePr>
        <p:xfrm>
          <a:off x="179752" y="5619913"/>
          <a:ext cx="9276861" cy="741680"/>
        </p:xfrm>
        <a:graphic>
          <a:graphicData uri="http://schemas.openxmlformats.org/drawingml/2006/table">
            <a:tbl>
              <a:tblPr firstRow="1" bandRow="1">
                <a:tableStyleId>{5C22544A-7EE6-4342-B048-85BDC9FD1C3A}</a:tableStyleId>
              </a:tblPr>
              <a:tblGrid>
                <a:gridCol w="1312985">
                  <a:extLst>
                    <a:ext uri="{9D8B030D-6E8A-4147-A177-3AD203B41FA5}">
                      <a16:colId xmlns:a16="http://schemas.microsoft.com/office/drawing/2014/main" val="1810408170"/>
                    </a:ext>
                  </a:extLst>
                </a:gridCol>
                <a:gridCol w="2089399">
                  <a:extLst>
                    <a:ext uri="{9D8B030D-6E8A-4147-A177-3AD203B41FA5}">
                      <a16:colId xmlns:a16="http://schemas.microsoft.com/office/drawing/2014/main" val="1217920130"/>
                    </a:ext>
                  </a:extLst>
                </a:gridCol>
                <a:gridCol w="824031">
                  <a:extLst>
                    <a:ext uri="{9D8B030D-6E8A-4147-A177-3AD203B41FA5}">
                      <a16:colId xmlns:a16="http://schemas.microsoft.com/office/drawing/2014/main" val="1475888205"/>
                    </a:ext>
                  </a:extLst>
                </a:gridCol>
                <a:gridCol w="1262612">
                  <a:extLst>
                    <a:ext uri="{9D8B030D-6E8A-4147-A177-3AD203B41FA5}">
                      <a16:colId xmlns:a16="http://schemas.microsoft.com/office/drawing/2014/main" val="1355185516"/>
                    </a:ext>
                  </a:extLst>
                </a:gridCol>
                <a:gridCol w="1584927">
                  <a:extLst>
                    <a:ext uri="{9D8B030D-6E8A-4147-A177-3AD203B41FA5}">
                      <a16:colId xmlns:a16="http://schemas.microsoft.com/office/drawing/2014/main" val="2050007723"/>
                    </a:ext>
                  </a:extLst>
                </a:gridCol>
                <a:gridCol w="1149517">
                  <a:extLst>
                    <a:ext uri="{9D8B030D-6E8A-4147-A177-3AD203B41FA5}">
                      <a16:colId xmlns:a16="http://schemas.microsoft.com/office/drawing/2014/main" val="3099546510"/>
                    </a:ext>
                  </a:extLst>
                </a:gridCol>
                <a:gridCol w="1053392">
                  <a:extLst>
                    <a:ext uri="{9D8B030D-6E8A-4147-A177-3AD203B41FA5}">
                      <a16:colId xmlns:a16="http://schemas.microsoft.com/office/drawing/2014/main" val="1677154990"/>
                    </a:ext>
                  </a:extLst>
                </a:gridCol>
              </a:tblGrid>
              <a:tr h="370840">
                <a:tc>
                  <a:txBody>
                    <a:bodyPr/>
                    <a:lstStyle/>
                    <a:p>
                      <a:r>
                        <a:rPr lang="en-US" sz="1300"/>
                        <a:t>Type</a:t>
                      </a:r>
                    </a:p>
                  </a:txBody>
                  <a:tcPr/>
                </a:tc>
                <a:tc>
                  <a:txBody>
                    <a:bodyPr/>
                    <a:lstStyle/>
                    <a:p>
                      <a:r>
                        <a:rPr lang="en-US" sz="1300"/>
                        <a:t>15 14 13 12</a:t>
                      </a:r>
                    </a:p>
                  </a:txBody>
                  <a:tcPr/>
                </a:tc>
                <a:tc>
                  <a:txBody>
                    <a:bodyPr/>
                    <a:lstStyle/>
                    <a:p>
                      <a:r>
                        <a:rPr lang="en-US" sz="1300"/>
                        <a:t>11 10</a:t>
                      </a:r>
                    </a:p>
                  </a:txBody>
                  <a:tcPr/>
                </a:tc>
                <a:tc>
                  <a:txBody>
                    <a:bodyPr/>
                    <a:lstStyle/>
                    <a:p>
                      <a:r>
                        <a:rPr lang="en-US" sz="1300"/>
                        <a:t>9 8</a:t>
                      </a:r>
                    </a:p>
                  </a:txBody>
                  <a:tcPr/>
                </a:tc>
                <a:tc>
                  <a:txBody>
                    <a:bodyPr/>
                    <a:lstStyle/>
                    <a:p>
                      <a:r>
                        <a:rPr lang="en-US" sz="1300"/>
                        <a:t>7 6 5 4</a:t>
                      </a:r>
                    </a:p>
                  </a:txBody>
                  <a:tcPr/>
                </a:tc>
                <a:tc>
                  <a:txBody>
                    <a:bodyPr/>
                    <a:lstStyle/>
                    <a:p>
                      <a:r>
                        <a:rPr lang="en-US" sz="1300"/>
                        <a:t>3 2</a:t>
                      </a:r>
                    </a:p>
                  </a:txBody>
                  <a:tcPr/>
                </a:tc>
                <a:tc>
                  <a:txBody>
                    <a:bodyPr/>
                    <a:lstStyle/>
                    <a:p>
                      <a:r>
                        <a:rPr lang="en-US" sz="1300"/>
                        <a:t>1 0</a:t>
                      </a:r>
                    </a:p>
                  </a:txBody>
                  <a:tcPr/>
                </a:tc>
                <a:extLst>
                  <a:ext uri="{0D108BD9-81ED-4DB2-BD59-A6C34878D82A}">
                    <a16:rowId xmlns:a16="http://schemas.microsoft.com/office/drawing/2014/main" val="2319756336"/>
                  </a:ext>
                </a:extLst>
              </a:tr>
              <a:tr h="370840">
                <a:tc>
                  <a:txBody>
                    <a:bodyPr/>
                    <a:lstStyle/>
                    <a:p>
                      <a:pPr algn="ctr"/>
                      <a:r>
                        <a:rPr lang="en-US" sz="1300"/>
                        <a:t>Load Reg</a:t>
                      </a:r>
                    </a:p>
                  </a:txBody>
                  <a:tcPr/>
                </a:tc>
                <a:tc>
                  <a:txBody>
                    <a:bodyPr/>
                    <a:lstStyle/>
                    <a:p>
                      <a:pPr algn="ctr"/>
                      <a:r>
                        <a:rPr lang="en-US" sz="1300"/>
                        <a:t>OpCode</a:t>
                      </a:r>
                    </a:p>
                  </a:txBody>
                  <a:tcPr/>
                </a:tc>
                <a:tc>
                  <a:txBody>
                    <a:bodyPr/>
                    <a:lstStyle/>
                    <a:p>
                      <a:pPr algn="ctr"/>
                      <a:r>
                        <a:rPr lang="en-US" sz="1300"/>
                        <a:t>XX</a:t>
                      </a:r>
                    </a:p>
                  </a:txBody>
                  <a:tcPr/>
                </a:tc>
                <a:tc>
                  <a:txBody>
                    <a:bodyPr/>
                    <a:lstStyle/>
                    <a:p>
                      <a:pPr algn="ctr"/>
                      <a:r>
                        <a:rPr lang="en-US" sz="1300"/>
                        <a:t>Rd</a:t>
                      </a:r>
                    </a:p>
                  </a:txBody>
                  <a:tcPr/>
                </a:tc>
                <a:tc>
                  <a:txBody>
                    <a:bodyPr/>
                    <a:lstStyle/>
                    <a:p>
                      <a:pPr algn="ctr"/>
                      <a:r>
                        <a:rPr lang="en-US" sz="1300"/>
                        <a:t>XXXX</a:t>
                      </a:r>
                    </a:p>
                  </a:txBody>
                  <a:tcPr/>
                </a:tc>
                <a:tc>
                  <a:txBody>
                    <a:bodyPr/>
                    <a:lstStyle/>
                    <a:p>
                      <a:pPr algn="ctr"/>
                      <a:r>
                        <a:rPr lang="en-US" sz="1300"/>
                        <a:t>Rs1</a:t>
                      </a:r>
                    </a:p>
                  </a:txBody>
                  <a:tcPr/>
                </a:tc>
                <a:tc>
                  <a:txBody>
                    <a:bodyPr/>
                    <a:lstStyle/>
                    <a:p>
                      <a:pPr algn="ctr"/>
                      <a:r>
                        <a:rPr lang="en-US" sz="1300"/>
                        <a:t>XX</a:t>
                      </a:r>
                    </a:p>
                  </a:txBody>
                  <a:tcPr/>
                </a:tc>
                <a:extLst>
                  <a:ext uri="{0D108BD9-81ED-4DB2-BD59-A6C34878D82A}">
                    <a16:rowId xmlns:a16="http://schemas.microsoft.com/office/drawing/2014/main" val="2570910443"/>
                  </a:ext>
                </a:extLst>
              </a:tr>
            </a:tbl>
          </a:graphicData>
        </a:graphic>
      </p:graphicFrame>
      <p:graphicFrame>
        <p:nvGraphicFramePr>
          <p:cNvPr id="10" name="Table 4">
            <a:extLst>
              <a:ext uri="{FF2B5EF4-FFF2-40B4-BE49-F238E27FC236}">
                <a16:creationId xmlns:a16="http://schemas.microsoft.com/office/drawing/2014/main" id="{33C88461-5F9C-4D9D-9DAE-914D4CE0634F}"/>
              </a:ext>
            </a:extLst>
          </p:cNvPr>
          <p:cNvGraphicFramePr>
            <a:graphicFrameLocks noGrp="1"/>
          </p:cNvGraphicFramePr>
          <p:nvPr>
            <p:extLst>
              <p:ext uri="{D42A27DB-BD31-4B8C-83A1-F6EECF244321}">
                <p14:modId xmlns:p14="http://schemas.microsoft.com/office/powerpoint/2010/main" val="3420733446"/>
              </p:ext>
            </p:extLst>
          </p:nvPr>
        </p:nvGraphicFramePr>
        <p:xfrm>
          <a:off x="179753" y="5624993"/>
          <a:ext cx="9276863" cy="1010920"/>
        </p:xfrm>
        <a:graphic>
          <a:graphicData uri="http://schemas.openxmlformats.org/drawingml/2006/table">
            <a:tbl>
              <a:tblPr firstRow="1" bandRow="1">
                <a:tableStyleId>{5C22544A-7EE6-4342-B048-85BDC9FD1C3A}</a:tableStyleId>
              </a:tblPr>
              <a:tblGrid>
                <a:gridCol w="1071627">
                  <a:extLst>
                    <a:ext uri="{9D8B030D-6E8A-4147-A177-3AD203B41FA5}">
                      <a16:colId xmlns:a16="http://schemas.microsoft.com/office/drawing/2014/main" val="1810408170"/>
                    </a:ext>
                  </a:extLst>
                </a:gridCol>
                <a:gridCol w="804069">
                  <a:extLst>
                    <a:ext uri="{9D8B030D-6E8A-4147-A177-3AD203B41FA5}">
                      <a16:colId xmlns:a16="http://schemas.microsoft.com/office/drawing/2014/main" val="950391025"/>
                    </a:ext>
                  </a:extLst>
                </a:gridCol>
                <a:gridCol w="1055077">
                  <a:extLst>
                    <a:ext uri="{9D8B030D-6E8A-4147-A177-3AD203B41FA5}">
                      <a16:colId xmlns:a16="http://schemas.microsoft.com/office/drawing/2014/main" val="1217920130"/>
                    </a:ext>
                  </a:extLst>
                </a:gridCol>
                <a:gridCol w="2595403">
                  <a:extLst>
                    <a:ext uri="{9D8B030D-6E8A-4147-A177-3AD203B41FA5}">
                      <a16:colId xmlns:a16="http://schemas.microsoft.com/office/drawing/2014/main" val="1475888205"/>
                    </a:ext>
                  </a:extLst>
                </a:gridCol>
                <a:gridCol w="765213">
                  <a:extLst>
                    <a:ext uri="{9D8B030D-6E8A-4147-A177-3AD203B41FA5}">
                      <a16:colId xmlns:a16="http://schemas.microsoft.com/office/drawing/2014/main" val="1355185516"/>
                    </a:ext>
                  </a:extLst>
                </a:gridCol>
                <a:gridCol w="727329">
                  <a:extLst>
                    <a:ext uri="{9D8B030D-6E8A-4147-A177-3AD203B41FA5}">
                      <a16:colId xmlns:a16="http://schemas.microsoft.com/office/drawing/2014/main" val="2050007723"/>
                    </a:ext>
                  </a:extLst>
                </a:gridCol>
                <a:gridCol w="541431">
                  <a:extLst>
                    <a:ext uri="{9D8B030D-6E8A-4147-A177-3AD203B41FA5}">
                      <a16:colId xmlns:a16="http://schemas.microsoft.com/office/drawing/2014/main" val="2377888243"/>
                    </a:ext>
                  </a:extLst>
                </a:gridCol>
                <a:gridCol w="1716716">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 </a:t>
                      </a:r>
                    </a:p>
                  </a:txBody>
                  <a:tcPr/>
                </a:tc>
                <a:tc>
                  <a:txBody>
                    <a:bodyPr/>
                    <a:lstStyle/>
                    <a:p>
                      <a:pPr algn="ctr"/>
                      <a:r>
                        <a:rPr lang="en-US" sz="1300"/>
                        <a:t>4</a:t>
                      </a:r>
                    </a:p>
                  </a:txBody>
                  <a:tcPr/>
                </a:tc>
                <a:tc>
                  <a:txBody>
                    <a:bodyPr/>
                    <a:lstStyle/>
                    <a:p>
                      <a:pPr algn="ctr"/>
                      <a:r>
                        <a:rPr lang="en-US" sz="1300"/>
                        <a:t>3 2 1 0</a:t>
                      </a:r>
                    </a:p>
                  </a:txBody>
                  <a:tcPr/>
                </a:tc>
                <a:extLst>
                  <a:ext uri="{0D108BD9-81ED-4DB2-BD59-A6C34878D82A}">
                    <a16:rowId xmlns:a16="http://schemas.microsoft.com/office/drawing/2014/main" val="2319756336"/>
                  </a:ext>
                </a:extLst>
              </a:tr>
              <a:tr h="502920">
                <a:tc>
                  <a:txBody>
                    <a:bodyPr/>
                    <a:lstStyle/>
                    <a:p>
                      <a:pPr algn="ctr"/>
                      <a:r>
                        <a:rPr lang="en-US" sz="1300"/>
                        <a:t>Out</a:t>
                      </a:r>
                    </a:p>
                  </a:txBody>
                  <a:tcPr>
                    <a:solidFill>
                      <a:schemeClr val="accent6"/>
                    </a:solidFill>
                  </a:tcPr>
                </a:tc>
                <a:tc gridSpan="3">
                  <a:txBody>
                    <a:bodyPr/>
                    <a:lstStyle/>
                    <a:p>
                      <a:pPr algn="ctr"/>
                      <a:r>
                        <a:rPr lang="en-US" sz="1300"/>
                        <a:t>8-bit immediate</a:t>
                      </a:r>
                    </a:p>
                  </a:txBody>
                  <a:tcPr/>
                </a:tc>
                <a:tc hMerge="1">
                  <a:txBody>
                    <a:bodyPr/>
                    <a:lstStyle/>
                    <a:p>
                      <a:pPr algn="ctr"/>
                      <a:endParaRPr lang="en-US"/>
                    </a:p>
                  </a:txBody>
                  <a:tcPr/>
                </a:tc>
                <a:tc hMerge="1">
                  <a:txBody>
                    <a:bodyPr/>
                    <a:lstStyle/>
                    <a:p>
                      <a:pPr algn="ctr"/>
                      <a:r>
                        <a:rPr lang="en-US"/>
                        <a:t>XXXX</a:t>
                      </a:r>
                    </a:p>
                  </a:txBody>
                  <a:tcPr/>
                </a:tc>
                <a:tc>
                  <a:txBody>
                    <a:bodyPr/>
                    <a:lstStyle/>
                    <a:p>
                      <a:pPr algn="ctr"/>
                      <a:r>
                        <a:rPr lang="en-US" sz="1300"/>
                        <a:t>XX</a:t>
                      </a:r>
                    </a:p>
                  </a:txBody>
                  <a:tcPr/>
                </a:tc>
                <a:tc>
                  <a:txBody>
                    <a:bodyPr/>
                    <a:lstStyle/>
                    <a:p>
                      <a:pPr algn="ctr"/>
                      <a:r>
                        <a:rPr lang="en-US" sz="1300"/>
                        <a:t>I=1</a:t>
                      </a:r>
                    </a:p>
                    <a:p>
                      <a:pPr algn="ctr"/>
                      <a:r>
                        <a:rPr lang="en-US" sz="1300"/>
                        <a:t>A=0</a:t>
                      </a:r>
                    </a:p>
                  </a:txBody>
                  <a:tcPr/>
                </a:tc>
                <a:tc>
                  <a:txBody>
                    <a:bodyPr/>
                    <a:lstStyle/>
                    <a:p>
                      <a:pPr algn="ctr"/>
                      <a:r>
                        <a:rPr lang="en-US" sz="1300"/>
                        <a:t>X</a:t>
                      </a:r>
                    </a:p>
                  </a:txBody>
                  <a:tcPr/>
                </a:tc>
                <a:tc>
                  <a:txBody>
                    <a:bodyPr/>
                    <a:lstStyle/>
                    <a:p>
                      <a:pPr algn="ctr"/>
                      <a:r>
                        <a:rPr lang="en-US" sz="1300"/>
                        <a:t>OpCode</a:t>
                      </a:r>
                    </a:p>
                  </a:txBody>
                  <a:tcPr/>
                </a:tc>
                <a:extLst>
                  <a:ext uri="{0D108BD9-81ED-4DB2-BD59-A6C34878D82A}">
                    <a16:rowId xmlns:a16="http://schemas.microsoft.com/office/drawing/2014/main" val="2570910443"/>
                  </a:ext>
                </a:extLst>
              </a:tr>
            </a:tbl>
          </a:graphicData>
        </a:graphic>
      </p:graphicFrame>
      <p:sp>
        <p:nvSpPr>
          <p:cNvPr id="11" name="TextBox 10">
            <a:extLst>
              <a:ext uri="{FF2B5EF4-FFF2-40B4-BE49-F238E27FC236}">
                <a16:creationId xmlns:a16="http://schemas.microsoft.com/office/drawing/2014/main" id="{441B6E3F-C8F7-4A57-B4B7-8519519F6F28}"/>
              </a:ext>
            </a:extLst>
          </p:cNvPr>
          <p:cNvSpPr txBox="1"/>
          <p:nvPr/>
        </p:nvSpPr>
        <p:spPr>
          <a:xfrm>
            <a:off x="11100035" y="1"/>
            <a:ext cx="1091966" cy="1862048"/>
          </a:xfrm>
          <a:prstGeom prst="rect">
            <a:avLst/>
          </a:prstGeom>
          <a:noFill/>
        </p:spPr>
        <p:txBody>
          <a:bodyPr wrap="none" rtlCol="0">
            <a:spAutoFit/>
          </a:bodyPr>
          <a:lstStyle/>
          <a:p>
            <a:r>
              <a:rPr lang="en-US" sz="11500">
                <a:solidFill>
                  <a:schemeClr val="accent1">
                    <a:lumMod val="60000"/>
                    <a:lumOff val="40000"/>
                  </a:schemeClr>
                </a:solidFill>
              </a:rPr>
              <a:t>D</a:t>
            </a:r>
          </a:p>
        </p:txBody>
      </p:sp>
      <p:sp>
        <p:nvSpPr>
          <p:cNvPr id="12" name="TextBox 11">
            <a:extLst>
              <a:ext uri="{FF2B5EF4-FFF2-40B4-BE49-F238E27FC236}">
                <a16:creationId xmlns:a16="http://schemas.microsoft.com/office/drawing/2014/main" id="{320CF342-B9FD-D13A-D350-C97D9065E710}"/>
              </a:ext>
            </a:extLst>
          </p:cNvPr>
          <p:cNvSpPr txBox="1"/>
          <p:nvPr/>
        </p:nvSpPr>
        <p:spPr>
          <a:xfrm>
            <a:off x="6615405" y="4734113"/>
            <a:ext cx="2353529" cy="523220"/>
          </a:xfrm>
          <a:prstGeom prst="rect">
            <a:avLst/>
          </a:prstGeom>
          <a:noFill/>
        </p:spPr>
        <p:txBody>
          <a:bodyPr wrap="none" rtlCol="0">
            <a:spAutoFit/>
          </a:bodyPr>
          <a:lstStyle/>
          <a:p>
            <a:r>
              <a:rPr lang="en-US" sz="2800">
                <a:solidFill>
                  <a:srgbClr val="00B050"/>
                </a:solidFill>
                <a:latin typeface="Consolas" panose="020B0609020204030204" pitchFamily="49" charset="0"/>
              </a:rPr>
              <a:t> OUT Rs1, A</a:t>
            </a:r>
          </a:p>
        </p:txBody>
      </p:sp>
      <p:pic>
        <p:nvPicPr>
          <p:cNvPr id="2" name="Picture 1">
            <a:hlinkClick r:id="rId2" action="ppaction://hlinksldjump"/>
            <a:extLst>
              <a:ext uri="{FF2B5EF4-FFF2-40B4-BE49-F238E27FC236}">
                <a16:creationId xmlns:a16="http://schemas.microsoft.com/office/drawing/2014/main" id="{9C5D7454-98C0-7A25-89EA-FF1C8CAED828}"/>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7" name="Slide Number Placeholder 4">
            <a:extLst>
              <a:ext uri="{FF2B5EF4-FFF2-40B4-BE49-F238E27FC236}">
                <a16:creationId xmlns:a16="http://schemas.microsoft.com/office/drawing/2014/main" id="{0FCAF05E-4BFA-899E-6D79-950297BCE9BB}"/>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129</a:t>
            </a:fld>
            <a:endParaRPr lang="en-US" b="1">
              <a:solidFill>
                <a:schemeClr val="bg1"/>
              </a:solidFill>
            </a:endParaRPr>
          </a:p>
        </p:txBody>
      </p:sp>
      <p:graphicFrame>
        <p:nvGraphicFramePr>
          <p:cNvPr id="13" name="Table 4">
            <a:extLst>
              <a:ext uri="{FF2B5EF4-FFF2-40B4-BE49-F238E27FC236}">
                <a16:creationId xmlns:a16="http://schemas.microsoft.com/office/drawing/2014/main" id="{8892C097-18EA-199A-5957-566E57593F1F}"/>
              </a:ext>
            </a:extLst>
          </p:cNvPr>
          <p:cNvGraphicFramePr>
            <a:graphicFrameLocks noGrp="1"/>
          </p:cNvGraphicFramePr>
          <p:nvPr>
            <p:extLst>
              <p:ext uri="{D42A27DB-BD31-4B8C-83A1-F6EECF244321}">
                <p14:modId xmlns:p14="http://schemas.microsoft.com/office/powerpoint/2010/main" val="940534924"/>
              </p:ext>
            </p:extLst>
          </p:nvPr>
        </p:nvGraphicFramePr>
        <p:xfrm>
          <a:off x="193268" y="742463"/>
          <a:ext cx="4329725" cy="436342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
        <p:nvSpPr>
          <p:cNvPr id="14" name="Title 13">
            <a:extLst>
              <a:ext uri="{FF2B5EF4-FFF2-40B4-BE49-F238E27FC236}">
                <a16:creationId xmlns:a16="http://schemas.microsoft.com/office/drawing/2014/main" id="{7B4254FB-0E45-7326-F358-BFB24EB1FDF8}"/>
              </a:ext>
            </a:extLst>
          </p:cNvPr>
          <p:cNvSpPr>
            <a:spLocks noGrp="1"/>
          </p:cNvSpPr>
          <p:nvPr>
            <p:ph type="ctrTitle"/>
          </p:nvPr>
        </p:nvSpPr>
        <p:spPr>
          <a:xfrm>
            <a:off x="914400" y="182880"/>
            <a:ext cx="9144000" cy="457200"/>
          </a:xfrm>
        </p:spPr>
        <p:txBody>
          <a:bodyPr/>
          <a:lstStyle/>
          <a:p>
            <a:r>
              <a:rPr lang="en-US"/>
              <a:t>Micro-Instructions Control: OUT immediate (01101)</a:t>
            </a:r>
          </a:p>
        </p:txBody>
      </p:sp>
      <p:graphicFrame>
        <p:nvGraphicFramePr>
          <p:cNvPr id="3" name="Table 4">
            <a:extLst>
              <a:ext uri="{FF2B5EF4-FFF2-40B4-BE49-F238E27FC236}">
                <a16:creationId xmlns:a16="http://schemas.microsoft.com/office/drawing/2014/main" id="{66F86473-6CDF-7258-CF32-F21E70073169}"/>
              </a:ext>
            </a:extLst>
          </p:cNvPr>
          <p:cNvGraphicFramePr>
            <a:graphicFrameLocks noGrp="1"/>
          </p:cNvGraphicFramePr>
          <p:nvPr>
            <p:extLst>
              <p:ext uri="{D42A27DB-BD31-4B8C-83A1-F6EECF244321}">
                <p14:modId xmlns:p14="http://schemas.microsoft.com/office/powerpoint/2010/main" val="1064639153"/>
              </p:ext>
            </p:extLst>
          </p:nvPr>
        </p:nvGraphicFramePr>
        <p:xfrm>
          <a:off x="193267" y="5639364"/>
          <a:ext cx="9263347" cy="1010920"/>
        </p:xfrm>
        <a:graphic>
          <a:graphicData uri="http://schemas.openxmlformats.org/drawingml/2006/table">
            <a:tbl>
              <a:tblPr firstRow="1" bandRow="1">
                <a:tableStyleId>{5C22544A-7EE6-4342-B048-85BDC9FD1C3A}</a:tableStyleId>
              </a:tblPr>
              <a:tblGrid>
                <a:gridCol w="1069663">
                  <a:extLst>
                    <a:ext uri="{9D8B030D-6E8A-4147-A177-3AD203B41FA5}">
                      <a16:colId xmlns:a16="http://schemas.microsoft.com/office/drawing/2014/main" val="1810408170"/>
                    </a:ext>
                  </a:extLst>
                </a:gridCol>
                <a:gridCol w="802596">
                  <a:extLst>
                    <a:ext uri="{9D8B030D-6E8A-4147-A177-3AD203B41FA5}">
                      <a16:colId xmlns:a16="http://schemas.microsoft.com/office/drawing/2014/main" val="950391025"/>
                    </a:ext>
                  </a:extLst>
                </a:gridCol>
                <a:gridCol w="1053145">
                  <a:extLst>
                    <a:ext uri="{9D8B030D-6E8A-4147-A177-3AD203B41FA5}">
                      <a16:colId xmlns:a16="http://schemas.microsoft.com/office/drawing/2014/main" val="1217920130"/>
                    </a:ext>
                  </a:extLst>
                </a:gridCol>
                <a:gridCol w="2590649">
                  <a:extLst>
                    <a:ext uri="{9D8B030D-6E8A-4147-A177-3AD203B41FA5}">
                      <a16:colId xmlns:a16="http://schemas.microsoft.com/office/drawing/2014/main" val="1475888205"/>
                    </a:ext>
                  </a:extLst>
                </a:gridCol>
                <a:gridCol w="763812">
                  <a:extLst>
                    <a:ext uri="{9D8B030D-6E8A-4147-A177-3AD203B41FA5}">
                      <a16:colId xmlns:a16="http://schemas.microsoft.com/office/drawing/2014/main" val="1355185516"/>
                    </a:ext>
                  </a:extLst>
                </a:gridCol>
                <a:gridCol w="725997">
                  <a:extLst>
                    <a:ext uri="{9D8B030D-6E8A-4147-A177-3AD203B41FA5}">
                      <a16:colId xmlns:a16="http://schemas.microsoft.com/office/drawing/2014/main" val="2050007723"/>
                    </a:ext>
                  </a:extLst>
                </a:gridCol>
                <a:gridCol w="2257484">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 </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502920">
                <a:tc>
                  <a:txBody>
                    <a:bodyPr/>
                    <a:lstStyle/>
                    <a:p>
                      <a:pPr algn="ctr"/>
                      <a:r>
                        <a:rPr lang="en-US" sz="1300"/>
                        <a:t>Out</a:t>
                      </a:r>
                    </a:p>
                  </a:txBody>
                  <a:tcPr>
                    <a:solidFill>
                      <a:schemeClr val="accent6"/>
                    </a:solidFill>
                  </a:tcPr>
                </a:tc>
                <a:tc gridSpan="3">
                  <a:txBody>
                    <a:bodyPr/>
                    <a:lstStyle/>
                    <a:p>
                      <a:pPr algn="ctr"/>
                      <a:r>
                        <a:rPr lang="en-US" sz="1300"/>
                        <a:t>8-bit immediate</a:t>
                      </a:r>
                    </a:p>
                  </a:txBody>
                  <a:tcPr/>
                </a:tc>
                <a:tc hMerge="1">
                  <a:txBody>
                    <a:bodyPr/>
                    <a:lstStyle/>
                    <a:p>
                      <a:pPr algn="ctr"/>
                      <a:endParaRPr lang="en-US"/>
                    </a:p>
                  </a:txBody>
                  <a:tcPr/>
                </a:tc>
                <a:tc hMerge="1">
                  <a:txBody>
                    <a:bodyPr/>
                    <a:lstStyle/>
                    <a:p>
                      <a:pPr algn="ctr"/>
                      <a:r>
                        <a:rPr lang="en-US"/>
                        <a:t>XXXX</a:t>
                      </a:r>
                    </a:p>
                  </a:txBody>
                  <a:tcPr/>
                </a:tc>
                <a:tc>
                  <a:txBody>
                    <a:bodyPr/>
                    <a:lstStyle/>
                    <a:p>
                      <a:pPr algn="ctr"/>
                      <a:r>
                        <a:rPr lang="en-US" sz="1300"/>
                        <a:t>XX</a:t>
                      </a:r>
                    </a:p>
                  </a:txBody>
                  <a:tcPr/>
                </a:tc>
                <a:tc>
                  <a:txBody>
                    <a:bodyPr/>
                    <a:lstStyle/>
                    <a:p>
                      <a:pPr algn="ctr"/>
                      <a:r>
                        <a:rPr lang="en-US" sz="1300"/>
                        <a:t>I=1</a:t>
                      </a:r>
                    </a:p>
                    <a:p>
                      <a:pPr algn="ctr"/>
                      <a:r>
                        <a:rPr lang="en-US" sz="1300"/>
                        <a:t>A=0</a:t>
                      </a:r>
                    </a:p>
                  </a:txBody>
                  <a:tcPr/>
                </a:tc>
                <a:tc>
                  <a:txBody>
                    <a:bodyPr/>
                    <a:lstStyle/>
                    <a:p>
                      <a:pPr algn="ctr"/>
                      <a:r>
                        <a:rPr lang="en-US" sz="1300"/>
                        <a:t>OpCode</a:t>
                      </a:r>
                    </a:p>
                  </a:txBody>
                  <a:tcPr/>
                </a:tc>
                <a:extLst>
                  <a:ext uri="{0D108BD9-81ED-4DB2-BD59-A6C34878D82A}">
                    <a16:rowId xmlns:a16="http://schemas.microsoft.com/office/drawing/2014/main" val="2570910443"/>
                  </a:ext>
                </a:extLst>
              </a:tr>
            </a:tbl>
          </a:graphicData>
        </a:graphic>
      </p:graphicFrame>
    </p:spTree>
    <p:extLst>
      <p:ext uri="{BB962C8B-B14F-4D97-AF65-F5344CB8AC3E}">
        <p14:creationId xmlns:p14="http://schemas.microsoft.com/office/powerpoint/2010/main" val="3950644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hlinkClick r:id="rId2" action="ppaction://hlinksldjump"/>
            <a:extLst>
              <a:ext uri="{FF2B5EF4-FFF2-40B4-BE49-F238E27FC236}">
                <a16:creationId xmlns:a16="http://schemas.microsoft.com/office/drawing/2014/main" id="{632E04A8-F98F-55ED-0D39-66F317FCCAA3}"/>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3" name="Title 12">
            <a:extLst>
              <a:ext uri="{FF2B5EF4-FFF2-40B4-BE49-F238E27FC236}">
                <a16:creationId xmlns:a16="http://schemas.microsoft.com/office/drawing/2014/main" id="{24E40CC5-42D7-BAA1-B890-1FCDA857DA7C}"/>
              </a:ext>
            </a:extLst>
          </p:cNvPr>
          <p:cNvSpPr>
            <a:spLocks noGrp="1"/>
          </p:cNvSpPr>
          <p:nvPr>
            <p:ph type="ctrTitle"/>
          </p:nvPr>
        </p:nvSpPr>
        <p:spPr>
          <a:xfrm>
            <a:off x="914400" y="182880"/>
            <a:ext cx="9144000" cy="457200"/>
          </a:xfrm>
        </p:spPr>
        <p:txBody>
          <a:bodyPr/>
          <a:lstStyle/>
          <a:p>
            <a:r>
              <a:rPr lang="en-US"/>
              <a:t>Micro-Instructions Control: PUSH (01110)</a:t>
            </a:r>
          </a:p>
        </p:txBody>
      </p:sp>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extLst>
              <p:ext uri="{D42A27DB-BD31-4B8C-83A1-F6EECF244321}">
                <p14:modId xmlns:p14="http://schemas.microsoft.com/office/powerpoint/2010/main" val="2346616003"/>
              </p:ext>
            </p:extLst>
          </p:nvPr>
        </p:nvGraphicFramePr>
        <p:xfrm>
          <a:off x="4716583" y="742463"/>
          <a:ext cx="6292440" cy="3718560"/>
        </p:xfrm>
        <a:graphic>
          <a:graphicData uri="http://schemas.openxmlformats.org/drawingml/2006/table">
            <a:tbl>
              <a:tblPr firstRow="1" bandRow="1">
                <a:tableStyleId>{5C22544A-7EE6-4342-B048-85BDC9FD1C3A}</a:tableStyleId>
              </a:tblPr>
              <a:tblGrid>
                <a:gridCol w="815277">
                  <a:extLst>
                    <a:ext uri="{9D8B030D-6E8A-4147-A177-3AD203B41FA5}">
                      <a16:colId xmlns:a16="http://schemas.microsoft.com/office/drawing/2014/main" val="1217920130"/>
                    </a:ext>
                  </a:extLst>
                </a:gridCol>
                <a:gridCol w="2521527">
                  <a:extLst>
                    <a:ext uri="{9D8B030D-6E8A-4147-A177-3AD203B41FA5}">
                      <a16:colId xmlns:a16="http://schemas.microsoft.com/office/drawing/2014/main" val="1475888205"/>
                    </a:ext>
                  </a:extLst>
                </a:gridCol>
                <a:gridCol w="2955636">
                  <a:extLst>
                    <a:ext uri="{9D8B030D-6E8A-4147-A177-3AD203B41FA5}">
                      <a16:colId xmlns:a16="http://schemas.microsoft.com/office/drawing/2014/main" val="2801792198"/>
                    </a:ext>
                  </a:extLst>
                </a:gridCol>
              </a:tblGrid>
              <a:tr h="335280">
                <a:tc>
                  <a:txBody>
                    <a:bodyPr/>
                    <a:lstStyle/>
                    <a:p>
                      <a:r>
                        <a:rPr lang="en-US" sz="1600"/>
                        <a:t>Cycle #</a:t>
                      </a:r>
                    </a:p>
                  </a:txBody>
                  <a:tcPr/>
                </a:tc>
                <a:tc>
                  <a:txBody>
                    <a:bodyPr/>
                    <a:lstStyle/>
                    <a:p>
                      <a:r>
                        <a:rPr lang="en-US" sz="1600"/>
                        <a:t>Instruction</a:t>
                      </a:r>
                    </a:p>
                  </a:txBody>
                  <a:tcPr/>
                </a:tc>
                <a:tc>
                  <a:txBody>
                    <a:bodyPr/>
                    <a:lstStyle/>
                    <a:p>
                      <a:r>
                        <a:rPr lang="en-US" sz="1600"/>
                        <a:t>Explanation</a:t>
                      </a:r>
                    </a:p>
                  </a:txBody>
                  <a:tcPr/>
                </a:tc>
                <a:extLst>
                  <a:ext uri="{0D108BD9-81ED-4DB2-BD59-A6C34878D82A}">
                    <a16:rowId xmlns:a16="http://schemas.microsoft.com/office/drawing/2014/main" val="2319756336"/>
                  </a:ext>
                </a:extLst>
              </a:tr>
              <a:tr h="579120">
                <a:tc>
                  <a:txBody>
                    <a:bodyPr/>
                    <a:lstStyle/>
                    <a:p>
                      <a:pPr algn="ctr"/>
                      <a:r>
                        <a:rPr lang="en-US" sz="1600"/>
                        <a:t>0</a:t>
                      </a:r>
                    </a:p>
                  </a:txBody>
                  <a:tcPr/>
                </a:tc>
                <a:tc>
                  <a:txBody>
                    <a:bodyPr/>
                    <a:lstStyle/>
                    <a:p>
                      <a:pPr algn="l"/>
                      <a:r>
                        <a:rPr lang="en-US" sz="1600"/>
                        <a:t>0_0100_1000_0001_0000 = 0x04810</a:t>
                      </a:r>
                    </a:p>
                  </a:txBody>
                  <a:tcPr/>
                </a:tc>
                <a:tc>
                  <a:txBody>
                    <a:bodyPr/>
                    <a:lstStyle/>
                    <a:p>
                      <a:pPr algn="l"/>
                      <a:r>
                        <a:rPr lang="en-US" sz="1600"/>
                        <a:t>Store Rs1 in the stack</a:t>
                      </a:r>
                    </a:p>
                  </a:txBody>
                  <a:tcPr/>
                </a:tc>
                <a:extLst>
                  <a:ext uri="{0D108BD9-81ED-4DB2-BD59-A6C34878D82A}">
                    <a16:rowId xmlns:a16="http://schemas.microsoft.com/office/drawing/2014/main" val="2570910443"/>
                  </a:ext>
                </a:extLst>
              </a:tr>
              <a:tr h="579120">
                <a:tc>
                  <a:txBody>
                    <a:bodyPr/>
                    <a:lstStyle/>
                    <a:p>
                      <a:pPr algn="ctr"/>
                      <a:r>
                        <a:rPr lang="en-US" sz="16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1_1000_0000_1000_0000 = 0x18080</a:t>
                      </a:r>
                    </a:p>
                  </a:txBody>
                  <a:tcPr/>
                </a:tc>
                <a:tc>
                  <a:txBody>
                    <a:bodyPr/>
                    <a:lstStyle/>
                    <a:p>
                      <a:pPr algn="l"/>
                      <a:r>
                        <a:rPr lang="en-US" sz="1600"/>
                        <a:t>Increment stack pointer (and increment PC)</a:t>
                      </a:r>
                    </a:p>
                  </a:txBody>
                  <a:tcPr/>
                </a:tc>
                <a:extLst>
                  <a:ext uri="{0D108BD9-81ED-4DB2-BD59-A6C34878D82A}">
                    <a16:rowId xmlns:a16="http://schemas.microsoft.com/office/drawing/2014/main" val="631651838"/>
                  </a:ext>
                </a:extLst>
              </a:tr>
              <a:tr h="370840">
                <a:tc>
                  <a:txBody>
                    <a:bodyPr/>
                    <a:lstStyle/>
                    <a:p>
                      <a:pPr algn="ctr"/>
                      <a:r>
                        <a:rPr lang="en-US" sz="16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a:p>
                  </a:txBody>
                  <a:tcPr/>
                </a:tc>
                <a:tc>
                  <a:txBody>
                    <a:bodyPr/>
                    <a:lstStyle/>
                    <a:p>
                      <a:pPr algn="l"/>
                      <a:endParaRPr lang="en-US" sz="1600"/>
                    </a:p>
                  </a:txBody>
                  <a:tcPr/>
                </a:tc>
                <a:extLst>
                  <a:ext uri="{0D108BD9-81ED-4DB2-BD59-A6C34878D82A}">
                    <a16:rowId xmlns:a16="http://schemas.microsoft.com/office/drawing/2014/main" val="1592812184"/>
                  </a:ext>
                </a:extLst>
              </a:tr>
              <a:tr h="370840">
                <a:tc>
                  <a:txBody>
                    <a:bodyPr/>
                    <a:lstStyle/>
                    <a:p>
                      <a:pPr algn="ctr"/>
                      <a:r>
                        <a:rPr lang="en-US" sz="1600"/>
                        <a:t>3</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2225793510"/>
                  </a:ext>
                </a:extLst>
              </a:tr>
              <a:tr h="370840">
                <a:tc>
                  <a:txBody>
                    <a:bodyPr/>
                    <a:lstStyle/>
                    <a:p>
                      <a:pPr algn="ctr"/>
                      <a:r>
                        <a:rPr lang="en-US" sz="1600"/>
                        <a:t>4</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1046366285"/>
                  </a:ext>
                </a:extLst>
              </a:tr>
              <a:tr h="370840">
                <a:tc>
                  <a:txBody>
                    <a:bodyPr/>
                    <a:lstStyle/>
                    <a:p>
                      <a:pPr algn="ctr"/>
                      <a:r>
                        <a:rPr lang="en-US" sz="1600"/>
                        <a:t>5</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2615342211"/>
                  </a:ext>
                </a:extLst>
              </a:tr>
              <a:tr h="370840">
                <a:tc>
                  <a:txBody>
                    <a:bodyPr/>
                    <a:lstStyle/>
                    <a:p>
                      <a:pPr algn="ctr"/>
                      <a:r>
                        <a:rPr lang="en-US" sz="1600"/>
                        <a:t>6</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2055856817"/>
                  </a:ext>
                </a:extLst>
              </a:tr>
              <a:tr h="370840">
                <a:tc>
                  <a:txBody>
                    <a:bodyPr/>
                    <a:lstStyle/>
                    <a:p>
                      <a:pPr algn="ctr"/>
                      <a:r>
                        <a:rPr lang="en-US" sz="1600"/>
                        <a:t>7</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3502991894"/>
                  </a:ext>
                </a:extLst>
              </a:tr>
            </a:tbl>
          </a:graphicData>
        </a:graphic>
      </p:graphicFrame>
      <p:sp>
        <p:nvSpPr>
          <p:cNvPr id="11" name="TextBox 10">
            <a:extLst>
              <a:ext uri="{FF2B5EF4-FFF2-40B4-BE49-F238E27FC236}">
                <a16:creationId xmlns:a16="http://schemas.microsoft.com/office/drawing/2014/main" id="{F18A3303-6AE1-4192-B847-C968E4DE1C58}"/>
              </a:ext>
            </a:extLst>
          </p:cNvPr>
          <p:cNvSpPr txBox="1"/>
          <p:nvPr/>
        </p:nvSpPr>
        <p:spPr>
          <a:xfrm>
            <a:off x="11305310" y="1"/>
            <a:ext cx="904415" cy="1862048"/>
          </a:xfrm>
          <a:prstGeom prst="rect">
            <a:avLst/>
          </a:prstGeom>
          <a:noFill/>
        </p:spPr>
        <p:txBody>
          <a:bodyPr wrap="none" rtlCol="0">
            <a:spAutoFit/>
          </a:bodyPr>
          <a:lstStyle/>
          <a:p>
            <a:r>
              <a:rPr lang="en-US" sz="11500">
                <a:solidFill>
                  <a:schemeClr val="accent1">
                    <a:lumMod val="60000"/>
                    <a:lumOff val="40000"/>
                  </a:schemeClr>
                </a:solidFill>
              </a:rPr>
              <a:t>E</a:t>
            </a:r>
          </a:p>
        </p:txBody>
      </p:sp>
      <p:graphicFrame>
        <p:nvGraphicFramePr>
          <p:cNvPr id="12" name="Table 4">
            <a:extLst>
              <a:ext uri="{FF2B5EF4-FFF2-40B4-BE49-F238E27FC236}">
                <a16:creationId xmlns:a16="http://schemas.microsoft.com/office/drawing/2014/main" id="{31A55406-8888-4A18-89FC-AB289657FAE4}"/>
              </a:ext>
            </a:extLst>
          </p:cNvPr>
          <p:cNvGraphicFramePr>
            <a:graphicFrameLocks noGrp="1"/>
          </p:cNvGraphicFramePr>
          <p:nvPr>
            <p:extLst>
              <p:ext uri="{D42A27DB-BD31-4B8C-83A1-F6EECF244321}">
                <p14:modId xmlns:p14="http://schemas.microsoft.com/office/powerpoint/2010/main" val="423890805"/>
              </p:ext>
            </p:extLst>
          </p:nvPr>
        </p:nvGraphicFramePr>
        <p:xfrm>
          <a:off x="179752" y="5624993"/>
          <a:ext cx="10173616" cy="736600"/>
        </p:xfrm>
        <a:graphic>
          <a:graphicData uri="http://schemas.openxmlformats.org/drawingml/2006/table">
            <a:tbl>
              <a:tblPr firstRow="1" bandRow="1">
                <a:tableStyleId>{5C22544A-7EE6-4342-B048-85BDC9FD1C3A}</a:tableStyleId>
              </a:tblPr>
              <a:tblGrid>
                <a:gridCol w="1079707">
                  <a:extLst>
                    <a:ext uri="{9D8B030D-6E8A-4147-A177-3AD203B41FA5}">
                      <a16:colId xmlns:a16="http://schemas.microsoft.com/office/drawing/2014/main" val="1810408170"/>
                    </a:ext>
                  </a:extLst>
                </a:gridCol>
                <a:gridCol w="920323">
                  <a:extLst>
                    <a:ext uri="{9D8B030D-6E8A-4147-A177-3AD203B41FA5}">
                      <a16:colId xmlns:a16="http://schemas.microsoft.com/office/drawing/2014/main" val="950391025"/>
                    </a:ext>
                  </a:extLst>
                </a:gridCol>
                <a:gridCol w="932873">
                  <a:extLst>
                    <a:ext uri="{9D8B030D-6E8A-4147-A177-3AD203B41FA5}">
                      <a16:colId xmlns:a16="http://schemas.microsoft.com/office/drawing/2014/main" val="831694502"/>
                    </a:ext>
                  </a:extLst>
                </a:gridCol>
                <a:gridCol w="2634940">
                  <a:extLst>
                    <a:ext uri="{9D8B030D-6E8A-4147-A177-3AD203B41FA5}">
                      <a16:colId xmlns:a16="http://schemas.microsoft.com/office/drawing/2014/main" val="3449330376"/>
                    </a:ext>
                  </a:extLst>
                </a:gridCol>
                <a:gridCol w="770983">
                  <a:extLst>
                    <a:ext uri="{9D8B030D-6E8A-4147-A177-3AD203B41FA5}">
                      <a16:colId xmlns:a16="http://schemas.microsoft.com/office/drawing/2014/main" val="1355185516"/>
                    </a:ext>
                  </a:extLst>
                </a:gridCol>
                <a:gridCol w="1653608">
                  <a:extLst>
                    <a:ext uri="{9D8B030D-6E8A-4147-A177-3AD203B41FA5}">
                      <a16:colId xmlns:a16="http://schemas.microsoft.com/office/drawing/2014/main" val="2050007723"/>
                    </a:ext>
                  </a:extLst>
                </a:gridCol>
                <a:gridCol w="2181183">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a:t>
                      </a:r>
                    </a:p>
                  </a:txBody>
                  <a:tcPr/>
                </a:tc>
                <a:tc>
                  <a:txBody>
                    <a:bodyPr/>
                    <a:lstStyle/>
                    <a:p>
                      <a:pPr algn="ctr"/>
                      <a:r>
                        <a:rPr lang="en-US" sz="1300"/>
                        <a:t>4 3 2 1 0</a:t>
                      </a:r>
                    </a:p>
                  </a:txBody>
                  <a:tcPr/>
                </a:tc>
                <a:extLst>
                  <a:ext uri="{0D108BD9-81ED-4DB2-BD59-A6C34878D82A}">
                    <a16:rowId xmlns:a16="http://schemas.microsoft.com/office/drawing/2014/main" val="2319756336"/>
                  </a:ext>
                </a:extLst>
              </a:tr>
              <a:tr h="297180">
                <a:tc>
                  <a:txBody>
                    <a:bodyPr/>
                    <a:lstStyle/>
                    <a:p>
                      <a:pPr algn="ctr"/>
                      <a:r>
                        <a:rPr lang="en-US" sz="1300"/>
                        <a:t>Load Reg</a:t>
                      </a:r>
                    </a:p>
                  </a:txBody>
                  <a:tcPr>
                    <a:solidFill>
                      <a:schemeClr val="accent6"/>
                    </a:solidFill>
                  </a:tcPr>
                </a:tc>
                <a:tc>
                  <a:txBody>
                    <a:bodyPr/>
                    <a:lstStyle/>
                    <a:p>
                      <a:pPr algn="ctr"/>
                      <a:r>
                        <a:rPr lang="en-US" sz="1300"/>
                        <a:t>XX</a:t>
                      </a:r>
                    </a:p>
                  </a:txBody>
                  <a:tcPr/>
                </a:tc>
                <a:tc>
                  <a:txBody>
                    <a:bodyPr/>
                    <a:lstStyle/>
                    <a:p>
                      <a:pPr algn="ctr"/>
                      <a:r>
                        <a:rPr lang="en-US" sz="1300"/>
                        <a:t>Rs1</a:t>
                      </a:r>
                    </a:p>
                  </a:txBody>
                  <a:tcPr/>
                </a:tc>
                <a:tc>
                  <a:txBody>
                    <a:bodyPr/>
                    <a:lstStyle/>
                    <a:p>
                      <a:pPr algn="ctr"/>
                      <a:r>
                        <a:rPr lang="en-US" sz="1300"/>
                        <a:t>XXXX</a:t>
                      </a:r>
                    </a:p>
                  </a:txBody>
                  <a:tcPr/>
                </a:tc>
                <a:tc>
                  <a:txBody>
                    <a:bodyPr/>
                    <a:lstStyle/>
                    <a:p>
                      <a:pPr algn="ctr"/>
                      <a:r>
                        <a:rPr lang="en-US" sz="1300"/>
                        <a:t>XX</a:t>
                      </a:r>
                    </a:p>
                  </a:txBody>
                  <a:tcPr/>
                </a:tc>
                <a:tc>
                  <a:txBody>
                    <a:bodyPr/>
                    <a:lstStyle/>
                    <a:p>
                      <a:pPr algn="ctr"/>
                      <a:r>
                        <a:rPr lang="en-US" sz="1300"/>
                        <a:t>X</a:t>
                      </a:r>
                    </a:p>
                  </a:txBody>
                  <a:tcPr/>
                </a:tc>
                <a:tc>
                  <a:txBody>
                    <a:bodyPr/>
                    <a:lstStyle/>
                    <a:p>
                      <a:pPr algn="ctr"/>
                      <a:r>
                        <a:rPr lang="en-US" sz="1300"/>
                        <a:t>OpCode</a:t>
                      </a:r>
                    </a:p>
                  </a:txBody>
                  <a:tcPr/>
                </a:tc>
                <a:extLst>
                  <a:ext uri="{0D108BD9-81ED-4DB2-BD59-A6C34878D82A}">
                    <a16:rowId xmlns:a16="http://schemas.microsoft.com/office/drawing/2014/main" val="2570910443"/>
                  </a:ext>
                </a:extLst>
              </a:tr>
            </a:tbl>
          </a:graphicData>
        </a:graphic>
      </p:graphicFrame>
      <p:sp>
        <p:nvSpPr>
          <p:cNvPr id="10" name="TextBox 9">
            <a:extLst>
              <a:ext uri="{FF2B5EF4-FFF2-40B4-BE49-F238E27FC236}">
                <a16:creationId xmlns:a16="http://schemas.microsoft.com/office/drawing/2014/main" id="{EB1AADA8-3F5D-1E95-C0F5-9407CE2D0472}"/>
              </a:ext>
            </a:extLst>
          </p:cNvPr>
          <p:cNvSpPr txBox="1"/>
          <p:nvPr/>
        </p:nvSpPr>
        <p:spPr>
          <a:xfrm>
            <a:off x="6615405" y="4734113"/>
            <a:ext cx="1959191" cy="523220"/>
          </a:xfrm>
          <a:prstGeom prst="rect">
            <a:avLst/>
          </a:prstGeom>
          <a:noFill/>
        </p:spPr>
        <p:txBody>
          <a:bodyPr wrap="none" rtlCol="0">
            <a:spAutoFit/>
          </a:bodyPr>
          <a:lstStyle/>
          <a:p>
            <a:r>
              <a:rPr lang="en-US" sz="2800">
                <a:solidFill>
                  <a:srgbClr val="00B050"/>
                </a:solidFill>
                <a:latin typeface="Consolas" panose="020B0609020204030204" pitchFamily="49" charset="0"/>
              </a:rPr>
              <a:t> PUSH Rs1</a:t>
            </a:r>
          </a:p>
        </p:txBody>
      </p:sp>
      <p:sp>
        <p:nvSpPr>
          <p:cNvPr id="7" name="Slide Number Placeholder 4">
            <a:extLst>
              <a:ext uri="{FF2B5EF4-FFF2-40B4-BE49-F238E27FC236}">
                <a16:creationId xmlns:a16="http://schemas.microsoft.com/office/drawing/2014/main" id="{4DD774CA-9AAD-056F-768D-427388A49C3C}"/>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130</a:t>
            </a:fld>
            <a:endParaRPr lang="en-US" b="1">
              <a:solidFill>
                <a:schemeClr val="bg1"/>
              </a:solidFill>
            </a:endParaRPr>
          </a:p>
        </p:txBody>
      </p:sp>
      <p:graphicFrame>
        <p:nvGraphicFramePr>
          <p:cNvPr id="9" name="Table 4">
            <a:extLst>
              <a:ext uri="{FF2B5EF4-FFF2-40B4-BE49-F238E27FC236}">
                <a16:creationId xmlns:a16="http://schemas.microsoft.com/office/drawing/2014/main" id="{396D2A77-FD16-1755-E673-4C890FC4BB5D}"/>
              </a:ext>
            </a:extLst>
          </p:cNvPr>
          <p:cNvGraphicFramePr>
            <a:graphicFrameLocks noGrp="1"/>
          </p:cNvGraphicFramePr>
          <p:nvPr>
            <p:extLst>
              <p:ext uri="{D42A27DB-BD31-4B8C-83A1-F6EECF244321}">
                <p14:modId xmlns:p14="http://schemas.microsoft.com/office/powerpoint/2010/main" val="940534924"/>
              </p:ext>
            </p:extLst>
          </p:nvPr>
        </p:nvGraphicFramePr>
        <p:xfrm>
          <a:off x="193268" y="742463"/>
          <a:ext cx="4329725" cy="436342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Tree>
    <p:extLst>
      <p:ext uri="{BB962C8B-B14F-4D97-AF65-F5344CB8AC3E}">
        <p14:creationId xmlns:p14="http://schemas.microsoft.com/office/powerpoint/2010/main" val="2352247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extLst>
              <p:ext uri="{D42A27DB-BD31-4B8C-83A1-F6EECF244321}">
                <p14:modId xmlns:p14="http://schemas.microsoft.com/office/powerpoint/2010/main" val="2991929092"/>
              </p:ext>
            </p:extLst>
          </p:nvPr>
        </p:nvGraphicFramePr>
        <p:xfrm>
          <a:off x="4716583" y="742463"/>
          <a:ext cx="6292440" cy="4135120"/>
        </p:xfrm>
        <a:graphic>
          <a:graphicData uri="http://schemas.openxmlformats.org/drawingml/2006/table">
            <a:tbl>
              <a:tblPr firstRow="1" bandRow="1">
                <a:tableStyleId>{5C22544A-7EE6-4342-B048-85BDC9FD1C3A}</a:tableStyleId>
              </a:tblPr>
              <a:tblGrid>
                <a:gridCol w="815277">
                  <a:extLst>
                    <a:ext uri="{9D8B030D-6E8A-4147-A177-3AD203B41FA5}">
                      <a16:colId xmlns:a16="http://schemas.microsoft.com/office/drawing/2014/main" val="1217920130"/>
                    </a:ext>
                  </a:extLst>
                </a:gridCol>
                <a:gridCol w="2521527">
                  <a:extLst>
                    <a:ext uri="{9D8B030D-6E8A-4147-A177-3AD203B41FA5}">
                      <a16:colId xmlns:a16="http://schemas.microsoft.com/office/drawing/2014/main" val="1475888205"/>
                    </a:ext>
                  </a:extLst>
                </a:gridCol>
                <a:gridCol w="2955636">
                  <a:extLst>
                    <a:ext uri="{9D8B030D-6E8A-4147-A177-3AD203B41FA5}">
                      <a16:colId xmlns:a16="http://schemas.microsoft.com/office/drawing/2014/main" val="2801792198"/>
                    </a:ext>
                  </a:extLst>
                </a:gridCol>
              </a:tblGrid>
              <a:tr h="335280">
                <a:tc>
                  <a:txBody>
                    <a:bodyPr/>
                    <a:lstStyle/>
                    <a:p>
                      <a:r>
                        <a:rPr lang="en-US" sz="1600"/>
                        <a:t>Cycle #</a:t>
                      </a:r>
                    </a:p>
                  </a:txBody>
                  <a:tcPr/>
                </a:tc>
                <a:tc>
                  <a:txBody>
                    <a:bodyPr/>
                    <a:lstStyle/>
                    <a:p>
                      <a:r>
                        <a:rPr lang="en-US" sz="1600"/>
                        <a:t>Instruction</a:t>
                      </a:r>
                    </a:p>
                  </a:txBody>
                  <a:tcPr/>
                </a:tc>
                <a:tc>
                  <a:txBody>
                    <a:bodyPr/>
                    <a:lstStyle/>
                    <a:p>
                      <a:r>
                        <a:rPr lang="en-US" sz="1600"/>
                        <a:t>Explanation</a:t>
                      </a:r>
                    </a:p>
                  </a:txBody>
                  <a:tcPr/>
                </a:tc>
                <a:extLst>
                  <a:ext uri="{0D108BD9-81ED-4DB2-BD59-A6C34878D82A}">
                    <a16:rowId xmlns:a16="http://schemas.microsoft.com/office/drawing/2014/main" val="2319756336"/>
                  </a:ext>
                </a:extLst>
              </a:tr>
              <a:tr h="579120">
                <a:tc>
                  <a:txBody>
                    <a:bodyPr/>
                    <a:lstStyle/>
                    <a:p>
                      <a:pPr algn="ctr"/>
                      <a:r>
                        <a:rPr lang="en-US" sz="1600"/>
                        <a:t>0</a:t>
                      </a:r>
                    </a:p>
                  </a:txBody>
                  <a:tcPr/>
                </a:tc>
                <a:tc>
                  <a:txBody>
                    <a:bodyPr/>
                    <a:lstStyle/>
                    <a:p>
                      <a:pPr algn="l"/>
                      <a:r>
                        <a:rPr lang="en-US" sz="1600"/>
                        <a:t>0_0000_0000_0000_0000 = 0x00000</a:t>
                      </a:r>
                    </a:p>
                  </a:txBody>
                  <a:tcPr/>
                </a:tc>
                <a:tc>
                  <a:txBody>
                    <a:bodyPr/>
                    <a:lstStyle/>
                    <a:p>
                      <a:pPr algn="l"/>
                      <a:r>
                        <a:rPr lang="en-US" sz="1600"/>
                        <a:t>Wait for next clock</a:t>
                      </a:r>
                    </a:p>
                  </a:txBody>
                  <a:tcPr/>
                </a:tc>
                <a:extLst>
                  <a:ext uri="{0D108BD9-81ED-4DB2-BD59-A6C34878D82A}">
                    <a16:rowId xmlns:a16="http://schemas.microsoft.com/office/drawing/2014/main" val="2570910443"/>
                  </a:ext>
                </a:extLst>
              </a:tr>
              <a:tr h="579120">
                <a:tc>
                  <a:txBody>
                    <a:bodyPr/>
                    <a:lstStyle/>
                    <a:p>
                      <a:pPr algn="ctr"/>
                      <a:r>
                        <a:rPr lang="en-US" sz="16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0_1000_0000_0000_0000 = 0x08000 </a:t>
                      </a:r>
                    </a:p>
                  </a:txBody>
                  <a:tcPr/>
                </a:tc>
                <a:tc>
                  <a:txBody>
                    <a:bodyPr/>
                    <a:lstStyle/>
                    <a:p>
                      <a:pPr algn="l"/>
                      <a:r>
                        <a:rPr lang="en-US" sz="1600"/>
                        <a:t>Decrement stack pointer</a:t>
                      </a:r>
                    </a:p>
                  </a:txBody>
                  <a:tcPr/>
                </a:tc>
                <a:extLst>
                  <a:ext uri="{0D108BD9-81ED-4DB2-BD59-A6C34878D82A}">
                    <a16:rowId xmlns:a16="http://schemas.microsoft.com/office/drawing/2014/main" val="631651838"/>
                  </a:ext>
                </a:extLst>
              </a:tr>
              <a:tr h="579120">
                <a:tc>
                  <a:txBody>
                    <a:bodyPr/>
                    <a:lstStyle/>
                    <a:p>
                      <a:pPr algn="ctr"/>
                      <a:r>
                        <a:rPr lang="en-US" sz="16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0_0100_0100_0010_0000 = 0x04420</a:t>
                      </a:r>
                    </a:p>
                  </a:txBody>
                  <a:tcPr/>
                </a:tc>
                <a:tc>
                  <a:txBody>
                    <a:bodyPr/>
                    <a:lstStyle/>
                    <a:p>
                      <a:pPr algn="l"/>
                      <a:r>
                        <a:rPr lang="en-US" sz="1600"/>
                        <a:t>Load value from stack to Rd</a:t>
                      </a:r>
                    </a:p>
                  </a:txBody>
                  <a:tcPr/>
                </a:tc>
                <a:extLst>
                  <a:ext uri="{0D108BD9-81ED-4DB2-BD59-A6C34878D82A}">
                    <a16:rowId xmlns:a16="http://schemas.microsoft.com/office/drawing/2014/main" val="1592812184"/>
                  </a:ext>
                </a:extLst>
              </a:tr>
              <a:tr h="579120">
                <a:tc>
                  <a:txBody>
                    <a:bodyPr/>
                    <a:lstStyle/>
                    <a:p>
                      <a:pPr algn="ctr"/>
                      <a:r>
                        <a:rPr lang="en-US" sz="1600"/>
                        <a:t>3</a:t>
                      </a:r>
                    </a:p>
                  </a:txBody>
                  <a:tcPr/>
                </a:tc>
                <a:tc>
                  <a:txBody>
                    <a:bodyPr/>
                    <a:lstStyle/>
                    <a:p>
                      <a:pPr algn="l"/>
                      <a:r>
                        <a:rPr lang="en-US" sz="1600"/>
                        <a:t>0_0000_0000_1000_0000 = 0x00080</a:t>
                      </a:r>
                    </a:p>
                  </a:txBody>
                  <a:tcPr/>
                </a:tc>
                <a:tc>
                  <a:txBody>
                    <a:bodyPr/>
                    <a:lstStyle/>
                    <a:p>
                      <a:pPr algn="l"/>
                      <a:r>
                        <a:rPr lang="en-US" sz="1600"/>
                        <a:t>Increment PC</a:t>
                      </a:r>
                    </a:p>
                  </a:txBody>
                  <a:tcPr/>
                </a:tc>
                <a:extLst>
                  <a:ext uri="{0D108BD9-81ED-4DB2-BD59-A6C34878D82A}">
                    <a16:rowId xmlns:a16="http://schemas.microsoft.com/office/drawing/2014/main" val="2225793510"/>
                  </a:ext>
                </a:extLst>
              </a:tr>
              <a:tr h="370840">
                <a:tc>
                  <a:txBody>
                    <a:bodyPr/>
                    <a:lstStyle/>
                    <a:p>
                      <a:pPr algn="ctr"/>
                      <a:r>
                        <a:rPr lang="en-US" sz="1600"/>
                        <a:t>4</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1046366285"/>
                  </a:ext>
                </a:extLst>
              </a:tr>
              <a:tr h="370840">
                <a:tc>
                  <a:txBody>
                    <a:bodyPr/>
                    <a:lstStyle/>
                    <a:p>
                      <a:pPr algn="ctr"/>
                      <a:r>
                        <a:rPr lang="en-US" sz="1600"/>
                        <a:t>5</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2615342211"/>
                  </a:ext>
                </a:extLst>
              </a:tr>
              <a:tr h="370840">
                <a:tc>
                  <a:txBody>
                    <a:bodyPr/>
                    <a:lstStyle/>
                    <a:p>
                      <a:pPr algn="ctr"/>
                      <a:r>
                        <a:rPr lang="en-US" sz="1600"/>
                        <a:t>6</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2055856817"/>
                  </a:ext>
                </a:extLst>
              </a:tr>
              <a:tr h="370840">
                <a:tc>
                  <a:txBody>
                    <a:bodyPr/>
                    <a:lstStyle/>
                    <a:p>
                      <a:pPr algn="ctr"/>
                      <a:r>
                        <a:rPr lang="en-US" sz="1600"/>
                        <a:t>7</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3502991894"/>
                  </a:ext>
                </a:extLst>
              </a:tr>
            </a:tbl>
          </a:graphicData>
        </a:graphic>
      </p:graphicFrame>
      <p:sp>
        <p:nvSpPr>
          <p:cNvPr id="11" name="TextBox 10">
            <a:extLst>
              <a:ext uri="{FF2B5EF4-FFF2-40B4-BE49-F238E27FC236}">
                <a16:creationId xmlns:a16="http://schemas.microsoft.com/office/drawing/2014/main" id="{F18A3303-6AE1-4192-B847-C968E4DE1C58}"/>
              </a:ext>
            </a:extLst>
          </p:cNvPr>
          <p:cNvSpPr txBox="1"/>
          <p:nvPr/>
        </p:nvSpPr>
        <p:spPr>
          <a:xfrm>
            <a:off x="11305310" y="1"/>
            <a:ext cx="862737" cy="1862048"/>
          </a:xfrm>
          <a:prstGeom prst="rect">
            <a:avLst/>
          </a:prstGeom>
          <a:noFill/>
        </p:spPr>
        <p:txBody>
          <a:bodyPr wrap="none" rtlCol="0">
            <a:spAutoFit/>
          </a:bodyPr>
          <a:lstStyle/>
          <a:p>
            <a:r>
              <a:rPr lang="en-US" sz="11500">
                <a:solidFill>
                  <a:schemeClr val="accent1">
                    <a:lumMod val="60000"/>
                    <a:lumOff val="40000"/>
                  </a:schemeClr>
                </a:solidFill>
              </a:rPr>
              <a:t>F</a:t>
            </a:r>
          </a:p>
        </p:txBody>
      </p:sp>
      <p:graphicFrame>
        <p:nvGraphicFramePr>
          <p:cNvPr id="12" name="Table 4">
            <a:extLst>
              <a:ext uri="{FF2B5EF4-FFF2-40B4-BE49-F238E27FC236}">
                <a16:creationId xmlns:a16="http://schemas.microsoft.com/office/drawing/2014/main" id="{31A55406-8888-4A18-89FC-AB289657FAE4}"/>
              </a:ext>
            </a:extLst>
          </p:cNvPr>
          <p:cNvGraphicFramePr>
            <a:graphicFrameLocks noGrp="1"/>
          </p:cNvGraphicFramePr>
          <p:nvPr>
            <p:extLst>
              <p:ext uri="{D42A27DB-BD31-4B8C-83A1-F6EECF244321}">
                <p14:modId xmlns:p14="http://schemas.microsoft.com/office/powerpoint/2010/main" val="1672766471"/>
              </p:ext>
            </p:extLst>
          </p:nvPr>
        </p:nvGraphicFramePr>
        <p:xfrm>
          <a:off x="179752" y="5624993"/>
          <a:ext cx="10173616" cy="736600"/>
        </p:xfrm>
        <a:graphic>
          <a:graphicData uri="http://schemas.openxmlformats.org/drawingml/2006/table">
            <a:tbl>
              <a:tblPr firstRow="1" bandRow="1">
                <a:tableStyleId>{5C22544A-7EE6-4342-B048-85BDC9FD1C3A}</a:tableStyleId>
              </a:tblPr>
              <a:tblGrid>
                <a:gridCol w="1079707">
                  <a:extLst>
                    <a:ext uri="{9D8B030D-6E8A-4147-A177-3AD203B41FA5}">
                      <a16:colId xmlns:a16="http://schemas.microsoft.com/office/drawing/2014/main" val="1810408170"/>
                    </a:ext>
                  </a:extLst>
                </a:gridCol>
                <a:gridCol w="920323">
                  <a:extLst>
                    <a:ext uri="{9D8B030D-6E8A-4147-A177-3AD203B41FA5}">
                      <a16:colId xmlns:a16="http://schemas.microsoft.com/office/drawing/2014/main" val="950391025"/>
                    </a:ext>
                  </a:extLst>
                </a:gridCol>
                <a:gridCol w="932873">
                  <a:extLst>
                    <a:ext uri="{9D8B030D-6E8A-4147-A177-3AD203B41FA5}">
                      <a16:colId xmlns:a16="http://schemas.microsoft.com/office/drawing/2014/main" val="831694502"/>
                    </a:ext>
                  </a:extLst>
                </a:gridCol>
                <a:gridCol w="2634940">
                  <a:extLst>
                    <a:ext uri="{9D8B030D-6E8A-4147-A177-3AD203B41FA5}">
                      <a16:colId xmlns:a16="http://schemas.microsoft.com/office/drawing/2014/main" val="3449330376"/>
                    </a:ext>
                  </a:extLst>
                </a:gridCol>
                <a:gridCol w="770983">
                  <a:extLst>
                    <a:ext uri="{9D8B030D-6E8A-4147-A177-3AD203B41FA5}">
                      <a16:colId xmlns:a16="http://schemas.microsoft.com/office/drawing/2014/main" val="1355185516"/>
                    </a:ext>
                  </a:extLst>
                </a:gridCol>
                <a:gridCol w="1653608">
                  <a:extLst>
                    <a:ext uri="{9D8B030D-6E8A-4147-A177-3AD203B41FA5}">
                      <a16:colId xmlns:a16="http://schemas.microsoft.com/office/drawing/2014/main" val="2050007723"/>
                    </a:ext>
                  </a:extLst>
                </a:gridCol>
                <a:gridCol w="2181183">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5 4</a:t>
                      </a:r>
                    </a:p>
                  </a:txBody>
                  <a:tcPr/>
                </a:tc>
                <a:tc>
                  <a:txBody>
                    <a:bodyPr/>
                    <a:lstStyle/>
                    <a:p>
                      <a:pPr algn="ctr"/>
                      <a:r>
                        <a:rPr lang="en-US" sz="1300"/>
                        <a:t>3 2 1 0</a:t>
                      </a:r>
                    </a:p>
                  </a:txBody>
                  <a:tcPr/>
                </a:tc>
                <a:extLst>
                  <a:ext uri="{0D108BD9-81ED-4DB2-BD59-A6C34878D82A}">
                    <a16:rowId xmlns:a16="http://schemas.microsoft.com/office/drawing/2014/main" val="2319756336"/>
                  </a:ext>
                </a:extLst>
              </a:tr>
              <a:tr h="297180">
                <a:tc>
                  <a:txBody>
                    <a:bodyPr/>
                    <a:lstStyle/>
                    <a:p>
                      <a:pPr algn="ctr"/>
                      <a:r>
                        <a:rPr lang="en-US" sz="1300"/>
                        <a:t>Load Reg</a:t>
                      </a:r>
                    </a:p>
                  </a:txBody>
                  <a:tcPr>
                    <a:solidFill>
                      <a:schemeClr val="accent6"/>
                    </a:solidFill>
                  </a:tcPr>
                </a:tc>
                <a:tc>
                  <a:txBody>
                    <a:bodyPr/>
                    <a:lstStyle/>
                    <a:p>
                      <a:pPr algn="ctr"/>
                      <a:r>
                        <a:rPr lang="en-US" sz="1300"/>
                        <a:t>XX</a:t>
                      </a:r>
                    </a:p>
                  </a:txBody>
                  <a:tcPr/>
                </a:tc>
                <a:tc>
                  <a:txBody>
                    <a:bodyPr/>
                    <a:lstStyle/>
                    <a:p>
                      <a:pPr algn="ctr"/>
                      <a:r>
                        <a:rPr lang="en-US" sz="1300"/>
                        <a:t>XX</a:t>
                      </a:r>
                    </a:p>
                  </a:txBody>
                  <a:tcPr/>
                </a:tc>
                <a:tc>
                  <a:txBody>
                    <a:bodyPr/>
                    <a:lstStyle/>
                    <a:p>
                      <a:pPr algn="ctr"/>
                      <a:r>
                        <a:rPr lang="en-US" sz="1300"/>
                        <a:t>XXXX</a:t>
                      </a:r>
                    </a:p>
                  </a:txBody>
                  <a:tcPr/>
                </a:tc>
                <a:tc>
                  <a:txBody>
                    <a:bodyPr/>
                    <a:lstStyle/>
                    <a:p>
                      <a:pPr algn="ctr"/>
                      <a:r>
                        <a:rPr lang="en-US" sz="1300"/>
                        <a:t>Rd</a:t>
                      </a:r>
                    </a:p>
                  </a:txBody>
                  <a:tcPr/>
                </a:tc>
                <a:tc>
                  <a:txBody>
                    <a:bodyPr/>
                    <a:lstStyle/>
                    <a:p>
                      <a:pPr algn="ctr"/>
                      <a:r>
                        <a:rPr lang="en-US" sz="1300"/>
                        <a:t>X </a:t>
                      </a:r>
                      <a:r>
                        <a:rPr lang="en-US" sz="1300" err="1"/>
                        <a:t>X</a:t>
                      </a:r>
                      <a:endParaRPr lang="en-US" sz="1300"/>
                    </a:p>
                  </a:txBody>
                  <a:tcPr/>
                </a:tc>
                <a:tc>
                  <a:txBody>
                    <a:bodyPr/>
                    <a:lstStyle/>
                    <a:p>
                      <a:pPr algn="ctr"/>
                      <a:r>
                        <a:rPr lang="en-US" sz="1300"/>
                        <a:t>OpCode</a:t>
                      </a:r>
                    </a:p>
                  </a:txBody>
                  <a:tcPr/>
                </a:tc>
                <a:extLst>
                  <a:ext uri="{0D108BD9-81ED-4DB2-BD59-A6C34878D82A}">
                    <a16:rowId xmlns:a16="http://schemas.microsoft.com/office/drawing/2014/main" val="2570910443"/>
                  </a:ext>
                </a:extLst>
              </a:tr>
            </a:tbl>
          </a:graphicData>
        </a:graphic>
      </p:graphicFrame>
      <p:sp>
        <p:nvSpPr>
          <p:cNvPr id="10" name="TextBox 9">
            <a:extLst>
              <a:ext uri="{FF2B5EF4-FFF2-40B4-BE49-F238E27FC236}">
                <a16:creationId xmlns:a16="http://schemas.microsoft.com/office/drawing/2014/main" id="{EB1AADA8-3F5D-1E95-C0F5-9407CE2D0472}"/>
              </a:ext>
            </a:extLst>
          </p:cNvPr>
          <p:cNvSpPr txBox="1"/>
          <p:nvPr/>
        </p:nvSpPr>
        <p:spPr>
          <a:xfrm>
            <a:off x="6615404" y="4734113"/>
            <a:ext cx="1564852" cy="523220"/>
          </a:xfrm>
          <a:prstGeom prst="rect">
            <a:avLst/>
          </a:prstGeom>
          <a:noFill/>
        </p:spPr>
        <p:txBody>
          <a:bodyPr wrap="none" rtlCol="0">
            <a:spAutoFit/>
          </a:bodyPr>
          <a:lstStyle/>
          <a:p>
            <a:r>
              <a:rPr lang="en-US" sz="2800">
                <a:solidFill>
                  <a:srgbClr val="00B050"/>
                </a:solidFill>
                <a:latin typeface="Consolas" panose="020B0609020204030204" pitchFamily="49" charset="0"/>
              </a:rPr>
              <a:t> POP Rd</a:t>
            </a:r>
          </a:p>
        </p:txBody>
      </p:sp>
      <p:pic>
        <p:nvPicPr>
          <p:cNvPr id="2" name="Picture 1">
            <a:hlinkClick r:id="rId2" action="ppaction://hlinksldjump"/>
            <a:extLst>
              <a:ext uri="{FF2B5EF4-FFF2-40B4-BE49-F238E27FC236}">
                <a16:creationId xmlns:a16="http://schemas.microsoft.com/office/drawing/2014/main" id="{E62FB0C6-44AE-CAD0-0781-7042C24AAE0C}"/>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7" name="Slide Number Placeholder 4">
            <a:extLst>
              <a:ext uri="{FF2B5EF4-FFF2-40B4-BE49-F238E27FC236}">
                <a16:creationId xmlns:a16="http://schemas.microsoft.com/office/drawing/2014/main" id="{AA7D28ED-17BC-77D9-2CE5-C7B2964ADFE5}"/>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131</a:t>
            </a:fld>
            <a:endParaRPr lang="en-US" b="1">
              <a:solidFill>
                <a:schemeClr val="bg1"/>
              </a:solidFill>
            </a:endParaRPr>
          </a:p>
        </p:txBody>
      </p:sp>
      <p:graphicFrame>
        <p:nvGraphicFramePr>
          <p:cNvPr id="9" name="Table 4">
            <a:extLst>
              <a:ext uri="{FF2B5EF4-FFF2-40B4-BE49-F238E27FC236}">
                <a16:creationId xmlns:a16="http://schemas.microsoft.com/office/drawing/2014/main" id="{EC2B6716-EFE6-7EE1-26FE-44AEA072636D}"/>
              </a:ext>
            </a:extLst>
          </p:cNvPr>
          <p:cNvGraphicFramePr>
            <a:graphicFrameLocks noGrp="1"/>
          </p:cNvGraphicFramePr>
          <p:nvPr>
            <p:extLst>
              <p:ext uri="{D42A27DB-BD31-4B8C-83A1-F6EECF244321}">
                <p14:modId xmlns:p14="http://schemas.microsoft.com/office/powerpoint/2010/main" val="940534924"/>
              </p:ext>
            </p:extLst>
          </p:nvPr>
        </p:nvGraphicFramePr>
        <p:xfrm>
          <a:off x="193268" y="742463"/>
          <a:ext cx="4329725" cy="436342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
        <p:nvSpPr>
          <p:cNvPr id="13" name="Title 12">
            <a:extLst>
              <a:ext uri="{FF2B5EF4-FFF2-40B4-BE49-F238E27FC236}">
                <a16:creationId xmlns:a16="http://schemas.microsoft.com/office/drawing/2014/main" id="{F6FD8C74-4815-A18F-2874-7F542B7E30FD}"/>
              </a:ext>
            </a:extLst>
          </p:cNvPr>
          <p:cNvSpPr>
            <a:spLocks noGrp="1"/>
          </p:cNvSpPr>
          <p:nvPr>
            <p:ph type="ctrTitle"/>
          </p:nvPr>
        </p:nvSpPr>
        <p:spPr>
          <a:xfrm>
            <a:off x="914400" y="182880"/>
            <a:ext cx="9144000" cy="457200"/>
          </a:xfrm>
        </p:spPr>
        <p:txBody>
          <a:bodyPr/>
          <a:lstStyle/>
          <a:p>
            <a:r>
              <a:rPr lang="en-US"/>
              <a:t>Micro-Instructions Control: POP (1111)</a:t>
            </a:r>
          </a:p>
        </p:txBody>
      </p:sp>
    </p:spTree>
    <p:extLst>
      <p:ext uri="{BB962C8B-B14F-4D97-AF65-F5344CB8AC3E}">
        <p14:creationId xmlns:p14="http://schemas.microsoft.com/office/powerpoint/2010/main" val="3932105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E1F94AC3-E70C-41F9-8834-5ED5BD7A184B}"/>
              </a:ext>
            </a:extLst>
          </p:cNvPr>
          <p:cNvGraphicFramePr>
            <a:graphicFrameLocks noGrp="1"/>
          </p:cNvGraphicFramePr>
          <p:nvPr>
            <p:extLst>
              <p:ext uri="{D42A27DB-BD31-4B8C-83A1-F6EECF244321}">
                <p14:modId xmlns:p14="http://schemas.microsoft.com/office/powerpoint/2010/main" val="175158681"/>
              </p:ext>
            </p:extLst>
          </p:nvPr>
        </p:nvGraphicFramePr>
        <p:xfrm>
          <a:off x="193268" y="742463"/>
          <a:ext cx="4329725" cy="436342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extLst>
              <p:ext uri="{D42A27DB-BD31-4B8C-83A1-F6EECF244321}">
                <p14:modId xmlns:p14="http://schemas.microsoft.com/office/powerpoint/2010/main" val="2004496337"/>
              </p:ext>
            </p:extLst>
          </p:nvPr>
        </p:nvGraphicFramePr>
        <p:xfrm>
          <a:off x="4716583" y="742463"/>
          <a:ext cx="6292440" cy="4135120"/>
        </p:xfrm>
        <a:graphic>
          <a:graphicData uri="http://schemas.openxmlformats.org/drawingml/2006/table">
            <a:tbl>
              <a:tblPr firstRow="1" bandRow="1">
                <a:tableStyleId>{5C22544A-7EE6-4342-B048-85BDC9FD1C3A}</a:tableStyleId>
              </a:tblPr>
              <a:tblGrid>
                <a:gridCol w="815277">
                  <a:extLst>
                    <a:ext uri="{9D8B030D-6E8A-4147-A177-3AD203B41FA5}">
                      <a16:colId xmlns:a16="http://schemas.microsoft.com/office/drawing/2014/main" val="1217920130"/>
                    </a:ext>
                  </a:extLst>
                </a:gridCol>
                <a:gridCol w="2521527">
                  <a:extLst>
                    <a:ext uri="{9D8B030D-6E8A-4147-A177-3AD203B41FA5}">
                      <a16:colId xmlns:a16="http://schemas.microsoft.com/office/drawing/2014/main" val="1475888205"/>
                    </a:ext>
                  </a:extLst>
                </a:gridCol>
                <a:gridCol w="2955636">
                  <a:extLst>
                    <a:ext uri="{9D8B030D-6E8A-4147-A177-3AD203B41FA5}">
                      <a16:colId xmlns:a16="http://schemas.microsoft.com/office/drawing/2014/main" val="2801792198"/>
                    </a:ext>
                  </a:extLst>
                </a:gridCol>
              </a:tblGrid>
              <a:tr h="335280">
                <a:tc>
                  <a:txBody>
                    <a:bodyPr/>
                    <a:lstStyle/>
                    <a:p>
                      <a:r>
                        <a:rPr lang="en-US" sz="1600"/>
                        <a:t>Cycle #</a:t>
                      </a:r>
                    </a:p>
                  </a:txBody>
                  <a:tcPr/>
                </a:tc>
                <a:tc>
                  <a:txBody>
                    <a:bodyPr/>
                    <a:lstStyle/>
                    <a:p>
                      <a:r>
                        <a:rPr lang="en-US" sz="1600"/>
                        <a:t>Instruction</a:t>
                      </a:r>
                    </a:p>
                  </a:txBody>
                  <a:tcPr/>
                </a:tc>
                <a:tc>
                  <a:txBody>
                    <a:bodyPr/>
                    <a:lstStyle/>
                    <a:p>
                      <a:r>
                        <a:rPr lang="en-US" sz="1600"/>
                        <a:t>Explanation</a:t>
                      </a:r>
                    </a:p>
                  </a:txBody>
                  <a:tcPr/>
                </a:tc>
                <a:extLst>
                  <a:ext uri="{0D108BD9-81ED-4DB2-BD59-A6C34878D82A}">
                    <a16:rowId xmlns:a16="http://schemas.microsoft.com/office/drawing/2014/main" val="2319756336"/>
                  </a:ext>
                </a:extLst>
              </a:tr>
              <a:tr h="579120">
                <a:tc>
                  <a:txBody>
                    <a:bodyPr/>
                    <a:lstStyle/>
                    <a:p>
                      <a:pPr algn="ctr"/>
                      <a:r>
                        <a:rPr lang="en-US" sz="1600"/>
                        <a:t>0</a:t>
                      </a:r>
                    </a:p>
                  </a:txBody>
                  <a:tcPr/>
                </a:tc>
                <a:tc>
                  <a:txBody>
                    <a:bodyPr/>
                    <a:lstStyle/>
                    <a:p>
                      <a:pPr algn="l"/>
                      <a:r>
                        <a:rPr lang="en-US" sz="1600"/>
                        <a:t>0_0100_1010_0000_0000 = 0x04A00</a:t>
                      </a:r>
                    </a:p>
                  </a:txBody>
                  <a:tcPr/>
                </a:tc>
                <a:tc>
                  <a:txBody>
                    <a:bodyPr/>
                    <a:lstStyle/>
                    <a:p>
                      <a:pPr algn="l"/>
                      <a:r>
                        <a:rPr lang="en-US" sz="1600"/>
                        <a:t>Write PC to stack</a:t>
                      </a:r>
                    </a:p>
                  </a:txBody>
                  <a:tcPr/>
                </a:tc>
                <a:extLst>
                  <a:ext uri="{0D108BD9-81ED-4DB2-BD59-A6C34878D82A}">
                    <a16:rowId xmlns:a16="http://schemas.microsoft.com/office/drawing/2014/main" val="2570910443"/>
                  </a:ext>
                </a:extLst>
              </a:tr>
              <a:tr h="579120">
                <a:tc>
                  <a:txBody>
                    <a:bodyPr/>
                    <a:lstStyle/>
                    <a:p>
                      <a:pPr algn="ctr"/>
                      <a:r>
                        <a:rPr lang="en-US" sz="16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1_1000_0000_0000_0000 = 0x18000</a:t>
                      </a:r>
                    </a:p>
                  </a:txBody>
                  <a:tcPr/>
                </a:tc>
                <a:tc>
                  <a:txBody>
                    <a:bodyPr/>
                    <a:lstStyle/>
                    <a:p>
                      <a:pPr algn="l"/>
                      <a:r>
                        <a:rPr lang="en-US" sz="1600"/>
                        <a:t>Increase stack pointer</a:t>
                      </a:r>
                    </a:p>
                  </a:txBody>
                  <a:tcPr/>
                </a:tc>
                <a:extLst>
                  <a:ext uri="{0D108BD9-81ED-4DB2-BD59-A6C34878D82A}">
                    <a16:rowId xmlns:a16="http://schemas.microsoft.com/office/drawing/2014/main" val="631651838"/>
                  </a:ext>
                </a:extLst>
              </a:tr>
              <a:tr h="579120">
                <a:tc>
                  <a:txBody>
                    <a:bodyPr/>
                    <a:lstStyle/>
                    <a:p>
                      <a:pPr algn="ctr"/>
                      <a:r>
                        <a:rPr lang="en-US" sz="16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0_0000_0001_0100_0000 = 0x00140</a:t>
                      </a:r>
                    </a:p>
                  </a:txBody>
                  <a:tcPr/>
                </a:tc>
                <a:tc>
                  <a:txBody>
                    <a:bodyPr/>
                    <a:lstStyle/>
                    <a:p>
                      <a:pPr algn="l"/>
                      <a:r>
                        <a:rPr lang="en-US" sz="1600"/>
                        <a:t>Jump to immediate address</a:t>
                      </a:r>
                    </a:p>
                  </a:txBody>
                  <a:tcPr/>
                </a:tc>
                <a:extLst>
                  <a:ext uri="{0D108BD9-81ED-4DB2-BD59-A6C34878D82A}">
                    <a16:rowId xmlns:a16="http://schemas.microsoft.com/office/drawing/2014/main" val="1592812184"/>
                  </a:ext>
                </a:extLst>
              </a:tr>
              <a:tr h="579120">
                <a:tc>
                  <a:txBody>
                    <a:bodyPr/>
                    <a:lstStyle/>
                    <a:p>
                      <a:pPr algn="ctr"/>
                      <a:r>
                        <a:rPr lang="en-US" sz="1600"/>
                        <a:t>3</a:t>
                      </a:r>
                    </a:p>
                  </a:txBody>
                  <a:tcPr/>
                </a:tc>
                <a:tc>
                  <a:txBody>
                    <a:bodyPr/>
                    <a:lstStyle/>
                    <a:p>
                      <a:pPr algn="l"/>
                      <a:r>
                        <a:rPr lang="en-US" sz="1600"/>
                        <a:t>0_0000_0000_1000_0000 = 0x00080</a:t>
                      </a:r>
                    </a:p>
                  </a:txBody>
                  <a:tcPr/>
                </a:tc>
                <a:tc>
                  <a:txBody>
                    <a:bodyPr/>
                    <a:lstStyle/>
                    <a:p>
                      <a:pPr algn="l"/>
                      <a:r>
                        <a:rPr lang="en-US" sz="1600"/>
                        <a:t>Advance PC</a:t>
                      </a:r>
                    </a:p>
                  </a:txBody>
                  <a:tcPr/>
                </a:tc>
                <a:extLst>
                  <a:ext uri="{0D108BD9-81ED-4DB2-BD59-A6C34878D82A}">
                    <a16:rowId xmlns:a16="http://schemas.microsoft.com/office/drawing/2014/main" val="2225793510"/>
                  </a:ext>
                </a:extLst>
              </a:tr>
              <a:tr h="370840">
                <a:tc>
                  <a:txBody>
                    <a:bodyPr/>
                    <a:lstStyle/>
                    <a:p>
                      <a:pPr algn="ctr"/>
                      <a:r>
                        <a:rPr lang="en-US" sz="1600"/>
                        <a:t>4</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1046366285"/>
                  </a:ext>
                </a:extLst>
              </a:tr>
              <a:tr h="370840">
                <a:tc>
                  <a:txBody>
                    <a:bodyPr/>
                    <a:lstStyle/>
                    <a:p>
                      <a:pPr algn="ctr"/>
                      <a:r>
                        <a:rPr lang="en-US" sz="1600"/>
                        <a:t>5</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2615342211"/>
                  </a:ext>
                </a:extLst>
              </a:tr>
              <a:tr h="370840">
                <a:tc>
                  <a:txBody>
                    <a:bodyPr/>
                    <a:lstStyle/>
                    <a:p>
                      <a:pPr algn="ctr"/>
                      <a:r>
                        <a:rPr lang="en-US" sz="1600"/>
                        <a:t>6</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2055856817"/>
                  </a:ext>
                </a:extLst>
              </a:tr>
              <a:tr h="370840">
                <a:tc>
                  <a:txBody>
                    <a:bodyPr/>
                    <a:lstStyle/>
                    <a:p>
                      <a:pPr algn="ctr"/>
                      <a:r>
                        <a:rPr lang="en-US" sz="1600"/>
                        <a:t>7</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3502991894"/>
                  </a:ext>
                </a:extLst>
              </a:tr>
            </a:tbl>
          </a:graphicData>
        </a:graphic>
      </p:graphicFrame>
      <p:sp>
        <p:nvSpPr>
          <p:cNvPr id="11" name="TextBox 10">
            <a:extLst>
              <a:ext uri="{FF2B5EF4-FFF2-40B4-BE49-F238E27FC236}">
                <a16:creationId xmlns:a16="http://schemas.microsoft.com/office/drawing/2014/main" id="{F18A3303-6AE1-4192-B847-C968E4DE1C58}"/>
              </a:ext>
            </a:extLst>
          </p:cNvPr>
          <p:cNvSpPr txBox="1"/>
          <p:nvPr/>
        </p:nvSpPr>
        <p:spPr>
          <a:xfrm>
            <a:off x="10966456" y="2"/>
            <a:ext cx="1223412" cy="1323439"/>
          </a:xfrm>
          <a:prstGeom prst="rect">
            <a:avLst/>
          </a:prstGeom>
          <a:noFill/>
        </p:spPr>
        <p:txBody>
          <a:bodyPr wrap="none" rtlCol="0">
            <a:spAutoFit/>
          </a:bodyPr>
          <a:lstStyle/>
          <a:p>
            <a:r>
              <a:rPr lang="en-US" sz="8000">
                <a:solidFill>
                  <a:schemeClr val="accent1">
                    <a:lumMod val="60000"/>
                    <a:lumOff val="40000"/>
                  </a:schemeClr>
                </a:solidFill>
              </a:rPr>
              <a:t>10</a:t>
            </a:r>
          </a:p>
        </p:txBody>
      </p:sp>
      <p:graphicFrame>
        <p:nvGraphicFramePr>
          <p:cNvPr id="12" name="Table 4">
            <a:extLst>
              <a:ext uri="{FF2B5EF4-FFF2-40B4-BE49-F238E27FC236}">
                <a16:creationId xmlns:a16="http://schemas.microsoft.com/office/drawing/2014/main" id="{31A55406-8888-4A18-89FC-AB289657FAE4}"/>
              </a:ext>
            </a:extLst>
          </p:cNvPr>
          <p:cNvGraphicFramePr>
            <a:graphicFrameLocks noGrp="1"/>
          </p:cNvGraphicFramePr>
          <p:nvPr>
            <p:extLst>
              <p:ext uri="{D42A27DB-BD31-4B8C-83A1-F6EECF244321}">
                <p14:modId xmlns:p14="http://schemas.microsoft.com/office/powerpoint/2010/main" val="244263648"/>
              </p:ext>
            </p:extLst>
          </p:nvPr>
        </p:nvGraphicFramePr>
        <p:xfrm>
          <a:off x="179752" y="5624993"/>
          <a:ext cx="10173616" cy="736600"/>
        </p:xfrm>
        <a:graphic>
          <a:graphicData uri="http://schemas.openxmlformats.org/drawingml/2006/table">
            <a:tbl>
              <a:tblPr firstRow="1" bandRow="1">
                <a:tableStyleId>{5C22544A-7EE6-4342-B048-85BDC9FD1C3A}</a:tableStyleId>
              </a:tblPr>
              <a:tblGrid>
                <a:gridCol w="1079707">
                  <a:extLst>
                    <a:ext uri="{9D8B030D-6E8A-4147-A177-3AD203B41FA5}">
                      <a16:colId xmlns:a16="http://schemas.microsoft.com/office/drawing/2014/main" val="1810408170"/>
                    </a:ext>
                  </a:extLst>
                </a:gridCol>
                <a:gridCol w="4488136">
                  <a:extLst>
                    <a:ext uri="{9D8B030D-6E8A-4147-A177-3AD203B41FA5}">
                      <a16:colId xmlns:a16="http://schemas.microsoft.com/office/drawing/2014/main" val="950391025"/>
                    </a:ext>
                  </a:extLst>
                </a:gridCol>
                <a:gridCol w="770983">
                  <a:extLst>
                    <a:ext uri="{9D8B030D-6E8A-4147-A177-3AD203B41FA5}">
                      <a16:colId xmlns:a16="http://schemas.microsoft.com/office/drawing/2014/main" val="1355185516"/>
                    </a:ext>
                  </a:extLst>
                </a:gridCol>
                <a:gridCol w="1653608">
                  <a:extLst>
                    <a:ext uri="{9D8B030D-6E8A-4147-A177-3AD203B41FA5}">
                      <a16:colId xmlns:a16="http://schemas.microsoft.com/office/drawing/2014/main" val="2050007723"/>
                    </a:ext>
                  </a:extLst>
                </a:gridCol>
                <a:gridCol w="2181183">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15 14 13 12 11 10 9 8</a:t>
                      </a:r>
                    </a:p>
                  </a:txBody>
                  <a:tcPr/>
                </a:tc>
                <a:tc>
                  <a:txBody>
                    <a:bodyPr/>
                    <a:lstStyle/>
                    <a:p>
                      <a:pPr algn="ctr"/>
                      <a:r>
                        <a:rPr lang="en-US" sz="1300"/>
                        <a:t>7 6</a:t>
                      </a:r>
                    </a:p>
                  </a:txBody>
                  <a:tcPr/>
                </a:tc>
                <a:tc>
                  <a:txBody>
                    <a:bodyPr/>
                    <a:lstStyle/>
                    <a:p>
                      <a:pPr algn="ctr"/>
                      <a:r>
                        <a:rPr lang="en-US" sz="1300"/>
                        <a:t>5 4</a:t>
                      </a:r>
                    </a:p>
                  </a:txBody>
                  <a:tcPr/>
                </a:tc>
                <a:tc>
                  <a:txBody>
                    <a:bodyPr/>
                    <a:lstStyle/>
                    <a:p>
                      <a:pPr algn="ctr"/>
                      <a:r>
                        <a:rPr lang="en-US" sz="1300"/>
                        <a:t>3 2 1 0</a:t>
                      </a:r>
                    </a:p>
                  </a:txBody>
                  <a:tcPr/>
                </a:tc>
                <a:extLst>
                  <a:ext uri="{0D108BD9-81ED-4DB2-BD59-A6C34878D82A}">
                    <a16:rowId xmlns:a16="http://schemas.microsoft.com/office/drawing/2014/main" val="2319756336"/>
                  </a:ext>
                </a:extLst>
              </a:tr>
              <a:tr h="297180">
                <a:tc>
                  <a:txBody>
                    <a:bodyPr/>
                    <a:lstStyle/>
                    <a:p>
                      <a:pPr algn="ctr"/>
                      <a:r>
                        <a:rPr lang="en-US" sz="1300"/>
                        <a:t>Load Reg</a:t>
                      </a:r>
                    </a:p>
                  </a:txBody>
                  <a:tcPr>
                    <a:solidFill>
                      <a:schemeClr val="accent6"/>
                    </a:solidFill>
                  </a:tcPr>
                </a:tc>
                <a:tc>
                  <a:txBody>
                    <a:bodyPr/>
                    <a:lstStyle/>
                    <a:p>
                      <a:pPr algn="ctr"/>
                      <a:r>
                        <a:rPr lang="en-US" sz="1300"/>
                        <a:t>8-bit Immediate (Program Address)</a:t>
                      </a:r>
                    </a:p>
                  </a:txBody>
                  <a:tcPr/>
                </a:tc>
                <a:tc>
                  <a:txBody>
                    <a:bodyPr/>
                    <a:lstStyle/>
                    <a:p>
                      <a:pPr algn="ctr"/>
                      <a:r>
                        <a:rPr lang="en-US" sz="1300"/>
                        <a:t>XX</a:t>
                      </a:r>
                    </a:p>
                  </a:txBody>
                  <a:tcPr/>
                </a:tc>
                <a:tc>
                  <a:txBody>
                    <a:bodyPr/>
                    <a:lstStyle/>
                    <a:p>
                      <a:pPr algn="ctr"/>
                      <a:r>
                        <a:rPr lang="en-US" sz="1300"/>
                        <a:t>X </a:t>
                      </a:r>
                      <a:r>
                        <a:rPr lang="en-US" sz="1300" err="1"/>
                        <a:t>X</a:t>
                      </a:r>
                      <a:endParaRPr lang="en-US" sz="1300"/>
                    </a:p>
                  </a:txBody>
                  <a:tcPr/>
                </a:tc>
                <a:tc>
                  <a:txBody>
                    <a:bodyPr/>
                    <a:lstStyle/>
                    <a:p>
                      <a:pPr algn="ctr"/>
                      <a:r>
                        <a:rPr lang="en-US" sz="1300"/>
                        <a:t>OpCode</a:t>
                      </a:r>
                    </a:p>
                  </a:txBody>
                  <a:tcPr/>
                </a:tc>
                <a:extLst>
                  <a:ext uri="{0D108BD9-81ED-4DB2-BD59-A6C34878D82A}">
                    <a16:rowId xmlns:a16="http://schemas.microsoft.com/office/drawing/2014/main" val="2570910443"/>
                  </a:ext>
                </a:extLst>
              </a:tr>
            </a:tbl>
          </a:graphicData>
        </a:graphic>
      </p:graphicFrame>
      <p:sp>
        <p:nvSpPr>
          <p:cNvPr id="10" name="TextBox 9">
            <a:extLst>
              <a:ext uri="{FF2B5EF4-FFF2-40B4-BE49-F238E27FC236}">
                <a16:creationId xmlns:a16="http://schemas.microsoft.com/office/drawing/2014/main" id="{EB1AADA8-3F5D-1E95-C0F5-9407CE2D0472}"/>
              </a:ext>
            </a:extLst>
          </p:cNvPr>
          <p:cNvSpPr txBox="1"/>
          <p:nvPr/>
        </p:nvSpPr>
        <p:spPr>
          <a:xfrm>
            <a:off x="6615405" y="4734113"/>
            <a:ext cx="1959191" cy="523220"/>
          </a:xfrm>
          <a:prstGeom prst="rect">
            <a:avLst/>
          </a:prstGeom>
          <a:noFill/>
        </p:spPr>
        <p:txBody>
          <a:bodyPr wrap="none" rtlCol="0">
            <a:spAutoFit/>
          </a:bodyPr>
          <a:lstStyle/>
          <a:p>
            <a:r>
              <a:rPr lang="en-US" sz="2800">
                <a:solidFill>
                  <a:srgbClr val="00B050"/>
                </a:solidFill>
                <a:latin typeface="Consolas" panose="020B0609020204030204" pitchFamily="49" charset="0"/>
              </a:rPr>
              <a:t> JSR #Imm</a:t>
            </a:r>
          </a:p>
        </p:txBody>
      </p:sp>
      <p:pic>
        <p:nvPicPr>
          <p:cNvPr id="2" name="Picture 1">
            <a:hlinkClick r:id="rId2" action="ppaction://hlinksldjump"/>
            <a:extLst>
              <a:ext uri="{FF2B5EF4-FFF2-40B4-BE49-F238E27FC236}">
                <a16:creationId xmlns:a16="http://schemas.microsoft.com/office/drawing/2014/main" id="{59C44F75-B0F0-BB6F-0108-F4388C281D5A}"/>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7" name="Slide Number Placeholder 4">
            <a:extLst>
              <a:ext uri="{FF2B5EF4-FFF2-40B4-BE49-F238E27FC236}">
                <a16:creationId xmlns:a16="http://schemas.microsoft.com/office/drawing/2014/main" id="{5F7584E8-6FA6-AC06-A408-0F5077F067B1}"/>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132</a:t>
            </a:fld>
            <a:endParaRPr lang="en-US" b="1">
              <a:solidFill>
                <a:schemeClr val="bg1"/>
              </a:solidFill>
            </a:endParaRPr>
          </a:p>
        </p:txBody>
      </p:sp>
      <p:sp>
        <p:nvSpPr>
          <p:cNvPr id="9" name="Title 8">
            <a:extLst>
              <a:ext uri="{FF2B5EF4-FFF2-40B4-BE49-F238E27FC236}">
                <a16:creationId xmlns:a16="http://schemas.microsoft.com/office/drawing/2014/main" id="{04DEE4E4-8F43-A96C-AF7A-F885CFB95F83}"/>
              </a:ext>
            </a:extLst>
          </p:cNvPr>
          <p:cNvSpPr>
            <a:spLocks noGrp="1"/>
          </p:cNvSpPr>
          <p:nvPr>
            <p:ph type="ctrTitle"/>
          </p:nvPr>
        </p:nvSpPr>
        <p:spPr>
          <a:xfrm>
            <a:off x="914400" y="182880"/>
            <a:ext cx="9144000" cy="457200"/>
          </a:xfrm>
        </p:spPr>
        <p:txBody>
          <a:bodyPr/>
          <a:lstStyle/>
          <a:p>
            <a:r>
              <a:rPr lang="en-US"/>
              <a:t>Micro-Instructions Control: JSR Jump Subroutine (10000)</a:t>
            </a:r>
          </a:p>
        </p:txBody>
      </p:sp>
    </p:spTree>
    <p:extLst>
      <p:ext uri="{BB962C8B-B14F-4D97-AF65-F5344CB8AC3E}">
        <p14:creationId xmlns:p14="http://schemas.microsoft.com/office/powerpoint/2010/main" val="2619883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extLst>
              <p:ext uri="{D42A27DB-BD31-4B8C-83A1-F6EECF244321}">
                <p14:modId xmlns:p14="http://schemas.microsoft.com/office/powerpoint/2010/main" val="1217121050"/>
              </p:ext>
            </p:extLst>
          </p:nvPr>
        </p:nvGraphicFramePr>
        <p:xfrm>
          <a:off x="4716583" y="742462"/>
          <a:ext cx="6292440" cy="4279959"/>
        </p:xfrm>
        <a:graphic>
          <a:graphicData uri="http://schemas.openxmlformats.org/drawingml/2006/table">
            <a:tbl>
              <a:tblPr firstRow="1" bandRow="1">
                <a:tableStyleId>{5C22544A-7EE6-4342-B048-85BDC9FD1C3A}</a:tableStyleId>
              </a:tblPr>
              <a:tblGrid>
                <a:gridCol w="815277">
                  <a:extLst>
                    <a:ext uri="{9D8B030D-6E8A-4147-A177-3AD203B41FA5}">
                      <a16:colId xmlns:a16="http://schemas.microsoft.com/office/drawing/2014/main" val="1217920130"/>
                    </a:ext>
                  </a:extLst>
                </a:gridCol>
                <a:gridCol w="2521527">
                  <a:extLst>
                    <a:ext uri="{9D8B030D-6E8A-4147-A177-3AD203B41FA5}">
                      <a16:colId xmlns:a16="http://schemas.microsoft.com/office/drawing/2014/main" val="1475888205"/>
                    </a:ext>
                  </a:extLst>
                </a:gridCol>
                <a:gridCol w="2955636">
                  <a:extLst>
                    <a:ext uri="{9D8B030D-6E8A-4147-A177-3AD203B41FA5}">
                      <a16:colId xmlns:a16="http://schemas.microsoft.com/office/drawing/2014/main" val="2801792198"/>
                    </a:ext>
                  </a:extLst>
                </a:gridCol>
              </a:tblGrid>
              <a:tr h="335280">
                <a:tc>
                  <a:txBody>
                    <a:bodyPr/>
                    <a:lstStyle/>
                    <a:p>
                      <a:r>
                        <a:rPr lang="en-US" sz="1600"/>
                        <a:t>Cycle #</a:t>
                      </a:r>
                    </a:p>
                  </a:txBody>
                  <a:tcPr/>
                </a:tc>
                <a:tc>
                  <a:txBody>
                    <a:bodyPr/>
                    <a:lstStyle/>
                    <a:p>
                      <a:r>
                        <a:rPr lang="en-US" sz="1600"/>
                        <a:t>Instruction</a:t>
                      </a:r>
                    </a:p>
                  </a:txBody>
                  <a:tcPr/>
                </a:tc>
                <a:tc>
                  <a:txBody>
                    <a:bodyPr/>
                    <a:lstStyle/>
                    <a:p>
                      <a:r>
                        <a:rPr lang="en-US" sz="1600"/>
                        <a:t>Explanation</a:t>
                      </a:r>
                    </a:p>
                  </a:txBody>
                  <a:tcPr/>
                </a:tc>
                <a:extLst>
                  <a:ext uri="{0D108BD9-81ED-4DB2-BD59-A6C34878D82A}">
                    <a16:rowId xmlns:a16="http://schemas.microsoft.com/office/drawing/2014/main" val="2319756336"/>
                  </a:ext>
                </a:extLst>
              </a:tr>
              <a:tr h="579120">
                <a:tc>
                  <a:txBody>
                    <a:bodyPr/>
                    <a:lstStyle/>
                    <a:p>
                      <a:pPr algn="ctr"/>
                      <a:r>
                        <a:rPr lang="en-US" sz="1600"/>
                        <a:t>0</a:t>
                      </a:r>
                    </a:p>
                  </a:txBody>
                  <a:tcPr/>
                </a:tc>
                <a:tc>
                  <a:txBody>
                    <a:bodyPr/>
                    <a:lstStyle/>
                    <a:p>
                      <a:pPr algn="l"/>
                      <a:r>
                        <a:rPr lang="en-US" sz="1600"/>
                        <a:t>0_0000_0000_0000_0000 = 0x00000</a:t>
                      </a:r>
                    </a:p>
                  </a:txBody>
                  <a:tcPr/>
                </a:tc>
                <a:tc>
                  <a:txBody>
                    <a:bodyPr/>
                    <a:lstStyle/>
                    <a:p>
                      <a:pPr algn="l"/>
                      <a:r>
                        <a:rPr lang="en-US" sz="1600"/>
                        <a:t>Wait a clock cycle</a:t>
                      </a:r>
                    </a:p>
                  </a:txBody>
                  <a:tcPr/>
                </a:tc>
                <a:extLst>
                  <a:ext uri="{0D108BD9-81ED-4DB2-BD59-A6C34878D82A}">
                    <a16:rowId xmlns:a16="http://schemas.microsoft.com/office/drawing/2014/main" val="2570910443"/>
                  </a:ext>
                </a:extLst>
              </a:tr>
              <a:tr h="579120">
                <a:tc>
                  <a:txBody>
                    <a:bodyPr/>
                    <a:lstStyle/>
                    <a:p>
                      <a:pPr algn="ctr"/>
                      <a:r>
                        <a:rPr lang="en-US" sz="16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0_1000_0000_0000_0000 = 0x08000</a:t>
                      </a:r>
                    </a:p>
                  </a:txBody>
                  <a:tcPr/>
                </a:tc>
                <a:tc>
                  <a:txBody>
                    <a:bodyPr/>
                    <a:lstStyle/>
                    <a:p>
                      <a:pPr algn="l"/>
                      <a:r>
                        <a:rPr lang="en-US" sz="1600"/>
                        <a:t>Decrement stack pointer</a:t>
                      </a:r>
                    </a:p>
                  </a:txBody>
                  <a:tcPr/>
                </a:tc>
                <a:extLst>
                  <a:ext uri="{0D108BD9-81ED-4DB2-BD59-A6C34878D82A}">
                    <a16:rowId xmlns:a16="http://schemas.microsoft.com/office/drawing/2014/main" val="631651838"/>
                  </a:ext>
                </a:extLst>
              </a:tr>
              <a:tr h="787635">
                <a:tc>
                  <a:txBody>
                    <a:bodyPr/>
                    <a:lstStyle/>
                    <a:p>
                      <a:pPr algn="ctr"/>
                      <a:r>
                        <a:rPr lang="en-US" sz="16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0_0100_0101_0000_0000 = 0x04500</a:t>
                      </a:r>
                    </a:p>
                  </a:txBody>
                  <a:tcPr/>
                </a:tc>
                <a:tc>
                  <a:txBody>
                    <a:bodyPr/>
                    <a:lstStyle/>
                    <a:p>
                      <a:pPr algn="l"/>
                      <a:r>
                        <a:rPr lang="en-US" sz="1600"/>
                        <a:t>Load program address on the stack to the program counter</a:t>
                      </a:r>
                    </a:p>
                  </a:txBody>
                  <a:tcPr/>
                </a:tc>
                <a:extLst>
                  <a:ext uri="{0D108BD9-81ED-4DB2-BD59-A6C34878D82A}">
                    <a16:rowId xmlns:a16="http://schemas.microsoft.com/office/drawing/2014/main" val="1592812184"/>
                  </a:ext>
                </a:extLst>
              </a:tr>
              <a:tr h="579120">
                <a:tc>
                  <a:txBody>
                    <a:bodyPr/>
                    <a:lstStyle/>
                    <a:p>
                      <a:pPr algn="ctr"/>
                      <a:r>
                        <a:rPr lang="en-US" sz="1600"/>
                        <a:t>3</a:t>
                      </a:r>
                    </a:p>
                  </a:txBody>
                  <a:tcPr/>
                </a:tc>
                <a:tc>
                  <a:txBody>
                    <a:bodyPr/>
                    <a:lstStyle/>
                    <a:p>
                      <a:pPr algn="l"/>
                      <a:r>
                        <a:rPr lang="en-US" sz="1600"/>
                        <a:t>0_0000_0000_1000_0000 = 0x00080</a:t>
                      </a:r>
                    </a:p>
                  </a:txBody>
                  <a:tcPr/>
                </a:tc>
                <a:tc>
                  <a:txBody>
                    <a:bodyPr/>
                    <a:lstStyle/>
                    <a:p>
                      <a:pPr algn="l"/>
                      <a:r>
                        <a:rPr lang="en-US" sz="1600"/>
                        <a:t>Advance PC</a:t>
                      </a:r>
                    </a:p>
                  </a:txBody>
                  <a:tcPr/>
                </a:tc>
                <a:extLst>
                  <a:ext uri="{0D108BD9-81ED-4DB2-BD59-A6C34878D82A}">
                    <a16:rowId xmlns:a16="http://schemas.microsoft.com/office/drawing/2014/main" val="2225793510"/>
                  </a:ext>
                </a:extLst>
              </a:tr>
              <a:tr h="354921">
                <a:tc>
                  <a:txBody>
                    <a:bodyPr/>
                    <a:lstStyle/>
                    <a:p>
                      <a:pPr algn="ctr"/>
                      <a:r>
                        <a:rPr lang="en-US" sz="1600"/>
                        <a:t>4</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1046366285"/>
                  </a:ext>
                </a:extLst>
              </a:tr>
              <a:tr h="354921">
                <a:tc>
                  <a:txBody>
                    <a:bodyPr/>
                    <a:lstStyle/>
                    <a:p>
                      <a:pPr algn="ctr"/>
                      <a:r>
                        <a:rPr lang="en-US" sz="1600"/>
                        <a:t>5</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2615342211"/>
                  </a:ext>
                </a:extLst>
              </a:tr>
              <a:tr h="354921">
                <a:tc>
                  <a:txBody>
                    <a:bodyPr/>
                    <a:lstStyle/>
                    <a:p>
                      <a:pPr algn="ctr"/>
                      <a:r>
                        <a:rPr lang="en-US" sz="1600"/>
                        <a:t>6</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2055856817"/>
                  </a:ext>
                </a:extLst>
              </a:tr>
              <a:tr h="354921">
                <a:tc>
                  <a:txBody>
                    <a:bodyPr/>
                    <a:lstStyle/>
                    <a:p>
                      <a:pPr algn="ctr"/>
                      <a:r>
                        <a:rPr lang="en-US" sz="1600"/>
                        <a:t>7</a:t>
                      </a:r>
                    </a:p>
                  </a:txBody>
                  <a:tcPr/>
                </a:tc>
                <a:tc>
                  <a:txBody>
                    <a:bodyPr/>
                    <a:lstStyle/>
                    <a:p>
                      <a:pPr algn="l"/>
                      <a:endParaRPr lang="en-US" sz="1600"/>
                    </a:p>
                  </a:txBody>
                  <a:tcPr/>
                </a:tc>
                <a:tc>
                  <a:txBody>
                    <a:bodyPr/>
                    <a:lstStyle/>
                    <a:p>
                      <a:pPr algn="l"/>
                      <a:endParaRPr lang="en-US" sz="1600"/>
                    </a:p>
                  </a:txBody>
                  <a:tcPr/>
                </a:tc>
                <a:extLst>
                  <a:ext uri="{0D108BD9-81ED-4DB2-BD59-A6C34878D82A}">
                    <a16:rowId xmlns:a16="http://schemas.microsoft.com/office/drawing/2014/main" val="3502991894"/>
                  </a:ext>
                </a:extLst>
              </a:tr>
            </a:tbl>
          </a:graphicData>
        </a:graphic>
      </p:graphicFrame>
      <p:sp>
        <p:nvSpPr>
          <p:cNvPr id="11" name="TextBox 10">
            <a:extLst>
              <a:ext uri="{FF2B5EF4-FFF2-40B4-BE49-F238E27FC236}">
                <a16:creationId xmlns:a16="http://schemas.microsoft.com/office/drawing/2014/main" id="{F18A3303-6AE1-4192-B847-C968E4DE1C58}"/>
              </a:ext>
            </a:extLst>
          </p:cNvPr>
          <p:cNvSpPr txBox="1"/>
          <p:nvPr/>
        </p:nvSpPr>
        <p:spPr>
          <a:xfrm>
            <a:off x="10966456" y="2"/>
            <a:ext cx="1223412" cy="1323439"/>
          </a:xfrm>
          <a:prstGeom prst="rect">
            <a:avLst/>
          </a:prstGeom>
          <a:noFill/>
        </p:spPr>
        <p:txBody>
          <a:bodyPr wrap="none" rtlCol="0">
            <a:spAutoFit/>
          </a:bodyPr>
          <a:lstStyle/>
          <a:p>
            <a:r>
              <a:rPr lang="en-US" sz="8000">
                <a:solidFill>
                  <a:schemeClr val="accent1">
                    <a:lumMod val="60000"/>
                    <a:lumOff val="40000"/>
                  </a:schemeClr>
                </a:solidFill>
              </a:rPr>
              <a:t>11</a:t>
            </a:r>
          </a:p>
        </p:txBody>
      </p:sp>
      <p:graphicFrame>
        <p:nvGraphicFramePr>
          <p:cNvPr id="12" name="Table 4">
            <a:extLst>
              <a:ext uri="{FF2B5EF4-FFF2-40B4-BE49-F238E27FC236}">
                <a16:creationId xmlns:a16="http://schemas.microsoft.com/office/drawing/2014/main" id="{31A55406-8888-4A18-89FC-AB289657FAE4}"/>
              </a:ext>
            </a:extLst>
          </p:cNvPr>
          <p:cNvGraphicFramePr>
            <a:graphicFrameLocks noGrp="1"/>
          </p:cNvGraphicFramePr>
          <p:nvPr>
            <p:extLst>
              <p:ext uri="{D42A27DB-BD31-4B8C-83A1-F6EECF244321}">
                <p14:modId xmlns:p14="http://schemas.microsoft.com/office/powerpoint/2010/main" val="2432884595"/>
              </p:ext>
            </p:extLst>
          </p:nvPr>
        </p:nvGraphicFramePr>
        <p:xfrm>
          <a:off x="179752" y="5624993"/>
          <a:ext cx="10173616" cy="736600"/>
        </p:xfrm>
        <a:graphic>
          <a:graphicData uri="http://schemas.openxmlformats.org/drawingml/2006/table">
            <a:tbl>
              <a:tblPr firstRow="1" bandRow="1">
                <a:tableStyleId>{5C22544A-7EE6-4342-B048-85BDC9FD1C3A}</a:tableStyleId>
              </a:tblPr>
              <a:tblGrid>
                <a:gridCol w="1079707">
                  <a:extLst>
                    <a:ext uri="{9D8B030D-6E8A-4147-A177-3AD203B41FA5}">
                      <a16:colId xmlns:a16="http://schemas.microsoft.com/office/drawing/2014/main" val="1810408170"/>
                    </a:ext>
                  </a:extLst>
                </a:gridCol>
                <a:gridCol w="4488136">
                  <a:extLst>
                    <a:ext uri="{9D8B030D-6E8A-4147-A177-3AD203B41FA5}">
                      <a16:colId xmlns:a16="http://schemas.microsoft.com/office/drawing/2014/main" val="950391025"/>
                    </a:ext>
                  </a:extLst>
                </a:gridCol>
                <a:gridCol w="770983">
                  <a:extLst>
                    <a:ext uri="{9D8B030D-6E8A-4147-A177-3AD203B41FA5}">
                      <a16:colId xmlns:a16="http://schemas.microsoft.com/office/drawing/2014/main" val="1355185516"/>
                    </a:ext>
                  </a:extLst>
                </a:gridCol>
                <a:gridCol w="1653608">
                  <a:extLst>
                    <a:ext uri="{9D8B030D-6E8A-4147-A177-3AD203B41FA5}">
                      <a16:colId xmlns:a16="http://schemas.microsoft.com/office/drawing/2014/main" val="2050007723"/>
                    </a:ext>
                  </a:extLst>
                </a:gridCol>
                <a:gridCol w="2181183">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15 14 13 12 11 10 9 8</a:t>
                      </a:r>
                    </a:p>
                  </a:txBody>
                  <a:tcPr/>
                </a:tc>
                <a:tc>
                  <a:txBody>
                    <a:bodyPr/>
                    <a:lstStyle/>
                    <a:p>
                      <a:pPr algn="ctr"/>
                      <a:r>
                        <a:rPr lang="en-US" sz="1300"/>
                        <a:t>7 6</a:t>
                      </a:r>
                    </a:p>
                  </a:txBody>
                  <a:tcPr/>
                </a:tc>
                <a:tc>
                  <a:txBody>
                    <a:bodyPr/>
                    <a:lstStyle/>
                    <a:p>
                      <a:pPr algn="ctr"/>
                      <a:r>
                        <a:rPr lang="en-US" sz="1300"/>
                        <a:t>5 4</a:t>
                      </a:r>
                    </a:p>
                  </a:txBody>
                  <a:tcPr/>
                </a:tc>
                <a:tc>
                  <a:txBody>
                    <a:bodyPr/>
                    <a:lstStyle/>
                    <a:p>
                      <a:pPr algn="ctr"/>
                      <a:r>
                        <a:rPr lang="en-US" sz="1300"/>
                        <a:t>3 2 1 0</a:t>
                      </a:r>
                    </a:p>
                  </a:txBody>
                  <a:tcPr/>
                </a:tc>
                <a:extLst>
                  <a:ext uri="{0D108BD9-81ED-4DB2-BD59-A6C34878D82A}">
                    <a16:rowId xmlns:a16="http://schemas.microsoft.com/office/drawing/2014/main" val="2319756336"/>
                  </a:ext>
                </a:extLst>
              </a:tr>
              <a:tr h="297180">
                <a:tc>
                  <a:txBody>
                    <a:bodyPr/>
                    <a:lstStyle/>
                    <a:p>
                      <a:pPr algn="ctr"/>
                      <a:r>
                        <a:rPr lang="en-US" sz="1300"/>
                        <a:t>Load Reg</a:t>
                      </a:r>
                    </a:p>
                  </a:txBody>
                  <a:tcPr>
                    <a:solidFill>
                      <a:schemeClr val="accent6"/>
                    </a:solidFill>
                  </a:tcPr>
                </a:tc>
                <a:tc>
                  <a:txBody>
                    <a:bodyPr/>
                    <a:lstStyle/>
                    <a:p>
                      <a:pPr algn="ctr"/>
                      <a:r>
                        <a:rPr lang="en-US" sz="1300"/>
                        <a:t>XXXX </a:t>
                      </a:r>
                      <a:r>
                        <a:rPr lang="en-US" sz="1300" err="1"/>
                        <a:t>XXXX</a:t>
                      </a:r>
                      <a:endParaRPr lang="en-US" sz="1300"/>
                    </a:p>
                  </a:txBody>
                  <a:tcPr/>
                </a:tc>
                <a:tc>
                  <a:txBody>
                    <a:bodyPr/>
                    <a:lstStyle/>
                    <a:p>
                      <a:pPr algn="ctr"/>
                      <a:r>
                        <a:rPr lang="en-US" sz="1300"/>
                        <a:t>XX</a:t>
                      </a:r>
                    </a:p>
                  </a:txBody>
                  <a:tcPr/>
                </a:tc>
                <a:tc>
                  <a:txBody>
                    <a:bodyPr/>
                    <a:lstStyle/>
                    <a:p>
                      <a:pPr algn="ctr"/>
                      <a:r>
                        <a:rPr lang="en-US" sz="1300"/>
                        <a:t>X </a:t>
                      </a:r>
                      <a:r>
                        <a:rPr lang="en-US" sz="1300" err="1"/>
                        <a:t>X</a:t>
                      </a:r>
                      <a:endParaRPr lang="en-US" sz="1300"/>
                    </a:p>
                  </a:txBody>
                  <a:tcPr/>
                </a:tc>
                <a:tc>
                  <a:txBody>
                    <a:bodyPr/>
                    <a:lstStyle/>
                    <a:p>
                      <a:pPr algn="ctr"/>
                      <a:r>
                        <a:rPr lang="en-US" sz="1300"/>
                        <a:t>OpCode</a:t>
                      </a:r>
                    </a:p>
                  </a:txBody>
                  <a:tcPr/>
                </a:tc>
                <a:extLst>
                  <a:ext uri="{0D108BD9-81ED-4DB2-BD59-A6C34878D82A}">
                    <a16:rowId xmlns:a16="http://schemas.microsoft.com/office/drawing/2014/main" val="2570910443"/>
                  </a:ext>
                </a:extLst>
              </a:tr>
            </a:tbl>
          </a:graphicData>
        </a:graphic>
      </p:graphicFrame>
      <p:sp>
        <p:nvSpPr>
          <p:cNvPr id="10" name="TextBox 9">
            <a:extLst>
              <a:ext uri="{FF2B5EF4-FFF2-40B4-BE49-F238E27FC236}">
                <a16:creationId xmlns:a16="http://schemas.microsoft.com/office/drawing/2014/main" id="{EB1AADA8-3F5D-1E95-C0F5-9407CE2D0472}"/>
              </a:ext>
            </a:extLst>
          </p:cNvPr>
          <p:cNvSpPr txBox="1"/>
          <p:nvPr/>
        </p:nvSpPr>
        <p:spPr>
          <a:xfrm>
            <a:off x="6615406" y="4734113"/>
            <a:ext cx="973343" cy="523220"/>
          </a:xfrm>
          <a:prstGeom prst="rect">
            <a:avLst/>
          </a:prstGeom>
          <a:noFill/>
        </p:spPr>
        <p:txBody>
          <a:bodyPr wrap="none" rtlCol="0">
            <a:spAutoFit/>
          </a:bodyPr>
          <a:lstStyle/>
          <a:p>
            <a:r>
              <a:rPr lang="en-US" sz="2800">
                <a:solidFill>
                  <a:srgbClr val="00B050"/>
                </a:solidFill>
                <a:latin typeface="Consolas" panose="020B0609020204030204" pitchFamily="49" charset="0"/>
              </a:rPr>
              <a:t> RTS</a:t>
            </a:r>
          </a:p>
        </p:txBody>
      </p:sp>
      <p:pic>
        <p:nvPicPr>
          <p:cNvPr id="2" name="Picture 1">
            <a:hlinkClick r:id="rId2" action="ppaction://hlinksldjump"/>
            <a:extLst>
              <a:ext uri="{FF2B5EF4-FFF2-40B4-BE49-F238E27FC236}">
                <a16:creationId xmlns:a16="http://schemas.microsoft.com/office/drawing/2014/main" id="{5DE6CA12-7A81-3D82-2B5D-FE1F744C8034}"/>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7" name="Slide Number Placeholder 4">
            <a:extLst>
              <a:ext uri="{FF2B5EF4-FFF2-40B4-BE49-F238E27FC236}">
                <a16:creationId xmlns:a16="http://schemas.microsoft.com/office/drawing/2014/main" id="{EE64856F-B5E5-EACD-CE07-02B9A56CACAF}"/>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133</a:t>
            </a:fld>
            <a:endParaRPr lang="en-US" b="1">
              <a:solidFill>
                <a:schemeClr val="bg1"/>
              </a:solidFill>
            </a:endParaRPr>
          </a:p>
        </p:txBody>
      </p:sp>
      <p:graphicFrame>
        <p:nvGraphicFramePr>
          <p:cNvPr id="9" name="Table 4">
            <a:extLst>
              <a:ext uri="{FF2B5EF4-FFF2-40B4-BE49-F238E27FC236}">
                <a16:creationId xmlns:a16="http://schemas.microsoft.com/office/drawing/2014/main" id="{CDFC8E44-BDD3-F532-7F36-E84938107F8D}"/>
              </a:ext>
            </a:extLst>
          </p:cNvPr>
          <p:cNvGraphicFramePr>
            <a:graphicFrameLocks noGrp="1"/>
          </p:cNvGraphicFramePr>
          <p:nvPr>
            <p:extLst>
              <p:ext uri="{D42A27DB-BD31-4B8C-83A1-F6EECF244321}">
                <p14:modId xmlns:p14="http://schemas.microsoft.com/office/powerpoint/2010/main" val="940534924"/>
              </p:ext>
            </p:extLst>
          </p:nvPr>
        </p:nvGraphicFramePr>
        <p:xfrm>
          <a:off x="193268" y="742463"/>
          <a:ext cx="4329725" cy="436342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
        <p:nvSpPr>
          <p:cNvPr id="13" name="Title 12">
            <a:extLst>
              <a:ext uri="{FF2B5EF4-FFF2-40B4-BE49-F238E27FC236}">
                <a16:creationId xmlns:a16="http://schemas.microsoft.com/office/drawing/2014/main" id="{7FE020F8-5822-1790-AE28-D0194C1F6462}"/>
              </a:ext>
            </a:extLst>
          </p:cNvPr>
          <p:cNvSpPr>
            <a:spLocks noGrp="1"/>
          </p:cNvSpPr>
          <p:nvPr>
            <p:ph type="ctrTitle"/>
          </p:nvPr>
        </p:nvSpPr>
        <p:spPr>
          <a:xfrm>
            <a:off x="914400" y="182880"/>
            <a:ext cx="9144000" cy="457200"/>
          </a:xfrm>
        </p:spPr>
        <p:txBody>
          <a:bodyPr/>
          <a:lstStyle/>
          <a:p>
            <a:r>
              <a:rPr lang="en-US"/>
              <a:t>Micro-Instructions Control: RTS Return from Subroutine (10001)</a:t>
            </a:r>
          </a:p>
        </p:txBody>
      </p:sp>
    </p:spTree>
    <p:extLst>
      <p:ext uri="{BB962C8B-B14F-4D97-AF65-F5344CB8AC3E}">
        <p14:creationId xmlns:p14="http://schemas.microsoft.com/office/powerpoint/2010/main" val="2655388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extLst>
              <p:ext uri="{D42A27DB-BD31-4B8C-83A1-F6EECF244321}">
                <p14:modId xmlns:p14="http://schemas.microsoft.com/office/powerpoint/2010/main" val="8522143"/>
              </p:ext>
            </p:extLst>
          </p:nvPr>
        </p:nvGraphicFramePr>
        <p:xfrm>
          <a:off x="4716584" y="742463"/>
          <a:ext cx="5638801" cy="3876040"/>
        </p:xfrm>
        <a:graphic>
          <a:graphicData uri="http://schemas.openxmlformats.org/drawingml/2006/table">
            <a:tbl>
              <a:tblPr firstRow="1" bandRow="1">
                <a:tableStyleId>{5C22544A-7EE6-4342-B048-85BDC9FD1C3A}</a:tableStyleId>
              </a:tblPr>
              <a:tblGrid>
                <a:gridCol w="855787">
                  <a:extLst>
                    <a:ext uri="{9D8B030D-6E8A-4147-A177-3AD203B41FA5}">
                      <a16:colId xmlns:a16="http://schemas.microsoft.com/office/drawing/2014/main" val="1217920130"/>
                    </a:ext>
                  </a:extLst>
                </a:gridCol>
                <a:gridCol w="2294891">
                  <a:extLst>
                    <a:ext uri="{9D8B030D-6E8A-4147-A177-3AD203B41FA5}">
                      <a16:colId xmlns:a16="http://schemas.microsoft.com/office/drawing/2014/main" val="1475888205"/>
                    </a:ext>
                  </a:extLst>
                </a:gridCol>
                <a:gridCol w="2488124">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370840">
                <a:tc>
                  <a:txBody>
                    <a:bodyPr/>
                    <a:lstStyle/>
                    <a:p>
                      <a:pPr algn="ctr"/>
                      <a:r>
                        <a:rPr lang="en-US" sz="1300"/>
                        <a:t>0</a:t>
                      </a:r>
                    </a:p>
                  </a:txBody>
                  <a:tcPr/>
                </a:tc>
                <a:tc>
                  <a:txBody>
                    <a:bodyPr/>
                    <a:lstStyle/>
                    <a:p>
                      <a:pPr algn="l"/>
                      <a:r>
                        <a:rPr lang="en-US" sz="1300"/>
                        <a:t>0001_0010 = 0x12</a:t>
                      </a:r>
                    </a:p>
                  </a:txBody>
                  <a:tcPr/>
                </a:tc>
                <a:tc>
                  <a:txBody>
                    <a:bodyPr/>
                    <a:lstStyle/>
                    <a:p>
                      <a:pPr algn="l"/>
                      <a:r>
                        <a:rPr lang="en-US" sz="1300"/>
                        <a:t>Load Rs1 to reg A</a:t>
                      </a:r>
                    </a:p>
                  </a:txBody>
                  <a:tcPr/>
                </a:tc>
                <a:extLst>
                  <a:ext uri="{0D108BD9-81ED-4DB2-BD59-A6C34878D82A}">
                    <a16:rowId xmlns:a16="http://schemas.microsoft.com/office/drawing/2014/main" val="2570910443"/>
                  </a:ext>
                </a:extLst>
              </a:tr>
              <a:tr h="370840">
                <a:tc>
                  <a:txBody>
                    <a:bodyPr/>
                    <a:lstStyle/>
                    <a:p>
                      <a:pPr algn="ctr"/>
                      <a:r>
                        <a:rPr lang="en-US" sz="13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0001_1001 = 0x19</a:t>
                      </a:r>
                    </a:p>
                  </a:txBody>
                  <a:tcPr/>
                </a:tc>
                <a:tc>
                  <a:txBody>
                    <a:bodyPr/>
                    <a:lstStyle/>
                    <a:p>
                      <a:pPr algn="l"/>
                      <a:r>
                        <a:rPr lang="en-US" sz="1300"/>
                        <a:t>Load Rs2 to reg B</a:t>
                      </a:r>
                    </a:p>
                  </a:txBody>
                  <a:tcPr/>
                </a:tc>
                <a:extLst>
                  <a:ext uri="{0D108BD9-81ED-4DB2-BD59-A6C34878D82A}">
                    <a16:rowId xmlns:a16="http://schemas.microsoft.com/office/drawing/2014/main" val="631651838"/>
                  </a:ext>
                </a:extLst>
              </a:tr>
              <a:tr h="502920">
                <a:tc>
                  <a:txBody>
                    <a:bodyPr/>
                    <a:lstStyle/>
                    <a:p>
                      <a:pPr algn="ctr"/>
                      <a:r>
                        <a:rPr lang="en-US" sz="13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0000_0100 = 0x04</a:t>
                      </a:r>
                    </a:p>
                  </a:txBody>
                  <a:tcPr/>
                </a:tc>
                <a:tc>
                  <a:txBody>
                    <a:bodyPr/>
                    <a:lstStyle/>
                    <a:p>
                      <a:pPr algn="l"/>
                      <a:r>
                        <a:rPr lang="en-US" sz="1300"/>
                        <a:t>Output ALU value on bus (but don’t save in register)</a:t>
                      </a:r>
                    </a:p>
                  </a:txBody>
                  <a:tcPr/>
                </a:tc>
                <a:extLst>
                  <a:ext uri="{0D108BD9-81ED-4DB2-BD59-A6C34878D82A}">
                    <a16:rowId xmlns:a16="http://schemas.microsoft.com/office/drawing/2014/main" val="1592812184"/>
                  </a:ext>
                </a:extLst>
              </a:tr>
              <a:tr h="370840">
                <a:tc>
                  <a:txBody>
                    <a:bodyPr/>
                    <a:lstStyle/>
                    <a:p>
                      <a:pPr algn="ctr"/>
                      <a:r>
                        <a:rPr lang="en-US" sz="1300"/>
                        <a:t>3</a:t>
                      </a:r>
                    </a:p>
                  </a:txBody>
                  <a:tcPr/>
                </a:tc>
                <a:tc>
                  <a:txBody>
                    <a:bodyPr/>
                    <a:lstStyle/>
                    <a:p>
                      <a:pPr algn="l"/>
                      <a:r>
                        <a:rPr lang="en-US" sz="1300"/>
                        <a:t>1000_0000 = 0x80</a:t>
                      </a:r>
                    </a:p>
                  </a:txBody>
                  <a:tcPr/>
                </a:tc>
                <a:tc>
                  <a:txBody>
                    <a:bodyPr/>
                    <a:lstStyle/>
                    <a:p>
                      <a:pPr algn="l"/>
                      <a:r>
                        <a:rPr lang="en-US" sz="1300"/>
                        <a:t>Increment PC</a:t>
                      </a:r>
                    </a:p>
                  </a:txBody>
                  <a:tcPr/>
                </a:tc>
                <a:extLst>
                  <a:ext uri="{0D108BD9-81ED-4DB2-BD59-A6C34878D82A}">
                    <a16:rowId xmlns:a16="http://schemas.microsoft.com/office/drawing/2014/main" val="2225793510"/>
                  </a:ext>
                </a:extLst>
              </a:tr>
              <a:tr h="370840">
                <a:tc>
                  <a:txBody>
                    <a:bodyPr/>
                    <a:lstStyle/>
                    <a:p>
                      <a:pPr algn="ctr"/>
                      <a:r>
                        <a:rPr lang="en-US" sz="1300"/>
                        <a:t>4</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1046366285"/>
                  </a:ext>
                </a:extLst>
              </a:tr>
              <a:tr h="370840">
                <a:tc>
                  <a:txBody>
                    <a:bodyPr/>
                    <a:lstStyle/>
                    <a:p>
                      <a:pPr algn="ctr"/>
                      <a:r>
                        <a:rPr lang="en-US" sz="1300"/>
                        <a:t>5</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615342211"/>
                  </a:ext>
                </a:extLst>
              </a:tr>
              <a:tr h="370840">
                <a:tc>
                  <a:txBody>
                    <a:bodyPr/>
                    <a:lstStyle/>
                    <a:p>
                      <a:pPr algn="ctr"/>
                      <a:r>
                        <a:rPr lang="en-US" sz="1300"/>
                        <a:t>6</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055856817"/>
                  </a:ext>
                </a:extLst>
              </a:tr>
              <a:tr h="370840">
                <a:tc>
                  <a:txBody>
                    <a:bodyPr/>
                    <a:lstStyle/>
                    <a:p>
                      <a:pPr algn="ctr"/>
                      <a:r>
                        <a:rPr lang="en-US" sz="1300"/>
                        <a:t>7</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3502991894"/>
                  </a:ext>
                </a:extLst>
              </a:tr>
            </a:tbl>
          </a:graphicData>
        </a:graphic>
      </p:graphicFrame>
      <p:graphicFrame>
        <p:nvGraphicFramePr>
          <p:cNvPr id="6" name="Table 4">
            <a:extLst>
              <a:ext uri="{FF2B5EF4-FFF2-40B4-BE49-F238E27FC236}">
                <a16:creationId xmlns:a16="http://schemas.microsoft.com/office/drawing/2014/main" id="{0DFA9C31-EF12-4E73-95D6-4A8DD48CB5A3}"/>
              </a:ext>
            </a:extLst>
          </p:cNvPr>
          <p:cNvGraphicFramePr>
            <a:graphicFrameLocks noGrp="1"/>
          </p:cNvGraphicFramePr>
          <p:nvPr/>
        </p:nvGraphicFramePr>
        <p:xfrm>
          <a:off x="179752" y="5619913"/>
          <a:ext cx="9276861" cy="736600"/>
        </p:xfrm>
        <a:graphic>
          <a:graphicData uri="http://schemas.openxmlformats.org/drawingml/2006/table">
            <a:tbl>
              <a:tblPr firstRow="1" bandRow="1">
                <a:tableStyleId>{5C22544A-7EE6-4342-B048-85BDC9FD1C3A}</a:tableStyleId>
              </a:tblPr>
              <a:tblGrid>
                <a:gridCol w="1312985">
                  <a:extLst>
                    <a:ext uri="{9D8B030D-6E8A-4147-A177-3AD203B41FA5}">
                      <a16:colId xmlns:a16="http://schemas.microsoft.com/office/drawing/2014/main" val="1810408170"/>
                    </a:ext>
                  </a:extLst>
                </a:gridCol>
                <a:gridCol w="2089399">
                  <a:extLst>
                    <a:ext uri="{9D8B030D-6E8A-4147-A177-3AD203B41FA5}">
                      <a16:colId xmlns:a16="http://schemas.microsoft.com/office/drawing/2014/main" val="1217920130"/>
                    </a:ext>
                  </a:extLst>
                </a:gridCol>
                <a:gridCol w="824031">
                  <a:extLst>
                    <a:ext uri="{9D8B030D-6E8A-4147-A177-3AD203B41FA5}">
                      <a16:colId xmlns:a16="http://schemas.microsoft.com/office/drawing/2014/main" val="1475888205"/>
                    </a:ext>
                  </a:extLst>
                </a:gridCol>
                <a:gridCol w="1262612">
                  <a:extLst>
                    <a:ext uri="{9D8B030D-6E8A-4147-A177-3AD203B41FA5}">
                      <a16:colId xmlns:a16="http://schemas.microsoft.com/office/drawing/2014/main" val="1355185516"/>
                    </a:ext>
                  </a:extLst>
                </a:gridCol>
                <a:gridCol w="1584927">
                  <a:extLst>
                    <a:ext uri="{9D8B030D-6E8A-4147-A177-3AD203B41FA5}">
                      <a16:colId xmlns:a16="http://schemas.microsoft.com/office/drawing/2014/main" val="2050007723"/>
                    </a:ext>
                  </a:extLst>
                </a:gridCol>
                <a:gridCol w="1149517">
                  <a:extLst>
                    <a:ext uri="{9D8B030D-6E8A-4147-A177-3AD203B41FA5}">
                      <a16:colId xmlns:a16="http://schemas.microsoft.com/office/drawing/2014/main" val="3099546510"/>
                    </a:ext>
                  </a:extLst>
                </a:gridCol>
                <a:gridCol w="1053392">
                  <a:extLst>
                    <a:ext uri="{9D8B030D-6E8A-4147-A177-3AD203B41FA5}">
                      <a16:colId xmlns:a16="http://schemas.microsoft.com/office/drawing/2014/main" val="1677154990"/>
                    </a:ext>
                  </a:extLst>
                </a:gridCol>
              </a:tblGrid>
              <a:tr h="370840">
                <a:tc>
                  <a:txBody>
                    <a:bodyPr/>
                    <a:lstStyle/>
                    <a:p>
                      <a:r>
                        <a:rPr lang="en-US" sz="1300"/>
                        <a:t>Type</a:t>
                      </a:r>
                    </a:p>
                  </a:txBody>
                  <a:tcPr/>
                </a:tc>
                <a:tc>
                  <a:txBody>
                    <a:bodyPr/>
                    <a:lstStyle/>
                    <a:p>
                      <a:r>
                        <a:rPr lang="en-US" sz="1300"/>
                        <a:t>15 14 13 12 </a:t>
                      </a:r>
                    </a:p>
                  </a:txBody>
                  <a:tcPr/>
                </a:tc>
                <a:tc>
                  <a:txBody>
                    <a:bodyPr/>
                    <a:lstStyle/>
                    <a:p>
                      <a:r>
                        <a:rPr lang="en-US" sz="1300"/>
                        <a:t>11 10</a:t>
                      </a:r>
                    </a:p>
                  </a:txBody>
                  <a:tcPr/>
                </a:tc>
                <a:tc>
                  <a:txBody>
                    <a:bodyPr/>
                    <a:lstStyle/>
                    <a:p>
                      <a:r>
                        <a:rPr lang="en-US" sz="1300"/>
                        <a:t>9 8</a:t>
                      </a:r>
                    </a:p>
                  </a:txBody>
                  <a:tcPr/>
                </a:tc>
                <a:tc>
                  <a:txBody>
                    <a:bodyPr/>
                    <a:lstStyle/>
                    <a:p>
                      <a:r>
                        <a:rPr lang="en-US" sz="1300"/>
                        <a:t>7 6 5 4</a:t>
                      </a:r>
                    </a:p>
                  </a:txBody>
                  <a:tcPr/>
                </a:tc>
                <a:tc>
                  <a:txBody>
                    <a:bodyPr/>
                    <a:lstStyle/>
                    <a:p>
                      <a:r>
                        <a:rPr lang="en-US" sz="1300"/>
                        <a:t>3 2</a:t>
                      </a:r>
                    </a:p>
                  </a:txBody>
                  <a:tcPr/>
                </a:tc>
                <a:tc>
                  <a:txBody>
                    <a:bodyPr/>
                    <a:lstStyle/>
                    <a:p>
                      <a:r>
                        <a:rPr lang="en-US" sz="1300"/>
                        <a:t>1 0</a:t>
                      </a:r>
                    </a:p>
                  </a:txBody>
                  <a:tcPr/>
                </a:tc>
                <a:extLst>
                  <a:ext uri="{0D108BD9-81ED-4DB2-BD59-A6C34878D82A}">
                    <a16:rowId xmlns:a16="http://schemas.microsoft.com/office/drawing/2014/main" val="2319756336"/>
                  </a:ext>
                </a:extLst>
              </a:tr>
              <a:tr h="297180">
                <a:tc>
                  <a:txBody>
                    <a:bodyPr/>
                    <a:lstStyle/>
                    <a:p>
                      <a:pPr algn="ctr"/>
                      <a:r>
                        <a:rPr lang="en-US" sz="1300"/>
                        <a:t>ALU</a:t>
                      </a:r>
                    </a:p>
                  </a:txBody>
                  <a:tcPr/>
                </a:tc>
                <a:tc>
                  <a:txBody>
                    <a:bodyPr/>
                    <a:lstStyle/>
                    <a:p>
                      <a:pPr algn="ctr"/>
                      <a:r>
                        <a:rPr lang="en-US" sz="1300"/>
                        <a:t>OpCode</a:t>
                      </a:r>
                    </a:p>
                  </a:txBody>
                  <a:tcPr/>
                </a:tc>
                <a:tc>
                  <a:txBody>
                    <a:bodyPr/>
                    <a:lstStyle/>
                    <a:p>
                      <a:pPr algn="ctr"/>
                      <a:r>
                        <a:rPr lang="en-US" sz="1300"/>
                        <a:t>XX</a:t>
                      </a:r>
                    </a:p>
                  </a:txBody>
                  <a:tcPr/>
                </a:tc>
                <a:tc>
                  <a:txBody>
                    <a:bodyPr/>
                    <a:lstStyle/>
                    <a:p>
                      <a:pPr algn="ctr"/>
                      <a:r>
                        <a:rPr lang="en-US" sz="1300"/>
                        <a:t>Rd</a:t>
                      </a:r>
                    </a:p>
                  </a:txBody>
                  <a:tcPr/>
                </a:tc>
                <a:tc>
                  <a:txBody>
                    <a:bodyPr/>
                    <a:lstStyle/>
                    <a:p>
                      <a:pPr algn="ctr"/>
                      <a:r>
                        <a:rPr lang="en-US" sz="1300"/>
                        <a:t>Function</a:t>
                      </a:r>
                    </a:p>
                  </a:txBody>
                  <a:tcPr/>
                </a:tc>
                <a:tc>
                  <a:txBody>
                    <a:bodyPr/>
                    <a:lstStyle/>
                    <a:p>
                      <a:pPr algn="ctr"/>
                      <a:r>
                        <a:rPr lang="en-US" sz="1300"/>
                        <a:t>Rs1</a:t>
                      </a:r>
                    </a:p>
                  </a:txBody>
                  <a:tcPr/>
                </a:tc>
                <a:tc>
                  <a:txBody>
                    <a:bodyPr/>
                    <a:lstStyle/>
                    <a:p>
                      <a:pPr algn="ctr"/>
                      <a:r>
                        <a:rPr lang="en-US" sz="1300"/>
                        <a:t>Rs2</a:t>
                      </a:r>
                    </a:p>
                  </a:txBody>
                  <a:tcPr/>
                </a:tc>
                <a:extLst>
                  <a:ext uri="{0D108BD9-81ED-4DB2-BD59-A6C34878D82A}">
                    <a16:rowId xmlns:a16="http://schemas.microsoft.com/office/drawing/2014/main" val="2570910443"/>
                  </a:ext>
                </a:extLst>
              </a:tr>
            </a:tbl>
          </a:graphicData>
        </a:graphic>
      </p:graphicFrame>
      <p:graphicFrame>
        <p:nvGraphicFramePr>
          <p:cNvPr id="8" name="Table 4">
            <a:extLst>
              <a:ext uri="{FF2B5EF4-FFF2-40B4-BE49-F238E27FC236}">
                <a16:creationId xmlns:a16="http://schemas.microsoft.com/office/drawing/2014/main" id="{438A22CA-2606-4EC2-9E31-AA955DF6E237}"/>
              </a:ext>
            </a:extLst>
          </p:cNvPr>
          <p:cNvGraphicFramePr>
            <a:graphicFrameLocks noGrp="1"/>
          </p:cNvGraphicFramePr>
          <p:nvPr/>
        </p:nvGraphicFramePr>
        <p:xfrm>
          <a:off x="179753" y="5619913"/>
          <a:ext cx="9276863" cy="736600"/>
        </p:xfrm>
        <a:graphic>
          <a:graphicData uri="http://schemas.openxmlformats.org/drawingml/2006/table">
            <a:tbl>
              <a:tblPr firstRow="1" bandRow="1">
                <a:tableStyleId>{5C22544A-7EE6-4342-B048-85BDC9FD1C3A}</a:tableStyleId>
              </a:tblPr>
              <a:tblGrid>
                <a:gridCol w="1071627">
                  <a:extLst>
                    <a:ext uri="{9D8B030D-6E8A-4147-A177-3AD203B41FA5}">
                      <a16:colId xmlns:a16="http://schemas.microsoft.com/office/drawing/2014/main" val="1810408170"/>
                    </a:ext>
                  </a:extLst>
                </a:gridCol>
                <a:gridCol w="804069">
                  <a:extLst>
                    <a:ext uri="{9D8B030D-6E8A-4147-A177-3AD203B41FA5}">
                      <a16:colId xmlns:a16="http://schemas.microsoft.com/office/drawing/2014/main" val="950391025"/>
                    </a:ext>
                  </a:extLst>
                </a:gridCol>
                <a:gridCol w="1055077">
                  <a:extLst>
                    <a:ext uri="{9D8B030D-6E8A-4147-A177-3AD203B41FA5}">
                      <a16:colId xmlns:a16="http://schemas.microsoft.com/office/drawing/2014/main" val="1217920130"/>
                    </a:ext>
                  </a:extLst>
                </a:gridCol>
                <a:gridCol w="2595403">
                  <a:extLst>
                    <a:ext uri="{9D8B030D-6E8A-4147-A177-3AD203B41FA5}">
                      <a16:colId xmlns:a16="http://schemas.microsoft.com/office/drawing/2014/main" val="1475888205"/>
                    </a:ext>
                  </a:extLst>
                </a:gridCol>
                <a:gridCol w="765213">
                  <a:extLst>
                    <a:ext uri="{9D8B030D-6E8A-4147-A177-3AD203B41FA5}">
                      <a16:colId xmlns:a16="http://schemas.microsoft.com/office/drawing/2014/main" val="1355185516"/>
                    </a:ext>
                  </a:extLst>
                </a:gridCol>
                <a:gridCol w="820616">
                  <a:extLst>
                    <a:ext uri="{9D8B030D-6E8A-4147-A177-3AD203B41FA5}">
                      <a16:colId xmlns:a16="http://schemas.microsoft.com/office/drawing/2014/main" val="2050007723"/>
                    </a:ext>
                  </a:extLst>
                </a:gridCol>
                <a:gridCol w="2164859">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a:t>
                      </a:r>
                    </a:p>
                  </a:txBody>
                  <a:tcPr/>
                </a:tc>
                <a:tc>
                  <a:txBody>
                    <a:bodyPr/>
                    <a:lstStyle/>
                    <a:p>
                      <a:pPr algn="ctr"/>
                      <a:r>
                        <a:rPr lang="en-US" sz="1300"/>
                        <a:t>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5 4</a:t>
                      </a:r>
                    </a:p>
                  </a:txBody>
                  <a:tcPr/>
                </a:tc>
                <a:tc>
                  <a:txBody>
                    <a:bodyPr/>
                    <a:lstStyle/>
                    <a:p>
                      <a:pPr algn="ctr"/>
                      <a:r>
                        <a:rPr lang="en-US" sz="1300"/>
                        <a:t>3 2 1 0</a:t>
                      </a:r>
                    </a:p>
                  </a:txBody>
                  <a:tcPr/>
                </a:tc>
                <a:extLst>
                  <a:ext uri="{0D108BD9-81ED-4DB2-BD59-A6C34878D82A}">
                    <a16:rowId xmlns:a16="http://schemas.microsoft.com/office/drawing/2014/main" val="2319756336"/>
                  </a:ext>
                </a:extLst>
              </a:tr>
              <a:tr h="297180">
                <a:tc>
                  <a:txBody>
                    <a:bodyPr/>
                    <a:lstStyle/>
                    <a:p>
                      <a:pPr algn="ctr"/>
                      <a:r>
                        <a:rPr lang="en-US" sz="1300"/>
                        <a:t>ALU</a:t>
                      </a:r>
                    </a:p>
                  </a:txBody>
                  <a:tcPr>
                    <a:solidFill>
                      <a:schemeClr val="accent6"/>
                    </a:solidFill>
                  </a:tcPr>
                </a:tc>
                <a:tc>
                  <a:txBody>
                    <a:bodyPr/>
                    <a:lstStyle/>
                    <a:p>
                      <a:pPr algn="ctr"/>
                      <a:r>
                        <a:rPr lang="en-US" sz="1300"/>
                        <a:t>Rs2</a:t>
                      </a:r>
                    </a:p>
                  </a:txBody>
                  <a:tcPr/>
                </a:tc>
                <a:tc>
                  <a:txBody>
                    <a:bodyPr/>
                    <a:lstStyle/>
                    <a:p>
                      <a:pPr algn="ctr"/>
                      <a:r>
                        <a:rPr lang="en-US" sz="1300"/>
                        <a:t>Rs1</a:t>
                      </a:r>
                    </a:p>
                  </a:txBody>
                  <a:tcPr/>
                </a:tc>
                <a:tc>
                  <a:txBody>
                    <a:bodyPr/>
                    <a:lstStyle/>
                    <a:p>
                      <a:pPr algn="ctr"/>
                      <a:r>
                        <a:rPr lang="en-US" sz="1300"/>
                        <a:t>S2 S1 S0 SF (Function </a:t>
                      </a:r>
                      <a:r>
                        <a:rPr lang="en-US" sz="1300" err="1"/>
                        <a:t>sel</a:t>
                      </a:r>
                      <a:r>
                        <a:rPr lang="en-US" sz="1300"/>
                        <a:t>)</a:t>
                      </a:r>
                    </a:p>
                  </a:txBody>
                  <a:tcPr/>
                </a:tc>
                <a:tc>
                  <a:txBody>
                    <a:bodyPr/>
                    <a:lstStyle/>
                    <a:p>
                      <a:pPr algn="ctr"/>
                      <a:r>
                        <a:rPr lang="en-US" sz="1300"/>
                        <a:t>Rd</a:t>
                      </a:r>
                    </a:p>
                  </a:txBody>
                  <a:tcPr/>
                </a:tc>
                <a:tc>
                  <a:txBody>
                    <a:bodyPr/>
                    <a:lstStyle/>
                    <a:p>
                      <a:pPr algn="ctr"/>
                      <a:r>
                        <a:rPr lang="en-US" sz="1300"/>
                        <a:t>XX</a:t>
                      </a:r>
                    </a:p>
                  </a:txBody>
                  <a:tcPr/>
                </a:tc>
                <a:tc>
                  <a:txBody>
                    <a:bodyPr/>
                    <a:lstStyle/>
                    <a:p>
                      <a:pPr algn="ctr"/>
                      <a:r>
                        <a:rPr lang="en-US" sz="1300"/>
                        <a:t>OpCode</a:t>
                      </a:r>
                    </a:p>
                  </a:txBody>
                  <a:tcPr/>
                </a:tc>
                <a:extLst>
                  <a:ext uri="{0D108BD9-81ED-4DB2-BD59-A6C34878D82A}">
                    <a16:rowId xmlns:a16="http://schemas.microsoft.com/office/drawing/2014/main" val="2570910443"/>
                  </a:ext>
                </a:extLst>
              </a:tr>
            </a:tbl>
          </a:graphicData>
        </a:graphic>
      </p:graphicFrame>
      <p:sp>
        <p:nvSpPr>
          <p:cNvPr id="10" name="TextBox 9">
            <a:extLst>
              <a:ext uri="{FF2B5EF4-FFF2-40B4-BE49-F238E27FC236}">
                <a16:creationId xmlns:a16="http://schemas.microsoft.com/office/drawing/2014/main" id="{F662345A-68AE-69A8-FFFE-5EB648CC51A4}"/>
              </a:ext>
            </a:extLst>
          </p:cNvPr>
          <p:cNvSpPr txBox="1"/>
          <p:nvPr/>
        </p:nvSpPr>
        <p:spPr>
          <a:xfrm>
            <a:off x="6615404" y="4734113"/>
            <a:ext cx="2747868" cy="523220"/>
          </a:xfrm>
          <a:prstGeom prst="rect">
            <a:avLst/>
          </a:prstGeom>
          <a:noFill/>
        </p:spPr>
        <p:txBody>
          <a:bodyPr wrap="none" rtlCol="0">
            <a:spAutoFit/>
          </a:bodyPr>
          <a:lstStyle/>
          <a:p>
            <a:r>
              <a:rPr lang="en-US" sz="2800">
                <a:solidFill>
                  <a:srgbClr val="00B050"/>
                </a:solidFill>
                <a:latin typeface="Consolas" panose="020B0609020204030204" pitchFamily="49" charset="0"/>
              </a:rPr>
              <a:t> TST Rs1, Rs2</a:t>
            </a:r>
          </a:p>
        </p:txBody>
      </p:sp>
      <p:sp>
        <p:nvSpPr>
          <p:cNvPr id="11" name="TextBox 10">
            <a:extLst>
              <a:ext uri="{FF2B5EF4-FFF2-40B4-BE49-F238E27FC236}">
                <a16:creationId xmlns:a16="http://schemas.microsoft.com/office/drawing/2014/main" id="{E086C5B6-7188-0F61-1029-5F0390E190B9}"/>
              </a:ext>
            </a:extLst>
          </p:cNvPr>
          <p:cNvSpPr txBox="1"/>
          <p:nvPr/>
        </p:nvSpPr>
        <p:spPr>
          <a:xfrm>
            <a:off x="10966456" y="2"/>
            <a:ext cx="1223412" cy="1323439"/>
          </a:xfrm>
          <a:prstGeom prst="rect">
            <a:avLst/>
          </a:prstGeom>
          <a:noFill/>
        </p:spPr>
        <p:txBody>
          <a:bodyPr wrap="none" rtlCol="0">
            <a:spAutoFit/>
          </a:bodyPr>
          <a:lstStyle/>
          <a:p>
            <a:r>
              <a:rPr lang="en-US" sz="8000">
                <a:solidFill>
                  <a:schemeClr val="accent1">
                    <a:lumMod val="60000"/>
                    <a:lumOff val="40000"/>
                  </a:schemeClr>
                </a:solidFill>
              </a:rPr>
              <a:t>12</a:t>
            </a:r>
          </a:p>
        </p:txBody>
      </p:sp>
      <p:pic>
        <p:nvPicPr>
          <p:cNvPr id="2" name="Picture 1">
            <a:hlinkClick r:id="rId2" action="ppaction://hlinksldjump"/>
            <a:extLst>
              <a:ext uri="{FF2B5EF4-FFF2-40B4-BE49-F238E27FC236}">
                <a16:creationId xmlns:a16="http://schemas.microsoft.com/office/drawing/2014/main" id="{6BE138DB-6748-9123-B9CD-E4300158C42D}"/>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2" name="Slide Number Placeholder 4">
            <a:extLst>
              <a:ext uri="{FF2B5EF4-FFF2-40B4-BE49-F238E27FC236}">
                <a16:creationId xmlns:a16="http://schemas.microsoft.com/office/drawing/2014/main" id="{DE6F0EF7-A144-22EC-62BA-F17746FB9707}"/>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134</a:t>
            </a:fld>
            <a:endParaRPr lang="en-US" b="1">
              <a:solidFill>
                <a:schemeClr val="bg1"/>
              </a:solidFill>
            </a:endParaRPr>
          </a:p>
        </p:txBody>
      </p:sp>
      <p:graphicFrame>
        <p:nvGraphicFramePr>
          <p:cNvPr id="13" name="Table 4">
            <a:extLst>
              <a:ext uri="{FF2B5EF4-FFF2-40B4-BE49-F238E27FC236}">
                <a16:creationId xmlns:a16="http://schemas.microsoft.com/office/drawing/2014/main" id="{F581ED9B-872D-649A-AD9A-85C4BF32FC83}"/>
              </a:ext>
            </a:extLst>
          </p:cNvPr>
          <p:cNvGraphicFramePr>
            <a:graphicFrameLocks noGrp="1"/>
          </p:cNvGraphicFramePr>
          <p:nvPr>
            <p:extLst>
              <p:ext uri="{D42A27DB-BD31-4B8C-83A1-F6EECF244321}">
                <p14:modId xmlns:p14="http://schemas.microsoft.com/office/powerpoint/2010/main" val="940534924"/>
              </p:ext>
            </p:extLst>
          </p:nvPr>
        </p:nvGraphicFramePr>
        <p:xfrm>
          <a:off x="193268" y="742463"/>
          <a:ext cx="4329725" cy="436342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
        <p:nvSpPr>
          <p:cNvPr id="14" name="Title 13">
            <a:extLst>
              <a:ext uri="{FF2B5EF4-FFF2-40B4-BE49-F238E27FC236}">
                <a16:creationId xmlns:a16="http://schemas.microsoft.com/office/drawing/2014/main" id="{72EDB4B7-C1DD-4EAC-DE16-275CB479C473}"/>
              </a:ext>
            </a:extLst>
          </p:cNvPr>
          <p:cNvSpPr>
            <a:spLocks noGrp="1"/>
          </p:cNvSpPr>
          <p:nvPr>
            <p:ph type="ctrTitle"/>
          </p:nvPr>
        </p:nvSpPr>
        <p:spPr>
          <a:xfrm>
            <a:off x="914400" y="182880"/>
            <a:ext cx="9144000" cy="457200"/>
          </a:xfrm>
        </p:spPr>
        <p:txBody>
          <a:bodyPr/>
          <a:lstStyle/>
          <a:p>
            <a:r>
              <a:rPr lang="en-US"/>
              <a:t>Micro-Instructions Control: Test (10010)</a:t>
            </a:r>
          </a:p>
        </p:txBody>
      </p:sp>
    </p:spTree>
    <p:extLst>
      <p:ext uri="{BB962C8B-B14F-4D97-AF65-F5344CB8AC3E}">
        <p14:creationId xmlns:p14="http://schemas.microsoft.com/office/powerpoint/2010/main" val="834680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EB91328-3C75-4219-B849-F6944D75CCBE}"/>
              </a:ext>
            </a:extLst>
          </p:cNvPr>
          <p:cNvGraphicFramePr>
            <a:graphicFrameLocks noGrp="1"/>
          </p:cNvGraphicFramePr>
          <p:nvPr>
            <p:extLst>
              <p:ext uri="{D42A27DB-BD31-4B8C-83A1-F6EECF244321}">
                <p14:modId xmlns:p14="http://schemas.microsoft.com/office/powerpoint/2010/main" val="686676296"/>
              </p:ext>
            </p:extLst>
          </p:nvPr>
        </p:nvGraphicFramePr>
        <p:xfrm>
          <a:off x="4716584" y="742463"/>
          <a:ext cx="5638801" cy="3870960"/>
        </p:xfrm>
        <a:graphic>
          <a:graphicData uri="http://schemas.openxmlformats.org/drawingml/2006/table">
            <a:tbl>
              <a:tblPr firstRow="1" bandRow="1">
                <a:tableStyleId>{5C22544A-7EE6-4342-B048-85BDC9FD1C3A}</a:tableStyleId>
              </a:tblPr>
              <a:tblGrid>
                <a:gridCol w="855787">
                  <a:extLst>
                    <a:ext uri="{9D8B030D-6E8A-4147-A177-3AD203B41FA5}">
                      <a16:colId xmlns:a16="http://schemas.microsoft.com/office/drawing/2014/main" val="1217920130"/>
                    </a:ext>
                  </a:extLst>
                </a:gridCol>
                <a:gridCol w="2294891">
                  <a:extLst>
                    <a:ext uri="{9D8B030D-6E8A-4147-A177-3AD203B41FA5}">
                      <a16:colId xmlns:a16="http://schemas.microsoft.com/office/drawing/2014/main" val="1475888205"/>
                    </a:ext>
                  </a:extLst>
                </a:gridCol>
                <a:gridCol w="2488124">
                  <a:extLst>
                    <a:ext uri="{9D8B030D-6E8A-4147-A177-3AD203B41FA5}">
                      <a16:colId xmlns:a16="http://schemas.microsoft.com/office/drawing/2014/main" val="2801792198"/>
                    </a:ext>
                  </a:extLst>
                </a:gridCol>
              </a:tblGrid>
              <a:tr h="324599">
                <a:tc>
                  <a:txBody>
                    <a:bodyPr/>
                    <a:lstStyle/>
                    <a:p>
                      <a:r>
                        <a:rPr lang="en-US" sz="1300"/>
                        <a:t>Cycle #</a:t>
                      </a:r>
                    </a:p>
                  </a:txBody>
                  <a:tcPr/>
                </a:tc>
                <a:tc>
                  <a:txBody>
                    <a:bodyPr/>
                    <a:lstStyle/>
                    <a:p>
                      <a:r>
                        <a:rPr lang="en-US" sz="1300"/>
                        <a:t>Instruction</a:t>
                      </a:r>
                    </a:p>
                  </a:txBody>
                  <a:tcPr/>
                </a:tc>
                <a:tc>
                  <a:txBody>
                    <a:bodyPr/>
                    <a:lstStyle/>
                    <a:p>
                      <a:r>
                        <a:rPr lang="en-US" sz="1300"/>
                        <a:t>Explanation</a:t>
                      </a:r>
                    </a:p>
                  </a:txBody>
                  <a:tcPr/>
                </a:tc>
                <a:extLst>
                  <a:ext uri="{0D108BD9-81ED-4DB2-BD59-A6C34878D82A}">
                    <a16:rowId xmlns:a16="http://schemas.microsoft.com/office/drawing/2014/main" val="2319756336"/>
                  </a:ext>
                </a:extLst>
              </a:tr>
              <a:tr h="502920">
                <a:tc>
                  <a:txBody>
                    <a:bodyPr/>
                    <a:lstStyle/>
                    <a:p>
                      <a:pPr algn="ctr"/>
                      <a:r>
                        <a:rPr lang="en-US" sz="1300"/>
                        <a:t>0</a:t>
                      </a:r>
                    </a:p>
                  </a:txBody>
                  <a:tcPr/>
                </a:tc>
                <a:tc>
                  <a:txBody>
                    <a:bodyPr/>
                    <a:lstStyle/>
                    <a:p>
                      <a:pPr algn="l"/>
                      <a:r>
                        <a:rPr lang="en-US" sz="1300"/>
                        <a:t>10_0000_0001_0010 = 0x2012</a:t>
                      </a:r>
                    </a:p>
                  </a:txBody>
                  <a:tcPr/>
                </a:tc>
                <a:tc>
                  <a:txBody>
                    <a:bodyPr/>
                    <a:lstStyle/>
                    <a:p>
                      <a:pPr algn="l"/>
                      <a:r>
                        <a:rPr lang="en-US" sz="1300"/>
                        <a:t>Load Rd to reg A</a:t>
                      </a:r>
                    </a:p>
                  </a:txBody>
                  <a:tcPr/>
                </a:tc>
                <a:extLst>
                  <a:ext uri="{0D108BD9-81ED-4DB2-BD59-A6C34878D82A}">
                    <a16:rowId xmlns:a16="http://schemas.microsoft.com/office/drawing/2014/main" val="2570910443"/>
                  </a:ext>
                </a:extLst>
              </a:tr>
              <a:tr h="370840">
                <a:tc>
                  <a:txBody>
                    <a:bodyPr/>
                    <a:lstStyle/>
                    <a:p>
                      <a:pPr algn="ctr"/>
                      <a:r>
                        <a:rPr lang="en-US" sz="130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0100_0001 = 0x0041</a:t>
                      </a:r>
                    </a:p>
                  </a:txBody>
                  <a:tcPr/>
                </a:tc>
                <a:tc>
                  <a:txBody>
                    <a:bodyPr/>
                    <a:lstStyle/>
                    <a:p>
                      <a:pPr algn="l"/>
                      <a:r>
                        <a:rPr lang="en-US" sz="1300"/>
                        <a:t>Load 4 bit </a:t>
                      </a:r>
                      <a:r>
                        <a:rPr lang="en-US" sz="1300" err="1"/>
                        <a:t>imm</a:t>
                      </a:r>
                      <a:r>
                        <a:rPr lang="en-US" sz="1300"/>
                        <a:t> to reg B</a:t>
                      </a:r>
                    </a:p>
                  </a:txBody>
                  <a:tcPr/>
                </a:tc>
                <a:extLst>
                  <a:ext uri="{0D108BD9-81ED-4DB2-BD59-A6C34878D82A}">
                    <a16:rowId xmlns:a16="http://schemas.microsoft.com/office/drawing/2014/main" val="631651838"/>
                  </a:ext>
                </a:extLst>
              </a:tr>
              <a:tr h="502920">
                <a:tc>
                  <a:txBody>
                    <a:bodyPr/>
                    <a:lstStyle/>
                    <a:p>
                      <a:pPr algn="ctr"/>
                      <a:r>
                        <a:rPr lang="en-US" sz="130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0000_0100 = 0x0004</a:t>
                      </a:r>
                    </a:p>
                  </a:txBody>
                  <a:tcPr/>
                </a:tc>
                <a:tc>
                  <a:txBody>
                    <a:bodyPr/>
                    <a:lstStyle/>
                    <a:p>
                      <a:pPr algn="l"/>
                      <a:r>
                        <a:rPr lang="en-US" sz="1300"/>
                        <a:t>Write ALU output to bus (but not to register)</a:t>
                      </a:r>
                    </a:p>
                  </a:txBody>
                  <a:tcPr/>
                </a:tc>
                <a:extLst>
                  <a:ext uri="{0D108BD9-81ED-4DB2-BD59-A6C34878D82A}">
                    <a16:rowId xmlns:a16="http://schemas.microsoft.com/office/drawing/2014/main" val="1592812184"/>
                  </a:ext>
                </a:extLst>
              </a:tr>
              <a:tr h="370840">
                <a:tc>
                  <a:txBody>
                    <a:bodyPr/>
                    <a:lstStyle/>
                    <a:p>
                      <a:pPr algn="ctr"/>
                      <a:r>
                        <a:rPr lang="en-US" sz="1300"/>
                        <a:t>3</a:t>
                      </a:r>
                    </a:p>
                  </a:txBody>
                  <a:tcPr/>
                </a:tc>
                <a:tc>
                  <a:txBody>
                    <a:bodyPr/>
                    <a:lstStyle/>
                    <a:p>
                      <a:pPr algn="l"/>
                      <a:r>
                        <a:rPr lang="en-US" sz="1300"/>
                        <a:t>1000_0000 = 0x80</a:t>
                      </a:r>
                    </a:p>
                  </a:txBody>
                  <a:tcPr/>
                </a:tc>
                <a:tc>
                  <a:txBody>
                    <a:bodyPr/>
                    <a:lstStyle/>
                    <a:p>
                      <a:pPr algn="l"/>
                      <a:r>
                        <a:rPr lang="en-US" sz="1300"/>
                        <a:t>Increment PC</a:t>
                      </a:r>
                    </a:p>
                  </a:txBody>
                  <a:tcPr/>
                </a:tc>
                <a:extLst>
                  <a:ext uri="{0D108BD9-81ED-4DB2-BD59-A6C34878D82A}">
                    <a16:rowId xmlns:a16="http://schemas.microsoft.com/office/drawing/2014/main" val="2225793510"/>
                  </a:ext>
                </a:extLst>
              </a:tr>
              <a:tr h="370840">
                <a:tc>
                  <a:txBody>
                    <a:bodyPr/>
                    <a:lstStyle/>
                    <a:p>
                      <a:pPr algn="ctr"/>
                      <a:r>
                        <a:rPr lang="en-US" sz="1300"/>
                        <a:t>4</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1046366285"/>
                  </a:ext>
                </a:extLst>
              </a:tr>
              <a:tr h="370840">
                <a:tc>
                  <a:txBody>
                    <a:bodyPr/>
                    <a:lstStyle/>
                    <a:p>
                      <a:pPr algn="ctr"/>
                      <a:r>
                        <a:rPr lang="en-US" sz="1300"/>
                        <a:t>5</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615342211"/>
                  </a:ext>
                </a:extLst>
              </a:tr>
              <a:tr h="370840">
                <a:tc>
                  <a:txBody>
                    <a:bodyPr/>
                    <a:lstStyle/>
                    <a:p>
                      <a:pPr algn="ctr"/>
                      <a:r>
                        <a:rPr lang="en-US" sz="1300"/>
                        <a:t>6</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2055856817"/>
                  </a:ext>
                </a:extLst>
              </a:tr>
              <a:tr h="370840">
                <a:tc>
                  <a:txBody>
                    <a:bodyPr/>
                    <a:lstStyle/>
                    <a:p>
                      <a:pPr algn="ctr"/>
                      <a:r>
                        <a:rPr lang="en-US" sz="1300"/>
                        <a:t>7</a:t>
                      </a:r>
                    </a:p>
                  </a:txBody>
                  <a:tcPr/>
                </a:tc>
                <a:tc>
                  <a:txBody>
                    <a:bodyPr/>
                    <a:lstStyle/>
                    <a:p>
                      <a:pPr algn="l"/>
                      <a:endParaRPr lang="en-US" sz="1300"/>
                    </a:p>
                  </a:txBody>
                  <a:tcPr/>
                </a:tc>
                <a:tc>
                  <a:txBody>
                    <a:bodyPr/>
                    <a:lstStyle/>
                    <a:p>
                      <a:pPr algn="l"/>
                      <a:endParaRPr lang="en-US" sz="1300"/>
                    </a:p>
                  </a:txBody>
                  <a:tcPr/>
                </a:tc>
                <a:extLst>
                  <a:ext uri="{0D108BD9-81ED-4DB2-BD59-A6C34878D82A}">
                    <a16:rowId xmlns:a16="http://schemas.microsoft.com/office/drawing/2014/main" val="3502991894"/>
                  </a:ext>
                </a:extLst>
              </a:tr>
            </a:tbl>
          </a:graphicData>
        </a:graphic>
      </p:graphicFrame>
      <p:graphicFrame>
        <p:nvGraphicFramePr>
          <p:cNvPr id="6" name="Table 4">
            <a:extLst>
              <a:ext uri="{FF2B5EF4-FFF2-40B4-BE49-F238E27FC236}">
                <a16:creationId xmlns:a16="http://schemas.microsoft.com/office/drawing/2014/main" id="{0DFA9C31-EF12-4E73-95D6-4A8DD48CB5A3}"/>
              </a:ext>
            </a:extLst>
          </p:cNvPr>
          <p:cNvGraphicFramePr>
            <a:graphicFrameLocks noGrp="1"/>
          </p:cNvGraphicFramePr>
          <p:nvPr/>
        </p:nvGraphicFramePr>
        <p:xfrm>
          <a:off x="179752" y="5619913"/>
          <a:ext cx="9276861" cy="736600"/>
        </p:xfrm>
        <a:graphic>
          <a:graphicData uri="http://schemas.openxmlformats.org/drawingml/2006/table">
            <a:tbl>
              <a:tblPr firstRow="1" bandRow="1">
                <a:tableStyleId>{5C22544A-7EE6-4342-B048-85BDC9FD1C3A}</a:tableStyleId>
              </a:tblPr>
              <a:tblGrid>
                <a:gridCol w="1312985">
                  <a:extLst>
                    <a:ext uri="{9D8B030D-6E8A-4147-A177-3AD203B41FA5}">
                      <a16:colId xmlns:a16="http://schemas.microsoft.com/office/drawing/2014/main" val="1810408170"/>
                    </a:ext>
                  </a:extLst>
                </a:gridCol>
                <a:gridCol w="2089399">
                  <a:extLst>
                    <a:ext uri="{9D8B030D-6E8A-4147-A177-3AD203B41FA5}">
                      <a16:colId xmlns:a16="http://schemas.microsoft.com/office/drawing/2014/main" val="1217920130"/>
                    </a:ext>
                  </a:extLst>
                </a:gridCol>
                <a:gridCol w="824031">
                  <a:extLst>
                    <a:ext uri="{9D8B030D-6E8A-4147-A177-3AD203B41FA5}">
                      <a16:colId xmlns:a16="http://schemas.microsoft.com/office/drawing/2014/main" val="1475888205"/>
                    </a:ext>
                  </a:extLst>
                </a:gridCol>
                <a:gridCol w="1262612">
                  <a:extLst>
                    <a:ext uri="{9D8B030D-6E8A-4147-A177-3AD203B41FA5}">
                      <a16:colId xmlns:a16="http://schemas.microsoft.com/office/drawing/2014/main" val="1355185516"/>
                    </a:ext>
                  </a:extLst>
                </a:gridCol>
                <a:gridCol w="1584927">
                  <a:extLst>
                    <a:ext uri="{9D8B030D-6E8A-4147-A177-3AD203B41FA5}">
                      <a16:colId xmlns:a16="http://schemas.microsoft.com/office/drawing/2014/main" val="2050007723"/>
                    </a:ext>
                  </a:extLst>
                </a:gridCol>
                <a:gridCol w="1149517">
                  <a:extLst>
                    <a:ext uri="{9D8B030D-6E8A-4147-A177-3AD203B41FA5}">
                      <a16:colId xmlns:a16="http://schemas.microsoft.com/office/drawing/2014/main" val="3099546510"/>
                    </a:ext>
                  </a:extLst>
                </a:gridCol>
                <a:gridCol w="1053392">
                  <a:extLst>
                    <a:ext uri="{9D8B030D-6E8A-4147-A177-3AD203B41FA5}">
                      <a16:colId xmlns:a16="http://schemas.microsoft.com/office/drawing/2014/main" val="1677154990"/>
                    </a:ext>
                  </a:extLst>
                </a:gridCol>
              </a:tblGrid>
              <a:tr h="370840">
                <a:tc>
                  <a:txBody>
                    <a:bodyPr/>
                    <a:lstStyle/>
                    <a:p>
                      <a:r>
                        <a:rPr lang="en-US" sz="1300"/>
                        <a:t>Type</a:t>
                      </a:r>
                    </a:p>
                  </a:txBody>
                  <a:tcPr/>
                </a:tc>
                <a:tc>
                  <a:txBody>
                    <a:bodyPr/>
                    <a:lstStyle/>
                    <a:p>
                      <a:r>
                        <a:rPr lang="en-US" sz="1300"/>
                        <a:t>15 14 13 12 </a:t>
                      </a:r>
                    </a:p>
                  </a:txBody>
                  <a:tcPr/>
                </a:tc>
                <a:tc>
                  <a:txBody>
                    <a:bodyPr/>
                    <a:lstStyle/>
                    <a:p>
                      <a:r>
                        <a:rPr lang="en-US" sz="1300"/>
                        <a:t>11 10</a:t>
                      </a:r>
                    </a:p>
                  </a:txBody>
                  <a:tcPr/>
                </a:tc>
                <a:tc>
                  <a:txBody>
                    <a:bodyPr/>
                    <a:lstStyle/>
                    <a:p>
                      <a:r>
                        <a:rPr lang="en-US" sz="1300"/>
                        <a:t>9 8</a:t>
                      </a:r>
                    </a:p>
                  </a:txBody>
                  <a:tcPr/>
                </a:tc>
                <a:tc>
                  <a:txBody>
                    <a:bodyPr/>
                    <a:lstStyle/>
                    <a:p>
                      <a:r>
                        <a:rPr lang="en-US" sz="1300"/>
                        <a:t>7 6 5 4</a:t>
                      </a:r>
                    </a:p>
                  </a:txBody>
                  <a:tcPr/>
                </a:tc>
                <a:tc>
                  <a:txBody>
                    <a:bodyPr/>
                    <a:lstStyle/>
                    <a:p>
                      <a:r>
                        <a:rPr lang="en-US" sz="1300"/>
                        <a:t>3 2</a:t>
                      </a:r>
                    </a:p>
                  </a:txBody>
                  <a:tcPr/>
                </a:tc>
                <a:tc>
                  <a:txBody>
                    <a:bodyPr/>
                    <a:lstStyle/>
                    <a:p>
                      <a:r>
                        <a:rPr lang="en-US" sz="1300"/>
                        <a:t>1 0</a:t>
                      </a:r>
                    </a:p>
                  </a:txBody>
                  <a:tcPr/>
                </a:tc>
                <a:extLst>
                  <a:ext uri="{0D108BD9-81ED-4DB2-BD59-A6C34878D82A}">
                    <a16:rowId xmlns:a16="http://schemas.microsoft.com/office/drawing/2014/main" val="2319756336"/>
                  </a:ext>
                </a:extLst>
              </a:tr>
              <a:tr h="297180">
                <a:tc>
                  <a:txBody>
                    <a:bodyPr/>
                    <a:lstStyle/>
                    <a:p>
                      <a:pPr algn="ctr"/>
                      <a:r>
                        <a:rPr lang="en-US" sz="1300"/>
                        <a:t>ALU</a:t>
                      </a:r>
                    </a:p>
                  </a:txBody>
                  <a:tcPr/>
                </a:tc>
                <a:tc>
                  <a:txBody>
                    <a:bodyPr/>
                    <a:lstStyle/>
                    <a:p>
                      <a:pPr algn="ctr"/>
                      <a:r>
                        <a:rPr lang="en-US" sz="1300"/>
                        <a:t>OpCode</a:t>
                      </a:r>
                    </a:p>
                  </a:txBody>
                  <a:tcPr/>
                </a:tc>
                <a:tc>
                  <a:txBody>
                    <a:bodyPr/>
                    <a:lstStyle/>
                    <a:p>
                      <a:pPr algn="ctr"/>
                      <a:r>
                        <a:rPr lang="en-US" sz="1300"/>
                        <a:t>XX</a:t>
                      </a:r>
                    </a:p>
                  </a:txBody>
                  <a:tcPr/>
                </a:tc>
                <a:tc>
                  <a:txBody>
                    <a:bodyPr/>
                    <a:lstStyle/>
                    <a:p>
                      <a:pPr algn="ctr"/>
                      <a:r>
                        <a:rPr lang="en-US" sz="1300"/>
                        <a:t>Rd</a:t>
                      </a:r>
                    </a:p>
                  </a:txBody>
                  <a:tcPr/>
                </a:tc>
                <a:tc>
                  <a:txBody>
                    <a:bodyPr/>
                    <a:lstStyle/>
                    <a:p>
                      <a:pPr algn="ctr"/>
                      <a:r>
                        <a:rPr lang="en-US" sz="1300"/>
                        <a:t>Function</a:t>
                      </a:r>
                    </a:p>
                  </a:txBody>
                  <a:tcPr/>
                </a:tc>
                <a:tc>
                  <a:txBody>
                    <a:bodyPr/>
                    <a:lstStyle/>
                    <a:p>
                      <a:pPr algn="ctr"/>
                      <a:r>
                        <a:rPr lang="en-US" sz="1300"/>
                        <a:t>Rs1</a:t>
                      </a:r>
                    </a:p>
                  </a:txBody>
                  <a:tcPr/>
                </a:tc>
                <a:tc>
                  <a:txBody>
                    <a:bodyPr/>
                    <a:lstStyle/>
                    <a:p>
                      <a:pPr algn="ctr"/>
                      <a:r>
                        <a:rPr lang="en-US" sz="1300"/>
                        <a:t>Rs2</a:t>
                      </a:r>
                    </a:p>
                  </a:txBody>
                  <a:tcPr/>
                </a:tc>
                <a:extLst>
                  <a:ext uri="{0D108BD9-81ED-4DB2-BD59-A6C34878D82A}">
                    <a16:rowId xmlns:a16="http://schemas.microsoft.com/office/drawing/2014/main" val="2570910443"/>
                  </a:ext>
                </a:extLst>
              </a:tr>
            </a:tbl>
          </a:graphicData>
        </a:graphic>
      </p:graphicFrame>
      <p:graphicFrame>
        <p:nvGraphicFramePr>
          <p:cNvPr id="8" name="Table 4">
            <a:extLst>
              <a:ext uri="{FF2B5EF4-FFF2-40B4-BE49-F238E27FC236}">
                <a16:creationId xmlns:a16="http://schemas.microsoft.com/office/drawing/2014/main" id="{438A22CA-2606-4EC2-9E31-AA955DF6E237}"/>
              </a:ext>
            </a:extLst>
          </p:cNvPr>
          <p:cNvGraphicFramePr>
            <a:graphicFrameLocks noGrp="1"/>
          </p:cNvGraphicFramePr>
          <p:nvPr/>
        </p:nvGraphicFramePr>
        <p:xfrm>
          <a:off x="179753" y="5619913"/>
          <a:ext cx="9276863" cy="736600"/>
        </p:xfrm>
        <a:graphic>
          <a:graphicData uri="http://schemas.openxmlformats.org/drawingml/2006/table">
            <a:tbl>
              <a:tblPr firstRow="1" bandRow="1">
                <a:tableStyleId>{5C22544A-7EE6-4342-B048-85BDC9FD1C3A}</a:tableStyleId>
              </a:tblPr>
              <a:tblGrid>
                <a:gridCol w="1071627">
                  <a:extLst>
                    <a:ext uri="{9D8B030D-6E8A-4147-A177-3AD203B41FA5}">
                      <a16:colId xmlns:a16="http://schemas.microsoft.com/office/drawing/2014/main" val="1810408170"/>
                    </a:ext>
                  </a:extLst>
                </a:gridCol>
                <a:gridCol w="1859147">
                  <a:extLst>
                    <a:ext uri="{9D8B030D-6E8A-4147-A177-3AD203B41FA5}">
                      <a16:colId xmlns:a16="http://schemas.microsoft.com/office/drawing/2014/main" val="950391025"/>
                    </a:ext>
                  </a:extLst>
                </a:gridCol>
                <a:gridCol w="2595403">
                  <a:extLst>
                    <a:ext uri="{9D8B030D-6E8A-4147-A177-3AD203B41FA5}">
                      <a16:colId xmlns:a16="http://schemas.microsoft.com/office/drawing/2014/main" val="1475888205"/>
                    </a:ext>
                  </a:extLst>
                </a:gridCol>
                <a:gridCol w="765213">
                  <a:extLst>
                    <a:ext uri="{9D8B030D-6E8A-4147-A177-3AD203B41FA5}">
                      <a16:colId xmlns:a16="http://schemas.microsoft.com/office/drawing/2014/main" val="1355185516"/>
                    </a:ext>
                  </a:extLst>
                </a:gridCol>
                <a:gridCol w="820616">
                  <a:extLst>
                    <a:ext uri="{9D8B030D-6E8A-4147-A177-3AD203B41FA5}">
                      <a16:colId xmlns:a16="http://schemas.microsoft.com/office/drawing/2014/main" val="2050007723"/>
                    </a:ext>
                  </a:extLst>
                </a:gridCol>
                <a:gridCol w="2164859">
                  <a:extLst>
                    <a:ext uri="{9D8B030D-6E8A-4147-A177-3AD203B41FA5}">
                      <a16:colId xmlns:a16="http://schemas.microsoft.com/office/drawing/2014/main" val="3099546510"/>
                    </a:ext>
                  </a:extLst>
                </a:gridCol>
              </a:tblGrid>
              <a:tr h="370840">
                <a:tc>
                  <a:txBody>
                    <a:bodyPr/>
                    <a:lstStyle/>
                    <a:p>
                      <a:r>
                        <a:rPr lang="en-US" sz="1300"/>
                        <a:t>Type</a:t>
                      </a:r>
                    </a:p>
                  </a:txBody>
                  <a:tcPr/>
                </a:tc>
                <a:tc>
                  <a:txBody>
                    <a:bodyPr/>
                    <a:lstStyle/>
                    <a:p>
                      <a:pPr algn="ctr"/>
                      <a:r>
                        <a:rPr lang="en-US" sz="1300"/>
                        <a:t>15 14 13 12</a:t>
                      </a:r>
                    </a:p>
                  </a:txBody>
                  <a:tcPr/>
                </a:tc>
                <a:tc>
                  <a:txBody>
                    <a:bodyPr/>
                    <a:lstStyle/>
                    <a:p>
                      <a:pPr algn="ctr"/>
                      <a:r>
                        <a:rPr lang="en-US" sz="1300"/>
                        <a:t>11 10 9 8</a:t>
                      </a:r>
                    </a:p>
                  </a:txBody>
                  <a:tcPr/>
                </a:tc>
                <a:tc>
                  <a:txBody>
                    <a:bodyPr/>
                    <a:lstStyle/>
                    <a:p>
                      <a:pPr algn="ctr"/>
                      <a:r>
                        <a:rPr lang="en-US" sz="1300"/>
                        <a:t>7 6</a:t>
                      </a:r>
                    </a:p>
                  </a:txBody>
                  <a:tcPr/>
                </a:tc>
                <a:tc>
                  <a:txBody>
                    <a:bodyPr/>
                    <a:lstStyle/>
                    <a:p>
                      <a:pPr algn="ctr"/>
                      <a:r>
                        <a:rPr lang="en-US" sz="1300"/>
                        <a:t>5 4</a:t>
                      </a:r>
                    </a:p>
                  </a:txBody>
                  <a:tcPr/>
                </a:tc>
                <a:tc>
                  <a:txBody>
                    <a:bodyPr/>
                    <a:lstStyle/>
                    <a:p>
                      <a:pPr algn="ctr"/>
                      <a:r>
                        <a:rPr lang="en-US" sz="1300"/>
                        <a:t>3 2 1 0</a:t>
                      </a:r>
                    </a:p>
                  </a:txBody>
                  <a:tcPr/>
                </a:tc>
                <a:extLst>
                  <a:ext uri="{0D108BD9-81ED-4DB2-BD59-A6C34878D82A}">
                    <a16:rowId xmlns:a16="http://schemas.microsoft.com/office/drawing/2014/main" val="2319756336"/>
                  </a:ext>
                </a:extLst>
              </a:tr>
              <a:tr h="297180">
                <a:tc>
                  <a:txBody>
                    <a:bodyPr/>
                    <a:lstStyle/>
                    <a:p>
                      <a:pPr algn="ctr"/>
                      <a:r>
                        <a:rPr lang="en-US" sz="1300"/>
                        <a:t>ALU</a:t>
                      </a:r>
                    </a:p>
                  </a:txBody>
                  <a:tcPr>
                    <a:solidFill>
                      <a:schemeClr val="accent6"/>
                    </a:solidFill>
                  </a:tcPr>
                </a:tc>
                <a:tc>
                  <a:txBody>
                    <a:bodyPr/>
                    <a:lstStyle/>
                    <a:p>
                      <a:pPr algn="ctr"/>
                      <a:r>
                        <a:rPr lang="en-US" sz="1300"/>
                        <a:t>4-bit </a:t>
                      </a:r>
                      <a:r>
                        <a:rPr lang="en-US" sz="1300" err="1"/>
                        <a:t>imm</a:t>
                      </a:r>
                      <a:r>
                        <a:rPr lang="en-US" sz="1300"/>
                        <a:t>.</a:t>
                      </a:r>
                    </a:p>
                  </a:txBody>
                  <a:tcPr/>
                </a:tc>
                <a:tc>
                  <a:txBody>
                    <a:bodyPr/>
                    <a:lstStyle/>
                    <a:p>
                      <a:pPr algn="ctr"/>
                      <a:r>
                        <a:rPr lang="en-US" sz="1300"/>
                        <a:t>S2 S1 S0 SF (Function </a:t>
                      </a:r>
                      <a:r>
                        <a:rPr lang="en-US" sz="1300" err="1"/>
                        <a:t>sel</a:t>
                      </a:r>
                      <a:r>
                        <a:rPr lang="en-US" sz="1300"/>
                        <a:t>)</a:t>
                      </a:r>
                    </a:p>
                  </a:txBody>
                  <a:tcPr/>
                </a:tc>
                <a:tc>
                  <a:txBody>
                    <a:bodyPr/>
                    <a:lstStyle/>
                    <a:p>
                      <a:pPr algn="ctr"/>
                      <a:r>
                        <a:rPr lang="en-US" sz="1300"/>
                        <a:t>Rd</a:t>
                      </a:r>
                    </a:p>
                  </a:txBody>
                  <a:tcPr/>
                </a:tc>
                <a:tc>
                  <a:txBody>
                    <a:bodyPr/>
                    <a:lstStyle/>
                    <a:p>
                      <a:pPr algn="ctr"/>
                      <a:r>
                        <a:rPr lang="en-US" sz="1300"/>
                        <a:t>XX</a:t>
                      </a:r>
                    </a:p>
                  </a:txBody>
                  <a:tcPr/>
                </a:tc>
                <a:tc>
                  <a:txBody>
                    <a:bodyPr/>
                    <a:lstStyle/>
                    <a:p>
                      <a:pPr algn="ctr"/>
                      <a:r>
                        <a:rPr lang="en-US" sz="1300"/>
                        <a:t>OpCode</a:t>
                      </a:r>
                    </a:p>
                  </a:txBody>
                  <a:tcPr/>
                </a:tc>
                <a:extLst>
                  <a:ext uri="{0D108BD9-81ED-4DB2-BD59-A6C34878D82A}">
                    <a16:rowId xmlns:a16="http://schemas.microsoft.com/office/drawing/2014/main" val="2570910443"/>
                  </a:ext>
                </a:extLst>
              </a:tr>
            </a:tbl>
          </a:graphicData>
        </a:graphic>
      </p:graphicFrame>
      <p:sp>
        <p:nvSpPr>
          <p:cNvPr id="12" name="TextBox 11">
            <a:extLst>
              <a:ext uri="{FF2B5EF4-FFF2-40B4-BE49-F238E27FC236}">
                <a16:creationId xmlns:a16="http://schemas.microsoft.com/office/drawing/2014/main" id="{EC92F7E5-2629-1A32-5661-12B67655FB87}"/>
              </a:ext>
            </a:extLst>
          </p:cNvPr>
          <p:cNvSpPr txBox="1"/>
          <p:nvPr/>
        </p:nvSpPr>
        <p:spPr>
          <a:xfrm>
            <a:off x="6615405" y="4958332"/>
            <a:ext cx="2945037" cy="523220"/>
          </a:xfrm>
          <a:prstGeom prst="rect">
            <a:avLst/>
          </a:prstGeom>
          <a:noFill/>
        </p:spPr>
        <p:txBody>
          <a:bodyPr wrap="none" rtlCol="0">
            <a:spAutoFit/>
          </a:bodyPr>
          <a:lstStyle/>
          <a:p>
            <a:r>
              <a:rPr lang="en-US" sz="2800">
                <a:solidFill>
                  <a:srgbClr val="00B050"/>
                </a:solidFill>
                <a:latin typeface="Consolas" panose="020B0609020204030204" pitchFamily="49" charset="0"/>
              </a:rPr>
              <a:t> TST Rd, #0x00</a:t>
            </a:r>
          </a:p>
        </p:txBody>
      </p:sp>
      <p:sp>
        <p:nvSpPr>
          <p:cNvPr id="2" name="TextBox 1">
            <a:extLst>
              <a:ext uri="{FF2B5EF4-FFF2-40B4-BE49-F238E27FC236}">
                <a16:creationId xmlns:a16="http://schemas.microsoft.com/office/drawing/2014/main" id="{B3F951B7-364F-2F4F-3116-B54995F4C6C6}"/>
              </a:ext>
            </a:extLst>
          </p:cNvPr>
          <p:cNvSpPr txBox="1"/>
          <p:nvPr/>
        </p:nvSpPr>
        <p:spPr>
          <a:xfrm>
            <a:off x="10966456" y="2"/>
            <a:ext cx="1223412" cy="1323439"/>
          </a:xfrm>
          <a:prstGeom prst="rect">
            <a:avLst/>
          </a:prstGeom>
          <a:noFill/>
        </p:spPr>
        <p:txBody>
          <a:bodyPr wrap="none" rtlCol="0">
            <a:spAutoFit/>
          </a:bodyPr>
          <a:lstStyle/>
          <a:p>
            <a:r>
              <a:rPr lang="en-US" sz="8000">
                <a:solidFill>
                  <a:schemeClr val="accent1">
                    <a:lumMod val="60000"/>
                    <a:lumOff val="40000"/>
                  </a:schemeClr>
                </a:solidFill>
              </a:rPr>
              <a:t>13</a:t>
            </a:r>
          </a:p>
        </p:txBody>
      </p:sp>
      <p:pic>
        <p:nvPicPr>
          <p:cNvPr id="4" name="Picture 3">
            <a:hlinkClick r:id="rId2" action="ppaction://hlinksldjump"/>
            <a:extLst>
              <a:ext uri="{FF2B5EF4-FFF2-40B4-BE49-F238E27FC236}">
                <a16:creationId xmlns:a16="http://schemas.microsoft.com/office/drawing/2014/main" id="{304A87AF-6E05-FA3A-929E-1DCBBB9E4C86}"/>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10" name="Slide Number Placeholder 4">
            <a:extLst>
              <a:ext uri="{FF2B5EF4-FFF2-40B4-BE49-F238E27FC236}">
                <a16:creationId xmlns:a16="http://schemas.microsoft.com/office/drawing/2014/main" id="{5A0E0862-B017-8BFB-A2F7-7027E035761F}"/>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135</a:t>
            </a:fld>
            <a:endParaRPr lang="en-US" b="1">
              <a:solidFill>
                <a:schemeClr val="bg1"/>
              </a:solidFill>
            </a:endParaRPr>
          </a:p>
        </p:txBody>
      </p:sp>
      <p:graphicFrame>
        <p:nvGraphicFramePr>
          <p:cNvPr id="13" name="Table 4">
            <a:extLst>
              <a:ext uri="{FF2B5EF4-FFF2-40B4-BE49-F238E27FC236}">
                <a16:creationId xmlns:a16="http://schemas.microsoft.com/office/drawing/2014/main" id="{38DD8DB5-6921-23EC-1D01-E8AC5F776787}"/>
              </a:ext>
            </a:extLst>
          </p:cNvPr>
          <p:cNvGraphicFramePr>
            <a:graphicFrameLocks noGrp="1"/>
          </p:cNvGraphicFramePr>
          <p:nvPr>
            <p:extLst>
              <p:ext uri="{D42A27DB-BD31-4B8C-83A1-F6EECF244321}">
                <p14:modId xmlns:p14="http://schemas.microsoft.com/office/powerpoint/2010/main" val="940534924"/>
              </p:ext>
            </p:extLst>
          </p:nvPr>
        </p:nvGraphicFramePr>
        <p:xfrm>
          <a:off x="193268" y="742463"/>
          <a:ext cx="4329725" cy="4363429"/>
        </p:xfrm>
        <a:graphic>
          <a:graphicData uri="http://schemas.openxmlformats.org/drawingml/2006/table">
            <a:tbl>
              <a:tblPr firstRow="1" bandRow="1">
                <a:tableStyleId>{5C22544A-7EE6-4342-B048-85BDC9FD1C3A}</a:tableStyleId>
              </a:tblPr>
              <a:tblGrid>
                <a:gridCol w="553213">
                  <a:extLst>
                    <a:ext uri="{9D8B030D-6E8A-4147-A177-3AD203B41FA5}">
                      <a16:colId xmlns:a16="http://schemas.microsoft.com/office/drawing/2014/main" val="1217920130"/>
                    </a:ext>
                  </a:extLst>
                </a:gridCol>
                <a:gridCol w="3776512">
                  <a:extLst>
                    <a:ext uri="{9D8B030D-6E8A-4147-A177-3AD203B41FA5}">
                      <a16:colId xmlns:a16="http://schemas.microsoft.com/office/drawing/2014/main" val="1475888205"/>
                    </a:ext>
                  </a:extLst>
                </a:gridCol>
              </a:tblGrid>
              <a:tr h="233680">
                <a:tc>
                  <a:txBody>
                    <a:bodyPr/>
                    <a:lstStyle/>
                    <a:p>
                      <a:r>
                        <a:rPr lang="en-US" sz="900"/>
                        <a:t>Bit</a:t>
                      </a:r>
                    </a:p>
                  </a:txBody>
                  <a:tcPr/>
                </a:tc>
                <a:tc>
                  <a:txBody>
                    <a:bodyPr/>
                    <a:lstStyle/>
                    <a:p>
                      <a:r>
                        <a:rPr lang="en-US" sz="900"/>
                        <a:t>Operation</a:t>
                      </a:r>
                    </a:p>
                  </a:txBody>
                  <a:tcPr/>
                </a:tc>
                <a:extLst>
                  <a:ext uri="{0D108BD9-81ED-4DB2-BD59-A6C34878D82A}">
                    <a16:rowId xmlns:a16="http://schemas.microsoft.com/office/drawing/2014/main" val="2319756336"/>
                  </a:ext>
                </a:extLst>
              </a:tr>
              <a:tr h="233680">
                <a:tc>
                  <a:txBody>
                    <a:bodyPr/>
                    <a:lstStyle/>
                    <a:p>
                      <a:pPr algn="ctr"/>
                      <a:r>
                        <a:rPr lang="en-US" sz="900"/>
                        <a:t>16</a:t>
                      </a:r>
                    </a:p>
                  </a:txBody>
                  <a:tcPr/>
                </a:tc>
                <a:tc>
                  <a:txBody>
                    <a:bodyPr/>
                    <a:lstStyle/>
                    <a:p>
                      <a:pPr algn="l"/>
                      <a:r>
                        <a:rPr lang="en-US" sz="900"/>
                        <a:t>Stack Pointer Increment / Decrement (0: decrease / 1: increase)</a:t>
                      </a:r>
                    </a:p>
                  </a:txBody>
                  <a:tcPr/>
                </a:tc>
                <a:extLst>
                  <a:ext uri="{0D108BD9-81ED-4DB2-BD59-A6C34878D82A}">
                    <a16:rowId xmlns:a16="http://schemas.microsoft.com/office/drawing/2014/main" val="1076363256"/>
                  </a:ext>
                </a:extLst>
              </a:tr>
              <a:tr h="233680">
                <a:tc>
                  <a:txBody>
                    <a:bodyPr/>
                    <a:lstStyle/>
                    <a:p>
                      <a:pPr algn="ctr"/>
                      <a:r>
                        <a:rPr lang="en-US" sz="900"/>
                        <a:t>15</a:t>
                      </a:r>
                    </a:p>
                  </a:txBody>
                  <a:tcPr/>
                </a:tc>
                <a:tc>
                  <a:txBody>
                    <a:bodyPr/>
                    <a:lstStyle/>
                    <a:p>
                      <a:pPr algn="l"/>
                      <a:r>
                        <a:rPr lang="en-US" sz="900"/>
                        <a:t>Stack Pointer Count</a:t>
                      </a:r>
                    </a:p>
                  </a:txBody>
                  <a:tcPr/>
                </a:tc>
                <a:extLst>
                  <a:ext uri="{0D108BD9-81ED-4DB2-BD59-A6C34878D82A}">
                    <a16:rowId xmlns:a16="http://schemas.microsoft.com/office/drawing/2014/main" val="2049660566"/>
                  </a:ext>
                </a:extLst>
              </a:tr>
              <a:tr h="233680">
                <a:tc>
                  <a:txBody>
                    <a:bodyPr/>
                    <a:lstStyle/>
                    <a:p>
                      <a:pPr algn="ctr"/>
                      <a:r>
                        <a:rPr lang="en-US" sz="900"/>
                        <a:t>14</a:t>
                      </a:r>
                    </a:p>
                  </a:txBody>
                  <a:tcPr/>
                </a:tc>
                <a:tc>
                  <a:txBody>
                    <a:bodyPr/>
                    <a:lstStyle/>
                    <a:p>
                      <a:pPr algn="l"/>
                      <a:r>
                        <a:rPr lang="en-US" sz="900"/>
                        <a:t>RAM Address Select (0: Address register / 1: Stack pointer)</a:t>
                      </a:r>
                    </a:p>
                  </a:txBody>
                  <a:tcPr/>
                </a:tc>
                <a:extLst>
                  <a:ext uri="{0D108BD9-81ED-4DB2-BD59-A6C34878D82A}">
                    <a16:rowId xmlns:a16="http://schemas.microsoft.com/office/drawing/2014/main" val="645489424"/>
                  </a:ext>
                </a:extLst>
              </a:tr>
              <a:tr h="233680">
                <a:tc>
                  <a:txBody>
                    <a:bodyPr/>
                    <a:lstStyle/>
                    <a:p>
                      <a:pPr algn="ctr"/>
                      <a:r>
                        <a:rPr lang="en-US" sz="900"/>
                        <a:t>13</a:t>
                      </a:r>
                    </a:p>
                  </a:txBody>
                  <a:tcPr/>
                </a:tc>
                <a:tc>
                  <a:txBody>
                    <a:bodyPr/>
                    <a:lstStyle/>
                    <a:p>
                      <a:pPr algn="l"/>
                      <a:r>
                        <a:rPr lang="en-US" sz="900"/>
                        <a:t>Use Rd as Source</a:t>
                      </a:r>
                    </a:p>
                  </a:txBody>
                  <a:tcPr/>
                </a:tc>
                <a:extLst>
                  <a:ext uri="{0D108BD9-81ED-4DB2-BD59-A6C34878D82A}">
                    <a16:rowId xmlns:a16="http://schemas.microsoft.com/office/drawing/2014/main" val="2745442092"/>
                  </a:ext>
                </a:extLst>
              </a:tr>
              <a:tr h="233680">
                <a:tc>
                  <a:txBody>
                    <a:bodyPr/>
                    <a:lstStyle/>
                    <a:p>
                      <a:pPr algn="ctr"/>
                      <a:r>
                        <a:rPr lang="en-US" sz="900"/>
                        <a:t>12</a:t>
                      </a:r>
                    </a:p>
                  </a:txBody>
                  <a:tcPr/>
                </a:tc>
                <a:tc>
                  <a:txBody>
                    <a:bodyPr/>
                    <a:lstStyle/>
                    <a:p>
                      <a:pPr algn="l"/>
                      <a:r>
                        <a:rPr lang="en-US" sz="900"/>
                        <a:t>Lower Address Register Load</a:t>
                      </a:r>
                    </a:p>
                  </a:txBody>
                  <a:tcPr/>
                </a:tc>
                <a:extLst>
                  <a:ext uri="{0D108BD9-81ED-4DB2-BD59-A6C34878D82A}">
                    <a16:rowId xmlns:a16="http://schemas.microsoft.com/office/drawing/2014/main" val="745762316"/>
                  </a:ext>
                </a:extLst>
              </a:tr>
              <a:tr h="233680">
                <a:tc>
                  <a:txBody>
                    <a:bodyPr/>
                    <a:lstStyle/>
                    <a:p>
                      <a:pPr algn="ctr"/>
                      <a:r>
                        <a:rPr lang="en-US" sz="900"/>
                        <a:t>11</a:t>
                      </a:r>
                    </a:p>
                  </a:txBody>
                  <a:tcPr/>
                </a:tc>
                <a:tc>
                  <a:txBody>
                    <a:bodyPr/>
                    <a:lstStyle/>
                    <a:p>
                      <a:pPr algn="l"/>
                      <a:r>
                        <a:rPr lang="en-US" sz="900"/>
                        <a:t>Mem Write</a:t>
                      </a:r>
                    </a:p>
                  </a:txBody>
                  <a:tcPr/>
                </a:tc>
                <a:extLst>
                  <a:ext uri="{0D108BD9-81ED-4DB2-BD59-A6C34878D82A}">
                    <a16:rowId xmlns:a16="http://schemas.microsoft.com/office/drawing/2014/main" val="2966008767"/>
                  </a:ext>
                </a:extLst>
              </a:tr>
              <a:tr h="233680">
                <a:tc>
                  <a:txBody>
                    <a:bodyPr/>
                    <a:lstStyle/>
                    <a:p>
                      <a:pPr algn="ctr"/>
                      <a:r>
                        <a:rPr lang="en-US" sz="900"/>
                        <a:t>10</a:t>
                      </a:r>
                    </a:p>
                  </a:txBody>
                  <a:tcPr/>
                </a:tc>
                <a:tc>
                  <a:txBody>
                    <a:bodyPr/>
                    <a:lstStyle/>
                    <a:p>
                      <a:pPr algn="l"/>
                      <a:r>
                        <a:rPr lang="en-US" sz="900"/>
                        <a:t>Mem Read</a:t>
                      </a:r>
                    </a:p>
                  </a:txBody>
                  <a:tcPr/>
                </a:tc>
                <a:extLst>
                  <a:ext uri="{0D108BD9-81ED-4DB2-BD59-A6C34878D82A}">
                    <a16:rowId xmlns:a16="http://schemas.microsoft.com/office/drawing/2014/main" val="707415226"/>
                  </a:ext>
                </a:extLst>
              </a:tr>
              <a:tr h="233680">
                <a:tc>
                  <a:txBody>
                    <a:bodyPr/>
                    <a:lstStyle/>
                    <a:p>
                      <a:pPr algn="ctr"/>
                      <a:r>
                        <a:rPr lang="en-US" sz="900"/>
                        <a:t>9</a:t>
                      </a:r>
                    </a:p>
                  </a:txBody>
                  <a:tcPr/>
                </a:tc>
                <a:tc>
                  <a:txBody>
                    <a:bodyPr/>
                    <a:lstStyle/>
                    <a:p>
                      <a:pPr algn="l"/>
                      <a:r>
                        <a:rPr lang="en-US" sz="900"/>
                        <a:t>PC Out</a:t>
                      </a:r>
                    </a:p>
                  </a:txBody>
                  <a:tcPr/>
                </a:tc>
                <a:extLst>
                  <a:ext uri="{0D108BD9-81ED-4DB2-BD59-A6C34878D82A}">
                    <a16:rowId xmlns:a16="http://schemas.microsoft.com/office/drawing/2014/main" val="1663806429"/>
                  </a:ext>
                </a:extLst>
              </a:tr>
              <a:tr h="233680">
                <a:tc>
                  <a:txBody>
                    <a:bodyPr/>
                    <a:lstStyle/>
                    <a:p>
                      <a:pPr algn="ctr"/>
                      <a:r>
                        <a:rPr lang="en-US" sz="900"/>
                        <a:t>8</a:t>
                      </a:r>
                    </a:p>
                  </a:txBody>
                  <a:tcPr/>
                </a:tc>
                <a:tc>
                  <a:txBody>
                    <a:bodyPr/>
                    <a:lstStyle/>
                    <a:p>
                      <a:pPr algn="l"/>
                      <a:r>
                        <a:rPr lang="en-US" sz="900"/>
                        <a:t>PC Load</a:t>
                      </a:r>
                    </a:p>
                  </a:txBody>
                  <a:tcPr/>
                </a:tc>
                <a:extLst>
                  <a:ext uri="{0D108BD9-81ED-4DB2-BD59-A6C34878D82A}">
                    <a16:rowId xmlns:a16="http://schemas.microsoft.com/office/drawing/2014/main" val="296627957"/>
                  </a:ext>
                </a:extLst>
              </a:tr>
              <a:tr h="233680">
                <a:tc>
                  <a:txBody>
                    <a:bodyPr/>
                    <a:lstStyle/>
                    <a:p>
                      <a:pPr algn="ctr"/>
                      <a:r>
                        <a:rPr lang="en-US" sz="900"/>
                        <a:t>7</a:t>
                      </a:r>
                    </a:p>
                  </a:txBody>
                  <a:tcPr/>
                </a:tc>
                <a:tc>
                  <a:txBody>
                    <a:bodyPr/>
                    <a:lstStyle/>
                    <a:p>
                      <a:pPr algn="l"/>
                      <a:r>
                        <a:rPr lang="en-US" sz="900"/>
                        <a:t>PC advance</a:t>
                      </a:r>
                    </a:p>
                  </a:txBody>
                  <a:tcPr/>
                </a:tc>
                <a:extLst>
                  <a:ext uri="{0D108BD9-81ED-4DB2-BD59-A6C34878D82A}">
                    <a16:rowId xmlns:a16="http://schemas.microsoft.com/office/drawing/2014/main" val="2570910443"/>
                  </a:ext>
                </a:extLst>
              </a:tr>
              <a:tr h="337624">
                <a:tc>
                  <a:txBody>
                    <a:bodyPr/>
                    <a:lstStyle/>
                    <a:p>
                      <a:pPr algn="ctr"/>
                      <a:r>
                        <a:rPr lang="en-US" sz="900"/>
                        <a:t>6</a:t>
                      </a:r>
                    </a:p>
                  </a:txBody>
                  <a:tcPr/>
                </a:tc>
                <a:tc>
                  <a:txBody>
                    <a:bodyPr/>
                    <a:lstStyle/>
                    <a:p>
                      <a:pPr algn="l"/>
                      <a:r>
                        <a:rPr lang="en-US" sz="900"/>
                        <a:t>Program Register H Write to Bus (parameter)</a:t>
                      </a:r>
                    </a:p>
                  </a:txBody>
                  <a:tcPr/>
                </a:tc>
                <a:extLst>
                  <a:ext uri="{0D108BD9-81ED-4DB2-BD59-A6C34878D82A}">
                    <a16:rowId xmlns:a16="http://schemas.microsoft.com/office/drawing/2014/main" val="631651838"/>
                  </a:ext>
                </a:extLst>
              </a:tr>
              <a:tr h="233680">
                <a:tc>
                  <a:txBody>
                    <a:bodyPr/>
                    <a:lstStyle/>
                    <a:p>
                      <a:pPr algn="ctr"/>
                      <a:r>
                        <a:rPr lang="en-US" sz="900"/>
                        <a:t>5</a:t>
                      </a:r>
                    </a:p>
                  </a:txBody>
                  <a:tcPr/>
                </a:tc>
                <a:tc>
                  <a:txBody>
                    <a:bodyPr/>
                    <a:lstStyle/>
                    <a:p>
                      <a:pPr algn="l"/>
                      <a:r>
                        <a:rPr lang="en-US" sz="900"/>
                        <a:t>Register File Input Enable</a:t>
                      </a:r>
                    </a:p>
                  </a:txBody>
                  <a:tcPr/>
                </a:tc>
                <a:extLst>
                  <a:ext uri="{0D108BD9-81ED-4DB2-BD59-A6C34878D82A}">
                    <a16:rowId xmlns:a16="http://schemas.microsoft.com/office/drawing/2014/main" val="1592812184"/>
                  </a:ext>
                </a:extLst>
              </a:tr>
              <a:tr h="233680">
                <a:tc>
                  <a:txBody>
                    <a:bodyPr/>
                    <a:lstStyle/>
                    <a:p>
                      <a:pPr algn="ctr"/>
                      <a:r>
                        <a:rPr lang="en-US" sz="900"/>
                        <a:t>4</a:t>
                      </a:r>
                    </a:p>
                  </a:txBody>
                  <a:tcPr/>
                </a:tc>
                <a:tc>
                  <a:txBody>
                    <a:bodyPr/>
                    <a:lstStyle/>
                    <a:p>
                      <a:pPr algn="l"/>
                      <a:r>
                        <a:rPr lang="en-US" sz="900"/>
                        <a:t>Register File Output Enable</a:t>
                      </a:r>
                    </a:p>
                  </a:txBody>
                  <a:tcPr/>
                </a:tc>
                <a:extLst>
                  <a:ext uri="{0D108BD9-81ED-4DB2-BD59-A6C34878D82A}">
                    <a16:rowId xmlns:a16="http://schemas.microsoft.com/office/drawing/2014/main" val="2225793510"/>
                  </a:ext>
                </a:extLst>
              </a:tr>
              <a:tr h="368205">
                <a:tc>
                  <a:txBody>
                    <a:bodyPr/>
                    <a:lstStyle/>
                    <a:p>
                      <a:pPr algn="ctr"/>
                      <a:r>
                        <a:rPr lang="en-US" sz="900"/>
                        <a:t>3</a:t>
                      </a:r>
                    </a:p>
                  </a:txBody>
                  <a:tcPr/>
                </a:tc>
                <a:tc>
                  <a:txBody>
                    <a:bodyPr/>
                    <a:lstStyle/>
                    <a:p>
                      <a:pPr algn="l"/>
                      <a:r>
                        <a:rPr lang="en-US" sz="900"/>
                        <a:t>Register File Output Select (parameter – 0 -&gt; Rs1, 1 -&gt; Rs2)</a:t>
                      </a:r>
                    </a:p>
                  </a:txBody>
                  <a:tcPr/>
                </a:tc>
                <a:extLst>
                  <a:ext uri="{0D108BD9-81ED-4DB2-BD59-A6C34878D82A}">
                    <a16:rowId xmlns:a16="http://schemas.microsoft.com/office/drawing/2014/main" val="1046366285"/>
                  </a:ext>
                </a:extLst>
              </a:tr>
              <a:tr h="233680">
                <a:tc>
                  <a:txBody>
                    <a:bodyPr/>
                    <a:lstStyle/>
                    <a:p>
                      <a:pPr algn="ctr"/>
                      <a:r>
                        <a:rPr lang="en-US" sz="900"/>
                        <a:t>2</a:t>
                      </a:r>
                    </a:p>
                  </a:txBody>
                  <a:tcPr/>
                </a:tc>
                <a:tc>
                  <a:txBody>
                    <a:bodyPr/>
                    <a:lstStyle/>
                    <a:p>
                      <a:pPr algn="l"/>
                      <a:r>
                        <a:rPr lang="en-US" sz="900"/>
                        <a:t>ALU output enable</a:t>
                      </a:r>
                    </a:p>
                  </a:txBody>
                  <a:tcPr/>
                </a:tc>
                <a:extLst>
                  <a:ext uri="{0D108BD9-81ED-4DB2-BD59-A6C34878D82A}">
                    <a16:rowId xmlns:a16="http://schemas.microsoft.com/office/drawing/2014/main" val="2615342211"/>
                  </a:ext>
                </a:extLst>
              </a:tr>
              <a:tr h="233680">
                <a:tc>
                  <a:txBody>
                    <a:bodyPr/>
                    <a:lstStyle/>
                    <a:p>
                      <a:pPr algn="ctr"/>
                      <a:r>
                        <a:rPr lang="en-US" sz="900"/>
                        <a:t>1</a:t>
                      </a:r>
                    </a:p>
                  </a:txBody>
                  <a:tcPr/>
                </a:tc>
                <a:tc>
                  <a:txBody>
                    <a:bodyPr/>
                    <a:lstStyle/>
                    <a:p>
                      <a:pPr algn="l"/>
                      <a:r>
                        <a:rPr lang="en-US" sz="900"/>
                        <a:t>ALU load register A</a:t>
                      </a:r>
                    </a:p>
                  </a:txBody>
                  <a:tcPr marT="0"/>
                </a:tc>
                <a:extLst>
                  <a:ext uri="{0D108BD9-81ED-4DB2-BD59-A6C34878D82A}">
                    <a16:rowId xmlns:a16="http://schemas.microsoft.com/office/drawing/2014/main" val="2055856817"/>
                  </a:ext>
                </a:extLst>
              </a:tr>
              <a:tr h="233680">
                <a:tc>
                  <a:txBody>
                    <a:bodyPr/>
                    <a:lstStyle/>
                    <a:p>
                      <a:pPr algn="ctr"/>
                      <a:r>
                        <a:rPr lang="en-US" sz="900"/>
                        <a:t>0</a:t>
                      </a:r>
                    </a:p>
                  </a:txBody>
                  <a:tcPr/>
                </a:tc>
                <a:tc>
                  <a:txBody>
                    <a:bodyPr/>
                    <a:lstStyle/>
                    <a:p>
                      <a:pPr algn="l"/>
                      <a:r>
                        <a:rPr lang="en-US" sz="900"/>
                        <a:t>ALU load register B</a:t>
                      </a:r>
                    </a:p>
                  </a:txBody>
                  <a:tcPr/>
                </a:tc>
                <a:extLst>
                  <a:ext uri="{0D108BD9-81ED-4DB2-BD59-A6C34878D82A}">
                    <a16:rowId xmlns:a16="http://schemas.microsoft.com/office/drawing/2014/main" val="3502991894"/>
                  </a:ext>
                </a:extLst>
              </a:tr>
            </a:tbl>
          </a:graphicData>
        </a:graphic>
      </p:graphicFrame>
      <p:sp>
        <p:nvSpPr>
          <p:cNvPr id="14" name="Title 13">
            <a:extLst>
              <a:ext uri="{FF2B5EF4-FFF2-40B4-BE49-F238E27FC236}">
                <a16:creationId xmlns:a16="http://schemas.microsoft.com/office/drawing/2014/main" id="{9B886F29-E580-D654-FD93-393B5ED966AE}"/>
              </a:ext>
            </a:extLst>
          </p:cNvPr>
          <p:cNvSpPr>
            <a:spLocks noGrp="1"/>
          </p:cNvSpPr>
          <p:nvPr>
            <p:ph type="ctrTitle"/>
          </p:nvPr>
        </p:nvSpPr>
        <p:spPr>
          <a:xfrm>
            <a:off x="914400" y="182880"/>
            <a:ext cx="9144000" cy="457200"/>
          </a:xfrm>
        </p:spPr>
        <p:txBody>
          <a:bodyPr/>
          <a:lstStyle/>
          <a:p>
            <a:r>
              <a:rPr lang="en-US"/>
              <a:t>Micro-Instructions Control: Test immediate (10011)</a:t>
            </a:r>
          </a:p>
        </p:txBody>
      </p:sp>
    </p:spTree>
    <p:extLst>
      <p:ext uri="{BB962C8B-B14F-4D97-AF65-F5344CB8AC3E}">
        <p14:creationId xmlns:p14="http://schemas.microsoft.com/office/powerpoint/2010/main" val="1641817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4E45F-5D15-41F3-8F2A-2C4AB5F6E279}"/>
              </a:ext>
            </a:extLst>
          </p:cNvPr>
          <p:cNvSpPr>
            <a:spLocks noGrp="1"/>
          </p:cNvSpPr>
          <p:nvPr>
            <p:ph type="ctrTitle"/>
          </p:nvPr>
        </p:nvSpPr>
        <p:spPr>
          <a:xfrm>
            <a:off x="1675656" y="-327546"/>
            <a:ext cx="9144000" cy="879783"/>
          </a:xfrm>
          <a:prstGeom prst="rect">
            <a:avLst/>
          </a:prstGeom>
        </p:spPr>
        <p:txBody>
          <a:bodyPr/>
          <a:lstStyle/>
          <a:p>
            <a:r>
              <a:rPr lang="en-US" sz="4000"/>
              <a:t>ALU</a:t>
            </a:r>
          </a:p>
        </p:txBody>
      </p:sp>
      <p:graphicFrame>
        <p:nvGraphicFramePr>
          <p:cNvPr id="4" name="Table 4">
            <a:extLst>
              <a:ext uri="{FF2B5EF4-FFF2-40B4-BE49-F238E27FC236}">
                <a16:creationId xmlns:a16="http://schemas.microsoft.com/office/drawing/2014/main" id="{61054D4F-50EB-4216-9E26-903E352CCA4A}"/>
              </a:ext>
            </a:extLst>
          </p:cNvPr>
          <p:cNvGraphicFramePr>
            <a:graphicFrameLocks noGrp="1"/>
          </p:cNvGraphicFramePr>
          <p:nvPr>
            <p:extLst>
              <p:ext uri="{D42A27DB-BD31-4B8C-83A1-F6EECF244321}">
                <p14:modId xmlns:p14="http://schemas.microsoft.com/office/powerpoint/2010/main" val="2134093370"/>
              </p:ext>
            </p:extLst>
          </p:nvPr>
        </p:nvGraphicFramePr>
        <p:xfrm>
          <a:off x="2506625" y="462019"/>
          <a:ext cx="8128000" cy="3566160"/>
        </p:xfrm>
        <a:graphic>
          <a:graphicData uri="http://schemas.openxmlformats.org/drawingml/2006/table">
            <a:tbl>
              <a:tblPr firstRow="1" bandRow="1">
                <a:tableStyleId>{5C22544A-7EE6-4342-B048-85BDC9FD1C3A}</a:tableStyleId>
              </a:tblPr>
              <a:tblGrid>
                <a:gridCol w="1278908">
                  <a:extLst>
                    <a:ext uri="{9D8B030D-6E8A-4147-A177-3AD203B41FA5}">
                      <a16:colId xmlns:a16="http://schemas.microsoft.com/office/drawing/2014/main" val="321351132"/>
                    </a:ext>
                  </a:extLst>
                </a:gridCol>
                <a:gridCol w="1785464">
                  <a:extLst>
                    <a:ext uri="{9D8B030D-6E8A-4147-A177-3AD203B41FA5}">
                      <a16:colId xmlns:a16="http://schemas.microsoft.com/office/drawing/2014/main" val="947167074"/>
                    </a:ext>
                  </a:extLst>
                </a:gridCol>
                <a:gridCol w="1812428">
                  <a:extLst>
                    <a:ext uri="{9D8B030D-6E8A-4147-A177-3AD203B41FA5}">
                      <a16:colId xmlns:a16="http://schemas.microsoft.com/office/drawing/2014/main" val="3038520054"/>
                    </a:ext>
                  </a:extLst>
                </a:gridCol>
                <a:gridCol w="1625600">
                  <a:extLst>
                    <a:ext uri="{9D8B030D-6E8A-4147-A177-3AD203B41FA5}">
                      <a16:colId xmlns:a16="http://schemas.microsoft.com/office/drawing/2014/main" val="3358223032"/>
                    </a:ext>
                  </a:extLst>
                </a:gridCol>
                <a:gridCol w="1625600">
                  <a:extLst>
                    <a:ext uri="{9D8B030D-6E8A-4147-A177-3AD203B41FA5}">
                      <a16:colId xmlns:a16="http://schemas.microsoft.com/office/drawing/2014/main" val="2745844693"/>
                    </a:ext>
                  </a:extLst>
                </a:gridCol>
              </a:tblGrid>
              <a:tr h="312657">
                <a:tc>
                  <a:txBody>
                    <a:bodyPr/>
                    <a:lstStyle/>
                    <a:p>
                      <a:pPr algn="ctr"/>
                      <a:r>
                        <a:rPr lang="en-US" sz="1300"/>
                        <a:t>Op Select</a:t>
                      </a:r>
                    </a:p>
                  </a:txBody>
                  <a:tcPr/>
                </a:tc>
                <a:tc>
                  <a:txBody>
                    <a:bodyPr/>
                    <a:lstStyle/>
                    <a:p>
                      <a:pPr algn="ctr"/>
                      <a:r>
                        <a:rPr lang="en-US" sz="1300"/>
                        <a:t>Special </a:t>
                      </a:r>
                      <a:r>
                        <a:rPr lang="en-US" sz="1300" err="1"/>
                        <a:t>Func</a:t>
                      </a:r>
                      <a:r>
                        <a:rPr lang="en-US" sz="1300"/>
                        <a:t>. = 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300"/>
                        <a:t>Special </a:t>
                      </a:r>
                      <a:r>
                        <a:rPr lang="en-US" sz="1300" err="1"/>
                        <a:t>Func</a:t>
                      </a:r>
                      <a:r>
                        <a:rPr lang="en-US" sz="1300"/>
                        <a:t>. = 1</a:t>
                      </a:r>
                    </a:p>
                  </a:txBody>
                  <a:tcPr/>
                </a:tc>
                <a:tc>
                  <a:txBody>
                    <a:bodyPr/>
                    <a:lstStyle/>
                    <a:p>
                      <a:pPr algn="ctr"/>
                      <a:r>
                        <a:rPr lang="en-US" sz="1300"/>
                        <a:t>Flag in</a:t>
                      </a:r>
                    </a:p>
                  </a:txBody>
                  <a:tcPr/>
                </a:tc>
                <a:tc>
                  <a:txBody>
                    <a:bodyPr/>
                    <a:lstStyle/>
                    <a:p>
                      <a:pPr algn="ctr"/>
                      <a:r>
                        <a:rPr lang="en-US" sz="1300"/>
                        <a:t>Flags Out</a:t>
                      </a:r>
                    </a:p>
                  </a:txBody>
                  <a:tcPr/>
                </a:tc>
                <a:extLst>
                  <a:ext uri="{0D108BD9-81ED-4DB2-BD59-A6C34878D82A}">
                    <a16:rowId xmlns:a16="http://schemas.microsoft.com/office/drawing/2014/main" val="1172704005"/>
                  </a:ext>
                </a:extLst>
              </a:tr>
              <a:tr h="312657">
                <a:tc>
                  <a:txBody>
                    <a:bodyPr/>
                    <a:lstStyle/>
                    <a:p>
                      <a:pPr algn="ctr"/>
                      <a:r>
                        <a:rPr lang="en-US" sz="1300"/>
                        <a:t>0</a:t>
                      </a:r>
                    </a:p>
                  </a:txBody>
                  <a:tcPr/>
                </a:tc>
                <a:tc>
                  <a:txBody>
                    <a:bodyPr/>
                    <a:lstStyle/>
                    <a:p>
                      <a:pPr algn="ctr"/>
                      <a:r>
                        <a:rPr lang="en-US" sz="1300"/>
                        <a:t>A OR B</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300"/>
                        <a:t>A OR B</a:t>
                      </a:r>
                    </a:p>
                  </a:txBody>
                  <a:tcPr/>
                </a:tc>
                <a:tc>
                  <a:txBody>
                    <a:bodyPr/>
                    <a:lstStyle/>
                    <a:p>
                      <a:pPr algn="ctr"/>
                      <a:r>
                        <a:rPr lang="en-US" sz="1300"/>
                        <a:t>-</a:t>
                      </a:r>
                    </a:p>
                  </a:txBody>
                  <a:tcPr/>
                </a:tc>
                <a:tc>
                  <a:txBody>
                    <a:bodyPr/>
                    <a:lstStyle/>
                    <a:p>
                      <a:pPr algn="ctr"/>
                      <a:r>
                        <a:rPr lang="en-US" sz="1300"/>
                        <a:t>Z, N</a:t>
                      </a:r>
                    </a:p>
                  </a:txBody>
                  <a:tcPr/>
                </a:tc>
                <a:extLst>
                  <a:ext uri="{0D108BD9-81ED-4DB2-BD59-A6C34878D82A}">
                    <a16:rowId xmlns:a16="http://schemas.microsoft.com/office/drawing/2014/main" val="3310631083"/>
                  </a:ext>
                </a:extLst>
              </a:tr>
              <a:tr h="312657">
                <a:tc>
                  <a:txBody>
                    <a:bodyPr/>
                    <a:lstStyle/>
                    <a:p>
                      <a:pPr algn="ctr"/>
                      <a:r>
                        <a:rPr lang="en-US" sz="1300"/>
                        <a:t>1</a:t>
                      </a:r>
                    </a:p>
                  </a:txBody>
                  <a:tcPr/>
                </a:tc>
                <a:tc>
                  <a:txBody>
                    <a:bodyPr/>
                    <a:lstStyle/>
                    <a:p>
                      <a:pPr algn="ctr"/>
                      <a:r>
                        <a:rPr lang="en-US" sz="1300"/>
                        <a:t>A AND B</a:t>
                      </a:r>
                    </a:p>
                  </a:txBody>
                  <a:tcPr/>
                </a:tc>
                <a:tc>
                  <a:txBody>
                    <a:bodyPr/>
                    <a:lstStyle/>
                    <a:p>
                      <a:pPr algn="ctr"/>
                      <a:r>
                        <a:rPr lang="en-US" sz="1300"/>
                        <a:t>A AND B</a:t>
                      </a:r>
                    </a:p>
                  </a:txBody>
                  <a:tcPr/>
                </a:tc>
                <a:tc>
                  <a:txBody>
                    <a:bodyPr/>
                    <a:lstStyle/>
                    <a:p>
                      <a:pPr algn="ctr"/>
                      <a:r>
                        <a:rPr lang="en-US" sz="1300"/>
                        <a:t>-</a:t>
                      </a:r>
                    </a:p>
                  </a:txBody>
                  <a:tcPr/>
                </a:tc>
                <a:tc>
                  <a:txBody>
                    <a:bodyPr/>
                    <a:lstStyle/>
                    <a:p>
                      <a:pPr algn="ctr"/>
                      <a:r>
                        <a:rPr lang="en-US" sz="1300"/>
                        <a:t>Z, N</a:t>
                      </a:r>
                    </a:p>
                  </a:txBody>
                  <a:tcPr/>
                </a:tc>
                <a:extLst>
                  <a:ext uri="{0D108BD9-81ED-4DB2-BD59-A6C34878D82A}">
                    <a16:rowId xmlns:a16="http://schemas.microsoft.com/office/drawing/2014/main" val="3738173850"/>
                  </a:ext>
                </a:extLst>
              </a:tr>
              <a:tr h="312657">
                <a:tc>
                  <a:txBody>
                    <a:bodyPr/>
                    <a:lstStyle/>
                    <a:p>
                      <a:pPr algn="ctr"/>
                      <a:r>
                        <a:rPr lang="en-US" sz="1300"/>
                        <a:t>2</a:t>
                      </a:r>
                    </a:p>
                  </a:txBody>
                  <a:tcPr/>
                </a:tc>
                <a:tc>
                  <a:txBody>
                    <a:bodyPr/>
                    <a:lstStyle/>
                    <a:p>
                      <a:pPr algn="ctr"/>
                      <a:r>
                        <a:rPr lang="en-US" sz="1300"/>
                        <a:t>B</a:t>
                      </a:r>
                    </a:p>
                  </a:txBody>
                  <a:tcPr/>
                </a:tc>
                <a:tc>
                  <a:txBody>
                    <a:bodyPr/>
                    <a:lstStyle/>
                    <a:p>
                      <a:pPr algn="ctr"/>
                      <a:r>
                        <a:rPr lang="en-US" sz="1300"/>
                        <a:t>~B</a:t>
                      </a:r>
                    </a:p>
                  </a:txBody>
                  <a:tcPr/>
                </a:tc>
                <a:tc>
                  <a:txBody>
                    <a:bodyPr/>
                    <a:lstStyle/>
                    <a:p>
                      <a:pPr algn="ctr"/>
                      <a:r>
                        <a:rPr lang="en-US" sz="1300"/>
                        <a:t>-</a:t>
                      </a:r>
                    </a:p>
                  </a:txBody>
                  <a:tcPr/>
                </a:tc>
                <a:tc>
                  <a:txBody>
                    <a:bodyPr/>
                    <a:lstStyle/>
                    <a:p>
                      <a:pPr algn="ctr"/>
                      <a:r>
                        <a:rPr lang="en-US" sz="1300"/>
                        <a:t>Z, N</a:t>
                      </a:r>
                    </a:p>
                  </a:txBody>
                  <a:tcPr/>
                </a:tc>
                <a:extLst>
                  <a:ext uri="{0D108BD9-81ED-4DB2-BD59-A6C34878D82A}">
                    <a16:rowId xmlns:a16="http://schemas.microsoft.com/office/drawing/2014/main" val="1360638868"/>
                  </a:ext>
                </a:extLst>
              </a:tr>
              <a:tr h="312657">
                <a:tc>
                  <a:txBody>
                    <a:bodyPr/>
                    <a:lstStyle/>
                    <a:p>
                      <a:pPr algn="ctr"/>
                      <a:r>
                        <a:rPr lang="en-US" sz="1300"/>
                        <a:t>3</a:t>
                      </a:r>
                    </a:p>
                  </a:txBody>
                  <a:tcPr/>
                </a:tc>
                <a:tc>
                  <a:txBody>
                    <a:bodyPr/>
                    <a:lstStyle/>
                    <a:p>
                      <a:pPr algn="ctr"/>
                      <a:r>
                        <a:rPr lang="en-US" sz="1300"/>
                        <a:t>A + B</a:t>
                      </a:r>
                    </a:p>
                  </a:txBody>
                  <a:tcPr/>
                </a:tc>
                <a:tc>
                  <a:txBody>
                    <a:bodyPr/>
                    <a:lstStyle/>
                    <a:p>
                      <a:pPr algn="ctr"/>
                      <a:r>
                        <a:rPr lang="en-US" sz="1300"/>
                        <a:t>A – B</a:t>
                      </a:r>
                    </a:p>
                  </a:txBody>
                  <a:tcPr/>
                </a:tc>
                <a:tc>
                  <a:txBody>
                    <a:bodyPr/>
                    <a:lstStyle/>
                    <a:p>
                      <a:pPr algn="ctr"/>
                      <a:r>
                        <a:rPr lang="en-US" sz="1300"/>
                        <a:t>- </a:t>
                      </a:r>
                    </a:p>
                  </a:txBody>
                  <a:tcPr/>
                </a:tc>
                <a:tc>
                  <a:txBody>
                    <a:bodyPr/>
                    <a:lstStyle/>
                    <a:p>
                      <a:pPr algn="ctr"/>
                      <a:r>
                        <a:rPr lang="en-US" sz="1300"/>
                        <a:t>Z, N, Co</a:t>
                      </a:r>
                    </a:p>
                  </a:txBody>
                  <a:tcPr/>
                </a:tc>
                <a:extLst>
                  <a:ext uri="{0D108BD9-81ED-4DB2-BD59-A6C34878D82A}">
                    <a16:rowId xmlns:a16="http://schemas.microsoft.com/office/drawing/2014/main" val="4155580310"/>
                  </a:ext>
                </a:extLst>
              </a:tr>
              <a:tr h="539655">
                <a:tc>
                  <a:txBody>
                    <a:bodyPr/>
                    <a:lstStyle/>
                    <a:p>
                      <a:pPr algn="ctr"/>
                      <a:r>
                        <a:rPr lang="en-US" sz="1300"/>
                        <a:t>4</a:t>
                      </a:r>
                    </a:p>
                  </a:txBody>
                  <a:tcPr/>
                </a:tc>
                <a:tc>
                  <a:txBody>
                    <a:bodyPr/>
                    <a:lstStyle/>
                    <a:p>
                      <a:pPr algn="ctr"/>
                      <a:r>
                        <a:rPr lang="en-US" sz="1300"/>
                        <a:t>Shift Left A </a:t>
                      </a:r>
                    </a:p>
                    <a:p>
                      <a:pPr algn="ctr"/>
                      <a:r>
                        <a:rPr lang="en-US" sz="1300"/>
                        <a:t>A[0]=0</a:t>
                      </a:r>
                    </a:p>
                  </a:txBody>
                  <a:tcPr/>
                </a:tc>
                <a:tc>
                  <a:txBody>
                    <a:bodyPr/>
                    <a:lstStyle/>
                    <a:p>
                      <a:pPr algn="ctr"/>
                      <a:r>
                        <a:rPr lang="en-US" sz="1300"/>
                        <a:t>Rotate left A</a:t>
                      </a:r>
                    </a:p>
                    <a:p>
                      <a:pPr algn="ctr"/>
                      <a:r>
                        <a:rPr lang="en-US" sz="1300"/>
                        <a:t>A[0]=</a:t>
                      </a:r>
                      <a:r>
                        <a:rPr lang="en-US" sz="1300" err="1"/>
                        <a:t>Cin</a:t>
                      </a:r>
                      <a:r>
                        <a:rPr lang="en-US" sz="1300"/>
                        <a:t> </a:t>
                      </a:r>
                    </a:p>
                  </a:txBody>
                  <a:tcPr/>
                </a:tc>
                <a:tc>
                  <a:txBody>
                    <a:bodyPr/>
                    <a:lstStyle/>
                    <a:p>
                      <a:pPr algn="ctr"/>
                      <a:r>
                        <a:rPr lang="en-US" sz="1300" err="1"/>
                        <a:t>Cin</a:t>
                      </a:r>
                      <a:r>
                        <a:rPr lang="en-US" sz="1300"/>
                        <a:t> (Rotate)</a:t>
                      </a:r>
                    </a:p>
                  </a:txBody>
                  <a:tcPr/>
                </a:tc>
                <a:tc>
                  <a:txBody>
                    <a:bodyPr/>
                    <a:lstStyle/>
                    <a:p>
                      <a:pPr algn="ctr"/>
                      <a:r>
                        <a:rPr lang="en-US" sz="1300"/>
                        <a:t>Z, N=A[6], Co=A[7]</a:t>
                      </a:r>
                    </a:p>
                  </a:txBody>
                  <a:tcPr/>
                </a:tc>
                <a:extLst>
                  <a:ext uri="{0D108BD9-81ED-4DB2-BD59-A6C34878D82A}">
                    <a16:rowId xmlns:a16="http://schemas.microsoft.com/office/drawing/2014/main" val="2712813175"/>
                  </a:ext>
                </a:extLst>
              </a:tr>
              <a:tr h="312657">
                <a:tc>
                  <a:txBody>
                    <a:bodyPr/>
                    <a:lstStyle/>
                    <a:p>
                      <a:pPr algn="ctr"/>
                      <a:r>
                        <a:rPr lang="en-US" sz="1300"/>
                        <a:t>5</a:t>
                      </a:r>
                    </a:p>
                  </a:txBody>
                  <a:tcPr/>
                </a:tc>
                <a:tc>
                  <a:txBody>
                    <a:bodyPr/>
                    <a:lstStyle/>
                    <a:p>
                      <a:pPr algn="ctr"/>
                      <a:r>
                        <a:rPr lang="en-US" sz="1300"/>
                        <a:t>Shift Right A</a:t>
                      </a:r>
                    </a:p>
                  </a:txBody>
                  <a:tcPr/>
                </a:tc>
                <a:tc>
                  <a:txBody>
                    <a:bodyPr/>
                    <a:lstStyle/>
                    <a:p>
                      <a:pPr algn="ctr"/>
                      <a:r>
                        <a:rPr lang="en-US" sz="1300"/>
                        <a:t>Arithmetic S.R. A</a:t>
                      </a:r>
                    </a:p>
                  </a:txBody>
                  <a:tcPr/>
                </a:tc>
                <a:tc>
                  <a:txBody>
                    <a:bodyPr/>
                    <a:lstStyle/>
                    <a:p>
                      <a:pPr algn="ctr"/>
                      <a:r>
                        <a:rPr lang="en-US" sz="130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300"/>
                        <a:t>Z, N, Co=A[0]</a:t>
                      </a:r>
                    </a:p>
                  </a:txBody>
                  <a:tcPr/>
                </a:tc>
                <a:extLst>
                  <a:ext uri="{0D108BD9-81ED-4DB2-BD59-A6C34878D82A}">
                    <a16:rowId xmlns:a16="http://schemas.microsoft.com/office/drawing/2014/main" val="442150718"/>
                  </a:ext>
                </a:extLst>
              </a:tr>
              <a:tr h="312657">
                <a:tc>
                  <a:txBody>
                    <a:bodyPr/>
                    <a:lstStyle/>
                    <a:p>
                      <a:pPr algn="ctr"/>
                      <a:r>
                        <a:rPr lang="en-US" sz="1300"/>
                        <a:t>6</a:t>
                      </a:r>
                    </a:p>
                  </a:txBody>
                  <a:tcPr/>
                </a:tc>
                <a:tc>
                  <a:txBody>
                    <a:bodyPr/>
                    <a:lstStyle/>
                    <a:p>
                      <a:pPr algn="ctr"/>
                      <a:endParaRPr lang="en-US" sz="1300"/>
                    </a:p>
                  </a:txBody>
                  <a:tcPr/>
                </a:tc>
                <a:tc>
                  <a:txBody>
                    <a:bodyPr/>
                    <a:lstStyle/>
                    <a:p>
                      <a:pPr algn="ctr"/>
                      <a:endParaRPr lang="en-US" sz="1300"/>
                    </a:p>
                  </a:txBody>
                  <a:tcPr/>
                </a:tc>
                <a:tc>
                  <a:txBody>
                    <a:bodyPr/>
                    <a:lstStyle/>
                    <a:p>
                      <a:pPr algn="ctr"/>
                      <a:endParaRPr lang="en-US" sz="1300"/>
                    </a:p>
                  </a:txBody>
                  <a:tcPr/>
                </a:tc>
                <a:tc>
                  <a:txBody>
                    <a:bodyPr/>
                    <a:lstStyle/>
                    <a:p>
                      <a:pPr algn="ctr"/>
                      <a:endParaRPr lang="en-US" sz="1300"/>
                    </a:p>
                  </a:txBody>
                  <a:tcPr/>
                </a:tc>
                <a:extLst>
                  <a:ext uri="{0D108BD9-81ED-4DB2-BD59-A6C34878D82A}">
                    <a16:rowId xmlns:a16="http://schemas.microsoft.com/office/drawing/2014/main" val="615310716"/>
                  </a:ext>
                </a:extLst>
              </a:tr>
              <a:tr h="312657">
                <a:tc>
                  <a:txBody>
                    <a:bodyPr/>
                    <a:lstStyle/>
                    <a:p>
                      <a:pPr algn="ctr"/>
                      <a:r>
                        <a:rPr lang="en-US" sz="1300"/>
                        <a:t>7</a:t>
                      </a:r>
                    </a:p>
                  </a:txBody>
                  <a:tcPr/>
                </a:tc>
                <a:tc>
                  <a:txBody>
                    <a:bodyPr/>
                    <a:lstStyle/>
                    <a:p>
                      <a:pPr algn="ctr"/>
                      <a:r>
                        <a:rPr lang="en-US" sz="1300">
                          <a:solidFill>
                            <a:srgbClr val="FF0000"/>
                          </a:solidFill>
                        </a:rPr>
                        <a:t> </a:t>
                      </a:r>
                    </a:p>
                  </a:txBody>
                  <a:tcPr/>
                </a:tc>
                <a:tc>
                  <a:txBody>
                    <a:bodyPr/>
                    <a:lstStyle/>
                    <a:p>
                      <a:pPr algn="ctr"/>
                      <a:r>
                        <a:rPr lang="en-US" sz="1300">
                          <a:solidFill>
                            <a:srgbClr val="FF0000"/>
                          </a:solidFill>
                        </a:rPr>
                        <a:t> </a:t>
                      </a:r>
                    </a:p>
                  </a:txBody>
                  <a:tcPr/>
                </a:tc>
                <a:tc>
                  <a:txBody>
                    <a:bodyPr/>
                    <a:lstStyle/>
                    <a:p>
                      <a:pPr algn="ctr"/>
                      <a:endParaRPr lang="en-US" sz="1300"/>
                    </a:p>
                  </a:txBody>
                  <a:tcPr/>
                </a:tc>
                <a:tc>
                  <a:txBody>
                    <a:bodyPr/>
                    <a:lstStyle/>
                    <a:p>
                      <a:pPr algn="ctr"/>
                      <a:endParaRPr lang="en-US" sz="1300"/>
                    </a:p>
                  </a:txBody>
                  <a:tcPr/>
                </a:tc>
                <a:extLst>
                  <a:ext uri="{0D108BD9-81ED-4DB2-BD59-A6C34878D82A}">
                    <a16:rowId xmlns:a16="http://schemas.microsoft.com/office/drawing/2014/main" val="3768586301"/>
                  </a:ext>
                </a:extLst>
              </a:tr>
            </a:tbl>
          </a:graphicData>
        </a:graphic>
      </p:graphicFrame>
      <p:sp>
        <p:nvSpPr>
          <p:cNvPr id="5" name="TextBox 4">
            <a:extLst>
              <a:ext uri="{FF2B5EF4-FFF2-40B4-BE49-F238E27FC236}">
                <a16:creationId xmlns:a16="http://schemas.microsoft.com/office/drawing/2014/main" id="{1A7CDFEC-6ABA-41B5-9530-4B1D17CB748E}"/>
              </a:ext>
            </a:extLst>
          </p:cNvPr>
          <p:cNvSpPr txBox="1"/>
          <p:nvPr/>
        </p:nvSpPr>
        <p:spPr>
          <a:xfrm>
            <a:off x="2556853" y="5226382"/>
            <a:ext cx="4106958" cy="646331"/>
          </a:xfrm>
          <a:prstGeom prst="rect">
            <a:avLst/>
          </a:prstGeom>
          <a:noFill/>
        </p:spPr>
        <p:txBody>
          <a:bodyPr wrap="none" rtlCol="0">
            <a:spAutoFit/>
          </a:bodyPr>
          <a:lstStyle/>
          <a:p>
            <a:r>
              <a:rPr lang="en-US"/>
              <a:t>Proposals for the additional operations</a:t>
            </a:r>
          </a:p>
          <a:p>
            <a:pPr marL="285744" indent="-285744">
              <a:buFont typeface="Arial" panose="020B0604020202020204" pitchFamily="34" charset="0"/>
              <a:buChar char="•"/>
            </a:pPr>
            <a:r>
              <a:rPr lang="en-US"/>
              <a:t>How to chain Shift Right of two bytes? </a:t>
            </a:r>
          </a:p>
        </p:txBody>
      </p:sp>
      <p:graphicFrame>
        <p:nvGraphicFramePr>
          <p:cNvPr id="3" name="Table 5">
            <a:extLst>
              <a:ext uri="{FF2B5EF4-FFF2-40B4-BE49-F238E27FC236}">
                <a16:creationId xmlns:a16="http://schemas.microsoft.com/office/drawing/2014/main" id="{445C3134-7AEA-45C0-B554-9C3721A651EE}"/>
              </a:ext>
            </a:extLst>
          </p:cNvPr>
          <p:cNvGraphicFramePr>
            <a:graphicFrameLocks noGrp="1"/>
          </p:cNvGraphicFramePr>
          <p:nvPr>
            <p:extLst>
              <p:ext uri="{D42A27DB-BD31-4B8C-83A1-F6EECF244321}">
                <p14:modId xmlns:p14="http://schemas.microsoft.com/office/powerpoint/2010/main" val="3699430891"/>
              </p:ext>
            </p:extLst>
          </p:nvPr>
        </p:nvGraphicFramePr>
        <p:xfrm>
          <a:off x="700586" y="4114800"/>
          <a:ext cx="10608860" cy="1005840"/>
        </p:xfrm>
        <a:graphic>
          <a:graphicData uri="http://schemas.openxmlformats.org/drawingml/2006/table">
            <a:tbl>
              <a:tblPr firstRow="1" bandRow="1">
                <a:tableStyleId>{93296810-A885-4BE3-A3E7-6D5BEEA58F35}</a:tableStyleId>
              </a:tblPr>
              <a:tblGrid>
                <a:gridCol w="2861481">
                  <a:extLst>
                    <a:ext uri="{9D8B030D-6E8A-4147-A177-3AD203B41FA5}">
                      <a16:colId xmlns:a16="http://schemas.microsoft.com/office/drawing/2014/main" val="3201275542"/>
                    </a:ext>
                  </a:extLst>
                </a:gridCol>
                <a:gridCol w="1901588">
                  <a:extLst>
                    <a:ext uri="{9D8B030D-6E8A-4147-A177-3AD203B41FA5}">
                      <a16:colId xmlns:a16="http://schemas.microsoft.com/office/drawing/2014/main" val="3097542783"/>
                    </a:ext>
                  </a:extLst>
                </a:gridCol>
                <a:gridCol w="3939699">
                  <a:extLst>
                    <a:ext uri="{9D8B030D-6E8A-4147-A177-3AD203B41FA5}">
                      <a16:colId xmlns:a16="http://schemas.microsoft.com/office/drawing/2014/main" val="2076965464"/>
                    </a:ext>
                  </a:extLst>
                </a:gridCol>
                <a:gridCol w="1906092">
                  <a:extLst>
                    <a:ext uri="{9D8B030D-6E8A-4147-A177-3AD203B41FA5}">
                      <a16:colId xmlns:a16="http://schemas.microsoft.com/office/drawing/2014/main" val="616535788"/>
                    </a:ext>
                  </a:extLst>
                </a:gridCol>
              </a:tblGrid>
              <a:tr h="297180">
                <a:tc>
                  <a:txBody>
                    <a:bodyPr/>
                    <a:lstStyle/>
                    <a:p>
                      <a:r>
                        <a:rPr lang="en-US" sz="1300"/>
                        <a:t>Proposal</a:t>
                      </a:r>
                    </a:p>
                  </a:txBody>
                  <a:tcPr/>
                </a:tc>
                <a:tc>
                  <a:txBody>
                    <a:bodyPr/>
                    <a:lstStyle/>
                    <a:p>
                      <a:r>
                        <a:rPr lang="en-US" sz="1300"/>
                        <a:t># of IC slots </a:t>
                      </a:r>
                    </a:p>
                  </a:txBody>
                  <a:tcPr/>
                </a:tc>
                <a:tc>
                  <a:txBody>
                    <a:bodyPr/>
                    <a:lstStyle/>
                    <a:p>
                      <a:r>
                        <a:rPr lang="en-US" sz="1300"/>
                        <a:t>Description</a:t>
                      </a:r>
                    </a:p>
                  </a:txBody>
                  <a:tcPr/>
                </a:tc>
                <a:tc>
                  <a:txBody>
                    <a:bodyPr/>
                    <a:lstStyle/>
                    <a:p>
                      <a:r>
                        <a:rPr lang="en-US" sz="1300"/>
                        <a:t>Op Code </a:t>
                      </a:r>
                    </a:p>
                  </a:txBody>
                  <a:tcPr/>
                </a:tc>
                <a:extLst>
                  <a:ext uri="{0D108BD9-81ED-4DB2-BD59-A6C34878D82A}">
                    <a16:rowId xmlns:a16="http://schemas.microsoft.com/office/drawing/2014/main" val="381336539"/>
                  </a:ext>
                </a:extLst>
              </a:tr>
              <a:tr h="502920">
                <a:tc>
                  <a:txBody>
                    <a:bodyPr/>
                    <a:lstStyle/>
                    <a:p>
                      <a:r>
                        <a:rPr lang="en-US" sz="1300"/>
                        <a:t>Move A, B Regs</a:t>
                      </a:r>
                    </a:p>
                  </a:txBody>
                  <a:tcPr/>
                </a:tc>
                <a:tc>
                  <a:txBody>
                    <a:bodyPr/>
                    <a:lstStyle/>
                    <a:p>
                      <a:r>
                        <a:rPr lang="en-US" sz="1300"/>
                        <a:t>4x 74LS161</a:t>
                      </a:r>
                    </a:p>
                  </a:txBody>
                  <a:tcPr/>
                </a:tc>
                <a:tc>
                  <a:txBody>
                    <a:bodyPr/>
                    <a:lstStyle/>
                    <a:p>
                      <a:r>
                        <a:rPr lang="en-US" sz="1300"/>
                        <a:t>Reduce interface to one data bus instead of three (A, B, 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No change</a:t>
                      </a:r>
                    </a:p>
                    <a:p>
                      <a:endParaRPr lang="en-US" sz="1300"/>
                    </a:p>
                  </a:txBody>
                  <a:tcPr/>
                </a:tc>
                <a:extLst>
                  <a:ext uri="{0D108BD9-81ED-4DB2-BD59-A6C34878D82A}">
                    <a16:rowId xmlns:a16="http://schemas.microsoft.com/office/drawing/2014/main" val="3294974406"/>
                  </a:ext>
                </a:extLst>
              </a:tr>
            </a:tbl>
          </a:graphicData>
        </a:graphic>
      </p:graphicFrame>
      <p:pic>
        <p:nvPicPr>
          <p:cNvPr id="6" name="Picture 5">
            <a:hlinkClick r:id="rId2" action="ppaction://hlinksldjump"/>
            <a:extLst>
              <a:ext uri="{FF2B5EF4-FFF2-40B4-BE49-F238E27FC236}">
                <a16:creationId xmlns:a16="http://schemas.microsoft.com/office/drawing/2014/main" id="{835D47DE-514D-78A0-0119-54F7AA75EADD}"/>
              </a:ext>
            </a:extLst>
          </p:cNvPr>
          <p:cNvPicPr>
            <a:picLocks noChangeAspect="1"/>
          </p:cNvPicPr>
          <p:nvPr/>
        </p:nvPicPr>
        <p:blipFill>
          <a:blip r:embed="rId3"/>
          <a:stretch>
            <a:fillRect/>
          </a:stretch>
        </p:blipFill>
        <p:spPr>
          <a:xfrm>
            <a:off x="11038384" y="6427540"/>
            <a:ext cx="1076851" cy="222744"/>
          </a:xfrm>
          <a:prstGeom prst="rect">
            <a:avLst/>
          </a:prstGeom>
        </p:spPr>
      </p:pic>
      <p:sp>
        <p:nvSpPr>
          <p:cNvPr id="8" name="Slide Number Placeholder 4">
            <a:extLst>
              <a:ext uri="{FF2B5EF4-FFF2-40B4-BE49-F238E27FC236}">
                <a16:creationId xmlns:a16="http://schemas.microsoft.com/office/drawing/2014/main" id="{37567F40-BB2F-3341-2D49-EEC169B0C35E}"/>
              </a:ext>
            </a:extLst>
          </p:cNvPr>
          <p:cNvSpPr txBox="1">
            <a:spLocks/>
          </p:cNvSpPr>
          <p:nvPr/>
        </p:nvSpPr>
        <p:spPr>
          <a:xfrm>
            <a:off x="9361051" y="636601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A6D0F0-DC95-41AF-A605-A11A2E42E4DC}" type="slidenum">
              <a:rPr lang="en-US" b="1">
                <a:solidFill>
                  <a:schemeClr val="bg1"/>
                </a:solidFill>
              </a:rPr>
              <a:pPr/>
              <a:t>136</a:t>
            </a:fld>
            <a:endParaRPr lang="en-US" b="1">
              <a:solidFill>
                <a:schemeClr val="bg1"/>
              </a:solidFill>
            </a:endParaRPr>
          </a:p>
        </p:txBody>
      </p:sp>
    </p:spTree>
    <p:extLst>
      <p:ext uri="{BB962C8B-B14F-4D97-AF65-F5344CB8AC3E}">
        <p14:creationId xmlns:p14="http://schemas.microsoft.com/office/powerpoint/2010/main" val="2373000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9D606-E048-4299-802F-1E3F7A1C1E08}"/>
              </a:ext>
            </a:extLst>
          </p:cNvPr>
          <p:cNvSpPr>
            <a:spLocks noGrp="1"/>
          </p:cNvSpPr>
          <p:nvPr>
            <p:ph type="ctrTitle"/>
          </p:nvPr>
        </p:nvSpPr>
        <p:spPr>
          <a:xfrm>
            <a:off x="1644581" y="2679857"/>
            <a:ext cx="2013020" cy="2387600"/>
          </a:xfrm>
          <a:prstGeom prst="rect">
            <a:avLst/>
          </a:prstGeom>
        </p:spPr>
        <p:txBody>
          <a:bodyPr/>
          <a:lstStyle/>
          <a:p>
            <a:r>
              <a:rPr lang="en-US"/>
              <a:t>And the Name</a:t>
            </a:r>
            <a:br>
              <a:rPr lang="en-US"/>
            </a:br>
            <a:r>
              <a:rPr lang="en-US"/>
              <a:t>…</a:t>
            </a:r>
          </a:p>
        </p:txBody>
      </p:sp>
      <p:pic>
        <p:nvPicPr>
          <p:cNvPr id="5" name="Picture 4">
            <a:extLst>
              <a:ext uri="{FF2B5EF4-FFF2-40B4-BE49-F238E27FC236}">
                <a16:creationId xmlns:a16="http://schemas.microsoft.com/office/drawing/2014/main" id="{115F6FE8-C373-E8FF-EBA0-988685C066AC}"/>
              </a:ext>
            </a:extLst>
          </p:cNvPr>
          <p:cNvPicPr>
            <a:picLocks noChangeAspect="1"/>
          </p:cNvPicPr>
          <p:nvPr/>
        </p:nvPicPr>
        <p:blipFill>
          <a:blip r:embed="rId2"/>
          <a:stretch>
            <a:fillRect/>
          </a:stretch>
        </p:blipFill>
        <p:spPr>
          <a:xfrm>
            <a:off x="5115141" y="1164153"/>
            <a:ext cx="6169159" cy="4350977"/>
          </a:xfrm>
          <a:prstGeom prst="rect">
            <a:avLst/>
          </a:prstGeom>
        </p:spPr>
      </p:pic>
    </p:spTree>
    <p:extLst>
      <p:ext uri="{BB962C8B-B14F-4D97-AF65-F5344CB8AC3E}">
        <p14:creationId xmlns:p14="http://schemas.microsoft.com/office/powerpoint/2010/main" val="419510591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B6B63-6D44-CC4E-8BE5-8CD9CE904F17}"/>
              </a:ext>
            </a:extLst>
          </p:cNvPr>
          <p:cNvSpPr>
            <a:spLocks noGrp="1"/>
          </p:cNvSpPr>
          <p:nvPr>
            <p:ph type="ctrTitle"/>
          </p:nvPr>
        </p:nvSpPr>
        <p:spPr>
          <a:xfrm>
            <a:off x="1524000" y="1122363"/>
            <a:ext cx="9144000" cy="2387600"/>
          </a:xfrm>
          <a:prstGeom prst="rect">
            <a:avLst/>
          </a:prstGeom>
        </p:spPr>
        <p:txBody>
          <a:bodyPr/>
          <a:lstStyle/>
          <a:p>
            <a:endParaRPr lang="en-US"/>
          </a:p>
        </p:txBody>
      </p:sp>
      <p:sp>
        <p:nvSpPr>
          <p:cNvPr id="3" name="Subtitle 2">
            <a:extLst>
              <a:ext uri="{FF2B5EF4-FFF2-40B4-BE49-F238E27FC236}">
                <a16:creationId xmlns:a16="http://schemas.microsoft.com/office/drawing/2014/main" id="{0E63B440-AC84-60D7-47FC-1C7BE98A0160}"/>
              </a:ext>
            </a:extLst>
          </p:cNvPr>
          <p:cNvSpPr>
            <a:spLocks noGrp="1"/>
          </p:cNvSpPr>
          <p:nvPr>
            <p:ph type="subTitle" idx="4294967295"/>
          </p:nvPr>
        </p:nvSpPr>
        <p:spPr>
          <a:xfrm>
            <a:off x="1524000" y="3602037"/>
            <a:ext cx="9144000" cy="1655763"/>
          </a:xfrm>
          <a:prstGeom prst="rect">
            <a:avLst/>
          </a:prstGeom>
        </p:spPr>
        <p:txBody>
          <a:bodyPr/>
          <a:lstStyle/>
          <a:p>
            <a:endParaRPr lang="en-US"/>
          </a:p>
        </p:txBody>
      </p:sp>
      <p:pic>
        <p:nvPicPr>
          <p:cNvPr id="2050" name="Picture 2" descr="Bifrost [3840x2160] : r/wallpaper">
            <a:extLst>
              <a:ext uri="{FF2B5EF4-FFF2-40B4-BE49-F238E27FC236}">
                <a16:creationId xmlns:a16="http://schemas.microsoft.com/office/drawing/2014/main" id="{7F9671C8-9F07-6877-B282-579C7C2499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picture containing text&#10;&#10;Description automatically generated">
            <a:extLst>
              <a:ext uri="{FF2B5EF4-FFF2-40B4-BE49-F238E27FC236}">
                <a16:creationId xmlns:a16="http://schemas.microsoft.com/office/drawing/2014/main" id="{FC5277A0-8A5D-9A0E-3FCE-7E4294246997}"/>
              </a:ext>
            </a:extLst>
          </p:cNvPr>
          <p:cNvPicPr>
            <a:picLocks noChangeAspect="1"/>
          </p:cNvPicPr>
          <p:nvPr/>
        </p:nvPicPr>
        <p:blipFill rotWithShape="1">
          <a:blip r:embed="rId3">
            <a:extLst>
              <a:ext uri="{28A0092B-C50C-407E-A947-70E740481C1C}">
                <a14:useLocalDpi xmlns:a14="http://schemas.microsoft.com/office/drawing/2010/main" val="0"/>
              </a:ext>
            </a:extLst>
          </a:blip>
          <a:srcRect t="28392" b="34161"/>
          <a:stretch/>
        </p:blipFill>
        <p:spPr>
          <a:xfrm rot="5400000">
            <a:off x="4375033" y="642819"/>
            <a:ext cx="3853740" cy="2568103"/>
          </a:xfrm>
          <a:prstGeom prst="rect">
            <a:avLst/>
          </a:prstGeom>
        </p:spPr>
      </p:pic>
      <p:pic>
        <p:nvPicPr>
          <p:cNvPr id="2054" name="Picture 6" descr="40 Conductor 28awg Color Rainbow Ribbon Wire Cable | eBay">
            <a:extLst>
              <a:ext uri="{FF2B5EF4-FFF2-40B4-BE49-F238E27FC236}">
                <a16:creationId xmlns:a16="http://schemas.microsoft.com/office/drawing/2014/main" id="{DD431B4E-2A4B-A203-917B-42E702E5FA2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34645"/>
          <a:stretch/>
        </p:blipFill>
        <p:spPr bwMode="auto">
          <a:xfrm>
            <a:off x="4298004" y="2935906"/>
            <a:ext cx="3810000" cy="14940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373776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B6B63-6D44-CC4E-8BE5-8CD9CE904F17}"/>
              </a:ext>
            </a:extLst>
          </p:cNvPr>
          <p:cNvSpPr>
            <a:spLocks noGrp="1"/>
          </p:cNvSpPr>
          <p:nvPr>
            <p:ph type="ctrTitle"/>
          </p:nvPr>
        </p:nvSpPr>
        <p:spPr>
          <a:xfrm>
            <a:off x="1524000" y="1122363"/>
            <a:ext cx="9144000" cy="2387600"/>
          </a:xfrm>
          <a:prstGeom prst="rect">
            <a:avLst/>
          </a:prstGeom>
        </p:spPr>
        <p:txBody>
          <a:bodyPr/>
          <a:lstStyle/>
          <a:p>
            <a:endParaRPr lang="en-US"/>
          </a:p>
        </p:txBody>
      </p:sp>
      <p:sp>
        <p:nvSpPr>
          <p:cNvPr id="3" name="Subtitle 2">
            <a:extLst>
              <a:ext uri="{FF2B5EF4-FFF2-40B4-BE49-F238E27FC236}">
                <a16:creationId xmlns:a16="http://schemas.microsoft.com/office/drawing/2014/main" id="{0E63B440-AC84-60D7-47FC-1C7BE98A0160}"/>
              </a:ext>
            </a:extLst>
          </p:cNvPr>
          <p:cNvSpPr>
            <a:spLocks noGrp="1"/>
          </p:cNvSpPr>
          <p:nvPr>
            <p:ph type="subTitle" idx="4294967295"/>
          </p:nvPr>
        </p:nvSpPr>
        <p:spPr>
          <a:xfrm>
            <a:off x="1524000" y="3602037"/>
            <a:ext cx="9144000" cy="1655763"/>
          </a:xfrm>
          <a:prstGeom prst="rect">
            <a:avLst/>
          </a:prstGeom>
        </p:spPr>
        <p:txBody>
          <a:bodyPr/>
          <a:lstStyle/>
          <a:p>
            <a:endParaRPr lang="en-US"/>
          </a:p>
        </p:txBody>
      </p:sp>
      <p:pic>
        <p:nvPicPr>
          <p:cNvPr id="2050" name="Picture 2" descr="Bifrost [3840x2160] : r/wallpaper">
            <a:extLst>
              <a:ext uri="{FF2B5EF4-FFF2-40B4-BE49-F238E27FC236}">
                <a16:creationId xmlns:a16="http://schemas.microsoft.com/office/drawing/2014/main" id="{7F9671C8-9F07-6877-B282-579C7C2499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40 Conductor 28awg Color Rainbow Ribbon Wire Cable | eBay">
            <a:extLst>
              <a:ext uri="{FF2B5EF4-FFF2-40B4-BE49-F238E27FC236}">
                <a16:creationId xmlns:a16="http://schemas.microsoft.com/office/drawing/2014/main" id="{DD431B4E-2A4B-A203-917B-42E702E5FA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487" r="13676" b="43953"/>
          <a:stretch/>
        </p:blipFill>
        <p:spPr bwMode="auto">
          <a:xfrm flipH="1">
            <a:off x="4637901" y="123569"/>
            <a:ext cx="2965623" cy="4220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739948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B6B63-6D44-CC4E-8BE5-8CD9CE904F17}"/>
              </a:ext>
            </a:extLst>
          </p:cNvPr>
          <p:cNvSpPr>
            <a:spLocks noGrp="1"/>
          </p:cNvSpPr>
          <p:nvPr>
            <p:ph type="ctrTitle"/>
          </p:nvPr>
        </p:nvSpPr>
        <p:spPr>
          <a:xfrm>
            <a:off x="1524000" y="1122363"/>
            <a:ext cx="9144000" cy="2387600"/>
          </a:xfrm>
          <a:prstGeom prst="rect">
            <a:avLst/>
          </a:prstGeom>
        </p:spPr>
        <p:txBody>
          <a:bodyPr/>
          <a:lstStyle/>
          <a:p>
            <a:endParaRPr lang="en-US"/>
          </a:p>
        </p:txBody>
      </p:sp>
      <p:sp>
        <p:nvSpPr>
          <p:cNvPr id="3" name="Subtitle 2">
            <a:extLst>
              <a:ext uri="{FF2B5EF4-FFF2-40B4-BE49-F238E27FC236}">
                <a16:creationId xmlns:a16="http://schemas.microsoft.com/office/drawing/2014/main" id="{0E63B440-AC84-60D7-47FC-1C7BE98A0160}"/>
              </a:ext>
            </a:extLst>
          </p:cNvPr>
          <p:cNvSpPr>
            <a:spLocks noGrp="1"/>
          </p:cNvSpPr>
          <p:nvPr>
            <p:ph type="subTitle" idx="4294967295"/>
          </p:nvPr>
        </p:nvSpPr>
        <p:spPr>
          <a:xfrm>
            <a:off x="1524000" y="3602037"/>
            <a:ext cx="9144000" cy="1655763"/>
          </a:xfrm>
          <a:prstGeom prst="rect">
            <a:avLst/>
          </a:prstGeom>
        </p:spPr>
        <p:txBody>
          <a:bodyPr/>
          <a:lstStyle/>
          <a:p>
            <a:endParaRPr lang="en-US"/>
          </a:p>
        </p:txBody>
      </p:sp>
      <p:grpSp>
        <p:nvGrpSpPr>
          <p:cNvPr id="4" name="Group 3">
            <a:extLst>
              <a:ext uri="{FF2B5EF4-FFF2-40B4-BE49-F238E27FC236}">
                <a16:creationId xmlns:a16="http://schemas.microsoft.com/office/drawing/2014/main" id="{12E103B1-C1AE-1145-DA0A-2E2F2219D2BC}"/>
              </a:ext>
            </a:extLst>
          </p:cNvPr>
          <p:cNvGrpSpPr/>
          <p:nvPr/>
        </p:nvGrpSpPr>
        <p:grpSpPr>
          <a:xfrm rot="10800000">
            <a:off x="0" y="0"/>
            <a:ext cx="12192000" cy="6858000"/>
            <a:chOff x="0" y="0"/>
            <a:chExt cx="12192000" cy="6858000"/>
          </a:xfrm>
        </p:grpSpPr>
        <p:pic>
          <p:nvPicPr>
            <p:cNvPr id="2050" name="Picture 2" descr="Bifrost [3840x2160] : r/wallpaper">
              <a:extLst>
                <a:ext uri="{FF2B5EF4-FFF2-40B4-BE49-F238E27FC236}">
                  <a16:creationId xmlns:a16="http://schemas.microsoft.com/office/drawing/2014/main" id="{7F9671C8-9F07-6877-B282-579C7C2499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40 Conductor 28awg Color Rainbow Ribbon Wire Cable | eBay">
              <a:extLst>
                <a:ext uri="{FF2B5EF4-FFF2-40B4-BE49-F238E27FC236}">
                  <a16:creationId xmlns:a16="http://schemas.microsoft.com/office/drawing/2014/main" id="{DD431B4E-2A4B-A203-917B-42E702E5FA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487" r="13676" b="43953"/>
            <a:stretch/>
          </p:blipFill>
          <p:spPr bwMode="auto">
            <a:xfrm flipH="1">
              <a:off x="4637899" y="123567"/>
              <a:ext cx="2965623" cy="4220863"/>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36338451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B6B63-6D44-CC4E-8BE5-8CD9CE904F17}"/>
              </a:ext>
            </a:extLst>
          </p:cNvPr>
          <p:cNvSpPr>
            <a:spLocks noGrp="1"/>
          </p:cNvSpPr>
          <p:nvPr>
            <p:ph type="ctrTitle"/>
          </p:nvPr>
        </p:nvSpPr>
        <p:spPr>
          <a:xfrm>
            <a:off x="1524000" y="1122363"/>
            <a:ext cx="9144000" cy="2387600"/>
          </a:xfrm>
          <a:prstGeom prst="rect">
            <a:avLst/>
          </a:prstGeom>
        </p:spPr>
        <p:txBody>
          <a:bodyPr/>
          <a:lstStyle/>
          <a:p>
            <a:endParaRPr lang="en-US"/>
          </a:p>
        </p:txBody>
      </p:sp>
      <p:sp>
        <p:nvSpPr>
          <p:cNvPr id="3" name="Subtitle 2">
            <a:extLst>
              <a:ext uri="{FF2B5EF4-FFF2-40B4-BE49-F238E27FC236}">
                <a16:creationId xmlns:a16="http://schemas.microsoft.com/office/drawing/2014/main" id="{0E63B440-AC84-60D7-47FC-1C7BE98A0160}"/>
              </a:ext>
            </a:extLst>
          </p:cNvPr>
          <p:cNvSpPr>
            <a:spLocks noGrp="1"/>
          </p:cNvSpPr>
          <p:nvPr>
            <p:ph type="subTitle" idx="4294967295"/>
          </p:nvPr>
        </p:nvSpPr>
        <p:spPr>
          <a:xfrm>
            <a:off x="1524000" y="3602037"/>
            <a:ext cx="9144000" cy="1655763"/>
          </a:xfrm>
          <a:prstGeom prst="rect">
            <a:avLst/>
          </a:prstGeom>
        </p:spPr>
        <p:txBody>
          <a:bodyPr/>
          <a:lstStyle/>
          <a:p>
            <a:endParaRPr lang="en-US"/>
          </a:p>
        </p:txBody>
      </p:sp>
      <p:grpSp>
        <p:nvGrpSpPr>
          <p:cNvPr id="10" name="Group 9">
            <a:extLst>
              <a:ext uri="{FF2B5EF4-FFF2-40B4-BE49-F238E27FC236}">
                <a16:creationId xmlns:a16="http://schemas.microsoft.com/office/drawing/2014/main" id="{1C70C531-2EF9-A8D0-4ADB-0DE18D615C29}"/>
              </a:ext>
            </a:extLst>
          </p:cNvPr>
          <p:cNvGrpSpPr/>
          <p:nvPr/>
        </p:nvGrpSpPr>
        <p:grpSpPr>
          <a:xfrm>
            <a:off x="0" y="-1088427"/>
            <a:ext cx="12192000" cy="7946427"/>
            <a:chOff x="0" y="-1088426"/>
            <a:chExt cx="12192000" cy="7946426"/>
          </a:xfrm>
        </p:grpSpPr>
        <p:pic>
          <p:nvPicPr>
            <p:cNvPr id="2050" name="Picture 2" descr="Bifrost [3840x2160] : r/wallpaper">
              <a:extLst>
                <a:ext uri="{FF2B5EF4-FFF2-40B4-BE49-F238E27FC236}">
                  <a16:creationId xmlns:a16="http://schemas.microsoft.com/office/drawing/2014/main" id="{7F9671C8-9F07-6877-B282-579C7C2499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0800000" flipV="1">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6C24C1AE-605E-E419-7FD5-28F2165F7670}"/>
                </a:ext>
              </a:extLst>
            </p:cNvPr>
            <p:cNvPicPr>
              <a:picLocks noChangeAspect="1"/>
            </p:cNvPicPr>
            <p:nvPr/>
          </p:nvPicPr>
          <p:blipFill rotWithShape="1">
            <a:blip r:embed="rId3">
              <a:extLst>
                <a:ext uri="{28A0092B-C50C-407E-A947-70E740481C1C}">
                  <a14:useLocalDpi xmlns:a14="http://schemas.microsoft.com/office/drawing/2010/main" val="0"/>
                </a:ext>
              </a:extLst>
            </a:blip>
            <a:srcRect t="5165" r="41194"/>
            <a:stretch/>
          </p:blipFill>
          <p:spPr>
            <a:xfrm rot="5400000">
              <a:off x="3250157" y="-2205682"/>
              <a:ext cx="5377251" cy="7611764"/>
            </a:xfrm>
            <a:prstGeom prst="rect">
              <a:avLst/>
            </a:prstGeom>
          </p:spPr>
        </p:pic>
        <p:sp>
          <p:nvSpPr>
            <p:cNvPr id="9" name="Rectangle 8">
              <a:extLst>
                <a:ext uri="{FF2B5EF4-FFF2-40B4-BE49-F238E27FC236}">
                  <a16:creationId xmlns:a16="http://schemas.microsoft.com/office/drawing/2014/main" id="{857AAEED-C8BB-20EC-B830-C45CF56D6AB5}"/>
                </a:ext>
              </a:extLst>
            </p:cNvPr>
            <p:cNvSpPr/>
            <p:nvPr/>
          </p:nvSpPr>
          <p:spPr>
            <a:xfrm>
              <a:off x="3166802" y="3994796"/>
              <a:ext cx="5858399" cy="1862048"/>
            </a:xfrm>
            <a:prstGeom prst="rect">
              <a:avLst/>
            </a:prstGeom>
            <a:noFill/>
            <a:effectLst/>
          </p:spPr>
          <p:txBody>
            <a:bodyPr wrap="none" lIns="91440" tIns="45720" rIns="91440" bIns="45720">
              <a:spAutoFit/>
            </a:bodyPr>
            <a:lstStyle/>
            <a:p>
              <a:pPr algn="ctr"/>
              <a:r>
                <a:rPr lang="en-US" sz="11500">
                  <a:ln w="19050">
                    <a:solidFill>
                      <a:srgbClr val="002060"/>
                    </a:solidFill>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30000" endPos="45500" dir="5400000" sy="-100000" algn="bl" rotWithShape="0"/>
                  </a:effectLst>
                </a:rPr>
                <a:t>ByteFrost</a:t>
              </a:r>
            </a:p>
          </p:txBody>
        </p:sp>
      </p:grpSp>
    </p:spTree>
    <p:extLst>
      <p:ext uri="{BB962C8B-B14F-4D97-AF65-F5344CB8AC3E}">
        <p14:creationId xmlns:p14="http://schemas.microsoft.com/office/powerpoint/2010/main" val="381074439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5.3|10.2|4.3|0.9|1.4|1.5|3.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93909</TotalTime>
  <Words>23367</Words>
  <Application>Microsoft Office PowerPoint</Application>
  <PresentationFormat>Widescreen</PresentationFormat>
  <Paragraphs>7602</Paragraphs>
  <Slides>141</Slides>
  <Notes>33</Notes>
  <HiddenSlides>35</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141</vt:i4>
      </vt:variant>
    </vt:vector>
  </HeadingPairs>
  <TitlesOfParts>
    <vt:vector size="148" baseType="lpstr">
      <vt:lpstr>Arial</vt:lpstr>
      <vt:lpstr>Calibri</vt:lpstr>
      <vt:lpstr>Calibri Light</vt:lpstr>
      <vt:lpstr>Consolas</vt:lpstr>
      <vt:lpstr>Wingdings</vt:lpstr>
      <vt:lpstr>Office Theme</vt:lpstr>
      <vt:lpstr>Worksheet</vt:lpstr>
      <vt:lpstr>And the Name …</vt:lpstr>
      <vt:lpstr>PowerPoint Presentation</vt:lpstr>
      <vt:lpstr>ByteFrost Addressing Modes</vt:lpstr>
      <vt:lpstr>ByteFrost V2.0 – 16bit Address</vt:lpstr>
      <vt:lpstr>Unified Bus Operation (v2.0)</vt:lpstr>
      <vt:lpstr>ByteFrost Addressing Modes</vt:lpstr>
      <vt:lpstr>Clock and Debug</vt:lpstr>
      <vt:lpstr>Reset</vt:lpstr>
      <vt:lpstr>Registers File</vt:lpstr>
      <vt:lpstr>Register Out Select</vt:lpstr>
      <vt:lpstr>Address Bus Select (ARSelect) v2.0</vt:lpstr>
      <vt:lpstr>Opcode_MAG_LDW_SDW_MAA (v2.0)</vt:lpstr>
      <vt:lpstr>ARSrc Operand Decode v2.0</vt:lpstr>
      <vt:lpstr>Address Map Decoder (v2.0)</vt:lpstr>
      <vt:lpstr>Memory Access (v2.0)</vt:lpstr>
      <vt:lpstr>SRAM (v2.0)</vt:lpstr>
      <vt:lpstr>EEPROM (v2.0)</vt:lpstr>
      <vt:lpstr>Address Registers - Data Bus Load Enable v2.0</vt:lpstr>
      <vt:lpstr>Program Counter Design</vt:lpstr>
      <vt:lpstr>Program Counter (v2.0)</vt:lpstr>
      <vt:lpstr>Data Pointer (v2.0)</vt:lpstr>
      <vt:lpstr>Base Pointer (v2.0)</vt:lpstr>
      <vt:lpstr>Stack Pointer (v2.0)</vt:lpstr>
      <vt:lpstr>Address to Data Bus</vt:lpstr>
      <vt:lpstr>TmpAR (Address Offset Adder) v2.0</vt:lpstr>
      <vt:lpstr>Output H Register to Data Bus (v2.0)</vt:lpstr>
      <vt:lpstr>Fetch State Machine (v2.0)</vt:lpstr>
      <vt:lpstr>Micro Instructions EEPROMs (v2.0)</vt:lpstr>
      <vt:lpstr>Sharing the Data and Address Buses during Fetch Cycle</vt:lpstr>
      <vt:lpstr>PC Advance - Logic Analyzer</vt:lpstr>
      <vt:lpstr>Bus Arbitration for I/O</vt:lpstr>
      <vt:lpstr>SD Card – Page Load / Store</vt:lpstr>
      <vt:lpstr>Counter (v2.0)</vt:lpstr>
      <vt:lpstr>RNG (V2.0)</vt:lpstr>
      <vt:lpstr>OpCode Decoder (v2.0)</vt:lpstr>
      <vt:lpstr>PowerPoint Presentation</vt:lpstr>
      <vt:lpstr>ALU OpCodes 2,3,7</vt:lpstr>
      <vt:lpstr>Branch (v2.0)</vt:lpstr>
      <vt:lpstr>Display (V2.0)</vt:lpstr>
      <vt:lpstr>Display Load (V2.0)</vt:lpstr>
      <vt:lpstr>Keyboard </vt:lpstr>
      <vt:lpstr>Instruction set (v2.0)</vt:lpstr>
      <vt:lpstr>ALU with changes</vt:lpstr>
      <vt:lpstr>Micro-Instructions Control: NOP Instruction (00000)</vt:lpstr>
      <vt:lpstr>Micro-Instructions Control: BREAK (00001)</vt:lpstr>
      <vt:lpstr>Micro-Instructions Control: ALU (00010)</vt:lpstr>
      <vt:lpstr>Micro-Instructions Control: Load Immediate to Reg (00011)</vt:lpstr>
      <vt:lpstr>Micro-Instructions Control: MOV (00100)</vt:lpstr>
      <vt:lpstr>Micro-Instructions Control: Branch / Jump Absolute Immediate (00101)</vt:lpstr>
      <vt:lpstr>Micro-Instructions Control: ALU immediate (4-bit) (00110)</vt:lpstr>
      <vt:lpstr>Micro-Instructions Control: Branch / Jump Relative Immediate (00111)</vt:lpstr>
      <vt:lpstr>Micro-Instructions Control: OUT (01000) (Display ASCII or Integer)</vt:lpstr>
      <vt:lpstr>Micro-Instructions Control: OUT immediate (01101)</vt:lpstr>
      <vt:lpstr>Micro-Instructions Control: PUSH (01110)</vt:lpstr>
      <vt:lpstr>Micro-Instructions Control: POP (01111)</vt:lpstr>
      <vt:lpstr>Micro-Instructions Control: JSR (10000)</vt:lpstr>
      <vt:lpstr>Micro-Instructions Control: RTS (10001)</vt:lpstr>
      <vt:lpstr>Micro-Instructions Control: Test (10010)</vt:lpstr>
      <vt:lpstr>Micro-Instructions Control: Test immediate (10011)</vt:lpstr>
      <vt:lpstr>Micro-Instructions Control: Load Data Byte with Offset 1 (LDW1) (10100)</vt:lpstr>
      <vt:lpstr>Micro-Instructions Control: Load Data Byte with Offset 2 (LDW2) (10101)</vt:lpstr>
      <vt:lpstr>Micro-Instructions Control: Store Data Byte with Offset 1 (SDW1) (10110)</vt:lpstr>
      <vt:lpstr>Micro-Instructions Control: Store Data Byte with Offset 2 (SDW2) (10111)</vt:lpstr>
      <vt:lpstr>Micro-Instructions Control: Address with Offset to Address 1 (MAA1) (11000)</vt:lpstr>
      <vt:lpstr>Micro-Instructions Control: Address with Offset to Address 2 (MAA2) (11001)</vt:lpstr>
      <vt:lpstr>Micro-Instructions Control: Move Address to General register (MAG) (11010)</vt:lpstr>
      <vt:lpstr>Micro-Instructions Control: Load Address register(LDA) (11011)</vt:lpstr>
      <vt:lpstr>Micro-Instructions Control: Move General to Address register (MGA) (11100)</vt:lpstr>
      <vt:lpstr>New Addressing Modes</vt:lpstr>
      <vt:lpstr>ByteFrost Instruction Decode</vt:lpstr>
      <vt:lpstr>New Addressing Mode Instructions</vt:lpstr>
      <vt:lpstr>(AR  GR) Instruction</vt:lpstr>
      <vt:lpstr>(Memory  GR) Instruction</vt:lpstr>
      <vt:lpstr>(Imm  AR) Instruction</vt:lpstr>
      <vt:lpstr>(GR  AR) Instruction</vt:lpstr>
      <vt:lpstr>(AR  AR) Instruction</vt:lpstr>
      <vt:lpstr>(GR  Memory) Instruction</vt:lpstr>
      <vt:lpstr>ARSelect</vt:lpstr>
      <vt:lpstr>ARSelect LUT</vt:lpstr>
      <vt:lpstr>AddressByteSelect</vt:lpstr>
      <vt:lpstr>(Data Bus  AR) Loading</vt:lpstr>
      <vt:lpstr>(Data Bus  AR) Loading (AR Data Bus Load Enable LUT)</vt:lpstr>
      <vt:lpstr>Area Estimation – Chips * Length</vt:lpstr>
      <vt:lpstr>Utilization of Backplane</vt:lpstr>
      <vt:lpstr>Main Backplane </vt:lpstr>
      <vt:lpstr>Secondary Backplane </vt:lpstr>
      <vt:lpstr>Backplane</vt:lpstr>
      <vt:lpstr>Motherboard – Address Display</vt:lpstr>
      <vt:lpstr>Motherboard – Clock</vt:lpstr>
      <vt:lpstr>138 -  3-to-8 Line Decoder </vt:lpstr>
      <vt:lpstr>161 - 4-Bit Binary Counter, Asynchronous Reset</vt:lpstr>
      <vt:lpstr>175 -  Quad D-Type Flip-Flop with Reset</vt:lpstr>
      <vt:lpstr>245 -  Octal D-Type Flip-Flop with Reset</vt:lpstr>
      <vt:lpstr>273 -  Octal D-Type Flip-Flop with Reset</vt:lpstr>
      <vt:lpstr>547 -  Octal 3−State Noninverting D Flip−Flop</vt:lpstr>
      <vt:lpstr>ByteFrost V1.0 – First Working Version</vt:lpstr>
      <vt:lpstr>Fetch State Machine Example</vt:lpstr>
      <vt:lpstr>Hardware</vt:lpstr>
      <vt:lpstr>Register File</vt:lpstr>
      <vt:lpstr>Registers Schematics</vt:lpstr>
      <vt:lpstr>Register Out (RO) Select</vt:lpstr>
      <vt:lpstr>Clock</vt:lpstr>
      <vt:lpstr>Clock Gating</vt:lpstr>
      <vt:lpstr>PowerPoint Presentation</vt:lpstr>
      <vt:lpstr>Branch</vt:lpstr>
      <vt:lpstr>ALU OpCodes 2,3,7</vt:lpstr>
      <vt:lpstr>ALU: ADD Carry/SUB Carry</vt:lpstr>
      <vt:lpstr>SRAM (v1.0)</vt:lpstr>
      <vt:lpstr>Display</vt:lpstr>
      <vt:lpstr>Display Load</vt:lpstr>
      <vt:lpstr>Op Code  &amp; Micro Instruction</vt:lpstr>
      <vt:lpstr>Assembler Syntax</vt:lpstr>
      <vt:lpstr>Instruction set families</vt:lpstr>
      <vt:lpstr>Instruction set</vt:lpstr>
      <vt:lpstr>Micro-Instructions Control: NOP Instruction (00000)</vt:lpstr>
      <vt:lpstr>Micro-Instructions Control: BREAK (00001)</vt:lpstr>
      <vt:lpstr>ALU with changes</vt:lpstr>
      <vt:lpstr>Micro-Instructions Control: ALU (00010)</vt:lpstr>
      <vt:lpstr>Micro-Instructions Control: Load Immediate to Reg (00011)</vt:lpstr>
      <vt:lpstr>Micro-Instructions Control: MOV (00100)</vt:lpstr>
      <vt:lpstr>Micro-Instructions Control: Branch / Jump Absolute Immediate (00101)</vt:lpstr>
      <vt:lpstr>Micro-Instructions Control: ALU immediate (4-bit) (00110)</vt:lpstr>
      <vt:lpstr>Micro-Instructions Control: Branch / Jump Relative Immediate (00111)</vt:lpstr>
      <vt:lpstr>Micro-Instructions Control: OUT (01000) (Display ASCII or Integer)</vt:lpstr>
      <vt:lpstr>Micro-Instructions Control: LMA (Load Memory Absolute) (01001)</vt:lpstr>
      <vt:lpstr>Micro-Instructions Control: SMA (Store Memory Absolute) (01010)</vt:lpstr>
      <vt:lpstr>Micro-Instructions Control: LMR (Load Memory Register) (01011)</vt:lpstr>
      <vt:lpstr>Micro-Instructions Control: SMR (Store Memory Register) (01100)</vt:lpstr>
      <vt:lpstr>Micro-Instructions Control: OUT immediate (01101)</vt:lpstr>
      <vt:lpstr>Micro-Instructions Control: PUSH (01110)</vt:lpstr>
      <vt:lpstr>Micro-Instructions Control: POP (1111)</vt:lpstr>
      <vt:lpstr>Micro-Instructions Control: JSR Jump Subroutine (10000)</vt:lpstr>
      <vt:lpstr>Micro-Instructions Control: RTS Return from Subroutine (10001)</vt:lpstr>
      <vt:lpstr>Micro-Instructions Control: Test (10010)</vt:lpstr>
      <vt:lpstr>Micro-Instructions Control: Test immediate (10011)</vt:lpstr>
      <vt:lpstr>ALU</vt:lpstr>
      <vt:lpstr>And the Name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Register File</dc:title>
  <dc:creator>Ron Keidar</dc:creator>
  <cp:lastModifiedBy>Ron Keidar</cp:lastModifiedBy>
  <cp:revision>161</cp:revision>
  <cp:lastPrinted>2026-06-30T00:46:02Z</cp:lastPrinted>
  <dcterms:created xsi:type="dcterms:W3CDTF">2022-02-06T02:47:09Z</dcterms:created>
  <dcterms:modified xsi:type="dcterms:W3CDTF">2026-07-20T05:35:30Z</dcterms:modified>
</cp:coreProperties>
</file>